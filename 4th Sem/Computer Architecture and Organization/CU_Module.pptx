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21"/>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000" autoAdjust="0"/>
    <p:restoredTop sz="94660"/>
  </p:normalViewPr>
  <p:slideViewPr>
    <p:cSldViewPr snapToGrid="0">
      <p:cViewPr varScale="1">
        <p:scale>
          <a:sx n="73" d="100"/>
          <a:sy n="73" d="100"/>
        </p:scale>
        <p:origin x="-624" y="-102"/>
      </p:cViewPr>
      <p:guideLst>
        <p:guide orient="horz" pos="2160"/>
        <p:guide pos="3840"/>
      </p:guideLst>
    </p:cSldViewPr>
  </p:slideViewPr>
  <p:notesTextViewPr>
    <p:cViewPr>
      <p:scale>
        <a:sx n="1" d="1"/>
        <a:sy n="1" d="1"/>
      </p:scale>
      <p:origin x="0" y="0"/>
    </p:cViewPr>
  </p:notesTextViewPr>
  <p:notesViewPr>
    <p:cSldViewPr snapToGrid="0">
      <p:cViewPr varScale="1">
        <p:scale>
          <a:sx n="56" d="100"/>
          <a:sy n="56" d="100"/>
        </p:scale>
        <p:origin x="2856" y="84"/>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CACF8A26-9CDE-4D85-B872-2527112AB4AA}" type="datetimeFigureOut">
              <a:rPr lang="en-IN" smtClean="0"/>
              <a:pPr/>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D7E36E-52D0-43A7-ABED-8FFC766F9162}" type="slidenum">
              <a:rPr lang="en-IN" smtClean="0"/>
              <a:pPr/>
              <a:t>‹#›</a:t>
            </a:fld>
            <a:endParaRPr lang="en-IN"/>
          </a:p>
        </p:txBody>
      </p:sp>
    </p:spTree>
    <p:extLst>
      <p:ext uri="{BB962C8B-B14F-4D97-AF65-F5344CB8AC3E}">
        <p14:creationId xmlns:p14="http://schemas.microsoft.com/office/powerpoint/2010/main" xmlns="" val="2432784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ACF8A26-9CDE-4D85-B872-2527112AB4AA}" type="datetimeFigureOut">
              <a:rPr lang="en-IN" smtClean="0"/>
              <a:pPr/>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D7E36E-52D0-43A7-ABED-8FFC766F9162}" type="slidenum">
              <a:rPr lang="en-IN" smtClean="0"/>
              <a:pPr/>
              <a:t>‹#›</a:t>
            </a:fld>
            <a:endParaRPr lang="en-IN"/>
          </a:p>
        </p:txBody>
      </p:sp>
    </p:spTree>
    <p:extLst>
      <p:ext uri="{BB962C8B-B14F-4D97-AF65-F5344CB8AC3E}">
        <p14:creationId xmlns:p14="http://schemas.microsoft.com/office/powerpoint/2010/main" xmlns="" val="16592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ACF8A26-9CDE-4D85-B872-2527112AB4AA}" type="datetimeFigureOut">
              <a:rPr lang="en-IN" smtClean="0"/>
              <a:pPr/>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D7E36E-52D0-43A7-ABED-8FFC766F9162}" type="slidenum">
              <a:rPr lang="en-IN" smtClean="0"/>
              <a:pPr/>
              <a:t>‹#›</a:t>
            </a:fld>
            <a:endParaRPr lang="en-IN"/>
          </a:p>
        </p:txBody>
      </p:sp>
    </p:spTree>
    <p:extLst>
      <p:ext uri="{BB962C8B-B14F-4D97-AF65-F5344CB8AC3E}">
        <p14:creationId xmlns:p14="http://schemas.microsoft.com/office/powerpoint/2010/main" xmlns="" val="12264488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CACF8A26-9CDE-4D85-B872-2527112AB4AA}" type="datetimeFigureOut">
              <a:rPr lang="en-IN" smtClean="0"/>
              <a:pPr/>
              <a:t>03-02-2026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BD7E36E-52D0-43A7-ABED-8FFC766F9162}" type="slidenum">
              <a:rPr lang="en-IN" smtClean="0"/>
              <a:pPr/>
              <a:t>‹#›</a:t>
            </a:fld>
            <a:endParaRPr lang="en-IN"/>
          </a:p>
        </p:txBody>
      </p:sp>
    </p:spTree>
    <p:extLst>
      <p:ext uri="{BB962C8B-B14F-4D97-AF65-F5344CB8AC3E}">
        <p14:creationId xmlns:p14="http://schemas.microsoft.com/office/powerpoint/2010/main" xmlns="" val="3363440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CACF8A26-9CDE-4D85-B872-2527112AB4AA}" type="datetimeFigureOut">
              <a:rPr lang="en-IN" smtClean="0"/>
              <a:pPr/>
              <a:t>03-02-2026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BD7E36E-52D0-43A7-ABED-8FFC766F9162}" type="slidenum">
              <a:rPr lang="en-IN" smtClean="0"/>
              <a:pPr/>
              <a:t>‹#›</a:t>
            </a:fld>
            <a:endParaRPr lang="en-IN"/>
          </a:p>
        </p:txBody>
      </p:sp>
    </p:spTree>
    <p:extLst>
      <p:ext uri="{BB962C8B-B14F-4D97-AF65-F5344CB8AC3E}">
        <p14:creationId xmlns:p14="http://schemas.microsoft.com/office/powerpoint/2010/main" xmlns="" val="2800411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CACF8A26-9CDE-4D85-B872-2527112AB4AA}" type="datetimeFigureOut">
              <a:rPr lang="en-IN" smtClean="0"/>
              <a:pPr/>
              <a:t>03-02-2026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BD7E36E-52D0-43A7-ABED-8FFC766F9162}" type="slidenum">
              <a:rPr lang="en-IN" smtClean="0"/>
              <a:pPr/>
              <a:t>‹#›</a:t>
            </a:fld>
            <a:endParaRPr lang="en-IN"/>
          </a:p>
        </p:txBody>
      </p:sp>
    </p:spTree>
    <p:extLst>
      <p:ext uri="{BB962C8B-B14F-4D97-AF65-F5344CB8AC3E}">
        <p14:creationId xmlns:p14="http://schemas.microsoft.com/office/powerpoint/2010/main" xmlns="" val="28895551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CF8A26-9CDE-4D85-B872-2527112AB4AA}" type="datetimeFigureOut">
              <a:rPr lang="en-IN" smtClean="0"/>
              <a:pPr/>
              <a:t>03-02-2026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BD7E36E-52D0-43A7-ABED-8FFC766F9162}" type="slidenum">
              <a:rPr lang="en-IN" smtClean="0"/>
              <a:pPr/>
              <a:t>‹#›</a:t>
            </a:fld>
            <a:endParaRPr lang="en-IN"/>
          </a:p>
        </p:txBody>
      </p:sp>
    </p:spTree>
    <p:extLst>
      <p:ext uri="{BB962C8B-B14F-4D97-AF65-F5344CB8AC3E}">
        <p14:creationId xmlns:p14="http://schemas.microsoft.com/office/powerpoint/2010/main" xmlns="" val="2265096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ACF8A26-9CDE-4D85-B872-2527112AB4AA}" type="datetimeFigureOut">
              <a:rPr lang="en-IN" smtClean="0"/>
              <a:pPr/>
              <a:t>03-02-2026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BD7E36E-52D0-43A7-ABED-8FFC766F9162}" type="slidenum">
              <a:rPr lang="en-IN" smtClean="0"/>
              <a:pPr/>
              <a:t>‹#›</a:t>
            </a:fld>
            <a:endParaRPr lang="en-IN"/>
          </a:p>
        </p:txBody>
      </p:sp>
    </p:spTree>
    <p:extLst>
      <p:ext uri="{BB962C8B-B14F-4D97-AF65-F5344CB8AC3E}">
        <p14:creationId xmlns:p14="http://schemas.microsoft.com/office/powerpoint/2010/main" xmlns="" val="27159401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ACF8A26-9CDE-4D85-B872-2527112AB4AA}" type="datetimeFigureOut">
              <a:rPr lang="en-IN" smtClean="0"/>
              <a:pPr/>
              <a:t>03-02-2026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BD7E36E-52D0-43A7-ABED-8FFC766F9162}" type="slidenum">
              <a:rPr lang="en-IN" smtClean="0"/>
              <a:pPr/>
              <a:t>‹#›</a:t>
            </a:fld>
            <a:endParaRPr lang="en-IN"/>
          </a:p>
        </p:txBody>
      </p:sp>
    </p:spTree>
    <p:extLst>
      <p:ext uri="{BB962C8B-B14F-4D97-AF65-F5344CB8AC3E}">
        <p14:creationId xmlns:p14="http://schemas.microsoft.com/office/powerpoint/2010/main" xmlns="" val="1476279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ACF8A26-9CDE-4D85-B872-2527112AB4AA}" type="datetimeFigureOut">
              <a:rPr lang="en-IN" smtClean="0"/>
              <a:pPr/>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D7E36E-52D0-43A7-ABED-8FFC766F9162}" type="slidenum">
              <a:rPr lang="en-IN" smtClean="0"/>
              <a:pPr/>
              <a:t>‹#›</a:t>
            </a:fld>
            <a:endParaRPr lang="en-IN"/>
          </a:p>
        </p:txBody>
      </p:sp>
    </p:spTree>
    <p:extLst>
      <p:ext uri="{BB962C8B-B14F-4D97-AF65-F5344CB8AC3E}">
        <p14:creationId xmlns:p14="http://schemas.microsoft.com/office/powerpoint/2010/main" xmlns="" val="667868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ACF8A26-9CDE-4D85-B872-2527112AB4AA}" type="datetimeFigureOut">
              <a:rPr lang="en-IN" smtClean="0"/>
              <a:pPr/>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D7E36E-52D0-43A7-ABED-8FFC766F9162}" type="slidenum">
              <a:rPr lang="en-IN" smtClean="0"/>
              <a:pPr/>
              <a:t>‹#›</a:t>
            </a:fld>
            <a:endParaRPr lang="en-IN"/>
          </a:p>
        </p:txBody>
      </p:sp>
    </p:spTree>
    <p:extLst>
      <p:ext uri="{BB962C8B-B14F-4D97-AF65-F5344CB8AC3E}">
        <p14:creationId xmlns:p14="http://schemas.microsoft.com/office/powerpoint/2010/main" xmlns="" val="234134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CF8A26-9CDE-4D85-B872-2527112AB4AA}" type="datetimeFigureOut">
              <a:rPr lang="en-IN" smtClean="0"/>
              <a:pPr/>
              <a:t>03-02-2026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D7E36E-52D0-43A7-ABED-8FFC766F9162}" type="slidenum">
              <a:rPr lang="en-IN" smtClean="0"/>
              <a:pPr/>
              <a:t>‹#›</a:t>
            </a:fld>
            <a:endParaRPr lang="en-IN"/>
          </a:p>
        </p:txBody>
      </p:sp>
    </p:spTree>
    <p:extLst>
      <p:ext uri="{BB962C8B-B14F-4D97-AF65-F5344CB8AC3E}">
        <p14:creationId xmlns:p14="http://schemas.microsoft.com/office/powerpoint/2010/main" xmlns="" val="25431031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4546" y="180304"/>
            <a:ext cx="11822806" cy="2031325"/>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Control unit</a:t>
            </a:r>
          </a:p>
          <a:p>
            <a:endParaRPr lang="en-IN" dirty="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Instruction sequencing</a:t>
            </a:r>
          </a:p>
          <a:p>
            <a:r>
              <a:rPr lang="en-IN" dirty="0" smtClean="0">
                <a:latin typeface="Times New Roman" panose="02020603050405020304" pitchFamily="18" charset="0"/>
                <a:cs typeface="Times New Roman" panose="02020603050405020304" pitchFamily="18" charset="0"/>
              </a:rPr>
              <a:t>Methods by which instructions are selected for execution or how control of processor transfers from one instruction to other</a:t>
            </a:r>
          </a:p>
          <a:p>
            <a:endParaRPr lang="en-IN" dirty="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Instruction interpretation</a:t>
            </a:r>
          </a:p>
          <a:p>
            <a:r>
              <a:rPr lang="en-IN" dirty="0" smtClean="0">
                <a:latin typeface="Times New Roman" panose="02020603050405020304" pitchFamily="18" charset="0"/>
                <a:cs typeface="Times New Roman" panose="02020603050405020304" pitchFamily="18" charset="0"/>
              </a:rPr>
              <a:t>How a control unit interprets an instruction to determine the control signals to be issued?</a:t>
            </a:r>
          </a:p>
        </p:txBody>
      </p:sp>
      <p:sp>
        <p:nvSpPr>
          <p:cNvPr id="5" name="Rectangle 4"/>
          <p:cNvSpPr/>
          <p:nvPr/>
        </p:nvSpPr>
        <p:spPr>
          <a:xfrm>
            <a:off x="2676659" y="2452069"/>
            <a:ext cx="540913" cy="36060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p:cNvSpPr/>
          <p:nvPr/>
        </p:nvSpPr>
        <p:spPr>
          <a:xfrm>
            <a:off x="1530439" y="3639595"/>
            <a:ext cx="2758225" cy="36060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p:cNvSpPr txBox="1"/>
          <p:nvPr/>
        </p:nvSpPr>
        <p:spPr>
          <a:xfrm>
            <a:off x="2676660" y="2443345"/>
            <a:ext cx="540912"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CU</a:t>
            </a:r>
            <a:endParaRPr lang="en-IN" dirty="0">
              <a:latin typeface="Times New Roman" panose="02020603050405020304" pitchFamily="18" charset="0"/>
              <a:cs typeface="Times New Roman" panose="02020603050405020304" pitchFamily="18" charset="0"/>
            </a:endParaRPr>
          </a:p>
        </p:txBody>
      </p:sp>
      <p:sp>
        <p:nvSpPr>
          <p:cNvPr id="8" name="TextBox 7"/>
          <p:cNvSpPr txBox="1"/>
          <p:nvPr/>
        </p:nvSpPr>
        <p:spPr>
          <a:xfrm>
            <a:off x="1530439" y="3639595"/>
            <a:ext cx="2758225"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Data processing unit (DPU)</a:t>
            </a:r>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154546" y="3815537"/>
            <a:ext cx="1122608"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Input data</a:t>
            </a:r>
            <a:endParaRPr lang="en-IN"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4214611" y="3815537"/>
            <a:ext cx="1277153"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Output data</a:t>
            </a:r>
            <a:endParaRPr lang="en-IN" dirty="0">
              <a:latin typeface="Times New Roman" panose="02020603050405020304" pitchFamily="18" charset="0"/>
              <a:cs typeface="Times New Roman" panose="02020603050405020304" pitchFamily="18" charset="0"/>
            </a:endParaRPr>
          </a:p>
        </p:txBody>
      </p:sp>
      <p:cxnSp>
        <p:nvCxnSpPr>
          <p:cNvPr id="12" name="Straight Arrow Connector 11"/>
          <p:cNvCxnSpPr>
            <a:endCxn id="8" idx="1"/>
          </p:cNvCxnSpPr>
          <p:nvPr/>
        </p:nvCxnSpPr>
        <p:spPr>
          <a:xfrm>
            <a:off x="965915" y="3819899"/>
            <a:ext cx="564524" cy="43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4288664" y="3840530"/>
            <a:ext cx="564524" cy="43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flipV="1">
            <a:off x="2768960" y="2812677"/>
            <a:ext cx="12877" cy="8269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3039414" y="2812677"/>
            <a:ext cx="12879" cy="8269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endCxn id="7" idx="1"/>
          </p:cNvCxnSpPr>
          <p:nvPr/>
        </p:nvCxnSpPr>
        <p:spPr>
          <a:xfrm>
            <a:off x="2446986" y="2628011"/>
            <a:ext cx="22967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3719848" y="2641611"/>
            <a:ext cx="22967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2176529" y="2641611"/>
            <a:ext cx="15454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1880315" y="2641611"/>
            <a:ext cx="11591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3217572" y="2628011"/>
            <a:ext cx="15454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3475149" y="2641611"/>
            <a:ext cx="154547" cy="0"/>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320343" y="3053117"/>
            <a:ext cx="553792" cy="369332"/>
          </a:xfrm>
          <a:prstGeom prst="rect">
            <a:avLst/>
          </a:prstGeom>
          <a:noFill/>
        </p:spPr>
        <p:txBody>
          <a:bodyPr wrap="square" rtlCol="0">
            <a:spAutoFit/>
          </a:bodyPr>
          <a:lstStyle/>
          <a:p>
            <a:r>
              <a:rPr lang="en-IN" dirty="0" err="1" smtClean="0">
                <a:latin typeface="Times New Roman" panose="02020603050405020304" pitchFamily="18" charset="0"/>
                <a:cs typeface="Times New Roman" panose="02020603050405020304" pitchFamily="18" charset="0"/>
              </a:rPr>
              <a:t>C</a:t>
            </a:r>
            <a:r>
              <a:rPr lang="en-IN" baseline="-25000" dirty="0" err="1" smtClean="0">
                <a:latin typeface="Times New Roman" panose="02020603050405020304" pitchFamily="18" charset="0"/>
                <a:cs typeface="Times New Roman" panose="02020603050405020304" pitchFamily="18" charset="0"/>
              </a:rPr>
              <a:t>in</a:t>
            </a:r>
            <a:r>
              <a:rPr lang="en-IN" dirty="0" smtClean="0">
                <a:latin typeface="Times New Roman" panose="02020603050405020304" pitchFamily="18" charset="0"/>
                <a:cs typeface="Times New Roman" panose="02020603050405020304" pitchFamily="18" charset="0"/>
                <a:sym typeface="Symbol" panose="05050102010706020507" pitchFamily="18" charset="2"/>
              </a:rPr>
              <a:t></a:t>
            </a:r>
            <a:endParaRPr lang="en-IN" baseline="-25000" dirty="0">
              <a:latin typeface="Times New Roman" panose="02020603050405020304" pitchFamily="18" charset="0"/>
              <a:cs typeface="Times New Roman" panose="02020603050405020304" pitchFamily="18" charset="0"/>
            </a:endParaRPr>
          </a:p>
        </p:txBody>
      </p:sp>
      <p:sp>
        <p:nvSpPr>
          <p:cNvPr id="30" name="TextBox 29"/>
          <p:cNvSpPr txBox="1"/>
          <p:nvPr/>
        </p:nvSpPr>
        <p:spPr>
          <a:xfrm>
            <a:off x="1770845" y="2579806"/>
            <a:ext cx="585989" cy="369332"/>
          </a:xfrm>
          <a:prstGeom prst="rect">
            <a:avLst/>
          </a:prstGeom>
          <a:noFill/>
        </p:spPr>
        <p:txBody>
          <a:bodyPr wrap="square" rtlCol="0">
            <a:spAutoFit/>
          </a:bodyPr>
          <a:lstStyle/>
          <a:p>
            <a:r>
              <a:rPr lang="en-IN" dirty="0" err="1" smtClean="0">
                <a:latin typeface="Times New Roman" panose="02020603050405020304" pitchFamily="18" charset="0"/>
                <a:cs typeface="Times New Roman" panose="02020603050405020304" pitchFamily="18" charset="0"/>
              </a:rPr>
              <a:t>C</a:t>
            </a:r>
            <a:r>
              <a:rPr lang="en-IN" baseline="-25000" dirty="0" err="1" smtClean="0">
                <a:latin typeface="Times New Roman" panose="02020603050405020304" pitchFamily="18" charset="0"/>
                <a:cs typeface="Times New Roman" panose="02020603050405020304" pitchFamily="18" charset="0"/>
              </a:rPr>
              <a:t>in</a:t>
            </a:r>
            <a:r>
              <a:rPr lang="en-IN" dirty="0" smtClean="0">
                <a:latin typeface="Times New Roman" panose="02020603050405020304" pitchFamily="18" charset="0"/>
                <a:cs typeface="Times New Roman" panose="02020603050405020304" pitchFamily="18" charset="0"/>
                <a:sym typeface="Symbol" panose="05050102010706020507" pitchFamily="18" charset="2"/>
              </a:rPr>
              <a:t></a:t>
            </a:r>
            <a:endParaRPr lang="en-IN" baseline="-25000" dirty="0">
              <a:latin typeface="Times New Roman" panose="02020603050405020304" pitchFamily="18" charset="0"/>
              <a:cs typeface="Times New Roman" panose="02020603050405020304" pitchFamily="18" charset="0"/>
            </a:endParaRPr>
          </a:p>
        </p:txBody>
      </p:sp>
      <p:sp>
        <p:nvSpPr>
          <p:cNvPr id="31" name="TextBox 30"/>
          <p:cNvSpPr txBox="1"/>
          <p:nvPr/>
        </p:nvSpPr>
        <p:spPr>
          <a:xfrm>
            <a:off x="3277676" y="2602232"/>
            <a:ext cx="742682" cy="369332"/>
          </a:xfrm>
          <a:prstGeom prst="rect">
            <a:avLst/>
          </a:prstGeom>
          <a:noFill/>
        </p:spPr>
        <p:txBody>
          <a:bodyPr wrap="square" rtlCol="0">
            <a:spAutoFit/>
          </a:bodyPr>
          <a:lstStyle/>
          <a:p>
            <a:r>
              <a:rPr lang="en-IN" dirty="0" err="1" smtClean="0">
                <a:latin typeface="Times New Roman" panose="02020603050405020304" pitchFamily="18" charset="0"/>
                <a:cs typeface="Times New Roman" panose="02020603050405020304" pitchFamily="18" charset="0"/>
              </a:rPr>
              <a:t>C</a:t>
            </a:r>
            <a:r>
              <a:rPr lang="en-IN" baseline="-25000" dirty="0" err="1" smtClean="0">
                <a:latin typeface="Times New Roman" panose="02020603050405020304" pitchFamily="18" charset="0"/>
                <a:cs typeface="Times New Roman" panose="02020603050405020304" pitchFamily="18" charset="0"/>
              </a:rPr>
              <a:t>out</a:t>
            </a:r>
            <a:r>
              <a:rPr lang="en-IN" dirty="0" smtClean="0">
                <a:latin typeface="Times New Roman" panose="02020603050405020304" pitchFamily="18" charset="0"/>
                <a:cs typeface="Times New Roman" panose="02020603050405020304" pitchFamily="18" charset="0"/>
                <a:sym typeface="Symbol" panose="05050102010706020507" pitchFamily="18" charset="2"/>
              </a:rPr>
              <a:t></a:t>
            </a:r>
            <a:endParaRPr lang="en-IN" baseline="-25000" dirty="0">
              <a:latin typeface="Times New Roman" panose="02020603050405020304" pitchFamily="18" charset="0"/>
              <a:cs typeface="Times New Roman" panose="02020603050405020304" pitchFamily="18" charset="0"/>
            </a:endParaRPr>
          </a:p>
        </p:txBody>
      </p:sp>
      <p:sp>
        <p:nvSpPr>
          <p:cNvPr id="32" name="TextBox 31"/>
          <p:cNvSpPr txBox="1"/>
          <p:nvPr/>
        </p:nvSpPr>
        <p:spPr>
          <a:xfrm>
            <a:off x="2981462" y="3073645"/>
            <a:ext cx="682580" cy="369332"/>
          </a:xfrm>
          <a:prstGeom prst="rect">
            <a:avLst/>
          </a:prstGeom>
          <a:noFill/>
        </p:spPr>
        <p:txBody>
          <a:bodyPr wrap="square" rtlCol="0">
            <a:spAutoFit/>
          </a:bodyPr>
          <a:lstStyle/>
          <a:p>
            <a:r>
              <a:rPr lang="en-IN" dirty="0" err="1" smtClean="0">
                <a:latin typeface="Times New Roman" panose="02020603050405020304" pitchFamily="18" charset="0"/>
                <a:cs typeface="Times New Roman" panose="02020603050405020304" pitchFamily="18" charset="0"/>
              </a:rPr>
              <a:t>C</a:t>
            </a:r>
            <a:r>
              <a:rPr lang="en-IN" baseline="-25000" dirty="0" err="1" smtClean="0">
                <a:latin typeface="Times New Roman" panose="02020603050405020304" pitchFamily="18" charset="0"/>
                <a:cs typeface="Times New Roman" panose="02020603050405020304" pitchFamily="18" charset="0"/>
              </a:rPr>
              <a:t>out</a:t>
            </a:r>
            <a:r>
              <a:rPr lang="en-IN" dirty="0" smtClean="0">
                <a:latin typeface="Times New Roman" panose="02020603050405020304" pitchFamily="18" charset="0"/>
                <a:cs typeface="Times New Roman" panose="02020603050405020304" pitchFamily="18" charset="0"/>
                <a:sym typeface="Symbol" panose="05050102010706020507" pitchFamily="18" charset="2"/>
              </a:rPr>
              <a:t></a:t>
            </a:r>
            <a:endParaRPr lang="en-IN" baseline="-25000" dirty="0">
              <a:latin typeface="Times New Roman" panose="02020603050405020304" pitchFamily="18" charset="0"/>
              <a:cs typeface="Times New Roman" panose="02020603050405020304" pitchFamily="18" charset="0"/>
            </a:endParaRPr>
          </a:p>
        </p:txBody>
      </p:sp>
      <p:sp>
        <p:nvSpPr>
          <p:cNvPr id="33" name="TextBox 32"/>
          <p:cNvSpPr txBox="1"/>
          <p:nvPr/>
        </p:nvSpPr>
        <p:spPr>
          <a:xfrm>
            <a:off x="5052813" y="2211629"/>
            <a:ext cx="6954591" cy="1477328"/>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Digital system is separated into two parts: CU and DPU</a:t>
            </a:r>
          </a:p>
          <a:p>
            <a:r>
              <a:rPr lang="en-IN" dirty="0" smtClean="0">
                <a:latin typeface="Times New Roman" panose="02020603050405020304" pitchFamily="18" charset="0"/>
                <a:cs typeface="Times New Roman" panose="02020603050405020304" pitchFamily="18" charset="0"/>
              </a:rPr>
              <a:t>CU: Issue control signal or instruction to DPU</a:t>
            </a:r>
          </a:p>
          <a:p>
            <a:r>
              <a:rPr lang="en-IN" dirty="0" smtClean="0">
                <a:latin typeface="Times New Roman" panose="02020603050405020304" pitchFamily="18" charset="0"/>
                <a:cs typeface="Times New Roman" panose="02020603050405020304" pitchFamily="18" charset="0"/>
              </a:rPr>
              <a:t>Fetch instruction from memory</a:t>
            </a:r>
          </a:p>
          <a:p>
            <a:r>
              <a:rPr lang="en-IN" dirty="0" smtClean="0">
                <a:latin typeface="Times New Roman" panose="02020603050405020304" pitchFamily="18" charset="0"/>
                <a:cs typeface="Times New Roman" panose="02020603050405020304" pitchFamily="18" charset="0"/>
              </a:rPr>
              <a:t>Interpret instruction to determine the control signals to be sent to DPU</a:t>
            </a:r>
            <a:endParaRPr lang="en-IN" dirty="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DPU: Performs certain operations on data</a:t>
            </a:r>
            <a:endParaRPr lang="en-IN" dirty="0">
              <a:latin typeface="Times New Roman" panose="02020603050405020304" pitchFamily="18" charset="0"/>
              <a:cs typeface="Times New Roman" panose="02020603050405020304" pitchFamily="18" charset="0"/>
            </a:endParaRPr>
          </a:p>
        </p:txBody>
      </p:sp>
      <p:sp>
        <p:nvSpPr>
          <p:cNvPr id="34" name="TextBox 33"/>
          <p:cNvSpPr txBox="1"/>
          <p:nvPr/>
        </p:nvSpPr>
        <p:spPr>
          <a:xfrm>
            <a:off x="154546" y="4196724"/>
            <a:ext cx="11822806" cy="2585323"/>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Control signal: Selects the function to be performed at specific time</a:t>
            </a:r>
          </a:p>
          <a:p>
            <a:r>
              <a:rPr lang="en-IN" dirty="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                        Route the data through the appropriate functional units</a:t>
            </a:r>
          </a:p>
          <a:p>
            <a:r>
              <a:rPr lang="en-IN" dirty="0" err="1" smtClean="0">
                <a:latin typeface="Times New Roman" panose="02020603050405020304" pitchFamily="18" charset="0"/>
                <a:cs typeface="Times New Roman" panose="02020603050405020304" pitchFamily="18" charset="0"/>
              </a:rPr>
              <a:t>C</a:t>
            </a:r>
            <a:r>
              <a:rPr lang="en-IN" baseline="-25000" dirty="0" err="1" smtClean="0">
                <a:latin typeface="Times New Roman" panose="02020603050405020304" pitchFamily="18" charset="0"/>
                <a:cs typeface="Times New Roman" panose="02020603050405020304" pitchFamily="18" charset="0"/>
              </a:rPr>
              <a:t>out</a:t>
            </a:r>
            <a:r>
              <a:rPr lang="en-IN" dirty="0" smtClean="0">
                <a:latin typeface="Times New Roman" panose="02020603050405020304" pitchFamily="18" charset="0"/>
                <a:cs typeface="Times New Roman" panose="02020603050405020304" pitchFamily="18" charset="0"/>
                <a:sym typeface="Symbol" panose="05050102010706020507" pitchFamily="18" charset="2"/>
              </a:rPr>
              <a:t>: Directly control the operation of DPU</a:t>
            </a:r>
          </a:p>
          <a:p>
            <a:r>
              <a:rPr lang="en-IN" dirty="0" err="1" smtClean="0">
                <a:latin typeface="Times New Roman" panose="02020603050405020304" pitchFamily="18" charset="0"/>
                <a:cs typeface="Times New Roman" panose="02020603050405020304" pitchFamily="18" charset="0"/>
              </a:rPr>
              <a:t>C</a:t>
            </a:r>
            <a:r>
              <a:rPr lang="en-IN" baseline="-25000" dirty="0" err="1" smtClean="0">
                <a:latin typeface="Times New Roman" panose="02020603050405020304" pitchFamily="18" charset="0"/>
                <a:cs typeface="Times New Roman" panose="02020603050405020304" pitchFamily="18" charset="0"/>
              </a:rPr>
              <a:t>in</a:t>
            </a:r>
            <a:r>
              <a:rPr lang="en-IN" dirty="0" smtClean="0">
                <a:latin typeface="Times New Roman" panose="02020603050405020304" pitchFamily="18" charset="0"/>
                <a:cs typeface="Times New Roman" panose="02020603050405020304" pitchFamily="18" charset="0"/>
                <a:sym typeface="Symbol" panose="05050102010706020507" pitchFamily="18" charset="2"/>
              </a:rPr>
              <a:t> : Enable the data being processed to influence CU</a:t>
            </a:r>
          </a:p>
          <a:p>
            <a:r>
              <a:rPr lang="en-IN" baseline="-25000" dirty="0">
                <a:latin typeface="Times New Roman" panose="02020603050405020304" pitchFamily="18" charset="0"/>
                <a:cs typeface="Times New Roman" panose="02020603050405020304" pitchFamily="18" charset="0"/>
                <a:sym typeface="Symbol" panose="05050102010706020507" pitchFamily="18" charset="2"/>
              </a:rPr>
              <a:t> </a:t>
            </a:r>
            <a:r>
              <a:rPr lang="en-IN" baseline="-25000" dirty="0" smtClean="0">
                <a:latin typeface="Times New Roman" panose="02020603050405020304" pitchFamily="18" charset="0"/>
                <a:cs typeface="Times New Roman" panose="02020603050405020304" pitchFamily="18" charset="0"/>
                <a:sym typeface="Symbol" panose="05050102010706020507" pitchFamily="18" charset="2"/>
              </a:rPr>
              <a:t>            </a:t>
            </a:r>
            <a:r>
              <a:rPr lang="en-IN" dirty="0" smtClean="0">
                <a:latin typeface="Times New Roman" panose="02020603050405020304" pitchFamily="18" charset="0"/>
                <a:cs typeface="Times New Roman" panose="02020603050405020304" pitchFamily="18" charset="0"/>
                <a:sym typeface="Symbol" panose="05050102010706020507" pitchFamily="18" charset="2"/>
              </a:rPr>
              <a:t>Allowing data dependent decisions to be made</a:t>
            </a:r>
          </a:p>
          <a:p>
            <a:r>
              <a:rPr lang="en-IN" dirty="0">
                <a:latin typeface="Times New Roman" panose="02020603050405020304" pitchFamily="18" charset="0"/>
                <a:cs typeface="Times New Roman" panose="02020603050405020304" pitchFamily="18" charset="0"/>
                <a:sym typeface="Symbol" panose="05050102010706020507" pitchFamily="18" charset="2"/>
              </a:rPr>
              <a:t> </a:t>
            </a:r>
            <a:r>
              <a:rPr lang="en-IN" dirty="0" smtClean="0">
                <a:latin typeface="Times New Roman" panose="02020603050405020304" pitchFamily="18" charset="0"/>
                <a:cs typeface="Times New Roman" panose="02020603050405020304" pitchFamily="18" charset="0"/>
                <a:sym typeface="Symbol" panose="05050102010706020507" pitchFamily="18" charset="2"/>
              </a:rPr>
              <a:t>        Indicate the occurrence of unusual condition such as errors like overflow in DPU</a:t>
            </a:r>
            <a:endParaRPr lang="en-IN" dirty="0" smtClean="0">
              <a:latin typeface="Times New Roman" panose="02020603050405020304" pitchFamily="18" charset="0"/>
              <a:cs typeface="Times New Roman" panose="02020603050405020304" pitchFamily="18" charset="0"/>
            </a:endParaRPr>
          </a:p>
          <a:p>
            <a:r>
              <a:rPr lang="en-IN" dirty="0" err="1" smtClean="0">
                <a:latin typeface="Times New Roman" panose="02020603050405020304" pitchFamily="18" charset="0"/>
                <a:cs typeface="Times New Roman" panose="02020603050405020304" pitchFamily="18" charset="0"/>
              </a:rPr>
              <a:t>C</a:t>
            </a:r>
            <a:r>
              <a:rPr lang="en-IN" baseline="-25000" dirty="0" err="1" smtClean="0">
                <a:latin typeface="Times New Roman" panose="02020603050405020304" pitchFamily="18" charset="0"/>
                <a:cs typeface="Times New Roman" panose="02020603050405020304" pitchFamily="18" charset="0"/>
              </a:rPr>
              <a:t>out</a:t>
            </a:r>
            <a:r>
              <a:rPr lang="en-IN" dirty="0" smtClean="0">
                <a:latin typeface="Times New Roman" panose="02020603050405020304" pitchFamily="18" charset="0"/>
                <a:cs typeface="Times New Roman" panose="02020603050405020304" pitchFamily="18" charset="0"/>
                <a:sym typeface="Symbol" panose="05050102010706020507" pitchFamily="18" charset="2"/>
              </a:rPr>
              <a:t> : Transmitted to other CUs, may indicate status conditions such as “busy” or “operation completed”</a:t>
            </a:r>
            <a:endParaRPr lang="en-IN" baseline="-25000" dirty="0" smtClean="0">
              <a:latin typeface="Times New Roman" panose="02020603050405020304" pitchFamily="18" charset="0"/>
              <a:cs typeface="Times New Roman" panose="02020603050405020304" pitchFamily="18" charset="0"/>
            </a:endParaRPr>
          </a:p>
          <a:p>
            <a:r>
              <a:rPr lang="en-IN" dirty="0" err="1" smtClean="0">
                <a:latin typeface="Times New Roman" panose="02020603050405020304" pitchFamily="18" charset="0"/>
                <a:cs typeface="Times New Roman" panose="02020603050405020304" pitchFamily="18" charset="0"/>
              </a:rPr>
              <a:t>C</a:t>
            </a:r>
            <a:r>
              <a:rPr lang="en-IN" baseline="-25000" dirty="0" err="1" smtClean="0">
                <a:latin typeface="Times New Roman" panose="02020603050405020304" pitchFamily="18" charset="0"/>
                <a:cs typeface="Times New Roman" panose="02020603050405020304" pitchFamily="18" charset="0"/>
              </a:rPr>
              <a:t>in</a:t>
            </a:r>
            <a:r>
              <a:rPr lang="en-IN" dirty="0" smtClean="0">
                <a:latin typeface="Times New Roman" panose="02020603050405020304" pitchFamily="18" charset="0"/>
                <a:cs typeface="Times New Roman" panose="02020603050405020304" pitchFamily="18" charset="0"/>
                <a:sym typeface="Symbol" panose="05050102010706020507" pitchFamily="18" charset="2"/>
              </a:rPr>
              <a:t> : Receives from other CUs e.g. from a supervisor or controller, typically include start signal, stop signal, timing</a:t>
            </a:r>
          </a:p>
          <a:p>
            <a:r>
              <a:rPr lang="en-IN" dirty="0">
                <a:latin typeface="Times New Roman" panose="02020603050405020304" pitchFamily="18" charset="0"/>
                <a:cs typeface="Times New Roman" panose="02020603050405020304" pitchFamily="18" charset="0"/>
                <a:sym typeface="Symbol" panose="05050102010706020507" pitchFamily="18" charset="2"/>
              </a:rPr>
              <a:t> </a:t>
            </a:r>
            <a:r>
              <a:rPr lang="en-IN" dirty="0" smtClean="0">
                <a:latin typeface="Times New Roman" panose="02020603050405020304" pitchFamily="18" charset="0"/>
                <a:cs typeface="Times New Roman" panose="02020603050405020304" pitchFamily="18" charset="0"/>
                <a:sym typeface="Symbol" panose="05050102010706020507" pitchFamily="18" charset="2"/>
              </a:rPr>
              <a:t>         information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166357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evron 2"/>
          <p:cNvSpPr/>
          <p:nvPr/>
        </p:nvSpPr>
        <p:spPr>
          <a:xfrm>
            <a:off x="9052746" y="250557"/>
            <a:ext cx="1918952" cy="1885009"/>
          </a:xfrm>
          <a:prstGeom prst="chevr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4" name="Flowchart: Delay 3"/>
          <p:cNvSpPr/>
          <p:nvPr/>
        </p:nvSpPr>
        <p:spPr>
          <a:xfrm>
            <a:off x="8403761" y="576197"/>
            <a:ext cx="515155" cy="476157"/>
          </a:xfrm>
          <a:prstGeom prst="flowChartDelay">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Flowchart: Delay 4"/>
          <p:cNvSpPr/>
          <p:nvPr/>
        </p:nvSpPr>
        <p:spPr>
          <a:xfrm>
            <a:off x="8403760" y="1124243"/>
            <a:ext cx="515155" cy="433755"/>
          </a:xfrm>
          <a:prstGeom prst="flowChartDelay">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p:cNvSpPr/>
          <p:nvPr/>
        </p:nvSpPr>
        <p:spPr>
          <a:xfrm>
            <a:off x="9075605" y="1747910"/>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p:cNvSpPr/>
          <p:nvPr/>
        </p:nvSpPr>
        <p:spPr>
          <a:xfrm>
            <a:off x="9075606" y="1538102"/>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p:cNvSpPr/>
          <p:nvPr/>
        </p:nvSpPr>
        <p:spPr>
          <a:xfrm>
            <a:off x="9029887" y="498892"/>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p:cNvSpPr/>
          <p:nvPr/>
        </p:nvSpPr>
        <p:spPr>
          <a:xfrm>
            <a:off x="9032891" y="68287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p:cNvSpPr txBox="1"/>
          <p:nvPr/>
        </p:nvSpPr>
        <p:spPr>
          <a:xfrm>
            <a:off x="8200703" y="168813"/>
            <a:ext cx="425549" cy="276999"/>
          </a:xfrm>
          <a:prstGeom prst="rect">
            <a:avLst/>
          </a:prstGeom>
          <a:noFill/>
        </p:spPr>
        <p:txBody>
          <a:bodyPr wrap="square" rtlCol="0">
            <a:spAutoFit/>
          </a:bodyPr>
          <a:lstStyle/>
          <a:p>
            <a:r>
              <a:rPr lang="en-IN" sz="1200" dirty="0" smtClean="0">
                <a:latin typeface="Times New Roman" panose="02020603050405020304" pitchFamily="18" charset="0"/>
                <a:cs typeface="Times New Roman" panose="02020603050405020304" pitchFamily="18" charset="0"/>
              </a:rPr>
              <a:t>T</a:t>
            </a:r>
            <a:r>
              <a:rPr lang="en-IN" sz="1200" baseline="-25000" dirty="0" smtClean="0">
                <a:latin typeface="Times New Roman" panose="02020603050405020304" pitchFamily="18" charset="0"/>
                <a:cs typeface="Times New Roman" panose="02020603050405020304" pitchFamily="18" charset="0"/>
              </a:rPr>
              <a:t>1</a:t>
            </a:r>
            <a:endParaRPr lang="en-IN" sz="1200" baseline="-25000"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7763729" y="792631"/>
            <a:ext cx="425549" cy="276999"/>
          </a:xfrm>
          <a:prstGeom prst="rect">
            <a:avLst/>
          </a:prstGeom>
          <a:noFill/>
        </p:spPr>
        <p:txBody>
          <a:bodyPr wrap="square" rtlCol="0">
            <a:spAutoFit/>
          </a:bodyPr>
          <a:lstStyle/>
          <a:p>
            <a:r>
              <a:rPr lang="en-IN" sz="1200" dirty="0" smtClean="0">
                <a:latin typeface="Times New Roman" panose="02020603050405020304" pitchFamily="18" charset="0"/>
                <a:cs typeface="Times New Roman" panose="02020603050405020304" pitchFamily="18" charset="0"/>
              </a:rPr>
              <a:t>T</a:t>
            </a:r>
            <a:r>
              <a:rPr lang="en-IN" sz="1200" baseline="-25000" dirty="0">
                <a:latin typeface="Times New Roman" panose="02020603050405020304" pitchFamily="18" charset="0"/>
                <a:cs typeface="Times New Roman" panose="02020603050405020304" pitchFamily="18" charset="0"/>
              </a:rPr>
              <a:t>6</a:t>
            </a:r>
          </a:p>
        </p:txBody>
      </p:sp>
      <p:sp>
        <p:nvSpPr>
          <p:cNvPr id="12" name="TextBox 11"/>
          <p:cNvSpPr txBox="1"/>
          <p:nvPr/>
        </p:nvSpPr>
        <p:spPr>
          <a:xfrm>
            <a:off x="7826736" y="1254061"/>
            <a:ext cx="373967" cy="277793"/>
          </a:xfrm>
          <a:prstGeom prst="rect">
            <a:avLst/>
          </a:prstGeom>
          <a:noFill/>
        </p:spPr>
        <p:txBody>
          <a:bodyPr wrap="square" rtlCol="0">
            <a:spAutoFit/>
          </a:bodyPr>
          <a:lstStyle/>
          <a:p>
            <a:r>
              <a:rPr lang="en-IN" sz="1200" dirty="0" smtClean="0">
                <a:latin typeface="Times New Roman" panose="02020603050405020304" pitchFamily="18" charset="0"/>
                <a:cs typeface="Times New Roman" panose="02020603050405020304" pitchFamily="18" charset="0"/>
              </a:rPr>
              <a:t>T</a:t>
            </a:r>
            <a:r>
              <a:rPr lang="en-IN" sz="1200" baseline="-25000" dirty="0">
                <a:latin typeface="Times New Roman" panose="02020603050405020304" pitchFamily="18" charset="0"/>
                <a:cs typeface="Times New Roman" panose="02020603050405020304" pitchFamily="18" charset="0"/>
              </a:rPr>
              <a:t>5</a:t>
            </a:r>
          </a:p>
        </p:txBody>
      </p:sp>
      <p:sp>
        <p:nvSpPr>
          <p:cNvPr id="13" name="TextBox 12"/>
          <p:cNvSpPr txBox="1"/>
          <p:nvPr/>
        </p:nvSpPr>
        <p:spPr>
          <a:xfrm>
            <a:off x="7626569" y="570198"/>
            <a:ext cx="562709" cy="276999"/>
          </a:xfrm>
          <a:prstGeom prst="rect">
            <a:avLst/>
          </a:prstGeom>
          <a:noFill/>
        </p:spPr>
        <p:txBody>
          <a:bodyPr wrap="square" rtlCol="0">
            <a:spAutoFit/>
          </a:bodyPr>
          <a:lstStyle/>
          <a:p>
            <a:r>
              <a:rPr lang="en-IN" sz="1200" dirty="0" smtClean="0">
                <a:latin typeface="Times New Roman" panose="02020603050405020304" pitchFamily="18" charset="0"/>
                <a:cs typeface="Times New Roman" panose="02020603050405020304" pitchFamily="18" charset="0"/>
              </a:rPr>
              <a:t>ADD</a:t>
            </a:r>
            <a:endParaRPr lang="en-IN" sz="1200"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7732819" y="1098285"/>
            <a:ext cx="429065" cy="276999"/>
          </a:xfrm>
          <a:prstGeom prst="rect">
            <a:avLst/>
          </a:prstGeom>
          <a:noFill/>
        </p:spPr>
        <p:txBody>
          <a:bodyPr wrap="square" rtlCol="0">
            <a:spAutoFit/>
          </a:bodyPr>
          <a:lstStyle/>
          <a:p>
            <a:r>
              <a:rPr lang="en-IN" sz="1200" dirty="0" smtClean="0">
                <a:latin typeface="Times New Roman" panose="02020603050405020304" pitchFamily="18" charset="0"/>
                <a:cs typeface="Times New Roman" panose="02020603050405020304" pitchFamily="18" charset="0"/>
              </a:rPr>
              <a:t>BR</a:t>
            </a:r>
            <a:endParaRPr lang="en-IN" sz="1200"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11191694" y="848594"/>
            <a:ext cx="483389" cy="276999"/>
          </a:xfrm>
          <a:prstGeom prst="rect">
            <a:avLst/>
          </a:prstGeom>
          <a:noFill/>
        </p:spPr>
        <p:txBody>
          <a:bodyPr wrap="square" rtlCol="0">
            <a:spAutoFit/>
          </a:bodyPr>
          <a:lstStyle/>
          <a:p>
            <a:r>
              <a:rPr lang="en-IN" sz="1200" dirty="0" smtClean="0">
                <a:latin typeface="Times New Roman" panose="02020603050405020304" pitchFamily="18" charset="0"/>
                <a:cs typeface="Times New Roman" panose="02020603050405020304" pitchFamily="18" charset="0"/>
              </a:rPr>
              <a:t>Z</a:t>
            </a:r>
            <a:r>
              <a:rPr lang="en-IN" sz="1200" baseline="-25000" dirty="0" smtClean="0">
                <a:latin typeface="Times New Roman" panose="02020603050405020304" pitchFamily="18" charset="0"/>
                <a:cs typeface="Times New Roman" panose="02020603050405020304" pitchFamily="18" charset="0"/>
              </a:rPr>
              <a:t>in</a:t>
            </a:r>
            <a:endParaRPr lang="en-IN" sz="1200" baseline="-25000" dirty="0">
              <a:latin typeface="Times New Roman" panose="02020603050405020304" pitchFamily="18" charset="0"/>
              <a:cs typeface="Times New Roman" panose="02020603050405020304" pitchFamily="18" charset="0"/>
            </a:endParaRPr>
          </a:p>
        </p:txBody>
      </p:sp>
      <p:cxnSp>
        <p:nvCxnSpPr>
          <p:cNvPr id="17" name="Straight Connector 16"/>
          <p:cNvCxnSpPr/>
          <p:nvPr/>
        </p:nvCxnSpPr>
        <p:spPr>
          <a:xfrm>
            <a:off x="8457406" y="378077"/>
            <a:ext cx="70338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8108338" y="682877"/>
            <a:ext cx="29542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8108338" y="939413"/>
            <a:ext cx="29542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8108338" y="1236785"/>
            <a:ext cx="29542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8108338" y="1362600"/>
            <a:ext cx="29542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4" idx="3"/>
          </p:cNvCxnSpPr>
          <p:nvPr/>
        </p:nvCxnSpPr>
        <p:spPr>
          <a:xfrm flipV="1">
            <a:off x="8918916" y="800485"/>
            <a:ext cx="703385" cy="13791"/>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8918916" y="1374015"/>
            <a:ext cx="928468" cy="1895"/>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8567222" y="1965382"/>
            <a:ext cx="70338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10971698" y="1193061"/>
            <a:ext cx="703385" cy="0"/>
          </a:xfrm>
          <a:prstGeom prst="line">
            <a:avLst/>
          </a:prstGeom>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167012" y="53732"/>
            <a:ext cx="7112434" cy="1200329"/>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Example 1: Let control signal Z</a:t>
            </a:r>
            <a:r>
              <a:rPr lang="en-IN" baseline="-25000" dirty="0" smtClean="0">
                <a:latin typeface="Times New Roman" panose="02020603050405020304" pitchFamily="18" charset="0"/>
                <a:cs typeface="Times New Roman" panose="02020603050405020304" pitchFamily="18" charset="0"/>
              </a:rPr>
              <a:t>in</a:t>
            </a:r>
            <a:r>
              <a:rPr lang="en-IN" dirty="0" smtClean="0">
                <a:latin typeface="Times New Roman" panose="02020603050405020304" pitchFamily="18" charset="0"/>
                <a:cs typeface="Times New Roman" panose="02020603050405020304" pitchFamily="18" charset="0"/>
              </a:rPr>
              <a:t> is required to be activated at T</a:t>
            </a:r>
            <a:r>
              <a:rPr lang="en-IN" baseline="-25000" dirty="0" smtClean="0">
                <a:latin typeface="Times New Roman" panose="02020603050405020304" pitchFamily="18" charset="0"/>
                <a:cs typeface="Times New Roman" panose="02020603050405020304" pitchFamily="18" charset="0"/>
              </a:rPr>
              <a:t>1</a:t>
            </a:r>
            <a:r>
              <a:rPr lang="en-IN" dirty="0" smtClean="0">
                <a:latin typeface="Times New Roman" panose="02020603050405020304" pitchFamily="18" charset="0"/>
                <a:cs typeface="Times New Roman" panose="02020603050405020304" pitchFamily="18" charset="0"/>
              </a:rPr>
              <a:t> time instant for all instructions, during T</a:t>
            </a:r>
            <a:r>
              <a:rPr lang="en-IN" baseline="-25000" dirty="0" smtClean="0">
                <a:latin typeface="Times New Roman" panose="02020603050405020304" pitchFamily="18" charset="0"/>
                <a:cs typeface="Times New Roman" panose="02020603050405020304" pitchFamily="18" charset="0"/>
              </a:rPr>
              <a:t>6</a:t>
            </a:r>
            <a:r>
              <a:rPr lang="en-IN" dirty="0" smtClean="0">
                <a:latin typeface="Times New Roman" panose="02020603050405020304" pitchFamily="18" charset="0"/>
                <a:cs typeface="Times New Roman" panose="02020603050405020304" pitchFamily="18" charset="0"/>
              </a:rPr>
              <a:t> for ADD instruction, during T</a:t>
            </a:r>
            <a:r>
              <a:rPr lang="en-IN" baseline="-25000" dirty="0" smtClean="0">
                <a:latin typeface="Times New Roman" panose="02020603050405020304" pitchFamily="18" charset="0"/>
                <a:cs typeface="Times New Roman" panose="02020603050405020304" pitchFamily="18" charset="0"/>
              </a:rPr>
              <a:t>5</a:t>
            </a:r>
            <a:r>
              <a:rPr lang="en-IN" dirty="0" smtClean="0">
                <a:latin typeface="Times New Roman" panose="02020603050405020304" pitchFamily="18" charset="0"/>
                <a:cs typeface="Times New Roman" panose="02020603050405020304" pitchFamily="18" charset="0"/>
              </a:rPr>
              <a:t> for conditional branch instruction etc.</a:t>
            </a:r>
          </a:p>
          <a:p>
            <a:r>
              <a:rPr lang="en-IN" dirty="0" smtClean="0">
                <a:latin typeface="Times New Roman" panose="02020603050405020304" pitchFamily="18" charset="0"/>
                <a:cs typeface="Times New Roman" panose="02020603050405020304" pitchFamily="18" charset="0"/>
              </a:rPr>
              <a:t>Z</a:t>
            </a:r>
            <a:r>
              <a:rPr lang="en-IN" baseline="-25000" dirty="0" smtClean="0">
                <a:latin typeface="Times New Roman" panose="02020603050405020304" pitchFamily="18" charset="0"/>
                <a:cs typeface="Times New Roman" panose="02020603050405020304" pitchFamily="18" charset="0"/>
              </a:rPr>
              <a:t>in</a:t>
            </a:r>
            <a:r>
              <a:rPr lang="en-IN" dirty="0" smtClean="0">
                <a:latin typeface="Times New Roman" panose="02020603050405020304" pitchFamily="18" charset="0"/>
                <a:cs typeface="Times New Roman" panose="02020603050405020304" pitchFamily="18" charset="0"/>
              </a:rPr>
              <a:t> = T</a:t>
            </a:r>
            <a:r>
              <a:rPr lang="en-IN" baseline="-25000" dirty="0" smtClean="0">
                <a:latin typeface="Times New Roman" panose="02020603050405020304" pitchFamily="18" charset="0"/>
                <a:cs typeface="Times New Roman" panose="02020603050405020304" pitchFamily="18" charset="0"/>
              </a:rPr>
              <a:t>1</a:t>
            </a:r>
            <a:r>
              <a:rPr lang="en-IN" dirty="0" smtClean="0">
                <a:latin typeface="Times New Roman" panose="02020603050405020304" pitchFamily="18" charset="0"/>
                <a:cs typeface="Times New Roman" panose="02020603050405020304" pitchFamily="18" charset="0"/>
              </a:rPr>
              <a:t>+(ADD)T</a:t>
            </a:r>
            <a:r>
              <a:rPr lang="en-IN" baseline="-25000" dirty="0" smtClean="0">
                <a:latin typeface="Times New Roman" panose="02020603050405020304" pitchFamily="18" charset="0"/>
                <a:cs typeface="Times New Roman" panose="02020603050405020304" pitchFamily="18" charset="0"/>
              </a:rPr>
              <a:t>6</a:t>
            </a:r>
            <a:r>
              <a:rPr lang="en-IN" dirty="0" smtClean="0">
                <a:latin typeface="Times New Roman" panose="02020603050405020304" pitchFamily="18" charset="0"/>
                <a:cs typeface="Times New Roman" panose="02020603050405020304" pitchFamily="18" charset="0"/>
              </a:rPr>
              <a:t> + (BR) T</a:t>
            </a:r>
            <a:r>
              <a:rPr lang="en-IN" baseline="-25000" dirty="0" smtClean="0">
                <a:latin typeface="Times New Roman" panose="02020603050405020304" pitchFamily="18" charset="0"/>
                <a:cs typeface="Times New Roman" panose="02020603050405020304" pitchFamily="18" charset="0"/>
              </a:rPr>
              <a:t>5</a:t>
            </a:r>
            <a:r>
              <a:rPr lang="en-IN"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47" name="TextBox 46"/>
          <p:cNvSpPr txBox="1"/>
          <p:nvPr/>
        </p:nvSpPr>
        <p:spPr>
          <a:xfrm>
            <a:off x="167012" y="1374270"/>
            <a:ext cx="7362750" cy="1477328"/>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Example 2: Suppose C</a:t>
            </a:r>
            <a:r>
              <a:rPr lang="en-IN" baseline="-25000" dirty="0" smtClean="0">
                <a:latin typeface="Times New Roman" panose="02020603050405020304" pitchFamily="18" charset="0"/>
                <a:cs typeface="Times New Roman" panose="02020603050405020304" pitchFamily="18" charset="0"/>
              </a:rPr>
              <a:t>5</a:t>
            </a:r>
            <a:r>
              <a:rPr lang="en-IN" dirty="0" smtClean="0">
                <a:latin typeface="Times New Roman" panose="02020603050405020304" pitchFamily="18" charset="0"/>
                <a:cs typeface="Times New Roman" panose="02020603050405020304" pitchFamily="18" charset="0"/>
              </a:rPr>
              <a:t> control signal is required in the fetch cycle of all the instructions at time instant T</a:t>
            </a:r>
            <a:r>
              <a:rPr lang="en-IN" baseline="-25000" dirty="0" smtClean="0">
                <a:latin typeface="Times New Roman" panose="02020603050405020304" pitchFamily="18" charset="0"/>
                <a:cs typeface="Times New Roman" panose="02020603050405020304" pitchFamily="18" charset="0"/>
              </a:rPr>
              <a:t>2</a:t>
            </a:r>
            <a:r>
              <a:rPr lang="en-IN" dirty="0" smtClean="0">
                <a:latin typeface="Times New Roman" panose="02020603050405020304" pitchFamily="18" charset="0"/>
                <a:cs typeface="Times New Roman" panose="02020603050405020304" pitchFamily="18" charset="0"/>
              </a:rPr>
              <a:t>, during the execution of instruction I</a:t>
            </a:r>
            <a:r>
              <a:rPr lang="en-IN" baseline="-25000" dirty="0" smtClean="0">
                <a:latin typeface="Times New Roman" panose="02020603050405020304" pitchFamily="18" charset="0"/>
                <a:cs typeface="Times New Roman" panose="02020603050405020304" pitchFamily="18" charset="0"/>
              </a:rPr>
              <a:t>1</a:t>
            </a:r>
            <a:r>
              <a:rPr lang="en-IN" dirty="0" smtClean="0">
                <a:latin typeface="Times New Roman" panose="02020603050405020304" pitchFamily="18" charset="0"/>
                <a:cs typeface="Times New Roman" panose="02020603050405020304" pitchFamily="18" charset="0"/>
              </a:rPr>
              <a:t> at time instant T</a:t>
            </a:r>
            <a:r>
              <a:rPr lang="en-IN" baseline="-25000" dirty="0" smtClean="0">
                <a:latin typeface="Times New Roman" panose="02020603050405020304" pitchFamily="18" charset="0"/>
                <a:cs typeface="Times New Roman" panose="02020603050405020304" pitchFamily="18" charset="0"/>
              </a:rPr>
              <a:t>4</a:t>
            </a:r>
            <a:r>
              <a:rPr lang="en-IN" dirty="0" smtClean="0">
                <a:latin typeface="Times New Roman" panose="02020603050405020304" pitchFamily="18" charset="0"/>
                <a:cs typeface="Times New Roman" panose="02020603050405020304" pitchFamily="18" charset="0"/>
              </a:rPr>
              <a:t>, during the execution of instruction I</a:t>
            </a:r>
            <a:r>
              <a:rPr lang="en-IN" baseline="-25000" dirty="0" smtClean="0">
                <a:latin typeface="Times New Roman" panose="02020603050405020304" pitchFamily="18" charset="0"/>
                <a:cs typeface="Times New Roman" panose="02020603050405020304" pitchFamily="18" charset="0"/>
              </a:rPr>
              <a:t>2</a:t>
            </a:r>
            <a:r>
              <a:rPr lang="en-IN" dirty="0" smtClean="0">
                <a:latin typeface="Times New Roman" panose="02020603050405020304" pitchFamily="18" charset="0"/>
                <a:cs typeface="Times New Roman" panose="02020603050405020304" pitchFamily="18" charset="0"/>
              </a:rPr>
              <a:t>, I</a:t>
            </a:r>
            <a:r>
              <a:rPr lang="en-IN" baseline="-25000" dirty="0" smtClean="0">
                <a:latin typeface="Times New Roman" panose="02020603050405020304" pitchFamily="18" charset="0"/>
                <a:cs typeface="Times New Roman" panose="02020603050405020304" pitchFamily="18" charset="0"/>
              </a:rPr>
              <a:t>3</a:t>
            </a:r>
            <a:r>
              <a:rPr lang="en-IN" dirty="0" smtClean="0">
                <a:latin typeface="Times New Roman" panose="02020603050405020304" pitchFamily="18" charset="0"/>
                <a:cs typeface="Times New Roman" panose="02020603050405020304" pitchFamily="18" charset="0"/>
              </a:rPr>
              <a:t> at time instant T</a:t>
            </a:r>
            <a:r>
              <a:rPr lang="en-IN" baseline="-25000" dirty="0" smtClean="0">
                <a:latin typeface="Times New Roman" panose="02020603050405020304" pitchFamily="18" charset="0"/>
                <a:cs typeface="Times New Roman" panose="02020603050405020304" pitchFamily="18" charset="0"/>
              </a:rPr>
              <a:t>6</a:t>
            </a:r>
            <a:r>
              <a:rPr lang="en-IN" dirty="0" smtClean="0">
                <a:latin typeface="Times New Roman" panose="02020603050405020304" pitchFamily="18" charset="0"/>
                <a:cs typeface="Times New Roman" panose="02020603050405020304" pitchFamily="18" charset="0"/>
              </a:rPr>
              <a:t>. P is 0 for fetch and 1 for execute.</a:t>
            </a:r>
          </a:p>
          <a:p>
            <a:r>
              <a:rPr lang="en-IN" dirty="0" smtClean="0">
                <a:latin typeface="Times New Roman" panose="02020603050405020304" pitchFamily="18" charset="0"/>
                <a:cs typeface="Times New Roman" panose="02020603050405020304" pitchFamily="18" charset="0"/>
              </a:rPr>
              <a:t>C</a:t>
            </a:r>
            <a:r>
              <a:rPr lang="en-IN" baseline="-25000" dirty="0" smtClean="0">
                <a:latin typeface="Times New Roman" panose="02020603050405020304" pitchFamily="18" charset="0"/>
                <a:cs typeface="Times New Roman" panose="02020603050405020304" pitchFamily="18" charset="0"/>
              </a:rPr>
              <a:t>5</a:t>
            </a:r>
            <a:r>
              <a:rPr lang="en-IN" dirty="0" smtClean="0">
                <a:latin typeface="Times New Roman" panose="02020603050405020304" pitchFamily="18" charset="0"/>
                <a:cs typeface="Times New Roman" panose="02020603050405020304" pitchFamily="18" charset="0"/>
              </a:rPr>
              <a:t> = P</a:t>
            </a:r>
            <a:r>
              <a:rPr lang="en-IN" dirty="0" smtClean="0">
                <a:latin typeface="Times New Roman" panose="02020603050405020304" pitchFamily="18" charset="0"/>
                <a:cs typeface="Times New Roman" panose="02020603050405020304" pitchFamily="18" charset="0"/>
                <a:sym typeface="Symbol" panose="05050102010706020507" pitchFamily="18" charset="2"/>
              </a:rPr>
              <a:t></a:t>
            </a:r>
            <a:r>
              <a:rPr lang="en-IN" dirty="0" smtClean="0">
                <a:latin typeface="Times New Roman" panose="02020603050405020304" pitchFamily="18" charset="0"/>
                <a:cs typeface="Times New Roman" panose="02020603050405020304" pitchFamily="18" charset="0"/>
              </a:rPr>
              <a:t> T</a:t>
            </a:r>
            <a:r>
              <a:rPr lang="en-IN" baseline="-25000" dirty="0" smtClean="0">
                <a:latin typeface="Times New Roman" panose="02020603050405020304" pitchFamily="18" charset="0"/>
                <a:cs typeface="Times New Roman" panose="02020603050405020304" pitchFamily="18" charset="0"/>
              </a:rPr>
              <a:t>2</a:t>
            </a:r>
            <a:r>
              <a:rPr lang="en-IN" dirty="0" smtClean="0">
                <a:latin typeface="Times New Roman" panose="02020603050405020304" pitchFamily="18" charset="0"/>
                <a:cs typeface="Times New Roman" panose="02020603050405020304" pitchFamily="18" charset="0"/>
              </a:rPr>
              <a:t> + P(I</a:t>
            </a:r>
            <a:r>
              <a:rPr lang="en-IN" baseline="-25000" dirty="0" smtClean="0">
                <a:latin typeface="Times New Roman" panose="02020603050405020304" pitchFamily="18" charset="0"/>
                <a:cs typeface="Times New Roman" panose="02020603050405020304" pitchFamily="18" charset="0"/>
              </a:rPr>
              <a:t>1 </a:t>
            </a:r>
            <a:r>
              <a:rPr lang="en-IN" dirty="0" smtClean="0">
                <a:latin typeface="Times New Roman" panose="02020603050405020304" pitchFamily="18" charset="0"/>
                <a:cs typeface="Times New Roman" panose="02020603050405020304" pitchFamily="18" charset="0"/>
              </a:rPr>
              <a:t>T</a:t>
            </a:r>
            <a:r>
              <a:rPr lang="en-IN" baseline="-25000" dirty="0" smtClean="0">
                <a:latin typeface="Times New Roman" panose="02020603050405020304" pitchFamily="18" charset="0"/>
                <a:cs typeface="Times New Roman" panose="02020603050405020304" pitchFamily="18" charset="0"/>
              </a:rPr>
              <a:t>4 </a:t>
            </a:r>
            <a:r>
              <a:rPr lang="en-IN" dirty="0" smtClean="0">
                <a:latin typeface="Times New Roman" panose="02020603050405020304" pitchFamily="18" charset="0"/>
                <a:cs typeface="Times New Roman" panose="02020603050405020304" pitchFamily="18" charset="0"/>
              </a:rPr>
              <a:t>+ I</a:t>
            </a:r>
            <a:r>
              <a:rPr lang="en-IN" baseline="-25000" dirty="0" smtClean="0">
                <a:latin typeface="Times New Roman" panose="02020603050405020304" pitchFamily="18" charset="0"/>
                <a:cs typeface="Times New Roman" panose="02020603050405020304" pitchFamily="18" charset="0"/>
              </a:rPr>
              <a:t>2 </a:t>
            </a:r>
            <a:r>
              <a:rPr lang="en-IN" dirty="0" smtClean="0">
                <a:latin typeface="Times New Roman" panose="02020603050405020304" pitchFamily="18" charset="0"/>
                <a:cs typeface="Times New Roman" panose="02020603050405020304" pitchFamily="18" charset="0"/>
              </a:rPr>
              <a:t>T</a:t>
            </a:r>
            <a:r>
              <a:rPr lang="en-IN" baseline="-25000" dirty="0" smtClean="0">
                <a:latin typeface="Times New Roman" panose="02020603050405020304" pitchFamily="18" charset="0"/>
                <a:cs typeface="Times New Roman" panose="02020603050405020304" pitchFamily="18" charset="0"/>
              </a:rPr>
              <a:t>6 </a:t>
            </a:r>
            <a:r>
              <a:rPr lang="en-IN" dirty="0" smtClean="0">
                <a:latin typeface="Times New Roman" panose="02020603050405020304" pitchFamily="18" charset="0"/>
                <a:cs typeface="Times New Roman" panose="02020603050405020304" pitchFamily="18" charset="0"/>
              </a:rPr>
              <a:t>+ I</a:t>
            </a:r>
            <a:r>
              <a:rPr lang="en-IN" baseline="-25000" dirty="0" smtClean="0">
                <a:latin typeface="Times New Roman" panose="02020603050405020304" pitchFamily="18" charset="0"/>
                <a:cs typeface="Times New Roman" panose="02020603050405020304" pitchFamily="18" charset="0"/>
              </a:rPr>
              <a:t>3</a:t>
            </a:r>
            <a:r>
              <a:rPr lang="en-IN" dirty="0" smtClean="0">
                <a:latin typeface="Times New Roman" panose="02020603050405020304" pitchFamily="18" charset="0"/>
                <a:cs typeface="Times New Roman" panose="02020603050405020304" pitchFamily="18" charset="0"/>
              </a:rPr>
              <a:t> T</a:t>
            </a:r>
            <a:r>
              <a:rPr lang="en-IN" baseline="-25000" dirty="0" smtClean="0">
                <a:latin typeface="Times New Roman" panose="02020603050405020304" pitchFamily="18" charset="0"/>
                <a:cs typeface="Times New Roman" panose="02020603050405020304" pitchFamily="18" charset="0"/>
              </a:rPr>
              <a:t>6</a:t>
            </a:r>
            <a:r>
              <a:rPr lang="en-IN"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48" name="TextBox 47"/>
          <p:cNvSpPr txBox="1"/>
          <p:nvPr/>
        </p:nvSpPr>
        <p:spPr>
          <a:xfrm>
            <a:off x="0" y="2906528"/>
            <a:ext cx="12017829" cy="923330"/>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Design methods of hardwired CU</a:t>
            </a:r>
          </a:p>
          <a:p>
            <a:pPr marL="342900" indent="-342900"/>
            <a:r>
              <a:rPr lang="en-IN" dirty="0" smtClean="0">
                <a:latin typeface="Times New Roman" panose="02020603050405020304" pitchFamily="18" charset="0"/>
                <a:cs typeface="Times New Roman" panose="02020603050405020304" pitchFamily="18" charset="0"/>
              </a:rPr>
              <a:t>State table method: Behaviour required of a CU , like that of any finite state sequential machine, can be represented by a state table, </a:t>
            </a:r>
            <a:r>
              <a:rPr lang="en-IN" dirty="0" err="1" smtClean="0">
                <a:latin typeface="Times New Roman" panose="02020603050405020304" pitchFamily="18" charset="0"/>
                <a:cs typeface="Times New Roman" panose="02020603050405020304" pitchFamily="18" charset="0"/>
              </a:rPr>
              <a:t>C</a:t>
            </a:r>
            <a:r>
              <a:rPr lang="en-IN" baseline="-25000" dirty="0" err="1" smtClean="0">
                <a:latin typeface="Times New Roman" panose="02020603050405020304" pitchFamily="18" charset="0"/>
                <a:cs typeface="Times New Roman" panose="02020603050405020304" pitchFamily="18" charset="0"/>
              </a:rPr>
              <a:t>in</a:t>
            </a:r>
            <a:r>
              <a:rPr lang="en-IN" dirty="0" smtClean="0">
                <a:latin typeface="Times New Roman" panose="02020603050405020304" pitchFamily="18" charset="0"/>
                <a:cs typeface="Times New Roman" panose="02020603050405020304" pitchFamily="18" charset="0"/>
              </a:rPr>
              <a:t> and </a:t>
            </a:r>
            <a:r>
              <a:rPr lang="en-IN" dirty="0" err="1" smtClean="0">
                <a:latin typeface="Times New Roman" panose="02020603050405020304" pitchFamily="18" charset="0"/>
                <a:cs typeface="Times New Roman" panose="02020603050405020304" pitchFamily="18" charset="0"/>
              </a:rPr>
              <a:t>C</a:t>
            </a:r>
            <a:r>
              <a:rPr lang="en-IN" baseline="-25000" dirty="0" err="1" smtClean="0">
                <a:latin typeface="Times New Roman" panose="02020603050405020304" pitchFamily="18" charset="0"/>
                <a:cs typeface="Times New Roman" panose="02020603050405020304" pitchFamily="18" charset="0"/>
              </a:rPr>
              <a:t>out</a:t>
            </a:r>
            <a:r>
              <a:rPr lang="en-IN" baseline="-25000" dirty="0" smtClean="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determine the input and output variables of CU</a:t>
            </a:r>
          </a:p>
        </p:txBody>
      </p:sp>
      <p:graphicFrame>
        <p:nvGraphicFramePr>
          <p:cNvPr id="49" name="Table 48"/>
          <p:cNvGraphicFramePr>
            <a:graphicFrameLocks noGrp="1"/>
          </p:cNvGraphicFramePr>
          <p:nvPr>
            <p:extLst>
              <p:ext uri="{D42A27DB-BD31-4B8C-83A1-F6EECF244321}">
                <p14:modId xmlns:p14="http://schemas.microsoft.com/office/powerpoint/2010/main" xmlns="" val="3861435879"/>
              </p:ext>
            </p:extLst>
          </p:nvPr>
        </p:nvGraphicFramePr>
        <p:xfrm>
          <a:off x="170329" y="3922486"/>
          <a:ext cx="4976836" cy="2595880"/>
        </p:xfrm>
        <a:graphic>
          <a:graphicData uri="http://schemas.openxmlformats.org/drawingml/2006/table">
            <a:tbl>
              <a:tblPr firstRow="1" bandRow="1">
                <a:tableStyleId>{5C22544A-7EE6-4342-B048-85BDC9FD1C3A}</a:tableStyleId>
              </a:tblPr>
              <a:tblGrid>
                <a:gridCol w="768654">
                  <a:extLst>
                    <a:ext uri="{9D8B030D-6E8A-4147-A177-3AD203B41FA5}">
                      <a16:colId xmlns:a16="http://schemas.microsoft.com/office/drawing/2014/main" xmlns="" val="292918563"/>
                    </a:ext>
                  </a:extLst>
                </a:gridCol>
                <a:gridCol w="773724">
                  <a:extLst>
                    <a:ext uri="{9D8B030D-6E8A-4147-A177-3AD203B41FA5}">
                      <a16:colId xmlns:a16="http://schemas.microsoft.com/office/drawing/2014/main" xmlns="" val="1311899959"/>
                    </a:ext>
                  </a:extLst>
                </a:gridCol>
                <a:gridCol w="818661">
                  <a:extLst>
                    <a:ext uri="{9D8B030D-6E8A-4147-A177-3AD203B41FA5}">
                      <a16:colId xmlns:a16="http://schemas.microsoft.com/office/drawing/2014/main" xmlns="" val="2075970082"/>
                    </a:ext>
                  </a:extLst>
                </a:gridCol>
                <a:gridCol w="391160">
                  <a:extLst>
                    <a:ext uri="{9D8B030D-6E8A-4147-A177-3AD203B41FA5}">
                      <a16:colId xmlns:a16="http://schemas.microsoft.com/office/drawing/2014/main" xmlns="" val="633411482"/>
                    </a:ext>
                  </a:extLst>
                </a:gridCol>
                <a:gridCol w="478302">
                  <a:extLst>
                    <a:ext uri="{9D8B030D-6E8A-4147-A177-3AD203B41FA5}">
                      <a16:colId xmlns:a16="http://schemas.microsoft.com/office/drawing/2014/main" xmlns="" val="3035308856"/>
                    </a:ext>
                  </a:extLst>
                </a:gridCol>
                <a:gridCol w="689317">
                  <a:extLst>
                    <a:ext uri="{9D8B030D-6E8A-4147-A177-3AD203B41FA5}">
                      <a16:colId xmlns:a16="http://schemas.microsoft.com/office/drawing/2014/main" xmlns="" val="3723838913"/>
                    </a:ext>
                  </a:extLst>
                </a:gridCol>
                <a:gridCol w="1057018">
                  <a:extLst>
                    <a:ext uri="{9D8B030D-6E8A-4147-A177-3AD203B41FA5}">
                      <a16:colId xmlns:a16="http://schemas.microsoft.com/office/drawing/2014/main" xmlns="" val="2086844736"/>
                    </a:ext>
                  </a:extLst>
                </a:gridCol>
              </a:tblGrid>
              <a:tr h="370840">
                <a:tc>
                  <a:txBody>
                    <a:bodyPr/>
                    <a:lstStyle/>
                    <a:p>
                      <a:r>
                        <a:rPr lang="en-IN" dirty="0" smtClean="0">
                          <a:latin typeface="Times New Roman" panose="02020603050405020304" pitchFamily="18" charset="0"/>
                          <a:cs typeface="Times New Roman" panose="02020603050405020304" pitchFamily="18" charset="0"/>
                        </a:rPr>
                        <a:t>States</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smtClean="0">
                          <a:latin typeface="Times New Roman" panose="02020603050405020304" pitchFamily="18" charset="0"/>
                          <a:cs typeface="Times New Roman" panose="02020603050405020304" pitchFamily="18" charset="0"/>
                        </a:rPr>
                        <a:t>I</a:t>
                      </a:r>
                      <a:r>
                        <a:rPr lang="en-IN" baseline="-25000" dirty="0" smtClean="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smtClean="0">
                          <a:latin typeface="Times New Roman" panose="02020603050405020304" pitchFamily="18" charset="0"/>
                          <a:cs typeface="Times New Roman" panose="02020603050405020304" pitchFamily="18" charset="0"/>
                        </a:rPr>
                        <a:t>I</a:t>
                      </a:r>
                      <a:r>
                        <a:rPr lang="en-IN" baseline="-25000" dirty="0" smtClean="0">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a:latin typeface="Times New Roman" panose="02020603050405020304" pitchFamily="18" charset="0"/>
                        <a:cs typeface="Times New Roman" panose="02020603050405020304" pitchFamily="18" charset="0"/>
                      </a:endParaRPr>
                    </a:p>
                  </a:txBody>
                  <a:tcPr/>
                </a:tc>
                <a:tc>
                  <a:txBody>
                    <a:bodyPr/>
                    <a:lstStyle/>
                    <a:p>
                      <a:endParaRPr lang="en-IN">
                        <a:latin typeface="Times New Roman" panose="02020603050405020304" pitchFamily="18" charset="0"/>
                        <a:cs typeface="Times New Roman" panose="02020603050405020304" pitchFamily="18" charset="0"/>
                      </a:endParaRPr>
                    </a:p>
                  </a:txBody>
                  <a:tcPr/>
                </a:tc>
                <a:tc>
                  <a:txBody>
                    <a:bodyPr/>
                    <a:lstStyle/>
                    <a:p>
                      <a:r>
                        <a:rPr lang="en-IN" dirty="0" err="1" smtClean="0">
                          <a:latin typeface="Times New Roman" panose="02020603050405020304" pitchFamily="18" charset="0"/>
                          <a:cs typeface="Times New Roman" panose="02020603050405020304" pitchFamily="18" charset="0"/>
                        </a:rPr>
                        <a:t>I</a:t>
                      </a:r>
                      <a:r>
                        <a:rPr lang="en-IN" baseline="-25000" dirty="0" err="1" smtClean="0">
                          <a:latin typeface="Times New Roman" panose="02020603050405020304" pitchFamily="18" charset="0"/>
                          <a:cs typeface="Times New Roman" panose="02020603050405020304" pitchFamily="18" charset="0"/>
                        </a:rPr>
                        <a:t>m</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4139652476"/>
                  </a:ext>
                </a:extLst>
              </a:tr>
              <a:tr h="370840">
                <a:tc>
                  <a:txBody>
                    <a:bodyPr/>
                    <a:lstStyle/>
                    <a:p>
                      <a:r>
                        <a:rPr lang="en-IN" dirty="0" smtClean="0">
                          <a:latin typeface="Times New Roman" panose="02020603050405020304" pitchFamily="18" charset="0"/>
                          <a:cs typeface="Times New Roman" panose="02020603050405020304" pitchFamily="18" charset="0"/>
                        </a:rPr>
                        <a:t>S</a:t>
                      </a:r>
                      <a:r>
                        <a:rPr lang="en-IN" baseline="-25000" dirty="0" smtClean="0">
                          <a:latin typeface="Times New Roman" panose="02020603050405020304" pitchFamily="18" charset="0"/>
                          <a:cs typeface="Times New Roman" panose="02020603050405020304" pitchFamily="18" charset="0"/>
                        </a:rPr>
                        <a:t>1</a:t>
                      </a:r>
                      <a:endParaRPr lang="en-IN" baseline="-25000" dirty="0">
                        <a:latin typeface="Times New Roman" panose="02020603050405020304" pitchFamily="18" charset="0"/>
                        <a:cs typeface="Times New Roman" panose="02020603050405020304" pitchFamily="18" charset="0"/>
                      </a:endParaRPr>
                    </a:p>
                  </a:txBody>
                  <a:tcPr/>
                </a:tc>
                <a:tc>
                  <a:txBody>
                    <a:bodyPr/>
                    <a:lstStyle/>
                    <a:p>
                      <a:r>
                        <a:rPr lang="en-IN" dirty="0" smtClean="0">
                          <a:latin typeface="Times New Roman" panose="02020603050405020304" pitchFamily="18" charset="0"/>
                          <a:cs typeface="Times New Roman" panose="02020603050405020304" pitchFamily="18" charset="0"/>
                        </a:rPr>
                        <a:t>S</a:t>
                      </a:r>
                      <a:r>
                        <a:rPr lang="en-IN" baseline="-25000" dirty="0" smtClean="0">
                          <a:latin typeface="Times New Roman" panose="02020603050405020304" pitchFamily="18" charset="0"/>
                          <a:cs typeface="Times New Roman" panose="02020603050405020304" pitchFamily="18" charset="0"/>
                        </a:rPr>
                        <a:t>11</a:t>
                      </a:r>
                      <a:r>
                        <a:rPr lang="en-IN" dirty="0" smtClean="0">
                          <a:latin typeface="Times New Roman" panose="02020603050405020304" pitchFamily="18" charset="0"/>
                          <a:cs typeface="Times New Roman" panose="02020603050405020304" pitchFamily="18" charset="0"/>
                        </a:rPr>
                        <a:t>Z</a:t>
                      </a:r>
                      <a:r>
                        <a:rPr lang="en-IN" baseline="-25000" dirty="0" smtClean="0">
                          <a:latin typeface="Times New Roman" panose="02020603050405020304" pitchFamily="18" charset="0"/>
                          <a:cs typeface="Times New Roman" panose="02020603050405020304" pitchFamily="18" charset="0"/>
                        </a:rPr>
                        <a:t>11</a:t>
                      </a:r>
                      <a:endParaRPr lang="en-IN" baseline="-25000" dirty="0">
                        <a:latin typeface="Times New Roman" panose="02020603050405020304" pitchFamily="18" charset="0"/>
                        <a:cs typeface="Times New Roman" panose="02020603050405020304" pitchFamily="18" charset="0"/>
                      </a:endParaRPr>
                    </a:p>
                  </a:txBody>
                  <a:tcPr/>
                </a:tc>
                <a:tc>
                  <a:txBody>
                    <a:bodyPr/>
                    <a:lstStyle/>
                    <a:p>
                      <a:r>
                        <a:rPr lang="en-IN" dirty="0" smtClean="0">
                          <a:latin typeface="Times New Roman" panose="02020603050405020304" pitchFamily="18" charset="0"/>
                          <a:cs typeface="Times New Roman" panose="02020603050405020304" pitchFamily="18" charset="0"/>
                        </a:rPr>
                        <a:t>S</a:t>
                      </a:r>
                      <a:r>
                        <a:rPr lang="en-IN" baseline="-25000" dirty="0" smtClean="0">
                          <a:latin typeface="Times New Roman" panose="02020603050405020304" pitchFamily="18" charset="0"/>
                          <a:cs typeface="Times New Roman" panose="02020603050405020304" pitchFamily="18" charset="0"/>
                        </a:rPr>
                        <a:t>12</a:t>
                      </a:r>
                      <a:r>
                        <a:rPr lang="en-IN" dirty="0" smtClean="0">
                          <a:latin typeface="Times New Roman" panose="02020603050405020304" pitchFamily="18" charset="0"/>
                          <a:cs typeface="Times New Roman" panose="02020603050405020304" pitchFamily="18" charset="0"/>
                        </a:rPr>
                        <a:t>Z</a:t>
                      </a:r>
                      <a:r>
                        <a:rPr lang="en-IN" baseline="-25000" dirty="0" smtClean="0">
                          <a:latin typeface="Times New Roman" panose="02020603050405020304" pitchFamily="18" charset="0"/>
                          <a:cs typeface="Times New Roman" panose="02020603050405020304" pitchFamily="18" charset="0"/>
                        </a:rPr>
                        <a:t>12</a:t>
                      </a:r>
                      <a:endParaRPr lang="en-IN" baseline="-25000"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r>
                        <a:rPr lang="en-IN" dirty="0" smtClean="0">
                          <a:latin typeface="Times New Roman" panose="02020603050405020304" pitchFamily="18" charset="0"/>
                          <a:cs typeface="Times New Roman" panose="02020603050405020304" pitchFamily="18" charset="0"/>
                        </a:rPr>
                        <a:t>S</a:t>
                      </a:r>
                      <a:r>
                        <a:rPr lang="en-IN" baseline="-25000" dirty="0" smtClean="0">
                          <a:latin typeface="Times New Roman" panose="02020603050405020304" pitchFamily="18" charset="0"/>
                          <a:cs typeface="Times New Roman" panose="02020603050405020304" pitchFamily="18" charset="0"/>
                        </a:rPr>
                        <a:t>1m</a:t>
                      </a:r>
                      <a:r>
                        <a:rPr lang="en-IN" dirty="0" smtClean="0">
                          <a:latin typeface="Times New Roman" panose="02020603050405020304" pitchFamily="18" charset="0"/>
                          <a:cs typeface="Times New Roman" panose="02020603050405020304" pitchFamily="18" charset="0"/>
                        </a:rPr>
                        <a:t>Z</a:t>
                      </a:r>
                      <a:r>
                        <a:rPr lang="en-IN" baseline="-25000" dirty="0" smtClean="0">
                          <a:latin typeface="Times New Roman" panose="02020603050405020304" pitchFamily="18" charset="0"/>
                          <a:cs typeface="Times New Roman" panose="02020603050405020304" pitchFamily="18" charset="0"/>
                        </a:rPr>
                        <a:t>1m</a:t>
                      </a:r>
                      <a:endParaRPr lang="en-IN" baseline="-25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3463585986"/>
                  </a:ext>
                </a:extLst>
              </a:tr>
              <a:tr h="370840">
                <a:tc>
                  <a:txBody>
                    <a:bodyPr/>
                    <a:lstStyle/>
                    <a:p>
                      <a:r>
                        <a:rPr lang="en-IN" dirty="0" smtClean="0">
                          <a:latin typeface="Times New Roman" panose="02020603050405020304" pitchFamily="18" charset="0"/>
                          <a:cs typeface="Times New Roman" panose="02020603050405020304" pitchFamily="18" charset="0"/>
                        </a:rPr>
                        <a:t>S</a:t>
                      </a:r>
                      <a:r>
                        <a:rPr lang="en-IN" baseline="-25000" dirty="0" smtClean="0">
                          <a:latin typeface="Times New Roman" panose="02020603050405020304" pitchFamily="18" charset="0"/>
                          <a:cs typeface="Times New Roman" panose="02020603050405020304" pitchFamily="18" charset="0"/>
                        </a:rPr>
                        <a:t>2</a:t>
                      </a:r>
                      <a:endParaRPr lang="en-IN" baseline="-25000" dirty="0">
                        <a:latin typeface="Times New Roman" panose="02020603050405020304" pitchFamily="18" charset="0"/>
                        <a:cs typeface="Times New Roman" panose="02020603050405020304" pitchFamily="18" charset="0"/>
                      </a:endParaRPr>
                    </a:p>
                  </a:txBody>
                  <a:tcPr/>
                </a:tc>
                <a:tc>
                  <a:txBody>
                    <a:bodyPr/>
                    <a:lstStyle/>
                    <a:p>
                      <a:r>
                        <a:rPr lang="en-IN" dirty="0" smtClean="0">
                          <a:latin typeface="Times New Roman" panose="02020603050405020304" pitchFamily="18" charset="0"/>
                          <a:cs typeface="Times New Roman" panose="02020603050405020304" pitchFamily="18" charset="0"/>
                        </a:rPr>
                        <a:t>S</a:t>
                      </a:r>
                      <a:r>
                        <a:rPr lang="en-IN" baseline="-25000" dirty="0" smtClean="0">
                          <a:latin typeface="Times New Roman" panose="02020603050405020304" pitchFamily="18" charset="0"/>
                          <a:cs typeface="Times New Roman" panose="02020603050405020304" pitchFamily="18" charset="0"/>
                        </a:rPr>
                        <a:t>21</a:t>
                      </a:r>
                      <a:r>
                        <a:rPr lang="en-IN" dirty="0" smtClean="0">
                          <a:latin typeface="Times New Roman" panose="02020603050405020304" pitchFamily="18" charset="0"/>
                          <a:cs typeface="Times New Roman" panose="02020603050405020304" pitchFamily="18" charset="0"/>
                        </a:rPr>
                        <a:t>Z</a:t>
                      </a:r>
                      <a:r>
                        <a:rPr lang="en-IN" baseline="-25000" dirty="0" smtClean="0">
                          <a:latin typeface="Times New Roman" panose="02020603050405020304" pitchFamily="18" charset="0"/>
                          <a:cs typeface="Times New Roman" panose="02020603050405020304" pitchFamily="18" charset="0"/>
                        </a:rPr>
                        <a:t>21</a:t>
                      </a:r>
                      <a:endParaRPr lang="en-IN" baseline="-25000" dirty="0">
                        <a:latin typeface="Times New Roman" panose="02020603050405020304" pitchFamily="18" charset="0"/>
                        <a:cs typeface="Times New Roman" panose="02020603050405020304" pitchFamily="18" charset="0"/>
                      </a:endParaRPr>
                    </a:p>
                  </a:txBody>
                  <a:tcPr/>
                </a:tc>
                <a:tc>
                  <a:txBody>
                    <a:bodyPr/>
                    <a:lstStyle/>
                    <a:p>
                      <a:r>
                        <a:rPr lang="en-IN" dirty="0" smtClean="0">
                          <a:latin typeface="Times New Roman" panose="02020603050405020304" pitchFamily="18" charset="0"/>
                          <a:cs typeface="Times New Roman" panose="02020603050405020304" pitchFamily="18" charset="0"/>
                        </a:rPr>
                        <a:t>S</a:t>
                      </a:r>
                      <a:r>
                        <a:rPr lang="en-IN" baseline="-25000" dirty="0" smtClean="0">
                          <a:latin typeface="Times New Roman" panose="02020603050405020304" pitchFamily="18" charset="0"/>
                          <a:cs typeface="Times New Roman" panose="02020603050405020304" pitchFamily="18" charset="0"/>
                        </a:rPr>
                        <a:t>22</a:t>
                      </a:r>
                      <a:r>
                        <a:rPr lang="en-IN" dirty="0" smtClean="0">
                          <a:latin typeface="Times New Roman" panose="02020603050405020304" pitchFamily="18" charset="0"/>
                          <a:cs typeface="Times New Roman" panose="02020603050405020304" pitchFamily="18" charset="0"/>
                        </a:rPr>
                        <a:t>Z</a:t>
                      </a:r>
                      <a:r>
                        <a:rPr lang="en-IN" baseline="-25000" dirty="0" smtClean="0">
                          <a:latin typeface="Times New Roman" panose="02020603050405020304" pitchFamily="18" charset="0"/>
                          <a:cs typeface="Times New Roman" panose="02020603050405020304" pitchFamily="18" charset="0"/>
                        </a:rPr>
                        <a:t>22</a:t>
                      </a:r>
                      <a:endParaRPr lang="en-IN" baseline="-25000"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r>
                        <a:rPr lang="en-IN" dirty="0" smtClean="0">
                          <a:latin typeface="Times New Roman" panose="02020603050405020304" pitchFamily="18" charset="0"/>
                          <a:cs typeface="Times New Roman" panose="02020603050405020304" pitchFamily="18" charset="0"/>
                        </a:rPr>
                        <a:t>S</a:t>
                      </a:r>
                      <a:r>
                        <a:rPr lang="en-IN" baseline="-25000" dirty="0" smtClean="0">
                          <a:latin typeface="Times New Roman" panose="02020603050405020304" pitchFamily="18" charset="0"/>
                          <a:cs typeface="Times New Roman" panose="02020603050405020304" pitchFamily="18" charset="0"/>
                        </a:rPr>
                        <a:t>2m</a:t>
                      </a:r>
                      <a:r>
                        <a:rPr lang="en-IN" dirty="0" smtClean="0">
                          <a:latin typeface="Times New Roman" panose="02020603050405020304" pitchFamily="18" charset="0"/>
                          <a:cs typeface="Times New Roman" panose="02020603050405020304" pitchFamily="18" charset="0"/>
                        </a:rPr>
                        <a:t>Z</a:t>
                      </a:r>
                      <a:r>
                        <a:rPr lang="en-IN" baseline="-25000" dirty="0" smtClean="0">
                          <a:latin typeface="Times New Roman" panose="02020603050405020304" pitchFamily="18" charset="0"/>
                          <a:cs typeface="Times New Roman" panose="02020603050405020304" pitchFamily="18" charset="0"/>
                        </a:rPr>
                        <a:t>2m</a:t>
                      </a:r>
                      <a:endParaRPr lang="en-IN" baseline="-25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3218198469"/>
                  </a:ext>
                </a:extLst>
              </a:tr>
              <a:tr h="370840">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2489427536"/>
                  </a:ext>
                </a:extLst>
              </a:tr>
              <a:tr h="370840">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a:latin typeface="Times New Roman" panose="02020603050405020304" pitchFamily="18" charset="0"/>
                        <a:cs typeface="Times New Roman" panose="02020603050405020304" pitchFamily="18" charset="0"/>
                      </a:endParaRPr>
                    </a:p>
                  </a:txBody>
                  <a:tcPr/>
                </a:tc>
                <a:tc>
                  <a:txBody>
                    <a:bodyPr/>
                    <a:lstStyle/>
                    <a:p>
                      <a:endParaRPr lang="en-IN">
                        <a:latin typeface="Times New Roman" panose="02020603050405020304" pitchFamily="18" charset="0"/>
                        <a:cs typeface="Times New Roman" panose="02020603050405020304" pitchFamily="18" charset="0"/>
                      </a:endParaRPr>
                    </a:p>
                  </a:txBody>
                  <a:tcPr/>
                </a:tc>
                <a:tc>
                  <a:txBody>
                    <a:bodyPr/>
                    <a:lstStyle/>
                    <a:p>
                      <a:endParaRPr lang="en-IN">
                        <a:latin typeface="Times New Roman" panose="02020603050405020304" pitchFamily="18" charset="0"/>
                        <a:cs typeface="Times New Roman" panose="02020603050405020304" pitchFamily="18" charset="0"/>
                      </a:endParaRPr>
                    </a:p>
                  </a:txBody>
                  <a:tcPr/>
                </a:tc>
                <a:tc>
                  <a:txBody>
                    <a:bodyPr/>
                    <a:lstStyle/>
                    <a:p>
                      <a:endParaRPr lang="en-IN">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3295234332"/>
                  </a:ext>
                </a:extLst>
              </a:tr>
              <a:tr h="370840">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a:latin typeface="Times New Roman" panose="02020603050405020304" pitchFamily="18" charset="0"/>
                        <a:cs typeface="Times New Roman" panose="02020603050405020304" pitchFamily="18" charset="0"/>
                      </a:endParaRPr>
                    </a:p>
                  </a:txBody>
                  <a:tcPr/>
                </a:tc>
                <a:tc>
                  <a:txBody>
                    <a:bodyPr/>
                    <a:lstStyle/>
                    <a:p>
                      <a:endParaRPr lang="en-IN">
                        <a:latin typeface="Times New Roman" panose="02020603050405020304" pitchFamily="18" charset="0"/>
                        <a:cs typeface="Times New Roman" panose="02020603050405020304" pitchFamily="18" charset="0"/>
                      </a:endParaRPr>
                    </a:p>
                  </a:txBody>
                  <a:tcPr/>
                </a:tc>
                <a:tc>
                  <a:txBody>
                    <a:bodyPr/>
                    <a:lstStyle/>
                    <a:p>
                      <a:endParaRPr lang="en-IN">
                        <a:latin typeface="Times New Roman" panose="02020603050405020304" pitchFamily="18" charset="0"/>
                        <a:cs typeface="Times New Roman" panose="02020603050405020304" pitchFamily="18" charset="0"/>
                      </a:endParaRPr>
                    </a:p>
                  </a:txBody>
                  <a:tcPr/>
                </a:tc>
                <a:tc>
                  <a:txBody>
                    <a:bodyPr/>
                    <a:lstStyle/>
                    <a:p>
                      <a:endParaRPr lang="en-IN">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4110294412"/>
                  </a:ext>
                </a:extLst>
              </a:tr>
              <a:tr h="370840">
                <a:tc>
                  <a:txBody>
                    <a:bodyPr/>
                    <a:lstStyle/>
                    <a:p>
                      <a:r>
                        <a:rPr lang="en-IN" dirty="0" smtClean="0">
                          <a:latin typeface="Times New Roman" panose="02020603050405020304" pitchFamily="18" charset="0"/>
                          <a:cs typeface="Times New Roman" panose="02020603050405020304" pitchFamily="18" charset="0"/>
                        </a:rPr>
                        <a:t>S</a:t>
                      </a:r>
                      <a:r>
                        <a:rPr lang="en-IN" baseline="-25000" dirty="0" smtClean="0">
                          <a:latin typeface="Times New Roman" panose="02020603050405020304" pitchFamily="18" charset="0"/>
                          <a:cs typeface="Times New Roman" panose="02020603050405020304" pitchFamily="18" charset="0"/>
                        </a:rPr>
                        <a:t>n</a:t>
                      </a:r>
                      <a:endParaRPr lang="en-IN" baseline="-25000" dirty="0">
                        <a:latin typeface="Times New Roman" panose="02020603050405020304" pitchFamily="18" charset="0"/>
                        <a:cs typeface="Times New Roman" panose="02020603050405020304" pitchFamily="18" charset="0"/>
                      </a:endParaRPr>
                    </a:p>
                  </a:txBody>
                  <a:tcPr/>
                </a:tc>
                <a:tc>
                  <a:txBody>
                    <a:bodyPr/>
                    <a:lstStyle/>
                    <a:p>
                      <a:r>
                        <a:rPr lang="en-IN" dirty="0" smtClean="0">
                          <a:latin typeface="Times New Roman" panose="02020603050405020304" pitchFamily="18" charset="0"/>
                          <a:cs typeface="Times New Roman" panose="02020603050405020304" pitchFamily="18" charset="0"/>
                        </a:rPr>
                        <a:t>S</a:t>
                      </a:r>
                      <a:r>
                        <a:rPr lang="en-IN" baseline="-25000" dirty="0" smtClean="0">
                          <a:latin typeface="Times New Roman" panose="02020603050405020304" pitchFamily="18" charset="0"/>
                          <a:cs typeface="Times New Roman" panose="02020603050405020304" pitchFamily="18" charset="0"/>
                        </a:rPr>
                        <a:t>n1</a:t>
                      </a:r>
                      <a:r>
                        <a:rPr lang="en-IN" dirty="0" smtClean="0">
                          <a:latin typeface="Times New Roman" panose="02020603050405020304" pitchFamily="18" charset="0"/>
                          <a:cs typeface="Times New Roman" panose="02020603050405020304" pitchFamily="18" charset="0"/>
                        </a:rPr>
                        <a:t>Z</a:t>
                      </a:r>
                      <a:r>
                        <a:rPr lang="en-IN" baseline="-25000" dirty="0" smtClean="0">
                          <a:latin typeface="Times New Roman" panose="02020603050405020304" pitchFamily="18" charset="0"/>
                          <a:cs typeface="Times New Roman" panose="02020603050405020304" pitchFamily="18" charset="0"/>
                        </a:rPr>
                        <a:t>n1</a:t>
                      </a:r>
                      <a:endParaRPr lang="en-IN" baseline="-25000" dirty="0">
                        <a:latin typeface="Times New Roman" panose="02020603050405020304" pitchFamily="18" charset="0"/>
                        <a:cs typeface="Times New Roman" panose="02020603050405020304" pitchFamily="18" charset="0"/>
                      </a:endParaRPr>
                    </a:p>
                  </a:txBody>
                  <a:tcPr/>
                </a:tc>
                <a:tc>
                  <a:txBody>
                    <a:bodyPr/>
                    <a:lstStyle/>
                    <a:p>
                      <a:r>
                        <a:rPr lang="en-IN" dirty="0" smtClean="0">
                          <a:latin typeface="Times New Roman" panose="02020603050405020304" pitchFamily="18" charset="0"/>
                          <a:cs typeface="Times New Roman" panose="02020603050405020304" pitchFamily="18" charset="0"/>
                        </a:rPr>
                        <a:t>S</a:t>
                      </a:r>
                      <a:r>
                        <a:rPr lang="en-IN" baseline="-25000" dirty="0" smtClean="0">
                          <a:latin typeface="Times New Roman" panose="02020603050405020304" pitchFamily="18" charset="0"/>
                          <a:cs typeface="Times New Roman" panose="02020603050405020304" pitchFamily="18" charset="0"/>
                        </a:rPr>
                        <a:t>n2</a:t>
                      </a:r>
                      <a:r>
                        <a:rPr lang="en-IN" dirty="0" smtClean="0">
                          <a:latin typeface="Times New Roman" panose="02020603050405020304" pitchFamily="18" charset="0"/>
                          <a:cs typeface="Times New Roman" panose="02020603050405020304" pitchFamily="18" charset="0"/>
                        </a:rPr>
                        <a:t>Z</a:t>
                      </a:r>
                      <a:r>
                        <a:rPr lang="en-IN" baseline="-25000" dirty="0" smtClean="0">
                          <a:latin typeface="Times New Roman" panose="02020603050405020304" pitchFamily="18" charset="0"/>
                          <a:cs typeface="Times New Roman" panose="02020603050405020304" pitchFamily="18" charset="0"/>
                        </a:rPr>
                        <a:t>n2</a:t>
                      </a:r>
                      <a:endParaRPr lang="en-IN" baseline="-25000"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r>
                        <a:rPr lang="en-IN" dirty="0" err="1" smtClean="0">
                          <a:latin typeface="Times New Roman" panose="02020603050405020304" pitchFamily="18" charset="0"/>
                          <a:cs typeface="Times New Roman" panose="02020603050405020304" pitchFamily="18" charset="0"/>
                        </a:rPr>
                        <a:t>S</a:t>
                      </a:r>
                      <a:r>
                        <a:rPr lang="en-IN" baseline="-25000" dirty="0" err="1" smtClean="0">
                          <a:latin typeface="Times New Roman" panose="02020603050405020304" pitchFamily="18" charset="0"/>
                          <a:cs typeface="Times New Roman" panose="02020603050405020304" pitchFamily="18" charset="0"/>
                        </a:rPr>
                        <a:t>nm</a:t>
                      </a:r>
                      <a:r>
                        <a:rPr lang="en-IN" dirty="0" err="1" smtClean="0">
                          <a:latin typeface="Times New Roman" panose="02020603050405020304" pitchFamily="18" charset="0"/>
                          <a:cs typeface="Times New Roman" panose="02020603050405020304" pitchFamily="18" charset="0"/>
                        </a:rPr>
                        <a:t>Z</a:t>
                      </a:r>
                      <a:r>
                        <a:rPr lang="en-IN" baseline="-25000" dirty="0" err="1" smtClean="0">
                          <a:latin typeface="Times New Roman" panose="02020603050405020304" pitchFamily="18" charset="0"/>
                          <a:cs typeface="Times New Roman" panose="02020603050405020304" pitchFamily="18" charset="0"/>
                        </a:rPr>
                        <a:t>nm</a:t>
                      </a:r>
                      <a:endParaRPr lang="en-IN" baseline="-25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966296529"/>
                  </a:ext>
                </a:extLst>
              </a:tr>
            </a:tbl>
          </a:graphicData>
        </a:graphic>
      </p:graphicFrame>
      <p:sp>
        <p:nvSpPr>
          <p:cNvPr id="50" name="Oval 49"/>
          <p:cNvSpPr/>
          <p:nvPr/>
        </p:nvSpPr>
        <p:spPr>
          <a:xfrm>
            <a:off x="1174773" y="5167062"/>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Oval 50"/>
          <p:cNvSpPr/>
          <p:nvPr/>
        </p:nvSpPr>
        <p:spPr>
          <a:xfrm>
            <a:off x="464537" y="5207296"/>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Oval 51"/>
          <p:cNvSpPr/>
          <p:nvPr/>
        </p:nvSpPr>
        <p:spPr>
          <a:xfrm>
            <a:off x="2058755" y="5228186"/>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Oval 52"/>
          <p:cNvSpPr/>
          <p:nvPr/>
        </p:nvSpPr>
        <p:spPr>
          <a:xfrm>
            <a:off x="1205662" y="5540922"/>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4" name="Oval 53"/>
          <p:cNvSpPr/>
          <p:nvPr/>
        </p:nvSpPr>
        <p:spPr>
          <a:xfrm>
            <a:off x="464717" y="552627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Oval 54"/>
          <p:cNvSpPr/>
          <p:nvPr/>
        </p:nvSpPr>
        <p:spPr>
          <a:xfrm>
            <a:off x="2059116" y="5626602"/>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Oval 55"/>
          <p:cNvSpPr/>
          <p:nvPr/>
        </p:nvSpPr>
        <p:spPr>
          <a:xfrm>
            <a:off x="2039369" y="5960501"/>
            <a:ext cx="65105" cy="469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Oval 56"/>
          <p:cNvSpPr/>
          <p:nvPr/>
        </p:nvSpPr>
        <p:spPr>
          <a:xfrm>
            <a:off x="487396" y="5891922"/>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Oval 57"/>
          <p:cNvSpPr/>
          <p:nvPr/>
        </p:nvSpPr>
        <p:spPr>
          <a:xfrm flipH="1">
            <a:off x="1204787" y="5914782"/>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TextBox 58"/>
          <p:cNvSpPr txBox="1"/>
          <p:nvPr/>
        </p:nvSpPr>
        <p:spPr>
          <a:xfrm>
            <a:off x="5217097" y="3776980"/>
            <a:ext cx="6772596" cy="2585323"/>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{S</a:t>
            </a:r>
            <a:r>
              <a:rPr lang="en-IN" baseline="-25000" dirty="0" smtClean="0">
                <a:latin typeface="Times New Roman" panose="02020603050405020304" pitchFamily="18" charset="0"/>
                <a:cs typeface="Times New Roman" panose="02020603050405020304" pitchFamily="18" charset="0"/>
              </a:rPr>
              <a:t>i</a:t>
            </a:r>
            <a:r>
              <a:rPr lang="en-IN" dirty="0" smtClean="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sym typeface="Symbol" panose="05050102010706020507" pitchFamily="18" charset="2"/>
              </a:rPr>
              <a:t> Set of internal states of the machine as defined by the rows of the state table</a:t>
            </a:r>
          </a:p>
          <a:p>
            <a:r>
              <a:rPr lang="en-IN" dirty="0" smtClean="0">
                <a:latin typeface="Times New Roman" panose="02020603050405020304" pitchFamily="18" charset="0"/>
                <a:cs typeface="Times New Roman" panose="02020603050405020304" pitchFamily="18" charset="0"/>
                <a:sym typeface="Symbol" panose="05050102010706020507" pitchFamily="18" charset="2"/>
              </a:rPr>
              <a:t>Internal state  Determined by the information stored in the unit at discrete points of time (clock time)</a:t>
            </a:r>
          </a:p>
          <a:p>
            <a:r>
              <a:rPr lang="en-IN" dirty="0" smtClean="0">
                <a:latin typeface="Times New Roman" panose="02020603050405020304" pitchFamily="18" charset="0"/>
                <a:cs typeface="Times New Roman" panose="02020603050405020304" pitchFamily="18" charset="0"/>
                <a:sym typeface="Symbol" panose="05050102010706020507" pitchFamily="18" charset="2"/>
              </a:rPr>
              <a:t>Column corresponds to the set of external signal to CU i.e. </a:t>
            </a:r>
            <a:r>
              <a:rPr lang="en-IN" dirty="0" err="1" smtClean="0">
                <a:latin typeface="Times New Roman" panose="02020603050405020304" pitchFamily="18" charset="0"/>
                <a:cs typeface="Times New Roman" panose="02020603050405020304" pitchFamily="18" charset="0"/>
              </a:rPr>
              <a:t>C</a:t>
            </a:r>
            <a:r>
              <a:rPr lang="en-IN" baseline="-25000" dirty="0" err="1" smtClean="0">
                <a:latin typeface="Times New Roman" panose="02020603050405020304" pitchFamily="18" charset="0"/>
                <a:cs typeface="Times New Roman" panose="02020603050405020304" pitchFamily="18" charset="0"/>
              </a:rPr>
              <a:t>in</a:t>
            </a:r>
            <a:endParaRPr lang="en-IN" dirty="0" smtClean="0">
              <a:latin typeface="Times New Roman" panose="02020603050405020304" pitchFamily="18" charset="0"/>
              <a:cs typeface="Times New Roman" panose="02020603050405020304" pitchFamily="18" charset="0"/>
              <a:sym typeface="Symbol" panose="05050102010706020507" pitchFamily="18" charset="2"/>
            </a:endParaRPr>
          </a:p>
          <a:p>
            <a:r>
              <a:rPr lang="en-IN" dirty="0" err="1" smtClean="0">
                <a:latin typeface="Times New Roman" panose="02020603050405020304" pitchFamily="18" charset="0"/>
                <a:cs typeface="Times New Roman" panose="02020603050405020304" pitchFamily="18" charset="0"/>
                <a:sym typeface="Symbol" panose="05050102010706020507" pitchFamily="18" charset="2"/>
              </a:rPr>
              <a:t>S</a:t>
            </a:r>
            <a:r>
              <a:rPr lang="en-IN" baseline="-25000" dirty="0" err="1" smtClean="0">
                <a:latin typeface="Times New Roman" panose="02020603050405020304" pitchFamily="18" charset="0"/>
                <a:cs typeface="Times New Roman" panose="02020603050405020304" pitchFamily="18" charset="0"/>
                <a:sym typeface="Symbol" panose="05050102010706020507" pitchFamily="18" charset="2"/>
              </a:rPr>
              <a:t>ij</a:t>
            </a:r>
            <a:r>
              <a:rPr lang="en-IN" dirty="0" err="1" smtClean="0">
                <a:latin typeface="Times New Roman" panose="02020603050405020304" pitchFamily="18" charset="0"/>
                <a:cs typeface="Times New Roman" panose="02020603050405020304" pitchFamily="18" charset="0"/>
                <a:sym typeface="Symbol" panose="05050102010706020507" pitchFamily="18" charset="2"/>
              </a:rPr>
              <a:t>Z</a:t>
            </a:r>
            <a:r>
              <a:rPr lang="en-IN" baseline="-25000" dirty="0" err="1" smtClean="0">
                <a:latin typeface="Times New Roman" panose="02020603050405020304" pitchFamily="18" charset="0"/>
                <a:cs typeface="Times New Roman" panose="02020603050405020304" pitchFamily="18" charset="0"/>
                <a:sym typeface="Symbol" panose="05050102010706020507" pitchFamily="18" charset="2"/>
              </a:rPr>
              <a:t>ij</a:t>
            </a:r>
            <a:r>
              <a:rPr lang="en-IN" dirty="0" smtClean="0">
                <a:latin typeface="Times New Roman" panose="02020603050405020304" pitchFamily="18" charset="0"/>
                <a:cs typeface="Times New Roman" panose="02020603050405020304" pitchFamily="18" charset="0"/>
                <a:sym typeface="Symbol" panose="05050102010706020507" pitchFamily="18" charset="2"/>
              </a:rPr>
              <a:t>  Entry in row S</a:t>
            </a:r>
            <a:r>
              <a:rPr lang="en-IN" baseline="-25000" dirty="0" smtClean="0">
                <a:latin typeface="Times New Roman" panose="02020603050405020304" pitchFamily="18" charset="0"/>
                <a:cs typeface="Times New Roman" panose="02020603050405020304" pitchFamily="18" charset="0"/>
                <a:sym typeface="Symbol" panose="05050102010706020507" pitchFamily="18" charset="2"/>
              </a:rPr>
              <a:t>i</a:t>
            </a:r>
            <a:r>
              <a:rPr lang="en-IN" dirty="0" smtClean="0">
                <a:latin typeface="Times New Roman" panose="02020603050405020304" pitchFamily="18" charset="0"/>
                <a:cs typeface="Times New Roman" panose="02020603050405020304" pitchFamily="18" charset="0"/>
                <a:sym typeface="Symbol" panose="05050102010706020507" pitchFamily="18" charset="2"/>
              </a:rPr>
              <a:t> and column </a:t>
            </a:r>
            <a:r>
              <a:rPr lang="en-IN" dirty="0" err="1" smtClean="0">
                <a:latin typeface="Times New Roman" panose="02020603050405020304" pitchFamily="18" charset="0"/>
                <a:cs typeface="Times New Roman" panose="02020603050405020304" pitchFamily="18" charset="0"/>
                <a:sym typeface="Symbol" panose="05050102010706020507" pitchFamily="18" charset="2"/>
              </a:rPr>
              <a:t>I</a:t>
            </a:r>
            <a:r>
              <a:rPr lang="en-IN" baseline="-25000" dirty="0" err="1" smtClean="0">
                <a:latin typeface="Times New Roman" panose="02020603050405020304" pitchFamily="18" charset="0"/>
                <a:cs typeface="Times New Roman" panose="02020603050405020304" pitchFamily="18" charset="0"/>
                <a:sym typeface="Symbol" panose="05050102010706020507" pitchFamily="18" charset="2"/>
              </a:rPr>
              <a:t>j</a:t>
            </a:r>
            <a:endParaRPr lang="en-IN" baseline="-25000" dirty="0" smtClean="0">
              <a:latin typeface="Times New Roman" panose="02020603050405020304" pitchFamily="18" charset="0"/>
              <a:cs typeface="Times New Roman" panose="02020603050405020304" pitchFamily="18" charset="0"/>
              <a:sym typeface="Symbol" panose="05050102010706020507" pitchFamily="18" charset="2"/>
            </a:endParaRPr>
          </a:p>
          <a:p>
            <a:r>
              <a:rPr lang="en-IN" dirty="0">
                <a:latin typeface="Times New Roman" panose="02020603050405020304" pitchFamily="18" charset="0"/>
                <a:cs typeface="Times New Roman" panose="02020603050405020304" pitchFamily="18" charset="0"/>
                <a:sym typeface="Symbol" panose="05050102010706020507" pitchFamily="18" charset="2"/>
              </a:rPr>
              <a:t> </a:t>
            </a:r>
            <a:r>
              <a:rPr lang="en-IN" dirty="0" err="1" smtClean="0">
                <a:latin typeface="Times New Roman" panose="02020603050405020304" pitchFamily="18" charset="0"/>
                <a:cs typeface="Times New Roman" panose="02020603050405020304" pitchFamily="18" charset="0"/>
                <a:sym typeface="Symbol" panose="05050102010706020507" pitchFamily="18" charset="2"/>
              </a:rPr>
              <a:t>Z</a:t>
            </a:r>
            <a:r>
              <a:rPr lang="en-IN" baseline="-25000" dirty="0" err="1" smtClean="0">
                <a:latin typeface="Times New Roman" panose="02020603050405020304" pitchFamily="18" charset="0"/>
                <a:cs typeface="Times New Roman" panose="02020603050405020304" pitchFamily="18" charset="0"/>
                <a:sym typeface="Symbol" panose="05050102010706020507" pitchFamily="18" charset="2"/>
              </a:rPr>
              <a:t>ij</a:t>
            </a:r>
            <a:r>
              <a:rPr lang="en-IN" dirty="0" smtClean="0">
                <a:latin typeface="Times New Roman" panose="02020603050405020304" pitchFamily="18" charset="0"/>
                <a:cs typeface="Times New Roman" panose="02020603050405020304" pitchFamily="18" charset="0"/>
                <a:sym typeface="Symbol" panose="05050102010706020507" pitchFamily="18" charset="2"/>
              </a:rPr>
              <a:t>: Denotes the set of output signal from </a:t>
            </a:r>
            <a:r>
              <a:rPr lang="en-IN" b="1" dirty="0" err="1" smtClean="0">
                <a:latin typeface="Times New Roman" panose="02020603050405020304" pitchFamily="18" charset="0"/>
                <a:cs typeface="Times New Roman" panose="02020603050405020304" pitchFamily="18" charset="0"/>
                <a:sym typeface="Symbol" panose="05050102010706020507" pitchFamily="18" charset="2"/>
              </a:rPr>
              <a:t>C</a:t>
            </a:r>
            <a:r>
              <a:rPr lang="en-IN" b="1" baseline="-25000" dirty="0" err="1" smtClean="0">
                <a:latin typeface="Times New Roman" panose="02020603050405020304" pitchFamily="18" charset="0"/>
                <a:cs typeface="Times New Roman" panose="02020603050405020304" pitchFamily="18" charset="0"/>
                <a:sym typeface="Symbol" panose="05050102010706020507" pitchFamily="18" charset="2"/>
              </a:rPr>
              <a:t>out</a:t>
            </a:r>
            <a:r>
              <a:rPr lang="en-IN" dirty="0" smtClean="0">
                <a:latin typeface="Times New Roman" panose="02020603050405020304" pitchFamily="18" charset="0"/>
                <a:cs typeface="Times New Roman" panose="02020603050405020304" pitchFamily="18" charset="0"/>
                <a:sym typeface="Symbol" panose="05050102010706020507" pitchFamily="18" charset="2"/>
              </a:rPr>
              <a:t> that are activated due to the application of </a:t>
            </a:r>
            <a:r>
              <a:rPr lang="en-IN" dirty="0" err="1" smtClean="0">
                <a:latin typeface="Times New Roman" panose="02020603050405020304" pitchFamily="18" charset="0"/>
                <a:cs typeface="Times New Roman" panose="02020603050405020304" pitchFamily="18" charset="0"/>
                <a:sym typeface="Symbol" panose="05050102010706020507" pitchFamily="18" charset="2"/>
              </a:rPr>
              <a:t>I</a:t>
            </a:r>
            <a:r>
              <a:rPr lang="en-IN" baseline="-25000" dirty="0" err="1" smtClean="0">
                <a:latin typeface="Times New Roman" panose="02020603050405020304" pitchFamily="18" charset="0"/>
                <a:cs typeface="Times New Roman" panose="02020603050405020304" pitchFamily="18" charset="0"/>
                <a:sym typeface="Symbol" panose="05050102010706020507" pitchFamily="18" charset="2"/>
              </a:rPr>
              <a:t>j</a:t>
            </a:r>
            <a:r>
              <a:rPr lang="en-IN" dirty="0" smtClean="0">
                <a:latin typeface="Times New Roman" panose="02020603050405020304" pitchFamily="18" charset="0"/>
                <a:cs typeface="Times New Roman" panose="02020603050405020304" pitchFamily="18" charset="0"/>
                <a:sym typeface="Symbol" panose="05050102010706020507" pitchFamily="18" charset="2"/>
              </a:rPr>
              <a:t> to control unit when it is in state S</a:t>
            </a:r>
            <a:r>
              <a:rPr lang="en-IN" baseline="-25000" dirty="0" smtClean="0">
                <a:latin typeface="Times New Roman" panose="02020603050405020304" pitchFamily="18" charset="0"/>
                <a:cs typeface="Times New Roman" panose="02020603050405020304" pitchFamily="18" charset="0"/>
                <a:sym typeface="Symbol" panose="05050102010706020507" pitchFamily="18" charset="2"/>
              </a:rPr>
              <a:t>i</a:t>
            </a:r>
          </a:p>
          <a:p>
            <a:r>
              <a:rPr lang="en-IN" dirty="0" err="1" smtClean="0">
                <a:latin typeface="Times New Roman" panose="02020603050405020304" pitchFamily="18" charset="0"/>
                <a:cs typeface="Times New Roman" panose="02020603050405020304" pitchFamily="18" charset="0"/>
                <a:sym typeface="Symbol" panose="05050102010706020507" pitchFamily="18" charset="2"/>
              </a:rPr>
              <a:t>S</a:t>
            </a:r>
            <a:r>
              <a:rPr lang="en-IN" baseline="-25000" dirty="0" err="1" smtClean="0">
                <a:latin typeface="Times New Roman" panose="02020603050405020304" pitchFamily="18" charset="0"/>
                <a:cs typeface="Times New Roman" panose="02020603050405020304" pitchFamily="18" charset="0"/>
                <a:sym typeface="Symbol" panose="05050102010706020507" pitchFamily="18" charset="2"/>
              </a:rPr>
              <a:t>ij</a:t>
            </a:r>
            <a:r>
              <a:rPr lang="en-IN" dirty="0" smtClean="0">
                <a:latin typeface="Times New Roman" panose="02020603050405020304" pitchFamily="18" charset="0"/>
                <a:cs typeface="Times New Roman" panose="02020603050405020304" pitchFamily="18" charset="0"/>
                <a:sym typeface="Symbol" panose="05050102010706020507" pitchFamily="18" charset="2"/>
              </a:rPr>
              <a:t>: Denotes the next state of CU</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2448930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05670" y="266202"/>
            <a:ext cx="1406769" cy="8788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925243" y="397668"/>
            <a:ext cx="1237958"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CU state S</a:t>
            </a:r>
            <a:r>
              <a:rPr lang="en-IN" baseline="-25000" dirty="0" smtClean="0">
                <a:latin typeface="Times New Roman" panose="02020603050405020304" pitchFamily="18" charset="0"/>
                <a:cs typeface="Times New Roman" panose="02020603050405020304" pitchFamily="18" charset="0"/>
              </a:rPr>
              <a:t>i</a:t>
            </a:r>
            <a:endParaRPr lang="en-IN" baseline="-25000" dirty="0">
              <a:latin typeface="Times New Roman" panose="02020603050405020304" pitchFamily="18" charset="0"/>
              <a:cs typeface="Times New Roman" panose="02020603050405020304" pitchFamily="18" charset="0"/>
            </a:endParaRPr>
          </a:p>
        </p:txBody>
      </p:sp>
      <p:cxnSp>
        <p:nvCxnSpPr>
          <p:cNvPr id="8" name="Straight Arrow Connector 7"/>
          <p:cNvCxnSpPr/>
          <p:nvPr/>
        </p:nvCxnSpPr>
        <p:spPr>
          <a:xfrm flipV="1">
            <a:off x="327368" y="582334"/>
            <a:ext cx="478302" cy="140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2219474" y="404702"/>
            <a:ext cx="478302" cy="140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2219474" y="970981"/>
            <a:ext cx="478302" cy="140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388286" y="329507"/>
            <a:ext cx="337624" cy="646331"/>
          </a:xfrm>
          <a:prstGeom prst="rect">
            <a:avLst/>
          </a:prstGeom>
          <a:noFill/>
        </p:spPr>
        <p:txBody>
          <a:bodyPr wrap="square" rtlCol="0">
            <a:spAutoFit/>
          </a:bodyPr>
          <a:lstStyle/>
          <a:p>
            <a:r>
              <a:rPr lang="en-IN" sz="1200" dirty="0" smtClean="0"/>
              <a:t>.</a:t>
            </a:r>
          </a:p>
          <a:p>
            <a:r>
              <a:rPr lang="en-IN" sz="1200" dirty="0" smtClean="0"/>
              <a:t>.</a:t>
            </a:r>
          </a:p>
          <a:p>
            <a:r>
              <a:rPr lang="en-IN" sz="1200" dirty="0"/>
              <a:t>.</a:t>
            </a:r>
          </a:p>
        </p:txBody>
      </p:sp>
      <p:sp>
        <p:nvSpPr>
          <p:cNvPr id="12" name="Rectangle 11"/>
          <p:cNvSpPr/>
          <p:nvPr/>
        </p:nvSpPr>
        <p:spPr>
          <a:xfrm>
            <a:off x="2557098" y="468006"/>
            <a:ext cx="412292" cy="369332"/>
          </a:xfrm>
          <a:prstGeom prst="rect">
            <a:avLst/>
          </a:prstGeom>
        </p:spPr>
        <p:txBody>
          <a:bodyPr wrap="none">
            <a:spAutoFit/>
          </a:bodyPr>
          <a:lstStyle/>
          <a:p>
            <a:r>
              <a:rPr lang="en-IN" dirty="0" err="1" smtClean="0">
                <a:latin typeface="Times New Roman" panose="02020603050405020304" pitchFamily="18" charset="0"/>
                <a:cs typeface="Times New Roman" panose="02020603050405020304" pitchFamily="18" charset="0"/>
                <a:sym typeface="Symbol" panose="05050102010706020507" pitchFamily="18" charset="2"/>
              </a:rPr>
              <a:t>Z</a:t>
            </a:r>
            <a:r>
              <a:rPr lang="en-IN" baseline="-25000" dirty="0" err="1" smtClean="0">
                <a:latin typeface="Times New Roman" panose="02020603050405020304" pitchFamily="18" charset="0"/>
                <a:cs typeface="Times New Roman" panose="02020603050405020304" pitchFamily="18" charset="0"/>
                <a:sym typeface="Symbol" panose="05050102010706020507" pitchFamily="18" charset="2"/>
              </a:rPr>
              <a:t>ij</a:t>
            </a:r>
            <a:endParaRPr lang="en-IN" dirty="0"/>
          </a:p>
        </p:txBody>
      </p:sp>
      <p:sp>
        <p:nvSpPr>
          <p:cNvPr id="13" name="Rectangle 12"/>
          <p:cNvSpPr/>
          <p:nvPr/>
        </p:nvSpPr>
        <p:spPr>
          <a:xfrm>
            <a:off x="372951" y="589368"/>
            <a:ext cx="304892" cy="369332"/>
          </a:xfrm>
          <a:prstGeom prst="rect">
            <a:avLst/>
          </a:prstGeom>
        </p:spPr>
        <p:txBody>
          <a:bodyPr wrap="none">
            <a:spAutoFit/>
          </a:bodyPr>
          <a:lstStyle/>
          <a:p>
            <a:r>
              <a:rPr lang="en-IN" dirty="0" err="1" smtClean="0">
                <a:latin typeface="Times New Roman" panose="02020603050405020304" pitchFamily="18" charset="0"/>
                <a:cs typeface="Times New Roman" panose="02020603050405020304" pitchFamily="18" charset="0"/>
                <a:sym typeface="Symbol" panose="05050102010706020507" pitchFamily="18" charset="2"/>
              </a:rPr>
              <a:t>I</a:t>
            </a:r>
            <a:r>
              <a:rPr lang="en-IN" baseline="-25000" dirty="0" err="1" smtClean="0">
                <a:latin typeface="Times New Roman" panose="02020603050405020304" pitchFamily="18" charset="0"/>
                <a:cs typeface="Times New Roman" panose="02020603050405020304" pitchFamily="18" charset="0"/>
                <a:sym typeface="Symbol" panose="05050102010706020507" pitchFamily="18" charset="2"/>
              </a:rPr>
              <a:t>j</a:t>
            </a:r>
            <a:endParaRPr lang="en-IN" dirty="0"/>
          </a:p>
        </p:txBody>
      </p:sp>
      <p:sp>
        <p:nvSpPr>
          <p:cNvPr id="14" name="TextBox 13"/>
          <p:cNvSpPr txBox="1"/>
          <p:nvPr/>
        </p:nvSpPr>
        <p:spPr>
          <a:xfrm>
            <a:off x="873303" y="1118692"/>
            <a:ext cx="1466963"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Next state </a:t>
            </a:r>
            <a:r>
              <a:rPr lang="en-IN" dirty="0" err="1" smtClean="0">
                <a:latin typeface="Times New Roman" panose="02020603050405020304" pitchFamily="18" charset="0"/>
                <a:cs typeface="Times New Roman" panose="02020603050405020304" pitchFamily="18" charset="0"/>
              </a:rPr>
              <a:t>S</a:t>
            </a:r>
            <a:r>
              <a:rPr lang="en-IN" baseline="-25000" dirty="0" err="1" smtClean="0">
                <a:latin typeface="Times New Roman" panose="02020603050405020304" pitchFamily="18" charset="0"/>
                <a:cs typeface="Times New Roman" panose="02020603050405020304" pitchFamily="18" charset="0"/>
              </a:rPr>
              <a:t>ij</a:t>
            </a:r>
            <a:endParaRPr lang="en-IN" baseline="-25000" dirty="0">
              <a:latin typeface="Times New Roman" panose="02020603050405020304" pitchFamily="18" charset="0"/>
              <a:cs typeface="Times New Roman" panose="02020603050405020304" pitchFamily="18" charset="0"/>
            </a:endParaRPr>
          </a:p>
        </p:txBody>
      </p:sp>
      <p:sp>
        <p:nvSpPr>
          <p:cNvPr id="15" name="Oval 14"/>
          <p:cNvSpPr/>
          <p:nvPr/>
        </p:nvSpPr>
        <p:spPr>
          <a:xfrm>
            <a:off x="5486400" y="180681"/>
            <a:ext cx="829993" cy="57345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p:cNvSpPr txBox="1"/>
          <p:nvPr/>
        </p:nvSpPr>
        <p:spPr>
          <a:xfrm>
            <a:off x="5582911" y="261515"/>
            <a:ext cx="733482"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Start</a:t>
            </a:r>
            <a:endParaRPr lang="en-IN" baseline="-25000" dirty="0">
              <a:latin typeface="Times New Roman" panose="02020603050405020304" pitchFamily="18" charset="0"/>
              <a:cs typeface="Times New Roman" panose="02020603050405020304" pitchFamily="18" charset="0"/>
            </a:endParaRPr>
          </a:p>
        </p:txBody>
      </p:sp>
      <p:sp>
        <p:nvSpPr>
          <p:cNvPr id="17" name="TextBox 16"/>
          <p:cNvSpPr txBox="1"/>
          <p:nvPr/>
        </p:nvSpPr>
        <p:spPr>
          <a:xfrm>
            <a:off x="4754879" y="1019494"/>
            <a:ext cx="2336217"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A</a:t>
            </a:r>
            <a:r>
              <a:rPr lang="en-IN" dirty="0" smtClean="0">
                <a:latin typeface="Times New Roman" panose="02020603050405020304" pitchFamily="18" charset="0"/>
                <a:cs typeface="Times New Roman" panose="02020603050405020304" pitchFamily="18" charset="0"/>
                <a:sym typeface="Symbol" panose="05050102010706020507" pitchFamily="18" charset="2"/>
              </a:rPr>
              <a:t>0, Q0, count n</a:t>
            </a:r>
            <a:endParaRPr lang="en-IN" baseline="-25000" dirty="0">
              <a:latin typeface="Times New Roman" panose="02020603050405020304" pitchFamily="18" charset="0"/>
              <a:cs typeface="Times New Roman" panose="02020603050405020304" pitchFamily="18" charset="0"/>
            </a:endParaRPr>
          </a:p>
        </p:txBody>
      </p:sp>
      <p:sp>
        <p:nvSpPr>
          <p:cNvPr id="18" name="Rectangle 17"/>
          <p:cNvSpPr/>
          <p:nvPr/>
        </p:nvSpPr>
        <p:spPr>
          <a:xfrm>
            <a:off x="4747355" y="1004868"/>
            <a:ext cx="2308082"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4282141" y="2192863"/>
            <a:ext cx="986700"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p:cNvSpPr txBox="1"/>
          <p:nvPr/>
        </p:nvSpPr>
        <p:spPr>
          <a:xfrm>
            <a:off x="4240917" y="2178237"/>
            <a:ext cx="1027924"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A</a:t>
            </a:r>
            <a:r>
              <a:rPr lang="en-IN" dirty="0" smtClean="0">
                <a:latin typeface="Times New Roman" panose="02020603050405020304" pitchFamily="18" charset="0"/>
                <a:cs typeface="Times New Roman" panose="02020603050405020304" pitchFamily="18" charset="0"/>
                <a:sym typeface="Symbol" panose="05050102010706020507" pitchFamily="18" charset="2"/>
              </a:rPr>
              <a:t>A-M</a:t>
            </a:r>
            <a:endParaRPr lang="en-IN" baseline="-25000" dirty="0">
              <a:latin typeface="Times New Roman" panose="02020603050405020304" pitchFamily="18" charset="0"/>
              <a:cs typeface="Times New Roman" panose="02020603050405020304" pitchFamily="18" charset="0"/>
            </a:endParaRPr>
          </a:p>
        </p:txBody>
      </p:sp>
      <p:sp>
        <p:nvSpPr>
          <p:cNvPr id="21" name="Rectangle 20"/>
          <p:cNvSpPr/>
          <p:nvPr/>
        </p:nvSpPr>
        <p:spPr>
          <a:xfrm>
            <a:off x="6673537" y="2217986"/>
            <a:ext cx="1098262"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p:cNvSpPr txBox="1"/>
          <p:nvPr/>
        </p:nvSpPr>
        <p:spPr>
          <a:xfrm>
            <a:off x="6673537" y="2178237"/>
            <a:ext cx="1098262"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A</a:t>
            </a:r>
            <a:r>
              <a:rPr lang="en-IN" dirty="0" smtClean="0">
                <a:latin typeface="Times New Roman" panose="02020603050405020304" pitchFamily="18" charset="0"/>
                <a:cs typeface="Times New Roman" panose="02020603050405020304" pitchFamily="18" charset="0"/>
                <a:sym typeface="Symbol" panose="05050102010706020507" pitchFamily="18" charset="2"/>
              </a:rPr>
              <a:t>A+M</a:t>
            </a:r>
            <a:endParaRPr lang="en-IN" baseline="-25000" dirty="0">
              <a:latin typeface="Times New Roman" panose="02020603050405020304" pitchFamily="18" charset="0"/>
              <a:cs typeface="Times New Roman" panose="02020603050405020304" pitchFamily="18" charset="0"/>
            </a:endParaRPr>
          </a:p>
        </p:txBody>
      </p:sp>
      <p:sp>
        <p:nvSpPr>
          <p:cNvPr id="23" name="Rectangle 22"/>
          <p:cNvSpPr/>
          <p:nvPr/>
        </p:nvSpPr>
        <p:spPr>
          <a:xfrm>
            <a:off x="5683565" y="2507291"/>
            <a:ext cx="529009"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p:cNvSpPr txBox="1"/>
          <p:nvPr/>
        </p:nvSpPr>
        <p:spPr>
          <a:xfrm>
            <a:off x="5642341" y="2492665"/>
            <a:ext cx="570233" cy="369332"/>
          </a:xfrm>
          <a:prstGeom prst="rect">
            <a:avLst/>
          </a:prstGeom>
          <a:noFill/>
        </p:spPr>
        <p:txBody>
          <a:bodyPr wrap="square" rtlCol="0">
            <a:spAutoFit/>
          </a:bodyPr>
          <a:lstStyle/>
          <a:p>
            <a:r>
              <a:rPr lang="en-IN" dirty="0" err="1" smtClean="0">
                <a:latin typeface="Times New Roman" panose="02020603050405020304" pitchFamily="18" charset="0"/>
                <a:cs typeface="Times New Roman" panose="02020603050405020304" pitchFamily="18" charset="0"/>
              </a:rPr>
              <a:t>ashr</a:t>
            </a:r>
            <a:endParaRPr lang="en-IN" baseline="-25000" dirty="0">
              <a:latin typeface="Times New Roman" panose="02020603050405020304" pitchFamily="18" charset="0"/>
              <a:cs typeface="Times New Roman" panose="02020603050405020304" pitchFamily="18" charset="0"/>
            </a:endParaRPr>
          </a:p>
        </p:txBody>
      </p:sp>
      <p:sp>
        <p:nvSpPr>
          <p:cNvPr id="26" name="TextBox 25"/>
          <p:cNvSpPr txBox="1"/>
          <p:nvPr/>
        </p:nvSpPr>
        <p:spPr>
          <a:xfrm>
            <a:off x="5606490" y="1741002"/>
            <a:ext cx="641936"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Q</a:t>
            </a:r>
            <a:r>
              <a:rPr lang="en-IN" sz="1400" baseline="-25000" dirty="0" smtClean="0">
                <a:latin typeface="Times New Roman" panose="02020603050405020304" pitchFamily="18" charset="0"/>
                <a:cs typeface="Times New Roman" panose="02020603050405020304" pitchFamily="18" charset="0"/>
              </a:rPr>
              <a:t>0</a:t>
            </a:r>
            <a:r>
              <a:rPr lang="en-IN" sz="1400" dirty="0" smtClean="0">
                <a:latin typeface="Times New Roman" panose="02020603050405020304" pitchFamily="18" charset="0"/>
                <a:cs typeface="Times New Roman" panose="02020603050405020304" pitchFamily="18" charset="0"/>
              </a:rPr>
              <a:t>Q</a:t>
            </a:r>
            <a:r>
              <a:rPr lang="en-IN" sz="1400" baseline="-25000" dirty="0" smtClean="0">
                <a:latin typeface="Times New Roman" panose="02020603050405020304" pitchFamily="18" charset="0"/>
                <a:cs typeface="Times New Roman" panose="02020603050405020304" pitchFamily="18" charset="0"/>
              </a:rPr>
              <a:t>-1</a:t>
            </a:r>
            <a:endParaRPr lang="en-IN" sz="1400" baseline="-25000" dirty="0">
              <a:latin typeface="Times New Roman" panose="02020603050405020304" pitchFamily="18" charset="0"/>
              <a:cs typeface="Times New Roman" panose="02020603050405020304" pitchFamily="18" charset="0"/>
            </a:endParaRPr>
          </a:p>
        </p:txBody>
      </p:sp>
      <p:cxnSp>
        <p:nvCxnSpPr>
          <p:cNvPr id="35" name="Straight Connector 34"/>
          <p:cNvCxnSpPr/>
          <p:nvPr/>
        </p:nvCxnSpPr>
        <p:spPr>
          <a:xfrm flipV="1">
            <a:off x="5526528" y="1652036"/>
            <a:ext cx="379829" cy="267287"/>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5526528" y="1919322"/>
            <a:ext cx="379829" cy="258915"/>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5906357" y="1652036"/>
            <a:ext cx="422030" cy="267286"/>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V="1">
            <a:off x="5906357" y="1919322"/>
            <a:ext cx="379829" cy="258916"/>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15" idx="4"/>
            <a:endCxn id="18" idx="0"/>
          </p:cNvCxnSpPr>
          <p:nvPr/>
        </p:nvCxnSpPr>
        <p:spPr>
          <a:xfrm flipH="1">
            <a:off x="5901396" y="754135"/>
            <a:ext cx="1" cy="2507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18" idx="2"/>
            <a:endCxn id="26" idx="0"/>
          </p:cNvCxnSpPr>
          <p:nvPr/>
        </p:nvCxnSpPr>
        <p:spPr>
          <a:xfrm>
            <a:off x="5901396" y="1374200"/>
            <a:ext cx="26062" cy="3668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H="1">
            <a:off x="4795007" y="1919322"/>
            <a:ext cx="73152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H="1">
            <a:off x="6328387" y="1911224"/>
            <a:ext cx="73152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endCxn id="20" idx="0"/>
          </p:cNvCxnSpPr>
          <p:nvPr/>
        </p:nvCxnSpPr>
        <p:spPr>
          <a:xfrm flipH="1">
            <a:off x="4754879" y="1919322"/>
            <a:ext cx="40128" cy="2589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7054399" y="1916253"/>
            <a:ext cx="5509" cy="3017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a:off x="5895887" y="2190932"/>
            <a:ext cx="5509" cy="3017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a:stCxn id="20" idx="2"/>
          </p:cNvCxnSpPr>
          <p:nvPr/>
        </p:nvCxnSpPr>
        <p:spPr>
          <a:xfrm>
            <a:off x="4754879" y="2547569"/>
            <a:ext cx="0" cy="173751"/>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7091096" y="2587318"/>
            <a:ext cx="0" cy="134002"/>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p:nvPr/>
        </p:nvCxnSpPr>
        <p:spPr>
          <a:xfrm>
            <a:off x="4747355" y="2721320"/>
            <a:ext cx="9362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flipH="1">
            <a:off x="6212574" y="2721320"/>
            <a:ext cx="87852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p:nvPr/>
        </p:nvCxnSpPr>
        <p:spPr>
          <a:xfrm>
            <a:off x="5949171" y="2891249"/>
            <a:ext cx="26062" cy="3668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4" name="TextBox 73"/>
          <p:cNvSpPr txBox="1"/>
          <p:nvPr/>
        </p:nvSpPr>
        <p:spPr>
          <a:xfrm>
            <a:off x="7091096" y="982539"/>
            <a:ext cx="1406769"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S</a:t>
            </a:r>
            <a:r>
              <a:rPr lang="en-IN" baseline="-25000" dirty="0" smtClean="0">
                <a:latin typeface="Times New Roman" panose="02020603050405020304" pitchFamily="18" charset="0"/>
                <a:cs typeface="Times New Roman" panose="02020603050405020304" pitchFamily="18" charset="0"/>
              </a:rPr>
              <a:t>1</a:t>
            </a:r>
            <a:r>
              <a:rPr lang="en-IN" dirty="0" smtClean="0">
                <a:latin typeface="Times New Roman" panose="02020603050405020304" pitchFamily="18" charset="0"/>
                <a:cs typeface="Times New Roman" panose="02020603050405020304" pitchFamily="18" charset="0"/>
              </a:rPr>
              <a:t>, {C</a:t>
            </a:r>
            <a:r>
              <a:rPr lang="en-IN" baseline="-25000" dirty="0" smtClean="0">
                <a:latin typeface="Times New Roman" panose="02020603050405020304" pitchFamily="18" charset="0"/>
                <a:cs typeface="Times New Roman" panose="02020603050405020304" pitchFamily="18" charset="0"/>
              </a:rPr>
              <a:t>9</a:t>
            </a:r>
            <a:r>
              <a:rPr lang="en-IN" dirty="0" smtClean="0">
                <a:latin typeface="Times New Roman" panose="02020603050405020304" pitchFamily="18" charset="0"/>
                <a:cs typeface="Times New Roman" panose="02020603050405020304" pitchFamily="18" charset="0"/>
              </a:rPr>
              <a:t>, C</a:t>
            </a:r>
            <a:r>
              <a:rPr lang="en-IN" baseline="-25000" dirty="0" smtClean="0">
                <a:latin typeface="Times New Roman" panose="02020603050405020304" pitchFamily="18" charset="0"/>
                <a:cs typeface="Times New Roman" panose="02020603050405020304" pitchFamily="18" charset="0"/>
              </a:rPr>
              <a:t>10</a:t>
            </a:r>
            <a:r>
              <a:rPr lang="en-IN" dirty="0" smtClean="0">
                <a:latin typeface="Times New Roman" panose="02020603050405020304" pitchFamily="18" charset="0"/>
                <a:cs typeface="Times New Roman" panose="02020603050405020304" pitchFamily="18" charset="0"/>
              </a:rPr>
              <a:t>}</a:t>
            </a:r>
            <a:endParaRPr lang="en-IN" baseline="-25000" dirty="0">
              <a:latin typeface="Times New Roman" panose="02020603050405020304" pitchFamily="18" charset="0"/>
              <a:cs typeface="Times New Roman" panose="02020603050405020304" pitchFamily="18" charset="0"/>
            </a:endParaRPr>
          </a:p>
        </p:txBody>
      </p:sp>
      <p:sp>
        <p:nvSpPr>
          <p:cNvPr id="75" name="TextBox 74"/>
          <p:cNvSpPr txBox="1"/>
          <p:nvPr/>
        </p:nvSpPr>
        <p:spPr>
          <a:xfrm>
            <a:off x="5962202" y="2840949"/>
            <a:ext cx="1349465"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S</a:t>
            </a:r>
            <a:r>
              <a:rPr lang="en-IN" baseline="-25000" dirty="0" smtClean="0">
                <a:latin typeface="Times New Roman" panose="02020603050405020304" pitchFamily="18" charset="0"/>
                <a:cs typeface="Times New Roman" panose="02020603050405020304" pitchFamily="18" charset="0"/>
              </a:rPr>
              <a:t>4</a:t>
            </a:r>
            <a:r>
              <a:rPr lang="en-IN" dirty="0" smtClean="0">
                <a:latin typeface="Times New Roman" panose="02020603050405020304" pitchFamily="18" charset="0"/>
                <a:cs typeface="Times New Roman" panose="02020603050405020304" pitchFamily="18" charset="0"/>
              </a:rPr>
              <a:t>, {C</a:t>
            </a:r>
            <a:r>
              <a:rPr lang="en-IN" baseline="-25000" dirty="0">
                <a:latin typeface="Times New Roman" panose="02020603050405020304" pitchFamily="18" charset="0"/>
                <a:cs typeface="Times New Roman" panose="02020603050405020304" pitchFamily="18" charset="0"/>
              </a:rPr>
              <a:t>0</a:t>
            </a:r>
            <a:r>
              <a:rPr lang="en-IN" dirty="0" smtClean="0">
                <a:latin typeface="Times New Roman" panose="02020603050405020304" pitchFamily="18" charset="0"/>
                <a:cs typeface="Times New Roman" panose="02020603050405020304" pitchFamily="18" charset="0"/>
              </a:rPr>
              <a:t>, C</a:t>
            </a:r>
            <a:r>
              <a:rPr lang="en-IN" baseline="-25000" dirty="0" smtClean="0">
                <a:latin typeface="Times New Roman" panose="02020603050405020304" pitchFamily="18" charset="0"/>
                <a:cs typeface="Times New Roman" panose="02020603050405020304" pitchFamily="18" charset="0"/>
              </a:rPr>
              <a:t>1</a:t>
            </a:r>
            <a:r>
              <a:rPr lang="en-IN" dirty="0" smtClean="0">
                <a:latin typeface="Times New Roman" panose="02020603050405020304" pitchFamily="18" charset="0"/>
                <a:cs typeface="Times New Roman" panose="02020603050405020304" pitchFamily="18" charset="0"/>
              </a:rPr>
              <a:t>}</a:t>
            </a:r>
            <a:endParaRPr lang="en-IN" baseline="-25000" dirty="0">
              <a:latin typeface="Times New Roman" panose="02020603050405020304" pitchFamily="18" charset="0"/>
              <a:cs typeface="Times New Roman" panose="02020603050405020304" pitchFamily="18" charset="0"/>
            </a:endParaRPr>
          </a:p>
        </p:txBody>
      </p:sp>
      <p:sp>
        <p:nvSpPr>
          <p:cNvPr id="76" name="TextBox 75"/>
          <p:cNvSpPr txBox="1"/>
          <p:nvPr/>
        </p:nvSpPr>
        <p:spPr>
          <a:xfrm>
            <a:off x="7701951" y="2207846"/>
            <a:ext cx="1674055"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S</a:t>
            </a:r>
            <a:r>
              <a:rPr lang="en-IN" baseline="-25000" dirty="0">
                <a:latin typeface="Times New Roman" panose="02020603050405020304" pitchFamily="18" charset="0"/>
                <a:cs typeface="Times New Roman" panose="02020603050405020304" pitchFamily="18" charset="0"/>
              </a:rPr>
              <a:t>2</a:t>
            </a:r>
            <a:r>
              <a:rPr lang="en-IN" dirty="0" smtClean="0">
                <a:latin typeface="Times New Roman" panose="02020603050405020304" pitchFamily="18" charset="0"/>
                <a:cs typeface="Times New Roman" panose="02020603050405020304" pitchFamily="18" charset="0"/>
              </a:rPr>
              <a:t>, {C</a:t>
            </a:r>
            <a:r>
              <a:rPr lang="en-IN" baseline="-25000" dirty="0" smtClean="0">
                <a:latin typeface="Times New Roman" panose="02020603050405020304" pitchFamily="18" charset="0"/>
                <a:cs typeface="Times New Roman" panose="02020603050405020304" pitchFamily="18" charset="0"/>
              </a:rPr>
              <a:t>2</a:t>
            </a:r>
            <a:r>
              <a:rPr lang="en-IN" dirty="0" smtClean="0">
                <a:latin typeface="Times New Roman" panose="02020603050405020304" pitchFamily="18" charset="0"/>
                <a:cs typeface="Times New Roman" panose="02020603050405020304" pitchFamily="18" charset="0"/>
              </a:rPr>
              <a:t>, C</a:t>
            </a:r>
            <a:r>
              <a:rPr lang="en-IN" baseline="-25000" dirty="0" smtClean="0">
                <a:latin typeface="Times New Roman" panose="02020603050405020304" pitchFamily="18" charset="0"/>
                <a:cs typeface="Times New Roman" panose="02020603050405020304" pitchFamily="18" charset="0"/>
              </a:rPr>
              <a:t>3</a:t>
            </a:r>
            <a:r>
              <a:rPr lang="en-IN" dirty="0" smtClean="0">
                <a:latin typeface="Times New Roman" panose="02020603050405020304" pitchFamily="18" charset="0"/>
                <a:cs typeface="Times New Roman" panose="02020603050405020304" pitchFamily="18" charset="0"/>
              </a:rPr>
              <a:t>, C</a:t>
            </a:r>
            <a:r>
              <a:rPr lang="en-IN" baseline="-25000" dirty="0" smtClean="0">
                <a:latin typeface="Times New Roman" panose="02020603050405020304" pitchFamily="18" charset="0"/>
                <a:cs typeface="Times New Roman" panose="02020603050405020304" pitchFamily="18" charset="0"/>
              </a:rPr>
              <a:t>4</a:t>
            </a:r>
            <a:r>
              <a:rPr lang="en-IN" dirty="0" smtClean="0">
                <a:latin typeface="Times New Roman" panose="02020603050405020304" pitchFamily="18" charset="0"/>
                <a:cs typeface="Times New Roman" panose="02020603050405020304" pitchFamily="18" charset="0"/>
              </a:rPr>
              <a:t>}</a:t>
            </a:r>
            <a:endParaRPr lang="en-IN" baseline="-25000" dirty="0">
              <a:latin typeface="Times New Roman" panose="02020603050405020304" pitchFamily="18" charset="0"/>
              <a:cs typeface="Times New Roman" panose="02020603050405020304" pitchFamily="18" charset="0"/>
            </a:endParaRPr>
          </a:p>
        </p:txBody>
      </p:sp>
      <p:sp>
        <p:nvSpPr>
          <p:cNvPr id="77" name="TextBox 76"/>
          <p:cNvSpPr txBox="1"/>
          <p:nvPr/>
        </p:nvSpPr>
        <p:spPr>
          <a:xfrm>
            <a:off x="2348133" y="2184242"/>
            <a:ext cx="2037224"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S</a:t>
            </a:r>
            <a:r>
              <a:rPr lang="en-IN" baseline="-25000" dirty="0" smtClean="0">
                <a:latin typeface="Times New Roman" panose="02020603050405020304" pitchFamily="18" charset="0"/>
                <a:cs typeface="Times New Roman" panose="02020603050405020304" pitchFamily="18" charset="0"/>
              </a:rPr>
              <a:t>3</a:t>
            </a:r>
            <a:r>
              <a:rPr lang="en-IN" dirty="0" smtClean="0">
                <a:latin typeface="Times New Roman" panose="02020603050405020304" pitchFamily="18" charset="0"/>
                <a:cs typeface="Times New Roman" panose="02020603050405020304" pitchFamily="18" charset="0"/>
              </a:rPr>
              <a:t>, {C</a:t>
            </a:r>
            <a:r>
              <a:rPr lang="en-IN" baseline="-25000" dirty="0" smtClean="0">
                <a:latin typeface="Times New Roman" panose="02020603050405020304" pitchFamily="18" charset="0"/>
                <a:cs typeface="Times New Roman" panose="02020603050405020304" pitchFamily="18" charset="0"/>
              </a:rPr>
              <a:t>2</a:t>
            </a:r>
            <a:r>
              <a:rPr lang="en-IN" dirty="0" smtClean="0">
                <a:latin typeface="Times New Roman" panose="02020603050405020304" pitchFamily="18" charset="0"/>
                <a:cs typeface="Times New Roman" panose="02020603050405020304" pitchFamily="18" charset="0"/>
              </a:rPr>
              <a:t>, C</a:t>
            </a:r>
            <a:r>
              <a:rPr lang="en-IN" baseline="-25000" dirty="0" smtClean="0">
                <a:latin typeface="Times New Roman" panose="02020603050405020304" pitchFamily="18" charset="0"/>
                <a:cs typeface="Times New Roman" panose="02020603050405020304" pitchFamily="18" charset="0"/>
              </a:rPr>
              <a:t>3</a:t>
            </a:r>
            <a:r>
              <a:rPr lang="en-IN" dirty="0" smtClean="0">
                <a:latin typeface="Times New Roman" panose="02020603050405020304" pitchFamily="18" charset="0"/>
                <a:cs typeface="Times New Roman" panose="02020603050405020304" pitchFamily="18" charset="0"/>
              </a:rPr>
              <a:t>, C</a:t>
            </a:r>
            <a:r>
              <a:rPr lang="en-IN" baseline="-25000" dirty="0" smtClean="0">
                <a:latin typeface="Times New Roman" panose="02020603050405020304" pitchFamily="18" charset="0"/>
                <a:cs typeface="Times New Roman" panose="02020603050405020304" pitchFamily="18" charset="0"/>
              </a:rPr>
              <a:t>4</a:t>
            </a:r>
            <a:r>
              <a:rPr lang="en-IN" dirty="0" smtClean="0">
                <a:latin typeface="Times New Roman" panose="02020603050405020304" pitchFamily="18" charset="0"/>
                <a:cs typeface="Times New Roman" panose="02020603050405020304" pitchFamily="18" charset="0"/>
              </a:rPr>
              <a:t>, C</a:t>
            </a:r>
            <a:r>
              <a:rPr lang="en-IN" baseline="-25000" dirty="0" smtClean="0">
                <a:latin typeface="Times New Roman" panose="02020603050405020304" pitchFamily="18" charset="0"/>
                <a:cs typeface="Times New Roman" panose="02020603050405020304" pitchFamily="18" charset="0"/>
              </a:rPr>
              <a:t>5</a:t>
            </a:r>
            <a:r>
              <a:rPr lang="en-IN" dirty="0" smtClean="0">
                <a:latin typeface="Times New Roman" panose="02020603050405020304" pitchFamily="18" charset="0"/>
                <a:cs typeface="Times New Roman" panose="02020603050405020304" pitchFamily="18" charset="0"/>
              </a:rPr>
              <a:t>}</a:t>
            </a:r>
            <a:endParaRPr lang="en-IN" baseline="-25000" dirty="0">
              <a:latin typeface="Times New Roman" panose="02020603050405020304" pitchFamily="18" charset="0"/>
              <a:cs typeface="Times New Roman" panose="02020603050405020304" pitchFamily="18" charset="0"/>
            </a:endParaRPr>
          </a:p>
        </p:txBody>
      </p:sp>
      <p:sp>
        <p:nvSpPr>
          <p:cNvPr id="78" name="TextBox 77"/>
          <p:cNvSpPr txBox="1"/>
          <p:nvPr/>
        </p:nvSpPr>
        <p:spPr>
          <a:xfrm>
            <a:off x="6468683" y="1604174"/>
            <a:ext cx="479065"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01</a:t>
            </a:r>
            <a:endParaRPr lang="en-IN" baseline="-25000" dirty="0">
              <a:latin typeface="Times New Roman" panose="02020603050405020304" pitchFamily="18" charset="0"/>
              <a:cs typeface="Times New Roman" panose="02020603050405020304" pitchFamily="18" charset="0"/>
            </a:endParaRPr>
          </a:p>
        </p:txBody>
      </p:sp>
      <p:sp>
        <p:nvSpPr>
          <p:cNvPr id="79" name="TextBox 78"/>
          <p:cNvSpPr txBox="1"/>
          <p:nvPr/>
        </p:nvSpPr>
        <p:spPr>
          <a:xfrm>
            <a:off x="5043185" y="1604174"/>
            <a:ext cx="479065"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10</a:t>
            </a:r>
            <a:endParaRPr lang="en-IN" baseline="-25000" dirty="0">
              <a:latin typeface="Times New Roman" panose="02020603050405020304" pitchFamily="18" charset="0"/>
              <a:cs typeface="Times New Roman" panose="02020603050405020304" pitchFamily="18" charset="0"/>
            </a:endParaRPr>
          </a:p>
        </p:txBody>
      </p:sp>
      <p:sp>
        <p:nvSpPr>
          <p:cNvPr id="80" name="TextBox 79"/>
          <p:cNvSpPr txBox="1"/>
          <p:nvPr/>
        </p:nvSpPr>
        <p:spPr>
          <a:xfrm>
            <a:off x="5843051" y="2126572"/>
            <a:ext cx="739045"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00,11</a:t>
            </a:r>
            <a:endParaRPr lang="en-IN" baseline="-25000" dirty="0">
              <a:latin typeface="Times New Roman" panose="02020603050405020304" pitchFamily="18" charset="0"/>
              <a:cs typeface="Times New Roman" panose="02020603050405020304" pitchFamily="18" charset="0"/>
            </a:endParaRPr>
          </a:p>
        </p:txBody>
      </p:sp>
      <p:sp>
        <p:nvSpPr>
          <p:cNvPr id="81" name="TextBox 80"/>
          <p:cNvSpPr txBox="1"/>
          <p:nvPr/>
        </p:nvSpPr>
        <p:spPr>
          <a:xfrm>
            <a:off x="8850967" y="448042"/>
            <a:ext cx="2866415" cy="1477328"/>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Disadvantage: Size of state table and amount of computation increase with the number of state and input combinations</a:t>
            </a:r>
            <a:endParaRPr lang="en-IN" baseline="-25000" dirty="0">
              <a:latin typeface="Times New Roman" panose="02020603050405020304" pitchFamily="18" charset="0"/>
              <a:cs typeface="Times New Roman" panose="02020603050405020304" pitchFamily="18" charset="0"/>
            </a:endParaRPr>
          </a:p>
        </p:txBody>
      </p:sp>
      <p:sp>
        <p:nvSpPr>
          <p:cNvPr id="47" name="TextBox 46"/>
          <p:cNvSpPr txBox="1"/>
          <p:nvPr/>
        </p:nvSpPr>
        <p:spPr>
          <a:xfrm>
            <a:off x="7230249" y="4286047"/>
            <a:ext cx="1678620"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Delay element</a:t>
            </a:r>
            <a:endParaRPr lang="en-IN" baseline="-25000" dirty="0">
              <a:latin typeface="Times New Roman" panose="02020603050405020304" pitchFamily="18" charset="0"/>
              <a:cs typeface="Times New Roman" panose="02020603050405020304" pitchFamily="18" charset="0"/>
            </a:endParaRPr>
          </a:p>
        </p:txBody>
      </p:sp>
      <p:sp>
        <p:nvSpPr>
          <p:cNvPr id="52" name="Rectangle 51"/>
          <p:cNvSpPr/>
          <p:nvPr/>
        </p:nvSpPr>
        <p:spPr>
          <a:xfrm>
            <a:off x="7290258" y="4305418"/>
            <a:ext cx="1527171"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7" name="Straight Connector 56"/>
          <p:cNvCxnSpPr/>
          <p:nvPr/>
        </p:nvCxnSpPr>
        <p:spPr>
          <a:xfrm rot="5400000">
            <a:off x="7491550" y="3964577"/>
            <a:ext cx="71845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7850778" y="3918857"/>
            <a:ext cx="36576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rot="5400000">
            <a:off x="7981407" y="3931920"/>
            <a:ext cx="496388"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a:off x="8229601" y="3670663"/>
            <a:ext cx="32657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a:off x="8225247" y="4175760"/>
            <a:ext cx="32657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8262219" y="3577804"/>
            <a:ext cx="337624" cy="646331"/>
          </a:xfrm>
          <a:prstGeom prst="rect">
            <a:avLst/>
          </a:prstGeom>
          <a:noFill/>
        </p:spPr>
        <p:txBody>
          <a:bodyPr wrap="square" rtlCol="0">
            <a:spAutoFit/>
          </a:bodyPr>
          <a:lstStyle/>
          <a:p>
            <a:r>
              <a:rPr lang="en-IN" sz="1200" dirty="0" smtClean="0"/>
              <a:t>.</a:t>
            </a:r>
          </a:p>
          <a:p>
            <a:r>
              <a:rPr lang="en-IN" sz="1200" dirty="0" smtClean="0"/>
              <a:t>.</a:t>
            </a:r>
          </a:p>
          <a:p>
            <a:r>
              <a:rPr lang="en-IN" sz="1200" dirty="0"/>
              <a:t>.</a:t>
            </a:r>
          </a:p>
        </p:txBody>
      </p:sp>
      <p:sp>
        <p:nvSpPr>
          <p:cNvPr id="71" name="TextBox 70"/>
          <p:cNvSpPr txBox="1"/>
          <p:nvPr/>
        </p:nvSpPr>
        <p:spPr>
          <a:xfrm>
            <a:off x="8362363" y="3733051"/>
            <a:ext cx="729385"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{C</a:t>
            </a:r>
            <a:r>
              <a:rPr lang="en-IN" baseline="-25000" dirty="0" smtClean="0">
                <a:latin typeface="Times New Roman" panose="02020603050405020304" pitchFamily="18" charset="0"/>
                <a:cs typeface="Times New Roman" panose="02020603050405020304" pitchFamily="18" charset="0"/>
              </a:rPr>
              <a:t>1j</a:t>
            </a:r>
            <a:r>
              <a:rPr lang="en-IN" dirty="0" smtClean="0">
                <a:latin typeface="Times New Roman" panose="02020603050405020304" pitchFamily="18" charset="0"/>
                <a:cs typeface="Times New Roman" panose="02020603050405020304" pitchFamily="18" charset="0"/>
              </a:rPr>
              <a:t>}</a:t>
            </a:r>
            <a:endParaRPr lang="en-IN" baseline="-25000" dirty="0">
              <a:latin typeface="Times New Roman" panose="02020603050405020304" pitchFamily="18" charset="0"/>
              <a:cs typeface="Times New Roman" panose="02020603050405020304" pitchFamily="18" charset="0"/>
            </a:endParaRPr>
          </a:p>
        </p:txBody>
      </p:sp>
      <p:sp>
        <p:nvSpPr>
          <p:cNvPr id="84" name="TextBox 83"/>
          <p:cNvSpPr txBox="1"/>
          <p:nvPr/>
        </p:nvSpPr>
        <p:spPr>
          <a:xfrm>
            <a:off x="7312982" y="3323748"/>
            <a:ext cx="994997"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Start(t</a:t>
            </a:r>
            <a:r>
              <a:rPr lang="en-IN" baseline="-25000" dirty="0" smtClean="0">
                <a:latin typeface="Times New Roman" panose="02020603050405020304" pitchFamily="18" charset="0"/>
                <a:cs typeface="Times New Roman" panose="02020603050405020304" pitchFamily="18" charset="0"/>
              </a:rPr>
              <a:t>1</a:t>
            </a:r>
            <a:r>
              <a:rPr lang="en-IN" dirty="0" smtClean="0">
                <a:latin typeface="Times New Roman" panose="02020603050405020304" pitchFamily="18" charset="0"/>
                <a:cs typeface="Times New Roman" panose="02020603050405020304" pitchFamily="18" charset="0"/>
              </a:rPr>
              <a:t>)</a:t>
            </a:r>
            <a:endParaRPr lang="en-IN" baseline="-25000" dirty="0">
              <a:latin typeface="Times New Roman" panose="02020603050405020304" pitchFamily="18" charset="0"/>
              <a:cs typeface="Times New Roman" panose="02020603050405020304" pitchFamily="18" charset="0"/>
            </a:endParaRPr>
          </a:p>
        </p:txBody>
      </p:sp>
      <p:sp>
        <p:nvSpPr>
          <p:cNvPr id="92" name="TextBox 91"/>
          <p:cNvSpPr txBox="1"/>
          <p:nvPr/>
        </p:nvSpPr>
        <p:spPr>
          <a:xfrm>
            <a:off x="7225896" y="5392035"/>
            <a:ext cx="1678620"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Delay element</a:t>
            </a:r>
            <a:endParaRPr lang="en-IN" baseline="-25000" dirty="0">
              <a:latin typeface="Times New Roman" panose="02020603050405020304" pitchFamily="18" charset="0"/>
              <a:cs typeface="Times New Roman" panose="02020603050405020304" pitchFamily="18" charset="0"/>
            </a:endParaRPr>
          </a:p>
        </p:txBody>
      </p:sp>
      <p:sp>
        <p:nvSpPr>
          <p:cNvPr id="93" name="Rectangle 92"/>
          <p:cNvSpPr/>
          <p:nvPr/>
        </p:nvSpPr>
        <p:spPr>
          <a:xfrm>
            <a:off x="7285905" y="5411406"/>
            <a:ext cx="1527171"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4" name="Straight Connector 93"/>
          <p:cNvCxnSpPr/>
          <p:nvPr/>
        </p:nvCxnSpPr>
        <p:spPr>
          <a:xfrm rot="5400000">
            <a:off x="7487197" y="5018313"/>
            <a:ext cx="71845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a:off x="7846425" y="5024845"/>
            <a:ext cx="36576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rot="5400000">
            <a:off x="7977054" y="5037908"/>
            <a:ext cx="496388"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p:nvPr/>
        </p:nvCxnSpPr>
        <p:spPr>
          <a:xfrm>
            <a:off x="8225248" y="4776651"/>
            <a:ext cx="32657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p:nvPr/>
        </p:nvCxnSpPr>
        <p:spPr>
          <a:xfrm>
            <a:off x="8220894" y="5281748"/>
            <a:ext cx="32657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8257866" y="4683792"/>
            <a:ext cx="337624" cy="646331"/>
          </a:xfrm>
          <a:prstGeom prst="rect">
            <a:avLst/>
          </a:prstGeom>
          <a:noFill/>
        </p:spPr>
        <p:txBody>
          <a:bodyPr wrap="square" rtlCol="0">
            <a:spAutoFit/>
          </a:bodyPr>
          <a:lstStyle/>
          <a:p>
            <a:r>
              <a:rPr lang="en-IN" sz="1200" dirty="0" smtClean="0"/>
              <a:t>.</a:t>
            </a:r>
          </a:p>
          <a:p>
            <a:r>
              <a:rPr lang="en-IN" sz="1200" dirty="0" smtClean="0"/>
              <a:t>.</a:t>
            </a:r>
          </a:p>
          <a:p>
            <a:r>
              <a:rPr lang="en-IN" sz="1200" dirty="0"/>
              <a:t>.</a:t>
            </a:r>
          </a:p>
        </p:txBody>
      </p:sp>
      <p:sp>
        <p:nvSpPr>
          <p:cNvPr id="100" name="TextBox 99"/>
          <p:cNvSpPr txBox="1"/>
          <p:nvPr/>
        </p:nvSpPr>
        <p:spPr>
          <a:xfrm>
            <a:off x="8358010" y="4839039"/>
            <a:ext cx="729385"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{C</a:t>
            </a:r>
            <a:r>
              <a:rPr lang="en-IN" baseline="-25000" dirty="0" smtClean="0">
                <a:latin typeface="Times New Roman" panose="02020603050405020304" pitchFamily="18" charset="0"/>
                <a:cs typeface="Times New Roman" panose="02020603050405020304" pitchFamily="18" charset="0"/>
              </a:rPr>
              <a:t>2j</a:t>
            </a:r>
            <a:r>
              <a:rPr lang="en-IN" dirty="0" smtClean="0">
                <a:latin typeface="Times New Roman" panose="02020603050405020304" pitchFamily="18" charset="0"/>
                <a:cs typeface="Times New Roman" panose="02020603050405020304" pitchFamily="18" charset="0"/>
              </a:rPr>
              <a:t>}</a:t>
            </a:r>
            <a:endParaRPr lang="en-IN" baseline="-25000" dirty="0">
              <a:latin typeface="Times New Roman" panose="02020603050405020304" pitchFamily="18" charset="0"/>
              <a:cs typeface="Times New Roman" panose="02020603050405020304" pitchFamily="18" charset="0"/>
            </a:endParaRPr>
          </a:p>
        </p:txBody>
      </p:sp>
      <p:sp>
        <p:nvSpPr>
          <p:cNvPr id="101" name="TextBox 100"/>
          <p:cNvSpPr txBox="1"/>
          <p:nvPr/>
        </p:nvSpPr>
        <p:spPr>
          <a:xfrm>
            <a:off x="6897188" y="4939187"/>
            <a:ext cx="994997"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Start(t</a:t>
            </a:r>
            <a:r>
              <a:rPr lang="en-IN" baseline="-25000" dirty="0" smtClean="0">
                <a:latin typeface="Times New Roman" panose="02020603050405020304" pitchFamily="18" charset="0"/>
                <a:cs typeface="Times New Roman" panose="02020603050405020304" pitchFamily="18" charset="0"/>
              </a:rPr>
              <a:t>2</a:t>
            </a:r>
            <a:r>
              <a:rPr lang="en-IN" dirty="0" smtClean="0">
                <a:latin typeface="Times New Roman" panose="02020603050405020304" pitchFamily="18" charset="0"/>
                <a:cs typeface="Times New Roman" panose="02020603050405020304" pitchFamily="18" charset="0"/>
              </a:rPr>
              <a:t>)</a:t>
            </a:r>
            <a:endParaRPr lang="en-IN" baseline="-25000" dirty="0">
              <a:latin typeface="Times New Roman" panose="02020603050405020304" pitchFamily="18" charset="0"/>
              <a:cs typeface="Times New Roman" panose="02020603050405020304" pitchFamily="18" charset="0"/>
            </a:endParaRPr>
          </a:p>
        </p:txBody>
      </p:sp>
      <p:cxnSp>
        <p:nvCxnSpPr>
          <p:cNvPr id="102" name="Straight Connector 101"/>
          <p:cNvCxnSpPr/>
          <p:nvPr/>
        </p:nvCxnSpPr>
        <p:spPr>
          <a:xfrm>
            <a:off x="7859487" y="6265817"/>
            <a:ext cx="36576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rot="5400000">
            <a:off x="7990116" y="6278880"/>
            <a:ext cx="496388"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a:off x="8238310" y="6017623"/>
            <a:ext cx="32657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p:nvPr/>
        </p:nvCxnSpPr>
        <p:spPr>
          <a:xfrm>
            <a:off x="8233956" y="6522720"/>
            <a:ext cx="32657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6" name="TextBox 105"/>
          <p:cNvSpPr txBox="1"/>
          <p:nvPr/>
        </p:nvSpPr>
        <p:spPr>
          <a:xfrm>
            <a:off x="8270928" y="5924764"/>
            <a:ext cx="337624" cy="646331"/>
          </a:xfrm>
          <a:prstGeom prst="rect">
            <a:avLst/>
          </a:prstGeom>
          <a:noFill/>
        </p:spPr>
        <p:txBody>
          <a:bodyPr wrap="square" rtlCol="0">
            <a:spAutoFit/>
          </a:bodyPr>
          <a:lstStyle/>
          <a:p>
            <a:r>
              <a:rPr lang="en-IN" sz="1200" dirty="0" smtClean="0"/>
              <a:t>.</a:t>
            </a:r>
          </a:p>
          <a:p>
            <a:r>
              <a:rPr lang="en-IN" sz="1200" dirty="0" smtClean="0"/>
              <a:t>.</a:t>
            </a:r>
          </a:p>
          <a:p>
            <a:r>
              <a:rPr lang="en-IN" sz="1200" dirty="0"/>
              <a:t>.</a:t>
            </a:r>
          </a:p>
        </p:txBody>
      </p:sp>
      <p:sp>
        <p:nvSpPr>
          <p:cNvPr id="107" name="TextBox 106"/>
          <p:cNvSpPr txBox="1"/>
          <p:nvPr/>
        </p:nvSpPr>
        <p:spPr>
          <a:xfrm>
            <a:off x="8358009" y="6066947"/>
            <a:ext cx="729385"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{C</a:t>
            </a:r>
            <a:r>
              <a:rPr lang="en-IN" baseline="-25000" dirty="0" smtClean="0">
                <a:latin typeface="Times New Roman" panose="02020603050405020304" pitchFamily="18" charset="0"/>
                <a:cs typeface="Times New Roman" panose="02020603050405020304" pitchFamily="18" charset="0"/>
              </a:rPr>
              <a:t>3j</a:t>
            </a:r>
            <a:r>
              <a:rPr lang="en-IN" dirty="0" smtClean="0">
                <a:latin typeface="Times New Roman" panose="02020603050405020304" pitchFamily="18" charset="0"/>
                <a:cs typeface="Times New Roman" panose="02020603050405020304" pitchFamily="18" charset="0"/>
              </a:rPr>
              <a:t>}</a:t>
            </a:r>
            <a:endParaRPr lang="en-IN" baseline="-25000" dirty="0">
              <a:latin typeface="Times New Roman" panose="02020603050405020304" pitchFamily="18" charset="0"/>
              <a:cs typeface="Times New Roman" panose="02020603050405020304" pitchFamily="18" charset="0"/>
            </a:endParaRPr>
          </a:p>
        </p:txBody>
      </p:sp>
      <p:cxnSp>
        <p:nvCxnSpPr>
          <p:cNvPr id="108" name="Straight Connector 107"/>
          <p:cNvCxnSpPr/>
          <p:nvPr/>
        </p:nvCxnSpPr>
        <p:spPr>
          <a:xfrm rot="5400000">
            <a:off x="7474133" y="6141721"/>
            <a:ext cx="718457" cy="1588"/>
          </a:xfrm>
          <a:prstGeom prst="line">
            <a:avLst/>
          </a:prstGeom>
        </p:spPr>
        <p:style>
          <a:lnRef idx="1">
            <a:schemeClr val="accent1"/>
          </a:lnRef>
          <a:fillRef idx="0">
            <a:schemeClr val="accent1"/>
          </a:fillRef>
          <a:effectRef idx="0">
            <a:schemeClr val="accent1"/>
          </a:effectRef>
          <a:fontRef idx="minor">
            <a:schemeClr val="tx1"/>
          </a:fontRef>
        </p:style>
      </p:cxnSp>
      <p:sp>
        <p:nvSpPr>
          <p:cNvPr id="109" name="TextBox 108"/>
          <p:cNvSpPr txBox="1"/>
          <p:nvPr/>
        </p:nvSpPr>
        <p:spPr>
          <a:xfrm>
            <a:off x="6923314" y="6075655"/>
            <a:ext cx="994997"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Start(t</a:t>
            </a:r>
            <a:r>
              <a:rPr lang="en-IN" baseline="-25000" dirty="0" smtClean="0">
                <a:latin typeface="Times New Roman" panose="02020603050405020304" pitchFamily="18" charset="0"/>
                <a:cs typeface="Times New Roman" panose="02020603050405020304" pitchFamily="18" charset="0"/>
              </a:rPr>
              <a:t>3</a:t>
            </a:r>
            <a:r>
              <a:rPr lang="en-IN" dirty="0" smtClean="0">
                <a:latin typeface="Times New Roman" panose="02020603050405020304" pitchFamily="18" charset="0"/>
                <a:cs typeface="Times New Roman" panose="02020603050405020304" pitchFamily="18" charset="0"/>
              </a:rPr>
              <a:t>)</a:t>
            </a:r>
            <a:endParaRPr lang="en-IN" baseline="-25000" dirty="0">
              <a:latin typeface="Times New Roman" panose="02020603050405020304" pitchFamily="18" charset="0"/>
              <a:cs typeface="Times New Roman" panose="02020603050405020304" pitchFamily="18" charset="0"/>
            </a:endParaRPr>
          </a:p>
        </p:txBody>
      </p:sp>
      <p:sp>
        <p:nvSpPr>
          <p:cNvPr id="110" name="TextBox 109"/>
          <p:cNvSpPr txBox="1"/>
          <p:nvPr/>
        </p:nvSpPr>
        <p:spPr>
          <a:xfrm>
            <a:off x="169817" y="3579222"/>
            <a:ext cx="5956664" cy="2862322"/>
          </a:xfrm>
          <a:prstGeom prst="rect">
            <a:avLst/>
          </a:prstGeom>
          <a:noFill/>
        </p:spPr>
        <p:txBody>
          <a:bodyPr wrap="square" rtlCol="0">
            <a:spAutoFit/>
          </a:bodyPr>
          <a:lstStyle/>
          <a:p>
            <a:r>
              <a:rPr lang="en-IN" dirty="0" smtClean="0">
                <a:latin typeface="Times New Roman" pitchFamily="18" charset="0"/>
                <a:cs typeface="Times New Roman" pitchFamily="18" charset="0"/>
              </a:rPr>
              <a:t>2. Delay element method: Uses clocked delay element for control signal timing</a:t>
            </a:r>
          </a:p>
          <a:p>
            <a:r>
              <a:rPr lang="en-IN" dirty="0" smtClean="0">
                <a:latin typeface="Times New Roman" pitchFamily="18" charset="0"/>
                <a:cs typeface="Times New Roman" pitchFamily="18" charset="0"/>
              </a:rPr>
              <a:t>Consider the problem of generating the following sequence of control signals at time t</a:t>
            </a:r>
            <a:r>
              <a:rPr lang="en-IN" baseline="-25000" dirty="0" smtClean="0">
                <a:latin typeface="Times New Roman" pitchFamily="18" charset="0"/>
                <a:cs typeface="Times New Roman" pitchFamily="18" charset="0"/>
              </a:rPr>
              <a:t>1</a:t>
            </a:r>
            <a:r>
              <a:rPr lang="en-IN" dirty="0" smtClean="0">
                <a:latin typeface="Times New Roman" pitchFamily="18" charset="0"/>
                <a:cs typeface="Times New Roman" pitchFamily="18" charset="0"/>
              </a:rPr>
              <a:t>, t</a:t>
            </a:r>
            <a:r>
              <a:rPr lang="en-IN" baseline="-25000" dirty="0" smtClean="0">
                <a:latin typeface="Times New Roman" pitchFamily="18" charset="0"/>
                <a:cs typeface="Times New Roman" pitchFamily="18" charset="0"/>
              </a:rPr>
              <a:t>2</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t</a:t>
            </a:r>
            <a:r>
              <a:rPr lang="en-IN" baseline="-25000" dirty="0" err="1" smtClean="0">
                <a:latin typeface="Times New Roman" pitchFamily="18" charset="0"/>
                <a:cs typeface="Times New Roman" pitchFamily="18" charset="0"/>
              </a:rPr>
              <a:t>n</a:t>
            </a:r>
            <a:r>
              <a:rPr lang="en-IN" dirty="0" smtClean="0">
                <a:latin typeface="Times New Roman" pitchFamily="18" charset="0"/>
                <a:cs typeface="Times New Roman" pitchFamily="18" charset="0"/>
              </a:rPr>
              <a:t> </a:t>
            </a:r>
            <a:r>
              <a:rPr lang="en-IN" smtClean="0">
                <a:latin typeface="Times New Roman" pitchFamily="18" charset="0"/>
                <a:cs typeface="Times New Roman" pitchFamily="18" charset="0"/>
              </a:rPr>
              <a:t>using hardwired </a:t>
            </a:r>
            <a:r>
              <a:rPr lang="en-IN" dirty="0" smtClean="0">
                <a:latin typeface="Times New Roman" pitchFamily="18" charset="0"/>
                <a:cs typeface="Times New Roman" pitchFamily="18" charset="0"/>
              </a:rPr>
              <a:t>CU</a:t>
            </a:r>
          </a:p>
          <a:p>
            <a:r>
              <a:rPr lang="en-IN" dirty="0" smtClean="0">
                <a:latin typeface="Times New Roman" pitchFamily="18" charset="0"/>
                <a:cs typeface="Times New Roman" pitchFamily="18" charset="0"/>
              </a:rPr>
              <a:t>t</a:t>
            </a:r>
            <a:r>
              <a:rPr lang="en-IN" baseline="-25000" dirty="0" smtClean="0">
                <a:latin typeface="Times New Roman" pitchFamily="18" charset="0"/>
                <a:cs typeface="Times New Roman" pitchFamily="18" charset="0"/>
              </a:rPr>
              <a:t>1</a:t>
            </a:r>
            <a:r>
              <a:rPr lang="en-IN" dirty="0" smtClean="0">
                <a:latin typeface="Times New Roman" pitchFamily="18" charset="0"/>
                <a:cs typeface="Times New Roman" pitchFamily="18" charset="0"/>
              </a:rPr>
              <a:t>: Activate {C</a:t>
            </a:r>
            <a:r>
              <a:rPr lang="en-IN" baseline="-25000" dirty="0" smtClean="0">
                <a:latin typeface="Times New Roman" panose="02020603050405020304" pitchFamily="18" charset="0"/>
                <a:cs typeface="Times New Roman" panose="02020603050405020304" pitchFamily="18" charset="0"/>
              </a:rPr>
              <a:t>1j</a:t>
            </a:r>
            <a:r>
              <a:rPr lang="en-IN" dirty="0" smtClean="0">
                <a:latin typeface="Times New Roman" panose="02020603050405020304" pitchFamily="18" charset="0"/>
                <a:cs typeface="Times New Roman" panose="02020603050405020304" pitchFamily="18" charset="0"/>
              </a:rPr>
              <a:t>};</a:t>
            </a:r>
          </a:p>
          <a:p>
            <a:r>
              <a:rPr lang="en-IN" dirty="0" smtClean="0">
                <a:latin typeface="Times New Roman" panose="02020603050405020304" pitchFamily="18" charset="0"/>
                <a:cs typeface="Times New Roman" panose="02020603050405020304" pitchFamily="18" charset="0"/>
              </a:rPr>
              <a:t>t</a:t>
            </a:r>
            <a:r>
              <a:rPr lang="en-IN" baseline="-25000" dirty="0" smtClean="0">
                <a:latin typeface="Times New Roman" pitchFamily="18" charset="0"/>
                <a:cs typeface="Times New Roman" pitchFamily="18" charset="0"/>
              </a:rPr>
              <a:t>2</a:t>
            </a:r>
            <a:r>
              <a:rPr lang="en-IN" dirty="0" smtClean="0">
                <a:latin typeface="Times New Roman" pitchFamily="18" charset="0"/>
                <a:cs typeface="Times New Roman" pitchFamily="18" charset="0"/>
              </a:rPr>
              <a:t>: Activate {C</a:t>
            </a:r>
            <a:r>
              <a:rPr lang="en-IN" baseline="-25000" dirty="0" smtClean="0">
                <a:latin typeface="Times New Roman" panose="02020603050405020304" pitchFamily="18" charset="0"/>
                <a:cs typeface="Times New Roman" panose="02020603050405020304" pitchFamily="18" charset="0"/>
              </a:rPr>
              <a:t>2j</a:t>
            </a:r>
            <a:r>
              <a:rPr lang="en-IN" dirty="0" smtClean="0">
                <a:latin typeface="Times New Roman" panose="02020603050405020304" pitchFamily="18" charset="0"/>
                <a:cs typeface="Times New Roman" panose="02020603050405020304" pitchFamily="18" charset="0"/>
              </a:rPr>
              <a:t>};</a:t>
            </a:r>
          </a:p>
          <a:p>
            <a:r>
              <a:rPr lang="en-IN" dirty="0" smtClean="0">
                <a:latin typeface="Times New Roman" panose="02020603050405020304" pitchFamily="18" charset="0"/>
                <a:cs typeface="Times New Roman" panose="02020603050405020304" pitchFamily="18" charset="0"/>
              </a:rPr>
              <a:t>.</a:t>
            </a:r>
          </a:p>
          <a:p>
            <a:r>
              <a:rPr lang="en-IN" dirty="0" smtClean="0">
                <a:latin typeface="Times New Roman" panose="02020603050405020304" pitchFamily="18" charset="0"/>
                <a:cs typeface="Times New Roman" panose="02020603050405020304" pitchFamily="18" charset="0"/>
              </a:rPr>
              <a:t>.</a:t>
            </a:r>
          </a:p>
          <a:p>
            <a:r>
              <a:rPr lang="en-IN" dirty="0" smtClean="0">
                <a:latin typeface="Times New Roman" panose="02020603050405020304" pitchFamily="18" charset="0"/>
                <a:cs typeface="Times New Roman" panose="02020603050405020304" pitchFamily="18" charset="0"/>
              </a:rPr>
              <a:t>.</a:t>
            </a:r>
          </a:p>
          <a:p>
            <a:r>
              <a:rPr lang="en-IN" dirty="0" err="1" smtClean="0">
                <a:latin typeface="Times New Roman" pitchFamily="18" charset="0"/>
                <a:cs typeface="Times New Roman" pitchFamily="18" charset="0"/>
              </a:rPr>
              <a:t>t</a:t>
            </a:r>
            <a:r>
              <a:rPr lang="en-IN" baseline="-25000" dirty="0" err="1" smtClean="0">
                <a:latin typeface="Times New Roman" pitchFamily="18" charset="0"/>
                <a:cs typeface="Times New Roman" pitchFamily="18" charset="0"/>
              </a:rPr>
              <a:t>n</a:t>
            </a:r>
            <a:r>
              <a:rPr lang="en-IN" dirty="0" smtClean="0">
                <a:latin typeface="Times New Roman" pitchFamily="18" charset="0"/>
                <a:cs typeface="Times New Roman" pitchFamily="18" charset="0"/>
              </a:rPr>
              <a:t>: Activate {</a:t>
            </a:r>
            <a:r>
              <a:rPr lang="en-IN" dirty="0" err="1" smtClean="0">
                <a:latin typeface="Times New Roman" pitchFamily="18" charset="0"/>
                <a:cs typeface="Times New Roman" pitchFamily="18" charset="0"/>
              </a:rPr>
              <a:t>C</a:t>
            </a:r>
            <a:r>
              <a:rPr lang="en-IN" baseline="-25000" dirty="0" err="1" smtClean="0">
                <a:latin typeface="Times New Roman" panose="02020603050405020304" pitchFamily="18" charset="0"/>
                <a:cs typeface="Times New Roman" panose="02020603050405020304" pitchFamily="18" charset="0"/>
              </a:rPr>
              <a:t>nj</a:t>
            </a:r>
            <a:r>
              <a:rPr lang="en-IN" dirty="0" smtClean="0">
                <a:latin typeface="Times New Roman" panose="02020603050405020304" pitchFamily="18" charset="0"/>
                <a:cs typeface="Times New Roman" panose="02020603050405020304" pitchFamily="18" charset="0"/>
              </a:rPr>
              <a:t>};</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xmlns="" val="1480438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p:cNvCxnSpPr/>
          <p:nvPr/>
        </p:nvCxnSpPr>
        <p:spPr>
          <a:xfrm flipV="1">
            <a:off x="535576" y="2351314"/>
            <a:ext cx="705394" cy="13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1223553" y="2791096"/>
            <a:ext cx="705394" cy="13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4040776" y="2773680"/>
            <a:ext cx="705394" cy="13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3344090" y="2312124"/>
            <a:ext cx="705394" cy="13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1928947" y="2320833"/>
            <a:ext cx="705394" cy="13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2629987" y="2773679"/>
            <a:ext cx="705394" cy="13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5400000">
            <a:off x="280851" y="2579914"/>
            <a:ext cx="444137"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5400000">
            <a:off x="1008016" y="2575561"/>
            <a:ext cx="444137"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5400000">
            <a:off x="1700350" y="2562497"/>
            <a:ext cx="444137"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rot="5400000">
            <a:off x="2405744" y="2536372"/>
            <a:ext cx="444137"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5400000">
            <a:off x="3111137" y="2536372"/>
            <a:ext cx="444137"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rot="5400000">
            <a:off x="3816533" y="2536372"/>
            <a:ext cx="444137"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10800000" flipV="1">
            <a:off x="169817" y="2808513"/>
            <a:ext cx="313509" cy="13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5400000">
            <a:off x="380999" y="3202579"/>
            <a:ext cx="444137"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5400000">
            <a:off x="820783" y="3198224"/>
            <a:ext cx="444137"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613953" y="2991394"/>
            <a:ext cx="44413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10800000">
            <a:off x="169817" y="3422469"/>
            <a:ext cx="426723" cy="870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rot="5400000">
            <a:off x="1800496" y="3198226"/>
            <a:ext cx="444137"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5400000">
            <a:off x="2240280" y="3193871"/>
            <a:ext cx="444137"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2033450" y="2987041"/>
            <a:ext cx="44413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rot="5400000">
            <a:off x="3226526" y="3187340"/>
            <a:ext cx="483325" cy="13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rot="5400000">
            <a:off x="3685903" y="3163392"/>
            <a:ext cx="444137"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3479073" y="2956562"/>
            <a:ext cx="44413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1031965" y="3435531"/>
            <a:ext cx="99277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2451462" y="3418114"/>
            <a:ext cx="99277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flipV="1">
            <a:off x="3897085" y="3409406"/>
            <a:ext cx="844731" cy="4353"/>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rot="5400000">
            <a:off x="391887" y="3944984"/>
            <a:ext cx="47026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rot="16200000" flipH="1">
            <a:off x="862150" y="3958047"/>
            <a:ext cx="444134" cy="26125"/>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596536" y="3731622"/>
            <a:ext cx="44413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rot="10800000">
            <a:off x="230777" y="4162697"/>
            <a:ext cx="426723" cy="8706"/>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5400000">
            <a:off x="1861456" y="3938454"/>
            <a:ext cx="444137"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rot="5400000">
            <a:off x="2301240" y="3934099"/>
            <a:ext cx="444137"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2094410" y="3727269"/>
            <a:ext cx="44413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rot="5400000">
            <a:off x="3287486" y="3927568"/>
            <a:ext cx="483325" cy="13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rot="5400000">
            <a:off x="3746863" y="3903620"/>
            <a:ext cx="444137"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3540033" y="3696790"/>
            <a:ext cx="44413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1092925" y="4175759"/>
            <a:ext cx="99277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2512422" y="4158342"/>
            <a:ext cx="99277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V="1">
            <a:off x="3958045" y="4149634"/>
            <a:ext cx="844731" cy="4353"/>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rot="5400000">
            <a:off x="428897" y="4648202"/>
            <a:ext cx="444137"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rot="5400000">
            <a:off x="868681" y="4643847"/>
            <a:ext cx="444137"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661851" y="4437017"/>
            <a:ext cx="44413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rot="10800000">
            <a:off x="217715" y="4868092"/>
            <a:ext cx="426723" cy="8706"/>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rot="5400000">
            <a:off x="1848394" y="4643849"/>
            <a:ext cx="444137"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rot="5400000">
            <a:off x="2288178" y="4639494"/>
            <a:ext cx="444137"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2081348" y="4432664"/>
            <a:ext cx="44413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rot="5400000">
            <a:off x="3274424" y="4632963"/>
            <a:ext cx="483325" cy="13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rot="5400000">
            <a:off x="3733801" y="4609015"/>
            <a:ext cx="444137"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3526971" y="4402185"/>
            <a:ext cx="44413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1079863" y="4881154"/>
            <a:ext cx="99277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a:off x="2499360" y="4863737"/>
            <a:ext cx="99277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flipV="1">
            <a:off x="3944983" y="4855029"/>
            <a:ext cx="844731" cy="4353"/>
          </a:xfrm>
          <a:prstGeom prst="line">
            <a:avLst/>
          </a:prstGeom>
        </p:spPr>
        <p:style>
          <a:lnRef idx="1">
            <a:schemeClr val="accent1"/>
          </a:lnRef>
          <a:fillRef idx="0">
            <a:schemeClr val="accent1"/>
          </a:fillRef>
          <a:effectRef idx="0">
            <a:schemeClr val="accent1"/>
          </a:effectRef>
          <a:fontRef idx="minor">
            <a:schemeClr val="tx1"/>
          </a:fontRef>
        </p:style>
      </p:cxnSp>
      <p:sp>
        <p:nvSpPr>
          <p:cNvPr id="72" name="TextBox 71"/>
          <p:cNvSpPr txBox="1"/>
          <p:nvPr/>
        </p:nvSpPr>
        <p:spPr>
          <a:xfrm>
            <a:off x="3882115" y="4349572"/>
            <a:ext cx="1264652" cy="523220"/>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Output control </a:t>
            </a:r>
          </a:p>
          <a:p>
            <a:r>
              <a:rPr lang="en-IN" sz="1400" dirty="0" smtClean="0">
                <a:latin typeface="Times New Roman" panose="02020603050405020304" pitchFamily="18" charset="0"/>
                <a:cs typeface="Times New Roman" panose="02020603050405020304" pitchFamily="18" charset="0"/>
              </a:rPr>
              <a:t>pulse</a:t>
            </a:r>
            <a:endParaRPr lang="en-IN" sz="1400" baseline="-25000" dirty="0">
              <a:latin typeface="Times New Roman" panose="02020603050405020304" pitchFamily="18" charset="0"/>
              <a:cs typeface="Times New Roman" panose="02020603050405020304" pitchFamily="18" charset="0"/>
            </a:endParaRPr>
          </a:p>
        </p:txBody>
      </p:sp>
      <p:sp>
        <p:nvSpPr>
          <p:cNvPr id="73" name="TextBox 72"/>
          <p:cNvSpPr txBox="1"/>
          <p:nvPr/>
        </p:nvSpPr>
        <p:spPr>
          <a:xfrm>
            <a:off x="4017097" y="2237742"/>
            <a:ext cx="1194983" cy="523220"/>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Input control </a:t>
            </a:r>
          </a:p>
          <a:p>
            <a:r>
              <a:rPr lang="en-IN" sz="1400" dirty="0" smtClean="0">
                <a:latin typeface="Times New Roman" panose="02020603050405020304" pitchFamily="18" charset="0"/>
                <a:cs typeface="Times New Roman" panose="02020603050405020304" pitchFamily="18" charset="0"/>
              </a:rPr>
              <a:t>pulse</a:t>
            </a:r>
            <a:endParaRPr lang="en-IN" sz="1400" baseline="-25000" dirty="0">
              <a:latin typeface="Times New Roman" panose="02020603050405020304" pitchFamily="18" charset="0"/>
              <a:cs typeface="Times New Roman" panose="02020603050405020304" pitchFamily="18" charset="0"/>
            </a:endParaRPr>
          </a:p>
        </p:txBody>
      </p:sp>
      <p:sp>
        <p:nvSpPr>
          <p:cNvPr id="74" name="TextBox 73"/>
          <p:cNvSpPr txBox="1"/>
          <p:nvPr/>
        </p:nvSpPr>
        <p:spPr>
          <a:xfrm>
            <a:off x="3986617" y="3108600"/>
            <a:ext cx="663760"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Clock</a:t>
            </a:r>
            <a:endParaRPr lang="en-IN" sz="1400" baseline="-25000" dirty="0">
              <a:latin typeface="Times New Roman" panose="02020603050405020304" pitchFamily="18" charset="0"/>
              <a:cs typeface="Times New Roman" panose="02020603050405020304" pitchFamily="18" charset="0"/>
            </a:endParaRPr>
          </a:p>
        </p:txBody>
      </p:sp>
      <p:sp>
        <p:nvSpPr>
          <p:cNvPr id="75" name="TextBox 74"/>
          <p:cNvSpPr txBox="1"/>
          <p:nvPr/>
        </p:nvSpPr>
        <p:spPr>
          <a:xfrm>
            <a:off x="4204019" y="3859325"/>
            <a:ext cx="354918" cy="276999"/>
          </a:xfrm>
          <a:prstGeom prst="rect">
            <a:avLst/>
          </a:prstGeom>
          <a:noFill/>
        </p:spPr>
        <p:txBody>
          <a:bodyPr wrap="square" rtlCol="0">
            <a:spAutoFit/>
          </a:bodyPr>
          <a:lstStyle/>
          <a:p>
            <a:r>
              <a:rPr lang="en-IN" baseline="-25000" dirty="0" smtClean="0">
                <a:latin typeface="Times New Roman" panose="02020603050405020304" pitchFamily="18" charset="0"/>
                <a:cs typeface="Times New Roman" panose="02020603050405020304" pitchFamily="18" charset="0"/>
              </a:rPr>
              <a:t>Q</a:t>
            </a:r>
            <a:endParaRPr lang="en-IN" baseline="-25000" dirty="0">
              <a:latin typeface="Times New Roman" panose="02020603050405020304" pitchFamily="18" charset="0"/>
              <a:cs typeface="Times New Roman" panose="02020603050405020304" pitchFamily="18" charset="0"/>
            </a:endParaRPr>
          </a:p>
        </p:txBody>
      </p:sp>
      <p:sp>
        <p:nvSpPr>
          <p:cNvPr id="76" name="Rectangle 75"/>
          <p:cNvSpPr/>
          <p:nvPr/>
        </p:nvSpPr>
        <p:spPr>
          <a:xfrm>
            <a:off x="1506711" y="901929"/>
            <a:ext cx="1406769" cy="8788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TextBox 76"/>
          <p:cNvSpPr txBox="1"/>
          <p:nvPr/>
        </p:nvSpPr>
        <p:spPr>
          <a:xfrm>
            <a:off x="176618" y="761640"/>
            <a:ext cx="1443177" cy="646331"/>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Input control </a:t>
            </a:r>
          </a:p>
          <a:p>
            <a:r>
              <a:rPr lang="en-IN" dirty="0" smtClean="0">
                <a:latin typeface="Times New Roman" panose="02020603050405020304" pitchFamily="18" charset="0"/>
                <a:cs typeface="Times New Roman" panose="02020603050405020304" pitchFamily="18" charset="0"/>
              </a:rPr>
              <a:t>pulse</a:t>
            </a:r>
            <a:endParaRPr lang="en-IN" baseline="-25000" dirty="0">
              <a:latin typeface="Times New Roman" panose="02020603050405020304" pitchFamily="18" charset="0"/>
              <a:cs typeface="Times New Roman" panose="02020603050405020304" pitchFamily="18" charset="0"/>
            </a:endParaRPr>
          </a:p>
        </p:txBody>
      </p:sp>
      <p:sp>
        <p:nvSpPr>
          <p:cNvPr id="78" name="TextBox 77"/>
          <p:cNvSpPr txBox="1"/>
          <p:nvPr/>
        </p:nvSpPr>
        <p:spPr>
          <a:xfrm>
            <a:off x="472709" y="1580246"/>
            <a:ext cx="794390"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Clock</a:t>
            </a:r>
            <a:endParaRPr lang="en-IN" baseline="-25000" dirty="0">
              <a:latin typeface="Times New Roman" panose="02020603050405020304" pitchFamily="18" charset="0"/>
              <a:cs typeface="Times New Roman" panose="02020603050405020304" pitchFamily="18" charset="0"/>
            </a:endParaRPr>
          </a:p>
        </p:txBody>
      </p:sp>
      <p:sp>
        <p:nvSpPr>
          <p:cNvPr id="79" name="TextBox 78"/>
          <p:cNvSpPr txBox="1"/>
          <p:nvPr/>
        </p:nvSpPr>
        <p:spPr>
          <a:xfrm>
            <a:off x="3568606" y="691972"/>
            <a:ext cx="1617349" cy="646331"/>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Output control </a:t>
            </a:r>
          </a:p>
          <a:p>
            <a:r>
              <a:rPr lang="en-IN" dirty="0" smtClean="0">
                <a:latin typeface="Times New Roman" panose="02020603050405020304" pitchFamily="18" charset="0"/>
                <a:cs typeface="Times New Roman" panose="02020603050405020304" pitchFamily="18" charset="0"/>
              </a:rPr>
              <a:t>pulse</a:t>
            </a:r>
            <a:endParaRPr lang="en-IN" baseline="-25000" dirty="0">
              <a:latin typeface="Times New Roman" panose="02020603050405020304" pitchFamily="18" charset="0"/>
              <a:cs typeface="Times New Roman" panose="02020603050405020304" pitchFamily="18" charset="0"/>
            </a:endParaRPr>
          </a:p>
        </p:txBody>
      </p:sp>
      <p:sp>
        <p:nvSpPr>
          <p:cNvPr id="80" name="TextBox 79"/>
          <p:cNvSpPr txBox="1"/>
          <p:nvPr/>
        </p:nvSpPr>
        <p:spPr>
          <a:xfrm>
            <a:off x="1526135" y="933245"/>
            <a:ext cx="354918"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D</a:t>
            </a:r>
            <a:endParaRPr lang="en-IN" baseline="-25000" dirty="0">
              <a:latin typeface="Times New Roman" panose="02020603050405020304" pitchFamily="18" charset="0"/>
              <a:cs typeface="Times New Roman" panose="02020603050405020304" pitchFamily="18" charset="0"/>
            </a:endParaRPr>
          </a:p>
        </p:txBody>
      </p:sp>
      <p:sp>
        <p:nvSpPr>
          <p:cNvPr id="81" name="TextBox 80"/>
          <p:cNvSpPr txBox="1"/>
          <p:nvPr/>
        </p:nvSpPr>
        <p:spPr>
          <a:xfrm>
            <a:off x="2605997" y="941954"/>
            <a:ext cx="293957" cy="276999"/>
          </a:xfrm>
          <a:prstGeom prst="rect">
            <a:avLst/>
          </a:prstGeom>
          <a:noFill/>
        </p:spPr>
        <p:txBody>
          <a:bodyPr wrap="square" rtlCol="0">
            <a:spAutoFit/>
          </a:bodyPr>
          <a:lstStyle/>
          <a:p>
            <a:r>
              <a:rPr lang="en-IN" baseline="-25000" dirty="0" smtClean="0">
                <a:latin typeface="Times New Roman" panose="02020603050405020304" pitchFamily="18" charset="0"/>
                <a:cs typeface="Times New Roman" panose="02020603050405020304" pitchFamily="18" charset="0"/>
              </a:rPr>
              <a:t>Q</a:t>
            </a:r>
            <a:endParaRPr lang="en-IN" baseline="-25000" dirty="0">
              <a:latin typeface="Times New Roman" panose="02020603050405020304" pitchFamily="18" charset="0"/>
              <a:cs typeface="Times New Roman" panose="02020603050405020304" pitchFamily="18" charset="0"/>
            </a:endParaRPr>
          </a:p>
        </p:txBody>
      </p:sp>
      <p:sp>
        <p:nvSpPr>
          <p:cNvPr id="82" name="TextBox 81"/>
          <p:cNvSpPr txBox="1"/>
          <p:nvPr/>
        </p:nvSpPr>
        <p:spPr>
          <a:xfrm>
            <a:off x="2588580" y="1447052"/>
            <a:ext cx="293957" cy="276999"/>
          </a:xfrm>
          <a:prstGeom prst="rect">
            <a:avLst/>
          </a:prstGeom>
          <a:noFill/>
        </p:spPr>
        <p:txBody>
          <a:bodyPr wrap="square" rtlCol="0">
            <a:spAutoFit/>
          </a:bodyPr>
          <a:lstStyle/>
          <a:p>
            <a:r>
              <a:rPr lang="en-IN" baseline="-25000" dirty="0" smtClean="0">
                <a:latin typeface="Times New Roman" panose="02020603050405020304" pitchFamily="18" charset="0"/>
                <a:cs typeface="Times New Roman" panose="02020603050405020304" pitchFamily="18" charset="0"/>
              </a:rPr>
              <a:t>0</a:t>
            </a:r>
            <a:endParaRPr lang="en-IN" baseline="-25000" dirty="0">
              <a:latin typeface="Times New Roman" panose="02020603050405020304" pitchFamily="18" charset="0"/>
              <a:cs typeface="Times New Roman" panose="02020603050405020304" pitchFamily="18" charset="0"/>
            </a:endParaRPr>
          </a:p>
        </p:txBody>
      </p:sp>
      <p:sp>
        <p:nvSpPr>
          <p:cNvPr id="83" name="TextBox 82"/>
          <p:cNvSpPr txBox="1"/>
          <p:nvPr/>
        </p:nvSpPr>
        <p:spPr>
          <a:xfrm>
            <a:off x="1521780" y="1412217"/>
            <a:ext cx="502963" cy="369332"/>
          </a:xfrm>
          <a:prstGeom prst="rect">
            <a:avLst/>
          </a:prstGeom>
          <a:noFill/>
        </p:spPr>
        <p:txBody>
          <a:bodyPr wrap="square" rtlCol="0">
            <a:spAutoFit/>
          </a:bodyPr>
          <a:lstStyle/>
          <a:p>
            <a:r>
              <a:rPr lang="en-IN" dirty="0" err="1" smtClean="0">
                <a:latin typeface="Times New Roman" panose="02020603050405020304" pitchFamily="18" charset="0"/>
                <a:cs typeface="Times New Roman" panose="02020603050405020304" pitchFamily="18" charset="0"/>
              </a:rPr>
              <a:t>clk</a:t>
            </a:r>
            <a:endParaRPr lang="en-IN" baseline="-25000" dirty="0">
              <a:latin typeface="Times New Roman" panose="02020603050405020304" pitchFamily="18" charset="0"/>
              <a:cs typeface="Times New Roman" panose="02020603050405020304" pitchFamily="18" charset="0"/>
            </a:endParaRPr>
          </a:p>
        </p:txBody>
      </p:sp>
      <p:cxnSp>
        <p:nvCxnSpPr>
          <p:cNvPr id="84" name="Straight Connector 83"/>
          <p:cNvCxnSpPr>
            <a:stCxn id="80" idx="1"/>
          </p:cNvCxnSpPr>
          <p:nvPr/>
        </p:nvCxnSpPr>
        <p:spPr>
          <a:xfrm rot="10800000">
            <a:off x="914401" y="1110345"/>
            <a:ext cx="611734" cy="7567"/>
          </a:xfrm>
          <a:prstGeom prst="line">
            <a:avLst/>
          </a:prstGeom>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rot="10800000">
            <a:off x="896984" y="1641568"/>
            <a:ext cx="611734" cy="7567"/>
          </a:xfrm>
          <a:prstGeom prst="line">
            <a:avLst/>
          </a:prstGeom>
        </p:spPr>
        <p:style>
          <a:lnRef idx="1">
            <a:schemeClr val="accent1"/>
          </a:lnRef>
          <a:fillRef idx="0">
            <a:schemeClr val="accent1"/>
          </a:fillRef>
          <a:effectRef idx="0">
            <a:schemeClr val="accent1"/>
          </a:effectRef>
          <a:fontRef idx="minor">
            <a:schemeClr val="tx1"/>
          </a:fontRef>
        </p:style>
      </p:cxnSp>
      <p:sp>
        <p:nvSpPr>
          <p:cNvPr id="86" name="Flowchart: Delay 85"/>
          <p:cNvSpPr/>
          <p:nvPr/>
        </p:nvSpPr>
        <p:spPr>
          <a:xfrm>
            <a:off x="3187338" y="836023"/>
            <a:ext cx="418012" cy="483325"/>
          </a:xfrm>
          <a:prstGeom prst="flowChartDelay">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7" name="Straight Connector 86"/>
          <p:cNvCxnSpPr>
            <a:stCxn id="81" idx="3"/>
            <a:endCxn id="86" idx="1"/>
          </p:cNvCxnSpPr>
          <p:nvPr/>
        </p:nvCxnSpPr>
        <p:spPr>
          <a:xfrm flipV="1">
            <a:off x="2899954" y="1077686"/>
            <a:ext cx="287384" cy="2768"/>
          </a:xfrm>
          <a:prstGeom prst="line">
            <a:avLst/>
          </a:prstGeom>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rot="16200000" flipH="1">
            <a:off x="1047999" y="1844837"/>
            <a:ext cx="356260" cy="3559"/>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flipV="1">
            <a:off x="1227909" y="2011681"/>
            <a:ext cx="1776549"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rot="5400000">
            <a:off x="2627815" y="1621971"/>
            <a:ext cx="71845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3000103" y="1258979"/>
            <a:ext cx="161109" cy="8119"/>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flipV="1">
            <a:off x="3614057" y="1073331"/>
            <a:ext cx="287384" cy="2768"/>
          </a:xfrm>
          <a:prstGeom prst="line">
            <a:avLst/>
          </a:prstGeom>
        </p:spPr>
        <p:style>
          <a:lnRef idx="1">
            <a:schemeClr val="accent1"/>
          </a:lnRef>
          <a:fillRef idx="0">
            <a:schemeClr val="accent1"/>
          </a:fillRef>
          <a:effectRef idx="0">
            <a:schemeClr val="accent1"/>
          </a:effectRef>
          <a:fontRef idx="minor">
            <a:schemeClr val="tx1"/>
          </a:fontRef>
        </p:style>
      </p:cxnSp>
      <p:sp>
        <p:nvSpPr>
          <p:cNvPr id="93" name="TextBox 92"/>
          <p:cNvSpPr txBox="1"/>
          <p:nvPr/>
        </p:nvSpPr>
        <p:spPr>
          <a:xfrm>
            <a:off x="195943" y="209005"/>
            <a:ext cx="4140926" cy="369332"/>
          </a:xfrm>
          <a:prstGeom prst="rect">
            <a:avLst/>
          </a:prstGeom>
          <a:noFill/>
        </p:spPr>
        <p:txBody>
          <a:bodyPr wrap="square" rtlCol="0">
            <a:spAutoFit/>
          </a:bodyPr>
          <a:lstStyle/>
          <a:p>
            <a:r>
              <a:rPr lang="en-IN" dirty="0" smtClean="0">
                <a:latin typeface="Times New Roman" pitchFamily="18" charset="0"/>
                <a:cs typeface="Times New Roman" pitchFamily="18" charset="0"/>
              </a:rPr>
              <a:t>Synchronous delay element for CU design</a:t>
            </a:r>
            <a:endParaRPr lang="en-IN" dirty="0">
              <a:latin typeface="Times New Roman" pitchFamily="18" charset="0"/>
              <a:cs typeface="Times New Roman" pitchFamily="18" charset="0"/>
            </a:endParaRPr>
          </a:p>
        </p:txBody>
      </p:sp>
      <p:sp>
        <p:nvSpPr>
          <p:cNvPr id="94" name="Oval 93"/>
          <p:cNvSpPr/>
          <p:nvPr/>
        </p:nvSpPr>
        <p:spPr>
          <a:xfrm>
            <a:off x="5447212" y="679268"/>
            <a:ext cx="927462" cy="5094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5" name="TextBox 94"/>
          <p:cNvSpPr txBox="1"/>
          <p:nvPr/>
        </p:nvSpPr>
        <p:spPr>
          <a:xfrm>
            <a:off x="5538651" y="757645"/>
            <a:ext cx="770709" cy="369332"/>
          </a:xfrm>
          <a:prstGeom prst="rect">
            <a:avLst/>
          </a:prstGeom>
          <a:noFill/>
        </p:spPr>
        <p:txBody>
          <a:bodyPr wrap="square" rtlCol="0">
            <a:spAutoFit/>
          </a:bodyPr>
          <a:lstStyle/>
          <a:p>
            <a:r>
              <a:rPr lang="en-IN" dirty="0" smtClean="0">
                <a:latin typeface="Times New Roman" pitchFamily="18" charset="0"/>
                <a:cs typeface="Times New Roman" pitchFamily="18" charset="0"/>
              </a:rPr>
              <a:t>Begin</a:t>
            </a:r>
            <a:endParaRPr lang="en-IN" dirty="0">
              <a:latin typeface="Times New Roman" pitchFamily="18" charset="0"/>
              <a:cs typeface="Times New Roman" pitchFamily="18" charset="0"/>
            </a:endParaRPr>
          </a:p>
        </p:txBody>
      </p:sp>
      <p:sp>
        <p:nvSpPr>
          <p:cNvPr id="96" name="TextBox 95"/>
          <p:cNvSpPr txBox="1"/>
          <p:nvPr/>
        </p:nvSpPr>
        <p:spPr>
          <a:xfrm>
            <a:off x="5553849" y="1512365"/>
            <a:ext cx="729385"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{C</a:t>
            </a:r>
            <a:r>
              <a:rPr lang="en-IN" baseline="-25000" dirty="0" smtClean="0">
                <a:latin typeface="Times New Roman" panose="02020603050405020304" pitchFamily="18" charset="0"/>
                <a:cs typeface="Times New Roman" panose="02020603050405020304" pitchFamily="18" charset="0"/>
              </a:rPr>
              <a:t>1j</a:t>
            </a:r>
            <a:r>
              <a:rPr lang="en-IN" dirty="0" smtClean="0">
                <a:latin typeface="Times New Roman" panose="02020603050405020304" pitchFamily="18" charset="0"/>
                <a:cs typeface="Times New Roman" panose="02020603050405020304" pitchFamily="18" charset="0"/>
              </a:rPr>
              <a:t>}</a:t>
            </a:r>
            <a:endParaRPr lang="en-IN" baseline="-25000" dirty="0">
              <a:latin typeface="Times New Roman" panose="02020603050405020304" pitchFamily="18" charset="0"/>
              <a:cs typeface="Times New Roman" panose="02020603050405020304" pitchFamily="18" charset="0"/>
            </a:endParaRPr>
          </a:p>
        </p:txBody>
      </p:sp>
      <p:sp>
        <p:nvSpPr>
          <p:cNvPr id="97" name="TextBox 96"/>
          <p:cNvSpPr txBox="1"/>
          <p:nvPr/>
        </p:nvSpPr>
        <p:spPr>
          <a:xfrm>
            <a:off x="5575621" y="2200342"/>
            <a:ext cx="729385"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{C</a:t>
            </a:r>
            <a:r>
              <a:rPr lang="en-IN" baseline="-25000" dirty="0" smtClean="0">
                <a:latin typeface="Times New Roman" panose="02020603050405020304" pitchFamily="18" charset="0"/>
                <a:cs typeface="Times New Roman" panose="02020603050405020304" pitchFamily="18" charset="0"/>
              </a:rPr>
              <a:t>2j</a:t>
            </a:r>
            <a:r>
              <a:rPr lang="en-IN" dirty="0" smtClean="0">
                <a:latin typeface="Times New Roman" panose="02020603050405020304" pitchFamily="18" charset="0"/>
                <a:cs typeface="Times New Roman" panose="02020603050405020304" pitchFamily="18" charset="0"/>
              </a:rPr>
              <a:t>}</a:t>
            </a:r>
            <a:endParaRPr lang="en-IN" baseline="-25000" dirty="0">
              <a:latin typeface="Times New Roman" panose="02020603050405020304" pitchFamily="18" charset="0"/>
              <a:cs typeface="Times New Roman" panose="02020603050405020304" pitchFamily="18" charset="0"/>
            </a:endParaRPr>
          </a:p>
        </p:txBody>
      </p:sp>
      <p:sp>
        <p:nvSpPr>
          <p:cNvPr id="98" name="Rectangle 97"/>
          <p:cNvSpPr/>
          <p:nvPr/>
        </p:nvSpPr>
        <p:spPr>
          <a:xfrm>
            <a:off x="5587734" y="1518674"/>
            <a:ext cx="617123"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9" name="Rectangle 98"/>
          <p:cNvSpPr/>
          <p:nvPr/>
        </p:nvSpPr>
        <p:spPr>
          <a:xfrm>
            <a:off x="5622568" y="2232777"/>
            <a:ext cx="617123"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0" name="TextBox 99"/>
          <p:cNvSpPr txBox="1"/>
          <p:nvPr/>
        </p:nvSpPr>
        <p:spPr>
          <a:xfrm>
            <a:off x="5601745" y="4094456"/>
            <a:ext cx="729385"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{C</a:t>
            </a:r>
            <a:r>
              <a:rPr lang="en-IN" baseline="-25000" dirty="0" smtClean="0">
                <a:latin typeface="Times New Roman" panose="02020603050405020304" pitchFamily="18" charset="0"/>
                <a:cs typeface="Times New Roman" panose="02020603050405020304" pitchFamily="18" charset="0"/>
              </a:rPr>
              <a:t>3j</a:t>
            </a:r>
            <a:r>
              <a:rPr lang="en-IN" dirty="0" smtClean="0">
                <a:latin typeface="Times New Roman" panose="02020603050405020304" pitchFamily="18" charset="0"/>
                <a:cs typeface="Times New Roman" panose="02020603050405020304" pitchFamily="18" charset="0"/>
              </a:rPr>
              <a:t>}</a:t>
            </a:r>
            <a:endParaRPr lang="en-IN" baseline="-25000" dirty="0">
              <a:latin typeface="Times New Roman" panose="02020603050405020304" pitchFamily="18" charset="0"/>
              <a:cs typeface="Times New Roman" panose="02020603050405020304" pitchFamily="18" charset="0"/>
            </a:endParaRPr>
          </a:p>
        </p:txBody>
      </p:sp>
      <p:sp>
        <p:nvSpPr>
          <p:cNvPr id="101" name="Rectangle 100"/>
          <p:cNvSpPr/>
          <p:nvPr/>
        </p:nvSpPr>
        <p:spPr>
          <a:xfrm>
            <a:off x="5635630" y="4100765"/>
            <a:ext cx="617123"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2" name="TextBox 101"/>
          <p:cNvSpPr txBox="1"/>
          <p:nvPr/>
        </p:nvSpPr>
        <p:spPr>
          <a:xfrm>
            <a:off x="6738215" y="4094457"/>
            <a:ext cx="729385"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{C</a:t>
            </a:r>
            <a:r>
              <a:rPr lang="en-IN" baseline="-25000" dirty="0" smtClean="0">
                <a:latin typeface="Times New Roman" panose="02020603050405020304" pitchFamily="18" charset="0"/>
                <a:cs typeface="Times New Roman" panose="02020603050405020304" pitchFamily="18" charset="0"/>
              </a:rPr>
              <a:t>4j</a:t>
            </a:r>
            <a:r>
              <a:rPr lang="en-IN" dirty="0" smtClean="0">
                <a:latin typeface="Times New Roman" panose="02020603050405020304" pitchFamily="18" charset="0"/>
                <a:cs typeface="Times New Roman" panose="02020603050405020304" pitchFamily="18" charset="0"/>
              </a:rPr>
              <a:t>}</a:t>
            </a:r>
            <a:endParaRPr lang="en-IN" baseline="-25000" dirty="0">
              <a:latin typeface="Times New Roman" panose="02020603050405020304" pitchFamily="18" charset="0"/>
              <a:cs typeface="Times New Roman" panose="02020603050405020304" pitchFamily="18" charset="0"/>
            </a:endParaRPr>
          </a:p>
        </p:txBody>
      </p:sp>
      <p:sp>
        <p:nvSpPr>
          <p:cNvPr id="103" name="Rectangle 102"/>
          <p:cNvSpPr/>
          <p:nvPr/>
        </p:nvSpPr>
        <p:spPr>
          <a:xfrm>
            <a:off x="6811288" y="4061577"/>
            <a:ext cx="617123"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 name="TextBox 103"/>
          <p:cNvSpPr txBox="1"/>
          <p:nvPr/>
        </p:nvSpPr>
        <p:spPr>
          <a:xfrm>
            <a:off x="7626489" y="4029143"/>
            <a:ext cx="729385"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{C</a:t>
            </a:r>
            <a:r>
              <a:rPr lang="en-IN" baseline="-25000" dirty="0" smtClean="0">
                <a:latin typeface="Times New Roman" panose="02020603050405020304" pitchFamily="18" charset="0"/>
                <a:cs typeface="Times New Roman" panose="02020603050405020304" pitchFamily="18" charset="0"/>
              </a:rPr>
              <a:t>5j</a:t>
            </a:r>
            <a:r>
              <a:rPr lang="en-IN" dirty="0" smtClean="0">
                <a:latin typeface="Times New Roman" panose="02020603050405020304" pitchFamily="18" charset="0"/>
                <a:cs typeface="Times New Roman" panose="02020603050405020304" pitchFamily="18" charset="0"/>
              </a:rPr>
              <a:t>}</a:t>
            </a:r>
            <a:endParaRPr lang="en-IN" baseline="-25000" dirty="0">
              <a:latin typeface="Times New Roman" panose="02020603050405020304" pitchFamily="18" charset="0"/>
              <a:cs typeface="Times New Roman" panose="02020603050405020304" pitchFamily="18" charset="0"/>
            </a:endParaRPr>
          </a:p>
        </p:txBody>
      </p:sp>
      <p:sp>
        <p:nvSpPr>
          <p:cNvPr id="105" name="Rectangle 104"/>
          <p:cNvSpPr/>
          <p:nvPr/>
        </p:nvSpPr>
        <p:spPr>
          <a:xfrm>
            <a:off x="7660374" y="4035452"/>
            <a:ext cx="617123"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6" name="TextBox 105"/>
          <p:cNvSpPr txBox="1"/>
          <p:nvPr/>
        </p:nvSpPr>
        <p:spPr>
          <a:xfrm>
            <a:off x="7169289" y="4682286"/>
            <a:ext cx="729385"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{C</a:t>
            </a:r>
            <a:r>
              <a:rPr lang="en-IN" baseline="-25000" dirty="0" smtClean="0">
                <a:latin typeface="Times New Roman" panose="02020603050405020304" pitchFamily="18" charset="0"/>
                <a:cs typeface="Times New Roman" panose="02020603050405020304" pitchFamily="18" charset="0"/>
              </a:rPr>
              <a:t>6j</a:t>
            </a:r>
            <a:r>
              <a:rPr lang="en-IN" dirty="0" smtClean="0">
                <a:latin typeface="Times New Roman" panose="02020603050405020304" pitchFamily="18" charset="0"/>
                <a:cs typeface="Times New Roman" panose="02020603050405020304" pitchFamily="18" charset="0"/>
              </a:rPr>
              <a:t>}</a:t>
            </a:r>
            <a:endParaRPr lang="en-IN" baseline="-25000" dirty="0">
              <a:latin typeface="Times New Roman" panose="02020603050405020304" pitchFamily="18" charset="0"/>
              <a:cs typeface="Times New Roman" panose="02020603050405020304" pitchFamily="18" charset="0"/>
            </a:endParaRPr>
          </a:p>
        </p:txBody>
      </p:sp>
      <p:sp>
        <p:nvSpPr>
          <p:cNvPr id="107" name="Rectangle 106"/>
          <p:cNvSpPr/>
          <p:nvPr/>
        </p:nvSpPr>
        <p:spPr>
          <a:xfrm>
            <a:off x="7203174" y="4688595"/>
            <a:ext cx="617123"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8" name="TextBox 107"/>
          <p:cNvSpPr txBox="1"/>
          <p:nvPr/>
        </p:nvSpPr>
        <p:spPr>
          <a:xfrm>
            <a:off x="5599612" y="3013164"/>
            <a:ext cx="683624" cy="646331"/>
          </a:xfrm>
          <a:prstGeom prst="rect">
            <a:avLst/>
          </a:prstGeom>
          <a:noFill/>
        </p:spPr>
        <p:txBody>
          <a:bodyPr wrap="square" rtlCol="0">
            <a:spAutoFit/>
          </a:bodyPr>
          <a:lstStyle/>
          <a:p>
            <a:r>
              <a:rPr lang="en-IN" dirty="0" smtClean="0">
                <a:latin typeface="Times New Roman" pitchFamily="18" charset="0"/>
                <a:cs typeface="Times New Roman" pitchFamily="18" charset="0"/>
              </a:rPr>
              <a:t>is x1=1</a:t>
            </a:r>
            <a:endParaRPr lang="en-IN" dirty="0">
              <a:latin typeface="Times New Roman" pitchFamily="18" charset="0"/>
              <a:cs typeface="Times New Roman" pitchFamily="18" charset="0"/>
            </a:endParaRPr>
          </a:p>
        </p:txBody>
      </p:sp>
      <p:sp>
        <p:nvSpPr>
          <p:cNvPr id="109" name="TextBox 108"/>
          <p:cNvSpPr txBox="1"/>
          <p:nvPr/>
        </p:nvSpPr>
        <p:spPr>
          <a:xfrm>
            <a:off x="6849292" y="2982685"/>
            <a:ext cx="683624" cy="646331"/>
          </a:xfrm>
          <a:prstGeom prst="rect">
            <a:avLst/>
          </a:prstGeom>
          <a:noFill/>
        </p:spPr>
        <p:txBody>
          <a:bodyPr wrap="square" rtlCol="0">
            <a:spAutoFit/>
          </a:bodyPr>
          <a:lstStyle/>
          <a:p>
            <a:r>
              <a:rPr lang="en-IN" dirty="0" smtClean="0">
                <a:latin typeface="Times New Roman" pitchFamily="18" charset="0"/>
                <a:cs typeface="Times New Roman" pitchFamily="18" charset="0"/>
              </a:rPr>
              <a:t>is x2=1</a:t>
            </a:r>
            <a:endParaRPr lang="en-IN" dirty="0">
              <a:latin typeface="Times New Roman" pitchFamily="18" charset="0"/>
              <a:cs typeface="Times New Roman" pitchFamily="18" charset="0"/>
            </a:endParaRPr>
          </a:p>
        </p:txBody>
      </p:sp>
      <p:sp>
        <p:nvSpPr>
          <p:cNvPr id="110" name="Diamond 109"/>
          <p:cNvSpPr/>
          <p:nvPr/>
        </p:nvSpPr>
        <p:spPr>
          <a:xfrm>
            <a:off x="5447212" y="2926080"/>
            <a:ext cx="1005840" cy="836023"/>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1" name="Diamond 110"/>
          <p:cNvSpPr/>
          <p:nvPr/>
        </p:nvSpPr>
        <p:spPr>
          <a:xfrm>
            <a:off x="6644641" y="2921726"/>
            <a:ext cx="1005840" cy="836023"/>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3" name="Straight Arrow Connector 112"/>
          <p:cNvCxnSpPr>
            <a:stCxn id="94" idx="4"/>
            <a:endCxn id="98" idx="0"/>
          </p:cNvCxnSpPr>
          <p:nvPr/>
        </p:nvCxnSpPr>
        <p:spPr>
          <a:xfrm rot="5400000">
            <a:off x="5738643" y="1346374"/>
            <a:ext cx="329954" cy="1464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5" name="Straight Arrow Connector 114"/>
          <p:cNvCxnSpPr/>
          <p:nvPr/>
        </p:nvCxnSpPr>
        <p:spPr>
          <a:xfrm rot="5400000">
            <a:off x="5734288" y="2034352"/>
            <a:ext cx="329954" cy="1464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6" name="Straight Arrow Connector 115"/>
          <p:cNvCxnSpPr/>
          <p:nvPr/>
        </p:nvCxnSpPr>
        <p:spPr>
          <a:xfrm rot="5400000">
            <a:off x="5782185" y="2774581"/>
            <a:ext cx="329954" cy="1464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7" name="Straight Arrow Connector 116"/>
          <p:cNvCxnSpPr/>
          <p:nvPr/>
        </p:nvCxnSpPr>
        <p:spPr>
          <a:xfrm rot="5400000">
            <a:off x="5795248" y="3924113"/>
            <a:ext cx="329954" cy="1464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9" name="Straight Arrow Connector 118"/>
          <p:cNvCxnSpPr>
            <a:stCxn id="110" idx="3"/>
          </p:cNvCxnSpPr>
          <p:nvPr/>
        </p:nvCxnSpPr>
        <p:spPr>
          <a:xfrm flipV="1">
            <a:off x="6453052" y="3344091"/>
            <a:ext cx="209005"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0" name="Straight Arrow Connector 119"/>
          <p:cNvCxnSpPr/>
          <p:nvPr/>
        </p:nvCxnSpPr>
        <p:spPr>
          <a:xfrm rot="5400000">
            <a:off x="6988323" y="3902341"/>
            <a:ext cx="329954" cy="1464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1" name="Straight Arrow Connector 120"/>
          <p:cNvCxnSpPr/>
          <p:nvPr/>
        </p:nvCxnSpPr>
        <p:spPr>
          <a:xfrm rot="16200000" flipH="1">
            <a:off x="7603369" y="3709068"/>
            <a:ext cx="743609" cy="136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a:stCxn id="111" idx="3"/>
          </p:cNvCxnSpPr>
          <p:nvPr/>
        </p:nvCxnSpPr>
        <p:spPr>
          <a:xfrm flipV="1">
            <a:off x="7650481" y="3331028"/>
            <a:ext cx="330925" cy="87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7" name="Straight Arrow Connector 126"/>
          <p:cNvCxnSpPr/>
          <p:nvPr/>
        </p:nvCxnSpPr>
        <p:spPr>
          <a:xfrm rot="5400000">
            <a:off x="7140723" y="4564194"/>
            <a:ext cx="329954" cy="1464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8" name="Straight Arrow Connector 127"/>
          <p:cNvCxnSpPr/>
          <p:nvPr/>
        </p:nvCxnSpPr>
        <p:spPr>
          <a:xfrm rot="5400000">
            <a:off x="7597924" y="4564195"/>
            <a:ext cx="329954" cy="1464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a:stCxn id="101" idx="2"/>
          </p:cNvCxnSpPr>
          <p:nvPr/>
        </p:nvCxnSpPr>
        <p:spPr>
          <a:xfrm rot="5400000">
            <a:off x="5847225" y="4566472"/>
            <a:ext cx="193343" cy="5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rot="10800000" flipV="1">
            <a:off x="5251269" y="4676502"/>
            <a:ext cx="705394" cy="13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rot="16200000" flipV="1">
            <a:off x="4278086" y="3755571"/>
            <a:ext cx="1867988" cy="5225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6" name="Straight Arrow Connector 135"/>
          <p:cNvCxnSpPr/>
          <p:nvPr/>
        </p:nvCxnSpPr>
        <p:spPr>
          <a:xfrm flipV="1">
            <a:off x="5185954" y="2821577"/>
            <a:ext cx="770709" cy="2612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7" name="TextBox 136"/>
          <p:cNvSpPr txBox="1"/>
          <p:nvPr/>
        </p:nvSpPr>
        <p:spPr>
          <a:xfrm>
            <a:off x="6731726" y="3675015"/>
            <a:ext cx="505097" cy="369332"/>
          </a:xfrm>
          <a:prstGeom prst="rect">
            <a:avLst/>
          </a:prstGeom>
          <a:noFill/>
        </p:spPr>
        <p:txBody>
          <a:bodyPr wrap="square" rtlCol="0">
            <a:spAutoFit/>
          </a:bodyPr>
          <a:lstStyle/>
          <a:p>
            <a:r>
              <a:rPr lang="en-IN" dirty="0" smtClean="0">
                <a:latin typeface="Times New Roman" pitchFamily="18" charset="0"/>
                <a:cs typeface="Times New Roman" pitchFamily="18" charset="0"/>
              </a:rPr>
              <a:t>yes</a:t>
            </a:r>
            <a:endParaRPr lang="en-IN" dirty="0">
              <a:latin typeface="Times New Roman" pitchFamily="18" charset="0"/>
              <a:cs typeface="Times New Roman" pitchFamily="18" charset="0"/>
            </a:endParaRPr>
          </a:p>
        </p:txBody>
      </p:sp>
      <p:sp>
        <p:nvSpPr>
          <p:cNvPr id="138" name="TextBox 137"/>
          <p:cNvSpPr txBox="1"/>
          <p:nvPr/>
        </p:nvSpPr>
        <p:spPr>
          <a:xfrm>
            <a:off x="5499463" y="3735976"/>
            <a:ext cx="505097" cy="369332"/>
          </a:xfrm>
          <a:prstGeom prst="rect">
            <a:avLst/>
          </a:prstGeom>
          <a:noFill/>
        </p:spPr>
        <p:txBody>
          <a:bodyPr wrap="square" rtlCol="0">
            <a:spAutoFit/>
          </a:bodyPr>
          <a:lstStyle/>
          <a:p>
            <a:r>
              <a:rPr lang="en-IN" dirty="0" smtClean="0">
                <a:latin typeface="Times New Roman" pitchFamily="18" charset="0"/>
                <a:cs typeface="Times New Roman" pitchFamily="18" charset="0"/>
              </a:rPr>
              <a:t>yes</a:t>
            </a:r>
            <a:endParaRPr lang="en-IN" dirty="0">
              <a:latin typeface="Times New Roman" pitchFamily="18" charset="0"/>
              <a:cs typeface="Times New Roman" pitchFamily="18" charset="0"/>
            </a:endParaRPr>
          </a:p>
        </p:txBody>
      </p:sp>
      <p:sp>
        <p:nvSpPr>
          <p:cNvPr id="139" name="TextBox 138"/>
          <p:cNvSpPr txBox="1"/>
          <p:nvPr/>
        </p:nvSpPr>
        <p:spPr>
          <a:xfrm>
            <a:off x="6331131" y="3000100"/>
            <a:ext cx="505097" cy="369332"/>
          </a:xfrm>
          <a:prstGeom prst="rect">
            <a:avLst/>
          </a:prstGeom>
          <a:noFill/>
        </p:spPr>
        <p:txBody>
          <a:bodyPr wrap="square" rtlCol="0">
            <a:spAutoFit/>
          </a:bodyPr>
          <a:lstStyle/>
          <a:p>
            <a:r>
              <a:rPr lang="en-IN" dirty="0" smtClean="0">
                <a:latin typeface="Times New Roman" pitchFamily="18" charset="0"/>
                <a:cs typeface="Times New Roman" pitchFamily="18" charset="0"/>
              </a:rPr>
              <a:t>no</a:t>
            </a:r>
            <a:endParaRPr lang="en-IN" dirty="0">
              <a:latin typeface="Times New Roman" pitchFamily="18" charset="0"/>
              <a:cs typeface="Times New Roman" pitchFamily="18" charset="0"/>
            </a:endParaRPr>
          </a:p>
        </p:txBody>
      </p:sp>
      <p:sp>
        <p:nvSpPr>
          <p:cNvPr id="140" name="TextBox 139"/>
          <p:cNvSpPr txBox="1"/>
          <p:nvPr/>
        </p:nvSpPr>
        <p:spPr>
          <a:xfrm>
            <a:off x="7698377" y="3008810"/>
            <a:ext cx="439783" cy="369332"/>
          </a:xfrm>
          <a:prstGeom prst="rect">
            <a:avLst/>
          </a:prstGeom>
          <a:noFill/>
        </p:spPr>
        <p:txBody>
          <a:bodyPr wrap="square" rtlCol="0">
            <a:spAutoFit/>
          </a:bodyPr>
          <a:lstStyle/>
          <a:p>
            <a:r>
              <a:rPr lang="en-IN" dirty="0" smtClean="0">
                <a:latin typeface="Times New Roman" pitchFamily="18" charset="0"/>
                <a:cs typeface="Times New Roman" pitchFamily="18" charset="0"/>
              </a:rPr>
              <a:t>no</a:t>
            </a:r>
            <a:endParaRPr lang="en-IN" dirty="0">
              <a:latin typeface="Times New Roman" pitchFamily="18" charset="0"/>
              <a:cs typeface="Times New Roman" pitchFamily="18" charset="0"/>
            </a:endParaRPr>
          </a:p>
        </p:txBody>
      </p:sp>
      <p:sp>
        <p:nvSpPr>
          <p:cNvPr id="141" name="TextBox 140"/>
          <p:cNvSpPr txBox="1"/>
          <p:nvPr/>
        </p:nvSpPr>
        <p:spPr>
          <a:xfrm>
            <a:off x="9527177" y="822960"/>
            <a:ext cx="505097" cy="369332"/>
          </a:xfrm>
          <a:prstGeom prst="rect">
            <a:avLst/>
          </a:prstGeom>
          <a:noFill/>
        </p:spPr>
        <p:txBody>
          <a:bodyPr wrap="square" rtlCol="0">
            <a:spAutoFit/>
          </a:bodyPr>
          <a:lstStyle/>
          <a:p>
            <a:r>
              <a:rPr lang="en-IN" dirty="0" smtClean="0">
                <a:latin typeface="Times New Roman" pitchFamily="18" charset="0"/>
                <a:cs typeface="Times New Roman" pitchFamily="18" charset="0"/>
              </a:rPr>
              <a:t>DE</a:t>
            </a:r>
            <a:endParaRPr lang="en-IN" dirty="0">
              <a:latin typeface="Times New Roman" pitchFamily="18" charset="0"/>
              <a:cs typeface="Times New Roman" pitchFamily="18" charset="0"/>
            </a:endParaRPr>
          </a:p>
        </p:txBody>
      </p:sp>
      <p:sp>
        <p:nvSpPr>
          <p:cNvPr id="142" name="TextBox 141"/>
          <p:cNvSpPr txBox="1"/>
          <p:nvPr/>
        </p:nvSpPr>
        <p:spPr>
          <a:xfrm>
            <a:off x="9823270" y="522514"/>
            <a:ext cx="627016"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Begin</a:t>
            </a:r>
            <a:endParaRPr lang="en-IN" sz="1400" dirty="0">
              <a:latin typeface="Times New Roman" pitchFamily="18" charset="0"/>
              <a:cs typeface="Times New Roman" pitchFamily="18" charset="0"/>
            </a:endParaRPr>
          </a:p>
        </p:txBody>
      </p:sp>
      <p:sp>
        <p:nvSpPr>
          <p:cNvPr id="143" name="Rectangle 142"/>
          <p:cNvSpPr/>
          <p:nvPr/>
        </p:nvSpPr>
        <p:spPr>
          <a:xfrm>
            <a:off x="9598032" y="887304"/>
            <a:ext cx="451660" cy="2622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44" name="Straight Arrow Connector 143"/>
          <p:cNvCxnSpPr/>
          <p:nvPr/>
        </p:nvCxnSpPr>
        <p:spPr>
          <a:xfrm rot="5400000">
            <a:off x="9635729" y="719360"/>
            <a:ext cx="329954" cy="1464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5" name="Chevron 144"/>
          <p:cNvSpPr/>
          <p:nvPr/>
        </p:nvSpPr>
        <p:spPr>
          <a:xfrm rot="5400000">
            <a:off x="9592492" y="1345478"/>
            <a:ext cx="470263" cy="457200"/>
          </a:xfrm>
          <a:prstGeom prst="chevr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146" name="Straight Connector 145"/>
          <p:cNvCxnSpPr/>
          <p:nvPr/>
        </p:nvCxnSpPr>
        <p:spPr>
          <a:xfrm rot="16200000" flipH="1">
            <a:off x="10616044" y="3766757"/>
            <a:ext cx="418014" cy="16823"/>
          </a:xfrm>
          <a:prstGeom prst="line">
            <a:avLst/>
          </a:prstGeom>
        </p:spPr>
        <p:style>
          <a:lnRef idx="1">
            <a:schemeClr val="accent1"/>
          </a:lnRef>
          <a:fillRef idx="0">
            <a:schemeClr val="accent1"/>
          </a:fillRef>
          <a:effectRef idx="0">
            <a:schemeClr val="accent1"/>
          </a:effectRef>
          <a:fontRef idx="minor">
            <a:schemeClr val="tx1"/>
          </a:fontRef>
        </p:style>
      </p:cxnSp>
      <p:sp>
        <p:nvSpPr>
          <p:cNvPr id="147" name="TextBox 146"/>
          <p:cNvSpPr txBox="1"/>
          <p:nvPr/>
        </p:nvSpPr>
        <p:spPr>
          <a:xfrm>
            <a:off x="9877655" y="1103062"/>
            <a:ext cx="629236"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{C</a:t>
            </a:r>
            <a:r>
              <a:rPr lang="en-IN" sz="1400" baseline="-25000" dirty="0" smtClean="0">
                <a:latin typeface="Times New Roman" panose="02020603050405020304" pitchFamily="18" charset="0"/>
                <a:cs typeface="Times New Roman" panose="02020603050405020304" pitchFamily="18" charset="0"/>
              </a:rPr>
              <a:t>2j</a:t>
            </a:r>
            <a:r>
              <a:rPr lang="en-IN" sz="1400" dirty="0" smtClean="0">
                <a:latin typeface="Times New Roman" panose="02020603050405020304" pitchFamily="18" charset="0"/>
                <a:cs typeface="Times New Roman" panose="02020603050405020304" pitchFamily="18" charset="0"/>
              </a:rPr>
              <a:t>}</a:t>
            </a:r>
            <a:endParaRPr lang="en-IN" sz="1400" baseline="-25000" dirty="0">
              <a:latin typeface="Times New Roman" panose="02020603050405020304" pitchFamily="18" charset="0"/>
              <a:cs typeface="Times New Roman" panose="02020603050405020304" pitchFamily="18" charset="0"/>
            </a:endParaRPr>
          </a:p>
        </p:txBody>
      </p:sp>
      <p:cxnSp>
        <p:nvCxnSpPr>
          <p:cNvPr id="148" name="Straight Connector 147"/>
          <p:cNvCxnSpPr/>
          <p:nvPr/>
        </p:nvCxnSpPr>
        <p:spPr>
          <a:xfrm flipV="1">
            <a:off x="11329852" y="3553098"/>
            <a:ext cx="222068" cy="6531"/>
          </a:xfrm>
          <a:prstGeom prst="line">
            <a:avLst/>
          </a:prstGeom>
        </p:spPr>
        <p:style>
          <a:lnRef idx="1">
            <a:schemeClr val="accent1"/>
          </a:lnRef>
          <a:fillRef idx="0">
            <a:schemeClr val="accent1"/>
          </a:fillRef>
          <a:effectRef idx="0">
            <a:schemeClr val="accent1"/>
          </a:effectRef>
          <a:fontRef idx="minor">
            <a:schemeClr val="tx1"/>
          </a:fontRef>
        </p:style>
      </p:cxnSp>
      <p:cxnSp>
        <p:nvCxnSpPr>
          <p:cNvPr id="149" name="Straight Arrow Connector 148"/>
          <p:cNvCxnSpPr/>
          <p:nvPr/>
        </p:nvCxnSpPr>
        <p:spPr>
          <a:xfrm rot="5400000">
            <a:off x="9657805" y="1998618"/>
            <a:ext cx="36576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0" name="Rectangle 149"/>
          <p:cNvSpPr/>
          <p:nvPr/>
        </p:nvSpPr>
        <p:spPr>
          <a:xfrm>
            <a:off x="9580614" y="2202298"/>
            <a:ext cx="451660" cy="2622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1" name="TextBox 150"/>
          <p:cNvSpPr txBox="1"/>
          <p:nvPr/>
        </p:nvSpPr>
        <p:spPr>
          <a:xfrm>
            <a:off x="9588136" y="2164081"/>
            <a:ext cx="505097" cy="369332"/>
          </a:xfrm>
          <a:prstGeom prst="rect">
            <a:avLst/>
          </a:prstGeom>
          <a:noFill/>
        </p:spPr>
        <p:txBody>
          <a:bodyPr wrap="square" rtlCol="0">
            <a:spAutoFit/>
          </a:bodyPr>
          <a:lstStyle/>
          <a:p>
            <a:r>
              <a:rPr lang="en-IN" dirty="0" smtClean="0">
                <a:latin typeface="Times New Roman" pitchFamily="18" charset="0"/>
                <a:cs typeface="Times New Roman" pitchFamily="18" charset="0"/>
              </a:rPr>
              <a:t>DE</a:t>
            </a:r>
            <a:endParaRPr lang="en-IN" dirty="0">
              <a:latin typeface="Times New Roman" pitchFamily="18" charset="0"/>
              <a:cs typeface="Times New Roman" pitchFamily="18" charset="0"/>
            </a:endParaRPr>
          </a:p>
        </p:txBody>
      </p:sp>
      <p:sp>
        <p:nvSpPr>
          <p:cNvPr id="152" name="Flowchart: Delay 151"/>
          <p:cNvSpPr/>
          <p:nvPr/>
        </p:nvSpPr>
        <p:spPr>
          <a:xfrm rot="5400000">
            <a:off x="9592495" y="2821582"/>
            <a:ext cx="418012" cy="483325"/>
          </a:xfrm>
          <a:prstGeom prst="flowChartDelay">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3" name="Flowchart: Delay 152"/>
          <p:cNvSpPr/>
          <p:nvPr/>
        </p:nvSpPr>
        <p:spPr>
          <a:xfrm rot="5400000">
            <a:off x="11103429" y="2817226"/>
            <a:ext cx="418012" cy="483325"/>
          </a:xfrm>
          <a:prstGeom prst="flowChartDelay">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4" name="Flowchart: Delay 153"/>
          <p:cNvSpPr/>
          <p:nvPr/>
        </p:nvSpPr>
        <p:spPr>
          <a:xfrm rot="5400000">
            <a:off x="10358845" y="2817226"/>
            <a:ext cx="418012" cy="483325"/>
          </a:xfrm>
          <a:prstGeom prst="flowChartDelay">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5" name="Chevron 154"/>
          <p:cNvSpPr/>
          <p:nvPr/>
        </p:nvSpPr>
        <p:spPr>
          <a:xfrm rot="5400000">
            <a:off x="10489477" y="3888383"/>
            <a:ext cx="470263" cy="457200"/>
          </a:xfrm>
          <a:prstGeom prst="chevr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56" name="Rectangle 155"/>
          <p:cNvSpPr/>
          <p:nvPr/>
        </p:nvSpPr>
        <p:spPr>
          <a:xfrm>
            <a:off x="10529848" y="4523133"/>
            <a:ext cx="451660" cy="2622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7" name="TextBox 156"/>
          <p:cNvSpPr txBox="1"/>
          <p:nvPr/>
        </p:nvSpPr>
        <p:spPr>
          <a:xfrm>
            <a:off x="10485119" y="4497978"/>
            <a:ext cx="505097" cy="369332"/>
          </a:xfrm>
          <a:prstGeom prst="rect">
            <a:avLst/>
          </a:prstGeom>
          <a:noFill/>
        </p:spPr>
        <p:txBody>
          <a:bodyPr wrap="square" rtlCol="0">
            <a:spAutoFit/>
          </a:bodyPr>
          <a:lstStyle/>
          <a:p>
            <a:r>
              <a:rPr lang="en-IN" dirty="0" smtClean="0">
                <a:latin typeface="Times New Roman" pitchFamily="18" charset="0"/>
                <a:cs typeface="Times New Roman" pitchFamily="18" charset="0"/>
              </a:rPr>
              <a:t>DE</a:t>
            </a:r>
            <a:endParaRPr lang="en-IN" dirty="0">
              <a:latin typeface="Times New Roman" pitchFamily="18" charset="0"/>
              <a:cs typeface="Times New Roman" pitchFamily="18" charset="0"/>
            </a:endParaRPr>
          </a:p>
        </p:txBody>
      </p:sp>
      <p:cxnSp>
        <p:nvCxnSpPr>
          <p:cNvPr id="158" name="Straight Arrow Connector 157"/>
          <p:cNvCxnSpPr/>
          <p:nvPr/>
        </p:nvCxnSpPr>
        <p:spPr>
          <a:xfrm rot="5400000">
            <a:off x="9757953" y="1314995"/>
            <a:ext cx="36576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9" name="Straight Connector 158"/>
          <p:cNvCxnSpPr/>
          <p:nvPr/>
        </p:nvCxnSpPr>
        <p:spPr>
          <a:xfrm rot="16200000" flipH="1">
            <a:off x="9762308" y="2664823"/>
            <a:ext cx="404948" cy="13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rot="16200000" flipH="1">
            <a:off x="9534502" y="2763588"/>
            <a:ext cx="234337" cy="12269"/>
          </a:xfrm>
          <a:prstGeom prst="line">
            <a:avLst/>
          </a:prstGeom>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rot="16200000" flipH="1">
            <a:off x="10317480" y="2592978"/>
            <a:ext cx="478970" cy="2177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rot="16200000" flipH="1">
            <a:off x="10435046" y="2566852"/>
            <a:ext cx="566056" cy="3048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a:xfrm rot="16200000" flipH="1">
            <a:off x="10300856" y="2706983"/>
            <a:ext cx="234337" cy="12269"/>
          </a:xfrm>
          <a:prstGeom prst="line">
            <a:avLst/>
          </a:prstGeom>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a:xfrm flipV="1">
            <a:off x="9971314" y="2638698"/>
            <a:ext cx="470263" cy="261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rot="16200000" flipH="1">
            <a:off x="11088189" y="2619102"/>
            <a:ext cx="470260" cy="13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a:xfrm rot="16200000" flipH="1">
            <a:off x="11173097" y="2547257"/>
            <a:ext cx="557348" cy="8709"/>
          </a:xfrm>
          <a:prstGeom prst="line">
            <a:avLst/>
          </a:prstGeom>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a:xfrm rot="16200000" flipH="1">
            <a:off x="11062857" y="2737463"/>
            <a:ext cx="234337" cy="12269"/>
          </a:xfrm>
          <a:prstGeom prst="line">
            <a:avLst/>
          </a:prstGeom>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a:xfrm flipV="1">
            <a:off x="10428514" y="2625635"/>
            <a:ext cx="744583" cy="26126"/>
          </a:xfrm>
          <a:prstGeom prst="line">
            <a:avLst/>
          </a:prstGeom>
        </p:spPr>
        <p:style>
          <a:lnRef idx="1">
            <a:schemeClr val="accent1"/>
          </a:lnRef>
          <a:fillRef idx="0">
            <a:schemeClr val="accent1"/>
          </a:fillRef>
          <a:effectRef idx="0">
            <a:schemeClr val="accent1"/>
          </a:effectRef>
          <a:fontRef idx="minor">
            <a:schemeClr val="tx1"/>
          </a:fontRef>
        </p:style>
      </p:cxnSp>
      <p:sp>
        <p:nvSpPr>
          <p:cNvPr id="169" name="TextBox 168"/>
          <p:cNvSpPr txBox="1"/>
          <p:nvPr/>
        </p:nvSpPr>
        <p:spPr>
          <a:xfrm>
            <a:off x="9207095" y="589256"/>
            <a:ext cx="581338"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{C</a:t>
            </a:r>
            <a:r>
              <a:rPr lang="en-IN" sz="1400" baseline="-25000" dirty="0" smtClean="0">
                <a:latin typeface="Times New Roman" panose="02020603050405020304" pitchFamily="18" charset="0"/>
                <a:cs typeface="Times New Roman" panose="02020603050405020304" pitchFamily="18" charset="0"/>
              </a:rPr>
              <a:t>1j</a:t>
            </a:r>
            <a:r>
              <a:rPr lang="en-IN" sz="1400" dirty="0" smtClean="0">
                <a:latin typeface="Times New Roman" panose="02020603050405020304" pitchFamily="18" charset="0"/>
                <a:cs typeface="Times New Roman" panose="02020603050405020304" pitchFamily="18" charset="0"/>
              </a:rPr>
              <a:t>}</a:t>
            </a:r>
            <a:endParaRPr lang="en-IN" sz="1400" baseline="-25000" dirty="0">
              <a:latin typeface="Times New Roman" panose="02020603050405020304" pitchFamily="18" charset="0"/>
              <a:cs typeface="Times New Roman" panose="02020603050405020304" pitchFamily="18" charset="0"/>
            </a:endParaRPr>
          </a:p>
        </p:txBody>
      </p:sp>
      <p:sp>
        <p:nvSpPr>
          <p:cNvPr id="170" name="TextBox 169"/>
          <p:cNvSpPr txBox="1"/>
          <p:nvPr/>
        </p:nvSpPr>
        <p:spPr>
          <a:xfrm>
            <a:off x="9339942" y="2542902"/>
            <a:ext cx="409303"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x1</a:t>
            </a:r>
            <a:endParaRPr lang="en-IN" sz="1400" dirty="0">
              <a:latin typeface="Times New Roman" pitchFamily="18" charset="0"/>
              <a:cs typeface="Times New Roman" pitchFamily="18" charset="0"/>
            </a:endParaRPr>
          </a:p>
        </p:txBody>
      </p:sp>
      <p:sp>
        <p:nvSpPr>
          <p:cNvPr id="171" name="TextBox 170"/>
          <p:cNvSpPr txBox="1"/>
          <p:nvPr/>
        </p:nvSpPr>
        <p:spPr>
          <a:xfrm>
            <a:off x="10276113" y="2198914"/>
            <a:ext cx="409303"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x1′</a:t>
            </a:r>
            <a:endParaRPr lang="en-IN" sz="1400" dirty="0">
              <a:latin typeface="Times New Roman" pitchFamily="18" charset="0"/>
              <a:cs typeface="Times New Roman" pitchFamily="18" charset="0"/>
            </a:endParaRPr>
          </a:p>
        </p:txBody>
      </p:sp>
      <p:sp>
        <p:nvSpPr>
          <p:cNvPr id="172" name="TextBox 171"/>
          <p:cNvSpPr txBox="1"/>
          <p:nvPr/>
        </p:nvSpPr>
        <p:spPr>
          <a:xfrm>
            <a:off x="11016342" y="2181497"/>
            <a:ext cx="409303"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x1′</a:t>
            </a:r>
            <a:endParaRPr lang="en-IN" sz="1400" dirty="0">
              <a:latin typeface="Times New Roman" pitchFamily="18" charset="0"/>
              <a:cs typeface="Times New Roman" pitchFamily="18" charset="0"/>
            </a:endParaRPr>
          </a:p>
        </p:txBody>
      </p:sp>
      <p:sp>
        <p:nvSpPr>
          <p:cNvPr id="173" name="TextBox 172"/>
          <p:cNvSpPr txBox="1"/>
          <p:nvPr/>
        </p:nvSpPr>
        <p:spPr>
          <a:xfrm>
            <a:off x="10576561" y="2094411"/>
            <a:ext cx="387530"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x2</a:t>
            </a:r>
            <a:endParaRPr lang="en-IN" sz="1400" dirty="0">
              <a:latin typeface="Times New Roman" pitchFamily="18" charset="0"/>
              <a:cs typeface="Times New Roman" pitchFamily="18" charset="0"/>
            </a:endParaRPr>
          </a:p>
        </p:txBody>
      </p:sp>
      <p:sp>
        <p:nvSpPr>
          <p:cNvPr id="174" name="TextBox 173"/>
          <p:cNvSpPr txBox="1"/>
          <p:nvPr/>
        </p:nvSpPr>
        <p:spPr>
          <a:xfrm>
            <a:off x="11303725" y="2116183"/>
            <a:ext cx="409303"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x2′</a:t>
            </a:r>
            <a:endParaRPr lang="en-IN" sz="1400" dirty="0">
              <a:latin typeface="Times New Roman" pitchFamily="18" charset="0"/>
              <a:cs typeface="Times New Roman" pitchFamily="18" charset="0"/>
            </a:endParaRPr>
          </a:p>
        </p:txBody>
      </p:sp>
      <p:cxnSp>
        <p:nvCxnSpPr>
          <p:cNvPr id="175" name="Straight Connector 174"/>
          <p:cNvCxnSpPr>
            <a:stCxn id="152" idx="3"/>
          </p:cNvCxnSpPr>
          <p:nvPr/>
        </p:nvCxnSpPr>
        <p:spPr>
          <a:xfrm rot="5400000">
            <a:off x="9687202" y="3386546"/>
            <a:ext cx="228595" cy="4"/>
          </a:xfrm>
          <a:prstGeom prst="line">
            <a:avLst/>
          </a:prstGeom>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rot="10800000">
            <a:off x="9318172" y="3513909"/>
            <a:ext cx="496389"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rot="10800000">
            <a:off x="9265921" y="1227910"/>
            <a:ext cx="413659" cy="1029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rot="5400000">
            <a:off x="9565282" y="1344389"/>
            <a:ext cx="228595" cy="4"/>
          </a:xfrm>
          <a:prstGeom prst="line">
            <a:avLst/>
          </a:prstGeom>
        </p:spPr>
        <p:style>
          <a:lnRef idx="1">
            <a:schemeClr val="accent1"/>
          </a:lnRef>
          <a:fillRef idx="0">
            <a:schemeClr val="accent1"/>
          </a:fillRef>
          <a:effectRef idx="0">
            <a:schemeClr val="accent1"/>
          </a:effectRef>
          <a:fontRef idx="minor">
            <a:schemeClr val="tx1"/>
          </a:fontRef>
        </p:style>
      </p:cxnSp>
      <p:cxnSp>
        <p:nvCxnSpPr>
          <p:cNvPr id="179" name="Straight Arrow Connector 178"/>
          <p:cNvCxnSpPr/>
          <p:nvPr/>
        </p:nvCxnSpPr>
        <p:spPr>
          <a:xfrm rot="16200000" flipV="1">
            <a:off x="8142515" y="2338252"/>
            <a:ext cx="2299063" cy="5225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0" name="TextBox 179"/>
          <p:cNvSpPr txBox="1"/>
          <p:nvPr/>
        </p:nvSpPr>
        <p:spPr>
          <a:xfrm>
            <a:off x="8941489" y="3599576"/>
            <a:ext cx="337624" cy="646331"/>
          </a:xfrm>
          <a:prstGeom prst="rect">
            <a:avLst/>
          </a:prstGeom>
          <a:noFill/>
        </p:spPr>
        <p:txBody>
          <a:bodyPr wrap="square" rtlCol="0">
            <a:spAutoFit/>
          </a:bodyPr>
          <a:lstStyle/>
          <a:p>
            <a:r>
              <a:rPr lang="en-IN" sz="1200" dirty="0" smtClean="0"/>
              <a:t>.</a:t>
            </a:r>
          </a:p>
          <a:p>
            <a:r>
              <a:rPr lang="en-IN" sz="1200" dirty="0" smtClean="0"/>
              <a:t>.</a:t>
            </a:r>
          </a:p>
          <a:p>
            <a:r>
              <a:rPr lang="en-IN" sz="1200" dirty="0"/>
              <a:t>.</a:t>
            </a:r>
          </a:p>
        </p:txBody>
      </p:sp>
      <p:sp>
        <p:nvSpPr>
          <p:cNvPr id="181" name="TextBox 180"/>
          <p:cNvSpPr txBox="1"/>
          <p:nvPr/>
        </p:nvSpPr>
        <p:spPr>
          <a:xfrm>
            <a:off x="8358010" y="3767887"/>
            <a:ext cx="616173"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{C</a:t>
            </a:r>
            <a:r>
              <a:rPr lang="en-IN" sz="1400" baseline="-25000" dirty="0" smtClean="0">
                <a:latin typeface="Times New Roman" panose="02020603050405020304" pitchFamily="18" charset="0"/>
                <a:cs typeface="Times New Roman" panose="02020603050405020304" pitchFamily="18" charset="0"/>
              </a:rPr>
              <a:t>3j</a:t>
            </a:r>
            <a:r>
              <a:rPr lang="en-IN" sz="1400" dirty="0" smtClean="0">
                <a:latin typeface="Times New Roman" panose="02020603050405020304" pitchFamily="18" charset="0"/>
                <a:cs typeface="Times New Roman" panose="02020603050405020304" pitchFamily="18" charset="0"/>
              </a:rPr>
              <a:t>}</a:t>
            </a:r>
            <a:endParaRPr lang="en-IN" sz="1400" baseline="-25000" dirty="0">
              <a:latin typeface="Times New Roman" panose="02020603050405020304" pitchFamily="18" charset="0"/>
              <a:cs typeface="Times New Roman" panose="02020603050405020304" pitchFamily="18" charset="0"/>
            </a:endParaRPr>
          </a:p>
        </p:txBody>
      </p:sp>
      <p:cxnSp>
        <p:nvCxnSpPr>
          <p:cNvPr id="182" name="Straight Connector 181"/>
          <p:cNvCxnSpPr/>
          <p:nvPr/>
        </p:nvCxnSpPr>
        <p:spPr>
          <a:xfrm>
            <a:off x="9174479" y="3918858"/>
            <a:ext cx="16981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rot="5400000">
            <a:off x="9135290" y="3722916"/>
            <a:ext cx="39188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rot="5400000">
            <a:off x="10136778" y="3548743"/>
            <a:ext cx="496388" cy="1588"/>
          </a:xfrm>
          <a:prstGeom prst="line">
            <a:avLst/>
          </a:prstGeom>
        </p:spPr>
        <p:style>
          <a:lnRef idx="1">
            <a:schemeClr val="accent1"/>
          </a:lnRef>
          <a:fillRef idx="0">
            <a:schemeClr val="accent1"/>
          </a:fillRef>
          <a:effectRef idx="0">
            <a:schemeClr val="accent1"/>
          </a:effectRef>
          <a:fontRef idx="minor">
            <a:schemeClr val="tx1"/>
          </a:fontRef>
        </p:style>
      </p:cxnSp>
      <p:sp>
        <p:nvSpPr>
          <p:cNvPr id="185" name="TextBox 184"/>
          <p:cNvSpPr txBox="1"/>
          <p:nvPr/>
        </p:nvSpPr>
        <p:spPr>
          <a:xfrm>
            <a:off x="10169397" y="3220753"/>
            <a:ext cx="337624" cy="646331"/>
          </a:xfrm>
          <a:prstGeom prst="rect">
            <a:avLst/>
          </a:prstGeom>
          <a:noFill/>
        </p:spPr>
        <p:txBody>
          <a:bodyPr wrap="square" rtlCol="0">
            <a:spAutoFit/>
          </a:bodyPr>
          <a:lstStyle/>
          <a:p>
            <a:r>
              <a:rPr lang="en-IN" sz="1200" dirty="0" smtClean="0"/>
              <a:t>.</a:t>
            </a:r>
          </a:p>
          <a:p>
            <a:r>
              <a:rPr lang="en-IN" sz="1200" dirty="0" smtClean="0"/>
              <a:t>.</a:t>
            </a:r>
          </a:p>
          <a:p>
            <a:r>
              <a:rPr lang="en-IN" sz="1200" dirty="0"/>
              <a:t>.</a:t>
            </a:r>
          </a:p>
        </p:txBody>
      </p:sp>
      <p:sp>
        <p:nvSpPr>
          <p:cNvPr id="186" name="TextBox 185"/>
          <p:cNvSpPr txBox="1"/>
          <p:nvPr/>
        </p:nvSpPr>
        <p:spPr>
          <a:xfrm>
            <a:off x="9773150" y="3454378"/>
            <a:ext cx="576985"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{C</a:t>
            </a:r>
            <a:r>
              <a:rPr lang="en-IN" sz="1400" baseline="-25000" dirty="0" smtClean="0">
                <a:latin typeface="Times New Roman" panose="02020603050405020304" pitchFamily="18" charset="0"/>
                <a:cs typeface="Times New Roman" panose="02020603050405020304" pitchFamily="18" charset="0"/>
              </a:rPr>
              <a:t>4j</a:t>
            </a:r>
            <a:r>
              <a:rPr lang="en-IN" sz="1400" dirty="0" smtClean="0">
                <a:latin typeface="Times New Roman" panose="02020603050405020304" pitchFamily="18" charset="0"/>
                <a:cs typeface="Times New Roman" panose="02020603050405020304" pitchFamily="18" charset="0"/>
              </a:rPr>
              <a:t>}</a:t>
            </a:r>
            <a:endParaRPr lang="en-IN" sz="1400" baseline="-25000" dirty="0">
              <a:latin typeface="Times New Roman" panose="02020603050405020304" pitchFamily="18" charset="0"/>
              <a:cs typeface="Times New Roman" panose="02020603050405020304" pitchFamily="18" charset="0"/>
            </a:endParaRPr>
          </a:p>
        </p:txBody>
      </p:sp>
      <p:cxnSp>
        <p:nvCxnSpPr>
          <p:cNvPr id="187" name="Straight Connector 186"/>
          <p:cNvCxnSpPr/>
          <p:nvPr/>
        </p:nvCxnSpPr>
        <p:spPr>
          <a:xfrm rot="16200000" flipH="1">
            <a:off x="10211594" y="3636622"/>
            <a:ext cx="778623" cy="47104"/>
          </a:xfrm>
          <a:prstGeom prst="line">
            <a:avLst/>
          </a:prstGeom>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rot="16200000" flipH="1">
            <a:off x="11178245" y="3414554"/>
            <a:ext cx="295297" cy="79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0398033" y="3509555"/>
            <a:ext cx="16981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0" name="Straight Arrow Connector 189"/>
          <p:cNvCxnSpPr/>
          <p:nvPr/>
        </p:nvCxnSpPr>
        <p:spPr>
          <a:xfrm rot="10800000" flipV="1">
            <a:off x="10180321" y="3788228"/>
            <a:ext cx="235131" cy="130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1" name="Straight Arrow Connector 190"/>
          <p:cNvCxnSpPr/>
          <p:nvPr/>
        </p:nvCxnSpPr>
        <p:spPr>
          <a:xfrm rot="10800000" flipV="1">
            <a:off x="10149841" y="3300548"/>
            <a:ext cx="235131" cy="130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a:xfrm rot="5400000">
            <a:off x="8917578" y="3923212"/>
            <a:ext cx="496388"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3" name="Straight Arrow Connector 192"/>
          <p:cNvCxnSpPr/>
          <p:nvPr/>
        </p:nvCxnSpPr>
        <p:spPr>
          <a:xfrm rot="10800000" flipV="1">
            <a:off x="8934995" y="3653245"/>
            <a:ext cx="235131" cy="130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p:cNvCxnSpPr/>
          <p:nvPr/>
        </p:nvCxnSpPr>
        <p:spPr>
          <a:xfrm rot="10800000" flipV="1">
            <a:off x="8943703" y="4145279"/>
            <a:ext cx="235131" cy="130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a:xfrm>
            <a:off x="10820400" y="3553098"/>
            <a:ext cx="509451"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6" name="Straight Connector 195"/>
          <p:cNvCxnSpPr/>
          <p:nvPr/>
        </p:nvCxnSpPr>
        <p:spPr>
          <a:xfrm rot="5400000">
            <a:off x="11260184" y="3600995"/>
            <a:ext cx="496388"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7" name="Straight Arrow Connector 196"/>
          <p:cNvCxnSpPr/>
          <p:nvPr/>
        </p:nvCxnSpPr>
        <p:spPr>
          <a:xfrm>
            <a:off x="11508378" y="3339738"/>
            <a:ext cx="32657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p:cNvCxnSpPr/>
          <p:nvPr/>
        </p:nvCxnSpPr>
        <p:spPr>
          <a:xfrm>
            <a:off x="11504024" y="3844835"/>
            <a:ext cx="32657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9" name="TextBox 198"/>
          <p:cNvSpPr txBox="1"/>
          <p:nvPr/>
        </p:nvSpPr>
        <p:spPr>
          <a:xfrm>
            <a:off x="11540996" y="3246879"/>
            <a:ext cx="324432" cy="646331"/>
          </a:xfrm>
          <a:prstGeom prst="rect">
            <a:avLst/>
          </a:prstGeom>
          <a:noFill/>
        </p:spPr>
        <p:txBody>
          <a:bodyPr wrap="square" rtlCol="0">
            <a:spAutoFit/>
          </a:bodyPr>
          <a:lstStyle/>
          <a:p>
            <a:r>
              <a:rPr lang="en-IN" sz="1200" dirty="0" smtClean="0"/>
              <a:t>.</a:t>
            </a:r>
          </a:p>
          <a:p>
            <a:r>
              <a:rPr lang="en-IN" sz="1200" dirty="0" smtClean="0"/>
              <a:t>.</a:t>
            </a:r>
          </a:p>
          <a:p>
            <a:r>
              <a:rPr lang="en-IN" sz="1200" dirty="0"/>
              <a:t>.</a:t>
            </a:r>
          </a:p>
        </p:txBody>
      </p:sp>
      <p:sp>
        <p:nvSpPr>
          <p:cNvPr id="200" name="TextBox 199"/>
          <p:cNvSpPr txBox="1"/>
          <p:nvPr/>
        </p:nvSpPr>
        <p:spPr>
          <a:xfrm>
            <a:off x="11575827" y="3441314"/>
            <a:ext cx="616173"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{C</a:t>
            </a:r>
            <a:r>
              <a:rPr lang="en-IN" sz="1400" baseline="-25000" dirty="0" smtClean="0">
                <a:latin typeface="Times New Roman" panose="02020603050405020304" pitchFamily="18" charset="0"/>
                <a:cs typeface="Times New Roman" panose="02020603050405020304" pitchFamily="18" charset="0"/>
              </a:rPr>
              <a:t>5j</a:t>
            </a:r>
            <a:r>
              <a:rPr lang="en-IN" sz="1400" dirty="0" smtClean="0">
                <a:latin typeface="Times New Roman" panose="02020603050405020304" pitchFamily="18" charset="0"/>
                <a:cs typeface="Times New Roman" panose="02020603050405020304" pitchFamily="18" charset="0"/>
              </a:rPr>
              <a:t>}</a:t>
            </a:r>
            <a:endParaRPr lang="en-IN" sz="1400" baseline="-25000" dirty="0">
              <a:latin typeface="Times New Roman" panose="02020603050405020304" pitchFamily="18" charset="0"/>
              <a:cs typeface="Times New Roman" panose="02020603050405020304" pitchFamily="18" charset="0"/>
            </a:endParaRPr>
          </a:p>
        </p:txBody>
      </p:sp>
      <p:cxnSp>
        <p:nvCxnSpPr>
          <p:cNvPr id="201" name="Straight Connector 200"/>
          <p:cNvCxnSpPr>
            <a:stCxn id="155" idx="3"/>
          </p:cNvCxnSpPr>
          <p:nvPr/>
        </p:nvCxnSpPr>
        <p:spPr>
          <a:xfrm rot="16200000" flipH="1">
            <a:off x="10656030" y="4420693"/>
            <a:ext cx="141509" cy="4351"/>
          </a:xfrm>
          <a:prstGeom prst="line">
            <a:avLst/>
          </a:prstGeom>
        </p:spPr>
        <p:style>
          <a:lnRef idx="1">
            <a:schemeClr val="accent1"/>
          </a:lnRef>
          <a:fillRef idx="0">
            <a:schemeClr val="accent1"/>
          </a:fillRef>
          <a:effectRef idx="0">
            <a:schemeClr val="accent1"/>
          </a:effectRef>
          <a:fontRef idx="minor">
            <a:schemeClr val="tx1"/>
          </a:fontRef>
        </p:style>
      </p:cxnSp>
      <p:cxnSp>
        <p:nvCxnSpPr>
          <p:cNvPr id="202" name="Straight Connector 201"/>
          <p:cNvCxnSpPr/>
          <p:nvPr/>
        </p:nvCxnSpPr>
        <p:spPr>
          <a:xfrm rot="5400000">
            <a:off x="10763795" y="5077099"/>
            <a:ext cx="496388"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3" name="Straight Arrow Connector 202"/>
          <p:cNvCxnSpPr/>
          <p:nvPr/>
        </p:nvCxnSpPr>
        <p:spPr>
          <a:xfrm>
            <a:off x="11011989" y="4815842"/>
            <a:ext cx="32657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4" name="Straight Arrow Connector 203"/>
          <p:cNvCxnSpPr/>
          <p:nvPr/>
        </p:nvCxnSpPr>
        <p:spPr>
          <a:xfrm>
            <a:off x="11007635" y="5320939"/>
            <a:ext cx="32657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10870437" y="4709920"/>
            <a:ext cx="337624" cy="646331"/>
          </a:xfrm>
          <a:prstGeom prst="rect">
            <a:avLst/>
          </a:prstGeom>
          <a:noFill/>
        </p:spPr>
        <p:txBody>
          <a:bodyPr wrap="square" rtlCol="0">
            <a:spAutoFit/>
          </a:bodyPr>
          <a:lstStyle/>
          <a:p>
            <a:r>
              <a:rPr lang="en-IN" sz="1200" dirty="0" smtClean="0"/>
              <a:t>.</a:t>
            </a:r>
          </a:p>
          <a:p>
            <a:r>
              <a:rPr lang="en-IN" sz="1200" dirty="0" smtClean="0"/>
              <a:t>.</a:t>
            </a:r>
          </a:p>
          <a:p>
            <a:r>
              <a:rPr lang="en-IN" sz="1200" dirty="0"/>
              <a:t>.</a:t>
            </a:r>
          </a:p>
        </p:txBody>
      </p:sp>
      <p:sp>
        <p:nvSpPr>
          <p:cNvPr id="206" name="TextBox 205"/>
          <p:cNvSpPr txBox="1"/>
          <p:nvPr/>
        </p:nvSpPr>
        <p:spPr>
          <a:xfrm>
            <a:off x="11144752" y="4878230"/>
            <a:ext cx="629236"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{C</a:t>
            </a:r>
            <a:r>
              <a:rPr lang="en-IN" sz="1400" baseline="-25000" dirty="0" smtClean="0">
                <a:latin typeface="Times New Roman" panose="02020603050405020304" pitchFamily="18" charset="0"/>
                <a:cs typeface="Times New Roman" panose="02020603050405020304" pitchFamily="18" charset="0"/>
              </a:rPr>
              <a:t>6j</a:t>
            </a:r>
            <a:r>
              <a:rPr lang="en-IN" sz="1400" dirty="0" smtClean="0">
                <a:latin typeface="Times New Roman" panose="02020603050405020304" pitchFamily="18" charset="0"/>
                <a:cs typeface="Times New Roman" panose="02020603050405020304" pitchFamily="18" charset="0"/>
              </a:rPr>
              <a:t>}</a:t>
            </a:r>
            <a:endParaRPr lang="en-IN" sz="1400" baseline="-25000" dirty="0">
              <a:latin typeface="Times New Roman" panose="02020603050405020304" pitchFamily="18" charset="0"/>
              <a:cs typeface="Times New Roman" panose="02020603050405020304" pitchFamily="18" charset="0"/>
            </a:endParaRPr>
          </a:p>
        </p:txBody>
      </p:sp>
      <p:cxnSp>
        <p:nvCxnSpPr>
          <p:cNvPr id="207" name="Straight Arrow Connector 206"/>
          <p:cNvCxnSpPr/>
          <p:nvPr/>
        </p:nvCxnSpPr>
        <p:spPr>
          <a:xfrm rot="5400000">
            <a:off x="10547866" y="4970026"/>
            <a:ext cx="370897" cy="870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a:xfrm>
            <a:off x="10742022" y="4963886"/>
            <a:ext cx="261257" cy="1588"/>
          </a:xfrm>
          <a:prstGeom prst="line">
            <a:avLst/>
          </a:prstGeom>
        </p:spPr>
        <p:style>
          <a:lnRef idx="1">
            <a:schemeClr val="accent1"/>
          </a:lnRef>
          <a:fillRef idx="0">
            <a:schemeClr val="accent1"/>
          </a:fillRef>
          <a:effectRef idx="0">
            <a:schemeClr val="accent1"/>
          </a:effectRef>
          <a:fontRef idx="minor">
            <a:schemeClr val="tx1"/>
          </a:fontRef>
        </p:style>
      </p:cxnSp>
      <p:sp>
        <p:nvSpPr>
          <p:cNvPr id="209" name="TextBox 208"/>
          <p:cNvSpPr txBox="1"/>
          <p:nvPr/>
        </p:nvSpPr>
        <p:spPr>
          <a:xfrm>
            <a:off x="5403669" y="178526"/>
            <a:ext cx="5229498" cy="369332"/>
          </a:xfrm>
          <a:prstGeom prst="rect">
            <a:avLst/>
          </a:prstGeom>
          <a:noFill/>
        </p:spPr>
        <p:txBody>
          <a:bodyPr wrap="square" rtlCol="0">
            <a:spAutoFit/>
          </a:bodyPr>
          <a:lstStyle/>
          <a:p>
            <a:r>
              <a:rPr lang="en-IN" dirty="0" smtClean="0">
                <a:latin typeface="Times New Roman" pitchFamily="18" charset="0"/>
                <a:cs typeface="Times New Roman" pitchFamily="18" charset="0"/>
              </a:rPr>
              <a:t>Flow chart showing the control signals to be activated</a:t>
            </a:r>
            <a:endParaRPr lang="en-IN" dirty="0">
              <a:latin typeface="Times New Roman" pitchFamily="18" charset="0"/>
              <a:cs typeface="Times New Roman" pitchFamily="18" charset="0"/>
            </a:endParaRPr>
          </a:p>
        </p:txBody>
      </p:sp>
      <p:sp>
        <p:nvSpPr>
          <p:cNvPr id="210" name="TextBox 209"/>
          <p:cNvSpPr txBox="1"/>
          <p:nvPr/>
        </p:nvSpPr>
        <p:spPr>
          <a:xfrm>
            <a:off x="6640287" y="827314"/>
            <a:ext cx="2542902" cy="2031325"/>
          </a:xfrm>
          <a:prstGeom prst="rect">
            <a:avLst/>
          </a:prstGeom>
          <a:noFill/>
        </p:spPr>
        <p:txBody>
          <a:bodyPr wrap="square" rtlCol="0">
            <a:spAutoFit/>
          </a:bodyPr>
          <a:lstStyle/>
          <a:p>
            <a:pPr>
              <a:buFont typeface="Arial" pitchFamily="34" charset="0"/>
              <a:buChar char="•"/>
            </a:pPr>
            <a:r>
              <a:rPr lang="en-IN" dirty="0" smtClean="0">
                <a:latin typeface="Times New Roman" pitchFamily="18" charset="0"/>
                <a:cs typeface="Times New Roman" pitchFamily="18" charset="0"/>
              </a:rPr>
              <a:t>k lines in the flow chart that merges to a common line are transformed into a k input OR gate</a:t>
            </a:r>
          </a:p>
          <a:p>
            <a:pPr>
              <a:buFont typeface="Arial" pitchFamily="34" charset="0"/>
              <a:buChar char="•"/>
            </a:pPr>
            <a:r>
              <a:rPr lang="en-IN" dirty="0" smtClean="0">
                <a:latin typeface="Times New Roman" pitchFamily="18" charset="0"/>
                <a:cs typeface="Times New Roman" pitchFamily="18" charset="0"/>
              </a:rPr>
              <a:t>Implementation of decision box using AND gate</a:t>
            </a:r>
            <a:endParaRPr lang="en-IN" dirty="0">
              <a:latin typeface="Times New Roman" pitchFamily="18" charset="0"/>
              <a:cs typeface="Times New Roman" pitchFamily="18" charset="0"/>
            </a:endParaRPr>
          </a:p>
        </p:txBody>
      </p:sp>
      <p:cxnSp>
        <p:nvCxnSpPr>
          <p:cNvPr id="212" name="Straight Arrow Connector 211"/>
          <p:cNvCxnSpPr/>
          <p:nvPr/>
        </p:nvCxnSpPr>
        <p:spPr>
          <a:xfrm rot="5400000" flipH="1" flipV="1">
            <a:off x="5519057" y="1600200"/>
            <a:ext cx="1763486" cy="7053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4" name="Straight Arrow Connector 213"/>
          <p:cNvCxnSpPr/>
          <p:nvPr/>
        </p:nvCxnSpPr>
        <p:spPr>
          <a:xfrm rot="5400000" flipH="1" flipV="1">
            <a:off x="5924006" y="2318658"/>
            <a:ext cx="1058091" cy="67926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6" name="Straight Arrow Connector 215"/>
          <p:cNvCxnSpPr>
            <a:stCxn id="109" idx="0"/>
          </p:cNvCxnSpPr>
          <p:nvPr/>
        </p:nvCxnSpPr>
        <p:spPr>
          <a:xfrm rot="5400000" flipH="1" flipV="1">
            <a:off x="7041969" y="2657204"/>
            <a:ext cx="474616" cy="17634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Rectangle 140"/>
          <p:cNvSpPr/>
          <p:nvPr/>
        </p:nvSpPr>
        <p:spPr>
          <a:xfrm>
            <a:off x="1950848" y="627609"/>
            <a:ext cx="1406769" cy="8788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2" name="TextBox 141"/>
          <p:cNvSpPr txBox="1"/>
          <p:nvPr/>
        </p:nvSpPr>
        <p:spPr>
          <a:xfrm>
            <a:off x="1970272" y="658925"/>
            <a:ext cx="354918" cy="276999"/>
          </a:xfrm>
          <a:prstGeom prst="rect">
            <a:avLst/>
          </a:prstGeom>
          <a:noFill/>
        </p:spPr>
        <p:txBody>
          <a:bodyPr wrap="square" rtlCol="0">
            <a:spAutoFit/>
          </a:bodyPr>
          <a:lstStyle/>
          <a:p>
            <a:r>
              <a:rPr lang="en-IN" baseline="-25000" dirty="0" smtClean="0">
                <a:latin typeface="Times New Roman" panose="02020603050405020304" pitchFamily="18" charset="0"/>
                <a:cs typeface="Times New Roman" panose="02020603050405020304" pitchFamily="18" charset="0"/>
              </a:rPr>
              <a:t>S</a:t>
            </a:r>
            <a:endParaRPr lang="en-IN" baseline="-25000" dirty="0">
              <a:latin typeface="Times New Roman" panose="02020603050405020304" pitchFamily="18" charset="0"/>
              <a:cs typeface="Times New Roman" panose="02020603050405020304" pitchFamily="18" charset="0"/>
            </a:endParaRPr>
          </a:p>
        </p:txBody>
      </p:sp>
      <p:sp>
        <p:nvSpPr>
          <p:cNvPr id="143" name="TextBox 142"/>
          <p:cNvSpPr txBox="1"/>
          <p:nvPr/>
        </p:nvSpPr>
        <p:spPr>
          <a:xfrm>
            <a:off x="3050134" y="667634"/>
            <a:ext cx="293957" cy="276999"/>
          </a:xfrm>
          <a:prstGeom prst="rect">
            <a:avLst/>
          </a:prstGeom>
          <a:noFill/>
        </p:spPr>
        <p:txBody>
          <a:bodyPr wrap="square" rtlCol="0">
            <a:spAutoFit/>
          </a:bodyPr>
          <a:lstStyle/>
          <a:p>
            <a:r>
              <a:rPr lang="en-IN" baseline="-25000" dirty="0" smtClean="0">
                <a:latin typeface="Times New Roman" panose="02020603050405020304" pitchFamily="18" charset="0"/>
                <a:cs typeface="Times New Roman" panose="02020603050405020304" pitchFamily="18" charset="0"/>
              </a:rPr>
              <a:t>1</a:t>
            </a:r>
            <a:endParaRPr lang="en-IN" baseline="-25000" dirty="0">
              <a:latin typeface="Times New Roman" panose="02020603050405020304" pitchFamily="18" charset="0"/>
              <a:cs typeface="Times New Roman" panose="02020603050405020304" pitchFamily="18" charset="0"/>
            </a:endParaRPr>
          </a:p>
        </p:txBody>
      </p:sp>
      <p:sp>
        <p:nvSpPr>
          <p:cNvPr id="144" name="TextBox 143"/>
          <p:cNvSpPr txBox="1"/>
          <p:nvPr/>
        </p:nvSpPr>
        <p:spPr>
          <a:xfrm>
            <a:off x="1978980" y="1203211"/>
            <a:ext cx="354918" cy="276999"/>
          </a:xfrm>
          <a:prstGeom prst="rect">
            <a:avLst/>
          </a:prstGeom>
          <a:noFill/>
        </p:spPr>
        <p:txBody>
          <a:bodyPr wrap="square" rtlCol="0">
            <a:spAutoFit/>
          </a:bodyPr>
          <a:lstStyle/>
          <a:p>
            <a:r>
              <a:rPr lang="en-IN" baseline="-25000" dirty="0" smtClean="0">
                <a:latin typeface="Times New Roman" panose="02020603050405020304" pitchFamily="18" charset="0"/>
                <a:cs typeface="Times New Roman" panose="02020603050405020304" pitchFamily="18" charset="0"/>
              </a:rPr>
              <a:t>R</a:t>
            </a:r>
            <a:endParaRPr lang="en-IN" baseline="-25000" dirty="0">
              <a:latin typeface="Times New Roman" panose="02020603050405020304" pitchFamily="18" charset="0"/>
              <a:cs typeface="Times New Roman" panose="02020603050405020304" pitchFamily="18" charset="0"/>
            </a:endParaRPr>
          </a:p>
        </p:txBody>
      </p:sp>
      <p:sp>
        <p:nvSpPr>
          <p:cNvPr id="145" name="TextBox 144"/>
          <p:cNvSpPr txBox="1"/>
          <p:nvPr/>
        </p:nvSpPr>
        <p:spPr>
          <a:xfrm>
            <a:off x="3058842" y="1238046"/>
            <a:ext cx="293957" cy="276999"/>
          </a:xfrm>
          <a:prstGeom prst="rect">
            <a:avLst/>
          </a:prstGeom>
          <a:noFill/>
        </p:spPr>
        <p:txBody>
          <a:bodyPr wrap="square" rtlCol="0">
            <a:spAutoFit/>
          </a:bodyPr>
          <a:lstStyle/>
          <a:p>
            <a:r>
              <a:rPr lang="en-IN" baseline="-25000" dirty="0" smtClean="0">
                <a:latin typeface="Times New Roman" panose="02020603050405020304" pitchFamily="18" charset="0"/>
                <a:cs typeface="Times New Roman" panose="02020603050405020304" pitchFamily="18" charset="0"/>
              </a:rPr>
              <a:t>0</a:t>
            </a:r>
            <a:endParaRPr lang="en-IN" baseline="-25000" dirty="0">
              <a:latin typeface="Times New Roman" panose="02020603050405020304" pitchFamily="18" charset="0"/>
              <a:cs typeface="Times New Roman" panose="02020603050405020304" pitchFamily="18" charset="0"/>
            </a:endParaRPr>
          </a:p>
        </p:txBody>
      </p:sp>
      <p:sp>
        <p:nvSpPr>
          <p:cNvPr id="146" name="TextBox 145"/>
          <p:cNvSpPr txBox="1"/>
          <p:nvPr/>
        </p:nvSpPr>
        <p:spPr>
          <a:xfrm>
            <a:off x="2471014" y="911474"/>
            <a:ext cx="376689" cy="276999"/>
          </a:xfrm>
          <a:prstGeom prst="rect">
            <a:avLst/>
          </a:prstGeom>
          <a:noFill/>
        </p:spPr>
        <p:txBody>
          <a:bodyPr wrap="square" rtlCol="0">
            <a:spAutoFit/>
          </a:bodyPr>
          <a:lstStyle/>
          <a:p>
            <a:r>
              <a:rPr lang="en-IN" baseline="-25000" dirty="0" smtClean="0">
                <a:latin typeface="Times New Roman" panose="02020603050405020304" pitchFamily="18" charset="0"/>
                <a:cs typeface="Times New Roman" panose="02020603050405020304" pitchFamily="18" charset="0"/>
              </a:rPr>
              <a:t>FF</a:t>
            </a:r>
            <a:endParaRPr lang="en-IN" baseline="-25000" dirty="0">
              <a:latin typeface="Times New Roman" panose="02020603050405020304" pitchFamily="18" charset="0"/>
              <a:cs typeface="Times New Roman" panose="02020603050405020304" pitchFamily="18" charset="0"/>
            </a:endParaRPr>
          </a:p>
        </p:txBody>
      </p:sp>
      <p:sp>
        <p:nvSpPr>
          <p:cNvPr id="147" name="Rectangle 146"/>
          <p:cNvSpPr/>
          <p:nvPr/>
        </p:nvSpPr>
        <p:spPr>
          <a:xfrm>
            <a:off x="4467625" y="662443"/>
            <a:ext cx="1406769" cy="8788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8" name="TextBox 147"/>
          <p:cNvSpPr txBox="1"/>
          <p:nvPr/>
        </p:nvSpPr>
        <p:spPr>
          <a:xfrm>
            <a:off x="4556718" y="933246"/>
            <a:ext cx="1217064" cy="276999"/>
          </a:xfrm>
          <a:prstGeom prst="rect">
            <a:avLst/>
          </a:prstGeom>
          <a:noFill/>
        </p:spPr>
        <p:txBody>
          <a:bodyPr wrap="square" rtlCol="0">
            <a:spAutoFit/>
          </a:bodyPr>
          <a:lstStyle/>
          <a:p>
            <a:r>
              <a:rPr lang="en-IN" baseline="-25000" dirty="0" smtClean="0">
                <a:latin typeface="Times New Roman" panose="02020603050405020304" pitchFamily="18" charset="0"/>
                <a:cs typeface="Times New Roman" panose="02020603050405020304" pitchFamily="18" charset="0"/>
              </a:rPr>
              <a:t>Mod-k counter</a:t>
            </a:r>
            <a:endParaRPr lang="en-IN" baseline="-25000" dirty="0">
              <a:latin typeface="Times New Roman" panose="02020603050405020304" pitchFamily="18" charset="0"/>
              <a:cs typeface="Times New Roman" panose="02020603050405020304" pitchFamily="18" charset="0"/>
            </a:endParaRPr>
          </a:p>
        </p:txBody>
      </p:sp>
      <p:sp>
        <p:nvSpPr>
          <p:cNvPr id="149" name="Flowchart: Delay 148"/>
          <p:cNvSpPr/>
          <p:nvPr/>
        </p:nvSpPr>
        <p:spPr>
          <a:xfrm>
            <a:off x="3631475" y="561703"/>
            <a:ext cx="418012" cy="483325"/>
          </a:xfrm>
          <a:prstGeom prst="flowChartDelay">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0" name="Chevron 149"/>
          <p:cNvSpPr/>
          <p:nvPr/>
        </p:nvSpPr>
        <p:spPr>
          <a:xfrm>
            <a:off x="3526972" y="1227908"/>
            <a:ext cx="561703" cy="404949"/>
          </a:xfrm>
          <a:prstGeom prst="chevr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152" name="Straight Connector 151"/>
          <p:cNvCxnSpPr/>
          <p:nvPr/>
        </p:nvCxnSpPr>
        <p:spPr>
          <a:xfrm flipV="1">
            <a:off x="3344091" y="711926"/>
            <a:ext cx="287384" cy="27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flipV="1">
            <a:off x="3352799" y="1347651"/>
            <a:ext cx="287384" cy="27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5" name="Straight Connector 154"/>
          <p:cNvCxnSpPr/>
          <p:nvPr/>
        </p:nvCxnSpPr>
        <p:spPr>
          <a:xfrm flipV="1">
            <a:off x="1528354" y="1711234"/>
            <a:ext cx="1907177" cy="261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8" name="Straight Connector 157"/>
          <p:cNvCxnSpPr/>
          <p:nvPr/>
        </p:nvCxnSpPr>
        <p:spPr>
          <a:xfrm rot="5400000" flipH="1" flipV="1">
            <a:off x="3017520" y="1319349"/>
            <a:ext cx="80989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a:off x="3422468" y="914400"/>
            <a:ext cx="235132" cy="13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flipV="1">
            <a:off x="1576251" y="1915886"/>
            <a:ext cx="1907177" cy="261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rot="16200000" flipV="1">
            <a:off x="3255626" y="1701145"/>
            <a:ext cx="460757" cy="35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3500846" y="1463041"/>
            <a:ext cx="195943" cy="1588"/>
          </a:xfrm>
          <a:prstGeom prst="line">
            <a:avLst/>
          </a:prstGeom>
        </p:spPr>
        <p:style>
          <a:lnRef idx="1">
            <a:schemeClr val="accent1"/>
          </a:lnRef>
          <a:fillRef idx="0">
            <a:schemeClr val="accent1"/>
          </a:fillRef>
          <a:effectRef idx="0">
            <a:schemeClr val="accent1"/>
          </a:effectRef>
          <a:fontRef idx="minor">
            <a:schemeClr val="tx1"/>
          </a:fontRef>
        </p:style>
      </p:cxnSp>
      <p:sp>
        <p:nvSpPr>
          <p:cNvPr id="173" name="TextBox 172"/>
          <p:cNvSpPr txBox="1"/>
          <p:nvPr/>
        </p:nvSpPr>
        <p:spPr>
          <a:xfrm>
            <a:off x="1280161" y="574765"/>
            <a:ext cx="627016"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Begin</a:t>
            </a:r>
            <a:endParaRPr lang="en-IN" sz="1400" dirty="0">
              <a:latin typeface="Times New Roman" pitchFamily="18" charset="0"/>
              <a:cs typeface="Times New Roman" pitchFamily="18" charset="0"/>
            </a:endParaRPr>
          </a:p>
        </p:txBody>
      </p:sp>
      <p:sp>
        <p:nvSpPr>
          <p:cNvPr id="174" name="TextBox 173"/>
          <p:cNvSpPr txBox="1"/>
          <p:nvPr/>
        </p:nvSpPr>
        <p:spPr>
          <a:xfrm>
            <a:off x="1354185" y="1197428"/>
            <a:ext cx="487679"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End</a:t>
            </a:r>
            <a:endParaRPr lang="en-IN" sz="1400" dirty="0">
              <a:latin typeface="Times New Roman" pitchFamily="18" charset="0"/>
              <a:cs typeface="Times New Roman" pitchFamily="18" charset="0"/>
            </a:endParaRPr>
          </a:p>
        </p:txBody>
      </p:sp>
      <p:sp>
        <p:nvSpPr>
          <p:cNvPr id="175" name="TextBox 174"/>
          <p:cNvSpPr txBox="1"/>
          <p:nvPr/>
        </p:nvSpPr>
        <p:spPr>
          <a:xfrm>
            <a:off x="1145178" y="1510937"/>
            <a:ext cx="627016"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Clock</a:t>
            </a:r>
            <a:endParaRPr lang="en-IN" sz="1400" dirty="0">
              <a:latin typeface="Times New Roman" pitchFamily="18" charset="0"/>
              <a:cs typeface="Times New Roman" pitchFamily="18" charset="0"/>
            </a:endParaRPr>
          </a:p>
        </p:txBody>
      </p:sp>
      <p:sp>
        <p:nvSpPr>
          <p:cNvPr id="176" name="TextBox 175"/>
          <p:cNvSpPr txBox="1"/>
          <p:nvPr/>
        </p:nvSpPr>
        <p:spPr>
          <a:xfrm>
            <a:off x="1210493" y="1811384"/>
            <a:ext cx="627016"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Reset</a:t>
            </a:r>
            <a:endParaRPr lang="en-IN" sz="1400" dirty="0">
              <a:latin typeface="Times New Roman" pitchFamily="18" charset="0"/>
              <a:cs typeface="Times New Roman" pitchFamily="18" charset="0"/>
            </a:endParaRPr>
          </a:p>
        </p:txBody>
      </p:sp>
      <p:sp>
        <p:nvSpPr>
          <p:cNvPr id="177" name="TextBox 176"/>
          <p:cNvSpPr txBox="1"/>
          <p:nvPr/>
        </p:nvSpPr>
        <p:spPr>
          <a:xfrm>
            <a:off x="3923215" y="278674"/>
            <a:ext cx="661850" cy="523220"/>
          </a:xfrm>
          <a:prstGeom prst="rect">
            <a:avLst/>
          </a:prstGeom>
          <a:noFill/>
        </p:spPr>
        <p:txBody>
          <a:bodyPr wrap="square" rtlCol="0">
            <a:spAutoFit/>
          </a:bodyPr>
          <a:lstStyle/>
          <a:p>
            <a:r>
              <a:rPr lang="en-IN" sz="1400" dirty="0" smtClean="0">
                <a:latin typeface="Times New Roman" pitchFamily="18" charset="0"/>
                <a:cs typeface="Times New Roman" pitchFamily="18" charset="0"/>
              </a:rPr>
              <a:t>Count enable</a:t>
            </a:r>
            <a:endParaRPr lang="en-IN" sz="1400" dirty="0">
              <a:latin typeface="Times New Roman" pitchFamily="18" charset="0"/>
              <a:cs typeface="Times New Roman" pitchFamily="18" charset="0"/>
            </a:endParaRPr>
          </a:p>
        </p:txBody>
      </p:sp>
      <p:sp>
        <p:nvSpPr>
          <p:cNvPr id="178" name="TextBox 177"/>
          <p:cNvSpPr txBox="1"/>
          <p:nvPr/>
        </p:nvSpPr>
        <p:spPr>
          <a:xfrm>
            <a:off x="3931922" y="1371600"/>
            <a:ext cx="627016"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Reset</a:t>
            </a:r>
            <a:endParaRPr lang="en-IN" sz="1400" dirty="0">
              <a:latin typeface="Times New Roman" pitchFamily="18" charset="0"/>
              <a:cs typeface="Times New Roman" pitchFamily="18" charset="0"/>
            </a:endParaRPr>
          </a:p>
        </p:txBody>
      </p:sp>
      <p:cxnSp>
        <p:nvCxnSpPr>
          <p:cNvPr id="180" name="Straight Connector 179"/>
          <p:cNvCxnSpPr/>
          <p:nvPr/>
        </p:nvCxnSpPr>
        <p:spPr>
          <a:xfrm>
            <a:off x="4062549" y="770710"/>
            <a:ext cx="418011" cy="130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4084320" y="1419498"/>
            <a:ext cx="383177" cy="4353"/>
          </a:xfrm>
          <a:prstGeom prst="line">
            <a:avLst/>
          </a:prstGeom>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698171" y="796834"/>
            <a:ext cx="248195"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719942" y="1354182"/>
            <a:ext cx="248195" cy="1588"/>
          </a:xfrm>
          <a:prstGeom prst="line">
            <a:avLst/>
          </a:prstGeom>
        </p:spPr>
        <p:style>
          <a:lnRef idx="1">
            <a:schemeClr val="accent1"/>
          </a:lnRef>
          <a:fillRef idx="0">
            <a:schemeClr val="accent1"/>
          </a:fillRef>
          <a:effectRef idx="0">
            <a:schemeClr val="accent1"/>
          </a:effectRef>
          <a:fontRef idx="minor">
            <a:schemeClr val="tx1"/>
          </a:fontRef>
        </p:style>
      </p:cxnSp>
      <p:sp>
        <p:nvSpPr>
          <p:cNvPr id="187" name="Rectangle 186"/>
          <p:cNvSpPr/>
          <p:nvPr/>
        </p:nvSpPr>
        <p:spPr>
          <a:xfrm>
            <a:off x="3840481" y="1885998"/>
            <a:ext cx="2103120" cy="2693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8" name="TextBox 187"/>
          <p:cNvSpPr txBox="1"/>
          <p:nvPr/>
        </p:nvSpPr>
        <p:spPr>
          <a:xfrm>
            <a:off x="4578488" y="1895543"/>
            <a:ext cx="1038539" cy="276999"/>
          </a:xfrm>
          <a:prstGeom prst="rect">
            <a:avLst/>
          </a:prstGeom>
          <a:noFill/>
        </p:spPr>
        <p:txBody>
          <a:bodyPr wrap="square" rtlCol="0">
            <a:spAutoFit/>
          </a:bodyPr>
          <a:lstStyle/>
          <a:p>
            <a:r>
              <a:rPr lang="en-IN" baseline="-25000" dirty="0" smtClean="0">
                <a:latin typeface="Times New Roman" panose="02020603050405020304" pitchFamily="18" charset="0"/>
                <a:cs typeface="Times New Roman" panose="02020603050405020304" pitchFamily="18" charset="0"/>
              </a:rPr>
              <a:t>1/k decoder</a:t>
            </a:r>
            <a:endParaRPr lang="en-IN" baseline="-25000" dirty="0">
              <a:latin typeface="Times New Roman" panose="02020603050405020304" pitchFamily="18" charset="0"/>
              <a:cs typeface="Times New Roman" panose="02020603050405020304" pitchFamily="18" charset="0"/>
            </a:endParaRPr>
          </a:p>
        </p:txBody>
      </p:sp>
      <p:cxnSp>
        <p:nvCxnSpPr>
          <p:cNvPr id="190" name="Straight Arrow Connector 189"/>
          <p:cNvCxnSpPr>
            <a:stCxn id="178" idx="3"/>
          </p:cNvCxnSpPr>
          <p:nvPr/>
        </p:nvCxnSpPr>
        <p:spPr>
          <a:xfrm flipH="1">
            <a:off x="4558937" y="1525489"/>
            <a:ext cx="1" cy="3816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1" name="Straight Arrow Connector 190"/>
          <p:cNvCxnSpPr/>
          <p:nvPr/>
        </p:nvCxnSpPr>
        <p:spPr>
          <a:xfrm flipH="1">
            <a:off x="4711337" y="1534198"/>
            <a:ext cx="1" cy="3816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2" name="Straight Arrow Connector 191"/>
          <p:cNvCxnSpPr/>
          <p:nvPr/>
        </p:nvCxnSpPr>
        <p:spPr>
          <a:xfrm flipH="1">
            <a:off x="5765074" y="1516781"/>
            <a:ext cx="1" cy="3816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3" name="TextBox 192"/>
          <p:cNvSpPr txBox="1"/>
          <p:nvPr/>
        </p:nvSpPr>
        <p:spPr>
          <a:xfrm>
            <a:off x="4990011" y="1515292"/>
            <a:ext cx="483326" cy="369332"/>
          </a:xfrm>
          <a:prstGeom prst="rect">
            <a:avLst/>
          </a:prstGeom>
          <a:noFill/>
        </p:spPr>
        <p:txBody>
          <a:bodyPr wrap="square" rtlCol="0">
            <a:spAutoFit/>
          </a:bodyPr>
          <a:lstStyle/>
          <a:p>
            <a:r>
              <a:rPr lang="en-IN" dirty="0" smtClean="0"/>
              <a:t>. . .</a:t>
            </a:r>
            <a:endParaRPr lang="en-IN" dirty="0"/>
          </a:p>
        </p:txBody>
      </p:sp>
      <p:cxnSp>
        <p:nvCxnSpPr>
          <p:cNvPr id="195" name="Straight Connector 194"/>
          <p:cNvCxnSpPr/>
          <p:nvPr/>
        </p:nvCxnSpPr>
        <p:spPr>
          <a:xfrm rot="5400000">
            <a:off x="3540034" y="2638697"/>
            <a:ext cx="914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p:nvCxnSpPr>
        <p:spPr>
          <a:xfrm>
            <a:off x="5408022" y="2272937"/>
            <a:ext cx="20900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1" name="Straight Connector 200"/>
          <p:cNvCxnSpPr/>
          <p:nvPr/>
        </p:nvCxnSpPr>
        <p:spPr>
          <a:xfrm rot="16200000" flipH="1">
            <a:off x="5551713" y="2338250"/>
            <a:ext cx="169817" cy="13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a:xfrm>
            <a:off x="5416731" y="2412274"/>
            <a:ext cx="20900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a:xfrm rot="5400000">
            <a:off x="3730238" y="2527663"/>
            <a:ext cx="717668" cy="7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a:xfrm>
            <a:off x="4084320" y="2869475"/>
            <a:ext cx="20900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a:xfrm rot="5400000">
            <a:off x="4214948" y="2939143"/>
            <a:ext cx="174172" cy="8708"/>
          </a:xfrm>
          <a:prstGeom prst="line">
            <a:avLst/>
          </a:prstGeom>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a:xfrm>
            <a:off x="4093029" y="3008812"/>
            <a:ext cx="20900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13" name="Straight Connector 212"/>
          <p:cNvCxnSpPr/>
          <p:nvPr/>
        </p:nvCxnSpPr>
        <p:spPr>
          <a:xfrm rot="5400000">
            <a:off x="4062549" y="3056708"/>
            <a:ext cx="7837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15" name="Straight Connector 214"/>
          <p:cNvCxnSpPr/>
          <p:nvPr/>
        </p:nvCxnSpPr>
        <p:spPr>
          <a:xfrm rot="5400000">
            <a:off x="3914503" y="2608217"/>
            <a:ext cx="914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17" name="Straight Connector 216"/>
          <p:cNvCxnSpPr/>
          <p:nvPr/>
        </p:nvCxnSpPr>
        <p:spPr>
          <a:xfrm>
            <a:off x="4437017" y="2673532"/>
            <a:ext cx="20900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18" name="Straight Connector 217"/>
          <p:cNvCxnSpPr/>
          <p:nvPr/>
        </p:nvCxnSpPr>
        <p:spPr>
          <a:xfrm rot="16200000" flipH="1">
            <a:off x="4580708" y="2738845"/>
            <a:ext cx="169817" cy="13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219" name="Straight Connector 218"/>
          <p:cNvCxnSpPr/>
          <p:nvPr/>
        </p:nvCxnSpPr>
        <p:spPr>
          <a:xfrm>
            <a:off x="4445726" y="2812869"/>
            <a:ext cx="20900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26" name="Straight Connector 225"/>
          <p:cNvCxnSpPr/>
          <p:nvPr/>
        </p:nvCxnSpPr>
        <p:spPr>
          <a:xfrm rot="5400000">
            <a:off x="4187440" y="2423161"/>
            <a:ext cx="508657" cy="794"/>
          </a:xfrm>
          <a:prstGeom prst="line">
            <a:avLst/>
          </a:prstGeom>
        </p:spPr>
        <p:style>
          <a:lnRef idx="1">
            <a:schemeClr val="accent1"/>
          </a:lnRef>
          <a:fillRef idx="0">
            <a:schemeClr val="accent1"/>
          </a:fillRef>
          <a:effectRef idx="0">
            <a:schemeClr val="accent1"/>
          </a:effectRef>
          <a:fontRef idx="minor">
            <a:schemeClr val="tx1"/>
          </a:fontRef>
        </p:style>
      </p:cxnSp>
      <p:cxnSp>
        <p:nvCxnSpPr>
          <p:cNvPr id="231" name="Straight Connector 230"/>
          <p:cNvCxnSpPr/>
          <p:nvPr/>
        </p:nvCxnSpPr>
        <p:spPr>
          <a:xfrm rot="5400000">
            <a:off x="4304211" y="2945675"/>
            <a:ext cx="274320" cy="1588"/>
          </a:xfrm>
          <a:prstGeom prst="line">
            <a:avLst/>
          </a:prstGeom>
        </p:spPr>
        <p:style>
          <a:lnRef idx="1">
            <a:schemeClr val="accent1"/>
          </a:lnRef>
          <a:fillRef idx="0">
            <a:schemeClr val="accent1"/>
          </a:fillRef>
          <a:effectRef idx="0">
            <a:schemeClr val="accent1"/>
          </a:effectRef>
          <a:fontRef idx="minor">
            <a:schemeClr val="tx1"/>
          </a:fontRef>
        </p:style>
      </p:cxnSp>
      <p:sp>
        <p:nvSpPr>
          <p:cNvPr id="232" name="TextBox 231"/>
          <p:cNvSpPr txBox="1"/>
          <p:nvPr/>
        </p:nvSpPr>
        <p:spPr>
          <a:xfrm>
            <a:off x="4776652" y="2307771"/>
            <a:ext cx="483326" cy="369332"/>
          </a:xfrm>
          <a:prstGeom prst="rect">
            <a:avLst/>
          </a:prstGeom>
          <a:noFill/>
        </p:spPr>
        <p:txBody>
          <a:bodyPr wrap="square" rtlCol="0">
            <a:spAutoFit/>
          </a:bodyPr>
          <a:lstStyle/>
          <a:p>
            <a:r>
              <a:rPr lang="en-IN" dirty="0" smtClean="0"/>
              <a:t>. . .</a:t>
            </a:r>
            <a:endParaRPr lang="en-IN" dirty="0"/>
          </a:p>
        </p:txBody>
      </p:sp>
      <p:cxnSp>
        <p:nvCxnSpPr>
          <p:cNvPr id="233" name="Straight Connector 232"/>
          <p:cNvCxnSpPr/>
          <p:nvPr/>
        </p:nvCxnSpPr>
        <p:spPr>
          <a:xfrm rot="5400000">
            <a:off x="4855029" y="2621280"/>
            <a:ext cx="914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p:nvCxnSpPr>
        <p:spPr>
          <a:xfrm rot="5400000">
            <a:off x="5095307" y="2756264"/>
            <a:ext cx="678478" cy="7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41" name="Straight Connector 240"/>
          <p:cNvCxnSpPr/>
          <p:nvPr/>
        </p:nvCxnSpPr>
        <p:spPr>
          <a:xfrm rot="5400000" flipH="1" flipV="1">
            <a:off x="5355772" y="2220686"/>
            <a:ext cx="104503" cy="1588"/>
          </a:xfrm>
          <a:prstGeom prst="line">
            <a:avLst/>
          </a:prstGeom>
        </p:spPr>
        <p:style>
          <a:lnRef idx="1">
            <a:schemeClr val="accent1"/>
          </a:lnRef>
          <a:fillRef idx="0">
            <a:schemeClr val="accent1"/>
          </a:fillRef>
          <a:effectRef idx="0">
            <a:schemeClr val="accent1"/>
          </a:effectRef>
          <a:fontRef idx="minor">
            <a:schemeClr val="tx1"/>
          </a:fontRef>
        </p:style>
      </p:cxnSp>
      <p:sp>
        <p:nvSpPr>
          <p:cNvPr id="242" name="TextBox 241"/>
          <p:cNvSpPr txBox="1"/>
          <p:nvPr/>
        </p:nvSpPr>
        <p:spPr>
          <a:xfrm>
            <a:off x="3722913" y="2965268"/>
            <a:ext cx="431075"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a:t>
            </a:r>
            <a:r>
              <a:rPr lang="en-IN" sz="1400" baseline="-25000" dirty="0" smtClean="0">
                <a:latin typeface="Times New Roman" pitchFamily="18" charset="0"/>
                <a:cs typeface="Times New Roman" pitchFamily="18" charset="0"/>
                <a:sym typeface="Symbol"/>
              </a:rPr>
              <a:t>1</a:t>
            </a:r>
            <a:endParaRPr lang="en-IN" sz="1400" baseline="-25000" dirty="0">
              <a:latin typeface="Times New Roman" pitchFamily="18" charset="0"/>
              <a:cs typeface="Times New Roman" pitchFamily="18" charset="0"/>
            </a:endParaRPr>
          </a:p>
        </p:txBody>
      </p:sp>
      <p:sp>
        <p:nvSpPr>
          <p:cNvPr id="243" name="TextBox 242"/>
          <p:cNvSpPr txBox="1"/>
          <p:nvPr/>
        </p:nvSpPr>
        <p:spPr>
          <a:xfrm>
            <a:off x="4214947" y="2987040"/>
            <a:ext cx="431075"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a:t>
            </a:r>
            <a:r>
              <a:rPr lang="en-IN" sz="1400" baseline="-25000" dirty="0" smtClean="0">
                <a:latin typeface="Times New Roman" pitchFamily="18" charset="0"/>
                <a:cs typeface="Times New Roman" pitchFamily="18" charset="0"/>
                <a:sym typeface="Symbol"/>
              </a:rPr>
              <a:t>2</a:t>
            </a:r>
            <a:endParaRPr lang="en-IN" sz="1400" baseline="-25000" dirty="0">
              <a:latin typeface="Times New Roman" pitchFamily="18" charset="0"/>
              <a:cs typeface="Times New Roman" pitchFamily="18" charset="0"/>
            </a:endParaRPr>
          </a:p>
        </p:txBody>
      </p:sp>
      <p:sp>
        <p:nvSpPr>
          <p:cNvPr id="244" name="TextBox 243"/>
          <p:cNvSpPr txBox="1"/>
          <p:nvPr/>
        </p:nvSpPr>
        <p:spPr>
          <a:xfrm>
            <a:off x="5168536" y="2960914"/>
            <a:ext cx="431075"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a:t>
            </a:r>
            <a:r>
              <a:rPr lang="en-IN" sz="1400" baseline="-25000" dirty="0" smtClean="0">
                <a:latin typeface="Times New Roman" pitchFamily="18" charset="0"/>
                <a:cs typeface="Times New Roman" pitchFamily="18" charset="0"/>
                <a:sym typeface="Symbol"/>
              </a:rPr>
              <a:t>k</a:t>
            </a:r>
            <a:endParaRPr lang="en-IN" sz="1400" baseline="-25000" dirty="0">
              <a:latin typeface="Times New Roman" pitchFamily="18" charset="0"/>
              <a:cs typeface="Times New Roman" pitchFamily="18" charset="0"/>
            </a:endParaRPr>
          </a:p>
        </p:txBody>
      </p:sp>
      <p:sp>
        <p:nvSpPr>
          <p:cNvPr id="245" name="TextBox 244"/>
          <p:cNvSpPr txBox="1"/>
          <p:nvPr/>
        </p:nvSpPr>
        <p:spPr>
          <a:xfrm>
            <a:off x="169818" y="169816"/>
            <a:ext cx="2886891" cy="369332"/>
          </a:xfrm>
          <a:prstGeom prst="rect">
            <a:avLst/>
          </a:prstGeom>
          <a:noFill/>
        </p:spPr>
        <p:txBody>
          <a:bodyPr wrap="square" rtlCol="0">
            <a:spAutoFit/>
          </a:bodyPr>
          <a:lstStyle/>
          <a:p>
            <a:r>
              <a:rPr lang="en-IN" dirty="0" smtClean="0">
                <a:latin typeface="Times New Roman" pitchFamily="18" charset="0"/>
                <a:cs typeface="Times New Roman" pitchFamily="18" charset="0"/>
              </a:rPr>
              <a:t>3. Sequence counter method</a:t>
            </a:r>
            <a:endParaRPr lang="en-IN" dirty="0">
              <a:latin typeface="Times New Roman" pitchFamily="18" charset="0"/>
              <a:cs typeface="Times New Roman" pitchFamily="18" charset="0"/>
            </a:endParaRPr>
          </a:p>
        </p:txBody>
      </p:sp>
      <p:sp>
        <p:nvSpPr>
          <p:cNvPr id="246" name="TextBox 245"/>
          <p:cNvSpPr txBox="1"/>
          <p:nvPr/>
        </p:nvSpPr>
        <p:spPr>
          <a:xfrm>
            <a:off x="483326" y="3514303"/>
            <a:ext cx="10724605" cy="1477328"/>
          </a:xfrm>
          <a:prstGeom prst="rect">
            <a:avLst/>
          </a:prstGeom>
          <a:noFill/>
        </p:spPr>
        <p:txBody>
          <a:bodyPr wrap="square" rtlCol="0">
            <a:spAutoFit/>
          </a:bodyPr>
          <a:lstStyle/>
          <a:p>
            <a:r>
              <a:rPr lang="en-IN" dirty="0" smtClean="0">
                <a:latin typeface="Times New Roman" pitchFamily="18" charset="0"/>
                <a:cs typeface="Times New Roman" pitchFamily="18" charset="0"/>
              </a:rPr>
              <a:t>Begin=1, End=0, FF output = 1, Count enable = clock, counter goes on counting k clock pulses, for each count value one of the decoder output is high</a:t>
            </a:r>
          </a:p>
          <a:p>
            <a:r>
              <a:rPr lang="en-IN" dirty="0" smtClean="0">
                <a:latin typeface="Times New Roman" pitchFamily="18" charset="0"/>
                <a:cs typeface="Times New Roman" pitchFamily="18" charset="0"/>
              </a:rPr>
              <a:t>Counter count value = </a:t>
            </a:r>
            <a:r>
              <a:rPr lang="en-IN" dirty="0" err="1" smtClean="0">
                <a:latin typeface="Times New Roman" pitchFamily="18" charset="0"/>
                <a:cs typeface="Times New Roman" pitchFamily="18" charset="0"/>
              </a:rPr>
              <a:t>i</a:t>
            </a:r>
            <a:r>
              <a:rPr lang="en-IN" dirty="0" smtClean="0">
                <a:latin typeface="Times New Roman" pitchFamily="18" charset="0"/>
                <a:cs typeface="Times New Roman" pitchFamily="18" charset="0"/>
              </a:rPr>
              <a:t> at </a:t>
            </a:r>
            <a:r>
              <a:rPr lang="en-IN" dirty="0" err="1" smtClean="0">
                <a:latin typeface="Times New Roman" pitchFamily="18" charset="0"/>
                <a:cs typeface="Times New Roman" pitchFamily="18" charset="0"/>
              </a:rPr>
              <a:t>i</a:t>
            </a:r>
            <a:r>
              <a:rPr lang="en-IN" baseline="30000" dirty="0" err="1" smtClean="0">
                <a:latin typeface="Times New Roman" pitchFamily="18" charset="0"/>
                <a:cs typeface="Times New Roman" pitchFamily="18" charset="0"/>
              </a:rPr>
              <a:t>th</a:t>
            </a:r>
            <a:r>
              <a:rPr lang="en-IN" dirty="0" smtClean="0">
                <a:latin typeface="Times New Roman" pitchFamily="18" charset="0"/>
                <a:cs typeface="Times New Roman" pitchFamily="18" charset="0"/>
              </a:rPr>
              <a:t> clock pulse, </a:t>
            </a:r>
            <a:r>
              <a:rPr lang="en-IN" dirty="0" smtClean="0">
                <a:latin typeface="Times New Roman" pitchFamily="18" charset="0"/>
                <a:cs typeface="Times New Roman" pitchFamily="18" charset="0"/>
                <a:sym typeface="Symbol"/>
              </a:rPr>
              <a:t></a:t>
            </a:r>
            <a:r>
              <a:rPr lang="en-IN" baseline="-25000" dirty="0" smtClean="0">
                <a:latin typeface="Times New Roman" pitchFamily="18" charset="0"/>
                <a:cs typeface="Times New Roman" pitchFamily="18" charset="0"/>
                <a:sym typeface="Symbol"/>
              </a:rPr>
              <a:t>i</a:t>
            </a:r>
            <a:r>
              <a:rPr lang="en-IN" dirty="0" smtClean="0">
                <a:latin typeface="Times New Roman" pitchFamily="18" charset="0"/>
                <a:cs typeface="Times New Roman" pitchFamily="18" charset="0"/>
                <a:sym typeface="Symbol"/>
              </a:rPr>
              <a:t> phase signal at the decoder output is activated, </a:t>
            </a:r>
            <a:r>
              <a:rPr lang="en-IN" baseline="-25000" dirty="0" err="1" smtClean="0">
                <a:latin typeface="Times New Roman" pitchFamily="18" charset="0"/>
                <a:cs typeface="Times New Roman" pitchFamily="18" charset="0"/>
                <a:sym typeface="Symbol"/>
              </a:rPr>
              <a:t>i</a:t>
            </a:r>
            <a:r>
              <a:rPr lang="en-IN" baseline="-25000" dirty="0" smtClean="0">
                <a:latin typeface="Times New Roman" pitchFamily="18" charset="0"/>
                <a:cs typeface="Times New Roman" pitchFamily="18" charset="0"/>
                <a:sym typeface="Symbol"/>
              </a:rPr>
              <a:t> </a:t>
            </a:r>
            <a:r>
              <a:rPr lang="en-IN" dirty="0" smtClean="0">
                <a:latin typeface="Times New Roman" pitchFamily="18" charset="0"/>
                <a:cs typeface="Times New Roman" pitchFamily="18" charset="0"/>
                <a:sym typeface="Symbol"/>
              </a:rPr>
              <a:t>activates a set of control signals in step </a:t>
            </a:r>
            <a:r>
              <a:rPr lang="en-IN" dirty="0" err="1" smtClean="0">
                <a:latin typeface="Times New Roman" pitchFamily="18" charset="0"/>
                <a:cs typeface="Times New Roman" pitchFamily="18" charset="0"/>
                <a:sym typeface="Symbol"/>
              </a:rPr>
              <a:t>i</a:t>
            </a:r>
            <a:r>
              <a:rPr lang="en-IN" dirty="0" smtClean="0">
                <a:latin typeface="Times New Roman" pitchFamily="18" charset="0"/>
                <a:cs typeface="Times New Roman" pitchFamily="18" charset="0"/>
                <a:sym typeface="Symbol"/>
              </a:rPr>
              <a:t> of every instruction cycle</a:t>
            </a:r>
          </a:p>
          <a:p>
            <a:r>
              <a:rPr lang="en-IN" dirty="0" smtClean="0">
                <a:latin typeface="Times New Roman" pitchFamily="18" charset="0"/>
                <a:cs typeface="Times New Roman" pitchFamily="18" charset="0"/>
                <a:sym typeface="Symbol"/>
              </a:rPr>
              <a:t>A pulse at the end line disconnects clock and resets the counter</a:t>
            </a:r>
            <a:endParaRPr lang="en-IN" dirty="0">
              <a:latin typeface="Times New Roman" pitchFamily="18" charset="0"/>
              <a:cs typeface="Times New Roman" pitchFamily="18" charset="0"/>
            </a:endParaRPr>
          </a:p>
        </p:txBody>
      </p:sp>
      <p:sp>
        <p:nvSpPr>
          <p:cNvPr id="247" name="Rectangle 246"/>
          <p:cNvSpPr/>
          <p:nvPr/>
        </p:nvSpPr>
        <p:spPr>
          <a:xfrm>
            <a:off x="10158677" y="449084"/>
            <a:ext cx="1406769" cy="8788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8" name="TextBox 247"/>
          <p:cNvSpPr txBox="1"/>
          <p:nvPr/>
        </p:nvSpPr>
        <p:spPr>
          <a:xfrm>
            <a:off x="10404524" y="510881"/>
            <a:ext cx="920973" cy="738664"/>
          </a:xfrm>
          <a:prstGeom prst="rect">
            <a:avLst/>
          </a:prstGeom>
          <a:noFill/>
        </p:spPr>
        <p:txBody>
          <a:bodyPr wrap="square" rtlCol="0">
            <a:spAutoFit/>
          </a:bodyPr>
          <a:lstStyle/>
          <a:p>
            <a:r>
              <a:rPr lang="en-IN" sz="1400" dirty="0" smtClean="0">
                <a:latin typeface="Times New Roman" pitchFamily="18" charset="0"/>
                <a:cs typeface="Times New Roman" pitchFamily="18" charset="0"/>
              </a:rPr>
              <a:t>Mod-16  sequence counter</a:t>
            </a:r>
            <a:endParaRPr lang="en-IN" sz="1400" dirty="0">
              <a:latin typeface="Times New Roman" pitchFamily="18" charset="0"/>
              <a:cs typeface="Times New Roman" pitchFamily="18" charset="0"/>
            </a:endParaRPr>
          </a:p>
        </p:txBody>
      </p:sp>
      <p:sp>
        <p:nvSpPr>
          <p:cNvPr id="249" name="TextBox 248"/>
          <p:cNvSpPr txBox="1"/>
          <p:nvPr/>
        </p:nvSpPr>
        <p:spPr>
          <a:xfrm>
            <a:off x="9622974" y="1158241"/>
            <a:ext cx="627016"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Reset</a:t>
            </a:r>
            <a:endParaRPr lang="en-IN" sz="1400" dirty="0">
              <a:latin typeface="Times New Roman" pitchFamily="18" charset="0"/>
              <a:cs typeface="Times New Roman" pitchFamily="18" charset="0"/>
            </a:endParaRPr>
          </a:p>
        </p:txBody>
      </p:sp>
      <p:cxnSp>
        <p:nvCxnSpPr>
          <p:cNvPr id="250" name="Straight Connector 249"/>
          <p:cNvCxnSpPr/>
          <p:nvPr/>
        </p:nvCxnSpPr>
        <p:spPr>
          <a:xfrm>
            <a:off x="9753601" y="557351"/>
            <a:ext cx="418011" cy="13061"/>
          </a:xfrm>
          <a:prstGeom prst="line">
            <a:avLst/>
          </a:prstGeom>
        </p:spPr>
        <p:style>
          <a:lnRef idx="1">
            <a:schemeClr val="accent1"/>
          </a:lnRef>
          <a:fillRef idx="0">
            <a:schemeClr val="accent1"/>
          </a:fillRef>
          <a:effectRef idx="0">
            <a:schemeClr val="accent1"/>
          </a:effectRef>
          <a:fontRef idx="minor">
            <a:schemeClr val="tx1"/>
          </a:fontRef>
        </p:style>
      </p:cxnSp>
      <p:cxnSp>
        <p:nvCxnSpPr>
          <p:cNvPr id="251" name="Straight Connector 250"/>
          <p:cNvCxnSpPr/>
          <p:nvPr/>
        </p:nvCxnSpPr>
        <p:spPr>
          <a:xfrm>
            <a:off x="9775372" y="1206139"/>
            <a:ext cx="383177" cy="4353"/>
          </a:xfrm>
          <a:prstGeom prst="line">
            <a:avLst/>
          </a:prstGeom>
        </p:spPr>
        <p:style>
          <a:lnRef idx="1">
            <a:schemeClr val="accent1"/>
          </a:lnRef>
          <a:fillRef idx="0">
            <a:schemeClr val="accent1"/>
          </a:fillRef>
          <a:effectRef idx="0">
            <a:schemeClr val="accent1"/>
          </a:effectRef>
          <a:fontRef idx="minor">
            <a:schemeClr val="tx1"/>
          </a:fontRef>
        </p:style>
      </p:cxnSp>
      <p:sp>
        <p:nvSpPr>
          <p:cNvPr id="252" name="Rectangle 251"/>
          <p:cNvSpPr/>
          <p:nvPr/>
        </p:nvSpPr>
        <p:spPr>
          <a:xfrm>
            <a:off x="9531533" y="1672639"/>
            <a:ext cx="2103120" cy="2693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3" name="TextBox 252"/>
          <p:cNvSpPr txBox="1"/>
          <p:nvPr/>
        </p:nvSpPr>
        <p:spPr>
          <a:xfrm>
            <a:off x="9836332" y="1682184"/>
            <a:ext cx="1471747" cy="276999"/>
          </a:xfrm>
          <a:prstGeom prst="rect">
            <a:avLst/>
          </a:prstGeom>
          <a:noFill/>
        </p:spPr>
        <p:txBody>
          <a:bodyPr wrap="square" rtlCol="0">
            <a:spAutoFit/>
          </a:bodyPr>
          <a:lstStyle/>
          <a:p>
            <a:r>
              <a:rPr lang="en-IN" baseline="-25000" dirty="0" smtClean="0">
                <a:latin typeface="Times New Roman" panose="02020603050405020304" pitchFamily="18" charset="0"/>
                <a:cs typeface="Times New Roman" panose="02020603050405020304" pitchFamily="18" charset="0"/>
              </a:rPr>
              <a:t>4 to 16 decoder</a:t>
            </a:r>
            <a:endParaRPr lang="en-IN" baseline="-25000" dirty="0">
              <a:latin typeface="Times New Roman" panose="02020603050405020304" pitchFamily="18" charset="0"/>
              <a:cs typeface="Times New Roman" panose="02020603050405020304" pitchFamily="18" charset="0"/>
            </a:endParaRPr>
          </a:p>
        </p:txBody>
      </p:sp>
      <p:cxnSp>
        <p:nvCxnSpPr>
          <p:cNvPr id="254" name="Straight Arrow Connector 253"/>
          <p:cNvCxnSpPr/>
          <p:nvPr/>
        </p:nvCxnSpPr>
        <p:spPr>
          <a:xfrm flipH="1">
            <a:off x="10406743" y="1312130"/>
            <a:ext cx="1" cy="3816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5" name="Straight Arrow Connector 254"/>
          <p:cNvCxnSpPr/>
          <p:nvPr/>
        </p:nvCxnSpPr>
        <p:spPr>
          <a:xfrm flipH="1">
            <a:off x="10676709" y="1320839"/>
            <a:ext cx="1" cy="3816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6" name="Straight Arrow Connector 255"/>
          <p:cNvCxnSpPr/>
          <p:nvPr/>
        </p:nvCxnSpPr>
        <p:spPr>
          <a:xfrm flipH="1">
            <a:off x="11456126" y="1303422"/>
            <a:ext cx="1" cy="3816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8" name="Straight Connector 257"/>
          <p:cNvCxnSpPr/>
          <p:nvPr/>
        </p:nvCxnSpPr>
        <p:spPr>
          <a:xfrm rot="5400000">
            <a:off x="9231086" y="2425338"/>
            <a:ext cx="914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p:nvCxnSpPr>
        <p:spPr>
          <a:xfrm>
            <a:off x="11099074" y="2059578"/>
            <a:ext cx="20900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60" name="Straight Connector 259"/>
          <p:cNvCxnSpPr/>
          <p:nvPr/>
        </p:nvCxnSpPr>
        <p:spPr>
          <a:xfrm rot="16200000" flipH="1">
            <a:off x="11242765" y="2124891"/>
            <a:ext cx="169817" cy="13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261" name="Straight Connector 260"/>
          <p:cNvCxnSpPr/>
          <p:nvPr/>
        </p:nvCxnSpPr>
        <p:spPr>
          <a:xfrm>
            <a:off x="11107783" y="2198915"/>
            <a:ext cx="20900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62" name="Straight Connector 261"/>
          <p:cNvCxnSpPr/>
          <p:nvPr/>
        </p:nvCxnSpPr>
        <p:spPr>
          <a:xfrm rot="5400000">
            <a:off x="9421290" y="2314304"/>
            <a:ext cx="717668" cy="7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63" name="Straight Connector 262"/>
          <p:cNvCxnSpPr/>
          <p:nvPr/>
        </p:nvCxnSpPr>
        <p:spPr>
          <a:xfrm>
            <a:off x="9775372" y="2656116"/>
            <a:ext cx="20900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p:nvCxnSpPr>
        <p:spPr>
          <a:xfrm rot="5400000">
            <a:off x="9906000" y="2725784"/>
            <a:ext cx="174172" cy="8708"/>
          </a:xfrm>
          <a:prstGeom prst="line">
            <a:avLst/>
          </a:prstGeom>
        </p:spPr>
        <p:style>
          <a:lnRef idx="1">
            <a:schemeClr val="accent1"/>
          </a:lnRef>
          <a:fillRef idx="0">
            <a:schemeClr val="accent1"/>
          </a:fillRef>
          <a:effectRef idx="0">
            <a:schemeClr val="accent1"/>
          </a:effectRef>
          <a:fontRef idx="minor">
            <a:schemeClr val="tx1"/>
          </a:fontRef>
        </p:style>
      </p:cxnSp>
      <p:cxnSp>
        <p:nvCxnSpPr>
          <p:cNvPr id="265" name="Straight Connector 264"/>
          <p:cNvCxnSpPr/>
          <p:nvPr/>
        </p:nvCxnSpPr>
        <p:spPr>
          <a:xfrm>
            <a:off x="9784081" y="2795453"/>
            <a:ext cx="20900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66" name="Straight Connector 265"/>
          <p:cNvCxnSpPr/>
          <p:nvPr/>
        </p:nvCxnSpPr>
        <p:spPr>
          <a:xfrm rot="5400000">
            <a:off x="9753601" y="2843349"/>
            <a:ext cx="7837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67" name="Straight Connector 266"/>
          <p:cNvCxnSpPr/>
          <p:nvPr/>
        </p:nvCxnSpPr>
        <p:spPr>
          <a:xfrm rot="5400000">
            <a:off x="9605555" y="2394858"/>
            <a:ext cx="914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68" name="Straight Connector 267"/>
          <p:cNvCxnSpPr/>
          <p:nvPr/>
        </p:nvCxnSpPr>
        <p:spPr>
          <a:xfrm>
            <a:off x="10128069" y="2460173"/>
            <a:ext cx="20900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69" name="Straight Connector 268"/>
          <p:cNvCxnSpPr/>
          <p:nvPr/>
        </p:nvCxnSpPr>
        <p:spPr>
          <a:xfrm rot="16200000" flipH="1">
            <a:off x="10271760" y="2525486"/>
            <a:ext cx="169817" cy="13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a:off x="10136778" y="2599510"/>
            <a:ext cx="20900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rot="5400000">
            <a:off x="9878492" y="2209802"/>
            <a:ext cx="508657" cy="794"/>
          </a:xfrm>
          <a:prstGeom prst="line">
            <a:avLst/>
          </a:prstGeom>
        </p:spPr>
        <p:style>
          <a:lnRef idx="1">
            <a:schemeClr val="accent1"/>
          </a:lnRef>
          <a:fillRef idx="0">
            <a:schemeClr val="accent1"/>
          </a:fillRef>
          <a:effectRef idx="0">
            <a:schemeClr val="accent1"/>
          </a:effectRef>
          <a:fontRef idx="minor">
            <a:schemeClr val="tx1"/>
          </a:fontRef>
        </p:style>
      </p:cxnSp>
      <p:cxnSp>
        <p:nvCxnSpPr>
          <p:cNvPr id="272" name="Straight Connector 271"/>
          <p:cNvCxnSpPr/>
          <p:nvPr/>
        </p:nvCxnSpPr>
        <p:spPr>
          <a:xfrm rot="5400000">
            <a:off x="9995263" y="2732316"/>
            <a:ext cx="274320" cy="1588"/>
          </a:xfrm>
          <a:prstGeom prst="line">
            <a:avLst/>
          </a:prstGeom>
        </p:spPr>
        <p:style>
          <a:lnRef idx="1">
            <a:schemeClr val="accent1"/>
          </a:lnRef>
          <a:fillRef idx="0">
            <a:schemeClr val="accent1"/>
          </a:fillRef>
          <a:effectRef idx="0">
            <a:schemeClr val="accent1"/>
          </a:effectRef>
          <a:fontRef idx="minor">
            <a:schemeClr val="tx1"/>
          </a:fontRef>
        </p:style>
      </p:cxnSp>
      <p:sp>
        <p:nvSpPr>
          <p:cNvPr id="273" name="TextBox 272"/>
          <p:cNvSpPr txBox="1"/>
          <p:nvPr/>
        </p:nvSpPr>
        <p:spPr>
          <a:xfrm>
            <a:off x="10467704" y="2094412"/>
            <a:ext cx="483326" cy="369332"/>
          </a:xfrm>
          <a:prstGeom prst="rect">
            <a:avLst/>
          </a:prstGeom>
          <a:noFill/>
        </p:spPr>
        <p:txBody>
          <a:bodyPr wrap="square" rtlCol="0">
            <a:spAutoFit/>
          </a:bodyPr>
          <a:lstStyle/>
          <a:p>
            <a:r>
              <a:rPr lang="en-IN" dirty="0" smtClean="0"/>
              <a:t>. . .</a:t>
            </a:r>
            <a:endParaRPr lang="en-IN" dirty="0"/>
          </a:p>
        </p:txBody>
      </p:sp>
      <p:cxnSp>
        <p:nvCxnSpPr>
          <p:cNvPr id="274" name="Straight Connector 273"/>
          <p:cNvCxnSpPr/>
          <p:nvPr/>
        </p:nvCxnSpPr>
        <p:spPr>
          <a:xfrm rot="5400000">
            <a:off x="10546081" y="2407921"/>
            <a:ext cx="914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rot="5400000">
            <a:off x="10786359" y="2542905"/>
            <a:ext cx="678478" cy="7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76" name="Straight Connector 275"/>
          <p:cNvCxnSpPr/>
          <p:nvPr/>
        </p:nvCxnSpPr>
        <p:spPr>
          <a:xfrm rot="5400000" flipH="1" flipV="1">
            <a:off x="11046824" y="2007327"/>
            <a:ext cx="104503" cy="1588"/>
          </a:xfrm>
          <a:prstGeom prst="line">
            <a:avLst/>
          </a:prstGeom>
        </p:spPr>
        <p:style>
          <a:lnRef idx="1">
            <a:schemeClr val="accent1"/>
          </a:lnRef>
          <a:fillRef idx="0">
            <a:schemeClr val="accent1"/>
          </a:fillRef>
          <a:effectRef idx="0">
            <a:schemeClr val="accent1"/>
          </a:effectRef>
          <a:fontRef idx="minor">
            <a:schemeClr val="tx1"/>
          </a:fontRef>
        </p:style>
      </p:cxnSp>
      <p:sp>
        <p:nvSpPr>
          <p:cNvPr id="277" name="TextBox 276"/>
          <p:cNvSpPr txBox="1"/>
          <p:nvPr/>
        </p:nvSpPr>
        <p:spPr>
          <a:xfrm>
            <a:off x="9453152" y="2830286"/>
            <a:ext cx="431075"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a:t>
            </a:r>
            <a:r>
              <a:rPr lang="en-IN" sz="1400" baseline="-25000" dirty="0" smtClean="0">
                <a:latin typeface="Times New Roman" pitchFamily="18" charset="0"/>
                <a:cs typeface="Times New Roman" pitchFamily="18" charset="0"/>
                <a:sym typeface="Symbol"/>
              </a:rPr>
              <a:t>0</a:t>
            </a:r>
            <a:endParaRPr lang="en-IN" sz="1400" baseline="-25000" dirty="0">
              <a:latin typeface="Times New Roman" pitchFamily="18" charset="0"/>
              <a:cs typeface="Times New Roman" pitchFamily="18" charset="0"/>
            </a:endParaRPr>
          </a:p>
        </p:txBody>
      </p:sp>
      <p:sp>
        <p:nvSpPr>
          <p:cNvPr id="278" name="TextBox 277"/>
          <p:cNvSpPr txBox="1"/>
          <p:nvPr/>
        </p:nvSpPr>
        <p:spPr>
          <a:xfrm>
            <a:off x="9905999" y="2773681"/>
            <a:ext cx="431075"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a:t>
            </a:r>
            <a:r>
              <a:rPr lang="en-IN" sz="1400" baseline="-25000" dirty="0" smtClean="0">
                <a:latin typeface="Times New Roman" pitchFamily="18" charset="0"/>
                <a:cs typeface="Times New Roman" pitchFamily="18" charset="0"/>
                <a:sym typeface="Symbol"/>
              </a:rPr>
              <a:t>1</a:t>
            </a:r>
            <a:endParaRPr lang="en-IN" sz="1400" baseline="-25000" dirty="0">
              <a:latin typeface="Times New Roman" pitchFamily="18" charset="0"/>
              <a:cs typeface="Times New Roman" pitchFamily="18" charset="0"/>
            </a:endParaRPr>
          </a:p>
        </p:txBody>
      </p:sp>
      <p:sp>
        <p:nvSpPr>
          <p:cNvPr id="279" name="TextBox 278"/>
          <p:cNvSpPr txBox="1"/>
          <p:nvPr/>
        </p:nvSpPr>
        <p:spPr>
          <a:xfrm>
            <a:off x="10859588" y="2747555"/>
            <a:ext cx="505098"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a:t>
            </a:r>
            <a:r>
              <a:rPr lang="en-IN" sz="1400" baseline="-25000" dirty="0" smtClean="0">
                <a:latin typeface="Times New Roman" pitchFamily="18" charset="0"/>
                <a:cs typeface="Times New Roman" pitchFamily="18" charset="0"/>
                <a:sym typeface="Symbol"/>
              </a:rPr>
              <a:t>15</a:t>
            </a:r>
            <a:endParaRPr lang="en-IN" sz="1400" baseline="-25000" dirty="0">
              <a:latin typeface="Times New Roman" pitchFamily="18" charset="0"/>
              <a:cs typeface="Times New Roman" pitchFamily="18" charset="0"/>
            </a:endParaRPr>
          </a:p>
        </p:txBody>
      </p:sp>
      <p:sp>
        <p:nvSpPr>
          <p:cNvPr id="280" name="TextBox 279"/>
          <p:cNvSpPr txBox="1"/>
          <p:nvPr/>
        </p:nvSpPr>
        <p:spPr>
          <a:xfrm>
            <a:off x="9435738" y="291738"/>
            <a:ext cx="627016"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Clock</a:t>
            </a:r>
            <a:endParaRPr lang="en-IN" sz="1400" dirty="0">
              <a:latin typeface="Times New Roman" pitchFamily="18" charset="0"/>
              <a:cs typeface="Times New Roman" pitchFamily="18" charset="0"/>
            </a:endParaRPr>
          </a:p>
        </p:txBody>
      </p:sp>
      <p:cxnSp>
        <p:nvCxnSpPr>
          <p:cNvPr id="281" name="Straight Arrow Connector 280"/>
          <p:cNvCxnSpPr/>
          <p:nvPr/>
        </p:nvCxnSpPr>
        <p:spPr>
          <a:xfrm flipH="1">
            <a:off x="10990217" y="1294713"/>
            <a:ext cx="1" cy="3816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60078" y="1007270"/>
            <a:ext cx="1469613" cy="276999"/>
          </a:xfrm>
          <a:prstGeom prst="rect">
            <a:avLst/>
          </a:prstGeom>
          <a:noFill/>
        </p:spPr>
        <p:txBody>
          <a:bodyPr wrap="square" rtlCol="0">
            <a:spAutoFit/>
          </a:bodyPr>
          <a:lstStyle/>
          <a:p>
            <a:r>
              <a:rPr lang="en-IN" baseline="-25000" dirty="0" smtClean="0">
                <a:latin typeface="Times New Roman" panose="02020603050405020304" pitchFamily="18" charset="0"/>
                <a:cs typeface="Times New Roman" panose="02020603050405020304" pitchFamily="18" charset="0"/>
              </a:rPr>
              <a:t>Transfer PC to MAR</a:t>
            </a:r>
            <a:endParaRPr lang="en-IN" baseline="-25000" dirty="0">
              <a:latin typeface="Times New Roman" panose="02020603050405020304" pitchFamily="18" charset="0"/>
              <a:cs typeface="Times New Roman" panose="02020603050405020304" pitchFamily="18" charset="0"/>
            </a:endParaRPr>
          </a:p>
        </p:txBody>
      </p:sp>
      <p:sp>
        <p:nvSpPr>
          <p:cNvPr id="4" name="Rectangle 3"/>
          <p:cNvSpPr/>
          <p:nvPr/>
        </p:nvSpPr>
        <p:spPr>
          <a:xfrm>
            <a:off x="918756" y="1054330"/>
            <a:ext cx="1497873" cy="23889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p:cNvSpPr txBox="1"/>
          <p:nvPr/>
        </p:nvSpPr>
        <p:spPr>
          <a:xfrm>
            <a:off x="798968" y="1656057"/>
            <a:ext cx="1878918" cy="276999"/>
          </a:xfrm>
          <a:prstGeom prst="rect">
            <a:avLst/>
          </a:prstGeom>
          <a:noFill/>
        </p:spPr>
        <p:txBody>
          <a:bodyPr wrap="square" rtlCol="0">
            <a:spAutoFit/>
          </a:bodyPr>
          <a:lstStyle/>
          <a:p>
            <a:r>
              <a:rPr lang="en-IN" baseline="-25000" dirty="0" smtClean="0">
                <a:latin typeface="Times New Roman" panose="02020603050405020304" pitchFamily="18" charset="0"/>
                <a:cs typeface="Times New Roman" panose="02020603050405020304" pitchFamily="18" charset="0"/>
              </a:rPr>
              <a:t>Fetch instruction from MM</a:t>
            </a:r>
            <a:endParaRPr lang="en-IN" baseline="-25000" dirty="0">
              <a:latin typeface="Times New Roman" panose="02020603050405020304" pitchFamily="18" charset="0"/>
              <a:cs typeface="Times New Roman" panose="02020603050405020304" pitchFamily="18" charset="0"/>
            </a:endParaRPr>
          </a:p>
        </p:txBody>
      </p:sp>
      <p:sp>
        <p:nvSpPr>
          <p:cNvPr id="6" name="Rectangle 5"/>
          <p:cNvSpPr/>
          <p:nvPr/>
        </p:nvSpPr>
        <p:spPr>
          <a:xfrm>
            <a:off x="809898" y="1624741"/>
            <a:ext cx="1881051" cy="3346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p:cNvSpPr txBox="1"/>
          <p:nvPr/>
        </p:nvSpPr>
        <p:spPr>
          <a:xfrm>
            <a:off x="877347" y="2230825"/>
            <a:ext cx="1578470" cy="523220"/>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PC</a:t>
            </a:r>
            <a:r>
              <a:rPr lang="en-IN" sz="1400" dirty="0" smtClean="0">
                <a:latin typeface="Times New Roman" panose="02020603050405020304" pitchFamily="18" charset="0"/>
                <a:cs typeface="Times New Roman" panose="02020603050405020304" pitchFamily="18" charset="0"/>
                <a:sym typeface="Symbol"/>
              </a:rPr>
              <a:t>PC+1</a:t>
            </a:r>
          </a:p>
          <a:p>
            <a:r>
              <a:rPr lang="en-IN" sz="1400" dirty="0" smtClean="0">
                <a:latin typeface="Times New Roman" panose="02020603050405020304" pitchFamily="18" charset="0"/>
                <a:cs typeface="Times New Roman" panose="02020603050405020304" pitchFamily="18" charset="0"/>
                <a:sym typeface="Symbol"/>
              </a:rPr>
              <a:t>Decode instruction</a:t>
            </a:r>
            <a:endParaRPr lang="en-IN" sz="1400" dirty="0">
              <a:latin typeface="Times New Roman" panose="02020603050405020304" pitchFamily="18" charset="0"/>
              <a:cs typeface="Times New Roman" panose="02020603050405020304" pitchFamily="18" charset="0"/>
            </a:endParaRPr>
          </a:p>
        </p:txBody>
      </p:sp>
      <p:sp>
        <p:nvSpPr>
          <p:cNvPr id="8" name="Rectangle 7"/>
          <p:cNvSpPr/>
          <p:nvPr/>
        </p:nvSpPr>
        <p:spPr>
          <a:xfrm>
            <a:off x="888276" y="2277885"/>
            <a:ext cx="1497873" cy="46531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886055" y="3075556"/>
            <a:ext cx="1426071" cy="523220"/>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Transfer operand address to MAR</a:t>
            </a:r>
            <a:endParaRPr lang="en-IN" sz="1400" dirty="0">
              <a:latin typeface="Times New Roman" panose="02020603050405020304" pitchFamily="18" charset="0"/>
              <a:cs typeface="Times New Roman" panose="02020603050405020304" pitchFamily="18" charset="0"/>
            </a:endParaRPr>
          </a:p>
        </p:txBody>
      </p:sp>
      <p:sp>
        <p:nvSpPr>
          <p:cNvPr id="10" name="Rectangle 9"/>
          <p:cNvSpPr/>
          <p:nvPr/>
        </p:nvSpPr>
        <p:spPr>
          <a:xfrm>
            <a:off x="923111" y="3096491"/>
            <a:ext cx="1389015" cy="46531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1001488" y="3919452"/>
            <a:ext cx="1323702" cy="46531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p:cNvSpPr txBox="1"/>
          <p:nvPr/>
        </p:nvSpPr>
        <p:spPr>
          <a:xfrm>
            <a:off x="947015" y="3907224"/>
            <a:ext cx="1426071" cy="523220"/>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Fetch operand(s) from MM</a:t>
            </a:r>
            <a:endParaRPr lang="en-IN" sz="1400"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994913" y="4738892"/>
            <a:ext cx="1426071" cy="95410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Perform operation specified by the instruction</a:t>
            </a:r>
            <a:endParaRPr lang="en-IN" sz="1400" dirty="0">
              <a:latin typeface="Times New Roman" panose="02020603050405020304" pitchFamily="18" charset="0"/>
              <a:cs typeface="Times New Roman" panose="02020603050405020304" pitchFamily="18" charset="0"/>
            </a:endParaRPr>
          </a:p>
        </p:txBody>
      </p:sp>
      <p:sp>
        <p:nvSpPr>
          <p:cNvPr id="14" name="Rectangle 13"/>
          <p:cNvSpPr/>
          <p:nvPr/>
        </p:nvSpPr>
        <p:spPr>
          <a:xfrm>
            <a:off x="1049512" y="4781598"/>
            <a:ext cx="1223426" cy="8788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p:cNvSpPr txBox="1"/>
          <p:nvPr/>
        </p:nvSpPr>
        <p:spPr>
          <a:xfrm>
            <a:off x="228558" y="288812"/>
            <a:ext cx="2462391" cy="523220"/>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CPU behaviour represented as </a:t>
            </a:r>
          </a:p>
          <a:p>
            <a:r>
              <a:rPr lang="en-IN" sz="1400" dirty="0" smtClean="0">
                <a:latin typeface="Times New Roman" panose="02020603050405020304" pitchFamily="18" charset="0"/>
                <a:cs typeface="Times New Roman" panose="02020603050405020304" pitchFamily="18" charset="0"/>
              </a:rPr>
              <a:t>a single closed loop</a:t>
            </a:r>
            <a:endParaRPr lang="en-IN" sz="1400" dirty="0">
              <a:latin typeface="Times New Roman" panose="02020603050405020304" pitchFamily="18" charset="0"/>
              <a:cs typeface="Times New Roman" panose="02020603050405020304" pitchFamily="18" charset="0"/>
            </a:endParaRPr>
          </a:p>
        </p:txBody>
      </p:sp>
      <p:cxnSp>
        <p:nvCxnSpPr>
          <p:cNvPr id="16" name="Straight Arrow Connector 15"/>
          <p:cNvCxnSpPr/>
          <p:nvPr/>
        </p:nvCxnSpPr>
        <p:spPr>
          <a:xfrm flipH="1">
            <a:off x="1663337" y="1307775"/>
            <a:ext cx="1" cy="3816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a:off x="1658983" y="1891249"/>
            <a:ext cx="1" cy="3816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1567543" y="2740335"/>
            <a:ext cx="1" cy="3816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a:off x="1672046" y="3537170"/>
            <a:ext cx="1" cy="3816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a:off x="1685109" y="4386255"/>
            <a:ext cx="1" cy="3816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5400000">
            <a:off x="1730830" y="960121"/>
            <a:ext cx="222069" cy="261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16200000" flipH="1">
            <a:off x="-1809206" y="3337560"/>
            <a:ext cx="5055325" cy="52251"/>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692331" y="862149"/>
            <a:ext cx="1162595"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744583" y="5878286"/>
            <a:ext cx="783771" cy="1588"/>
          </a:xfrm>
          <a:prstGeom prst="line">
            <a:avLst/>
          </a:prstGeom>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2756263" y="270362"/>
            <a:ext cx="9104811" cy="2585323"/>
          </a:xfrm>
          <a:prstGeom prst="rect">
            <a:avLst/>
          </a:prstGeom>
          <a:noFill/>
        </p:spPr>
        <p:txBody>
          <a:bodyPr wrap="square" rtlCol="0">
            <a:spAutoFit/>
          </a:bodyPr>
          <a:lstStyle/>
          <a:p>
            <a:r>
              <a:rPr lang="en-IN" dirty="0" smtClean="0">
                <a:latin typeface="Times New Roman" pitchFamily="18" charset="0"/>
                <a:cs typeface="Times New Roman" pitchFamily="18" charset="0"/>
              </a:rPr>
              <a:t>Each pass through the loop constitutes an instruction cycle</a:t>
            </a:r>
          </a:p>
          <a:p>
            <a:r>
              <a:rPr lang="en-IN" dirty="0" smtClean="0">
                <a:latin typeface="Times New Roman" pitchFamily="18" charset="0"/>
                <a:cs typeface="Times New Roman" pitchFamily="18" charset="0"/>
              </a:rPr>
              <a:t>Assuming that each step can be performed in an appropriately chosen clock period</a:t>
            </a:r>
          </a:p>
          <a:p>
            <a:r>
              <a:rPr lang="en-IN" dirty="0" smtClean="0">
                <a:latin typeface="Times New Roman" pitchFamily="18" charset="0"/>
                <a:cs typeface="Times New Roman" pitchFamily="18" charset="0"/>
              </a:rPr>
              <a:t>Modulo-6 counter may be used to build this</a:t>
            </a:r>
          </a:p>
          <a:p>
            <a:r>
              <a:rPr lang="en-IN" dirty="0" smtClean="0">
                <a:latin typeface="Times New Roman" pitchFamily="18" charset="0"/>
                <a:cs typeface="Times New Roman" pitchFamily="18" charset="0"/>
              </a:rPr>
              <a:t>Each signal </a:t>
            </a:r>
            <a:r>
              <a:rPr lang="en-IN" dirty="0" smtClean="0">
                <a:latin typeface="Times New Roman" pitchFamily="18" charset="0"/>
                <a:cs typeface="Times New Roman" pitchFamily="18" charset="0"/>
                <a:sym typeface="Symbol"/>
              </a:rPr>
              <a:t></a:t>
            </a:r>
            <a:r>
              <a:rPr lang="en-IN" baseline="-25000" dirty="0" err="1" smtClean="0">
                <a:latin typeface="Times New Roman" pitchFamily="18" charset="0"/>
                <a:cs typeface="Times New Roman" pitchFamily="18" charset="0"/>
                <a:sym typeface="Symbol"/>
              </a:rPr>
              <a:t>i</a:t>
            </a:r>
            <a:r>
              <a:rPr lang="en-IN" dirty="0" smtClean="0">
                <a:latin typeface="Times New Roman" pitchFamily="18" charset="0"/>
                <a:cs typeface="Times New Roman" pitchFamily="18" charset="0"/>
                <a:sym typeface="Symbol"/>
              </a:rPr>
              <a:t> activates some set of control lines in step </a:t>
            </a:r>
            <a:r>
              <a:rPr lang="en-IN" dirty="0" err="1" smtClean="0">
                <a:latin typeface="Times New Roman" pitchFamily="18" charset="0"/>
                <a:cs typeface="Times New Roman" pitchFamily="18" charset="0"/>
                <a:sym typeface="Symbol"/>
              </a:rPr>
              <a:t>i</a:t>
            </a:r>
            <a:r>
              <a:rPr lang="en-IN" dirty="0" smtClean="0">
                <a:latin typeface="Times New Roman" pitchFamily="18" charset="0"/>
                <a:cs typeface="Times New Roman" pitchFamily="18" charset="0"/>
                <a:sym typeface="Symbol"/>
              </a:rPr>
              <a:t> of every instruction cycle</a:t>
            </a:r>
          </a:p>
          <a:p>
            <a:r>
              <a:rPr lang="en-IN" dirty="0" smtClean="0">
                <a:latin typeface="Times New Roman" pitchFamily="18" charset="0"/>
                <a:cs typeface="Times New Roman" pitchFamily="18" charset="0"/>
                <a:sym typeface="Symbol"/>
              </a:rPr>
              <a:t>Operations performed in step </a:t>
            </a:r>
            <a:r>
              <a:rPr lang="en-IN" dirty="0" err="1" smtClean="0">
                <a:latin typeface="Times New Roman" pitchFamily="18" charset="0"/>
                <a:cs typeface="Times New Roman" pitchFamily="18" charset="0"/>
                <a:sym typeface="Symbol"/>
              </a:rPr>
              <a:t>i</a:t>
            </a:r>
            <a:r>
              <a:rPr lang="en-IN" dirty="0" smtClean="0">
                <a:latin typeface="Times New Roman" pitchFamily="18" charset="0"/>
                <a:cs typeface="Times New Roman" pitchFamily="18" charset="0"/>
                <a:sym typeface="Symbol"/>
              </a:rPr>
              <a:t> can be varied depending upon the certain control signals and condition variables applied to CU through  </a:t>
            </a:r>
            <a:r>
              <a:rPr lang="en-IN" dirty="0" err="1" smtClean="0">
                <a:latin typeface="Times New Roman" panose="02020603050405020304" pitchFamily="18" charset="0"/>
                <a:cs typeface="Times New Roman" panose="02020603050405020304" pitchFamily="18" charset="0"/>
              </a:rPr>
              <a:t>C</a:t>
            </a:r>
            <a:r>
              <a:rPr lang="en-IN" baseline="-25000" dirty="0" err="1" smtClean="0">
                <a:latin typeface="Times New Roman" panose="02020603050405020304" pitchFamily="18" charset="0"/>
                <a:cs typeface="Times New Roman" panose="02020603050405020304" pitchFamily="18" charset="0"/>
              </a:rPr>
              <a:t>in</a:t>
            </a:r>
            <a:r>
              <a:rPr lang="en-IN" dirty="0" smtClean="0">
                <a:latin typeface="Times New Roman" panose="02020603050405020304" pitchFamily="18" charset="0"/>
                <a:cs typeface="Times New Roman" panose="02020603050405020304" pitchFamily="18" charset="0"/>
                <a:sym typeface="Symbol" panose="05050102010706020507" pitchFamily="18" charset="2"/>
              </a:rPr>
              <a:t>, </a:t>
            </a:r>
            <a:r>
              <a:rPr lang="en-IN" dirty="0" err="1" smtClean="0">
                <a:latin typeface="Times New Roman" panose="02020603050405020304" pitchFamily="18" charset="0"/>
                <a:cs typeface="Times New Roman" panose="02020603050405020304" pitchFamily="18" charset="0"/>
              </a:rPr>
              <a:t>C</a:t>
            </a:r>
            <a:r>
              <a:rPr lang="en-IN" baseline="-25000" dirty="0" err="1" smtClean="0">
                <a:latin typeface="Times New Roman" panose="02020603050405020304" pitchFamily="18" charset="0"/>
                <a:cs typeface="Times New Roman" panose="02020603050405020304" pitchFamily="18" charset="0"/>
              </a:rPr>
              <a:t>in</a:t>
            </a:r>
            <a:r>
              <a:rPr lang="en-IN" dirty="0" smtClean="0">
                <a:latin typeface="Times New Roman" panose="02020603050405020304" pitchFamily="18" charset="0"/>
                <a:cs typeface="Times New Roman" panose="02020603050405020304" pitchFamily="18" charset="0"/>
                <a:sym typeface="Symbol" panose="05050102010706020507" pitchFamily="18" charset="2"/>
              </a:rPr>
              <a:t></a:t>
            </a:r>
          </a:p>
          <a:p>
            <a:r>
              <a:rPr lang="en-IN" dirty="0" err="1" smtClean="0">
                <a:latin typeface="Times New Roman" panose="02020603050405020304" pitchFamily="18" charset="0"/>
                <a:cs typeface="Times New Roman" panose="02020603050405020304" pitchFamily="18" charset="0"/>
                <a:sym typeface="Symbol" panose="05050102010706020507" pitchFamily="18" charset="2"/>
              </a:rPr>
              <a:t>C</a:t>
            </a:r>
            <a:r>
              <a:rPr lang="en-IN" baseline="-25000" dirty="0" err="1" smtClean="0">
                <a:latin typeface="Times New Roman" panose="02020603050405020304" pitchFamily="18" charset="0"/>
                <a:cs typeface="Times New Roman" panose="02020603050405020304" pitchFamily="18" charset="0"/>
                <a:sym typeface="Symbol" panose="05050102010706020507" pitchFamily="18" charset="2"/>
              </a:rPr>
              <a:t>in</a:t>
            </a:r>
            <a:r>
              <a:rPr lang="en-IN" dirty="0" smtClean="0">
                <a:latin typeface="Times New Roman" panose="02020603050405020304" pitchFamily="18" charset="0"/>
                <a:cs typeface="Times New Roman" panose="02020603050405020304" pitchFamily="18" charset="0"/>
                <a:sym typeface="Symbol" panose="05050102010706020507" pitchFamily="18" charset="2"/>
              </a:rPr>
              <a:t> = {</a:t>
            </a:r>
            <a:r>
              <a:rPr lang="en-IN" dirty="0" err="1" smtClean="0">
                <a:latin typeface="Times New Roman" panose="02020603050405020304" pitchFamily="18" charset="0"/>
                <a:cs typeface="Times New Roman" panose="02020603050405020304" pitchFamily="18" charset="0"/>
              </a:rPr>
              <a:t>C</a:t>
            </a:r>
            <a:r>
              <a:rPr lang="en-IN" baseline="-25000" dirty="0" err="1" smtClean="0">
                <a:latin typeface="Times New Roman" panose="02020603050405020304" pitchFamily="18" charset="0"/>
                <a:cs typeface="Times New Roman" panose="02020603050405020304" pitchFamily="18" charset="0"/>
              </a:rPr>
              <a:t>in</a:t>
            </a:r>
            <a:r>
              <a:rPr lang="en-IN" dirty="0" smtClean="0">
                <a:latin typeface="Times New Roman" panose="02020603050405020304" pitchFamily="18" charset="0"/>
                <a:cs typeface="Times New Roman" panose="02020603050405020304" pitchFamily="18" charset="0"/>
                <a:sym typeface="Symbol" panose="05050102010706020507" pitchFamily="18" charset="2"/>
              </a:rPr>
              <a:t>, </a:t>
            </a:r>
            <a:r>
              <a:rPr lang="en-IN" dirty="0" err="1" smtClean="0">
                <a:latin typeface="Times New Roman" panose="02020603050405020304" pitchFamily="18" charset="0"/>
                <a:cs typeface="Times New Roman" panose="02020603050405020304" pitchFamily="18" charset="0"/>
              </a:rPr>
              <a:t>C</a:t>
            </a:r>
            <a:r>
              <a:rPr lang="en-IN" baseline="-25000" dirty="0" err="1" smtClean="0">
                <a:latin typeface="Times New Roman" panose="02020603050405020304" pitchFamily="18" charset="0"/>
                <a:cs typeface="Times New Roman" panose="02020603050405020304" pitchFamily="18" charset="0"/>
              </a:rPr>
              <a:t>in</a:t>
            </a:r>
            <a:r>
              <a:rPr lang="en-IN" dirty="0" smtClean="0">
                <a:latin typeface="Times New Roman" panose="02020603050405020304" pitchFamily="18" charset="0"/>
                <a:cs typeface="Times New Roman" panose="02020603050405020304" pitchFamily="18" charset="0"/>
                <a:sym typeface="Symbol" panose="05050102010706020507" pitchFamily="18" charset="2"/>
              </a:rPr>
              <a:t>}</a:t>
            </a:r>
          </a:p>
          <a:p>
            <a:r>
              <a:rPr lang="en-IN" dirty="0" smtClean="0">
                <a:latin typeface="Times New Roman" panose="02020603050405020304" pitchFamily="18" charset="0"/>
                <a:cs typeface="Times New Roman" panose="02020603050405020304" pitchFamily="18" charset="0"/>
                <a:sym typeface="Symbol" panose="05050102010706020507" pitchFamily="18" charset="2"/>
              </a:rPr>
              <a:t>A logic circuit is needed to combine </a:t>
            </a:r>
            <a:r>
              <a:rPr lang="en-IN" dirty="0" err="1" smtClean="0">
                <a:latin typeface="Times New Roman" panose="02020603050405020304" pitchFamily="18" charset="0"/>
                <a:cs typeface="Times New Roman" panose="02020603050405020304" pitchFamily="18" charset="0"/>
                <a:sym typeface="Symbol" panose="05050102010706020507" pitchFamily="18" charset="2"/>
              </a:rPr>
              <a:t>C</a:t>
            </a:r>
            <a:r>
              <a:rPr lang="en-IN" baseline="-25000" dirty="0" err="1" smtClean="0">
                <a:latin typeface="Times New Roman" panose="02020603050405020304" pitchFamily="18" charset="0"/>
                <a:cs typeface="Times New Roman" panose="02020603050405020304" pitchFamily="18" charset="0"/>
                <a:sym typeface="Symbol" panose="05050102010706020507" pitchFamily="18" charset="2"/>
              </a:rPr>
              <a:t>in</a:t>
            </a:r>
            <a:r>
              <a:rPr lang="en-IN" baseline="-25000" dirty="0" smtClean="0">
                <a:latin typeface="Times New Roman" panose="02020603050405020304" pitchFamily="18" charset="0"/>
                <a:cs typeface="Times New Roman" panose="02020603050405020304" pitchFamily="18" charset="0"/>
                <a:sym typeface="Symbol" panose="05050102010706020507" pitchFamily="18" charset="2"/>
              </a:rPr>
              <a:t> </a:t>
            </a:r>
            <a:r>
              <a:rPr lang="en-IN" dirty="0" smtClean="0">
                <a:latin typeface="Times New Roman" panose="02020603050405020304" pitchFamily="18" charset="0"/>
                <a:cs typeface="Times New Roman" panose="02020603050405020304" pitchFamily="18" charset="0"/>
                <a:sym typeface="Symbol" panose="05050102010706020507" pitchFamily="18" charset="2"/>
              </a:rPr>
              <a:t>with the timing signal {</a:t>
            </a:r>
            <a:r>
              <a:rPr lang="en-IN" dirty="0" smtClean="0">
                <a:latin typeface="Times New Roman" pitchFamily="18" charset="0"/>
                <a:cs typeface="Times New Roman" pitchFamily="18" charset="0"/>
                <a:sym typeface="Symbol"/>
              </a:rPr>
              <a:t></a:t>
            </a:r>
            <a:r>
              <a:rPr lang="en-IN" baseline="-25000" dirty="0" err="1" smtClean="0">
                <a:latin typeface="Times New Roman" pitchFamily="18" charset="0"/>
                <a:cs typeface="Times New Roman" pitchFamily="18" charset="0"/>
                <a:sym typeface="Symbol"/>
              </a:rPr>
              <a:t>i</a:t>
            </a:r>
            <a:r>
              <a:rPr lang="en-IN" dirty="0" smtClean="0">
                <a:latin typeface="Times New Roman" pitchFamily="18" charset="0"/>
                <a:cs typeface="Times New Roman" pitchFamily="18" charset="0"/>
                <a:sym typeface="Symbol"/>
              </a:rPr>
              <a:t>} generated by the sequence counter</a:t>
            </a:r>
          </a:p>
        </p:txBody>
      </p:sp>
      <p:sp>
        <p:nvSpPr>
          <p:cNvPr id="27" name="TextBox 26"/>
          <p:cNvSpPr txBox="1"/>
          <p:nvPr/>
        </p:nvSpPr>
        <p:spPr>
          <a:xfrm>
            <a:off x="4125644" y="3480502"/>
            <a:ext cx="1700390" cy="281600"/>
          </a:xfrm>
          <a:prstGeom prst="rect">
            <a:avLst/>
          </a:prstGeom>
          <a:noFill/>
        </p:spPr>
        <p:txBody>
          <a:bodyPr wrap="square" rtlCol="0">
            <a:spAutoFit/>
          </a:bodyPr>
          <a:lstStyle/>
          <a:p>
            <a:r>
              <a:rPr lang="en-IN" baseline="-25000" dirty="0" smtClean="0">
                <a:latin typeface="Times New Roman" panose="02020603050405020304" pitchFamily="18" charset="0"/>
                <a:cs typeface="Times New Roman" panose="02020603050405020304" pitchFamily="18" charset="0"/>
              </a:rPr>
              <a:t>Mod-k sequence counter</a:t>
            </a:r>
            <a:endParaRPr lang="en-IN" baseline="-25000" dirty="0">
              <a:latin typeface="Times New Roman" panose="02020603050405020304" pitchFamily="18" charset="0"/>
              <a:cs typeface="Times New Roman" panose="02020603050405020304" pitchFamily="18" charset="0"/>
            </a:endParaRPr>
          </a:p>
        </p:txBody>
      </p:sp>
      <p:sp>
        <p:nvSpPr>
          <p:cNvPr id="28" name="Rectangle 27"/>
          <p:cNvSpPr/>
          <p:nvPr/>
        </p:nvSpPr>
        <p:spPr>
          <a:xfrm>
            <a:off x="4136573" y="3240183"/>
            <a:ext cx="1611084" cy="8093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0" name="Straight Arrow Connector 29"/>
          <p:cNvCxnSpPr/>
          <p:nvPr/>
        </p:nvCxnSpPr>
        <p:spPr>
          <a:xfrm>
            <a:off x="3696788" y="3357154"/>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3692434" y="3600994"/>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3692434" y="3810000"/>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3705496" y="4005942"/>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3135086" y="3148147"/>
            <a:ext cx="627016"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Begin</a:t>
            </a:r>
            <a:endParaRPr lang="en-IN" sz="1400" dirty="0">
              <a:latin typeface="Times New Roman" pitchFamily="18" charset="0"/>
              <a:cs typeface="Times New Roman" pitchFamily="18" charset="0"/>
            </a:endParaRPr>
          </a:p>
        </p:txBody>
      </p:sp>
      <p:sp>
        <p:nvSpPr>
          <p:cNvPr id="35" name="TextBox 34"/>
          <p:cNvSpPr txBox="1"/>
          <p:nvPr/>
        </p:nvSpPr>
        <p:spPr>
          <a:xfrm>
            <a:off x="3274426" y="3378924"/>
            <a:ext cx="487679"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End</a:t>
            </a:r>
            <a:endParaRPr lang="en-IN" sz="1400" dirty="0">
              <a:latin typeface="Times New Roman" pitchFamily="18" charset="0"/>
              <a:cs typeface="Times New Roman" pitchFamily="18" charset="0"/>
            </a:endParaRPr>
          </a:p>
        </p:txBody>
      </p:sp>
      <p:sp>
        <p:nvSpPr>
          <p:cNvPr id="36" name="TextBox 35"/>
          <p:cNvSpPr txBox="1"/>
          <p:nvPr/>
        </p:nvSpPr>
        <p:spPr>
          <a:xfrm>
            <a:off x="3130731" y="3614057"/>
            <a:ext cx="627016"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Clock</a:t>
            </a:r>
            <a:endParaRPr lang="en-IN" sz="1400" dirty="0">
              <a:latin typeface="Times New Roman" pitchFamily="18" charset="0"/>
              <a:cs typeface="Times New Roman" pitchFamily="18" charset="0"/>
            </a:endParaRPr>
          </a:p>
        </p:txBody>
      </p:sp>
      <p:sp>
        <p:nvSpPr>
          <p:cNvPr id="37" name="TextBox 36"/>
          <p:cNvSpPr txBox="1"/>
          <p:nvPr/>
        </p:nvSpPr>
        <p:spPr>
          <a:xfrm>
            <a:off x="3182984" y="3810000"/>
            <a:ext cx="627016"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Reset</a:t>
            </a:r>
            <a:endParaRPr lang="en-IN" sz="1400" dirty="0">
              <a:latin typeface="Times New Roman" pitchFamily="18" charset="0"/>
              <a:cs typeface="Times New Roman" pitchFamily="18" charset="0"/>
            </a:endParaRPr>
          </a:p>
        </p:txBody>
      </p:sp>
      <p:sp>
        <p:nvSpPr>
          <p:cNvPr id="38" name="TextBox 37"/>
          <p:cNvSpPr txBox="1"/>
          <p:nvPr/>
        </p:nvSpPr>
        <p:spPr>
          <a:xfrm>
            <a:off x="4127861" y="4454433"/>
            <a:ext cx="431075"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a:t>
            </a:r>
            <a:r>
              <a:rPr lang="en-IN" sz="1400" baseline="-25000" dirty="0" smtClean="0">
                <a:latin typeface="Times New Roman" pitchFamily="18" charset="0"/>
                <a:cs typeface="Times New Roman" pitchFamily="18" charset="0"/>
                <a:sym typeface="Symbol"/>
              </a:rPr>
              <a:t>1</a:t>
            </a:r>
            <a:endParaRPr lang="en-IN" sz="1400" baseline="-25000" dirty="0">
              <a:latin typeface="Times New Roman" pitchFamily="18" charset="0"/>
              <a:cs typeface="Times New Roman" pitchFamily="18" charset="0"/>
            </a:endParaRPr>
          </a:p>
        </p:txBody>
      </p:sp>
      <p:sp>
        <p:nvSpPr>
          <p:cNvPr id="39" name="TextBox 38"/>
          <p:cNvSpPr txBox="1"/>
          <p:nvPr/>
        </p:nvSpPr>
        <p:spPr>
          <a:xfrm>
            <a:off x="4384764" y="4476205"/>
            <a:ext cx="431075"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a:t>
            </a:r>
            <a:r>
              <a:rPr lang="en-IN" sz="1400" baseline="-25000" dirty="0" smtClean="0">
                <a:latin typeface="Times New Roman" pitchFamily="18" charset="0"/>
                <a:cs typeface="Times New Roman" pitchFamily="18" charset="0"/>
                <a:sym typeface="Symbol"/>
              </a:rPr>
              <a:t>2</a:t>
            </a:r>
            <a:endParaRPr lang="en-IN" sz="1400" baseline="-25000" dirty="0">
              <a:latin typeface="Times New Roman" pitchFamily="18" charset="0"/>
              <a:cs typeface="Times New Roman" pitchFamily="18" charset="0"/>
            </a:endParaRPr>
          </a:p>
        </p:txBody>
      </p:sp>
      <p:sp>
        <p:nvSpPr>
          <p:cNvPr id="40" name="TextBox 39"/>
          <p:cNvSpPr txBox="1"/>
          <p:nvPr/>
        </p:nvSpPr>
        <p:spPr>
          <a:xfrm>
            <a:off x="5347061" y="4432661"/>
            <a:ext cx="431075"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a:t>
            </a:r>
            <a:r>
              <a:rPr lang="en-IN" sz="1400" baseline="-25000" dirty="0" smtClean="0">
                <a:latin typeface="Times New Roman" pitchFamily="18" charset="0"/>
                <a:cs typeface="Times New Roman" pitchFamily="18" charset="0"/>
                <a:sym typeface="Symbol"/>
              </a:rPr>
              <a:t>k</a:t>
            </a:r>
            <a:endParaRPr lang="en-IN" sz="1400" baseline="-25000" dirty="0">
              <a:latin typeface="Times New Roman" pitchFamily="18" charset="0"/>
              <a:cs typeface="Times New Roman" pitchFamily="18" charset="0"/>
            </a:endParaRPr>
          </a:p>
        </p:txBody>
      </p:sp>
      <p:cxnSp>
        <p:nvCxnSpPr>
          <p:cNvPr id="42" name="Straight Arrow Connector 41"/>
          <p:cNvCxnSpPr/>
          <p:nvPr/>
        </p:nvCxnSpPr>
        <p:spPr>
          <a:xfrm rot="5400000">
            <a:off x="4108267" y="4317273"/>
            <a:ext cx="509456" cy="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rot="5400000">
            <a:off x="4339044" y="4286793"/>
            <a:ext cx="509456" cy="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rot="5400000">
            <a:off x="5327467" y="4308564"/>
            <a:ext cx="509456" cy="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4855029" y="4097381"/>
            <a:ext cx="483326" cy="369332"/>
          </a:xfrm>
          <a:prstGeom prst="rect">
            <a:avLst/>
          </a:prstGeom>
          <a:noFill/>
        </p:spPr>
        <p:txBody>
          <a:bodyPr wrap="square" rtlCol="0">
            <a:spAutoFit/>
          </a:bodyPr>
          <a:lstStyle/>
          <a:p>
            <a:r>
              <a:rPr lang="en-IN" dirty="0" smtClean="0"/>
              <a:t>. . .</a:t>
            </a:r>
            <a:endParaRPr lang="en-IN" dirty="0"/>
          </a:p>
        </p:txBody>
      </p:sp>
      <p:sp>
        <p:nvSpPr>
          <p:cNvPr id="48" name="TextBox 47"/>
          <p:cNvSpPr txBox="1"/>
          <p:nvPr/>
        </p:nvSpPr>
        <p:spPr>
          <a:xfrm>
            <a:off x="3102387" y="5528395"/>
            <a:ext cx="1700390" cy="281600"/>
          </a:xfrm>
          <a:prstGeom prst="rect">
            <a:avLst/>
          </a:prstGeom>
          <a:noFill/>
        </p:spPr>
        <p:txBody>
          <a:bodyPr wrap="square" rtlCol="0">
            <a:spAutoFit/>
          </a:bodyPr>
          <a:lstStyle/>
          <a:p>
            <a:r>
              <a:rPr lang="en-IN" baseline="-25000" dirty="0" smtClean="0">
                <a:latin typeface="Times New Roman" panose="02020603050405020304" pitchFamily="18" charset="0"/>
                <a:cs typeface="Times New Roman" panose="02020603050405020304" pitchFamily="18" charset="0"/>
              </a:rPr>
              <a:t>Mod-k sequence counter</a:t>
            </a:r>
            <a:endParaRPr lang="en-IN" baseline="-25000" dirty="0">
              <a:latin typeface="Times New Roman" panose="02020603050405020304" pitchFamily="18" charset="0"/>
              <a:cs typeface="Times New Roman" panose="02020603050405020304" pitchFamily="18" charset="0"/>
            </a:endParaRPr>
          </a:p>
        </p:txBody>
      </p:sp>
      <p:sp>
        <p:nvSpPr>
          <p:cNvPr id="49" name="Rectangle 48"/>
          <p:cNvSpPr/>
          <p:nvPr/>
        </p:nvSpPr>
        <p:spPr>
          <a:xfrm>
            <a:off x="3113316" y="5288076"/>
            <a:ext cx="1611084" cy="8093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0" name="Straight Arrow Connector 49"/>
          <p:cNvCxnSpPr/>
          <p:nvPr/>
        </p:nvCxnSpPr>
        <p:spPr>
          <a:xfrm flipV="1">
            <a:off x="2926080" y="5380513"/>
            <a:ext cx="191588" cy="27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flipV="1">
            <a:off x="2795452" y="5559035"/>
            <a:ext cx="343988" cy="71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a:off x="2677886" y="5788225"/>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a:off x="2625634" y="5958041"/>
            <a:ext cx="518160" cy="1029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4720045" y="6014648"/>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a:off x="4715691" y="5513905"/>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a:off x="4724400" y="5378922"/>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7" name="Rectangle 56"/>
          <p:cNvSpPr/>
          <p:nvPr/>
        </p:nvSpPr>
        <p:spPr>
          <a:xfrm>
            <a:off x="5172893" y="5283721"/>
            <a:ext cx="836021" cy="8093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TextBox 57"/>
          <p:cNvSpPr txBox="1"/>
          <p:nvPr/>
        </p:nvSpPr>
        <p:spPr>
          <a:xfrm>
            <a:off x="5253405" y="5445663"/>
            <a:ext cx="677132" cy="461665"/>
          </a:xfrm>
          <a:prstGeom prst="rect">
            <a:avLst/>
          </a:prstGeom>
          <a:noFill/>
        </p:spPr>
        <p:txBody>
          <a:bodyPr wrap="square" rtlCol="0">
            <a:spAutoFit/>
          </a:bodyPr>
          <a:lstStyle/>
          <a:p>
            <a:r>
              <a:rPr lang="en-IN" baseline="-25000" dirty="0" smtClean="0">
                <a:latin typeface="Times New Roman" panose="02020603050405020304" pitchFamily="18" charset="0"/>
                <a:cs typeface="Times New Roman" panose="02020603050405020304" pitchFamily="18" charset="0"/>
              </a:rPr>
              <a:t>Logic circuit</a:t>
            </a:r>
            <a:endParaRPr lang="en-IN" baseline="-25000" dirty="0">
              <a:latin typeface="Times New Roman" panose="02020603050405020304" pitchFamily="18" charset="0"/>
              <a:cs typeface="Times New Roman" panose="02020603050405020304" pitchFamily="18" charset="0"/>
            </a:endParaRPr>
          </a:p>
        </p:txBody>
      </p:sp>
      <p:cxnSp>
        <p:nvCxnSpPr>
          <p:cNvPr id="60" name="Straight Arrow Connector 59"/>
          <p:cNvCxnSpPr/>
          <p:nvPr/>
        </p:nvCxnSpPr>
        <p:spPr>
          <a:xfrm rot="16200000" flipV="1">
            <a:off x="5081453" y="6258488"/>
            <a:ext cx="378824" cy="1305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rot="16200000" flipV="1">
            <a:off x="5246915" y="6254133"/>
            <a:ext cx="378824" cy="1305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rot="16200000" flipV="1">
            <a:off x="5743304" y="6267197"/>
            <a:ext cx="378824" cy="1305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4" name="TextBox 63"/>
          <p:cNvSpPr txBox="1"/>
          <p:nvPr/>
        </p:nvSpPr>
        <p:spPr>
          <a:xfrm>
            <a:off x="5464629" y="6106086"/>
            <a:ext cx="483326" cy="369332"/>
          </a:xfrm>
          <a:prstGeom prst="rect">
            <a:avLst/>
          </a:prstGeom>
          <a:noFill/>
        </p:spPr>
        <p:txBody>
          <a:bodyPr wrap="square" rtlCol="0">
            <a:spAutoFit/>
          </a:bodyPr>
          <a:lstStyle/>
          <a:p>
            <a:r>
              <a:rPr lang="en-IN" dirty="0" smtClean="0"/>
              <a:t>. . .</a:t>
            </a:r>
            <a:endParaRPr lang="en-IN" dirty="0"/>
          </a:p>
        </p:txBody>
      </p:sp>
      <p:cxnSp>
        <p:nvCxnSpPr>
          <p:cNvPr id="65" name="Straight Arrow Connector 64"/>
          <p:cNvCxnSpPr/>
          <p:nvPr/>
        </p:nvCxnSpPr>
        <p:spPr>
          <a:xfrm>
            <a:off x="6013268" y="5387631"/>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a:off x="6008913" y="5553094"/>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a:off x="6004560" y="6032065"/>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8" name="TextBox 67"/>
          <p:cNvSpPr txBox="1"/>
          <p:nvPr/>
        </p:nvSpPr>
        <p:spPr>
          <a:xfrm>
            <a:off x="6050242" y="5442817"/>
            <a:ext cx="337624" cy="646331"/>
          </a:xfrm>
          <a:prstGeom prst="rect">
            <a:avLst/>
          </a:prstGeom>
          <a:noFill/>
        </p:spPr>
        <p:txBody>
          <a:bodyPr wrap="square" rtlCol="0">
            <a:spAutoFit/>
          </a:bodyPr>
          <a:lstStyle/>
          <a:p>
            <a:r>
              <a:rPr lang="en-IN" sz="1200" dirty="0" smtClean="0"/>
              <a:t>.</a:t>
            </a:r>
          </a:p>
          <a:p>
            <a:r>
              <a:rPr lang="en-IN" sz="1200" dirty="0" smtClean="0"/>
              <a:t>.</a:t>
            </a:r>
          </a:p>
          <a:p>
            <a:r>
              <a:rPr lang="en-IN" sz="1200" dirty="0"/>
              <a:t>.</a:t>
            </a:r>
          </a:p>
        </p:txBody>
      </p:sp>
      <p:sp>
        <p:nvSpPr>
          <p:cNvPr id="69" name="TextBox 68"/>
          <p:cNvSpPr txBox="1"/>
          <p:nvPr/>
        </p:nvSpPr>
        <p:spPr>
          <a:xfrm>
            <a:off x="4783145" y="5416690"/>
            <a:ext cx="337624" cy="646331"/>
          </a:xfrm>
          <a:prstGeom prst="rect">
            <a:avLst/>
          </a:prstGeom>
          <a:noFill/>
        </p:spPr>
        <p:txBody>
          <a:bodyPr wrap="square" rtlCol="0">
            <a:spAutoFit/>
          </a:bodyPr>
          <a:lstStyle/>
          <a:p>
            <a:r>
              <a:rPr lang="en-IN" sz="1200" dirty="0" smtClean="0"/>
              <a:t>.</a:t>
            </a:r>
          </a:p>
          <a:p>
            <a:r>
              <a:rPr lang="en-IN" sz="1200" dirty="0" smtClean="0"/>
              <a:t>.</a:t>
            </a:r>
          </a:p>
          <a:p>
            <a:r>
              <a:rPr lang="en-IN" sz="1200" dirty="0"/>
              <a:t>.</a:t>
            </a:r>
          </a:p>
        </p:txBody>
      </p:sp>
      <p:sp>
        <p:nvSpPr>
          <p:cNvPr id="70" name="TextBox 69"/>
          <p:cNvSpPr txBox="1"/>
          <p:nvPr/>
        </p:nvSpPr>
        <p:spPr>
          <a:xfrm>
            <a:off x="4841964" y="5143789"/>
            <a:ext cx="431075"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a:t>
            </a:r>
            <a:r>
              <a:rPr lang="en-IN" sz="1400" baseline="-25000" dirty="0" smtClean="0">
                <a:latin typeface="Times New Roman" pitchFamily="18" charset="0"/>
                <a:cs typeface="Times New Roman" pitchFamily="18" charset="0"/>
                <a:sym typeface="Symbol"/>
              </a:rPr>
              <a:t>1</a:t>
            </a:r>
            <a:endParaRPr lang="en-IN" sz="1400" baseline="-25000" dirty="0">
              <a:latin typeface="Times New Roman" pitchFamily="18" charset="0"/>
              <a:cs typeface="Times New Roman" pitchFamily="18" charset="0"/>
            </a:endParaRPr>
          </a:p>
        </p:txBody>
      </p:sp>
      <p:sp>
        <p:nvSpPr>
          <p:cNvPr id="71" name="TextBox 70"/>
          <p:cNvSpPr txBox="1"/>
          <p:nvPr/>
        </p:nvSpPr>
        <p:spPr>
          <a:xfrm>
            <a:off x="4850673" y="5413755"/>
            <a:ext cx="431075"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a:t>
            </a:r>
            <a:r>
              <a:rPr lang="en-IN" sz="1400" baseline="-25000" dirty="0" smtClean="0">
                <a:latin typeface="Times New Roman" pitchFamily="18" charset="0"/>
                <a:cs typeface="Times New Roman" pitchFamily="18" charset="0"/>
                <a:sym typeface="Symbol"/>
              </a:rPr>
              <a:t>2</a:t>
            </a:r>
            <a:endParaRPr lang="en-IN" sz="1400" baseline="-25000" dirty="0">
              <a:latin typeface="Times New Roman" pitchFamily="18" charset="0"/>
              <a:cs typeface="Times New Roman" pitchFamily="18" charset="0"/>
            </a:endParaRPr>
          </a:p>
        </p:txBody>
      </p:sp>
      <p:sp>
        <p:nvSpPr>
          <p:cNvPr id="72" name="TextBox 71"/>
          <p:cNvSpPr txBox="1"/>
          <p:nvPr/>
        </p:nvSpPr>
        <p:spPr>
          <a:xfrm>
            <a:off x="4872443" y="5918851"/>
            <a:ext cx="431075"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a:t>
            </a:r>
            <a:r>
              <a:rPr lang="en-IN" sz="1400" baseline="-25000" dirty="0" smtClean="0">
                <a:latin typeface="Times New Roman" pitchFamily="18" charset="0"/>
                <a:cs typeface="Times New Roman" pitchFamily="18" charset="0"/>
                <a:sym typeface="Symbol"/>
              </a:rPr>
              <a:t>k</a:t>
            </a:r>
            <a:endParaRPr lang="en-IN" sz="1400" baseline="-25000" dirty="0">
              <a:latin typeface="Times New Roman" pitchFamily="18" charset="0"/>
              <a:cs typeface="Times New Roman" pitchFamily="18" charset="0"/>
            </a:endParaRPr>
          </a:p>
        </p:txBody>
      </p:sp>
      <p:sp>
        <p:nvSpPr>
          <p:cNvPr id="73" name="TextBox 72"/>
          <p:cNvSpPr txBox="1"/>
          <p:nvPr/>
        </p:nvSpPr>
        <p:spPr>
          <a:xfrm>
            <a:off x="5464630" y="6354281"/>
            <a:ext cx="413656" cy="307777"/>
          </a:xfrm>
          <a:prstGeom prst="rect">
            <a:avLst/>
          </a:prstGeom>
          <a:noFill/>
        </p:spPr>
        <p:txBody>
          <a:bodyPr wrap="square" rtlCol="0">
            <a:spAutoFit/>
          </a:bodyPr>
          <a:lstStyle/>
          <a:p>
            <a:r>
              <a:rPr lang="en-IN" sz="1400" dirty="0" err="1" smtClean="0">
                <a:latin typeface="Times New Roman" panose="02020603050405020304" pitchFamily="18" charset="0"/>
                <a:cs typeface="Times New Roman" panose="02020603050405020304" pitchFamily="18" charset="0"/>
                <a:sym typeface="Symbol" panose="05050102010706020507" pitchFamily="18" charset="2"/>
              </a:rPr>
              <a:t>C</a:t>
            </a:r>
            <a:r>
              <a:rPr lang="en-IN" sz="1400" baseline="-25000" dirty="0" err="1" smtClean="0">
                <a:latin typeface="Times New Roman" panose="02020603050405020304" pitchFamily="18" charset="0"/>
                <a:cs typeface="Times New Roman" panose="02020603050405020304" pitchFamily="18" charset="0"/>
                <a:sym typeface="Symbol" panose="05050102010706020507" pitchFamily="18" charset="2"/>
              </a:rPr>
              <a:t>in</a:t>
            </a:r>
            <a:endParaRPr lang="en-IN" sz="1400" dirty="0">
              <a:latin typeface="Times New Roman" pitchFamily="18" charset="0"/>
              <a:cs typeface="Times New Roman" pitchFamily="18" charset="0"/>
            </a:endParaRPr>
          </a:p>
        </p:txBody>
      </p:sp>
      <p:sp>
        <p:nvSpPr>
          <p:cNvPr id="74" name="TextBox 73"/>
          <p:cNvSpPr txBox="1"/>
          <p:nvPr/>
        </p:nvSpPr>
        <p:spPr>
          <a:xfrm>
            <a:off x="6217920" y="5566155"/>
            <a:ext cx="496388" cy="307777"/>
          </a:xfrm>
          <a:prstGeom prst="rect">
            <a:avLst/>
          </a:prstGeom>
          <a:noFill/>
        </p:spPr>
        <p:txBody>
          <a:bodyPr wrap="square" rtlCol="0">
            <a:spAutoFit/>
          </a:bodyPr>
          <a:lstStyle/>
          <a:p>
            <a:r>
              <a:rPr lang="en-IN" sz="1400" dirty="0" err="1" smtClean="0">
                <a:latin typeface="Times New Roman" panose="02020603050405020304" pitchFamily="18" charset="0"/>
                <a:cs typeface="Times New Roman" panose="02020603050405020304" pitchFamily="18" charset="0"/>
                <a:sym typeface="Symbol" panose="05050102010706020507" pitchFamily="18" charset="2"/>
              </a:rPr>
              <a:t>C</a:t>
            </a:r>
            <a:r>
              <a:rPr lang="en-IN" sz="1400" baseline="-25000" dirty="0" err="1" smtClean="0">
                <a:latin typeface="Times New Roman" panose="02020603050405020304" pitchFamily="18" charset="0"/>
                <a:cs typeface="Times New Roman" panose="02020603050405020304" pitchFamily="18" charset="0"/>
                <a:sym typeface="Symbol" panose="05050102010706020507" pitchFamily="18" charset="2"/>
              </a:rPr>
              <a:t>out</a:t>
            </a:r>
            <a:endParaRPr lang="en-IN" sz="1400" dirty="0">
              <a:latin typeface="Times New Roman" pitchFamily="18" charset="0"/>
              <a:cs typeface="Times New Roman" pitchFamily="18" charset="0"/>
            </a:endParaRPr>
          </a:p>
        </p:txBody>
      </p:sp>
      <p:cxnSp>
        <p:nvCxnSpPr>
          <p:cNvPr id="77" name="Straight Connector 76"/>
          <p:cNvCxnSpPr/>
          <p:nvPr/>
        </p:nvCxnSpPr>
        <p:spPr>
          <a:xfrm rot="16200000" flipV="1">
            <a:off x="5238206" y="5187335"/>
            <a:ext cx="143694" cy="13060"/>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rot="16200000" flipV="1">
            <a:off x="5336179" y="5154677"/>
            <a:ext cx="204654" cy="8707"/>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rot="5400000" flipH="1" flipV="1">
            <a:off x="5418910" y="5106777"/>
            <a:ext cx="326573" cy="4"/>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rot="5400000" flipH="1" flipV="1">
            <a:off x="5499463" y="5056704"/>
            <a:ext cx="444140" cy="3"/>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rot="5400000" flipH="1" flipV="1">
            <a:off x="2808516" y="5291835"/>
            <a:ext cx="235131"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flipV="1">
            <a:off x="2913017" y="5135082"/>
            <a:ext cx="2416629" cy="261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flipV="1">
            <a:off x="2808514" y="5056704"/>
            <a:ext cx="2664823" cy="261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flipV="1">
            <a:off x="2677886" y="4939138"/>
            <a:ext cx="2899954" cy="39189"/>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Straight Connector 112"/>
          <p:cNvCxnSpPr/>
          <p:nvPr/>
        </p:nvCxnSpPr>
        <p:spPr>
          <a:xfrm flipV="1">
            <a:off x="2573383" y="4830282"/>
            <a:ext cx="3169920" cy="566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a:xfrm rot="16200000" flipH="1">
            <a:off x="2561114" y="5318754"/>
            <a:ext cx="508657" cy="12269"/>
          </a:xfrm>
          <a:prstGeom prst="line">
            <a:avLst/>
          </a:prstGeom>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rot="16200000" flipH="1">
            <a:off x="2279467" y="5376744"/>
            <a:ext cx="809901" cy="13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rot="16200000" flipH="1">
            <a:off x="2059578" y="5431176"/>
            <a:ext cx="1062448" cy="17414"/>
          </a:xfrm>
          <a:prstGeom prst="line">
            <a:avLst/>
          </a:prstGeom>
        </p:spPr>
        <p:style>
          <a:lnRef idx="1">
            <a:schemeClr val="accent1"/>
          </a:lnRef>
          <a:fillRef idx="0">
            <a:schemeClr val="accent1"/>
          </a:fillRef>
          <a:effectRef idx="0">
            <a:schemeClr val="accent1"/>
          </a:effectRef>
          <a:fontRef idx="minor">
            <a:schemeClr val="tx1"/>
          </a:fontRef>
        </p:style>
      </p:cxnSp>
      <p:sp>
        <p:nvSpPr>
          <p:cNvPr id="153" name="TextBox 152"/>
          <p:cNvSpPr txBox="1"/>
          <p:nvPr/>
        </p:nvSpPr>
        <p:spPr>
          <a:xfrm>
            <a:off x="6518366" y="2769326"/>
            <a:ext cx="5421085" cy="2308324"/>
          </a:xfrm>
          <a:prstGeom prst="rect">
            <a:avLst/>
          </a:prstGeom>
          <a:noFill/>
        </p:spPr>
        <p:txBody>
          <a:bodyPr wrap="square" rtlCol="0">
            <a:spAutoFit/>
          </a:bodyPr>
          <a:lstStyle/>
          <a:p>
            <a:r>
              <a:rPr lang="en-IN" dirty="0" smtClean="0">
                <a:latin typeface="Times New Roman" pitchFamily="18" charset="0"/>
                <a:cs typeface="Times New Roman" pitchFamily="18" charset="0"/>
              </a:rPr>
              <a:t>At </a:t>
            </a:r>
            <a:r>
              <a:rPr lang="en-IN" dirty="0" err="1" smtClean="0">
                <a:latin typeface="Times New Roman" pitchFamily="18" charset="0"/>
                <a:cs typeface="Times New Roman" pitchFamily="18" charset="0"/>
              </a:rPr>
              <a:t>i</a:t>
            </a:r>
            <a:r>
              <a:rPr lang="en-IN" baseline="30000" dirty="0" err="1" smtClean="0">
                <a:latin typeface="Times New Roman" pitchFamily="18" charset="0"/>
                <a:cs typeface="Times New Roman" pitchFamily="18" charset="0"/>
              </a:rPr>
              <a:t>th</a:t>
            </a:r>
            <a:r>
              <a:rPr lang="en-IN" dirty="0" smtClean="0">
                <a:latin typeface="Times New Roman" pitchFamily="18" charset="0"/>
                <a:cs typeface="Times New Roman" pitchFamily="18" charset="0"/>
              </a:rPr>
              <a:t> clock pulse </a:t>
            </a:r>
            <a:r>
              <a:rPr lang="en-IN" dirty="0" smtClean="0">
                <a:latin typeface="Times New Roman" pitchFamily="18" charset="0"/>
                <a:cs typeface="Times New Roman" pitchFamily="18" charset="0"/>
                <a:sym typeface="Symbol"/>
              </a:rPr>
              <a:t></a:t>
            </a:r>
            <a:r>
              <a:rPr lang="en-IN" baseline="-25000" dirty="0" err="1" smtClean="0">
                <a:latin typeface="Times New Roman" pitchFamily="18" charset="0"/>
                <a:cs typeface="Times New Roman" pitchFamily="18" charset="0"/>
                <a:sym typeface="Symbol"/>
              </a:rPr>
              <a:t>i</a:t>
            </a:r>
            <a:r>
              <a:rPr lang="en-IN" dirty="0" smtClean="0">
                <a:latin typeface="Times New Roman" pitchFamily="18" charset="0"/>
                <a:cs typeface="Times New Roman" pitchFamily="18" charset="0"/>
                <a:sym typeface="Symbol"/>
              </a:rPr>
              <a:t> output of sequence counter is activated to generate the desired control signals at step </a:t>
            </a:r>
            <a:r>
              <a:rPr lang="en-IN" dirty="0" err="1" smtClean="0">
                <a:latin typeface="Times New Roman" pitchFamily="18" charset="0"/>
                <a:cs typeface="Times New Roman" pitchFamily="18" charset="0"/>
                <a:sym typeface="Symbol"/>
              </a:rPr>
              <a:t>i</a:t>
            </a:r>
            <a:r>
              <a:rPr lang="en-IN" dirty="0" smtClean="0">
                <a:latin typeface="Times New Roman" pitchFamily="18" charset="0"/>
                <a:cs typeface="Times New Roman" pitchFamily="18" charset="0"/>
                <a:sym typeface="Symbol"/>
              </a:rPr>
              <a:t> of every instruction cycle</a:t>
            </a:r>
          </a:p>
          <a:p>
            <a:r>
              <a:rPr lang="en-IN" dirty="0" smtClean="0">
                <a:latin typeface="Times New Roman" pitchFamily="18" charset="0"/>
                <a:cs typeface="Times New Roman" pitchFamily="18" charset="0"/>
                <a:sym typeface="Symbol"/>
              </a:rPr>
              <a:t>If it is required to vary the operations performed in step </a:t>
            </a:r>
            <a:r>
              <a:rPr lang="en-IN" dirty="0" err="1" smtClean="0">
                <a:latin typeface="Times New Roman" pitchFamily="18" charset="0"/>
                <a:cs typeface="Times New Roman" pitchFamily="18" charset="0"/>
                <a:sym typeface="Symbol"/>
              </a:rPr>
              <a:t>i</a:t>
            </a:r>
            <a:r>
              <a:rPr lang="en-IN" dirty="0" smtClean="0">
                <a:latin typeface="Times New Roman" pitchFamily="18" charset="0"/>
                <a:cs typeface="Times New Roman" pitchFamily="18" charset="0"/>
                <a:sym typeface="Symbol"/>
              </a:rPr>
              <a:t> depending on certain control signals or condition variables applied to the CU (</a:t>
            </a:r>
            <a:r>
              <a:rPr lang="en-IN" dirty="0" err="1" smtClean="0">
                <a:latin typeface="Times New Roman" pitchFamily="18" charset="0"/>
                <a:cs typeface="Times New Roman" pitchFamily="18" charset="0"/>
                <a:sym typeface="Symbol" panose="05050102010706020507" pitchFamily="18" charset="2"/>
              </a:rPr>
              <a:t>C</a:t>
            </a:r>
            <a:r>
              <a:rPr lang="en-IN" baseline="-25000" dirty="0" err="1" smtClean="0">
                <a:latin typeface="Times New Roman" pitchFamily="18" charset="0"/>
                <a:cs typeface="Times New Roman" pitchFamily="18" charset="0"/>
                <a:sym typeface="Symbol" panose="05050102010706020507" pitchFamily="18" charset="2"/>
              </a:rPr>
              <a:t>in</a:t>
            </a:r>
            <a:r>
              <a:rPr lang="en-IN" dirty="0" smtClean="0">
                <a:latin typeface="Times New Roman" pitchFamily="18" charset="0"/>
                <a:cs typeface="Times New Roman" pitchFamily="18" charset="0"/>
                <a:sym typeface="Symbol" panose="05050102010706020507" pitchFamily="18" charset="2"/>
              </a:rPr>
              <a:t> = {</a:t>
            </a:r>
            <a:r>
              <a:rPr lang="en-IN" dirty="0" err="1" smtClean="0">
                <a:latin typeface="Times New Roman" pitchFamily="18" charset="0"/>
                <a:cs typeface="Times New Roman" pitchFamily="18" charset="0"/>
              </a:rPr>
              <a:t>C</a:t>
            </a:r>
            <a:r>
              <a:rPr lang="en-IN" baseline="-25000" dirty="0" err="1" smtClean="0">
                <a:latin typeface="Times New Roman" pitchFamily="18" charset="0"/>
                <a:cs typeface="Times New Roman" pitchFamily="18" charset="0"/>
              </a:rPr>
              <a:t>in</a:t>
            </a:r>
            <a:r>
              <a:rPr lang="en-IN" dirty="0" smtClean="0">
                <a:latin typeface="Times New Roman" pitchFamily="18" charset="0"/>
                <a:cs typeface="Times New Roman" pitchFamily="18" charset="0"/>
                <a:sym typeface="Symbol" panose="05050102010706020507" pitchFamily="18" charset="2"/>
              </a:rPr>
              <a:t>, </a:t>
            </a:r>
            <a:r>
              <a:rPr lang="en-IN" dirty="0" err="1" smtClean="0">
                <a:latin typeface="Times New Roman" pitchFamily="18" charset="0"/>
                <a:cs typeface="Times New Roman" pitchFamily="18" charset="0"/>
              </a:rPr>
              <a:t>C</a:t>
            </a:r>
            <a:r>
              <a:rPr lang="en-IN" baseline="-25000" dirty="0" err="1" smtClean="0">
                <a:latin typeface="Times New Roman" pitchFamily="18" charset="0"/>
                <a:cs typeface="Times New Roman" pitchFamily="18" charset="0"/>
              </a:rPr>
              <a:t>in</a:t>
            </a:r>
            <a:r>
              <a:rPr lang="en-IN" dirty="0" smtClean="0">
                <a:latin typeface="Times New Roman" pitchFamily="18" charset="0"/>
                <a:cs typeface="Times New Roman" pitchFamily="18" charset="0"/>
                <a:sym typeface="Symbol" panose="05050102010706020507" pitchFamily="18" charset="2"/>
              </a:rPr>
              <a:t>}), a logic circuit combines </a:t>
            </a:r>
            <a:r>
              <a:rPr lang="en-IN" dirty="0" err="1" smtClean="0">
                <a:latin typeface="Times New Roman" pitchFamily="18" charset="0"/>
                <a:cs typeface="Times New Roman" pitchFamily="18" charset="0"/>
                <a:sym typeface="Symbol" panose="05050102010706020507" pitchFamily="18" charset="2"/>
              </a:rPr>
              <a:t>C</a:t>
            </a:r>
            <a:r>
              <a:rPr lang="en-IN" baseline="-25000" dirty="0" err="1" smtClean="0">
                <a:latin typeface="Times New Roman" pitchFamily="18" charset="0"/>
                <a:cs typeface="Times New Roman" pitchFamily="18" charset="0"/>
                <a:sym typeface="Symbol" panose="05050102010706020507" pitchFamily="18" charset="2"/>
              </a:rPr>
              <a:t>in</a:t>
            </a:r>
            <a:r>
              <a:rPr lang="en-IN" dirty="0" smtClean="0">
                <a:latin typeface="Times New Roman" pitchFamily="18" charset="0"/>
                <a:cs typeface="Times New Roman" pitchFamily="18" charset="0"/>
                <a:sym typeface="Symbol" panose="05050102010706020507" pitchFamily="18" charset="2"/>
              </a:rPr>
              <a:t> with the timing signal </a:t>
            </a:r>
            <a:r>
              <a:rPr lang="en-IN" dirty="0" smtClean="0">
                <a:latin typeface="Times New Roman" pitchFamily="18" charset="0"/>
                <a:cs typeface="Times New Roman" pitchFamily="18" charset="0"/>
                <a:sym typeface="Symbol"/>
              </a:rPr>
              <a:t>{</a:t>
            </a:r>
            <a:r>
              <a:rPr lang="en-IN" baseline="-25000" dirty="0" err="1" smtClean="0">
                <a:latin typeface="Times New Roman" pitchFamily="18" charset="0"/>
                <a:cs typeface="Times New Roman" pitchFamily="18" charset="0"/>
                <a:sym typeface="Symbol"/>
              </a:rPr>
              <a:t>i</a:t>
            </a:r>
            <a:r>
              <a:rPr lang="en-IN" dirty="0" smtClean="0">
                <a:latin typeface="Times New Roman" pitchFamily="18" charset="0"/>
                <a:cs typeface="Times New Roman" pitchFamily="18" charset="0"/>
                <a:sym typeface="Symbol"/>
              </a:rPr>
              <a:t>}  generated by the sequence counter.</a:t>
            </a:r>
            <a:endParaRPr lang="en-IN" dirty="0">
              <a:latin typeface="Times New Roman" pitchFamily="18" charset="0"/>
              <a:cs typeface="Times New Roman" pitchFamily="18" charset="0"/>
            </a:endParaRPr>
          </a:p>
        </p:txBody>
      </p:sp>
      <p:cxnSp>
        <p:nvCxnSpPr>
          <p:cNvPr id="84" name="Straight Connector 83"/>
          <p:cNvCxnSpPr/>
          <p:nvPr/>
        </p:nvCxnSpPr>
        <p:spPr>
          <a:xfrm rot="5400000" flipH="1" flipV="1">
            <a:off x="1410788" y="5760720"/>
            <a:ext cx="235132"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9816" y="222068"/>
            <a:ext cx="11808823" cy="2308324"/>
          </a:xfrm>
          <a:prstGeom prst="rect">
            <a:avLst/>
          </a:prstGeom>
          <a:noFill/>
        </p:spPr>
        <p:txBody>
          <a:bodyPr wrap="square" rtlCol="0">
            <a:spAutoFit/>
          </a:bodyPr>
          <a:lstStyle/>
          <a:p>
            <a:r>
              <a:rPr lang="en-IN" u="sng" dirty="0" smtClean="0">
                <a:latin typeface="Times New Roman" panose="02020603050405020304" pitchFamily="18" charset="0"/>
                <a:cs typeface="Times New Roman" pitchFamily="18" charset="0"/>
              </a:rPr>
              <a:t>Disadvantage of hardwired CU</a:t>
            </a:r>
          </a:p>
          <a:p>
            <a:r>
              <a:rPr lang="en-IN" dirty="0" smtClean="0">
                <a:latin typeface="Times New Roman" pitchFamily="18" charset="0"/>
                <a:cs typeface="Times New Roman" pitchFamily="18" charset="0"/>
              </a:rPr>
              <a:t>Hardwired  CU becomes complicated in case of large number of instructions and control lines, costly, difficult to design</a:t>
            </a:r>
          </a:p>
          <a:p>
            <a:r>
              <a:rPr lang="en-IN" dirty="0" smtClean="0">
                <a:latin typeface="Times New Roman" pitchFamily="18" charset="0"/>
                <a:cs typeface="Times New Roman" pitchFamily="18" charset="0"/>
              </a:rPr>
              <a:t>Inherently inflexible if it is required to correct design errors or modify instruction set, needs redesign of CU </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Microprogrammed CU</a:t>
            </a:r>
          </a:p>
          <a:p>
            <a:endParaRPr lang="en-IN" dirty="0">
              <a:latin typeface="Times New Roman" pitchFamily="18" charset="0"/>
              <a:cs typeface="Times New Roman" pitchFamily="18" charset="0"/>
            </a:endParaRPr>
          </a:p>
          <a:p>
            <a:r>
              <a:rPr lang="en-IN" dirty="0" smtClean="0">
                <a:latin typeface="Times New Roman" pitchFamily="18" charset="0"/>
                <a:cs typeface="Times New Roman" pitchFamily="18" charset="0"/>
              </a:rPr>
              <a:t>Instruction/Operation:  </a:t>
            </a:r>
            <a:r>
              <a:rPr lang="en-IN" dirty="0">
                <a:latin typeface="Times New Roman" panose="02020603050405020304" pitchFamily="18" charset="0"/>
                <a:cs typeface="Times New Roman" panose="02020603050405020304" pitchFamily="18" charset="0"/>
              </a:rPr>
              <a:t>Instruction is executed to do </a:t>
            </a:r>
            <a:r>
              <a:rPr lang="en-IN" dirty="0" smtClean="0">
                <a:latin typeface="Times New Roman" panose="02020603050405020304" pitchFamily="18" charset="0"/>
                <a:cs typeface="Times New Roman" panose="02020603050405020304" pitchFamily="18" charset="0"/>
              </a:rPr>
              <a:t>operation. For </a:t>
            </a:r>
            <a:r>
              <a:rPr lang="en-IN" dirty="0">
                <a:latin typeface="Times New Roman" panose="02020603050405020304" pitchFamily="18" charset="0"/>
                <a:cs typeface="Times New Roman" panose="02020603050405020304" pitchFamily="18" charset="0"/>
              </a:rPr>
              <a:t>example, ADD R1,X is an instruction. It does add operation. It adds the content of register R1 and the content of the memory location </a:t>
            </a:r>
            <a:r>
              <a:rPr lang="en-IN" dirty="0" smtClean="0">
                <a:latin typeface="Times New Roman" panose="02020603050405020304" pitchFamily="18" charset="0"/>
                <a:cs typeface="Times New Roman" panose="02020603050405020304" pitchFamily="18" charset="0"/>
              </a:rPr>
              <a:t>X.</a:t>
            </a:r>
          </a:p>
        </p:txBody>
      </p:sp>
      <p:sp>
        <p:nvSpPr>
          <p:cNvPr id="4" name="TextBox 3"/>
          <p:cNvSpPr txBox="1"/>
          <p:nvPr/>
        </p:nvSpPr>
        <p:spPr>
          <a:xfrm>
            <a:off x="169816" y="3164681"/>
            <a:ext cx="4301543" cy="3139321"/>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Microinstruction/Micro operation</a:t>
            </a:r>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Add operation in the instruction ADD R1, X is </a:t>
            </a:r>
            <a:r>
              <a:rPr lang="en-IN" dirty="0" smtClean="0">
                <a:latin typeface="Times New Roman" panose="02020603050405020304" pitchFamily="18" charset="0"/>
                <a:cs typeface="Times New Roman" panose="02020603050405020304" pitchFamily="18" charset="0"/>
              </a:rPr>
              <a:t>divided </a:t>
            </a:r>
            <a:r>
              <a:rPr lang="en-IN" dirty="0">
                <a:latin typeface="Times New Roman" panose="02020603050405020304" pitchFamily="18" charset="0"/>
                <a:cs typeface="Times New Roman" panose="02020603050405020304" pitchFamily="18" charset="0"/>
              </a:rPr>
              <a:t>into a few micro operation as follows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MAR </a:t>
            </a:r>
            <a:r>
              <a:rPr lang="en-IN" dirty="0">
                <a:latin typeface="Times New Roman" panose="02020603050405020304" pitchFamily="18" charset="0"/>
                <a:cs typeface="Times New Roman" panose="02020603050405020304" pitchFamily="18" charset="0"/>
                <a:sym typeface="Symbol" panose="05050102010706020507" pitchFamily="18" charset="2"/>
              </a:rPr>
              <a:t> PC</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sym typeface="Symbol" panose="05050102010706020507" pitchFamily="18" charset="2"/>
              </a:rPr>
              <a:t>MDR  (M(MAR)), PC  PC+1</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sym typeface="Symbol" panose="05050102010706020507" pitchFamily="18" charset="2"/>
              </a:rPr>
              <a:t>IR  MDR</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sym typeface="Symbol" panose="05050102010706020507" pitchFamily="18" charset="2"/>
              </a:rPr>
              <a:t>Control block  IR(opcode)</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sym typeface="Symbol" panose="05050102010706020507" pitchFamily="18" charset="2"/>
              </a:rPr>
              <a:t>MAR  IR(address) ----address = X</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sym typeface="Symbol" panose="05050102010706020507" pitchFamily="18" charset="2"/>
              </a:rPr>
              <a:t>MDR  </a:t>
            </a:r>
            <a:r>
              <a:rPr lang="en-IN" dirty="0" smtClean="0">
                <a:latin typeface="Times New Roman" panose="02020603050405020304" pitchFamily="18" charset="0"/>
                <a:cs typeface="Times New Roman" panose="02020603050405020304" pitchFamily="18" charset="0"/>
                <a:sym typeface="Symbol" panose="05050102010706020507" pitchFamily="18" charset="2"/>
              </a:rPr>
              <a:t>operand = data at X </a:t>
            </a:r>
            <a:endParaRPr lang="en-IN" dirty="0">
              <a:latin typeface="Times New Roman" panose="02020603050405020304" pitchFamily="18" charset="0"/>
              <a:cs typeface="Times New Roman" panose="02020603050405020304" pitchFamily="18" charset="0"/>
              <a:sym typeface="Symbol" panose="05050102010706020507" pitchFamily="18" charset="2"/>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sym typeface="Symbol" panose="05050102010706020507" pitchFamily="18" charset="2"/>
              </a:rPr>
              <a:t>R1  R1 + (MDR</a:t>
            </a:r>
            <a:r>
              <a:rPr lang="en-IN" dirty="0" smtClean="0">
                <a:latin typeface="Times New Roman" panose="02020603050405020304" pitchFamily="18" charset="0"/>
                <a:cs typeface="Times New Roman" panose="02020603050405020304" pitchFamily="18" charset="0"/>
                <a:sym typeface="Symbol" panose="05050102010706020507" pitchFamily="18" charset="2"/>
              </a:rPr>
              <a:t>)</a:t>
            </a:r>
            <a:endParaRPr lang="en-IN" dirty="0"/>
          </a:p>
        </p:txBody>
      </p:sp>
      <p:sp>
        <p:nvSpPr>
          <p:cNvPr id="5" name="TextBox 4"/>
          <p:cNvSpPr txBox="1"/>
          <p:nvPr/>
        </p:nvSpPr>
        <p:spPr>
          <a:xfrm>
            <a:off x="4471360" y="3395513"/>
            <a:ext cx="6836292" cy="2031325"/>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To execute each micro operation a set of control signal is required to activate</a:t>
            </a:r>
          </a:p>
          <a:p>
            <a:r>
              <a:rPr lang="en-IN" dirty="0" smtClean="0">
                <a:latin typeface="Times New Roman" panose="02020603050405020304" pitchFamily="18" charset="0"/>
                <a:cs typeface="Times New Roman" panose="02020603050405020304" pitchFamily="18" charset="0"/>
              </a:rPr>
              <a:t>This set of control signal is activated by microinstruction</a:t>
            </a:r>
          </a:p>
          <a:p>
            <a:r>
              <a:rPr lang="en-IN" dirty="0" smtClean="0">
                <a:latin typeface="Times New Roman" panose="02020603050405020304" pitchFamily="18" charset="0"/>
                <a:cs typeface="Times New Roman" panose="02020603050405020304" pitchFamily="18" charset="0"/>
              </a:rPr>
              <a:t>Hence to execute each micro operation, one microinstruction is required. For example, add operation in ADD R1, X is divided into 7 micro operations, and so 7 microinstructions are required to execute 7 micro operations.</a:t>
            </a:r>
            <a:endParaRPr lang="en-IN"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4547" y="167425"/>
            <a:ext cx="11809926" cy="2031325"/>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Microprogram, microinstruction, control memory (CM)</a:t>
            </a:r>
          </a:p>
          <a:p>
            <a:endParaRPr lang="en-IN" dirty="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Microprogram = a sequence of microinstructions</a:t>
            </a:r>
          </a:p>
          <a:p>
            <a:r>
              <a:rPr lang="en-IN" dirty="0" smtClean="0">
                <a:latin typeface="Times New Roman" panose="02020603050405020304" pitchFamily="18" charset="0"/>
                <a:cs typeface="Times New Roman" panose="02020603050405020304" pitchFamily="18" charset="0"/>
              </a:rPr>
              <a:t>ADD R1, X </a:t>
            </a:r>
            <a:r>
              <a:rPr lang="en-IN" dirty="0" smtClean="0">
                <a:latin typeface="Times New Roman" panose="02020603050405020304" pitchFamily="18" charset="0"/>
                <a:cs typeface="Times New Roman" panose="02020603050405020304" pitchFamily="18" charset="0"/>
                <a:sym typeface="Symbol" panose="05050102010706020507" pitchFamily="18" charset="2"/>
              </a:rPr>
              <a:t> instruction that does addition operation, divided into 7 micro operations which needs 7 sets of control signal for execution and hence 7 microinstructions.</a:t>
            </a:r>
          </a:p>
          <a:p>
            <a:r>
              <a:rPr lang="en-IN" dirty="0" smtClean="0">
                <a:latin typeface="Times New Roman" panose="02020603050405020304" pitchFamily="18" charset="0"/>
                <a:cs typeface="Times New Roman" panose="02020603050405020304" pitchFamily="18" charset="0"/>
                <a:sym typeface="Symbol" panose="05050102010706020507" pitchFamily="18" charset="2"/>
              </a:rPr>
              <a:t>So the </a:t>
            </a:r>
            <a:r>
              <a:rPr lang="en-IN" dirty="0" err="1" smtClean="0">
                <a:latin typeface="Times New Roman" panose="02020603050405020304" pitchFamily="18" charset="0"/>
                <a:cs typeface="Times New Roman" panose="02020603050405020304" pitchFamily="18" charset="0"/>
                <a:sym typeface="Symbol" panose="05050102010706020507" pitchFamily="18" charset="2"/>
              </a:rPr>
              <a:t>microprogram</a:t>
            </a:r>
            <a:r>
              <a:rPr lang="en-IN" dirty="0" smtClean="0">
                <a:latin typeface="Times New Roman" panose="02020603050405020304" pitchFamily="18" charset="0"/>
                <a:cs typeface="Times New Roman" panose="02020603050405020304" pitchFamily="18" charset="0"/>
                <a:sym typeface="Symbol" panose="05050102010706020507" pitchFamily="18" charset="2"/>
              </a:rPr>
              <a:t> corresponding to the instruction ADD R1, X contains 7 microinstructions. This microprogram resides in CM with starting address say P. </a:t>
            </a:r>
            <a:endParaRPr lang="en-IN" dirty="0">
              <a:latin typeface="Times New Roman" panose="02020603050405020304" pitchFamily="18" charset="0"/>
              <a:cs typeface="Times New Roman" panose="02020603050405020304" pitchFamily="18" charset="0"/>
            </a:endParaRPr>
          </a:p>
        </p:txBody>
      </p:sp>
      <p:sp>
        <p:nvSpPr>
          <p:cNvPr id="5" name="Rectangle 4"/>
          <p:cNvSpPr/>
          <p:nvPr/>
        </p:nvSpPr>
        <p:spPr>
          <a:xfrm>
            <a:off x="1041009" y="2374493"/>
            <a:ext cx="1939559" cy="340200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p:cNvSpPr/>
          <p:nvPr/>
        </p:nvSpPr>
        <p:spPr>
          <a:xfrm>
            <a:off x="1301261" y="2796320"/>
            <a:ext cx="1392702" cy="27994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Connector 7"/>
          <p:cNvCxnSpPr/>
          <p:nvPr/>
        </p:nvCxnSpPr>
        <p:spPr>
          <a:xfrm flipV="1">
            <a:off x="1301261" y="3702976"/>
            <a:ext cx="1392702" cy="14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1301261" y="3943909"/>
            <a:ext cx="1392702" cy="14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1301261" y="4196038"/>
            <a:ext cx="1392702" cy="14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1301261" y="5063773"/>
            <a:ext cx="1392702" cy="14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1301261" y="4650588"/>
            <a:ext cx="1392702" cy="14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1301261" y="4422780"/>
            <a:ext cx="1392702" cy="14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1301261" y="3450847"/>
            <a:ext cx="1392702" cy="14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1301261" y="4843532"/>
            <a:ext cx="1392702" cy="14068"/>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1779563" y="3420679"/>
            <a:ext cx="436097" cy="309490"/>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a:t>
            </a:r>
            <a:r>
              <a:rPr lang="en-IN" sz="1400" dirty="0" smtClean="0">
                <a:latin typeface="Times New Roman" panose="02020603050405020304" pitchFamily="18" charset="0"/>
                <a:cs typeface="Times New Roman" panose="02020603050405020304" pitchFamily="18" charset="0"/>
              </a:rPr>
              <a:t>I1</a:t>
            </a:r>
            <a:endParaRPr lang="en-IN" sz="1400" dirty="0">
              <a:latin typeface="Times New Roman" panose="02020603050405020304" pitchFamily="18" charset="0"/>
              <a:cs typeface="Times New Roman" panose="02020603050405020304" pitchFamily="18" charset="0"/>
            </a:endParaRPr>
          </a:p>
        </p:txBody>
      </p:sp>
      <p:sp>
        <p:nvSpPr>
          <p:cNvPr id="17" name="TextBox 16"/>
          <p:cNvSpPr txBox="1"/>
          <p:nvPr/>
        </p:nvSpPr>
        <p:spPr>
          <a:xfrm>
            <a:off x="1779563" y="3690940"/>
            <a:ext cx="534572"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a:t>
            </a:r>
            <a:r>
              <a:rPr lang="en-IN" sz="1400" dirty="0" smtClean="0">
                <a:latin typeface="Times New Roman" panose="02020603050405020304" pitchFamily="18" charset="0"/>
                <a:cs typeface="Times New Roman" panose="02020603050405020304" pitchFamily="18" charset="0"/>
              </a:rPr>
              <a:t>I2</a:t>
            </a:r>
            <a:endParaRPr lang="en-IN" sz="1400" dirty="0">
              <a:latin typeface="Times New Roman" panose="02020603050405020304" pitchFamily="18" charset="0"/>
              <a:cs typeface="Times New Roman" panose="02020603050405020304" pitchFamily="18" charset="0"/>
            </a:endParaRPr>
          </a:p>
        </p:txBody>
      </p:sp>
      <p:sp>
        <p:nvSpPr>
          <p:cNvPr id="18" name="TextBox 17"/>
          <p:cNvSpPr txBox="1"/>
          <p:nvPr/>
        </p:nvSpPr>
        <p:spPr>
          <a:xfrm>
            <a:off x="1765494" y="3939850"/>
            <a:ext cx="464233"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a:t>
            </a:r>
            <a:r>
              <a:rPr lang="en-IN" sz="1400" dirty="0" smtClean="0">
                <a:latin typeface="Times New Roman" panose="02020603050405020304" pitchFamily="18" charset="0"/>
                <a:cs typeface="Times New Roman" panose="02020603050405020304" pitchFamily="18" charset="0"/>
              </a:rPr>
              <a:t>I3</a:t>
            </a:r>
            <a:endParaRPr lang="en-IN" sz="1400" dirty="0">
              <a:latin typeface="Times New Roman" panose="02020603050405020304" pitchFamily="18" charset="0"/>
              <a:cs typeface="Times New Roman" panose="02020603050405020304" pitchFamily="18" charset="0"/>
            </a:endParaRPr>
          </a:p>
        </p:txBody>
      </p:sp>
      <p:sp>
        <p:nvSpPr>
          <p:cNvPr id="19" name="TextBox 18"/>
          <p:cNvSpPr txBox="1"/>
          <p:nvPr/>
        </p:nvSpPr>
        <p:spPr>
          <a:xfrm>
            <a:off x="1751427" y="4181193"/>
            <a:ext cx="464233"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a:t>
            </a:r>
            <a:r>
              <a:rPr lang="en-IN" sz="1400" dirty="0" smtClean="0">
                <a:latin typeface="Times New Roman" panose="02020603050405020304" pitchFamily="18" charset="0"/>
                <a:cs typeface="Times New Roman" panose="02020603050405020304" pitchFamily="18" charset="0"/>
              </a:rPr>
              <a:t>I4</a:t>
            </a:r>
            <a:endParaRPr lang="en-IN" sz="1400" dirty="0">
              <a:latin typeface="Times New Roman" panose="02020603050405020304" pitchFamily="18" charset="0"/>
              <a:cs typeface="Times New Roman" panose="02020603050405020304" pitchFamily="18" charset="0"/>
            </a:endParaRPr>
          </a:p>
        </p:txBody>
      </p:sp>
      <p:sp>
        <p:nvSpPr>
          <p:cNvPr id="20" name="TextBox 19"/>
          <p:cNvSpPr txBox="1"/>
          <p:nvPr/>
        </p:nvSpPr>
        <p:spPr>
          <a:xfrm>
            <a:off x="1737360" y="4391968"/>
            <a:ext cx="464233"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a:t>
            </a:r>
            <a:r>
              <a:rPr lang="en-IN" sz="1400" dirty="0" smtClean="0">
                <a:latin typeface="Times New Roman" panose="02020603050405020304" pitchFamily="18" charset="0"/>
                <a:cs typeface="Times New Roman" panose="02020603050405020304" pitchFamily="18" charset="0"/>
              </a:rPr>
              <a:t>I5</a:t>
            </a:r>
            <a:endParaRPr lang="en-IN" sz="1400" dirty="0">
              <a:latin typeface="Times New Roman" panose="02020603050405020304" pitchFamily="18" charset="0"/>
              <a:cs typeface="Times New Roman" panose="02020603050405020304" pitchFamily="18" charset="0"/>
            </a:endParaRPr>
          </a:p>
        </p:txBody>
      </p:sp>
      <p:sp>
        <p:nvSpPr>
          <p:cNvPr id="21" name="TextBox 20"/>
          <p:cNvSpPr txBox="1"/>
          <p:nvPr/>
        </p:nvSpPr>
        <p:spPr>
          <a:xfrm>
            <a:off x="1723293" y="4601087"/>
            <a:ext cx="464233"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a:t>
            </a:r>
            <a:r>
              <a:rPr lang="en-IN" sz="1400" dirty="0" smtClean="0">
                <a:latin typeface="Times New Roman" panose="02020603050405020304" pitchFamily="18" charset="0"/>
                <a:cs typeface="Times New Roman" panose="02020603050405020304" pitchFamily="18" charset="0"/>
              </a:rPr>
              <a:t>I6</a:t>
            </a:r>
            <a:endParaRPr lang="en-IN" sz="1400" dirty="0">
              <a:latin typeface="Times New Roman" panose="02020603050405020304" pitchFamily="18" charset="0"/>
              <a:cs typeface="Times New Roman" panose="02020603050405020304" pitchFamily="18" charset="0"/>
            </a:endParaRPr>
          </a:p>
        </p:txBody>
      </p:sp>
      <p:sp>
        <p:nvSpPr>
          <p:cNvPr id="22" name="TextBox 21"/>
          <p:cNvSpPr txBox="1"/>
          <p:nvPr/>
        </p:nvSpPr>
        <p:spPr>
          <a:xfrm>
            <a:off x="1709226" y="4814827"/>
            <a:ext cx="464233"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a:t>
            </a:r>
            <a:r>
              <a:rPr lang="en-IN" sz="1400" dirty="0" smtClean="0">
                <a:latin typeface="Times New Roman" panose="02020603050405020304" pitchFamily="18" charset="0"/>
                <a:cs typeface="Times New Roman" panose="02020603050405020304" pitchFamily="18" charset="0"/>
              </a:rPr>
              <a:t>I7</a:t>
            </a:r>
            <a:endParaRPr lang="en-IN" sz="1400" dirty="0">
              <a:latin typeface="Times New Roman" panose="02020603050405020304" pitchFamily="18" charset="0"/>
              <a:cs typeface="Times New Roman" panose="02020603050405020304" pitchFamily="18" charset="0"/>
            </a:endParaRPr>
          </a:p>
        </p:txBody>
      </p:sp>
      <p:sp>
        <p:nvSpPr>
          <p:cNvPr id="23" name="TextBox 22"/>
          <p:cNvSpPr txBox="1"/>
          <p:nvPr/>
        </p:nvSpPr>
        <p:spPr>
          <a:xfrm>
            <a:off x="1041008" y="2431518"/>
            <a:ext cx="464233"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CU</a:t>
            </a:r>
            <a:endParaRPr lang="en-IN" sz="1400" dirty="0">
              <a:latin typeface="Times New Roman" panose="02020603050405020304" pitchFamily="18" charset="0"/>
              <a:cs typeface="Times New Roman" panose="02020603050405020304" pitchFamily="18" charset="0"/>
            </a:endParaRPr>
          </a:p>
        </p:txBody>
      </p:sp>
      <p:sp>
        <p:nvSpPr>
          <p:cNvPr id="24" name="TextBox 23"/>
          <p:cNvSpPr txBox="1"/>
          <p:nvPr/>
        </p:nvSpPr>
        <p:spPr>
          <a:xfrm>
            <a:off x="1244993" y="5363065"/>
            <a:ext cx="464233"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CM</a:t>
            </a:r>
            <a:endParaRPr lang="en-IN" sz="1400" dirty="0">
              <a:latin typeface="Times New Roman" panose="02020603050405020304" pitchFamily="18" charset="0"/>
              <a:cs typeface="Times New Roman" panose="02020603050405020304" pitchFamily="18" charset="0"/>
            </a:endParaRPr>
          </a:p>
        </p:txBody>
      </p:sp>
      <p:sp>
        <p:nvSpPr>
          <p:cNvPr id="25" name="TextBox 24"/>
          <p:cNvSpPr txBox="1"/>
          <p:nvPr/>
        </p:nvSpPr>
        <p:spPr>
          <a:xfrm>
            <a:off x="1041008" y="3434422"/>
            <a:ext cx="323556"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sym typeface="Symbol" panose="05050102010706020507" pitchFamily="18" charset="2"/>
              </a:rPr>
              <a:t>P</a:t>
            </a:r>
            <a:endParaRPr lang="en-IN" sz="1400" dirty="0">
              <a:latin typeface="Times New Roman" panose="02020603050405020304" pitchFamily="18" charset="0"/>
              <a:cs typeface="Times New Roman" panose="02020603050405020304" pitchFamily="18" charset="0"/>
            </a:endParaRPr>
          </a:p>
        </p:txBody>
      </p:sp>
      <p:sp>
        <p:nvSpPr>
          <p:cNvPr id="26" name="TextBox 25"/>
          <p:cNvSpPr txBox="1"/>
          <p:nvPr/>
        </p:nvSpPr>
        <p:spPr>
          <a:xfrm>
            <a:off x="0" y="2796320"/>
            <a:ext cx="1041008"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ADD R1,X</a:t>
            </a:r>
            <a:endParaRPr lang="en-IN" sz="1400" dirty="0">
              <a:latin typeface="Times New Roman" panose="02020603050405020304" pitchFamily="18" charset="0"/>
              <a:cs typeface="Times New Roman" panose="02020603050405020304" pitchFamily="18" charset="0"/>
            </a:endParaRPr>
          </a:p>
        </p:txBody>
      </p:sp>
      <p:cxnSp>
        <p:nvCxnSpPr>
          <p:cNvPr id="28" name="Straight Arrow Connector 27"/>
          <p:cNvCxnSpPr/>
          <p:nvPr/>
        </p:nvCxnSpPr>
        <p:spPr>
          <a:xfrm>
            <a:off x="378044" y="2739295"/>
            <a:ext cx="6629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3172265" y="2321169"/>
            <a:ext cx="8792208" cy="2031325"/>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CU receives ADD R1, X;</a:t>
            </a:r>
          </a:p>
          <a:p>
            <a:r>
              <a:rPr lang="en-IN" dirty="0" smtClean="0">
                <a:latin typeface="Times New Roman" panose="02020603050405020304" pitchFamily="18" charset="0"/>
                <a:cs typeface="Times New Roman" panose="02020603050405020304" pitchFamily="18" charset="0"/>
              </a:rPr>
              <a:t>CU computes the starting address of the corresponding microprogram in CM i.e. P from the opcode of this instruction, executes all the microinstructions in sequence from address P.</a:t>
            </a:r>
          </a:p>
          <a:p>
            <a:r>
              <a:rPr lang="en-IN" dirty="0" smtClean="0">
                <a:latin typeface="Times New Roman" panose="02020603050405020304" pitchFamily="18" charset="0"/>
                <a:cs typeface="Times New Roman" panose="02020603050405020304" pitchFamily="18" charset="0"/>
              </a:rPr>
              <a:t>The execution of 7 microinstructions activates 7 sets of control signals to execute 7 micro operations</a:t>
            </a:r>
          </a:p>
          <a:p>
            <a:endParaRPr lang="en-IN" dirty="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Format of microinstruction</a:t>
            </a:r>
            <a:endParaRPr lang="en-IN" dirty="0">
              <a:latin typeface="Times New Roman" panose="02020603050405020304" pitchFamily="18" charset="0"/>
              <a:cs typeface="Times New Roman" panose="02020603050405020304" pitchFamily="18" charset="0"/>
            </a:endParaRPr>
          </a:p>
        </p:txBody>
      </p:sp>
      <p:sp>
        <p:nvSpPr>
          <p:cNvPr id="32" name="Rectangle 31"/>
          <p:cNvSpPr/>
          <p:nvPr/>
        </p:nvSpPr>
        <p:spPr>
          <a:xfrm>
            <a:off x="3641189" y="4754975"/>
            <a:ext cx="3353220" cy="4104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p:cNvSpPr txBox="1"/>
          <p:nvPr/>
        </p:nvSpPr>
        <p:spPr>
          <a:xfrm>
            <a:off x="3688921" y="4754975"/>
            <a:ext cx="1268437"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Control field</a:t>
            </a:r>
            <a:endParaRPr lang="en-IN" sz="1400" dirty="0">
              <a:latin typeface="Times New Roman" panose="02020603050405020304" pitchFamily="18" charset="0"/>
              <a:cs typeface="Times New Roman" panose="02020603050405020304" pitchFamily="18" charset="0"/>
            </a:endParaRPr>
          </a:p>
        </p:txBody>
      </p:sp>
      <p:sp>
        <p:nvSpPr>
          <p:cNvPr id="34" name="TextBox 33"/>
          <p:cNvSpPr txBox="1"/>
          <p:nvPr/>
        </p:nvSpPr>
        <p:spPr>
          <a:xfrm>
            <a:off x="5725971" y="4754974"/>
            <a:ext cx="1268437"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Address field</a:t>
            </a:r>
            <a:endParaRPr lang="en-IN" sz="1400" dirty="0">
              <a:latin typeface="Times New Roman" panose="02020603050405020304" pitchFamily="18" charset="0"/>
              <a:cs typeface="Times New Roman" panose="02020603050405020304" pitchFamily="18" charset="0"/>
            </a:endParaRPr>
          </a:p>
        </p:txBody>
      </p:sp>
      <p:cxnSp>
        <p:nvCxnSpPr>
          <p:cNvPr id="36" name="Straight Connector 35"/>
          <p:cNvCxnSpPr>
            <a:stCxn id="32" idx="0"/>
            <a:endCxn id="32" idx="2"/>
          </p:cNvCxnSpPr>
          <p:nvPr/>
        </p:nvCxnSpPr>
        <p:spPr>
          <a:xfrm>
            <a:off x="5317799" y="4754975"/>
            <a:ext cx="0" cy="410407"/>
          </a:xfrm>
          <a:prstGeom prst="line">
            <a:avLst/>
          </a:prstGeom>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3354343" y="5459415"/>
            <a:ext cx="2067109" cy="523220"/>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Activates control signal to execute micro operation </a:t>
            </a:r>
            <a:endParaRPr lang="en-IN" sz="1400" dirty="0">
              <a:latin typeface="Times New Roman" panose="02020603050405020304" pitchFamily="18" charset="0"/>
              <a:cs typeface="Times New Roman" panose="02020603050405020304" pitchFamily="18" charset="0"/>
            </a:endParaRPr>
          </a:p>
        </p:txBody>
      </p:sp>
      <p:sp>
        <p:nvSpPr>
          <p:cNvPr id="38" name="TextBox 37"/>
          <p:cNvSpPr txBox="1"/>
          <p:nvPr/>
        </p:nvSpPr>
        <p:spPr>
          <a:xfrm>
            <a:off x="5423936" y="5459415"/>
            <a:ext cx="1872505" cy="738664"/>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Address of the next microinstruction to be executed</a:t>
            </a:r>
            <a:endParaRPr lang="en-IN" sz="1400" dirty="0">
              <a:latin typeface="Times New Roman" panose="02020603050405020304" pitchFamily="18" charset="0"/>
              <a:cs typeface="Times New Roman" panose="02020603050405020304" pitchFamily="18" charset="0"/>
            </a:endParaRPr>
          </a:p>
        </p:txBody>
      </p:sp>
      <p:cxnSp>
        <p:nvCxnSpPr>
          <p:cNvPr id="40" name="Straight Arrow Connector 39"/>
          <p:cNvCxnSpPr>
            <a:stCxn id="33" idx="2"/>
          </p:cNvCxnSpPr>
          <p:nvPr/>
        </p:nvCxnSpPr>
        <p:spPr>
          <a:xfrm flipH="1">
            <a:off x="4192172" y="5062752"/>
            <a:ext cx="130968" cy="4542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a:off x="6190065" y="4989597"/>
            <a:ext cx="170123" cy="606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7445829" y="3866606"/>
            <a:ext cx="4532811" cy="1477328"/>
          </a:xfrm>
          <a:prstGeom prst="rect">
            <a:avLst/>
          </a:prstGeom>
          <a:noFill/>
        </p:spPr>
        <p:txBody>
          <a:bodyPr wrap="square" rtlCol="0">
            <a:spAutoFit/>
          </a:bodyPr>
          <a:lstStyle/>
          <a:p>
            <a:r>
              <a:rPr lang="en-IN" dirty="0" smtClean="0">
                <a:latin typeface="Times New Roman" pitchFamily="18" charset="0"/>
                <a:cs typeface="Times New Roman" pitchFamily="18" charset="0"/>
              </a:rPr>
              <a:t>CM: ROM if the instruction set of a processor is permanent</a:t>
            </a:r>
          </a:p>
          <a:p>
            <a:r>
              <a:rPr lang="en-IN" dirty="0" smtClean="0">
                <a:latin typeface="Times New Roman" pitchFamily="18" charset="0"/>
                <a:cs typeface="Times New Roman" pitchFamily="18" charset="0"/>
              </a:rPr>
              <a:t>WCM (Writeable CM) allows to change the content of CM dynamically</a:t>
            </a:r>
          </a:p>
          <a:p>
            <a:endParaRPr lang="en-IN" dirty="0"/>
          </a:p>
        </p:txBody>
      </p:sp>
    </p:spTree>
    <p:extLst>
      <p:ext uri="{BB962C8B-B14F-4D97-AF65-F5344CB8AC3E}">
        <p14:creationId xmlns:p14="http://schemas.microsoft.com/office/powerpoint/2010/main" xmlns="" val="8310738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7308" y="0"/>
            <a:ext cx="1617784" cy="369332"/>
          </a:xfrm>
          <a:prstGeom prst="rect">
            <a:avLst/>
          </a:prstGeom>
          <a:noFill/>
        </p:spPr>
        <p:txBody>
          <a:bodyPr wrap="square" rtlCol="0">
            <a:spAutoFit/>
          </a:bodyPr>
          <a:lstStyle/>
          <a:p>
            <a:r>
              <a:rPr lang="en-IN" dirty="0" err="1" smtClean="0">
                <a:latin typeface="Times New Roman" panose="02020603050405020304" pitchFamily="18" charset="0"/>
                <a:cs typeface="Times New Roman" panose="02020603050405020304" pitchFamily="18" charset="0"/>
              </a:rPr>
              <a:t>Wilkies</a:t>
            </a:r>
            <a:r>
              <a:rPr lang="en-IN" dirty="0" smtClean="0">
                <a:latin typeface="Times New Roman" panose="02020603050405020304" pitchFamily="18" charset="0"/>
                <a:cs typeface="Times New Roman" panose="02020603050405020304" pitchFamily="18" charset="0"/>
              </a:rPr>
              <a:t> design</a:t>
            </a:r>
          </a:p>
        </p:txBody>
      </p:sp>
      <p:sp>
        <p:nvSpPr>
          <p:cNvPr id="3" name="TextBox 2"/>
          <p:cNvSpPr txBox="1"/>
          <p:nvPr/>
        </p:nvSpPr>
        <p:spPr>
          <a:xfrm>
            <a:off x="393896" y="897114"/>
            <a:ext cx="801858"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CMAR </a:t>
            </a:r>
            <a:endParaRPr lang="en-IN" sz="1400" dirty="0">
              <a:latin typeface="Times New Roman" panose="02020603050405020304" pitchFamily="18" charset="0"/>
              <a:cs typeface="Times New Roman" panose="02020603050405020304" pitchFamily="18" charset="0"/>
            </a:endParaRPr>
          </a:p>
        </p:txBody>
      </p:sp>
      <p:sp>
        <p:nvSpPr>
          <p:cNvPr id="4" name="Rectangle 3"/>
          <p:cNvSpPr/>
          <p:nvPr/>
        </p:nvSpPr>
        <p:spPr>
          <a:xfrm>
            <a:off x="393896" y="897114"/>
            <a:ext cx="801858" cy="30777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5" name="TextBox 4"/>
          <p:cNvSpPr txBox="1"/>
          <p:nvPr/>
        </p:nvSpPr>
        <p:spPr>
          <a:xfrm>
            <a:off x="471816" y="2170167"/>
            <a:ext cx="801857" cy="461665"/>
          </a:xfrm>
          <a:prstGeom prst="rect">
            <a:avLst/>
          </a:prstGeom>
          <a:noFill/>
        </p:spPr>
        <p:txBody>
          <a:bodyPr wrap="square" rtlCol="0">
            <a:spAutoFit/>
          </a:bodyPr>
          <a:lstStyle/>
          <a:p>
            <a:r>
              <a:rPr lang="en-IN" baseline="-25000" dirty="0" smtClean="0">
                <a:latin typeface="Times New Roman" panose="02020603050405020304" pitchFamily="18" charset="0"/>
                <a:cs typeface="Times New Roman" panose="02020603050405020304" pitchFamily="18" charset="0"/>
              </a:rPr>
              <a:t>1/8 decoder </a:t>
            </a:r>
            <a:endParaRPr lang="en-IN" baseline="-25000" dirty="0">
              <a:latin typeface="Times New Roman" panose="02020603050405020304" pitchFamily="18" charset="0"/>
              <a:cs typeface="Times New Roman" panose="02020603050405020304" pitchFamily="18" charset="0"/>
            </a:endParaRPr>
          </a:p>
        </p:txBody>
      </p:sp>
      <p:sp>
        <p:nvSpPr>
          <p:cNvPr id="6" name="Rectangle 5"/>
          <p:cNvSpPr/>
          <p:nvPr/>
        </p:nvSpPr>
        <p:spPr>
          <a:xfrm>
            <a:off x="393896" y="1626587"/>
            <a:ext cx="879777" cy="20104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Connector 7"/>
          <p:cNvCxnSpPr/>
          <p:nvPr/>
        </p:nvCxnSpPr>
        <p:spPr>
          <a:xfrm flipV="1">
            <a:off x="1273673" y="1626587"/>
            <a:ext cx="5303520" cy="844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1273673" y="1856174"/>
            <a:ext cx="5303520" cy="844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1273673" y="2085761"/>
            <a:ext cx="5303520" cy="844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1273673" y="2290654"/>
            <a:ext cx="5303520" cy="844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1273673" y="2861419"/>
            <a:ext cx="5303520" cy="844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1273673" y="3053528"/>
            <a:ext cx="5303520" cy="844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1273673" y="3239683"/>
            <a:ext cx="5303520" cy="844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V="1">
            <a:off x="1273673" y="3422303"/>
            <a:ext cx="5303520" cy="844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1828801" y="1710993"/>
            <a:ext cx="0" cy="2123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2152357" y="1940580"/>
            <a:ext cx="1093" cy="18934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2431367" y="1710993"/>
            <a:ext cx="0" cy="2123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2692246" y="1914696"/>
            <a:ext cx="1093" cy="18934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3233225" y="2335163"/>
            <a:ext cx="0" cy="14988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3500511" y="1685109"/>
            <a:ext cx="0" cy="2123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3909022" y="1685109"/>
            <a:ext cx="0" cy="2123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4215619" y="2318751"/>
            <a:ext cx="0" cy="14988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4795285" y="2473275"/>
            <a:ext cx="376936"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S </a:t>
            </a:r>
            <a:endParaRPr lang="en-IN" sz="1400" dirty="0">
              <a:latin typeface="Times New Roman" panose="02020603050405020304" pitchFamily="18" charset="0"/>
              <a:cs typeface="Times New Roman" panose="02020603050405020304" pitchFamily="18" charset="0"/>
            </a:endParaRPr>
          </a:p>
        </p:txBody>
      </p:sp>
      <p:sp>
        <p:nvSpPr>
          <p:cNvPr id="30" name="Rectangle 29"/>
          <p:cNvSpPr/>
          <p:nvPr/>
        </p:nvSpPr>
        <p:spPr>
          <a:xfrm>
            <a:off x="4795285" y="2473274"/>
            <a:ext cx="376936" cy="30143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2" name="Straight Arrow Connector 31"/>
          <p:cNvCxnSpPr>
            <a:endCxn id="30" idx="0"/>
          </p:cNvCxnSpPr>
          <p:nvPr/>
        </p:nvCxnSpPr>
        <p:spPr>
          <a:xfrm flipH="1">
            <a:off x="4983753" y="1315908"/>
            <a:ext cx="33724" cy="1157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4394356" y="970282"/>
            <a:ext cx="801857" cy="461665"/>
          </a:xfrm>
          <a:prstGeom prst="rect">
            <a:avLst/>
          </a:prstGeom>
          <a:noFill/>
        </p:spPr>
        <p:txBody>
          <a:bodyPr wrap="square" rtlCol="0">
            <a:spAutoFit/>
          </a:bodyPr>
          <a:lstStyle/>
          <a:p>
            <a:r>
              <a:rPr lang="en-IN" baseline="-25000" dirty="0" smtClean="0">
                <a:latin typeface="Times New Roman" panose="02020603050405020304" pitchFamily="18" charset="0"/>
                <a:cs typeface="Times New Roman" panose="02020603050405020304" pitchFamily="18" charset="0"/>
              </a:rPr>
              <a:t>External condition </a:t>
            </a:r>
            <a:endParaRPr lang="en-IN" baseline="-25000" dirty="0">
              <a:latin typeface="Times New Roman" panose="02020603050405020304" pitchFamily="18" charset="0"/>
              <a:cs typeface="Times New Roman" panose="02020603050405020304" pitchFamily="18" charset="0"/>
            </a:endParaRPr>
          </a:p>
        </p:txBody>
      </p:sp>
      <p:sp>
        <p:nvSpPr>
          <p:cNvPr id="35" name="Oval 34"/>
          <p:cNvSpPr/>
          <p:nvPr/>
        </p:nvSpPr>
        <p:spPr>
          <a:xfrm>
            <a:off x="1815555" y="1666446"/>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36" name="Oval 35"/>
          <p:cNvSpPr/>
          <p:nvPr/>
        </p:nvSpPr>
        <p:spPr>
          <a:xfrm>
            <a:off x="1811414" y="2903622"/>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37" name="Oval 36"/>
          <p:cNvSpPr/>
          <p:nvPr/>
        </p:nvSpPr>
        <p:spPr>
          <a:xfrm>
            <a:off x="2132022" y="1916949"/>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Oval 37"/>
          <p:cNvSpPr/>
          <p:nvPr/>
        </p:nvSpPr>
        <p:spPr>
          <a:xfrm>
            <a:off x="2144251" y="2322382"/>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39" name="Oval 38"/>
          <p:cNvSpPr/>
          <p:nvPr/>
        </p:nvSpPr>
        <p:spPr>
          <a:xfrm>
            <a:off x="2124770" y="3301890"/>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Oval 39"/>
          <p:cNvSpPr/>
          <p:nvPr/>
        </p:nvSpPr>
        <p:spPr>
          <a:xfrm>
            <a:off x="2416950" y="1656974"/>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41" name="Oval 40"/>
          <p:cNvSpPr/>
          <p:nvPr/>
        </p:nvSpPr>
        <p:spPr>
          <a:xfrm>
            <a:off x="2402955" y="2131295"/>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Oval 41"/>
          <p:cNvSpPr/>
          <p:nvPr/>
        </p:nvSpPr>
        <p:spPr>
          <a:xfrm>
            <a:off x="2431286" y="3044039"/>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43" name="Oval 42"/>
          <p:cNvSpPr/>
          <p:nvPr/>
        </p:nvSpPr>
        <p:spPr>
          <a:xfrm>
            <a:off x="2667468" y="1874243"/>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Oval 43"/>
          <p:cNvSpPr/>
          <p:nvPr/>
        </p:nvSpPr>
        <p:spPr>
          <a:xfrm>
            <a:off x="2649905" y="3097425"/>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Oval 44"/>
          <p:cNvSpPr/>
          <p:nvPr/>
        </p:nvSpPr>
        <p:spPr>
          <a:xfrm>
            <a:off x="3218692" y="2286737"/>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46" name="Oval 45"/>
          <p:cNvSpPr/>
          <p:nvPr/>
        </p:nvSpPr>
        <p:spPr>
          <a:xfrm>
            <a:off x="3477651" y="1624243"/>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47" name="Oval 46"/>
          <p:cNvSpPr/>
          <p:nvPr/>
        </p:nvSpPr>
        <p:spPr>
          <a:xfrm>
            <a:off x="3485234" y="2296116"/>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48" name="Oval 47"/>
          <p:cNvSpPr/>
          <p:nvPr/>
        </p:nvSpPr>
        <p:spPr>
          <a:xfrm>
            <a:off x="3508093" y="3249732"/>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49" name="Oval 48"/>
          <p:cNvSpPr/>
          <p:nvPr/>
        </p:nvSpPr>
        <p:spPr>
          <a:xfrm>
            <a:off x="3886162" y="1643000"/>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50" name="Oval 49"/>
          <p:cNvSpPr/>
          <p:nvPr/>
        </p:nvSpPr>
        <p:spPr>
          <a:xfrm>
            <a:off x="3909021" y="2864322"/>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Oval 50"/>
          <p:cNvSpPr/>
          <p:nvPr/>
        </p:nvSpPr>
        <p:spPr>
          <a:xfrm>
            <a:off x="6372148" y="1582040"/>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52" name="Oval 51"/>
          <p:cNvSpPr/>
          <p:nvPr/>
        </p:nvSpPr>
        <p:spPr>
          <a:xfrm>
            <a:off x="6357135" y="2059422"/>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53" name="Oval 52"/>
          <p:cNvSpPr/>
          <p:nvPr/>
        </p:nvSpPr>
        <p:spPr>
          <a:xfrm>
            <a:off x="6125547" y="1803922"/>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54" name="Oval 53"/>
          <p:cNvSpPr/>
          <p:nvPr/>
        </p:nvSpPr>
        <p:spPr>
          <a:xfrm>
            <a:off x="4192759" y="3418115"/>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55" name="Oval 54"/>
          <p:cNvSpPr/>
          <p:nvPr/>
        </p:nvSpPr>
        <p:spPr>
          <a:xfrm>
            <a:off x="4184983" y="2306518"/>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7" name="Straight Connector 56"/>
          <p:cNvCxnSpPr/>
          <p:nvPr/>
        </p:nvCxnSpPr>
        <p:spPr>
          <a:xfrm flipH="1">
            <a:off x="5863531" y="345237"/>
            <a:ext cx="58967" cy="3346566"/>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flipH="1">
            <a:off x="6099687" y="475417"/>
            <a:ext cx="59067" cy="3216385"/>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flipH="1">
            <a:off x="6353205" y="584388"/>
            <a:ext cx="34173" cy="3103042"/>
          </a:xfrm>
          <a:prstGeom prst="line">
            <a:avLst/>
          </a:prstGeom>
        </p:spPr>
        <p:style>
          <a:lnRef idx="1">
            <a:schemeClr val="accent1"/>
          </a:lnRef>
          <a:fillRef idx="0">
            <a:schemeClr val="accent1"/>
          </a:fillRef>
          <a:effectRef idx="0">
            <a:schemeClr val="accent1"/>
          </a:effectRef>
          <a:fontRef idx="minor">
            <a:schemeClr val="tx1"/>
          </a:fontRef>
        </p:style>
      </p:cxnSp>
      <p:sp>
        <p:nvSpPr>
          <p:cNvPr id="67" name="Oval 66"/>
          <p:cNvSpPr/>
          <p:nvPr/>
        </p:nvSpPr>
        <p:spPr>
          <a:xfrm>
            <a:off x="6125547" y="2054759"/>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68" name="Oval 67"/>
          <p:cNvSpPr/>
          <p:nvPr/>
        </p:nvSpPr>
        <p:spPr>
          <a:xfrm>
            <a:off x="6349288" y="2251182"/>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69" name="Oval 68"/>
          <p:cNvSpPr/>
          <p:nvPr/>
        </p:nvSpPr>
        <p:spPr>
          <a:xfrm>
            <a:off x="6108741" y="2249223"/>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70" name="Oval 69"/>
          <p:cNvSpPr/>
          <p:nvPr/>
        </p:nvSpPr>
        <p:spPr>
          <a:xfrm>
            <a:off x="5867596" y="3216933"/>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71" name="Oval 70"/>
          <p:cNvSpPr/>
          <p:nvPr/>
        </p:nvSpPr>
        <p:spPr>
          <a:xfrm>
            <a:off x="6102687" y="3215567"/>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72" name="Oval 71"/>
          <p:cNvSpPr/>
          <p:nvPr/>
        </p:nvSpPr>
        <p:spPr>
          <a:xfrm>
            <a:off x="6339634" y="3197480"/>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73" name="Oval 72"/>
          <p:cNvSpPr/>
          <p:nvPr/>
        </p:nvSpPr>
        <p:spPr>
          <a:xfrm>
            <a:off x="6097834" y="3406577"/>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74" name="Oval 73"/>
          <p:cNvSpPr/>
          <p:nvPr/>
        </p:nvSpPr>
        <p:spPr>
          <a:xfrm>
            <a:off x="5856097" y="2251298"/>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77" name="Oval 76"/>
          <p:cNvSpPr/>
          <p:nvPr/>
        </p:nvSpPr>
        <p:spPr>
          <a:xfrm>
            <a:off x="5871964" y="2572120"/>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78" name="Oval 77"/>
          <p:cNvSpPr/>
          <p:nvPr/>
        </p:nvSpPr>
        <p:spPr>
          <a:xfrm>
            <a:off x="6389411" y="2838754"/>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79" name="Oval 78"/>
          <p:cNvSpPr/>
          <p:nvPr/>
        </p:nvSpPr>
        <p:spPr>
          <a:xfrm>
            <a:off x="5895730" y="2822063"/>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80" name="Oval 79"/>
          <p:cNvSpPr/>
          <p:nvPr/>
        </p:nvSpPr>
        <p:spPr>
          <a:xfrm>
            <a:off x="6113035" y="3019188"/>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81" name="Oval 80"/>
          <p:cNvSpPr/>
          <p:nvPr/>
        </p:nvSpPr>
        <p:spPr>
          <a:xfrm>
            <a:off x="5861724" y="3042140"/>
            <a:ext cx="45719" cy="844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cxnSp>
        <p:nvCxnSpPr>
          <p:cNvPr id="83" name="Straight Connector 82"/>
          <p:cNvCxnSpPr>
            <a:stCxn id="30" idx="3"/>
          </p:cNvCxnSpPr>
          <p:nvPr/>
        </p:nvCxnSpPr>
        <p:spPr>
          <a:xfrm flipV="1">
            <a:off x="5172221" y="2623990"/>
            <a:ext cx="1404972"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p:nvPr/>
        </p:nvCxnSpPr>
        <p:spPr>
          <a:xfrm>
            <a:off x="584357" y="1201114"/>
            <a:ext cx="0" cy="441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p:nvPr/>
        </p:nvCxnSpPr>
        <p:spPr>
          <a:xfrm>
            <a:off x="794825" y="1211004"/>
            <a:ext cx="0" cy="441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p:nvPr/>
        </p:nvCxnSpPr>
        <p:spPr>
          <a:xfrm>
            <a:off x="1015767" y="1201114"/>
            <a:ext cx="0" cy="441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p:nvPr/>
        </p:nvCxnSpPr>
        <p:spPr>
          <a:xfrm flipH="1">
            <a:off x="908463" y="359231"/>
            <a:ext cx="5638" cy="537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p:nvPr/>
        </p:nvCxnSpPr>
        <p:spPr>
          <a:xfrm>
            <a:off x="1054927" y="475417"/>
            <a:ext cx="0" cy="441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p:nvPr/>
        </p:nvCxnSpPr>
        <p:spPr>
          <a:xfrm>
            <a:off x="1195754" y="584388"/>
            <a:ext cx="0" cy="3127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a:off x="1195754" y="584388"/>
            <a:ext cx="52165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a:off x="1054927" y="473073"/>
            <a:ext cx="5116339" cy="2344"/>
          </a:xfrm>
          <a:prstGeom prst="line">
            <a:avLst/>
          </a:prstGeom>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flipV="1">
            <a:off x="914102" y="345237"/>
            <a:ext cx="4999213" cy="311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a:off x="479398" y="463146"/>
            <a:ext cx="0" cy="441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p:nvPr/>
        </p:nvCxnSpPr>
        <p:spPr>
          <a:xfrm>
            <a:off x="584357" y="455228"/>
            <a:ext cx="0" cy="441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p:nvPr/>
        </p:nvCxnSpPr>
        <p:spPr>
          <a:xfrm>
            <a:off x="736757" y="475417"/>
            <a:ext cx="0" cy="441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7" name="TextBox 106"/>
          <p:cNvSpPr txBox="1"/>
          <p:nvPr/>
        </p:nvSpPr>
        <p:spPr>
          <a:xfrm>
            <a:off x="110444" y="140221"/>
            <a:ext cx="803658" cy="738664"/>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External address = P</a:t>
            </a:r>
            <a:endParaRPr lang="en-IN" sz="1400" dirty="0">
              <a:latin typeface="Times New Roman" panose="02020603050405020304" pitchFamily="18" charset="0"/>
              <a:cs typeface="Times New Roman" panose="02020603050405020304" pitchFamily="18" charset="0"/>
            </a:endParaRPr>
          </a:p>
        </p:txBody>
      </p:sp>
      <p:sp>
        <p:nvSpPr>
          <p:cNvPr id="108" name="TextBox 107"/>
          <p:cNvSpPr txBox="1"/>
          <p:nvPr/>
        </p:nvSpPr>
        <p:spPr>
          <a:xfrm>
            <a:off x="1615714" y="3807248"/>
            <a:ext cx="426173"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C</a:t>
            </a:r>
            <a:r>
              <a:rPr lang="en-IN" sz="1400" baseline="-25000" dirty="0" smtClean="0">
                <a:latin typeface="Times New Roman" panose="02020603050405020304" pitchFamily="18" charset="0"/>
                <a:cs typeface="Times New Roman" panose="02020603050405020304" pitchFamily="18" charset="0"/>
                <a:sym typeface="Symbol" panose="05050102010706020507" pitchFamily="18" charset="2"/>
              </a:rPr>
              <a:t>1 </a:t>
            </a:r>
            <a:endParaRPr lang="en-IN" sz="1400" baseline="-25000" dirty="0">
              <a:latin typeface="Times New Roman" panose="02020603050405020304" pitchFamily="18" charset="0"/>
              <a:cs typeface="Times New Roman" panose="02020603050405020304" pitchFamily="18" charset="0"/>
            </a:endParaRPr>
          </a:p>
        </p:txBody>
      </p:sp>
      <p:sp>
        <p:nvSpPr>
          <p:cNvPr id="109" name="TextBox 108"/>
          <p:cNvSpPr txBox="1"/>
          <p:nvPr/>
        </p:nvSpPr>
        <p:spPr>
          <a:xfrm>
            <a:off x="1971879" y="3802959"/>
            <a:ext cx="426173"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C</a:t>
            </a:r>
            <a:r>
              <a:rPr lang="en-IN" sz="1400" baseline="-25000" dirty="0">
                <a:latin typeface="Times New Roman" panose="02020603050405020304" pitchFamily="18" charset="0"/>
                <a:cs typeface="Times New Roman" panose="02020603050405020304" pitchFamily="18" charset="0"/>
                <a:sym typeface="Symbol" panose="05050102010706020507" pitchFamily="18" charset="2"/>
              </a:rPr>
              <a:t>2</a:t>
            </a:r>
            <a:r>
              <a:rPr lang="en-IN" sz="1400" baseline="-25000" dirty="0" smtClean="0">
                <a:latin typeface="Times New Roman" panose="02020603050405020304" pitchFamily="18" charset="0"/>
                <a:cs typeface="Times New Roman" panose="02020603050405020304" pitchFamily="18" charset="0"/>
                <a:sym typeface="Symbol" panose="05050102010706020507" pitchFamily="18" charset="2"/>
              </a:rPr>
              <a:t> </a:t>
            </a:r>
            <a:endParaRPr lang="en-IN" sz="1400" baseline="-25000" dirty="0">
              <a:latin typeface="Times New Roman" panose="02020603050405020304" pitchFamily="18" charset="0"/>
              <a:cs typeface="Times New Roman" panose="02020603050405020304" pitchFamily="18" charset="0"/>
            </a:endParaRPr>
          </a:p>
        </p:txBody>
      </p:sp>
      <p:sp>
        <p:nvSpPr>
          <p:cNvPr id="110" name="TextBox 109"/>
          <p:cNvSpPr txBox="1"/>
          <p:nvPr/>
        </p:nvSpPr>
        <p:spPr>
          <a:xfrm>
            <a:off x="2522863" y="3791378"/>
            <a:ext cx="426173"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C</a:t>
            </a:r>
            <a:r>
              <a:rPr lang="en-IN" sz="1400" baseline="-25000" dirty="0">
                <a:latin typeface="Times New Roman" panose="02020603050405020304" pitchFamily="18" charset="0"/>
                <a:cs typeface="Times New Roman" panose="02020603050405020304" pitchFamily="18" charset="0"/>
                <a:sym typeface="Symbol" panose="05050102010706020507" pitchFamily="18" charset="2"/>
              </a:rPr>
              <a:t>4</a:t>
            </a:r>
            <a:r>
              <a:rPr lang="en-IN" sz="1400" baseline="-25000" dirty="0" smtClean="0">
                <a:latin typeface="Times New Roman" panose="02020603050405020304" pitchFamily="18" charset="0"/>
                <a:cs typeface="Times New Roman" panose="02020603050405020304" pitchFamily="18" charset="0"/>
                <a:sym typeface="Symbol" panose="05050102010706020507" pitchFamily="18" charset="2"/>
              </a:rPr>
              <a:t> </a:t>
            </a:r>
            <a:endParaRPr lang="en-IN" sz="1400" baseline="-25000" dirty="0">
              <a:latin typeface="Times New Roman" panose="02020603050405020304" pitchFamily="18" charset="0"/>
              <a:cs typeface="Times New Roman" panose="02020603050405020304" pitchFamily="18" charset="0"/>
            </a:endParaRPr>
          </a:p>
        </p:txBody>
      </p:sp>
      <p:sp>
        <p:nvSpPr>
          <p:cNvPr id="111" name="TextBox 110"/>
          <p:cNvSpPr txBox="1"/>
          <p:nvPr/>
        </p:nvSpPr>
        <p:spPr>
          <a:xfrm>
            <a:off x="2264878" y="3802775"/>
            <a:ext cx="426173"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C</a:t>
            </a:r>
            <a:r>
              <a:rPr lang="en-IN" sz="1400" baseline="-25000" dirty="0">
                <a:latin typeface="Times New Roman" panose="02020603050405020304" pitchFamily="18" charset="0"/>
                <a:cs typeface="Times New Roman" panose="02020603050405020304" pitchFamily="18" charset="0"/>
                <a:sym typeface="Symbol" panose="05050102010706020507" pitchFamily="18" charset="2"/>
              </a:rPr>
              <a:t>3</a:t>
            </a:r>
            <a:r>
              <a:rPr lang="en-IN" sz="1400" baseline="-25000" dirty="0" smtClean="0">
                <a:latin typeface="Times New Roman" panose="02020603050405020304" pitchFamily="18" charset="0"/>
                <a:cs typeface="Times New Roman" panose="02020603050405020304" pitchFamily="18" charset="0"/>
                <a:sym typeface="Symbol" panose="05050102010706020507" pitchFamily="18" charset="2"/>
              </a:rPr>
              <a:t> </a:t>
            </a:r>
            <a:endParaRPr lang="en-IN" sz="1400" baseline="-25000" dirty="0">
              <a:latin typeface="Times New Roman" panose="02020603050405020304" pitchFamily="18" charset="0"/>
              <a:cs typeface="Times New Roman" panose="02020603050405020304" pitchFamily="18" charset="0"/>
            </a:endParaRPr>
          </a:p>
        </p:txBody>
      </p:sp>
      <p:sp>
        <p:nvSpPr>
          <p:cNvPr id="112" name="TextBox 111"/>
          <p:cNvSpPr txBox="1"/>
          <p:nvPr/>
        </p:nvSpPr>
        <p:spPr>
          <a:xfrm>
            <a:off x="3333670" y="3775999"/>
            <a:ext cx="426173"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C</a:t>
            </a:r>
            <a:r>
              <a:rPr lang="en-IN" sz="1400" baseline="-25000" dirty="0">
                <a:latin typeface="Times New Roman" panose="02020603050405020304" pitchFamily="18" charset="0"/>
                <a:cs typeface="Times New Roman" panose="02020603050405020304" pitchFamily="18" charset="0"/>
                <a:sym typeface="Symbol" panose="05050102010706020507" pitchFamily="18" charset="2"/>
              </a:rPr>
              <a:t>6</a:t>
            </a:r>
            <a:r>
              <a:rPr lang="en-IN" sz="1400" baseline="-25000" dirty="0" smtClean="0">
                <a:latin typeface="Times New Roman" panose="02020603050405020304" pitchFamily="18" charset="0"/>
                <a:cs typeface="Times New Roman" panose="02020603050405020304" pitchFamily="18" charset="0"/>
                <a:sym typeface="Symbol" panose="05050102010706020507" pitchFamily="18" charset="2"/>
              </a:rPr>
              <a:t> </a:t>
            </a:r>
            <a:endParaRPr lang="en-IN" sz="1400" baseline="-25000" dirty="0">
              <a:latin typeface="Times New Roman" panose="02020603050405020304" pitchFamily="18" charset="0"/>
              <a:cs typeface="Times New Roman" panose="02020603050405020304" pitchFamily="18" charset="0"/>
            </a:endParaRPr>
          </a:p>
        </p:txBody>
      </p:sp>
      <p:sp>
        <p:nvSpPr>
          <p:cNvPr id="113" name="TextBox 112"/>
          <p:cNvSpPr txBox="1"/>
          <p:nvPr/>
        </p:nvSpPr>
        <p:spPr>
          <a:xfrm>
            <a:off x="4040398" y="3737747"/>
            <a:ext cx="426173" cy="369332"/>
          </a:xfrm>
          <a:prstGeom prst="rect">
            <a:avLst/>
          </a:prstGeom>
          <a:noFill/>
        </p:spPr>
        <p:txBody>
          <a:bodyPr wrap="square" rtlCol="0">
            <a:spAutoFit/>
          </a:bodyPr>
          <a:lstStyle/>
          <a:p>
            <a:r>
              <a:rPr lang="en-IN" dirty="0" smtClean="0">
                <a:sym typeface="Symbol" panose="05050102010706020507" pitchFamily="18" charset="2"/>
              </a:rPr>
              <a:t>C</a:t>
            </a:r>
            <a:r>
              <a:rPr lang="en-IN" baseline="-25000" dirty="0" smtClean="0">
                <a:sym typeface="Symbol" panose="05050102010706020507" pitchFamily="18" charset="2"/>
              </a:rPr>
              <a:t>8</a:t>
            </a:r>
            <a:endParaRPr lang="en-IN" baseline="-25000" dirty="0"/>
          </a:p>
        </p:txBody>
      </p:sp>
      <p:sp>
        <p:nvSpPr>
          <p:cNvPr id="114" name="TextBox 113"/>
          <p:cNvSpPr txBox="1"/>
          <p:nvPr/>
        </p:nvSpPr>
        <p:spPr>
          <a:xfrm>
            <a:off x="3087929" y="3772596"/>
            <a:ext cx="426173"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C</a:t>
            </a:r>
            <a:r>
              <a:rPr lang="en-IN" sz="1400" baseline="-25000" dirty="0" smtClean="0">
                <a:latin typeface="Times New Roman" panose="02020603050405020304" pitchFamily="18" charset="0"/>
                <a:cs typeface="Times New Roman" panose="02020603050405020304" pitchFamily="18" charset="0"/>
                <a:sym typeface="Symbol" panose="05050102010706020507" pitchFamily="18" charset="2"/>
              </a:rPr>
              <a:t>5 </a:t>
            </a:r>
            <a:endParaRPr lang="en-IN" sz="1400" baseline="-25000" dirty="0">
              <a:latin typeface="Times New Roman" panose="02020603050405020304" pitchFamily="18" charset="0"/>
              <a:cs typeface="Times New Roman" panose="02020603050405020304" pitchFamily="18" charset="0"/>
            </a:endParaRPr>
          </a:p>
        </p:txBody>
      </p:sp>
      <p:sp>
        <p:nvSpPr>
          <p:cNvPr id="115" name="TextBox 114"/>
          <p:cNvSpPr txBox="1"/>
          <p:nvPr/>
        </p:nvSpPr>
        <p:spPr>
          <a:xfrm>
            <a:off x="3728893" y="3783020"/>
            <a:ext cx="426173"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C</a:t>
            </a:r>
            <a:r>
              <a:rPr lang="en-IN" sz="1400" baseline="-25000" dirty="0">
                <a:latin typeface="Times New Roman" panose="02020603050405020304" pitchFamily="18" charset="0"/>
                <a:cs typeface="Times New Roman" panose="02020603050405020304" pitchFamily="18" charset="0"/>
                <a:sym typeface="Symbol" panose="05050102010706020507" pitchFamily="18" charset="2"/>
              </a:rPr>
              <a:t>7</a:t>
            </a:r>
            <a:endParaRPr lang="en-IN" sz="1400" baseline="-25000" dirty="0">
              <a:latin typeface="Times New Roman" panose="02020603050405020304" pitchFamily="18" charset="0"/>
              <a:cs typeface="Times New Roman" panose="02020603050405020304" pitchFamily="18" charset="0"/>
            </a:endParaRPr>
          </a:p>
        </p:txBody>
      </p:sp>
      <p:sp>
        <p:nvSpPr>
          <p:cNvPr id="116" name="TextBox 115"/>
          <p:cNvSpPr txBox="1"/>
          <p:nvPr/>
        </p:nvSpPr>
        <p:spPr>
          <a:xfrm>
            <a:off x="5944118" y="3624625"/>
            <a:ext cx="426173"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a</a:t>
            </a:r>
            <a:r>
              <a:rPr lang="en-IN" sz="1400" baseline="-25000" dirty="0" smtClean="0">
                <a:latin typeface="Times New Roman" panose="02020603050405020304" pitchFamily="18" charset="0"/>
                <a:cs typeface="Times New Roman" panose="02020603050405020304" pitchFamily="18" charset="0"/>
                <a:sym typeface="Symbol" panose="05050102010706020507" pitchFamily="18" charset="2"/>
              </a:rPr>
              <a:t>1 </a:t>
            </a:r>
            <a:endParaRPr lang="en-IN" sz="1400" baseline="-25000" dirty="0">
              <a:latin typeface="Times New Roman" panose="02020603050405020304" pitchFamily="18" charset="0"/>
              <a:cs typeface="Times New Roman" panose="02020603050405020304" pitchFamily="18" charset="0"/>
            </a:endParaRPr>
          </a:p>
        </p:txBody>
      </p:sp>
      <p:sp>
        <p:nvSpPr>
          <p:cNvPr id="117" name="TextBox 116"/>
          <p:cNvSpPr txBox="1"/>
          <p:nvPr/>
        </p:nvSpPr>
        <p:spPr>
          <a:xfrm>
            <a:off x="5688729" y="3604923"/>
            <a:ext cx="426173"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a</a:t>
            </a:r>
            <a:r>
              <a:rPr lang="en-IN" sz="1400" baseline="-25000" dirty="0">
                <a:latin typeface="Times New Roman" panose="02020603050405020304" pitchFamily="18" charset="0"/>
                <a:cs typeface="Times New Roman" panose="02020603050405020304" pitchFamily="18" charset="0"/>
                <a:sym typeface="Symbol" panose="05050102010706020507" pitchFamily="18" charset="2"/>
              </a:rPr>
              <a:t>2</a:t>
            </a:r>
            <a:endParaRPr lang="en-IN" sz="1400" baseline="-25000" dirty="0">
              <a:latin typeface="Times New Roman" panose="02020603050405020304" pitchFamily="18" charset="0"/>
              <a:cs typeface="Times New Roman" panose="02020603050405020304" pitchFamily="18" charset="0"/>
            </a:endParaRPr>
          </a:p>
        </p:txBody>
      </p:sp>
      <p:sp>
        <p:nvSpPr>
          <p:cNvPr id="118" name="TextBox 117"/>
          <p:cNvSpPr txBox="1"/>
          <p:nvPr/>
        </p:nvSpPr>
        <p:spPr>
          <a:xfrm>
            <a:off x="6220504" y="3622110"/>
            <a:ext cx="426173"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a</a:t>
            </a:r>
            <a:r>
              <a:rPr lang="en-IN" sz="1400" baseline="-25000" dirty="0">
                <a:latin typeface="Times New Roman" panose="02020603050405020304" pitchFamily="18" charset="0"/>
                <a:cs typeface="Times New Roman" panose="02020603050405020304" pitchFamily="18" charset="0"/>
                <a:sym typeface="Symbol" panose="05050102010706020507" pitchFamily="18" charset="2"/>
              </a:rPr>
              <a:t>0</a:t>
            </a:r>
            <a:endParaRPr lang="en-IN" sz="1400" baseline="-25000" dirty="0">
              <a:latin typeface="Times New Roman" panose="02020603050405020304" pitchFamily="18" charset="0"/>
              <a:cs typeface="Times New Roman" panose="02020603050405020304" pitchFamily="18" charset="0"/>
            </a:endParaRPr>
          </a:p>
        </p:txBody>
      </p:sp>
      <p:sp>
        <p:nvSpPr>
          <p:cNvPr id="92" name="Rectangle 91"/>
          <p:cNvSpPr/>
          <p:nvPr/>
        </p:nvSpPr>
        <p:spPr>
          <a:xfrm>
            <a:off x="1554480" y="1445531"/>
            <a:ext cx="5016137" cy="2233749"/>
          </a:xfrm>
          <a:prstGeom prst="rect">
            <a:avLst/>
          </a:prstGeom>
          <a:noFill/>
          <a:ln>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4" name="TextBox 93"/>
          <p:cNvSpPr txBox="1"/>
          <p:nvPr/>
        </p:nvSpPr>
        <p:spPr>
          <a:xfrm>
            <a:off x="2613453" y="691609"/>
            <a:ext cx="801857" cy="461665"/>
          </a:xfrm>
          <a:prstGeom prst="rect">
            <a:avLst/>
          </a:prstGeom>
          <a:noFill/>
        </p:spPr>
        <p:txBody>
          <a:bodyPr wrap="square" rtlCol="0">
            <a:spAutoFit/>
          </a:bodyPr>
          <a:lstStyle/>
          <a:p>
            <a:r>
              <a:rPr lang="en-IN" baseline="-25000" dirty="0" smtClean="0">
                <a:latin typeface="Times New Roman" panose="02020603050405020304" pitchFamily="18" charset="0"/>
                <a:cs typeface="Times New Roman" panose="02020603050405020304" pitchFamily="18" charset="0"/>
              </a:rPr>
              <a:t>Control memory</a:t>
            </a:r>
            <a:endParaRPr lang="en-IN" baseline="-25000" dirty="0">
              <a:latin typeface="Times New Roman" panose="02020603050405020304" pitchFamily="18" charset="0"/>
              <a:cs typeface="Times New Roman" panose="02020603050405020304" pitchFamily="18" charset="0"/>
            </a:endParaRPr>
          </a:p>
        </p:txBody>
      </p:sp>
      <p:cxnSp>
        <p:nvCxnSpPr>
          <p:cNvPr id="97" name="Straight Arrow Connector 96"/>
          <p:cNvCxnSpPr>
            <a:endCxn id="94" idx="2"/>
          </p:cNvCxnSpPr>
          <p:nvPr/>
        </p:nvCxnSpPr>
        <p:spPr>
          <a:xfrm rot="16200000" flipV="1">
            <a:off x="2954731" y="1212925"/>
            <a:ext cx="305320" cy="18601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6675120" y="156754"/>
            <a:ext cx="5290457" cy="2585323"/>
          </a:xfrm>
          <a:prstGeom prst="rect">
            <a:avLst/>
          </a:prstGeom>
          <a:noFill/>
        </p:spPr>
        <p:txBody>
          <a:bodyPr wrap="square" rtlCol="0">
            <a:spAutoFit/>
          </a:bodyPr>
          <a:lstStyle/>
          <a:p>
            <a:r>
              <a:rPr lang="en-IN" dirty="0" smtClean="0">
                <a:latin typeface="Times New Roman" pitchFamily="18" charset="0"/>
                <a:cs typeface="Times New Roman" pitchFamily="18" charset="0"/>
              </a:rPr>
              <a:t>Each row indicate one microinstruction</a:t>
            </a:r>
          </a:p>
          <a:p>
            <a:r>
              <a:rPr lang="en-IN" dirty="0" smtClean="0">
                <a:latin typeface="Times New Roman" pitchFamily="18" charset="0"/>
                <a:cs typeface="Times New Roman" pitchFamily="18" charset="0"/>
              </a:rPr>
              <a:t>Top most horizontal line represents the microinstruction at address 000</a:t>
            </a:r>
          </a:p>
          <a:p>
            <a:r>
              <a:rPr lang="en-IN" dirty="0" smtClean="0">
                <a:latin typeface="Times New Roman" pitchFamily="18" charset="0"/>
                <a:cs typeface="Times New Roman" pitchFamily="18" charset="0"/>
              </a:rPr>
              <a:t>External address source stores 000 in  CMAR</a:t>
            </a:r>
          </a:p>
          <a:p>
            <a:r>
              <a:rPr lang="en-IN" dirty="0" smtClean="0">
                <a:latin typeface="Times New Roman" pitchFamily="18" charset="0"/>
                <a:cs typeface="Times New Roman" pitchFamily="18" charset="0"/>
              </a:rPr>
              <a:t>Microinstruction at address 000 in CM is selected , control lines C</a:t>
            </a:r>
            <a:r>
              <a:rPr lang="en-IN" baseline="-25000" dirty="0" smtClean="0">
                <a:latin typeface="Times New Roman" pitchFamily="18" charset="0"/>
                <a:cs typeface="Times New Roman" pitchFamily="18" charset="0"/>
              </a:rPr>
              <a:t>1</a:t>
            </a:r>
            <a:r>
              <a:rPr lang="en-IN" dirty="0" smtClean="0">
                <a:latin typeface="Times New Roman" pitchFamily="18" charset="0"/>
                <a:cs typeface="Times New Roman" pitchFamily="18" charset="0"/>
              </a:rPr>
              <a:t>, C</a:t>
            </a:r>
            <a:r>
              <a:rPr lang="en-IN" baseline="-25000" dirty="0" smtClean="0">
                <a:latin typeface="Times New Roman" pitchFamily="18" charset="0"/>
                <a:cs typeface="Times New Roman" pitchFamily="18" charset="0"/>
              </a:rPr>
              <a:t>3</a:t>
            </a:r>
            <a:r>
              <a:rPr lang="en-IN" dirty="0" smtClean="0">
                <a:latin typeface="Times New Roman" pitchFamily="18" charset="0"/>
                <a:cs typeface="Times New Roman" pitchFamily="18" charset="0"/>
              </a:rPr>
              <a:t>, C</a:t>
            </a:r>
            <a:r>
              <a:rPr lang="en-IN" baseline="-25000" dirty="0" smtClean="0">
                <a:latin typeface="Times New Roman" pitchFamily="18" charset="0"/>
                <a:cs typeface="Times New Roman" pitchFamily="18" charset="0"/>
              </a:rPr>
              <a:t>6</a:t>
            </a:r>
            <a:r>
              <a:rPr lang="en-IN" dirty="0" smtClean="0">
                <a:latin typeface="Times New Roman" pitchFamily="18" charset="0"/>
                <a:cs typeface="Times New Roman" pitchFamily="18" charset="0"/>
              </a:rPr>
              <a:t>, C</a:t>
            </a:r>
            <a:r>
              <a:rPr lang="en-IN" baseline="-25000" dirty="0" smtClean="0">
                <a:latin typeface="Times New Roman" pitchFamily="18" charset="0"/>
                <a:cs typeface="Times New Roman" pitchFamily="18" charset="0"/>
              </a:rPr>
              <a:t>7</a:t>
            </a:r>
            <a:r>
              <a:rPr lang="en-IN" dirty="0" smtClean="0">
                <a:latin typeface="Times New Roman" pitchFamily="18" charset="0"/>
                <a:cs typeface="Times New Roman" pitchFamily="18" charset="0"/>
              </a:rPr>
              <a:t> are  activated</a:t>
            </a:r>
          </a:p>
          <a:p>
            <a:r>
              <a:rPr lang="en-IN" dirty="0" smtClean="0">
                <a:latin typeface="Times New Roman" pitchFamily="18" charset="0"/>
                <a:cs typeface="Times New Roman" pitchFamily="18" charset="0"/>
              </a:rPr>
              <a:t>Address field of the microinstruction at location 000 in CM contains 001 which is the address of the next microinstruction</a:t>
            </a:r>
          </a:p>
        </p:txBody>
      </p:sp>
      <p:graphicFrame>
        <p:nvGraphicFramePr>
          <p:cNvPr id="101" name="Table 100"/>
          <p:cNvGraphicFramePr>
            <a:graphicFrameLocks noGrp="1"/>
          </p:cNvGraphicFramePr>
          <p:nvPr/>
        </p:nvGraphicFramePr>
        <p:xfrm>
          <a:off x="7831910" y="2966478"/>
          <a:ext cx="3737020" cy="3337560"/>
        </p:xfrm>
        <a:graphic>
          <a:graphicData uri="http://schemas.openxmlformats.org/drawingml/2006/table">
            <a:tbl>
              <a:tblPr firstRow="1" bandRow="1">
                <a:tableStyleId>{5C22544A-7EE6-4342-B048-85BDC9FD1C3A}</a:tableStyleId>
              </a:tblPr>
              <a:tblGrid>
                <a:gridCol w="645885"/>
                <a:gridCol w="1463040"/>
                <a:gridCol w="1628095"/>
              </a:tblGrid>
              <a:tr h="370840">
                <a:tc>
                  <a:txBody>
                    <a:bodyPr/>
                    <a:lstStyle/>
                    <a:p>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Control field</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Address field</a:t>
                      </a:r>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sym typeface="Symbol"/>
                        </a:rPr>
                        <a:t>I1 </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sym typeface="Symbol"/>
                        </a:rPr>
                        <a:t>C</a:t>
                      </a:r>
                      <a:r>
                        <a:rPr lang="en-IN" baseline="-25000" dirty="0" smtClean="0">
                          <a:latin typeface="Times New Roman" pitchFamily="18" charset="0"/>
                          <a:cs typeface="Times New Roman" pitchFamily="18" charset="0"/>
                          <a:sym typeface="Symbol"/>
                        </a:rPr>
                        <a:t>1</a:t>
                      </a:r>
                      <a:r>
                        <a:rPr lang="en-IN" dirty="0" smtClean="0">
                          <a:latin typeface="Times New Roman" pitchFamily="18" charset="0"/>
                          <a:cs typeface="Times New Roman" pitchFamily="18" charset="0"/>
                          <a:sym typeface="Symbol"/>
                        </a:rPr>
                        <a:t>, C</a:t>
                      </a:r>
                      <a:r>
                        <a:rPr lang="en-IN" baseline="-25000" dirty="0" smtClean="0">
                          <a:latin typeface="Times New Roman" pitchFamily="18" charset="0"/>
                          <a:cs typeface="Times New Roman" pitchFamily="18" charset="0"/>
                          <a:sym typeface="Symbol"/>
                        </a:rPr>
                        <a:t>3</a:t>
                      </a:r>
                      <a:r>
                        <a:rPr lang="en-IN" dirty="0" smtClean="0">
                          <a:latin typeface="Times New Roman" pitchFamily="18" charset="0"/>
                          <a:cs typeface="Times New Roman" pitchFamily="18" charset="0"/>
                          <a:sym typeface="Symbol"/>
                        </a:rPr>
                        <a:t>, C</a:t>
                      </a:r>
                      <a:r>
                        <a:rPr lang="en-IN" baseline="-25000" dirty="0" smtClean="0">
                          <a:latin typeface="Times New Roman" pitchFamily="18" charset="0"/>
                          <a:cs typeface="Times New Roman" pitchFamily="18" charset="0"/>
                          <a:sym typeface="Symbol"/>
                        </a:rPr>
                        <a:t>6</a:t>
                      </a:r>
                      <a:r>
                        <a:rPr lang="en-IN" dirty="0" smtClean="0">
                          <a:latin typeface="Times New Roman" pitchFamily="18" charset="0"/>
                          <a:cs typeface="Times New Roman" pitchFamily="18" charset="0"/>
                          <a:sym typeface="Symbol"/>
                        </a:rPr>
                        <a:t>, C</a:t>
                      </a:r>
                      <a:r>
                        <a:rPr lang="en-IN" baseline="-25000" dirty="0" smtClean="0">
                          <a:latin typeface="Times New Roman" pitchFamily="18" charset="0"/>
                          <a:cs typeface="Times New Roman" pitchFamily="18" charset="0"/>
                          <a:sym typeface="Symbol"/>
                        </a:rPr>
                        <a:t>7</a:t>
                      </a:r>
                      <a:r>
                        <a:rPr lang="en-IN" dirty="0" smtClean="0">
                          <a:latin typeface="Times New Roman" pitchFamily="18" charset="0"/>
                          <a:cs typeface="Times New Roman" pitchFamily="18" charset="0"/>
                          <a:sym typeface="Symbol"/>
                        </a:rPr>
                        <a:t> </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001</a:t>
                      </a:r>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sym typeface="Symbol"/>
                        </a:rPr>
                        <a:t>I2</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sym typeface="Symbol"/>
                        </a:rPr>
                        <a:t>C</a:t>
                      </a:r>
                      <a:r>
                        <a:rPr lang="en-IN" baseline="-25000" dirty="0" smtClean="0">
                          <a:latin typeface="Times New Roman" pitchFamily="18" charset="0"/>
                          <a:cs typeface="Times New Roman" pitchFamily="18" charset="0"/>
                          <a:sym typeface="Symbol"/>
                        </a:rPr>
                        <a:t>2</a:t>
                      </a:r>
                      <a:r>
                        <a:rPr lang="en-IN" dirty="0" smtClean="0">
                          <a:latin typeface="Times New Roman" pitchFamily="18" charset="0"/>
                          <a:cs typeface="Times New Roman" pitchFamily="18" charset="0"/>
                          <a:sym typeface="Symbol"/>
                        </a:rPr>
                        <a:t>, C</a:t>
                      </a:r>
                      <a:r>
                        <a:rPr lang="en-IN" baseline="-25000" dirty="0" smtClean="0">
                          <a:latin typeface="Times New Roman" pitchFamily="18" charset="0"/>
                          <a:cs typeface="Times New Roman" pitchFamily="18" charset="0"/>
                          <a:sym typeface="Symbol"/>
                        </a:rPr>
                        <a:t>4</a:t>
                      </a:r>
                      <a:r>
                        <a:rPr lang="en-IN" dirty="0" smtClean="0">
                          <a:latin typeface="Times New Roman" pitchFamily="18" charset="0"/>
                          <a:cs typeface="Times New Roman" pitchFamily="18" charset="0"/>
                          <a:sym typeface="Symbol"/>
                        </a:rPr>
                        <a:t> </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010</a:t>
                      </a:r>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sym typeface="Symbol"/>
                        </a:rPr>
                        <a:t>I3 </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sym typeface="Symbol"/>
                        </a:rPr>
                        <a:t>C</a:t>
                      </a:r>
                      <a:r>
                        <a:rPr lang="en-IN" baseline="-25000" dirty="0" smtClean="0">
                          <a:latin typeface="Times New Roman" pitchFamily="18" charset="0"/>
                          <a:cs typeface="Times New Roman" pitchFamily="18" charset="0"/>
                          <a:sym typeface="Symbol"/>
                        </a:rPr>
                        <a:t>3</a:t>
                      </a:r>
                      <a:r>
                        <a:rPr lang="en-IN" dirty="0" smtClean="0">
                          <a:latin typeface="Times New Roman" pitchFamily="18" charset="0"/>
                          <a:cs typeface="Times New Roman" pitchFamily="18" charset="0"/>
                          <a:sym typeface="Symbol"/>
                        </a:rPr>
                        <a:t> </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011</a:t>
                      </a:r>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sym typeface="Symbol"/>
                        </a:rPr>
                        <a:t>I4 </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sym typeface="Symbol"/>
                        </a:rPr>
                        <a:t>C</a:t>
                      </a:r>
                      <a:r>
                        <a:rPr lang="en-IN" baseline="-25000" dirty="0" smtClean="0">
                          <a:latin typeface="Times New Roman" pitchFamily="18" charset="0"/>
                          <a:cs typeface="Times New Roman" pitchFamily="18" charset="0"/>
                          <a:sym typeface="Symbol"/>
                        </a:rPr>
                        <a:t>2</a:t>
                      </a:r>
                      <a:r>
                        <a:rPr lang="en-IN" dirty="0" smtClean="0">
                          <a:latin typeface="Times New Roman" pitchFamily="18" charset="0"/>
                          <a:cs typeface="Times New Roman" pitchFamily="18" charset="0"/>
                          <a:sym typeface="Symbol"/>
                        </a:rPr>
                        <a:t>, C</a:t>
                      </a:r>
                      <a:r>
                        <a:rPr lang="en-IN" baseline="-25000" dirty="0" smtClean="0">
                          <a:latin typeface="Times New Roman" pitchFamily="18" charset="0"/>
                          <a:cs typeface="Times New Roman" pitchFamily="18" charset="0"/>
                          <a:sym typeface="Symbol"/>
                        </a:rPr>
                        <a:t>5</a:t>
                      </a:r>
                      <a:r>
                        <a:rPr lang="en-IN" dirty="0" smtClean="0">
                          <a:latin typeface="Times New Roman" pitchFamily="18" charset="0"/>
                          <a:cs typeface="Times New Roman" pitchFamily="18" charset="0"/>
                          <a:sym typeface="Symbol"/>
                        </a:rPr>
                        <a:t>, C</a:t>
                      </a:r>
                      <a:r>
                        <a:rPr lang="en-IN" baseline="-25000" dirty="0" smtClean="0">
                          <a:latin typeface="Times New Roman" pitchFamily="18" charset="0"/>
                          <a:cs typeface="Times New Roman" pitchFamily="18" charset="0"/>
                          <a:sym typeface="Symbol"/>
                        </a:rPr>
                        <a:t>6</a:t>
                      </a:r>
                      <a:r>
                        <a:rPr lang="en-IN" dirty="0" smtClean="0">
                          <a:latin typeface="Times New Roman" pitchFamily="18" charset="0"/>
                          <a:cs typeface="Times New Roman" pitchFamily="18" charset="0"/>
                          <a:sym typeface="Symbol"/>
                        </a:rPr>
                        <a:t>, C</a:t>
                      </a:r>
                      <a:r>
                        <a:rPr lang="en-IN" baseline="-25000" dirty="0" smtClean="0">
                          <a:latin typeface="Times New Roman" pitchFamily="18" charset="0"/>
                          <a:cs typeface="Times New Roman" pitchFamily="18" charset="0"/>
                          <a:sym typeface="Symbol"/>
                        </a:rPr>
                        <a:t>8</a:t>
                      </a:r>
                      <a:r>
                        <a:rPr lang="en-IN" dirty="0" smtClean="0">
                          <a:latin typeface="Times New Roman" pitchFamily="18" charset="0"/>
                          <a:cs typeface="Times New Roman" pitchFamily="18" charset="0"/>
                          <a:sym typeface="Symbol"/>
                        </a:rPr>
                        <a:t> </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111</a:t>
                      </a:r>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sym typeface="Symbol"/>
                        </a:rPr>
                        <a:t>I5 </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sym typeface="Symbol"/>
                        </a:rPr>
                        <a:t>C</a:t>
                      </a:r>
                      <a:r>
                        <a:rPr lang="en-IN" baseline="-25000" dirty="0" smtClean="0">
                          <a:latin typeface="Times New Roman" pitchFamily="18" charset="0"/>
                          <a:cs typeface="Times New Roman" pitchFamily="18" charset="0"/>
                          <a:sym typeface="Symbol"/>
                        </a:rPr>
                        <a:t>1</a:t>
                      </a:r>
                      <a:r>
                        <a:rPr lang="en-IN" dirty="0" smtClean="0">
                          <a:latin typeface="Times New Roman" pitchFamily="18" charset="0"/>
                          <a:cs typeface="Times New Roman" pitchFamily="18" charset="0"/>
                          <a:sym typeface="Symbol"/>
                        </a:rPr>
                        <a:t>, C</a:t>
                      </a:r>
                      <a:r>
                        <a:rPr lang="en-IN" baseline="-25000" dirty="0" smtClean="0">
                          <a:latin typeface="Times New Roman" pitchFamily="18" charset="0"/>
                          <a:cs typeface="Times New Roman" pitchFamily="18" charset="0"/>
                          <a:sym typeface="Symbol"/>
                        </a:rPr>
                        <a:t>7</a:t>
                      </a:r>
                      <a:r>
                        <a:rPr lang="en-IN" dirty="0" smtClean="0">
                          <a:latin typeface="Times New Roman" pitchFamily="18" charset="0"/>
                          <a:cs typeface="Times New Roman" pitchFamily="18" charset="0"/>
                          <a:sym typeface="Symbol"/>
                        </a:rPr>
                        <a:t> </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101</a:t>
                      </a:r>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sym typeface="Symbol"/>
                        </a:rPr>
                        <a:t>I6 </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sym typeface="Symbol"/>
                        </a:rPr>
                        <a:t>C</a:t>
                      </a:r>
                      <a:r>
                        <a:rPr lang="en-IN" baseline="-25000" dirty="0" smtClean="0">
                          <a:latin typeface="Times New Roman" pitchFamily="18" charset="0"/>
                          <a:cs typeface="Times New Roman" pitchFamily="18" charset="0"/>
                          <a:sym typeface="Symbol"/>
                        </a:rPr>
                        <a:t>3</a:t>
                      </a:r>
                      <a:r>
                        <a:rPr lang="en-IN" dirty="0" smtClean="0">
                          <a:latin typeface="Times New Roman" pitchFamily="18" charset="0"/>
                          <a:cs typeface="Times New Roman" pitchFamily="18" charset="0"/>
                          <a:sym typeface="Symbol"/>
                        </a:rPr>
                        <a:t>, C</a:t>
                      </a:r>
                      <a:r>
                        <a:rPr lang="en-IN" baseline="-25000" dirty="0" smtClean="0">
                          <a:latin typeface="Times New Roman" pitchFamily="18" charset="0"/>
                          <a:cs typeface="Times New Roman" pitchFamily="18" charset="0"/>
                          <a:sym typeface="Symbol"/>
                        </a:rPr>
                        <a:t>4</a:t>
                      </a:r>
                      <a:r>
                        <a:rPr lang="en-IN" dirty="0" smtClean="0">
                          <a:latin typeface="Times New Roman" pitchFamily="18" charset="0"/>
                          <a:cs typeface="Times New Roman" pitchFamily="18" charset="0"/>
                          <a:sym typeface="Symbol"/>
                        </a:rPr>
                        <a:t> </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110</a:t>
                      </a:r>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sym typeface="Symbol"/>
                        </a:rPr>
                        <a:t>I7 </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sym typeface="Symbol"/>
                        </a:rPr>
                        <a:t>C</a:t>
                      </a:r>
                      <a:r>
                        <a:rPr lang="en-IN" baseline="-25000" dirty="0" smtClean="0">
                          <a:latin typeface="Times New Roman" pitchFamily="18" charset="0"/>
                          <a:cs typeface="Times New Roman" pitchFamily="18" charset="0"/>
                          <a:sym typeface="Symbol"/>
                        </a:rPr>
                        <a:t>2</a:t>
                      </a:r>
                      <a:r>
                        <a:rPr lang="en-IN" dirty="0" smtClean="0">
                          <a:latin typeface="Times New Roman" pitchFamily="18" charset="0"/>
                          <a:cs typeface="Times New Roman" pitchFamily="18" charset="0"/>
                          <a:sym typeface="Symbol"/>
                        </a:rPr>
                        <a:t>, C</a:t>
                      </a:r>
                      <a:r>
                        <a:rPr lang="en-IN" baseline="-25000" dirty="0" smtClean="0">
                          <a:latin typeface="Times New Roman" pitchFamily="18" charset="0"/>
                          <a:cs typeface="Times New Roman" pitchFamily="18" charset="0"/>
                          <a:sym typeface="Symbol"/>
                        </a:rPr>
                        <a:t>6</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111</a:t>
                      </a:r>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sym typeface="Symbol"/>
                        </a:rPr>
                        <a:t>I8</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sym typeface="Symbol"/>
                        </a:rPr>
                        <a:t>C</a:t>
                      </a:r>
                      <a:r>
                        <a:rPr lang="en-IN" baseline="-25000" dirty="0" smtClean="0">
                          <a:latin typeface="Times New Roman" pitchFamily="18" charset="0"/>
                          <a:cs typeface="Times New Roman" pitchFamily="18" charset="0"/>
                          <a:sym typeface="Symbol"/>
                        </a:rPr>
                        <a:t>8</a:t>
                      </a:r>
                      <a:r>
                        <a:rPr lang="en-IN" dirty="0" smtClean="0">
                          <a:latin typeface="Times New Roman" pitchFamily="18" charset="0"/>
                          <a:cs typeface="Times New Roman" pitchFamily="18" charset="0"/>
                          <a:sym typeface="Symbol"/>
                        </a:rPr>
                        <a:t> </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010</a:t>
                      </a:r>
                      <a:endParaRPr lang="en-IN" dirty="0">
                        <a:latin typeface="Times New Roman" pitchFamily="18" charset="0"/>
                        <a:cs typeface="Times New Roman" pitchFamily="18" charset="0"/>
                      </a:endParaRPr>
                    </a:p>
                  </a:txBody>
                  <a:tcPr/>
                </a:tc>
              </a:tr>
            </a:tbl>
          </a:graphicData>
        </a:graphic>
      </p:graphicFrame>
      <p:sp>
        <p:nvSpPr>
          <p:cNvPr id="102" name="TextBox 101"/>
          <p:cNvSpPr txBox="1"/>
          <p:nvPr/>
        </p:nvSpPr>
        <p:spPr>
          <a:xfrm>
            <a:off x="209007" y="4258491"/>
            <a:ext cx="6897188" cy="2031325"/>
          </a:xfrm>
          <a:prstGeom prst="rect">
            <a:avLst/>
          </a:prstGeom>
          <a:noFill/>
        </p:spPr>
        <p:txBody>
          <a:bodyPr wrap="square" rtlCol="0">
            <a:spAutoFit/>
          </a:bodyPr>
          <a:lstStyle/>
          <a:p>
            <a:r>
              <a:rPr lang="en-IN" dirty="0" smtClean="0">
                <a:latin typeface="Times New Roman" pitchFamily="18" charset="0"/>
                <a:cs typeface="Times New Roman" pitchFamily="18" charset="0"/>
              </a:rPr>
              <a:t>External condition: Any CU must be able to give response to external signals or conditions</a:t>
            </a:r>
          </a:p>
          <a:p>
            <a:r>
              <a:rPr lang="en-IN" dirty="0" smtClean="0">
                <a:latin typeface="Times New Roman" pitchFamily="18" charset="0"/>
                <a:cs typeface="Times New Roman" pitchFamily="18" charset="0"/>
              </a:rPr>
              <a:t>Switch S is controlled by an external condition FF </a:t>
            </a:r>
          </a:p>
          <a:p>
            <a:r>
              <a:rPr lang="en-IN" smtClean="0">
                <a:latin typeface="Times New Roman" pitchFamily="18" charset="0"/>
                <a:cs typeface="Times New Roman" pitchFamily="18" charset="0"/>
              </a:rPr>
              <a:t>Address field of 4</a:t>
            </a:r>
            <a:r>
              <a:rPr lang="en-IN" baseline="30000" smtClean="0">
                <a:latin typeface="Times New Roman" pitchFamily="18" charset="0"/>
                <a:cs typeface="Times New Roman" pitchFamily="18" charset="0"/>
              </a:rPr>
              <a:t>th </a:t>
            </a:r>
            <a:r>
              <a:rPr lang="en-IN" dirty="0" smtClean="0">
                <a:latin typeface="Times New Roman" pitchFamily="18" charset="0"/>
                <a:cs typeface="Times New Roman" pitchFamily="18" charset="0"/>
              </a:rPr>
              <a:t>microinstruction contains 111 whereas the address field corresponding to switch S contains 100. So depending  upon the external condition either microinstruction at location 111 or 100 in CM is executed.</a:t>
            </a:r>
          </a:p>
        </p:txBody>
      </p:sp>
    </p:spTree>
    <p:extLst>
      <p:ext uri="{BB962C8B-B14F-4D97-AF65-F5344CB8AC3E}">
        <p14:creationId xmlns:p14="http://schemas.microsoft.com/office/powerpoint/2010/main" xmlns="" val="105943426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1188720" cy="369332"/>
          </a:xfrm>
          <a:prstGeom prst="rect">
            <a:avLst/>
          </a:prstGeom>
          <a:noFill/>
        </p:spPr>
        <p:txBody>
          <a:bodyPr wrap="square" rtlCol="0">
            <a:spAutoFit/>
          </a:bodyPr>
          <a:lstStyle/>
          <a:p>
            <a:r>
              <a:rPr lang="en-IN" dirty="0" smtClean="0">
                <a:latin typeface="Times New Roman" pitchFamily="18" charset="0"/>
                <a:cs typeface="Times New Roman" pitchFamily="18" charset="0"/>
              </a:rPr>
              <a:t>Example:</a:t>
            </a:r>
          </a:p>
        </p:txBody>
      </p:sp>
      <p:sp>
        <p:nvSpPr>
          <p:cNvPr id="4" name="TextBox 3"/>
          <p:cNvSpPr txBox="1"/>
          <p:nvPr/>
        </p:nvSpPr>
        <p:spPr>
          <a:xfrm>
            <a:off x="6744788" y="518162"/>
            <a:ext cx="5447212" cy="1754326"/>
          </a:xfrm>
          <a:prstGeom prst="rect">
            <a:avLst/>
          </a:prstGeom>
          <a:noFill/>
        </p:spPr>
        <p:txBody>
          <a:bodyPr wrap="square" rtlCol="0">
            <a:spAutoFit/>
          </a:bodyPr>
          <a:lstStyle/>
          <a:p>
            <a:r>
              <a:rPr lang="en-IN" dirty="0" smtClean="0">
                <a:latin typeface="Times New Roman" pitchFamily="18" charset="0"/>
                <a:cs typeface="Times New Roman" pitchFamily="18" charset="0"/>
              </a:rPr>
              <a:t>Operation LOAD R i.e. load the register R. Suppose </a:t>
            </a:r>
          </a:p>
          <a:p>
            <a:r>
              <a:rPr lang="en-IN" dirty="0" smtClean="0">
                <a:latin typeface="Times New Roman" pitchFamily="18" charset="0"/>
                <a:cs typeface="Times New Roman" pitchFamily="18" charset="0"/>
              </a:rPr>
              <a:t>the register R can be loaded from four different sources</a:t>
            </a:r>
          </a:p>
          <a:p>
            <a:r>
              <a:rPr lang="en-IN" dirty="0" smtClean="0">
                <a:latin typeface="Times New Roman" pitchFamily="18" charset="0"/>
                <a:cs typeface="Times New Roman" pitchFamily="18" charset="0"/>
              </a:rPr>
              <a:t>R </a:t>
            </a:r>
            <a:r>
              <a:rPr lang="en-IN" dirty="0" smtClean="0">
                <a:latin typeface="Times New Roman" pitchFamily="18" charset="0"/>
                <a:cs typeface="Times New Roman" pitchFamily="18" charset="0"/>
                <a:sym typeface="Symbol"/>
              </a:rPr>
              <a:t> X0, control signal C</a:t>
            </a:r>
            <a:r>
              <a:rPr lang="en-IN" baseline="-25000" dirty="0" smtClean="0">
                <a:latin typeface="Times New Roman" pitchFamily="18" charset="0"/>
                <a:cs typeface="Times New Roman" pitchFamily="18" charset="0"/>
                <a:sym typeface="Symbol"/>
              </a:rPr>
              <a:t>0</a:t>
            </a:r>
            <a:r>
              <a:rPr lang="en-IN" dirty="0" smtClean="0">
                <a:latin typeface="Times New Roman" pitchFamily="18" charset="0"/>
                <a:cs typeface="Times New Roman" pitchFamily="18" charset="0"/>
                <a:sym typeface="Symbol"/>
              </a:rPr>
              <a:t> is activated</a:t>
            </a:r>
          </a:p>
          <a:p>
            <a:r>
              <a:rPr lang="en-IN" dirty="0" smtClean="0">
                <a:latin typeface="Times New Roman" pitchFamily="18" charset="0"/>
                <a:cs typeface="Times New Roman" pitchFamily="18" charset="0"/>
              </a:rPr>
              <a:t>R </a:t>
            </a:r>
            <a:r>
              <a:rPr lang="en-IN" dirty="0" smtClean="0">
                <a:latin typeface="Times New Roman" pitchFamily="18" charset="0"/>
                <a:cs typeface="Times New Roman" pitchFamily="18" charset="0"/>
                <a:sym typeface="Symbol"/>
              </a:rPr>
              <a:t> X1, control signal C</a:t>
            </a:r>
            <a:r>
              <a:rPr lang="en-IN" baseline="-25000" dirty="0" smtClean="0">
                <a:latin typeface="Times New Roman" pitchFamily="18" charset="0"/>
                <a:cs typeface="Times New Roman" pitchFamily="18" charset="0"/>
                <a:sym typeface="Symbol"/>
              </a:rPr>
              <a:t>1</a:t>
            </a:r>
            <a:r>
              <a:rPr lang="en-IN" dirty="0" smtClean="0">
                <a:latin typeface="Times New Roman" pitchFamily="18" charset="0"/>
                <a:cs typeface="Times New Roman" pitchFamily="18" charset="0"/>
                <a:sym typeface="Symbol"/>
              </a:rPr>
              <a:t> is activated</a:t>
            </a:r>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R </a:t>
            </a:r>
            <a:r>
              <a:rPr lang="en-IN" dirty="0" smtClean="0">
                <a:latin typeface="Times New Roman" pitchFamily="18" charset="0"/>
                <a:cs typeface="Times New Roman" pitchFamily="18" charset="0"/>
                <a:sym typeface="Symbol"/>
              </a:rPr>
              <a:t> X2, control signal C</a:t>
            </a:r>
            <a:r>
              <a:rPr lang="en-IN" baseline="-25000" dirty="0" smtClean="0">
                <a:latin typeface="Times New Roman" pitchFamily="18" charset="0"/>
                <a:cs typeface="Times New Roman" pitchFamily="18" charset="0"/>
                <a:sym typeface="Symbol"/>
              </a:rPr>
              <a:t>2</a:t>
            </a:r>
            <a:r>
              <a:rPr lang="en-IN" dirty="0" smtClean="0">
                <a:latin typeface="Times New Roman" pitchFamily="18" charset="0"/>
                <a:cs typeface="Times New Roman" pitchFamily="18" charset="0"/>
                <a:sym typeface="Symbol"/>
              </a:rPr>
              <a:t> is activated</a:t>
            </a:r>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R </a:t>
            </a:r>
            <a:r>
              <a:rPr lang="en-IN" dirty="0" smtClean="0">
                <a:latin typeface="Times New Roman" pitchFamily="18" charset="0"/>
                <a:cs typeface="Times New Roman" pitchFamily="18" charset="0"/>
                <a:sym typeface="Symbol"/>
              </a:rPr>
              <a:t> X3, control signal C</a:t>
            </a:r>
            <a:r>
              <a:rPr lang="en-IN" baseline="-25000" dirty="0" smtClean="0">
                <a:latin typeface="Times New Roman" pitchFamily="18" charset="0"/>
                <a:cs typeface="Times New Roman" pitchFamily="18" charset="0"/>
                <a:sym typeface="Symbol"/>
              </a:rPr>
              <a:t>3</a:t>
            </a:r>
            <a:r>
              <a:rPr lang="en-IN" dirty="0" smtClean="0">
                <a:latin typeface="Times New Roman" pitchFamily="18" charset="0"/>
                <a:cs typeface="Times New Roman" pitchFamily="18" charset="0"/>
                <a:sym typeface="Symbol"/>
              </a:rPr>
              <a:t> is activated</a:t>
            </a:r>
            <a:endParaRPr lang="en-IN" dirty="0" smtClean="0">
              <a:latin typeface="Times New Roman" pitchFamily="18" charset="0"/>
              <a:cs typeface="Times New Roman" pitchFamily="18" charset="0"/>
            </a:endParaRPr>
          </a:p>
        </p:txBody>
      </p:sp>
      <p:sp>
        <p:nvSpPr>
          <p:cNvPr id="5" name="Rectangle 4"/>
          <p:cNvSpPr/>
          <p:nvPr/>
        </p:nvSpPr>
        <p:spPr>
          <a:xfrm>
            <a:off x="1569553" y="1528577"/>
            <a:ext cx="1591659" cy="3394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6" name="TextBox 5"/>
          <p:cNvSpPr txBox="1"/>
          <p:nvPr/>
        </p:nvSpPr>
        <p:spPr>
          <a:xfrm>
            <a:off x="1860164" y="1549494"/>
            <a:ext cx="987540" cy="276999"/>
          </a:xfrm>
          <a:prstGeom prst="rect">
            <a:avLst/>
          </a:prstGeom>
          <a:noFill/>
        </p:spPr>
        <p:txBody>
          <a:bodyPr wrap="square" rtlCol="0">
            <a:spAutoFit/>
          </a:bodyPr>
          <a:lstStyle/>
          <a:p>
            <a:r>
              <a:rPr lang="en-IN" baseline="-25000" dirty="0" smtClean="0">
                <a:latin typeface="Times New Roman" panose="02020603050405020304" pitchFamily="18" charset="0"/>
                <a:cs typeface="Times New Roman" panose="02020603050405020304" pitchFamily="18" charset="0"/>
              </a:rPr>
              <a:t>Register R</a:t>
            </a:r>
            <a:endParaRPr lang="en-IN" baseline="-25000" dirty="0">
              <a:latin typeface="Times New Roman" panose="02020603050405020304" pitchFamily="18" charset="0"/>
              <a:cs typeface="Times New Roman" panose="02020603050405020304" pitchFamily="18" charset="0"/>
            </a:endParaRPr>
          </a:p>
        </p:txBody>
      </p:sp>
      <p:cxnSp>
        <p:nvCxnSpPr>
          <p:cNvPr id="8" name="Straight Arrow Connector 7"/>
          <p:cNvCxnSpPr/>
          <p:nvPr/>
        </p:nvCxnSpPr>
        <p:spPr>
          <a:xfrm rot="5400000">
            <a:off x="1331619" y="1214845"/>
            <a:ext cx="627810"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rot="16200000" flipH="1">
            <a:off x="1756162" y="1182980"/>
            <a:ext cx="701833" cy="79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rot="16200000" flipH="1">
            <a:off x="2213363" y="1196045"/>
            <a:ext cx="697479" cy="35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rot="5400000">
            <a:off x="2592185" y="1156062"/>
            <a:ext cx="745376"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424734" y="669929"/>
            <a:ext cx="377941" cy="276999"/>
          </a:xfrm>
          <a:prstGeom prst="rect">
            <a:avLst/>
          </a:prstGeom>
          <a:noFill/>
        </p:spPr>
        <p:txBody>
          <a:bodyPr wrap="square" rtlCol="0">
            <a:spAutoFit/>
          </a:bodyPr>
          <a:lstStyle/>
          <a:p>
            <a:r>
              <a:rPr lang="en-IN" baseline="-25000" dirty="0" smtClean="0">
                <a:latin typeface="Times New Roman" panose="02020603050405020304" pitchFamily="18" charset="0"/>
                <a:cs typeface="Times New Roman" panose="02020603050405020304" pitchFamily="18" charset="0"/>
              </a:rPr>
              <a:t>X0</a:t>
            </a:r>
            <a:endParaRPr lang="en-IN" baseline="-25000"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1838391" y="652513"/>
            <a:ext cx="377941" cy="276999"/>
          </a:xfrm>
          <a:prstGeom prst="rect">
            <a:avLst/>
          </a:prstGeom>
          <a:noFill/>
        </p:spPr>
        <p:txBody>
          <a:bodyPr wrap="square" rtlCol="0">
            <a:spAutoFit/>
          </a:bodyPr>
          <a:lstStyle/>
          <a:p>
            <a:r>
              <a:rPr lang="en-IN" baseline="-25000" dirty="0" smtClean="0">
                <a:latin typeface="Times New Roman" panose="02020603050405020304" pitchFamily="18" charset="0"/>
                <a:cs typeface="Times New Roman" panose="02020603050405020304" pitchFamily="18" charset="0"/>
              </a:rPr>
              <a:t>X1</a:t>
            </a:r>
            <a:endParaRPr lang="en-IN" baseline="-25000"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2304300" y="613955"/>
            <a:ext cx="377941" cy="276999"/>
          </a:xfrm>
          <a:prstGeom prst="rect">
            <a:avLst/>
          </a:prstGeom>
          <a:noFill/>
        </p:spPr>
        <p:txBody>
          <a:bodyPr wrap="square" rtlCol="0">
            <a:spAutoFit/>
          </a:bodyPr>
          <a:lstStyle/>
          <a:p>
            <a:r>
              <a:rPr lang="en-IN" baseline="-25000" dirty="0" smtClean="0">
                <a:latin typeface="Times New Roman" panose="02020603050405020304" pitchFamily="18" charset="0"/>
                <a:cs typeface="Times New Roman" panose="02020603050405020304" pitchFamily="18" charset="0"/>
              </a:rPr>
              <a:t>X2</a:t>
            </a:r>
            <a:endParaRPr lang="en-IN" baseline="-25000"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2770208" y="613953"/>
            <a:ext cx="377941" cy="276999"/>
          </a:xfrm>
          <a:prstGeom prst="rect">
            <a:avLst/>
          </a:prstGeom>
          <a:noFill/>
        </p:spPr>
        <p:txBody>
          <a:bodyPr wrap="square" rtlCol="0">
            <a:spAutoFit/>
          </a:bodyPr>
          <a:lstStyle/>
          <a:p>
            <a:r>
              <a:rPr lang="en-IN" baseline="-25000" dirty="0" smtClean="0">
                <a:latin typeface="Times New Roman" panose="02020603050405020304" pitchFamily="18" charset="0"/>
                <a:cs typeface="Times New Roman" panose="02020603050405020304" pitchFamily="18" charset="0"/>
              </a:rPr>
              <a:t>X3</a:t>
            </a:r>
            <a:endParaRPr lang="en-IN" baseline="-25000" dirty="0">
              <a:latin typeface="Times New Roman" panose="02020603050405020304" pitchFamily="18" charset="0"/>
              <a:cs typeface="Times New Roman" panose="02020603050405020304" pitchFamily="18" charset="0"/>
            </a:endParaRPr>
          </a:p>
        </p:txBody>
      </p:sp>
      <p:cxnSp>
        <p:nvCxnSpPr>
          <p:cNvPr id="17" name="Straight Arrow Connector 16"/>
          <p:cNvCxnSpPr/>
          <p:nvPr/>
        </p:nvCxnSpPr>
        <p:spPr>
          <a:xfrm>
            <a:off x="2730139" y="1293223"/>
            <a:ext cx="261257" cy="130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2569911" y="1001485"/>
            <a:ext cx="447609"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C</a:t>
            </a:r>
            <a:r>
              <a:rPr lang="en-IN" sz="1400" baseline="-25000" dirty="0" smtClean="0">
                <a:latin typeface="Times New Roman" pitchFamily="18" charset="0"/>
                <a:cs typeface="Times New Roman" pitchFamily="18" charset="0"/>
                <a:sym typeface="Symbol"/>
              </a:rPr>
              <a:t>3</a:t>
            </a:r>
            <a:endParaRPr lang="en-IN" sz="1400" baseline="-25000" dirty="0">
              <a:latin typeface="Times New Roman" panose="02020603050405020304" pitchFamily="18" charset="0"/>
              <a:cs typeface="Times New Roman" panose="02020603050405020304" pitchFamily="18" charset="0"/>
            </a:endParaRPr>
          </a:p>
        </p:txBody>
      </p:sp>
      <p:sp>
        <p:nvSpPr>
          <p:cNvPr id="21" name="TextBox 20"/>
          <p:cNvSpPr txBox="1"/>
          <p:nvPr/>
        </p:nvSpPr>
        <p:spPr>
          <a:xfrm>
            <a:off x="2147545" y="984069"/>
            <a:ext cx="447609"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C</a:t>
            </a:r>
            <a:r>
              <a:rPr lang="en-IN" sz="1400" baseline="-25000" dirty="0" smtClean="0">
                <a:latin typeface="Times New Roman" pitchFamily="18" charset="0"/>
                <a:cs typeface="Times New Roman" pitchFamily="18" charset="0"/>
                <a:sym typeface="Symbol"/>
              </a:rPr>
              <a:t>2</a:t>
            </a:r>
            <a:endParaRPr lang="en-IN" sz="1400" baseline="-25000" dirty="0">
              <a:latin typeface="Times New Roman" panose="02020603050405020304" pitchFamily="18" charset="0"/>
              <a:cs typeface="Times New Roman" panose="02020603050405020304" pitchFamily="18" charset="0"/>
            </a:endParaRPr>
          </a:p>
        </p:txBody>
      </p:sp>
      <p:cxnSp>
        <p:nvCxnSpPr>
          <p:cNvPr id="22" name="Straight Arrow Connector 21"/>
          <p:cNvCxnSpPr/>
          <p:nvPr/>
        </p:nvCxnSpPr>
        <p:spPr>
          <a:xfrm>
            <a:off x="2307774" y="1249680"/>
            <a:ext cx="261257" cy="130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1380310" y="1288869"/>
            <a:ext cx="261257" cy="130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1885407" y="1232263"/>
            <a:ext cx="261257" cy="130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1768723" y="997131"/>
            <a:ext cx="447609"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C</a:t>
            </a:r>
            <a:r>
              <a:rPr lang="en-IN" sz="1400" baseline="-25000" dirty="0" smtClean="0">
                <a:latin typeface="Times New Roman" pitchFamily="18" charset="0"/>
                <a:cs typeface="Times New Roman" pitchFamily="18" charset="0"/>
                <a:sym typeface="Symbol"/>
              </a:rPr>
              <a:t>1</a:t>
            </a:r>
            <a:endParaRPr lang="en-IN" sz="1400" baseline="-25000" dirty="0">
              <a:latin typeface="Times New Roman" panose="02020603050405020304" pitchFamily="18" charset="0"/>
              <a:cs typeface="Times New Roman" panose="02020603050405020304" pitchFamily="18" charset="0"/>
            </a:endParaRPr>
          </a:p>
        </p:txBody>
      </p:sp>
      <p:sp>
        <p:nvSpPr>
          <p:cNvPr id="26" name="TextBox 25"/>
          <p:cNvSpPr txBox="1"/>
          <p:nvPr/>
        </p:nvSpPr>
        <p:spPr>
          <a:xfrm>
            <a:off x="1189602" y="1045027"/>
            <a:ext cx="447609"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C</a:t>
            </a:r>
            <a:r>
              <a:rPr lang="en-IN" sz="1400" baseline="-25000" dirty="0" smtClean="0">
                <a:latin typeface="Times New Roman" pitchFamily="18" charset="0"/>
                <a:cs typeface="Times New Roman" pitchFamily="18" charset="0"/>
                <a:sym typeface="Symbol"/>
              </a:rPr>
              <a:t>0</a:t>
            </a:r>
            <a:endParaRPr lang="en-IN" sz="1400" baseline="-25000" dirty="0">
              <a:latin typeface="Times New Roman" panose="02020603050405020304" pitchFamily="18" charset="0"/>
              <a:cs typeface="Times New Roman" panose="02020603050405020304" pitchFamily="18" charset="0"/>
            </a:endParaRPr>
          </a:p>
        </p:txBody>
      </p:sp>
      <p:cxnSp>
        <p:nvCxnSpPr>
          <p:cNvPr id="30" name="Straight Connector 29"/>
          <p:cNvCxnSpPr/>
          <p:nvPr/>
        </p:nvCxnSpPr>
        <p:spPr>
          <a:xfrm flipV="1">
            <a:off x="3252651" y="574766"/>
            <a:ext cx="2939143" cy="26125"/>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3274423" y="910045"/>
            <a:ext cx="2939143" cy="26125"/>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rot="5400000">
            <a:off x="3788229" y="783771"/>
            <a:ext cx="36576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rot="5400000">
            <a:off x="4802778" y="753291"/>
            <a:ext cx="36576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5400000">
            <a:off x="5190309" y="748936"/>
            <a:ext cx="36576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5400000">
            <a:off x="4140926" y="783771"/>
            <a:ext cx="36576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rot="5400000">
            <a:off x="4463143" y="779417"/>
            <a:ext cx="365760" cy="1588"/>
          </a:xfrm>
          <a:prstGeom prst="line">
            <a:avLst/>
          </a:prstGeom>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3980699" y="609599"/>
            <a:ext cx="382295" cy="304801"/>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C</a:t>
            </a:r>
            <a:r>
              <a:rPr lang="en-IN" sz="1400" baseline="-25000" dirty="0" smtClean="0">
                <a:latin typeface="Times New Roman" pitchFamily="18" charset="0"/>
                <a:cs typeface="Times New Roman" pitchFamily="18" charset="0"/>
                <a:sym typeface="Symbol"/>
              </a:rPr>
              <a:t>0</a:t>
            </a:r>
            <a:endParaRPr lang="en-IN" sz="1400" baseline="-25000" dirty="0">
              <a:latin typeface="Times New Roman" panose="02020603050405020304" pitchFamily="18" charset="0"/>
              <a:cs typeface="Times New Roman" panose="02020603050405020304" pitchFamily="18" charset="0"/>
            </a:endParaRPr>
          </a:p>
        </p:txBody>
      </p:sp>
      <p:sp>
        <p:nvSpPr>
          <p:cNvPr id="43" name="TextBox 42"/>
          <p:cNvSpPr txBox="1"/>
          <p:nvPr/>
        </p:nvSpPr>
        <p:spPr>
          <a:xfrm>
            <a:off x="4324688" y="613954"/>
            <a:ext cx="404067"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C</a:t>
            </a:r>
            <a:r>
              <a:rPr lang="en-IN" sz="1400" baseline="-25000" dirty="0" smtClean="0">
                <a:latin typeface="Times New Roman" pitchFamily="18" charset="0"/>
                <a:cs typeface="Times New Roman" pitchFamily="18" charset="0"/>
                <a:sym typeface="Symbol"/>
              </a:rPr>
              <a:t>1</a:t>
            </a:r>
            <a:endParaRPr lang="en-IN" sz="1400" baseline="-25000" dirty="0">
              <a:latin typeface="Times New Roman" panose="02020603050405020304" pitchFamily="18" charset="0"/>
              <a:cs typeface="Times New Roman" panose="02020603050405020304" pitchFamily="18" charset="0"/>
            </a:endParaRPr>
          </a:p>
        </p:txBody>
      </p:sp>
      <p:sp>
        <p:nvSpPr>
          <p:cNvPr id="44" name="TextBox 43"/>
          <p:cNvSpPr txBox="1"/>
          <p:nvPr/>
        </p:nvSpPr>
        <p:spPr>
          <a:xfrm>
            <a:off x="4677385" y="587830"/>
            <a:ext cx="377941"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C</a:t>
            </a:r>
            <a:r>
              <a:rPr lang="en-IN" sz="1400" baseline="-25000" dirty="0" smtClean="0">
                <a:latin typeface="Times New Roman" pitchFamily="18" charset="0"/>
                <a:cs typeface="Times New Roman" pitchFamily="18" charset="0"/>
                <a:sym typeface="Symbol"/>
              </a:rPr>
              <a:t>2</a:t>
            </a:r>
            <a:endParaRPr lang="en-IN" sz="1400" baseline="-25000" dirty="0">
              <a:latin typeface="Times New Roman" panose="02020603050405020304" pitchFamily="18" charset="0"/>
              <a:cs typeface="Times New Roman" panose="02020603050405020304" pitchFamily="18" charset="0"/>
            </a:endParaRPr>
          </a:p>
        </p:txBody>
      </p:sp>
      <p:sp>
        <p:nvSpPr>
          <p:cNvPr id="45" name="TextBox 44"/>
          <p:cNvSpPr txBox="1"/>
          <p:nvPr/>
        </p:nvSpPr>
        <p:spPr>
          <a:xfrm>
            <a:off x="4990893" y="600892"/>
            <a:ext cx="377941" cy="313508"/>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C</a:t>
            </a:r>
            <a:r>
              <a:rPr lang="en-IN" sz="1400" baseline="-25000" dirty="0" smtClean="0">
                <a:latin typeface="Times New Roman" pitchFamily="18" charset="0"/>
                <a:cs typeface="Times New Roman" pitchFamily="18" charset="0"/>
                <a:sym typeface="Symbol"/>
              </a:rPr>
              <a:t>3</a:t>
            </a:r>
            <a:endParaRPr lang="en-IN" sz="1400" baseline="-25000" dirty="0">
              <a:latin typeface="Times New Roman" panose="02020603050405020304" pitchFamily="18" charset="0"/>
              <a:cs typeface="Times New Roman" panose="02020603050405020304" pitchFamily="18" charset="0"/>
            </a:endParaRPr>
          </a:p>
        </p:txBody>
      </p:sp>
      <p:cxnSp>
        <p:nvCxnSpPr>
          <p:cNvPr id="47" name="Straight Connector 46"/>
          <p:cNvCxnSpPr/>
          <p:nvPr/>
        </p:nvCxnSpPr>
        <p:spPr>
          <a:xfrm rot="16200000" flipH="1">
            <a:off x="3239589" y="640079"/>
            <a:ext cx="104503" cy="52252"/>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rot="5400000">
            <a:off x="3265715" y="731519"/>
            <a:ext cx="78377" cy="52252"/>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rot="16200000" flipH="1">
            <a:off x="3272246" y="803365"/>
            <a:ext cx="78377" cy="65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rot="5400000">
            <a:off x="3265713" y="862150"/>
            <a:ext cx="91444" cy="91441"/>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rot="16200000" flipH="1">
            <a:off x="6161317" y="583474"/>
            <a:ext cx="104503" cy="52252"/>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rot="5400000">
            <a:off x="6187443" y="674914"/>
            <a:ext cx="78377" cy="52252"/>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rot="16200000" flipH="1">
            <a:off x="6193974" y="746760"/>
            <a:ext cx="78377" cy="65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rot="5400000">
            <a:off x="6187441" y="805545"/>
            <a:ext cx="91444" cy="91441"/>
          </a:xfrm>
          <a:prstGeom prst="line">
            <a:avLst/>
          </a:prstGeom>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3985054" y="278043"/>
            <a:ext cx="1396844" cy="276999"/>
          </a:xfrm>
          <a:prstGeom prst="rect">
            <a:avLst/>
          </a:prstGeom>
          <a:noFill/>
        </p:spPr>
        <p:txBody>
          <a:bodyPr wrap="square" rtlCol="0">
            <a:spAutoFit/>
          </a:bodyPr>
          <a:lstStyle/>
          <a:p>
            <a:r>
              <a:rPr lang="en-IN" baseline="-25000" dirty="0" smtClean="0">
                <a:latin typeface="Times New Roman" panose="02020603050405020304" pitchFamily="18" charset="0"/>
                <a:cs typeface="Times New Roman" panose="02020603050405020304" pitchFamily="18" charset="0"/>
                <a:sym typeface="Symbol"/>
              </a:rPr>
              <a:t> </a:t>
            </a:r>
            <a:r>
              <a:rPr lang="en-IN" baseline="-25000" dirty="0" smtClean="0">
                <a:latin typeface="Times New Roman" panose="02020603050405020304" pitchFamily="18" charset="0"/>
                <a:cs typeface="Times New Roman" panose="02020603050405020304" pitchFamily="18" charset="0"/>
              </a:rPr>
              <a:t>Control field </a:t>
            </a:r>
            <a:r>
              <a:rPr lang="en-IN" baseline="-25000" dirty="0" smtClean="0">
                <a:latin typeface="Times New Roman" panose="02020603050405020304" pitchFamily="18" charset="0"/>
                <a:cs typeface="Times New Roman" panose="02020603050405020304" pitchFamily="18" charset="0"/>
                <a:sym typeface="Symbol"/>
              </a:rPr>
              <a:t></a:t>
            </a:r>
            <a:endParaRPr lang="en-IN" baseline="-25000" dirty="0">
              <a:latin typeface="Times New Roman" panose="02020603050405020304" pitchFamily="18" charset="0"/>
              <a:cs typeface="Times New Roman" panose="02020603050405020304" pitchFamily="18" charset="0"/>
            </a:endParaRPr>
          </a:p>
        </p:txBody>
      </p:sp>
      <p:sp>
        <p:nvSpPr>
          <p:cNvPr id="61" name="TextBox 60"/>
          <p:cNvSpPr txBox="1"/>
          <p:nvPr/>
        </p:nvSpPr>
        <p:spPr>
          <a:xfrm>
            <a:off x="3997235" y="914400"/>
            <a:ext cx="2403566" cy="1477328"/>
          </a:xfrm>
          <a:prstGeom prst="rect">
            <a:avLst/>
          </a:prstGeom>
          <a:noFill/>
        </p:spPr>
        <p:txBody>
          <a:bodyPr wrap="square" rtlCol="0">
            <a:spAutoFit/>
          </a:bodyPr>
          <a:lstStyle/>
          <a:p>
            <a:pPr marL="342900" indent="-342900">
              <a:buAutoNum type="arabicPlain"/>
            </a:pPr>
            <a:r>
              <a:rPr lang="en-IN" dirty="0" smtClean="0">
                <a:latin typeface="Times New Roman" pitchFamily="18" charset="0"/>
                <a:cs typeface="Times New Roman" pitchFamily="18" charset="0"/>
              </a:rPr>
              <a:t>0    0    0   R </a:t>
            </a:r>
            <a:r>
              <a:rPr lang="en-IN" dirty="0" smtClean="0">
                <a:latin typeface="Times New Roman" pitchFamily="18" charset="0"/>
                <a:cs typeface="Times New Roman" pitchFamily="18" charset="0"/>
                <a:sym typeface="Symbol"/>
              </a:rPr>
              <a:t> X0</a:t>
            </a:r>
          </a:p>
          <a:p>
            <a:pPr marL="342900" indent="-342900"/>
            <a:r>
              <a:rPr lang="en-IN" dirty="0" smtClean="0">
                <a:latin typeface="Times New Roman" pitchFamily="18" charset="0"/>
                <a:cs typeface="Times New Roman" pitchFamily="18" charset="0"/>
              </a:rPr>
              <a:t>0    1    0    0   R </a:t>
            </a:r>
            <a:r>
              <a:rPr lang="en-IN" dirty="0" smtClean="0">
                <a:latin typeface="Times New Roman" pitchFamily="18" charset="0"/>
                <a:cs typeface="Times New Roman" pitchFamily="18" charset="0"/>
                <a:sym typeface="Symbol"/>
              </a:rPr>
              <a:t> X1</a:t>
            </a:r>
            <a:endParaRPr lang="en-IN" dirty="0" smtClean="0">
              <a:latin typeface="Times New Roman" pitchFamily="18" charset="0"/>
              <a:cs typeface="Times New Roman" pitchFamily="18" charset="0"/>
            </a:endParaRPr>
          </a:p>
          <a:p>
            <a:pPr marL="342900" indent="-342900"/>
            <a:r>
              <a:rPr lang="en-IN" dirty="0" smtClean="0">
                <a:latin typeface="Times New Roman" pitchFamily="18" charset="0"/>
                <a:cs typeface="Times New Roman" pitchFamily="18" charset="0"/>
              </a:rPr>
              <a:t>0     0   1    0   R </a:t>
            </a:r>
            <a:r>
              <a:rPr lang="en-IN" dirty="0" smtClean="0">
                <a:latin typeface="Times New Roman" pitchFamily="18" charset="0"/>
                <a:cs typeface="Times New Roman" pitchFamily="18" charset="0"/>
                <a:sym typeface="Symbol"/>
              </a:rPr>
              <a:t> X2</a:t>
            </a:r>
            <a:endParaRPr lang="en-IN" dirty="0" smtClean="0">
              <a:latin typeface="Times New Roman" pitchFamily="18" charset="0"/>
              <a:cs typeface="Times New Roman" pitchFamily="18" charset="0"/>
            </a:endParaRPr>
          </a:p>
          <a:p>
            <a:pPr marL="342900" indent="-342900"/>
            <a:r>
              <a:rPr lang="en-IN" dirty="0" smtClean="0">
                <a:latin typeface="Times New Roman" pitchFamily="18" charset="0"/>
                <a:cs typeface="Times New Roman" pitchFamily="18" charset="0"/>
              </a:rPr>
              <a:t>0     0    0   1   R </a:t>
            </a:r>
            <a:r>
              <a:rPr lang="en-IN" dirty="0" smtClean="0">
                <a:latin typeface="Times New Roman" pitchFamily="18" charset="0"/>
                <a:cs typeface="Times New Roman" pitchFamily="18" charset="0"/>
                <a:sym typeface="Symbol"/>
              </a:rPr>
              <a:t> X3</a:t>
            </a:r>
          </a:p>
          <a:p>
            <a:pPr marL="342900" indent="-342900"/>
            <a:r>
              <a:rPr lang="en-IN" dirty="0" smtClean="0">
                <a:latin typeface="Times New Roman" pitchFamily="18" charset="0"/>
                <a:cs typeface="Times New Roman" pitchFamily="18" charset="0"/>
              </a:rPr>
              <a:t>0     0    0    0   NOP</a:t>
            </a:r>
          </a:p>
        </p:txBody>
      </p:sp>
      <p:sp>
        <p:nvSpPr>
          <p:cNvPr id="62" name="Right Brace 61"/>
          <p:cNvSpPr/>
          <p:nvPr/>
        </p:nvSpPr>
        <p:spPr>
          <a:xfrm>
            <a:off x="6139543" y="1045029"/>
            <a:ext cx="261257" cy="128016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63" name="TextBox 62"/>
          <p:cNvSpPr txBox="1"/>
          <p:nvPr/>
        </p:nvSpPr>
        <p:spPr>
          <a:xfrm>
            <a:off x="6257992" y="2146030"/>
            <a:ext cx="874328" cy="461665"/>
          </a:xfrm>
          <a:prstGeom prst="rect">
            <a:avLst/>
          </a:prstGeom>
          <a:noFill/>
        </p:spPr>
        <p:txBody>
          <a:bodyPr wrap="square" rtlCol="0">
            <a:spAutoFit/>
          </a:bodyPr>
          <a:lstStyle/>
          <a:p>
            <a:r>
              <a:rPr lang="en-IN" baseline="-25000" dirty="0" smtClean="0">
                <a:latin typeface="Times New Roman" panose="02020603050405020304" pitchFamily="18" charset="0"/>
                <a:cs typeface="Times New Roman" panose="02020603050405020304" pitchFamily="18" charset="0"/>
              </a:rPr>
              <a:t>Five micro operations</a:t>
            </a:r>
            <a:endParaRPr lang="en-IN" baseline="-25000" dirty="0">
              <a:latin typeface="Times New Roman" panose="02020603050405020304" pitchFamily="18" charset="0"/>
              <a:cs typeface="Times New Roman" panose="02020603050405020304" pitchFamily="18" charset="0"/>
            </a:endParaRPr>
          </a:p>
        </p:txBody>
      </p:sp>
      <p:sp>
        <p:nvSpPr>
          <p:cNvPr id="64" name="TextBox 63"/>
          <p:cNvSpPr txBox="1"/>
          <p:nvPr/>
        </p:nvSpPr>
        <p:spPr>
          <a:xfrm>
            <a:off x="1215728" y="212729"/>
            <a:ext cx="1984672" cy="276999"/>
          </a:xfrm>
          <a:prstGeom prst="rect">
            <a:avLst/>
          </a:prstGeom>
          <a:noFill/>
        </p:spPr>
        <p:txBody>
          <a:bodyPr wrap="square" rtlCol="0">
            <a:spAutoFit/>
          </a:bodyPr>
          <a:lstStyle/>
          <a:p>
            <a:r>
              <a:rPr lang="en-IN" baseline="-25000" dirty="0" smtClean="0">
                <a:latin typeface="Times New Roman" panose="02020603050405020304" pitchFamily="18" charset="0"/>
                <a:cs typeface="Times New Roman" panose="02020603050405020304" pitchFamily="18" charset="0"/>
              </a:rPr>
              <a:t>Horizontal microinstruction</a:t>
            </a:r>
            <a:endParaRPr lang="en-IN" baseline="-25000" dirty="0">
              <a:latin typeface="Times New Roman" panose="02020603050405020304" pitchFamily="18" charset="0"/>
              <a:cs typeface="Times New Roman" panose="02020603050405020304" pitchFamily="18" charset="0"/>
            </a:endParaRPr>
          </a:p>
        </p:txBody>
      </p:sp>
      <p:sp>
        <p:nvSpPr>
          <p:cNvPr id="65" name="TextBox 64"/>
          <p:cNvSpPr txBox="1"/>
          <p:nvPr/>
        </p:nvSpPr>
        <p:spPr>
          <a:xfrm>
            <a:off x="192470" y="3016891"/>
            <a:ext cx="1793083" cy="276999"/>
          </a:xfrm>
          <a:prstGeom prst="rect">
            <a:avLst/>
          </a:prstGeom>
          <a:noFill/>
        </p:spPr>
        <p:txBody>
          <a:bodyPr wrap="square" rtlCol="0">
            <a:spAutoFit/>
          </a:bodyPr>
          <a:lstStyle/>
          <a:p>
            <a:r>
              <a:rPr lang="en-IN" baseline="-25000" dirty="0" smtClean="0">
                <a:latin typeface="Times New Roman" panose="02020603050405020304" pitchFamily="18" charset="0"/>
                <a:cs typeface="Times New Roman" panose="02020603050405020304" pitchFamily="18" charset="0"/>
              </a:rPr>
              <a:t>Vertical microinstruction</a:t>
            </a:r>
            <a:endParaRPr lang="en-IN" baseline="-25000" dirty="0">
              <a:latin typeface="Times New Roman" panose="02020603050405020304" pitchFamily="18" charset="0"/>
              <a:cs typeface="Times New Roman" panose="02020603050405020304" pitchFamily="18" charset="0"/>
            </a:endParaRPr>
          </a:p>
        </p:txBody>
      </p:sp>
      <p:cxnSp>
        <p:nvCxnSpPr>
          <p:cNvPr id="66" name="Straight Connector 65"/>
          <p:cNvCxnSpPr/>
          <p:nvPr/>
        </p:nvCxnSpPr>
        <p:spPr>
          <a:xfrm flipV="1">
            <a:off x="191588" y="3587933"/>
            <a:ext cx="2939143" cy="26125"/>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flipV="1">
            <a:off x="213360" y="3923212"/>
            <a:ext cx="2939143" cy="26125"/>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rot="5400000">
            <a:off x="727166" y="3796938"/>
            <a:ext cx="36576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rot="5400000">
            <a:off x="1859281" y="3792584"/>
            <a:ext cx="36576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rot="5400000">
            <a:off x="1079863" y="3796938"/>
            <a:ext cx="36576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rot="5400000">
            <a:off x="1402080" y="3792584"/>
            <a:ext cx="365760" cy="1588"/>
          </a:xfrm>
          <a:prstGeom prst="line">
            <a:avLst/>
          </a:prstGeom>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919636" y="3622766"/>
            <a:ext cx="382295"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K</a:t>
            </a:r>
            <a:r>
              <a:rPr lang="en-IN" sz="1400" baseline="-25000" dirty="0" smtClean="0">
                <a:latin typeface="Times New Roman" pitchFamily="18" charset="0"/>
                <a:cs typeface="Times New Roman" pitchFamily="18" charset="0"/>
                <a:sym typeface="Symbol"/>
              </a:rPr>
              <a:t>0</a:t>
            </a:r>
            <a:endParaRPr lang="en-IN" sz="1400" baseline="-25000" dirty="0">
              <a:latin typeface="Times New Roman" panose="02020603050405020304" pitchFamily="18" charset="0"/>
              <a:cs typeface="Times New Roman" panose="02020603050405020304" pitchFamily="18" charset="0"/>
            </a:endParaRPr>
          </a:p>
        </p:txBody>
      </p:sp>
      <p:sp>
        <p:nvSpPr>
          <p:cNvPr id="74" name="TextBox 73"/>
          <p:cNvSpPr txBox="1"/>
          <p:nvPr/>
        </p:nvSpPr>
        <p:spPr>
          <a:xfrm>
            <a:off x="1263625" y="3627121"/>
            <a:ext cx="404067"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K</a:t>
            </a:r>
            <a:r>
              <a:rPr lang="en-IN" sz="1400" baseline="-25000" dirty="0" smtClean="0">
                <a:latin typeface="Times New Roman" pitchFamily="18" charset="0"/>
                <a:cs typeface="Times New Roman" pitchFamily="18" charset="0"/>
                <a:sym typeface="Symbol"/>
              </a:rPr>
              <a:t>1</a:t>
            </a:r>
            <a:endParaRPr lang="en-IN" sz="1400" baseline="-25000" dirty="0">
              <a:latin typeface="Times New Roman" panose="02020603050405020304" pitchFamily="18" charset="0"/>
              <a:cs typeface="Times New Roman" panose="02020603050405020304" pitchFamily="18" charset="0"/>
            </a:endParaRPr>
          </a:p>
        </p:txBody>
      </p:sp>
      <p:sp>
        <p:nvSpPr>
          <p:cNvPr id="75" name="TextBox 74"/>
          <p:cNvSpPr txBox="1"/>
          <p:nvPr/>
        </p:nvSpPr>
        <p:spPr>
          <a:xfrm>
            <a:off x="1616322" y="3614059"/>
            <a:ext cx="377941"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K</a:t>
            </a:r>
            <a:r>
              <a:rPr lang="en-IN" sz="1400" baseline="-25000" dirty="0" smtClean="0">
                <a:latin typeface="Times New Roman" pitchFamily="18" charset="0"/>
                <a:cs typeface="Times New Roman" pitchFamily="18" charset="0"/>
                <a:sym typeface="Symbol"/>
              </a:rPr>
              <a:t>2</a:t>
            </a:r>
            <a:endParaRPr lang="en-IN" sz="1400" baseline="-25000" dirty="0">
              <a:latin typeface="Times New Roman" panose="02020603050405020304" pitchFamily="18" charset="0"/>
              <a:cs typeface="Times New Roman" panose="02020603050405020304" pitchFamily="18" charset="0"/>
            </a:endParaRPr>
          </a:p>
        </p:txBody>
      </p:sp>
      <p:cxnSp>
        <p:nvCxnSpPr>
          <p:cNvPr id="77" name="Straight Connector 76"/>
          <p:cNvCxnSpPr/>
          <p:nvPr/>
        </p:nvCxnSpPr>
        <p:spPr>
          <a:xfrm rot="16200000" flipH="1">
            <a:off x="178526" y="3653246"/>
            <a:ext cx="104503" cy="52252"/>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rot="5400000">
            <a:off x="204652" y="3744686"/>
            <a:ext cx="78377" cy="52252"/>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rot="16200000" flipH="1">
            <a:off x="211183" y="3816532"/>
            <a:ext cx="78377" cy="65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rot="5400000">
            <a:off x="204650" y="3875317"/>
            <a:ext cx="91444" cy="91441"/>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rot="16200000" flipH="1">
            <a:off x="3100254" y="3596641"/>
            <a:ext cx="104503" cy="52252"/>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rot="5400000">
            <a:off x="3126380" y="3688081"/>
            <a:ext cx="78377" cy="52252"/>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rot="16200000" flipH="1">
            <a:off x="3132911" y="3759927"/>
            <a:ext cx="78377" cy="65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rot="5400000">
            <a:off x="3126378" y="3818712"/>
            <a:ext cx="91444" cy="91441"/>
          </a:xfrm>
          <a:prstGeom prst="line">
            <a:avLst/>
          </a:prstGeom>
        </p:spPr>
        <p:style>
          <a:lnRef idx="1">
            <a:schemeClr val="accent1"/>
          </a:lnRef>
          <a:fillRef idx="0">
            <a:schemeClr val="accent1"/>
          </a:fillRef>
          <a:effectRef idx="0">
            <a:schemeClr val="accent1"/>
          </a:effectRef>
          <a:fontRef idx="minor">
            <a:schemeClr val="tx1"/>
          </a:fontRef>
        </p:style>
      </p:cxnSp>
      <p:sp>
        <p:nvSpPr>
          <p:cNvPr id="85" name="TextBox 84"/>
          <p:cNvSpPr txBox="1"/>
          <p:nvPr/>
        </p:nvSpPr>
        <p:spPr>
          <a:xfrm>
            <a:off x="806426" y="3291210"/>
            <a:ext cx="1396844" cy="276999"/>
          </a:xfrm>
          <a:prstGeom prst="rect">
            <a:avLst/>
          </a:prstGeom>
          <a:noFill/>
        </p:spPr>
        <p:txBody>
          <a:bodyPr wrap="square" rtlCol="0">
            <a:spAutoFit/>
          </a:bodyPr>
          <a:lstStyle/>
          <a:p>
            <a:r>
              <a:rPr lang="en-IN" baseline="-25000" dirty="0" smtClean="0">
                <a:latin typeface="Times New Roman" panose="02020603050405020304" pitchFamily="18" charset="0"/>
                <a:cs typeface="Times New Roman" panose="02020603050405020304" pitchFamily="18" charset="0"/>
                <a:sym typeface="Symbol"/>
              </a:rPr>
              <a:t> </a:t>
            </a:r>
            <a:r>
              <a:rPr lang="en-IN" baseline="-25000" dirty="0" smtClean="0">
                <a:latin typeface="Times New Roman" panose="02020603050405020304" pitchFamily="18" charset="0"/>
                <a:cs typeface="Times New Roman" panose="02020603050405020304" pitchFamily="18" charset="0"/>
              </a:rPr>
              <a:t>Control field </a:t>
            </a:r>
            <a:r>
              <a:rPr lang="en-IN" baseline="-25000" dirty="0" smtClean="0">
                <a:latin typeface="Times New Roman" panose="02020603050405020304" pitchFamily="18" charset="0"/>
                <a:cs typeface="Times New Roman" panose="02020603050405020304" pitchFamily="18" charset="0"/>
                <a:sym typeface="Symbol"/>
              </a:rPr>
              <a:t></a:t>
            </a:r>
            <a:endParaRPr lang="en-IN" baseline="-25000" dirty="0">
              <a:latin typeface="Times New Roman" panose="02020603050405020304" pitchFamily="18" charset="0"/>
              <a:cs typeface="Times New Roman" panose="02020603050405020304" pitchFamily="18" charset="0"/>
            </a:endParaRPr>
          </a:p>
        </p:txBody>
      </p:sp>
      <p:sp>
        <p:nvSpPr>
          <p:cNvPr id="86" name="Rectangle 85"/>
          <p:cNvSpPr/>
          <p:nvPr/>
        </p:nvSpPr>
        <p:spPr>
          <a:xfrm>
            <a:off x="300446" y="4280487"/>
            <a:ext cx="2899953" cy="3394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87" name="TextBox 86"/>
          <p:cNvSpPr txBox="1"/>
          <p:nvPr/>
        </p:nvSpPr>
        <p:spPr>
          <a:xfrm>
            <a:off x="1085099" y="4301404"/>
            <a:ext cx="1187837" cy="276999"/>
          </a:xfrm>
          <a:prstGeom prst="rect">
            <a:avLst/>
          </a:prstGeom>
          <a:noFill/>
        </p:spPr>
        <p:txBody>
          <a:bodyPr wrap="square" rtlCol="0">
            <a:spAutoFit/>
          </a:bodyPr>
          <a:lstStyle/>
          <a:p>
            <a:r>
              <a:rPr lang="en-IN" baseline="-25000" dirty="0" smtClean="0">
                <a:latin typeface="Times New Roman" panose="02020603050405020304" pitchFamily="18" charset="0"/>
                <a:cs typeface="Times New Roman" panose="02020603050405020304" pitchFamily="18" charset="0"/>
              </a:rPr>
              <a:t>3 to 8 decoder</a:t>
            </a:r>
            <a:endParaRPr lang="en-IN" baseline="-25000" dirty="0">
              <a:latin typeface="Times New Roman" panose="02020603050405020304" pitchFamily="18" charset="0"/>
              <a:cs typeface="Times New Roman" panose="02020603050405020304" pitchFamily="18" charset="0"/>
            </a:endParaRPr>
          </a:p>
        </p:txBody>
      </p:sp>
      <p:cxnSp>
        <p:nvCxnSpPr>
          <p:cNvPr id="89" name="Straight Arrow Connector 88"/>
          <p:cNvCxnSpPr>
            <a:stCxn id="73" idx="2"/>
          </p:cNvCxnSpPr>
          <p:nvPr/>
        </p:nvCxnSpPr>
        <p:spPr>
          <a:xfrm rot="5400000">
            <a:off x="933527" y="4107360"/>
            <a:ext cx="354075" cy="44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p:nvPr/>
        </p:nvCxnSpPr>
        <p:spPr>
          <a:xfrm rot="5400000">
            <a:off x="1255744" y="4129132"/>
            <a:ext cx="354075" cy="44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3" name="Straight Arrow Connector 92"/>
          <p:cNvCxnSpPr/>
          <p:nvPr/>
        </p:nvCxnSpPr>
        <p:spPr>
          <a:xfrm rot="5400000">
            <a:off x="1617150" y="4150903"/>
            <a:ext cx="354075" cy="44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4" name="Straight Arrow Connector 93"/>
          <p:cNvCxnSpPr/>
          <p:nvPr/>
        </p:nvCxnSpPr>
        <p:spPr>
          <a:xfrm rot="5400000">
            <a:off x="262967" y="4795336"/>
            <a:ext cx="354075" cy="44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5" name="Straight Arrow Connector 94"/>
          <p:cNvCxnSpPr/>
          <p:nvPr/>
        </p:nvCxnSpPr>
        <p:spPr>
          <a:xfrm rot="5400000">
            <a:off x="663562" y="4790982"/>
            <a:ext cx="354075" cy="44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6" name="Straight Arrow Connector 95"/>
          <p:cNvCxnSpPr/>
          <p:nvPr/>
        </p:nvCxnSpPr>
        <p:spPr>
          <a:xfrm rot="5400000">
            <a:off x="998841" y="4799691"/>
            <a:ext cx="354075" cy="44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p:nvPr/>
        </p:nvCxnSpPr>
        <p:spPr>
          <a:xfrm rot="5400000">
            <a:off x="1255744" y="4795336"/>
            <a:ext cx="354075" cy="44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p:nvPr/>
        </p:nvCxnSpPr>
        <p:spPr>
          <a:xfrm rot="5400000">
            <a:off x="2858122" y="4804045"/>
            <a:ext cx="354075" cy="44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179407" y="4868091"/>
            <a:ext cx="408421"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C</a:t>
            </a:r>
            <a:r>
              <a:rPr lang="en-IN" sz="1400" baseline="-25000" dirty="0" smtClean="0">
                <a:latin typeface="Times New Roman" pitchFamily="18" charset="0"/>
                <a:cs typeface="Times New Roman" pitchFamily="18" charset="0"/>
                <a:sym typeface="Symbol"/>
              </a:rPr>
              <a:t>0</a:t>
            </a:r>
            <a:endParaRPr lang="en-IN" sz="1400" baseline="-25000" dirty="0">
              <a:latin typeface="Times New Roman" panose="02020603050405020304" pitchFamily="18" charset="0"/>
              <a:cs typeface="Times New Roman" panose="02020603050405020304" pitchFamily="18" charset="0"/>
            </a:endParaRPr>
          </a:p>
        </p:txBody>
      </p:sp>
      <p:sp>
        <p:nvSpPr>
          <p:cNvPr id="100" name="TextBox 99"/>
          <p:cNvSpPr txBox="1"/>
          <p:nvPr/>
        </p:nvSpPr>
        <p:spPr>
          <a:xfrm>
            <a:off x="606128" y="4850673"/>
            <a:ext cx="447609"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C</a:t>
            </a:r>
            <a:r>
              <a:rPr lang="en-IN" sz="1400" baseline="-25000" dirty="0" smtClean="0">
                <a:latin typeface="Times New Roman" pitchFamily="18" charset="0"/>
                <a:cs typeface="Times New Roman" pitchFamily="18" charset="0"/>
                <a:sym typeface="Symbol"/>
              </a:rPr>
              <a:t>1</a:t>
            </a:r>
            <a:endParaRPr lang="en-IN" sz="1400" baseline="-25000" dirty="0">
              <a:latin typeface="Times New Roman" panose="02020603050405020304" pitchFamily="18" charset="0"/>
              <a:cs typeface="Times New Roman" panose="02020603050405020304" pitchFamily="18" charset="0"/>
            </a:endParaRPr>
          </a:p>
        </p:txBody>
      </p:sp>
      <p:sp>
        <p:nvSpPr>
          <p:cNvPr id="101" name="TextBox 100"/>
          <p:cNvSpPr txBox="1"/>
          <p:nvPr/>
        </p:nvSpPr>
        <p:spPr>
          <a:xfrm>
            <a:off x="919636" y="4863738"/>
            <a:ext cx="373588"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C</a:t>
            </a:r>
            <a:r>
              <a:rPr lang="en-IN" sz="1400" baseline="-25000" dirty="0" smtClean="0">
                <a:latin typeface="Times New Roman" pitchFamily="18" charset="0"/>
                <a:cs typeface="Times New Roman" pitchFamily="18" charset="0"/>
                <a:sym typeface="Symbol"/>
              </a:rPr>
              <a:t>2</a:t>
            </a:r>
            <a:endParaRPr lang="en-IN" sz="1400" baseline="-25000" dirty="0">
              <a:latin typeface="Times New Roman" panose="02020603050405020304" pitchFamily="18" charset="0"/>
              <a:cs typeface="Times New Roman" panose="02020603050405020304" pitchFamily="18" charset="0"/>
            </a:endParaRPr>
          </a:p>
        </p:txBody>
      </p:sp>
      <p:sp>
        <p:nvSpPr>
          <p:cNvPr id="102" name="TextBox 101"/>
          <p:cNvSpPr txBox="1"/>
          <p:nvPr/>
        </p:nvSpPr>
        <p:spPr>
          <a:xfrm>
            <a:off x="1263623" y="4855030"/>
            <a:ext cx="408421"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C</a:t>
            </a:r>
            <a:r>
              <a:rPr lang="en-IN" sz="1400" baseline="-25000" dirty="0" smtClean="0">
                <a:latin typeface="Times New Roman" pitchFamily="18" charset="0"/>
                <a:cs typeface="Times New Roman" pitchFamily="18" charset="0"/>
                <a:sym typeface="Symbol"/>
              </a:rPr>
              <a:t>3</a:t>
            </a:r>
            <a:endParaRPr lang="en-IN" sz="1400" baseline="-25000" dirty="0">
              <a:latin typeface="Times New Roman" panose="02020603050405020304" pitchFamily="18" charset="0"/>
              <a:cs typeface="Times New Roman" panose="02020603050405020304" pitchFamily="18" charset="0"/>
            </a:endParaRPr>
          </a:p>
        </p:txBody>
      </p:sp>
      <p:sp>
        <p:nvSpPr>
          <p:cNvPr id="103" name="TextBox 102"/>
          <p:cNvSpPr txBox="1"/>
          <p:nvPr/>
        </p:nvSpPr>
        <p:spPr>
          <a:xfrm>
            <a:off x="2687477" y="4828903"/>
            <a:ext cx="382296" cy="304802"/>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C</a:t>
            </a:r>
            <a:r>
              <a:rPr lang="en-IN" sz="1400" baseline="-25000" dirty="0" smtClean="0">
                <a:latin typeface="Times New Roman" pitchFamily="18" charset="0"/>
                <a:cs typeface="Times New Roman" pitchFamily="18" charset="0"/>
                <a:sym typeface="Symbol"/>
              </a:rPr>
              <a:t>7</a:t>
            </a:r>
            <a:endParaRPr lang="en-IN" sz="1400" baseline="-25000" dirty="0">
              <a:latin typeface="Times New Roman" panose="02020603050405020304" pitchFamily="18" charset="0"/>
              <a:cs typeface="Times New Roman" panose="02020603050405020304" pitchFamily="18" charset="0"/>
            </a:endParaRPr>
          </a:p>
        </p:txBody>
      </p:sp>
      <p:sp>
        <p:nvSpPr>
          <p:cNvPr id="104" name="TextBox 103"/>
          <p:cNvSpPr txBox="1"/>
          <p:nvPr/>
        </p:nvSpPr>
        <p:spPr>
          <a:xfrm>
            <a:off x="1850572" y="4711336"/>
            <a:ext cx="483326" cy="369332"/>
          </a:xfrm>
          <a:prstGeom prst="rect">
            <a:avLst/>
          </a:prstGeom>
          <a:noFill/>
        </p:spPr>
        <p:txBody>
          <a:bodyPr wrap="square" rtlCol="0">
            <a:spAutoFit/>
          </a:bodyPr>
          <a:lstStyle/>
          <a:p>
            <a:r>
              <a:rPr lang="en-IN" dirty="0" smtClean="0"/>
              <a:t>. . .</a:t>
            </a:r>
            <a:endParaRPr lang="en-IN" dirty="0"/>
          </a:p>
        </p:txBody>
      </p:sp>
      <p:sp>
        <p:nvSpPr>
          <p:cNvPr id="105" name="TextBox 104"/>
          <p:cNvSpPr txBox="1"/>
          <p:nvPr/>
        </p:nvSpPr>
        <p:spPr>
          <a:xfrm>
            <a:off x="3496490" y="3966754"/>
            <a:ext cx="2773681" cy="1200329"/>
          </a:xfrm>
          <a:prstGeom prst="rect">
            <a:avLst/>
          </a:prstGeom>
          <a:noFill/>
        </p:spPr>
        <p:txBody>
          <a:bodyPr wrap="square" rtlCol="0">
            <a:spAutoFit/>
          </a:bodyPr>
          <a:lstStyle/>
          <a:p>
            <a:pPr marL="342900" indent="-342900"/>
            <a:r>
              <a:rPr lang="en-IN" dirty="0" smtClean="0">
                <a:latin typeface="Times New Roman" pitchFamily="18" charset="0"/>
                <a:cs typeface="Times New Roman" pitchFamily="18" charset="0"/>
              </a:rPr>
              <a:t>C</a:t>
            </a:r>
            <a:r>
              <a:rPr lang="en-IN" baseline="-25000" dirty="0" smtClean="0">
                <a:latin typeface="Times New Roman" pitchFamily="18" charset="0"/>
                <a:cs typeface="Times New Roman" pitchFamily="18" charset="0"/>
              </a:rPr>
              <a:t>0</a:t>
            </a:r>
            <a:r>
              <a:rPr lang="en-IN" dirty="0" smtClean="0">
                <a:latin typeface="Times New Roman" pitchFamily="18" charset="0"/>
                <a:cs typeface="Times New Roman" pitchFamily="18" charset="0"/>
              </a:rPr>
              <a:t> = 1 when K</a:t>
            </a:r>
            <a:r>
              <a:rPr lang="en-IN" baseline="-25000" dirty="0" smtClean="0">
                <a:latin typeface="Times New Roman" pitchFamily="18" charset="0"/>
                <a:cs typeface="Times New Roman" pitchFamily="18" charset="0"/>
              </a:rPr>
              <a:t>0</a:t>
            </a:r>
            <a:r>
              <a:rPr lang="en-IN" dirty="0" smtClean="0">
                <a:latin typeface="Times New Roman" pitchFamily="18" charset="0"/>
                <a:cs typeface="Times New Roman" pitchFamily="18" charset="0"/>
              </a:rPr>
              <a:t>K</a:t>
            </a:r>
            <a:r>
              <a:rPr lang="en-IN" baseline="-25000" dirty="0" smtClean="0">
                <a:latin typeface="Times New Roman" pitchFamily="18" charset="0"/>
                <a:cs typeface="Times New Roman" pitchFamily="18" charset="0"/>
              </a:rPr>
              <a:t>1</a:t>
            </a:r>
            <a:r>
              <a:rPr lang="en-IN" dirty="0" smtClean="0">
                <a:latin typeface="Times New Roman" pitchFamily="18" charset="0"/>
                <a:cs typeface="Times New Roman" pitchFamily="18" charset="0"/>
              </a:rPr>
              <a:t>K</a:t>
            </a:r>
            <a:r>
              <a:rPr lang="en-IN" baseline="-25000" dirty="0" smtClean="0">
                <a:latin typeface="Times New Roman" pitchFamily="18" charset="0"/>
                <a:cs typeface="Times New Roman" pitchFamily="18" charset="0"/>
              </a:rPr>
              <a:t>2</a:t>
            </a:r>
            <a:r>
              <a:rPr lang="en-IN" dirty="0" smtClean="0">
                <a:latin typeface="Times New Roman" pitchFamily="18" charset="0"/>
                <a:cs typeface="Times New Roman" pitchFamily="18" charset="0"/>
              </a:rPr>
              <a:t> = 001</a:t>
            </a:r>
          </a:p>
          <a:p>
            <a:pPr marL="342900" indent="-342900"/>
            <a:r>
              <a:rPr lang="en-IN" dirty="0" smtClean="0">
                <a:latin typeface="Times New Roman" pitchFamily="18" charset="0"/>
                <a:cs typeface="Times New Roman" pitchFamily="18" charset="0"/>
              </a:rPr>
              <a:t>C</a:t>
            </a:r>
            <a:r>
              <a:rPr lang="en-IN" baseline="-25000" dirty="0" smtClean="0">
                <a:latin typeface="Times New Roman" pitchFamily="18" charset="0"/>
                <a:cs typeface="Times New Roman" pitchFamily="18" charset="0"/>
              </a:rPr>
              <a:t>1</a:t>
            </a:r>
            <a:r>
              <a:rPr lang="en-IN" dirty="0" smtClean="0">
                <a:latin typeface="Times New Roman" pitchFamily="18" charset="0"/>
                <a:cs typeface="Times New Roman" pitchFamily="18" charset="0"/>
              </a:rPr>
              <a:t> = 1 when K</a:t>
            </a:r>
            <a:r>
              <a:rPr lang="en-IN" baseline="-25000" dirty="0" smtClean="0">
                <a:latin typeface="Times New Roman" pitchFamily="18" charset="0"/>
                <a:cs typeface="Times New Roman" pitchFamily="18" charset="0"/>
              </a:rPr>
              <a:t>0</a:t>
            </a:r>
            <a:r>
              <a:rPr lang="en-IN" dirty="0" smtClean="0">
                <a:latin typeface="Times New Roman" pitchFamily="18" charset="0"/>
                <a:cs typeface="Times New Roman" pitchFamily="18" charset="0"/>
              </a:rPr>
              <a:t>K</a:t>
            </a:r>
            <a:r>
              <a:rPr lang="en-IN" baseline="-25000" dirty="0" smtClean="0">
                <a:latin typeface="Times New Roman" pitchFamily="18" charset="0"/>
                <a:cs typeface="Times New Roman" pitchFamily="18" charset="0"/>
              </a:rPr>
              <a:t>1</a:t>
            </a:r>
            <a:r>
              <a:rPr lang="en-IN" dirty="0" smtClean="0">
                <a:latin typeface="Times New Roman" pitchFamily="18" charset="0"/>
                <a:cs typeface="Times New Roman" pitchFamily="18" charset="0"/>
              </a:rPr>
              <a:t>K</a:t>
            </a:r>
            <a:r>
              <a:rPr lang="en-IN" baseline="-25000" dirty="0" smtClean="0">
                <a:latin typeface="Times New Roman" pitchFamily="18" charset="0"/>
                <a:cs typeface="Times New Roman" pitchFamily="18" charset="0"/>
              </a:rPr>
              <a:t>2</a:t>
            </a:r>
            <a:r>
              <a:rPr lang="en-IN" dirty="0" smtClean="0">
                <a:latin typeface="Times New Roman" pitchFamily="18" charset="0"/>
                <a:cs typeface="Times New Roman" pitchFamily="18" charset="0"/>
              </a:rPr>
              <a:t> = 010</a:t>
            </a:r>
          </a:p>
          <a:p>
            <a:pPr marL="342900" indent="-342900"/>
            <a:r>
              <a:rPr lang="en-IN" dirty="0" smtClean="0">
                <a:latin typeface="Times New Roman" pitchFamily="18" charset="0"/>
                <a:cs typeface="Times New Roman" pitchFamily="18" charset="0"/>
              </a:rPr>
              <a:t>C</a:t>
            </a:r>
            <a:r>
              <a:rPr lang="en-IN" baseline="-25000" dirty="0" smtClean="0">
                <a:latin typeface="Times New Roman" pitchFamily="18" charset="0"/>
                <a:cs typeface="Times New Roman" pitchFamily="18" charset="0"/>
              </a:rPr>
              <a:t>2</a:t>
            </a:r>
            <a:r>
              <a:rPr lang="en-IN" dirty="0" smtClean="0">
                <a:latin typeface="Times New Roman" pitchFamily="18" charset="0"/>
                <a:cs typeface="Times New Roman" pitchFamily="18" charset="0"/>
              </a:rPr>
              <a:t> = 1 when K</a:t>
            </a:r>
            <a:r>
              <a:rPr lang="en-IN" baseline="-25000" dirty="0" smtClean="0">
                <a:latin typeface="Times New Roman" pitchFamily="18" charset="0"/>
                <a:cs typeface="Times New Roman" pitchFamily="18" charset="0"/>
              </a:rPr>
              <a:t>0</a:t>
            </a:r>
            <a:r>
              <a:rPr lang="en-IN" dirty="0" smtClean="0">
                <a:latin typeface="Times New Roman" pitchFamily="18" charset="0"/>
                <a:cs typeface="Times New Roman" pitchFamily="18" charset="0"/>
              </a:rPr>
              <a:t>K</a:t>
            </a:r>
            <a:r>
              <a:rPr lang="en-IN" baseline="-25000" dirty="0" smtClean="0">
                <a:latin typeface="Times New Roman" pitchFamily="18" charset="0"/>
                <a:cs typeface="Times New Roman" pitchFamily="18" charset="0"/>
              </a:rPr>
              <a:t>1</a:t>
            </a:r>
            <a:r>
              <a:rPr lang="en-IN" dirty="0" smtClean="0">
                <a:latin typeface="Times New Roman" pitchFamily="18" charset="0"/>
                <a:cs typeface="Times New Roman" pitchFamily="18" charset="0"/>
              </a:rPr>
              <a:t>K</a:t>
            </a:r>
            <a:r>
              <a:rPr lang="en-IN" baseline="-25000" dirty="0" smtClean="0">
                <a:latin typeface="Times New Roman" pitchFamily="18" charset="0"/>
                <a:cs typeface="Times New Roman" pitchFamily="18" charset="0"/>
              </a:rPr>
              <a:t>2</a:t>
            </a:r>
            <a:r>
              <a:rPr lang="en-IN" dirty="0" smtClean="0">
                <a:latin typeface="Times New Roman" pitchFamily="18" charset="0"/>
                <a:cs typeface="Times New Roman" pitchFamily="18" charset="0"/>
              </a:rPr>
              <a:t> = 011</a:t>
            </a:r>
          </a:p>
          <a:p>
            <a:pPr marL="342900" indent="-342900"/>
            <a:r>
              <a:rPr lang="en-IN" dirty="0" smtClean="0">
                <a:latin typeface="Times New Roman" pitchFamily="18" charset="0"/>
                <a:cs typeface="Times New Roman" pitchFamily="18" charset="0"/>
              </a:rPr>
              <a:t>C</a:t>
            </a:r>
            <a:r>
              <a:rPr lang="en-IN" baseline="-25000" dirty="0" smtClean="0">
                <a:latin typeface="Times New Roman" pitchFamily="18" charset="0"/>
                <a:cs typeface="Times New Roman" pitchFamily="18" charset="0"/>
              </a:rPr>
              <a:t>3</a:t>
            </a:r>
            <a:r>
              <a:rPr lang="en-IN" dirty="0" smtClean="0">
                <a:latin typeface="Times New Roman" pitchFamily="18" charset="0"/>
                <a:cs typeface="Times New Roman" pitchFamily="18" charset="0"/>
              </a:rPr>
              <a:t> = 1 when K</a:t>
            </a:r>
            <a:r>
              <a:rPr lang="en-IN" baseline="-25000" dirty="0" smtClean="0">
                <a:latin typeface="Times New Roman" pitchFamily="18" charset="0"/>
                <a:cs typeface="Times New Roman" pitchFamily="18" charset="0"/>
              </a:rPr>
              <a:t>0</a:t>
            </a:r>
            <a:r>
              <a:rPr lang="en-IN" dirty="0" smtClean="0">
                <a:latin typeface="Times New Roman" pitchFamily="18" charset="0"/>
                <a:cs typeface="Times New Roman" pitchFamily="18" charset="0"/>
              </a:rPr>
              <a:t>K</a:t>
            </a:r>
            <a:r>
              <a:rPr lang="en-IN" baseline="-25000" dirty="0" smtClean="0">
                <a:latin typeface="Times New Roman" pitchFamily="18" charset="0"/>
                <a:cs typeface="Times New Roman" pitchFamily="18" charset="0"/>
              </a:rPr>
              <a:t>1</a:t>
            </a:r>
            <a:r>
              <a:rPr lang="en-IN" dirty="0" smtClean="0">
                <a:latin typeface="Times New Roman" pitchFamily="18" charset="0"/>
                <a:cs typeface="Times New Roman" pitchFamily="18" charset="0"/>
              </a:rPr>
              <a:t>K</a:t>
            </a:r>
            <a:r>
              <a:rPr lang="en-IN" baseline="-25000" dirty="0" smtClean="0">
                <a:latin typeface="Times New Roman" pitchFamily="18" charset="0"/>
                <a:cs typeface="Times New Roman" pitchFamily="18" charset="0"/>
              </a:rPr>
              <a:t>2</a:t>
            </a:r>
            <a:r>
              <a:rPr lang="en-IN" dirty="0" smtClean="0">
                <a:latin typeface="Times New Roman" pitchFamily="18" charset="0"/>
                <a:cs typeface="Times New Roman" pitchFamily="18" charset="0"/>
              </a:rPr>
              <a:t> = 100</a:t>
            </a:r>
          </a:p>
        </p:txBody>
      </p:sp>
      <p:sp>
        <p:nvSpPr>
          <p:cNvPr id="107" name="TextBox 106"/>
          <p:cNvSpPr txBox="1"/>
          <p:nvPr/>
        </p:nvSpPr>
        <p:spPr>
          <a:xfrm>
            <a:off x="6387737" y="3126377"/>
            <a:ext cx="5421086" cy="2585323"/>
          </a:xfrm>
          <a:prstGeom prst="rect">
            <a:avLst/>
          </a:prstGeom>
          <a:noFill/>
        </p:spPr>
        <p:txBody>
          <a:bodyPr wrap="square" rtlCol="0">
            <a:spAutoFit/>
          </a:bodyPr>
          <a:lstStyle/>
          <a:p>
            <a:r>
              <a:rPr lang="en-IN" u="sng" dirty="0" smtClean="0">
                <a:latin typeface="Times New Roman" pitchFamily="18" charset="0"/>
                <a:cs typeface="Times New Roman" pitchFamily="18" charset="0"/>
              </a:rPr>
              <a:t>Advantage of vertical microinstruction format over horizontal microinstruction format</a:t>
            </a:r>
          </a:p>
          <a:p>
            <a:r>
              <a:rPr lang="en-IN" dirty="0" smtClean="0">
                <a:latin typeface="Times New Roman" pitchFamily="18" charset="0"/>
                <a:cs typeface="Times New Roman" pitchFamily="18" charset="0"/>
              </a:rPr>
              <a:t>Reduces length of control field by 1 bit at the cost of an extra decoder</a:t>
            </a:r>
          </a:p>
          <a:p>
            <a:r>
              <a:rPr lang="en-IN" dirty="0" smtClean="0">
                <a:latin typeface="Times New Roman" pitchFamily="18" charset="0"/>
                <a:cs typeface="Times New Roman" pitchFamily="18" charset="0"/>
              </a:rPr>
              <a:t>Short format</a:t>
            </a:r>
          </a:p>
          <a:p>
            <a:r>
              <a:rPr lang="en-IN" dirty="0" smtClean="0">
                <a:latin typeface="Times New Roman" pitchFamily="18" charset="0"/>
                <a:cs typeface="Times New Roman" pitchFamily="18" charset="0"/>
              </a:rPr>
              <a:t>Needs encoding</a:t>
            </a:r>
          </a:p>
          <a:p>
            <a:r>
              <a:rPr lang="en-IN" dirty="0" smtClean="0">
                <a:latin typeface="Times New Roman" pitchFamily="18" charset="0"/>
                <a:cs typeface="Times New Roman" pitchFamily="18" charset="0"/>
              </a:rPr>
              <a:t>N independent control signals for N independent micro operations can be encoded in a control field of log</a:t>
            </a:r>
            <a:r>
              <a:rPr lang="en-IN" baseline="-25000" dirty="0" smtClean="0">
                <a:latin typeface="Times New Roman" pitchFamily="18" charset="0"/>
                <a:cs typeface="Times New Roman" pitchFamily="18" charset="0"/>
              </a:rPr>
              <a:t>2</a:t>
            </a:r>
            <a:r>
              <a:rPr lang="en-IN" dirty="0" smtClean="0">
                <a:latin typeface="Times New Roman" pitchFamily="18" charset="0"/>
                <a:cs typeface="Times New Roman" pitchFamily="18" charset="0"/>
              </a:rPr>
              <a:t>(N+1) bits</a:t>
            </a:r>
          </a:p>
        </p:txBody>
      </p:sp>
      <p:sp>
        <p:nvSpPr>
          <p:cNvPr id="88" name="TextBox 87"/>
          <p:cNvSpPr txBox="1"/>
          <p:nvPr/>
        </p:nvSpPr>
        <p:spPr>
          <a:xfrm>
            <a:off x="496389" y="5956663"/>
            <a:ext cx="5042263" cy="369332"/>
          </a:xfrm>
          <a:prstGeom prst="rect">
            <a:avLst/>
          </a:prstGeom>
          <a:noFill/>
        </p:spPr>
        <p:txBody>
          <a:bodyPr wrap="square" rtlCol="0">
            <a:spAutoFit/>
          </a:bodyPr>
          <a:lstStyle/>
          <a:p>
            <a:r>
              <a:rPr lang="en-IN" dirty="0" smtClean="0">
                <a:latin typeface="Times New Roman" pitchFamily="18" charset="0"/>
                <a:cs typeface="Times New Roman" pitchFamily="18" charset="0"/>
              </a:rPr>
              <a:t>Fig. Horizontal and vertical microinstruction format</a:t>
            </a:r>
          </a:p>
        </p:txBody>
      </p:sp>
      <p:cxnSp>
        <p:nvCxnSpPr>
          <p:cNvPr id="91" name="Straight Arrow Connector 90"/>
          <p:cNvCxnSpPr/>
          <p:nvPr/>
        </p:nvCxnSpPr>
        <p:spPr>
          <a:xfrm rot="16200000" flipH="1">
            <a:off x="5969725" y="1619794"/>
            <a:ext cx="914400" cy="287383"/>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5943" y="169817"/>
            <a:ext cx="11795760" cy="3693319"/>
          </a:xfrm>
          <a:prstGeom prst="rect">
            <a:avLst/>
          </a:prstGeom>
          <a:noFill/>
        </p:spPr>
        <p:txBody>
          <a:bodyPr wrap="square" rtlCol="0">
            <a:spAutoFit/>
          </a:bodyPr>
          <a:lstStyle/>
          <a:p>
            <a:r>
              <a:rPr lang="en-IN" u="sng" dirty="0" smtClean="0">
                <a:latin typeface="Times New Roman" pitchFamily="18" charset="0"/>
                <a:cs typeface="Times New Roman" pitchFamily="18" charset="0"/>
              </a:rPr>
              <a:t>Parallelism in microinstruction</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One instruction executes one operation. Let this operation is divided into N micro operations. So N number of microinstructions are required to generate N set of control signals. As with the number of micro operation number of microinstruction increases, size of the </a:t>
            </a:r>
            <a:r>
              <a:rPr lang="en-IN" dirty="0" err="1" smtClean="0">
                <a:latin typeface="Times New Roman" pitchFamily="18" charset="0"/>
                <a:cs typeface="Times New Roman" pitchFamily="18" charset="0"/>
              </a:rPr>
              <a:t>microprogram</a:t>
            </a:r>
            <a:r>
              <a:rPr lang="en-IN" dirty="0" smtClean="0">
                <a:latin typeface="Times New Roman" pitchFamily="18" charset="0"/>
                <a:cs typeface="Times New Roman" pitchFamily="18" charset="0"/>
              </a:rPr>
              <a:t> also increases which needs more storage space in CM.</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Parallelism in microinstructions is used to reduce the number of microinstructions and hence to reduce the size of CM.</a:t>
            </a:r>
          </a:p>
          <a:p>
            <a:endParaRPr lang="en-IN" dirty="0" smtClean="0">
              <a:latin typeface="Times New Roman" pitchFamily="18" charset="0"/>
              <a:cs typeface="Times New Roman" pitchFamily="18" charset="0"/>
            </a:endParaRPr>
          </a:p>
          <a:p>
            <a:r>
              <a:rPr lang="en-IN" u="sng" dirty="0" smtClean="0">
                <a:latin typeface="Times New Roman" pitchFamily="18" charset="0"/>
                <a:cs typeface="Times New Roman" pitchFamily="18" charset="0"/>
              </a:rPr>
              <a:t>Definition</a:t>
            </a:r>
            <a:r>
              <a:rPr lang="en-IN" dirty="0" smtClean="0">
                <a:latin typeface="Times New Roman" pitchFamily="18" charset="0"/>
                <a:cs typeface="Times New Roman" pitchFamily="18" charset="0"/>
              </a:rPr>
              <a:t>: In microprogramming level independent micro operations are available  and executed in parallel. Hence one microinstruction can specify control signals that are required to execute multiple independent micro operations.</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Example of dependent micro operation: AC</a:t>
            </a:r>
            <a:r>
              <a:rPr lang="en-IN" dirty="0" smtClean="0">
                <a:latin typeface="Times New Roman" pitchFamily="18" charset="0"/>
                <a:cs typeface="Times New Roman" pitchFamily="18" charset="0"/>
                <a:sym typeface="Symbol"/>
              </a:rPr>
              <a:t>0, ACAC-DR</a:t>
            </a:r>
          </a:p>
          <a:p>
            <a:r>
              <a:rPr lang="en-IN" dirty="0" smtClean="0">
                <a:latin typeface="Times New Roman" pitchFamily="18" charset="0"/>
                <a:cs typeface="Times New Roman" pitchFamily="18" charset="0"/>
                <a:sym typeface="Symbol"/>
              </a:rPr>
              <a:t>Example of independent micro operation: MDR  (M(MAR)), PC  PC+1</a:t>
            </a:r>
            <a:endParaRPr lang="en-IN" dirty="0">
              <a:latin typeface="Times New Roman" pitchFamily="18" charset="0"/>
              <a:cs typeface="Times New Roman" pitchFamily="18" charset="0"/>
            </a:endParaRPr>
          </a:p>
        </p:txBody>
      </p:sp>
      <p:sp>
        <p:nvSpPr>
          <p:cNvPr id="3" name="Rectangle 2"/>
          <p:cNvSpPr/>
          <p:nvPr/>
        </p:nvSpPr>
        <p:spPr>
          <a:xfrm>
            <a:off x="205658" y="4245524"/>
            <a:ext cx="3353220" cy="4104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p:cNvSpPr txBox="1"/>
          <p:nvPr/>
        </p:nvSpPr>
        <p:spPr>
          <a:xfrm>
            <a:off x="253390" y="4245524"/>
            <a:ext cx="1268437"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Control field</a:t>
            </a:r>
            <a:endParaRPr lang="en-IN" sz="14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2290440" y="4245523"/>
            <a:ext cx="1268437"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Address field</a:t>
            </a:r>
            <a:endParaRPr lang="en-IN" sz="1400" dirty="0">
              <a:latin typeface="Times New Roman" panose="02020603050405020304" pitchFamily="18" charset="0"/>
              <a:cs typeface="Times New Roman" panose="02020603050405020304" pitchFamily="18" charset="0"/>
            </a:endParaRPr>
          </a:p>
        </p:txBody>
      </p:sp>
      <p:cxnSp>
        <p:nvCxnSpPr>
          <p:cNvPr id="6" name="Straight Connector 5"/>
          <p:cNvCxnSpPr>
            <a:stCxn id="3" idx="0"/>
            <a:endCxn id="3" idx="2"/>
          </p:cNvCxnSpPr>
          <p:nvPr/>
        </p:nvCxnSpPr>
        <p:spPr>
          <a:xfrm>
            <a:off x="1882268" y="4245524"/>
            <a:ext cx="0" cy="410407"/>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502230" y="3892733"/>
            <a:ext cx="705393"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20 bits </a:t>
            </a:r>
            <a:endParaRPr lang="en-IN" sz="1400" dirty="0">
              <a:latin typeface="Times New Roman" pitchFamily="18" charset="0"/>
              <a:cs typeface="Times New Roman" pitchFamily="18" charset="0"/>
            </a:endParaRPr>
          </a:p>
        </p:txBody>
      </p:sp>
      <p:cxnSp>
        <p:nvCxnSpPr>
          <p:cNvPr id="9" name="Straight Arrow Connector 8"/>
          <p:cNvCxnSpPr>
            <a:stCxn id="7" idx="3"/>
          </p:cNvCxnSpPr>
          <p:nvPr/>
        </p:nvCxnSpPr>
        <p:spPr>
          <a:xfrm>
            <a:off x="2207623" y="4046622"/>
            <a:ext cx="1345475" cy="28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7" idx="1"/>
          </p:cNvCxnSpPr>
          <p:nvPr/>
        </p:nvCxnSpPr>
        <p:spPr>
          <a:xfrm rot="10800000" flipV="1">
            <a:off x="209006" y="4046621"/>
            <a:ext cx="1293224" cy="28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622664" y="4659088"/>
            <a:ext cx="644433"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9 bits</a:t>
            </a:r>
            <a:endParaRPr lang="en-IN" sz="1400" dirty="0">
              <a:latin typeface="Times New Roman" pitchFamily="18" charset="0"/>
              <a:cs typeface="Times New Roman" pitchFamily="18" charset="0"/>
            </a:endParaRPr>
          </a:p>
        </p:txBody>
      </p:sp>
      <p:sp>
        <p:nvSpPr>
          <p:cNvPr id="15" name="TextBox 14"/>
          <p:cNvSpPr txBox="1"/>
          <p:nvPr/>
        </p:nvSpPr>
        <p:spPr>
          <a:xfrm>
            <a:off x="2368733" y="4654734"/>
            <a:ext cx="714102"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11 bits</a:t>
            </a:r>
            <a:endParaRPr lang="en-IN" sz="1400" dirty="0">
              <a:latin typeface="Times New Roman" pitchFamily="18" charset="0"/>
              <a:cs typeface="Times New Roman" pitchFamily="18" charset="0"/>
            </a:endParaRPr>
          </a:p>
        </p:txBody>
      </p:sp>
      <p:cxnSp>
        <p:nvCxnSpPr>
          <p:cNvPr id="17" name="Straight Arrow Connector 16"/>
          <p:cNvCxnSpPr>
            <a:stCxn id="14" idx="1"/>
          </p:cNvCxnSpPr>
          <p:nvPr/>
        </p:nvCxnSpPr>
        <p:spPr>
          <a:xfrm rot="10800000" flipV="1">
            <a:off x="156756" y="4812976"/>
            <a:ext cx="465909" cy="72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14" idx="3"/>
          </p:cNvCxnSpPr>
          <p:nvPr/>
        </p:nvCxnSpPr>
        <p:spPr>
          <a:xfrm flipV="1">
            <a:off x="1267097" y="4807132"/>
            <a:ext cx="613955" cy="58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rot="10800000" flipV="1">
            <a:off x="1889762" y="4795559"/>
            <a:ext cx="465909" cy="72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2934788" y="4802778"/>
            <a:ext cx="613955" cy="58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214367" y="5260073"/>
            <a:ext cx="3353220" cy="4104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extBox 27"/>
          <p:cNvSpPr txBox="1"/>
          <p:nvPr/>
        </p:nvSpPr>
        <p:spPr>
          <a:xfrm>
            <a:off x="2299149" y="5260072"/>
            <a:ext cx="1268437"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Address field</a:t>
            </a:r>
            <a:endParaRPr lang="en-IN" sz="1400" dirty="0">
              <a:latin typeface="Times New Roman" panose="02020603050405020304" pitchFamily="18" charset="0"/>
              <a:cs typeface="Times New Roman" panose="02020603050405020304" pitchFamily="18" charset="0"/>
            </a:endParaRPr>
          </a:p>
        </p:txBody>
      </p:sp>
      <p:cxnSp>
        <p:nvCxnSpPr>
          <p:cNvPr id="29" name="Straight Connector 28"/>
          <p:cNvCxnSpPr>
            <a:stCxn id="26" idx="0"/>
            <a:endCxn id="26" idx="2"/>
          </p:cNvCxnSpPr>
          <p:nvPr/>
        </p:nvCxnSpPr>
        <p:spPr>
          <a:xfrm>
            <a:off x="1890977" y="5260073"/>
            <a:ext cx="0" cy="410407"/>
          </a:xfrm>
          <a:prstGeom prst="line">
            <a:avLst/>
          </a:prstGeom>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670561" y="4915990"/>
            <a:ext cx="644433"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9 bits</a:t>
            </a:r>
            <a:endParaRPr lang="en-IN" sz="1400" dirty="0">
              <a:latin typeface="Times New Roman" pitchFamily="18" charset="0"/>
              <a:cs typeface="Times New Roman" pitchFamily="18" charset="0"/>
            </a:endParaRPr>
          </a:p>
        </p:txBody>
      </p:sp>
      <p:sp>
        <p:nvSpPr>
          <p:cNvPr id="34" name="TextBox 33"/>
          <p:cNvSpPr txBox="1"/>
          <p:nvPr/>
        </p:nvSpPr>
        <p:spPr>
          <a:xfrm>
            <a:off x="182882" y="5316587"/>
            <a:ext cx="600890"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3 bits</a:t>
            </a:r>
            <a:endParaRPr lang="en-IN" sz="1400" dirty="0">
              <a:latin typeface="Times New Roman" pitchFamily="18" charset="0"/>
              <a:cs typeface="Times New Roman" pitchFamily="18" charset="0"/>
            </a:endParaRPr>
          </a:p>
        </p:txBody>
      </p:sp>
      <p:cxnSp>
        <p:nvCxnSpPr>
          <p:cNvPr id="35" name="Straight Arrow Connector 34"/>
          <p:cNvCxnSpPr>
            <a:stCxn id="33" idx="3"/>
          </p:cNvCxnSpPr>
          <p:nvPr/>
        </p:nvCxnSpPr>
        <p:spPr>
          <a:xfrm flipV="1">
            <a:off x="1314994" y="5064035"/>
            <a:ext cx="613955" cy="584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rot="10800000" flipV="1">
            <a:off x="200299" y="5091651"/>
            <a:ext cx="465909" cy="72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1316211" y="5247009"/>
            <a:ext cx="0" cy="410407"/>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710965" y="5268781"/>
            <a:ext cx="0" cy="410407"/>
          </a:xfrm>
          <a:prstGeom prst="line">
            <a:avLst/>
          </a:prstGeom>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714105" y="5325295"/>
            <a:ext cx="600890"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3 bits</a:t>
            </a:r>
            <a:endParaRPr lang="en-IN" sz="1400" dirty="0">
              <a:latin typeface="Times New Roman" pitchFamily="18" charset="0"/>
              <a:cs typeface="Times New Roman" pitchFamily="18" charset="0"/>
            </a:endParaRPr>
          </a:p>
        </p:txBody>
      </p:sp>
      <p:sp>
        <p:nvSpPr>
          <p:cNvPr id="43" name="TextBox 42"/>
          <p:cNvSpPr txBox="1"/>
          <p:nvPr/>
        </p:nvSpPr>
        <p:spPr>
          <a:xfrm>
            <a:off x="1297579" y="5320941"/>
            <a:ext cx="600890"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3 bits</a:t>
            </a:r>
            <a:endParaRPr lang="en-IN" sz="1400" dirty="0">
              <a:latin typeface="Times New Roman" pitchFamily="18" charset="0"/>
              <a:cs typeface="Times New Roman" pitchFamily="18" charset="0"/>
            </a:endParaRPr>
          </a:p>
        </p:txBody>
      </p:sp>
      <p:sp>
        <p:nvSpPr>
          <p:cNvPr id="44" name="TextBox 43"/>
          <p:cNvSpPr txBox="1"/>
          <p:nvPr/>
        </p:nvSpPr>
        <p:spPr>
          <a:xfrm>
            <a:off x="3722913" y="3866606"/>
            <a:ext cx="8307977" cy="1754326"/>
          </a:xfrm>
          <a:prstGeom prst="rect">
            <a:avLst/>
          </a:prstGeom>
          <a:noFill/>
        </p:spPr>
        <p:txBody>
          <a:bodyPr wrap="square" rtlCol="0">
            <a:spAutoFit/>
          </a:bodyPr>
          <a:lstStyle/>
          <a:p>
            <a:r>
              <a:rPr lang="en-IN" u="sng" dirty="0" smtClean="0">
                <a:latin typeface="Times New Roman" pitchFamily="18" charset="0"/>
                <a:cs typeface="Times New Roman" pitchFamily="18" charset="0"/>
              </a:rPr>
              <a:t>CM</a:t>
            </a:r>
            <a:r>
              <a:rPr lang="en-IN" dirty="0" smtClean="0">
                <a:latin typeface="Times New Roman" pitchFamily="18" charset="0"/>
                <a:cs typeface="Times New Roman" pitchFamily="18" charset="0"/>
              </a:rPr>
              <a:t>: Number of memory locations = 2</a:t>
            </a:r>
            <a:r>
              <a:rPr lang="en-IN" baseline="30000" dirty="0" smtClean="0">
                <a:latin typeface="Times New Roman" pitchFamily="18" charset="0"/>
                <a:cs typeface="Times New Roman" pitchFamily="18" charset="0"/>
              </a:rPr>
              <a:t>11</a:t>
            </a:r>
          </a:p>
          <a:p>
            <a:r>
              <a:rPr lang="en-IN" dirty="0" smtClean="0">
                <a:latin typeface="Times New Roman" pitchFamily="18" charset="0"/>
                <a:cs typeface="Times New Roman" pitchFamily="18" charset="0"/>
              </a:rPr>
              <a:t>Each memory location contains 20 bits microinstruction</a:t>
            </a:r>
          </a:p>
          <a:p>
            <a:r>
              <a:rPr lang="en-IN" dirty="0" smtClean="0">
                <a:latin typeface="Times New Roman" pitchFamily="18" charset="0"/>
                <a:cs typeface="Times New Roman" pitchFamily="18" charset="0"/>
              </a:rPr>
              <a:t>Size of CM = 2</a:t>
            </a:r>
            <a:r>
              <a:rPr lang="en-IN" baseline="30000" dirty="0" smtClean="0">
                <a:latin typeface="Times New Roman" pitchFamily="18" charset="0"/>
                <a:cs typeface="Times New Roman" pitchFamily="18" charset="0"/>
              </a:rPr>
              <a:t>11</a:t>
            </a:r>
            <a:r>
              <a:rPr lang="en-IN" dirty="0" smtClean="0">
                <a:latin typeface="Times New Roman" pitchFamily="18" charset="0"/>
                <a:cs typeface="Times New Roman" pitchFamily="18" charset="0"/>
              </a:rPr>
              <a:t> x 20 bits</a:t>
            </a:r>
          </a:p>
          <a:p>
            <a:r>
              <a:rPr lang="en-IN" dirty="0" smtClean="0">
                <a:latin typeface="Times New Roman" pitchFamily="18" charset="0"/>
                <a:cs typeface="Times New Roman" pitchFamily="18" charset="0"/>
              </a:rPr>
              <a:t>9 bits control field is divided in 3 field that is 3 sets of control signals for 3 independent micro operations can be activated by a single microinstruction. </a:t>
            </a:r>
          </a:p>
          <a:p>
            <a:r>
              <a:rPr lang="en-IN" dirty="0" smtClean="0">
                <a:latin typeface="Times New Roman" pitchFamily="18" charset="0"/>
                <a:cs typeface="Times New Roman" pitchFamily="18" charset="0"/>
              </a:rPr>
              <a:t>Degree of parallelism = 3</a:t>
            </a:r>
            <a:endParaRPr lang="en-IN"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2697" y="313509"/>
            <a:ext cx="10502537" cy="646331"/>
          </a:xfrm>
          <a:prstGeom prst="rect">
            <a:avLst/>
          </a:prstGeom>
          <a:noFill/>
        </p:spPr>
        <p:txBody>
          <a:bodyPr wrap="square" rtlCol="0">
            <a:spAutoFit/>
          </a:bodyPr>
          <a:lstStyle/>
          <a:p>
            <a:endParaRPr lang="en-IN" dirty="0" smtClean="0"/>
          </a:p>
          <a:p>
            <a:endParaRPr lang="en-IN" dirty="0"/>
          </a:p>
        </p:txBody>
      </p:sp>
      <p:graphicFrame>
        <p:nvGraphicFramePr>
          <p:cNvPr id="3" name="Table 2"/>
          <p:cNvGraphicFramePr>
            <a:graphicFrameLocks noGrp="1"/>
          </p:cNvGraphicFramePr>
          <p:nvPr/>
        </p:nvGraphicFramePr>
        <p:xfrm>
          <a:off x="451395" y="301654"/>
          <a:ext cx="8127999" cy="2382520"/>
        </p:xfrm>
        <a:graphic>
          <a:graphicData uri="http://schemas.openxmlformats.org/drawingml/2006/table">
            <a:tbl>
              <a:tblPr firstRow="1" bandRow="1">
                <a:tableStyleId>{5C22544A-7EE6-4342-B048-85BDC9FD1C3A}</a:tableStyleId>
              </a:tblPr>
              <a:tblGrid>
                <a:gridCol w="2814319"/>
                <a:gridCol w="2743200"/>
                <a:gridCol w="2570480"/>
              </a:tblGrid>
              <a:tr h="370840">
                <a:tc grid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rPr>
                        <a:t>F1=F2=F3=000 signifies NOP</a:t>
                      </a:r>
                    </a:p>
                  </a:txBody>
                  <a:tcPr/>
                </a:tc>
                <a:tc hMerge="1">
                  <a:txBody>
                    <a:bodyPr/>
                    <a:lstStyle/>
                    <a:p>
                      <a:endParaRPr lang="en-IN" dirty="0"/>
                    </a:p>
                  </a:txBody>
                  <a:tcPr/>
                </a:tc>
                <a:tc hMerge="1">
                  <a:txBody>
                    <a:bodyPr/>
                    <a:lstStyle/>
                    <a:p>
                      <a:endParaRPr lang="en-IN" dirty="0"/>
                    </a:p>
                  </a:txBody>
                  <a:tcPr/>
                </a:tc>
              </a:tr>
              <a:tr h="370840">
                <a:tc>
                  <a:txBody>
                    <a:bodyPr/>
                    <a:lstStyle/>
                    <a:p>
                      <a:r>
                        <a:rPr lang="en-IN" dirty="0" smtClean="0">
                          <a:latin typeface="Times New Roman" pitchFamily="18" charset="0"/>
                          <a:cs typeface="Times New Roman" pitchFamily="18" charset="0"/>
                        </a:rPr>
                        <a:t>F1 = 001 </a:t>
                      </a:r>
                      <a:r>
                        <a:rPr lang="en-IN" dirty="0" smtClean="0">
                          <a:latin typeface="Times New Roman" pitchFamily="18" charset="0"/>
                          <a:cs typeface="Times New Roman" pitchFamily="18" charset="0"/>
                          <a:sym typeface="Symbol"/>
                        </a:rPr>
                        <a:t> AC  AC+DR</a:t>
                      </a:r>
                    </a:p>
                    <a:p>
                      <a:r>
                        <a:rPr lang="en-IN" dirty="0" smtClean="0">
                          <a:latin typeface="Times New Roman" pitchFamily="18" charset="0"/>
                          <a:cs typeface="Times New Roman" pitchFamily="18" charset="0"/>
                        </a:rPr>
                        <a:t>F1 = 010 </a:t>
                      </a:r>
                      <a:r>
                        <a:rPr lang="en-IN" dirty="0" smtClean="0">
                          <a:latin typeface="Times New Roman" pitchFamily="18" charset="0"/>
                          <a:cs typeface="Times New Roman" pitchFamily="18" charset="0"/>
                          <a:sym typeface="Symbol"/>
                        </a:rPr>
                        <a:t> AC  0</a:t>
                      </a:r>
                    </a:p>
                    <a:p>
                      <a:r>
                        <a:rPr lang="en-IN" dirty="0" smtClean="0">
                          <a:latin typeface="Times New Roman" pitchFamily="18" charset="0"/>
                          <a:cs typeface="Times New Roman" pitchFamily="18" charset="0"/>
                        </a:rPr>
                        <a:t>F1 = 011 </a:t>
                      </a:r>
                      <a:r>
                        <a:rPr lang="en-IN" dirty="0" smtClean="0">
                          <a:latin typeface="Times New Roman" pitchFamily="18" charset="0"/>
                          <a:cs typeface="Times New Roman" pitchFamily="18" charset="0"/>
                          <a:sym typeface="Symbol"/>
                        </a:rPr>
                        <a:t> AC  AC+1</a:t>
                      </a:r>
                    </a:p>
                    <a:p>
                      <a:pPr algn="ctr"/>
                      <a:r>
                        <a:rPr lang="en-IN" dirty="0" smtClean="0">
                          <a:latin typeface="Times New Roman" pitchFamily="18" charset="0"/>
                          <a:cs typeface="Times New Roman" pitchFamily="18" charset="0"/>
                        </a:rPr>
                        <a:t>.</a:t>
                      </a:r>
                    </a:p>
                    <a:p>
                      <a:pPr algn="ctr"/>
                      <a:r>
                        <a:rPr lang="en-IN" dirty="0" smtClean="0">
                          <a:latin typeface="Times New Roman" pitchFamily="18" charset="0"/>
                          <a:cs typeface="Times New Roman" pitchFamily="18" charset="0"/>
                        </a:rPr>
                        <a:t>.</a:t>
                      </a:r>
                    </a:p>
                    <a:p>
                      <a:pPr algn="ctr"/>
                      <a:r>
                        <a:rPr lang="en-IN" dirty="0" smtClean="0">
                          <a:latin typeface="Times New Roman" pitchFamily="18" charset="0"/>
                          <a:cs typeface="Times New Roman" pitchFamily="18" charset="0"/>
                        </a:rPr>
                        <a:t>.</a:t>
                      </a:r>
                    </a:p>
                  </a:txBody>
                  <a:tcPr/>
                </a:tc>
                <a:tc>
                  <a:txBody>
                    <a:bodyPr/>
                    <a:lstStyle/>
                    <a:p>
                      <a:r>
                        <a:rPr lang="en-IN" dirty="0" smtClean="0">
                          <a:latin typeface="Times New Roman" pitchFamily="18" charset="0"/>
                          <a:cs typeface="Times New Roman" pitchFamily="18" charset="0"/>
                        </a:rPr>
                        <a:t>F2 = 001 </a:t>
                      </a:r>
                      <a:r>
                        <a:rPr lang="en-IN" dirty="0" smtClean="0">
                          <a:latin typeface="Times New Roman" pitchFamily="18" charset="0"/>
                          <a:cs typeface="Times New Roman" pitchFamily="18" charset="0"/>
                          <a:sym typeface="Symbol"/>
                        </a:rPr>
                        <a:t> AC  AC-DR</a:t>
                      </a:r>
                    </a:p>
                    <a:p>
                      <a:r>
                        <a:rPr lang="en-IN" dirty="0" smtClean="0">
                          <a:latin typeface="Times New Roman" pitchFamily="18" charset="0"/>
                          <a:cs typeface="Times New Roman" pitchFamily="18" charset="0"/>
                        </a:rPr>
                        <a:t>F2 = 010 </a:t>
                      </a:r>
                      <a:r>
                        <a:rPr lang="en-IN" dirty="0" smtClean="0">
                          <a:latin typeface="Times New Roman" pitchFamily="18" charset="0"/>
                          <a:cs typeface="Times New Roman" pitchFamily="18" charset="0"/>
                          <a:sym typeface="Symbol"/>
                        </a:rPr>
                        <a:t> AC</a:t>
                      </a:r>
                      <a:r>
                        <a:rPr lang="en-IN" baseline="0" dirty="0" smtClean="0">
                          <a:latin typeface="Times New Roman" pitchFamily="18" charset="0"/>
                          <a:cs typeface="Times New Roman" pitchFamily="18" charset="0"/>
                          <a:sym typeface="Symbol"/>
                        </a:rPr>
                        <a:t> OR DR</a:t>
                      </a:r>
                      <a:endParaRPr lang="en-IN" dirty="0" smtClean="0">
                        <a:latin typeface="Times New Roman" pitchFamily="18" charset="0"/>
                        <a:cs typeface="Times New Roman" pitchFamily="18" charset="0"/>
                        <a:sym typeface="Symbol"/>
                      </a:endParaRPr>
                    </a:p>
                    <a:p>
                      <a:pPr algn="ctr"/>
                      <a:r>
                        <a:rPr lang="en-IN" dirty="0" smtClean="0">
                          <a:latin typeface="Times New Roman" pitchFamily="18" charset="0"/>
                          <a:cs typeface="Times New Roman" pitchFamily="18" charset="0"/>
                        </a:rPr>
                        <a:t>.</a:t>
                      </a:r>
                    </a:p>
                    <a:p>
                      <a:pPr algn="ctr"/>
                      <a:r>
                        <a:rPr lang="en-IN" dirty="0" smtClean="0">
                          <a:latin typeface="Times New Roman" pitchFamily="18" charset="0"/>
                          <a:cs typeface="Times New Roman" pitchFamily="18" charset="0"/>
                        </a:rPr>
                        <a:t>.</a:t>
                      </a:r>
                    </a:p>
                    <a:p>
                      <a:pPr algn="ctr"/>
                      <a:r>
                        <a:rPr lang="en-IN" dirty="0" smtClean="0">
                          <a:latin typeface="Times New Roman" pitchFamily="18" charset="0"/>
                          <a:cs typeface="Times New Roman" pitchFamily="18" charset="0"/>
                        </a:rPr>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rPr>
                        <a:t>F3 = 001 </a:t>
                      </a:r>
                      <a:r>
                        <a:rPr lang="en-IN" dirty="0" smtClean="0">
                          <a:latin typeface="Times New Roman" pitchFamily="18" charset="0"/>
                          <a:cs typeface="Times New Roman" pitchFamily="18" charset="0"/>
                          <a:sym typeface="Symbol"/>
                        </a:rPr>
                        <a:t> AC  ACDR</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sym typeface="Symbol"/>
                        </a:rPr>
                        <a:t>F3</a:t>
                      </a:r>
                      <a:r>
                        <a:rPr lang="en-IN" baseline="0" dirty="0" smtClean="0">
                          <a:latin typeface="Times New Roman" pitchFamily="18" charset="0"/>
                          <a:cs typeface="Times New Roman" pitchFamily="18" charset="0"/>
                          <a:sym typeface="Symbol"/>
                        </a:rPr>
                        <a:t> = 010  AC AC′</a:t>
                      </a:r>
                    </a:p>
                    <a:p>
                      <a:pPr marL="0" marR="0" indent="0" algn="l" defTabSz="914400" rtl="0" eaLnBrk="1" fontAlgn="auto" latinLnBrk="0" hangingPunct="1">
                        <a:lnSpc>
                          <a:spcPct val="100000"/>
                        </a:lnSpc>
                        <a:spcBef>
                          <a:spcPts val="0"/>
                        </a:spcBef>
                        <a:spcAft>
                          <a:spcPts val="0"/>
                        </a:spcAft>
                        <a:buClrTx/>
                        <a:buSzTx/>
                        <a:buFontTx/>
                        <a:buNone/>
                        <a:tabLst/>
                        <a:defRPr/>
                      </a:pPr>
                      <a:r>
                        <a:rPr lang="en-IN" baseline="0" dirty="0" smtClean="0">
                          <a:latin typeface="Times New Roman" pitchFamily="18" charset="0"/>
                          <a:cs typeface="Times New Roman" pitchFamily="18" charset="0"/>
                          <a:sym typeface="Symbol"/>
                        </a:rPr>
                        <a:t>F3 = 011  PC  MAR</a:t>
                      </a:r>
                    </a:p>
                    <a:p>
                      <a:pPr algn="ctr"/>
                      <a:r>
                        <a:rPr lang="en-IN" dirty="0" smtClean="0">
                          <a:latin typeface="Times New Roman" pitchFamily="18" charset="0"/>
                          <a:cs typeface="Times New Roman" pitchFamily="18" charset="0"/>
                        </a:rPr>
                        <a:t>.</a:t>
                      </a:r>
                    </a:p>
                    <a:p>
                      <a:pPr algn="ctr"/>
                      <a:r>
                        <a:rPr lang="en-IN" dirty="0" smtClean="0">
                          <a:latin typeface="Times New Roman" pitchFamily="18" charset="0"/>
                          <a:cs typeface="Times New Roman" pitchFamily="18" charset="0"/>
                        </a:rPr>
                        <a:t>.</a:t>
                      </a:r>
                    </a:p>
                    <a:p>
                      <a:pPr algn="ctr"/>
                      <a:r>
                        <a:rPr lang="en-IN" dirty="0" smtClean="0">
                          <a:latin typeface="Times New Roman" pitchFamily="18" charset="0"/>
                          <a:cs typeface="Times New Roman" pitchFamily="18" charset="0"/>
                        </a:rPr>
                        <a:t>.</a:t>
                      </a:r>
                      <a:endParaRPr lang="en-IN" dirty="0">
                        <a:latin typeface="Times New Roman" pitchFamily="18" charset="0"/>
                        <a:cs typeface="Times New Roman" pitchFamily="18" charset="0"/>
                      </a:endParaRPr>
                    </a:p>
                  </a:txBody>
                  <a:tcPr/>
                </a:tc>
              </a:tr>
            </a:tbl>
          </a:graphicData>
        </a:graphic>
      </p:graphicFrame>
      <p:sp>
        <p:nvSpPr>
          <p:cNvPr id="4" name="TextBox 3"/>
          <p:cNvSpPr txBox="1"/>
          <p:nvPr/>
        </p:nvSpPr>
        <p:spPr>
          <a:xfrm>
            <a:off x="261256" y="2913017"/>
            <a:ext cx="11586755" cy="923330"/>
          </a:xfrm>
          <a:prstGeom prst="rect">
            <a:avLst/>
          </a:prstGeom>
          <a:noFill/>
        </p:spPr>
        <p:txBody>
          <a:bodyPr wrap="square" rtlCol="0">
            <a:spAutoFit/>
          </a:bodyPr>
          <a:lstStyle/>
          <a:p>
            <a:r>
              <a:rPr lang="en-IN" dirty="0" smtClean="0">
                <a:latin typeface="Times New Roman" pitchFamily="18" charset="0"/>
                <a:cs typeface="Times New Roman" pitchFamily="18" charset="0"/>
              </a:rPr>
              <a:t>Let us consider two micro operations as </a:t>
            </a:r>
            <a:r>
              <a:rPr lang="en-IN" dirty="0" smtClean="0">
                <a:latin typeface="Times New Roman" pitchFamily="18" charset="0"/>
                <a:cs typeface="Times New Roman" pitchFamily="18" charset="0"/>
                <a:sym typeface="Symbol"/>
              </a:rPr>
              <a:t>PC  MAR and AC  AC+DR. These two micro operations are independent. So the control signals that are required to activate for the execution of the two micro operations can be specified in a single microinstruction.</a:t>
            </a:r>
            <a:endParaRPr lang="en-IN" dirty="0">
              <a:latin typeface="Times New Roman" pitchFamily="18" charset="0"/>
              <a:cs typeface="Times New Roman" pitchFamily="18" charset="0"/>
            </a:endParaRPr>
          </a:p>
        </p:txBody>
      </p:sp>
      <p:sp>
        <p:nvSpPr>
          <p:cNvPr id="5" name="Rectangle 4"/>
          <p:cNvSpPr/>
          <p:nvPr/>
        </p:nvSpPr>
        <p:spPr>
          <a:xfrm>
            <a:off x="397247" y="4502427"/>
            <a:ext cx="3353220" cy="4104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a:off x="2482029" y="4502426"/>
            <a:ext cx="1268437"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Address field</a:t>
            </a:r>
            <a:endParaRPr lang="en-IN" sz="1400" dirty="0">
              <a:latin typeface="Times New Roman" panose="02020603050405020304" pitchFamily="18" charset="0"/>
              <a:cs typeface="Times New Roman" panose="02020603050405020304" pitchFamily="18" charset="0"/>
            </a:endParaRPr>
          </a:p>
        </p:txBody>
      </p:sp>
      <p:cxnSp>
        <p:nvCxnSpPr>
          <p:cNvPr id="7" name="Straight Connector 6"/>
          <p:cNvCxnSpPr>
            <a:stCxn id="5" idx="0"/>
            <a:endCxn id="5" idx="2"/>
          </p:cNvCxnSpPr>
          <p:nvPr/>
        </p:nvCxnSpPr>
        <p:spPr>
          <a:xfrm>
            <a:off x="2073857" y="4502427"/>
            <a:ext cx="0" cy="410407"/>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65762" y="4558941"/>
            <a:ext cx="600890"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001</a:t>
            </a:r>
            <a:endParaRPr lang="en-IN" sz="1400" dirty="0">
              <a:latin typeface="Times New Roman" pitchFamily="18" charset="0"/>
              <a:cs typeface="Times New Roman" pitchFamily="18" charset="0"/>
            </a:endParaRPr>
          </a:p>
        </p:txBody>
      </p:sp>
      <p:cxnSp>
        <p:nvCxnSpPr>
          <p:cNvPr id="9" name="Straight Connector 8"/>
          <p:cNvCxnSpPr/>
          <p:nvPr/>
        </p:nvCxnSpPr>
        <p:spPr>
          <a:xfrm>
            <a:off x="1499091" y="4489363"/>
            <a:ext cx="0" cy="4104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893845" y="4511135"/>
            <a:ext cx="0" cy="410407"/>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896985" y="4567649"/>
            <a:ext cx="600890"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000</a:t>
            </a:r>
            <a:endParaRPr lang="en-IN" sz="1400" dirty="0">
              <a:latin typeface="Times New Roman" pitchFamily="18" charset="0"/>
              <a:cs typeface="Times New Roman" pitchFamily="18" charset="0"/>
            </a:endParaRPr>
          </a:p>
        </p:txBody>
      </p:sp>
      <p:sp>
        <p:nvSpPr>
          <p:cNvPr id="12" name="TextBox 11"/>
          <p:cNvSpPr txBox="1"/>
          <p:nvPr/>
        </p:nvSpPr>
        <p:spPr>
          <a:xfrm>
            <a:off x="1480459" y="4563296"/>
            <a:ext cx="452844"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011</a:t>
            </a:r>
            <a:endParaRPr lang="en-IN" sz="1400" dirty="0">
              <a:latin typeface="Times New Roman" pitchFamily="18" charset="0"/>
              <a:cs typeface="Times New Roman" pitchFamily="18" charset="0"/>
            </a:endParaRPr>
          </a:p>
        </p:txBody>
      </p:sp>
      <p:sp>
        <p:nvSpPr>
          <p:cNvPr id="13" name="TextBox 12"/>
          <p:cNvSpPr txBox="1"/>
          <p:nvPr/>
        </p:nvSpPr>
        <p:spPr>
          <a:xfrm>
            <a:off x="619149" y="4101832"/>
            <a:ext cx="1268437"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Control field</a:t>
            </a:r>
            <a:endParaRPr lang="en-IN" sz="1400" dirty="0">
              <a:latin typeface="Times New Roman" panose="02020603050405020304" pitchFamily="18" charset="0"/>
              <a:cs typeface="Times New Roman" panose="02020603050405020304" pitchFamily="18" charset="0"/>
            </a:endParaRPr>
          </a:p>
        </p:txBody>
      </p:sp>
      <p:cxnSp>
        <p:nvCxnSpPr>
          <p:cNvPr id="15" name="Straight Arrow Connector 14"/>
          <p:cNvCxnSpPr/>
          <p:nvPr/>
        </p:nvCxnSpPr>
        <p:spPr>
          <a:xfrm rot="10800000" flipV="1">
            <a:off x="378824" y="4284616"/>
            <a:ext cx="300445" cy="130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1698171" y="4258491"/>
            <a:ext cx="41801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4480560" y="3788229"/>
            <a:ext cx="7184571" cy="1477328"/>
          </a:xfrm>
          <a:prstGeom prst="rect">
            <a:avLst/>
          </a:prstGeom>
          <a:noFill/>
        </p:spPr>
        <p:txBody>
          <a:bodyPr wrap="square" rtlCol="0">
            <a:spAutoFit/>
          </a:bodyPr>
          <a:lstStyle/>
          <a:p>
            <a:r>
              <a:rPr lang="en-IN" dirty="0" smtClean="0">
                <a:latin typeface="Times New Roman" pitchFamily="18" charset="0"/>
                <a:cs typeface="Times New Roman" pitchFamily="18" charset="0"/>
              </a:rPr>
              <a:t>Example:</a:t>
            </a:r>
          </a:p>
          <a:p>
            <a:r>
              <a:rPr lang="en-IN" dirty="0" smtClean="0">
                <a:latin typeface="Times New Roman" pitchFamily="18" charset="0"/>
                <a:cs typeface="Times New Roman" pitchFamily="18" charset="0"/>
              </a:rPr>
              <a:t>Total number of micro operation = 46</a:t>
            </a:r>
          </a:p>
          <a:p>
            <a:r>
              <a:rPr lang="en-IN" dirty="0" smtClean="0">
                <a:latin typeface="Times New Roman" pitchFamily="18" charset="0"/>
                <a:cs typeface="Times New Roman" pitchFamily="18" charset="0"/>
              </a:rPr>
              <a:t>Degree of parallelism = 2</a:t>
            </a:r>
          </a:p>
          <a:p>
            <a:r>
              <a:rPr lang="en-IN" dirty="0" smtClean="0">
                <a:latin typeface="Times New Roman" pitchFamily="18" charset="0"/>
                <a:cs typeface="Times New Roman" pitchFamily="18" charset="0"/>
              </a:rPr>
              <a:t>What is the size of two subfields in 9 bits control field of microinstruction?</a:t>
            </a:r>
          </a:p>
          <a:p>
            <a:r>
              <a:rPr lang="en-IN" dirty="0" smtClean="0">
                <a:latin typeface="Times New Roman" pitchFamily="18" charset="0"/>
                <a:cs typeface="Times New Roman" pitchFamily="18" charset="0"/>
              </a:rPr>
              <a:t>2</a:t>
            </a:r>
            <a:r>
              <a:rPr lang="en-IN" baseline="30000" dirty="0" smtClean="0">
                <a:latin typeface="Times New Roman" pitchFamily="18" charset="0"/>
                <a:cs typeface="Times New Roman" pitchFamily="18" charset="0"/>
              </a:rPr>
              <a:t>4</a:t>
            </a:r>
            <a:r>
              <a:rPr lang="en-IN" dirty="0" smtClean="0">
                <a:latin typeface="Times New Roman" pitchFamily="18" charset="0"/>
                <a:cs typeface="Times New Roman" pitchFamily="18" charset="0"/>
              </a:rPr>
              <a:t> +  2</a:t>
            </a:r>
            <a:r>
              <a:rPr lang="en-IN" baseline="30000" dirty="0" smtClean="0">
                <a:latin typeface="Times New Roman" pitchFamily="18" charset="0"/>
                <a:cs typeface="Times New Roman" pitchFamily="18" charset="0"/>
              </a:rPr>
              <a:t>5</a:t>
            </a:r>
            <a:r>
              <a:rPr lang="en-IN" dirty="0" smtClean="0">
                <a:latin typeface="Times New Roman" pitchFamily="18" charset="0"/>
                <a:cs typeface="Times New Roman" pitchFamily="18" charset="0"/>
              </a:rPr>
              <a:t> = 16 + 32 = 48 = 46+2</a:t>
            </a:r>
            <a:endParaRPr lang="en-IN" dirty="0">
              <a:latin typeface="Times New Roman" pitchFamily="18" charset="0"/>
              <a:cs typeface="Times New Roman" pitchFamily="18" charset="0"/>
            </a:endParaRPr>
          </a:p>
        </p:txBody>
      </p:sp>
      <p:sp>
        <p:nvSpPr>
          <p:cNvPr id="19" name="TextBox 18"/>
          <p:cNvSpPr txBox="1"/>
          <p:nvPr/>
        </p:nvSpPr>
        <p:spPr>
          <a:xfrm>
            <a:off x="7001692" y="5421090"/>
            <a:ext cx="561701"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NOP</a:t>
            </a:r>
            <a:endParaRPr lang="en-IN" sz="1400" dirty="0">
              <a:latin typeface="Times New Roman" pitchFamily="18" charset="0"/>
              <a:cs typeface="Times New Roman" pitchFamily="18" charset="0"/>
            </a:endParaRPr>
          </a:p>
        </p:txBody>
      </p:sp>
      <p:cxnSp>
        <p:nvCxnSpPr>
          <p:cNvPr id="21" name="Straight Arrow Connector 20"/>
          <p:cNvCxnSpPr>
            <a:endCxn id="19" idx="0"/>
          </p:cNvCxnSpPr>
          <p:nvPr/>
        </p:nvCxnSpPr>
        <p:spPr>
          <a:xfrm rot="5400000">
            <a:off x="7174774" y="5280661"/>
            <a:ext cx="248199" cy="3265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2880" y="169817"/>
            <a:ext cx="11782697" cy="3139321"/>
          </a:xfrm>
          <a:prstGeom prst="rect">
            <a:avLst/>
          </a:prstGeom>
          <a:noFill/>
        </p:spPr>
        <p:txBody>
          <a:bodyPr wrap="square" rtlCol="0">
            <a:spAutoFit/>
          </a:bodyPr>
          <a:lstStyle/>
          <a:p>
            <a:r>
              <a:rPr lang="en-IN" dirty="0" smtClean="0">
                <a:latin typeface="Times New Roman" pitchFamily="18" charset="0"/>
                <a:cs typeface="Times New Roman" pitchFamily="18" charset="0"/>
              </a:rPr>
              <a:t>Control memory optimization</a:t>
            </a:r>
          </a:p>
          <a:p>
            <a:endParaRPr lang="en-IN" dirty="0" smtClean="0">
              <a:latin typeface="Times New Roman" pitchFamily="18" charset="0"/>
              <a:cs typeface="Times New Roman" pitchFamily="18" charset="0"/>
            </a:endParaRPr>
          </a:p>
          <a:p>
            <a:r>
              <a:rPr lang="en-IN" u="sng" dirty="0" err="1" smtClean="0">
                <a:latin typeface="Times New Roman" pitchFamily="18" charset="0"/>
                <a:cs typeface="Times New Roman" pitchFamily="18" charset="0"/>
              </a:rPr>
              <a:t>Monophase</a:t>
            </a:r>
            <a:r>
              <a:rPr lang="en-IN" dirty="0" smtClean="0">
                <a:latin typeface="Times New Roman" pitchFamily="18" charset="0"/>
                <a:cs typeface="Times New Roman" pitchFamily="18" charset="0"/>
              </a:rPr>
              <a:t>: So far we have assumed that each microinstruction generates a set of control signals which are active for the duration of the microinstruction execution cycle</a:t>
            </a:r>
          </a:p>
          <a:p>
            <a:r>
              <a:rPr lang="en-IN" dirty="0" smtClean="0">
                <a:latin typeface="Times New Roman" pitchFamily="18" charset="0"/>
                <a:cs typeface="Times New Roman" pitchFamily="18" charset="0"/>
                <a:sym typeface="Symbol"/>
              </a:rPr>
              <a:t>Clock period = microinstruction cycle period</a:t>
            </a:r>
          </a:p>
          <a:p>
            <a:endParaRPr lang="en-IN" dirty="0" smtClean="0">
              <a:latin typeface="Times New Roman" pitchFamily="18" charset="0"/>
              <a:cs typeface="Times New Roman" pitchFamily="18" charset="0"/>
              <a:sym typeface="Symbol"/>
            </a:endParaRPr>
          </a:p>
          <a:p>
            <a:r>
              <a:rPr lang="en-IN" u="sng" dirty="0" err="1" smtClean="0">
                <a:latin typeface="Times New Roman" pitchFamily="18" charset="0"/>
                <a:cs typeface="Times New Roman" pitchFamily="18" charset="0"/>
                <a:sym typeface="Symbol"/>
              </a:rPr>
              <a:t>Polyphase</a:t>
            </a:r>
            <a:r>
              <a:rPr lang="en-IN" dirty="0" smtClean="0">
                <a:latin typeface="Times New Roman" pitchFamily="18" charset="0"/>
                <a:cs typeface="Times New Roman" pitchFamily="18" charset="0"/>
                <a:sym typeface="Symbol"/>
              </a:rPr>
              <a:t>: The number of microinstructions needed to specify a particular operation can often be reduced by dividing the microinstruction cycle into several sequential phases. Each control signal is typically remains active during only one of the phases. This phase permits a single microinstruction to specify a sequence of micro operations.</a:t>
            </a:r>
          </a:p>
          <a:p>
            <a:r>
              <a:rPr lang="en-IN" dirty="0" smtClean="0">
                <a:latin typeface="Times New Roman" pitchFamily="18" charset="0"/>
                <a:cs typeface="Times New Roman" pitchFamily="18" charset="0"/>
                <a:sym typeface="Symbol"/>
              </a:rPr>
              <a:t>Example: Micro operation , R </a:t>
            </a:r>
            <a:r>
              <a:rPr lang="en-IN" dirty="0" smtClean="0">
                <a:latin typeface="Times New Roman" pitchFamily="18" charset="0"/>
                <a:cs typeface="Times New Roman" pitchFamily="18" charset="0"/>
              </a:rPr>
              <a:t> </a:t>
            </a:r>
            <a:r>
              <a:rPr lang="en-IN" dirty="0" smtClean="0">
                <a:latin typeface="Times New Roman" pitchFamily="18" charset="0"/>
                <a:cs typeface="Times New Roman" pitchFamily="18" charset="0"/>
                <a:sym typeface="Symbol"/>
              </a:rPr>
              <a:t> f(R1, R2)</a:t>
            </a:r>
          </a:p>
          <a:p>
            <a:r>
              <a:rPr lang="en-IN" dirty="0" smtClean="0">
                <a:latin typeface="Times New Roman" pitchFamily="18" charset="0"/>
                <a:cs typeface="Times New Roman" pitchFamily="18" charset="0"/>
                <a:sym typeface="Symbol"/>
              </a:rPr>
              <a:t>Transfers content of R1 and R2 into the input of f unit</a:t>
            </a:r>
            <a:endParaRPr lang="en-IN" dirty="0">
              <a:latin typeface="Times New Roman" pitchFamily="18" charset="0"/>
              <a:cs typeface="Times New Roman" pitchFamily="18" charset="0"/>
            </a:endParaRPr>
          </a:p>
        </p:txBody>
      </p:sp>
      <p:sp>
        <p:nvSpPr>
          <p:cNvPr id="3" name="Rectangle 2"/>
          <p:cNvSpPr/>
          <p:nvPr/>
        </p:nvSpPr>
        <p:spPr>
          <a:xfrm>
            <a:off x="6688184" y="3592286"/>
            <a:ext cx="731520" cy="3918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p:cNvSpPr txBox="1"/>
          <p:nvPr/>
        </p:nvSpPr>
        <p:spPr>
          <a:xfrm>
            <a:off x="6714309" y="3631474"/>
            <a:ext cx="705394" cy="369332"/>
          </a:xfrm>
          <a:prstGeom prst="rect">
            <a:avLst/>
          </a:prstGeom>
          <a:noFill/>
        </p:spPr>
        <p:txBody>
          <a:bodyPr wrap="square" rtlCol="0">
            <a:spAutoFit/>
          </a:bodyPr>
          <a:lstStyle/>
          <a:p>
            <a:r>
              <a:rPr lang="en-IN" dirty="0" smtClean="0">
                <a:latin typeface="Times New Roman" pitchFamily="18" charset="0"/>
                <a:cs typeface="Times New Roman" pitchFamily="18" charset="0"/>
              </a:rPr>
              <a:t>f unit</a:t>
            </a:r>
            <a:endParaRPr lang="en-IN" dirty="0">
              <a:latin typeface="Times New Roman" pitchFamily="18" charset="0"/>
              <a:cs typeface="Times New Roman" pitchFamily="18" charset="0"/>
            </a:endParaRPr>
          </a:p>
        </p:txBody>
      </p:sp>
      <p:sp>
        <p:nvSpPr>
          <p:cNvPr id="6" name="Rectangle 5"/>
          <p:cNvSpPr/>
          <p:nvPr/>
        </p:nvSpPr>
        <p:spPr>
          <a:xfrm>
            <a:off x="7689670" y="3600995"/>
            <a:ext cx="1049382" cy="3918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p:cNvSpPr txBox="1"/>
          <p:nvPr/>
        </p:nvSpPr>
        <p:spPr>
          <a:xfrm>
            <a:off x="7728857" y="3614057"/>
            <a:ext cx="997132" cy="369332"/>
          </a:xfrm>
          <a:prstGeom prst="rect">
            <a:avLst/>
          </a:prstGeom>
          <a:noFill/>
        </p:spPr>
        <p:txBody>
          <a:bodyPr wrap="square" rtlCol="0">
            <a:spAutoFit/>
          </a:bodyPr>
          <a:lstStyle/>
          <a:p>
            <a:r>
              <a:rPr lang="en-IN" dirty="0" smtClean="0">
                <a:latin typeface="Times New Roman" pitchFamily="18" charset="0"/>
                <a:cs typeface="Times New Roman" pitchFamily="18" charset="0"/>
              </a:rPr>
              <a:t>Register</a:t>
            </a:r>
            <a:endParaRPr lang="en-IN" dirty="0">
              <a:latin typeface="Times New Roman" pitchFamily="18" charset="0"/>
              <a:cs typeface="Times New Roman" pitchFamily="18" charset="0"/>
            </a:endParaRPr>
          </a:p>
        </p:txBody>
      </p:sp>
      <p:sp>
        <p:nvSpPr>
          <p:cNvPr id="8" name="Rectangle 7"/>
          <p:cNvSpPr/>
          <p:nvPr/>
        </p:nvSpPr>
        <p:spPr>
          <a:xfrm>
            <a:off x="8995955" y="3574869"/>
            <a:ext cx="422365" cy="3918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9022080" y="3614057"/>
            <a:ext cx="357052" cy="369332"/>
          </a:xfrm>
          <a:prstGeom prst="rect">
            <a:avLst/>
          </a:prstGeom>
          <a:noFill/>
        </p:spPr>
        <p:txBody>
          <a:bodyPr wrap="square" rtlCol="0">
            <a:spAutoFit/>
          </a:bodyPr>
          <a:lstStyle/>
          <a:p>
            <a:r>
              <a:rPr lang="en-IN" dirty="0" smtClean="0">
                <a:latin typeface="Times New Roman" pitchFamily="18" charset="0"/>
                <a:cs typeface="Times New Roman" pitchFamily="18" charset="0"/>
              </a:rPr>
              <a:t>R</a:t>
            </a:r>
            <a:endParaRPr lang="en-IN" dirty="0">
              <a:latin typeface="Times New Roman" pitchFamily="18" charset="0"/>
              <a:cs typeface="Times New Roman" pitchFamily="18" charset="0"/>
            </a:endParaRPr>
          </a:p>
        </p:txBody>
      </p:sp>
      <p:cxnSp>
        <p:nvCxnSpPr>
          <p:cNvPr id="11" name="Straight Arrow Connector 10"/>
          <p:cNvCxnSpPr>
            <a:stCxn id="5" idx="3"/>
            <a:endCxn id="7" idx="1"/>
          </p:cNvCxnSpPr>
          <p:nvPr/>
        </p:nvCxnSpPr>
        <p:spPr>
          <a:xfrm flipV="1">
            <a:off x="7419703" y="3798723"/>
            <a:ext cx="309154" cy="174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8721634" y="3807432"/>
            <a:ext cx="309154" cy="174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6409509" y="3885808"/>
            <a:ext cx="309154" cy="174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6418217" y="3724700"/>
            <a:ext cx="309154" cy="174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6117768" y="3505199"/>
            <a:ext cx="478973" cy="369332"/>
          </a:xfrm>
          <a:prstGeom prst="rect">
            <a:avLst/>
          </a:prstGeom>
          <a:noFill/>
        </p:spPr>
        <p:txBody>
          <a:bodyPr wrap="square" rtlCol="0">
            <a:spAutoFit/>
          </a:bodyPr>
          <a:lstStyle/>
          <a:p>
            <a:r>
              <a:rPr lang="en-IN" dirty="0" smtClean="0">
                <a:latin typeface="Times New Roman" pitchFamily="18" charset="0"/>
                <a:cs typeface="Times New Roman" pitchFamily="18" charset="0"/>
              </a:rPr>
              <a:t>R1</a:t>
            </a:r>
            <a:endParaRPr lang="en-IN" dirty="0">
              <a:latin typeface="Times New Roman" pitchFamily="18" charset="0"/>
              <a:cs typeface="Times New Roman" pitchFamily="18" charset="0"/>
            </a:endParaRPr>
          </a:p>
        </p:txBody>
      </p:sp>
      <p:sp>
        <p:nvSpPr>
          <p:cNvPr id="16" name="TextBox 15"/>
          <p:cNvSpPr txBox="1"/>
          <p:nvPr/>
        </p:nvSpPr>
        <p:spPr>
          <a:xfrm>
            <a:off x="6113415" y="3762102"/>
            <a:ext cx="478973" cy="369332"/>
          </a:xfrm>
          <a:prstGeom prst="rect">
            <a:avLst/>
          </a:prstGeom>
          <a:noFill/>
        </p:spPr>
        <p:txBody>
          <a:bodyPr wrap="square" rtlCol="0">
            <a:spAutoFit/>
          </a:bodyPr>
          <a:lstStyle/>
          <a:p>
            <a:r>
              <a:rPr lang="en-IN" dirty="0" smtClean="0">
                <a:latin typeface="Times New Roman" pitchFamily="18" charset="0"/>
                <a:cs typeface="Times New Roman" pitchFamily="18" charset="0"/>
              </a:rPr>
              <a:t>R2</a:t>
            </a:r>
            <a:endParaRPr lang="en-IN" dirty="0">
              <a:latin typeface="Times New Roman" pitchFamily="18" charset="0"/>
              <a:cs typeface="Times New Roman" pitchFamily="18" charset="0"/>
            </a:endParaRPr>
          </a:p>
        </p:txBody>
      </p:sp>
      <p:cxnSp>
        <p:nvCxnSpPr>
          <p:cNvPr id="18" name="Straight Connector 17"/>
          <p:cNvCxnSpPr/>
          <p:nvPr/>
        </p:nvCxnSpPr>
        <p:spPr>
          <a:xfrm rot="16200000" flipH="1">
            <a:off x="-515190" y="5506789"/>
            <a:ext cx="2193770" cy="1226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561703" y="4911634"/>
            <a:ext cx="679269"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5400000" flipH="1" flipV="1">
            <a:off x="992779" y="4663442"/>
            <a:ext cx="49638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1249680" y="4389120"/>
            <a:ext cx="709749" cy="8708"/>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5400000" flipH="1" flipV="1">
            <a:off x="1706883" y="4632962"/>
            <a:ext cx="49638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1959429" y="4833257"/>
            <a:ext cx="2129246" cy="391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flipH="1" flipV="1">
            <a:off x="3836129" y="4580711"/>
            <a:ext cx="49638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5400000" flipH="1" flipV="1">
            <a:off x="4567649" y="4567649"/>
            <a:ext cx="49638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4119154" y="4332514"/>
            <a:ext cx="709749" cy="87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4828903" y="4828903"/>
            <a:ext cx="679269"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rot="5400000" flipH="1" flipV="1">
            <a:off x="1733009" y="5338356"/>
            <a:ext cx="49638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1989910" y="5064034"/>
            <a:ext cx="709749" cy="87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rot="5400000" flipH="1" flipV="1">
            <a:off x="2447113" y="5307876"/>
            <a:ext cx="49638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rot="5400000" flipH="1" flipV="1">
            <a:off x="2721433" y="6052459"/>
            <a:ext cx="49638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V="1">
            <a:off x="2978334" y="5778137"/>
            <a:ext cx="709749" cy="8708"/>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5400000" flipH="1" flipV="1">
            <a:off x="3435537" y="6021979"/>
            <a:ext cx="49638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V="1">
            <a:off x="574766" y="5588136"/>
            <a:ext cx="1393371" cy="2767"/>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V="1">
            <a:off x="561703" y="6302240"/>
            <a:ext cx="2394857" cy="20183"/>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2673532" y="5540240"/>
            <a:ext cx="2394857" cy="20183"/>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3688081" y="6267406"/>
            <a:ext cx="2394857" cy="20183"/>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rot="16200000" flipH="1">
            <a:off x="2704012" y="5421085"/>
            <a:ext cx="2272940" cy="4"/>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10546081" y="3557452"/>
            <a:ext cx="635725" cy="3918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TextBox 43"/>
          <p:cNvSpPr txBox="1"/>
          <p:nvPr/>
        </p:nvSpPr>
        <p:spPr>
          <a:xfrm>
            <a:off x="10585268" y="3570514"/>
            <a:ext cx="648789" cy="369332"/>
          </a:xfrm>
          <a:prstGeom prst="rect">
            <a:avLst/>
          </a:prstGeom>
          <a:noFill/>
        </p:spPr>
        <p:txBody>
          <a:bodyPr wrap="square" rtlCol="0">
            <a:spAutoFit/>
          </a:bodyPr>
          <a:lstStyle/>
          <a:p>
            <a:r>
              <a:rPr lang="en-IN" dirty="0" smtClean="0">
                <a:latin typeface="Times New Roman" pitchFamily="18" charset="0"/>
                <a:cs typeface="Times New Roman" pitchFamily="18" charset="0"/>
              </a:rPr>
              <a:t>CM</a:t>
            </a:r>
            <a:endParaRPr lang="en-IN" dirty="0">
              <a:latin typeface="Times New Roman" pitchFamily="18" charset="0"/>
              <a:cs typeface="Times New Roman" pitchFamily="18" charset="0"/>
            </a:endParaRPr>
          </a:p>
        </p:txBody>
      </p:sp>
      <p:sp>
        <p:nvSpPr>
          <p:cNvPr id="45" name="TextBox 44"/>
          <p:cNvSpPr txBox="1"/>
          <p:nvPr/>
        </p:nvSpPr>
        <p:spPr>
          <a:xfrm>
            <a:off x="10659289" y="3278777"/>
            <a:ext cx="339637"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W</a:t>
            </a:r>
            <a:endParaRPr lang="en-IN" sz="1400" dirty="0">
              <a:latin typeface="Times New Roman" pitchFamily="18" charset="0"/>
              <a:cs typeface="Times New Roman" pitchFamily="18" charset="0"/>
            </a:endParaRPr>
          </a:p>
        </p:txBody>
      </p:sp>
      <p:sp>
        <p:nvSpPr>
          <p:cNvPr id="48" name="TextBox 47"/>
          <p:cNvSpPr txBox="1"/>
          <p:nvPr/>
        </p:nvSpPr>
        <p:spPr>
          <a:xfrm>
            <a:off x="10184672" y="3600993"/>
            <a:ext cx="304803"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H</a:t>
            </a:r>
            <a:endParaRPr lang="en-IN" sz="1400" dirty="0">
              <a:latin typeface="Times New Roman" pitchFamily="18" charset="0"/>
              <a:cs typeface="Times New Roman" pitchFamily="18" charset="0"/>
            </a:endParaRPr>
          </a:p>
        </p:txBody>
      </p:sp>
      <p:sp>
        <p:nvSpPr>
          <p:cNvPr id="50" name="TextBox 49"/>
          <p:cNvSpPr txBox="1"/>
          <p:nvPr/>
        </p:nvSpPr>
        <p:spPr>
          <a:xfrm>
            <a:off x="195939" y="4624251"/>
            <a:ext cx="478973" cy="369332"/>
          </a:xfrm>
          <a:prstGeom prst="rect">
            <a:avLst/>
          </a:prstGeom>
          <a:noFill/>
        </p:spPr>
        <p:txBody>
          <a:bodyPr wrap="square" rtlCol="0">
            <a:spAutoFit/>
          </a:bodyPr>
          <a:lstStyle/>
          <a:p>
            <a:r>
              <a:rPr lang="en-IN" dirty="0" smtClean="0">
                <a:latin typeface="Times New Roman" pitchFamily="18" charset="0"/>
                <a:cs typeface="Times New Roman" pitchFamily="18" charset="0"/>
                <a:sym typeface="Symbol"/>
              </a:rPr>
              <a:t>1</a:t>
            </a:r>
            <a:endParaRPr lang="en-IN" dirty="0">
              <a:latin typeface="Times New Roman" pitchFamily="18" charset="0"/>
              <a:cs typeface="Times New Roman" pitchFamily="18" charset="0"/>
            </a:endParaRPr>
          </a:p>
        </p:txBody>
      </p:sp>
      <p:sp>
        <p:nvSpPr>
          <p:cNvPr id="51" name="TextBox 50"/>
          <p:cNvSpPr txBox="1"/>
          <p:nvPr/>
        </p:nvSpPr>
        <p:spPr>
          <a:xfrm>
            <a:off x="165460" y="5351416"/>
            <a:ext cx="478973" cy="369332"/>
          </a:xfrm>
          <a:prstGeom prst="rect">
            <a:avLst/>
          </a:prstGeom>
          <a:noFill/>
        </p:spPr>
        <p:txBody>
          <a:bodyPr wrap="square" rtlCol="0">
            <a:spAutoFit/>
          </a:bodyPr>
          <a:lstStyle/>
          <a:p>
            <a:r>
              <a:rPr lang="en-IN" dirty="0" smtClean="0">
                <a:latin typeface="Times New Roman" pitchFamily="18" charset="0"/>
                <a:cs typeface="Times New Roman" pitchFamily="18" charset="0"/>
                <a:sym typeface="Symbol"/>
              </a:rPr>
              <a:t>2</a:t>
            </a:r>
            <a:endParaRPr lang="en-IN" dirty="0">
              <a:latin typeface="Times New Roman" pitchFamily="18" charset="0"/>
              <a:cs typeface="Times New Roman" pitchFamily="18" charset="0"/>
            </a:endParaRPr>
          </a:p>
        </p:txBody>
      </p:sp>
      <p:sp>
        <p:nvSpPr>
          <p:cNvPr id="52" name="TextBox 51"/>
          <p:cNvSpPr txBox="1"/>
          <p:nvPr/>
        </p:nvSpPr>
        <p:spPr>
          <a:xfrm>
            <a:off x="187232" y="6091645"/>
            <a:ext cx="478973" cy="369332"/>
          </a:xfrm>
          <a:prstGeom prst="rect">
            <a:avLst/>
          </a:prstGeom>
          <a:noFill/>
        </p:spPr>
        <p:txBody>
          <a:bodyPr wrap="square" rtlCol="0">
            <a:spAutoFit/>
          </a:bodyPr>
          <a:lstStyle/>
          <a:p>
            <a:r>
              <a:rPr lang="en-IN" dirty="0" smtClean="0">
                <a:latin typeface="Times New Roman" pitchFamily="18" charset="0"/>
                <a:cs typeface="Times New Roman" pitchFamily="18" charset="0"/>
                <a:sym typeface="Symbol"/>
              </a:rPr>
              <a:t>3</a:t>
            </a:r>
            <a:endParaRPr lang="en-IN" dirty="0">
              <a:latin typeface="Times New Roman" pitchFamily="18" charset="0"/>
              <a:cs typeface="Times New Roman" pitchFamily="18" charset="0"/>
            </a:endParaRPr>
          </a:p>
        </p:txBody>
      </p:sp>
      <p:sp>
        <p:nvSpPr>
          <p:cNvPr id="53" name="TextBox 52"/>
          <p:cNvSpPr txBox="1"/>
          <p:nvPr/>
        </p:nvSpPr>
        <p:spPr>
          <a:xfrm>
            <a:off x="274318" y="3409405"/>
            <a:ext cx="4127866" cy="313509"/>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Transfers content of R1 and R2  into the input of f unit</a:t>
            </a:r>
            <a:endParaRPr lang="en-IN" sz="1400" dirty="0">
              <a:latin typeface="Times New Roman" pitchFamily="18" charset="0"/>
              <a:cs typeface="Times New Roman" pitchFamily="18" charset="0"/>
            </a:endParaRPr>
          </a:p>
        </p:txBody>
      </p:sp>
      <p:sp>
        <p:nvSpPr>
          <p:cNvPr id="54" name="TextBox 53"/>
          <p:cNvSpPr txBox="1"/>
          <p:nvPr/>
        </p:nvSpPr>
        <p:spPr>
          <a:xfrm>
            <a:off x="1719940" y="3757749"/>
            <a:ext cx="3583579" cy="304800"/>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Store the result generated by f unit in a register</a:t>
            </a:r>
            <a:endParaRPr lang="en-IN" sz="1400" dirty="0">
              <a:latin typeface="Times New Roman" pitchFamily="18" charset="0"/>
              <a:cs typeface="Times New Roman" pitchFamily="18" charset="0"/>
            </a:endParaRPr>
          </a:p>
        </p:txBody>
      </p:sp>
      <p:sp>
        <p:nvSpPr>
          <p:cNvPr id="55" name="TextBox 54"/>
          <p:cNvSpPr txBox="1"/>
          <p:nvPr/>
        </p:nvSpPr>
        <p:spPr>
          <a:xfrm>
            <a:off x="2934786" y="5168538"/>
            <a:ext cx="2695306"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Transfers content of register into R</a:t>
            </a:r>
            <a:endParaRPr lang="en-IN" sz="1400" dirty="0">
              <a:latin typeface="Times New Roman" pitchFamily="18" charset="0"/>
              <a:cs typeface="Times New Roman" pitchFamily="18" charset="0"/>
            </a:endParaRPr>
          </a:p>
        </p:txBody>
      </p:sp>
      <p:sp>
        <p:nvSpPr>
          <p:cNvPr id="56" name="TextBox 55"/>
          <p:cNvSpPr txBox="1"/>
          <p:nvPr/>
        </p:nvSpPr>
        <p:spPr>
          <a:xfrm>
            <a:off x="1236615" y="6357256"/>
            <a:ext cx="1833157" cy="304801"/>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Microinstruction cycle</a:t>
            </a:r>
            <a:endParaRPr lang="en-IN" sz="1400" dirty="0">
              <a:latin typeface="Times New Roman" pitchFamily="18" charset="0"/>
              <a:cs typeface="Times New Roman" pitchFamily="18" charset="0"/>
            </a:endParaRPr>
          </a:p>
        </p:txBody>
      </p:sp>
      <p:cxnSp>
        <p:nvCxnSpPr>
          <p:cNvPr id="58" name="Straight Arrow Connector 57"/>
          <p:cNvCxnSpPr>
            <a:stCxn id="56" idx="1"/>
          </p:cNvCxnSpPr>
          <p:nvPr/>
        </p:nvCxnSpPr>
        <p:spPr>
          <a:xfrm rot="10800000" flipV="1">
            <a:off x="522515" y="6509657"/>
            <a:ext cx="714100" cy="870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56" idx="3"/>
          </p:cNvCxnSpPr>
          <p:nvPr/>
        </p:nvCxnSpPr>
        <p:spPr>
          <a:xfrm flipV="1">
            <a:off x="3069772" y="6505303"/>
            <a:ext cx="809897" cy="435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rot="16200000" flipV="1">
            <a:off x="973183" y="3886200"/>
            <a:ext cx="940526" cy="43107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rot="5400000" flipH="1" flipV="1">
            <a:off x="1796143" y="4552406"/>
            <a:ext cx="1319348" cy="15675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p:nvPr/>
        </p:nvCxnSpPr>
        <p:spPr>
          <a:xfrm rot="5400000" flipH="1" flipV="1">
            <a:off x="3108960" y="5630091"/>
            <a:ext cx="666206" cy="14369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9" name="Rectangle 68"/>
          <p:cNvSpPr/>
          <p:nvPr/>
        </p:nvSpPr>
        <p:spPr>
          <a:xfrm>
            <a:off x="365761" y="3435533"/>
            <a:ext cx="3958045" cy="2743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0" name="Rectangle 69"/>
          <p:cNvSpPr/>
          <p:nvPr/>
        </p:nvSpPr>
        <p:spPr>
          <a:xfrm>
            <a:off x="1785258" y="3810002"/>
            <a:ext cx="3479073" cy="2002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1" name="Rectangle 70"/>
          <p:cNvSpPr/>
          <p:nvPr/>
        </p:nvSpPr>
        <p:spPr>
          <a:xfrm>
            <a:off x="3013167" y="5181602"/>
            <a:ext cx="2590799" cy="2656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2" name="TextBox 71"/>
          <p:cNvSpPr txBox="1"/>
          <p:nvPr/>
        </p:nvSpPr>
        <p:spPr>
          <a:xfrm>
            <a:off x="6113417" y="4428309"/>
            <a:ext cx="5826034" cy="923330"/>
          </a:xfrm>
          <a:prstGeom prst="rect">
            <a:avLst/>
          </a:prstGeom>
          <a:noFill/>
        </p:spPr>
        <p:txBody>
          <a:bodyPr wrap="square" rtlCol="0">
            <a:spAutoFit/>
          </a:bodyPr>
          <a:lstStyle/>
          <a:p>
            <a:r>
              <a:rPr lang="en-IN" u="sng" dirty="0" smtClean="0">
                <a:latin typeface="Times New Roman" pitchFamily="18" charset="0"/>
                <a:cs typeface="Times New Roman" pitchFamily="18" charset="0"/>
              </a:rPr>
              <a:t>Microcode compaction</a:t>
            </a:r>
          </a:p>
          <a:p>
            <a:r>
              <a:rPr lang="en-IN" dirty="0" smtClean="0">
                <a:latin typeface="Times New Roman" pitchFamily="18" charset="0"/>
                <a:cs typeface="Times New Roman" pitchFamily="18" charset="0"/>
              </a:rPr>
              <a:t>Reduce H by merging two or more micro operations into a single microinstruction</a:t>
            </a:r>
            <a:endParaRPr lang="en-IN"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9005" y="156755"/>
            <a:ext cx="2664823" cy="369332"/>
          </a:xfrm>
          <a:prstGeom prst="rect">
            <a:avLst/>
          </a:prstGeom>
          <a:noFill/>
        </p:spPr>
        <p:txBody>
          <a:bodyPr wrap="square" rtlCol="0">
            <a:spAutoFit/>
          </a:bodyPr>
          <a:lstStyle/>
          <a:p>
            <a:r>
              <a:rPr lang="en-IN" dirty="0" smtClean="0">
                <a:latin typeface="Times New Roman" pitchFamily="18" charset="0"/>
                <a:cs typeface="Times New Roman" pitchFamily="18" charset="0"/>
              </a:rPr>
              <a:t>Basic principle of merging</a:t>
            </a:r>
          </a:p>
        </p:txBody>
      </p:sp>
      <p:sp>
        <p:nvSpPr>
          <p:cNvPr id="3" name="TextBox 2"/>
          <p:cNvSpPr txBox="1"/>
          <p:nvPr/>
        </p:nvSpPr>
        <p:spPr>
          <a:xfrm>
            <a:off x="2873829" y="209005"/>
            <a:ext cx="1828799" cy="923330"/>
          </a:xfrm>
          <a:prstGeom prst="rect">
            <a:avLst/>
          </a:prstGeom>
          <a:noFill/>
        </p:spPr>
        <p:txBody>
          <a:bodyPr wrap="square" rtlCol="0">
            <a:spAutoFit/>
          </a:bodyPr>
          <a:lstStyle/>
          <a:p>
            <a:r>
              <a:rPr lang="en-IN" dirty="0" smtClean="0">
                <a:latin typeface="Times New Roman" pitchFamily="18" charset="0"/>
                <a:cs typeface="Times New Roman" pitchFamily="18" charset="0"/>
              </a:rPr>
              <a:t>m1 : R2 </a:t>
            </a:r>
            <a:r>
              <a:rPr lang="en-IN" dirty="0" smtClean="0">
                <a:latin typeface="Times New Roman" pitchFamily="18" charset="0"/>
                <a:cs typeface="Times New Roman" pitchFamily="18" charset="0"/>
                <a:sym typeface="Symbol"/>
              </a:rPr>
              <a:t> F(R1)</a:t>
            </a:r>
          </a:p>
          <a:p>
            <a:r>
              <a:rPr lang="en-IN" dirty="0" smtClean="0">
                <a:latin typeface="Times New Roman" pitchFamily="18" charset="0"/>
                <a:cs typeface="Times New Roman" pitchFamily="18" charset="0"/>
              </a:rPr>
              <a:t>m2 : R3 </a:t>
            </a:r>
            <a:r>
              <a:rPr lang="en-IN" dirty="0" smtClean="0">
                <a:latin typeface="Times New Roman" pitchFamily="18" charset="0"/>
                <a:cs typeface="Times New Roman" pitchFamily="18" charset="0"/>
                <a:sym typeface="Symbol"/>
              </a:rPr>
              <a:t> F(R2)</a:t>
            </a:r>
          </a:p>
          <a:p>
            <a:r>
              <a:rPr lang="en-IN" dirty="0" smtClean="0">
                <a:latin typeface="Times New Roman" pitchFamily="18" charset="0"/>
                <a:cs typeface="Times New Roman" pitchFamily="18" charset="0"/>
              </a:rPr>
              <a:t>m3 : R4 </a:t>
            </a:r>
            <a:r>
              <a:rPr lang="en-IN" dirty="0" smtClean="0">
                <a:latin typeface="Times New Roman" pitchFamily="18" charset="0"/>
                <a:cs typeface="Times New Roman" pitchFamily="18" charset="0"/>
                <a:sym typeface="Symbol"/>
              </a:rPr>
              <a:t> F(R3)</a:t>
            </a:r>
            <a:r>
              <a:rPr lang="en-IN" dirty="0" smtClean="0">
                <a:latin typeface="Times New Roman" pitchFamily="18" charset="0"/>
                <a:cs typeface="Times New Roman" pitchFamily="18" charset="0"/>
              </a:rPr>
              <a:t> </a:t>
            </a:r>
            <a:endParaRPr lang="en-IN" dirty="0">
              <a:latin typeface="Times New Roman" pitchFamily="18" charset="0"/>
              <a:cs typeface="Times New Roman" pitchFamily="18" charset="0"/>
            </a:endParaRPr>
          </a:p>
        </p:txBody>
      </p:sp>
      <p:sp>
        <p:nvSpPr>
          <p:cNvPr id="4" name="TextBox 3"/>
          <p:cNvSpPr txBox="1"/>
          <p:nvPr/>
        </p:nvSpPr>
        <p:spPr>
          <a:xfrm>
            <a:off x="5220788" y="165464"/>
            <a:ext cx="4119155" cy="923330"/>
          </a:xfrm>
          <a:prstGeom prst="rect">
            <a:avLst/>
          </a:prstGeom>
          <a:noFill/>
        </p:spPr>
        <p:txBody>
          <a:bodyPr wrap="square" rtlCol="0">
            <a:spAutoFit/>
          </a:bodyPr>
          <a:lstStyle/>
          <a:p>
            <a:r>
              <a:rPr lang="en-IN" dirty="0" smtClean="0">
                <a:latin typeface="Times New Roman" pitchFamily="18" charset="0"/>
                <a:cs typeface="Times New Roman" pitchFamily="18" charset="0"/>
              </a:rPr>
              <a:t>m1 and m2 have direct data dependency</a:t>
            </a:r>
          </a:p>
          <a:p>
            <a:r>
              <a:rPr lang="en-IN" dirty="0" smtClean="0">
                <a:latin typeface="Times New Roman" pitchFamily="18" charset="0"/>
                <a:cs typeface="Times New Roman" pitchFamily="18" charset="0"/>
              </a:rPr>
              <a:t>m1 and m3 have indirect data dependency</a:t>
            </a:r>
          </a:p>
          <a:p>
            <a:r>
              <a:rPr lang="en-IN" dirty="0" smtClean="0">
                <a:latin typeface="Times New Roman" pitchFamily="18" charset="0"/>
                <a:cs typeface="Times New Roman" pitchFamily="18" charset="0"/>
              </a:rPr>
              <a:t>m2 and m3 have direct data dependency </a:t>
            </a:r>
          </a:p>
        </p:txBody>
      </p:sp>
      <p:sp>
        <p:nvSpPr>
          <p:cNvPr id="5" name="Right Brace 4"/>
          <p:cNvSpPr/>
          <p:nvPr/>
        </p:nvSpPr>
        <p:spPr>
          <a:xfrm>
            <a:off x="4572000" y="313508"/>
            <a:ext cx="182880" cy="75764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7" name="Straight Arrow Connector 6"/>
          <p:cNvCxnSpPr/>
          <p:nvPr/>
        </p:nvCxnSpPr>
        <p:spPr>
          <a:xfrm rot="5400000" flipH="1" flipV="1">
            <a:off x="4702628" y="378823"/>
            <a:ext cx="522514" cy="49638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61108" y="1245326"/>
            <a:ext cx="11869783" cy="1477328"/>
          </a:xfrm>
          <a:prstGeom prst="rect">
            <a:avLst/>
          </a:prstGeom>
          <a:noFill/>
        </p:spPr>
        <p:txBody>
          <a:bodyPr wrap="square" rtlCol="0">
            <a:spAutoFit/>
          </a:bodyPr>
          <a:lstStyle/>
          <a:p>
            <a:r>
              <a:rPr lang="en-IN" dirty="0" smtClean="0">
                <a:latin typeface="Times New Roman" pitchFamily="18" charset="0"/>
                <a:cs typeface="Times New Roman" pitchFamily="18" charset="0"/>
              </a:rPr>
              <a:t>m1, m2, m3 can’t be executed in parallel, can never be placed in the same </a:t>
            </a:r>
            <a:r>
              <a:rPr lang="en-IN" dirty="0" err="1" smtClean="0">
                <a:latin typeface="Times New Roman" pitchFamily="18" charset="0"/>
                <a:cs typeface="Times New Roman" pitchFamily="18" charset="0"/>
              </a:rPr>
              <a:t>monophase</a:t>
            </a:r>
            <a:r>
              <a:rPr lang="en-IN" dirty="0" smtClean="0">
                <a:latin typeface="Times New Roman" pitchFamily="18" charset="0"/>
                <a:cs typeface="Times New Roman" pitchFamily="18" charset="0"/>
              </a:rPr>
              <a:t> microinstruction, may appear in different phases of the same </a:t>
            </a:r>
            <a:r>
              <a:rPr lang="en-IN" dirty="0" err="1" smtClean="0">
                <a:latin typeface="Times New Roman" pitchFamily="18" charset="0"/>
                <a:cs typeface="Times New Roman" pitchFamily="18" charset="0"/>
              </a:rPr>
              <a:t>polyphase</a:t>
            </a:r>
            <a:r>
              <a:rPr lang="en-IN" dirty="0" smtClean="0">
                <a:latin typeface="Times New Roman" pitchFamily="18" charset="0"/>
                <a:cs typeface="Times New Roman" pitchFamily="18" charset="0"/>
              </a:rPr>
              <a:t> microinstruction</a:t>
            </a:r>
          </a:p>
          <a:p>
            <a:r>
              <a:rPr lang="en-IN" dirty="0" smtClean="0">
                <a:latin typeface="Times New Roman" pitchFamily="18" charset="0"/>
                <a:cs typeface="Times New Roman" pitchFamily="18" charset="0"/>
              </a:rPr>
              <a:t>Data dependent  micro operations can be executed sequentially in the proper time sequence within a single microinstruction cycle</a:t>
            </a:r>
          </a:p>
          <a:p>
            <a:r>
              <a:rPr lang="en-IN" dirty="0" smtClean="0">
                <a:latin typeface="Times New Roman" pitchFamily="18" charset="0"/>
                <a:cs typeface="Times New Roman" pitchFamily="18" charset="0"/>
              </a:rPr>
              <a:t>Such data dependent micro operations are called weakly data dependent</a:t>
            </a:r>
          </a:p>
        </p:txBody>
      </p:sp>
      <p:graphicFrame>
        <p:nvGraphicFramePr>
          <p:cNvPr id="9" name="Table 8"/>
          <p:cNvGraphicFramePr>
            <a:graphicFrameLocks noGrp="1"/>
          </p:cNvGraphicFramePr>
          <p:nvPr/>
        </p:nvGraphicFramePr>
        <p:xfrm>
          <a:off x="203199" y="2770534"/>
          <a:ext cx="8561977" cy="3393440"/>
        </p:xfrm>
        <a:graphic>
          <a:graphicData uri="http://schemas.openxmlformats.org/drawingml/2006/table">
            <a:tbl>
              <a:tblPr firstRow="1" bandRow="1">
                <a:tableStyleId>{5C22544A-7EE6-4342-B048-85BDC9FD1C3A}</a:tableStyleId>
              </a:tblPr>
              <a:tblGrid>
                <a:gridCol w="776694"/>
                <a:gridCol w="3206155"/>
                <a:gridCol w="947655"/>
                <a:gridCol w="1240972"/>
                <a:gridCol w="2390501"/>
              </a:tblGrid>
              <a:tr h="370840">
                <a:tc gridSpan="5">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rPr>
                        <a:t>Example: Microinstruction cycle is divided into 3 </a:t>
                      </a:r>
                      <a:r>
                        <a:rPr lang="en-IN" dirty="0" err="1" smtClean="0">
                          <a:latin typeface="Times New Roman" pitchFamily="18" charset="0"/>
                          <a:cs typeface="Times New Roman" pitchFamily="18" charset="0"/>
                        </a:rPr>
                        <a:t>subphases</a:t>
                      </a:r>
                      <a:endParaRPr lang="en-IN" dirty="0">
                        <a:latin typeface="Times New Roman" pitchFamily="18" charset="0"/>
                        <a:cs typeface="Times New Roman" pitchFamily="18" charset="0"/>
                      </a:endParaRPr>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dirty="0">
                        <a:latin typeface="Times New Roman" pitchFamily="18" charset="0"/>
                        <a:cs typeface="Times New Roman" pitchFamily="18" charset="0"/>
                      </a:endParaRPr>
                    </a:p>
                  </a:txBody>
                  <a:tcPr/>
                </a:tc>
              </a:tr>
              <a:tr h="370840">
                <a:tc gridSpan="4">
                  <a:txBody>
                    <a:bodyPr/>
                    <a:lstStyle/>
                    <a:p>
                      <a:r>
                        <a:rPr lang="en-IN" dirty="0" smtClean="0">
                          <a:latin typeface="Times New Roman" pitchFamily="18" charset="0"/>
                          <a:cs typeface="Times New Roman" pitchFamily="18" charset="0"/>
                        </a:rPr>
                        <a:t>Microinstruction before compaction</a:t>
                      </a:r>
                      <a:endParaRPr lang="en-IN" dirty="0">
                        <a:latin typeface="Times New Roman" pitchFamily="18" charset="0"/>
                        <a:cs typeface="Times New Roman" pitchFamily="18" charset="0"/>
                      </a:endParaRPr>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rowSpan="2">
                  <a:txBody>
                    <a:bodyPr/>
                    <a:lstStyle/>
                    <a:p>
                      <a:r>
                        <a:rPr lang="en-IN" dirty="0" smtClean="0">
                          <a:latin typeface="Times New Roman" pitchFamily="18" charset="0"/>
                          <a:cs typeface="Times New Roman" pitchFamily="18" charset="0"/>
                        </a:rPr>
                        <a:t>Microinstruction after compaction</a:t>
                      </a:r>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Name</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Micro operation</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Phase used</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Resource used</a:t>
                      </a:r>
                      <a:endParaRPr lang="en-IN" dirty="0">
                        <a:latin typeface="Times New Roman" pitchFamily="18" charset="0"/>
                        <a:cs typeface="Times New Roman" pitchFamily="18" charset="0"/>
                      </a:endParaRPr>
                    </a:p>
                  </a:txBody>
                  <a:tcPr/>
                </a:tc>
                <a:tc vMerge="1">
                  <a:txBody>
                    <a:bodyPr/>
                    <a:lstStyle/>
                    <a:p>
                      <a:endParaRPr lang="en-IN" dirty="0"/>
                    </a:p>
                  </a:txBody>
                  <a:tcPr/>
                </a:tc>
              </a:tr>
              <a:tr h="370840">
                <a:tc>
                  <a:txBody>
                    <a:bodyPr/>
                    <a:lstStyle/>
                    <a:p>
                      <a:r>
                        <a:rPr lang="en-IN" dirty="0" smtClean="0">
                          <a:latin typeface="Times New Roman" pitchFamily="18" charset="0"/>
                          <a:cs typeface="Times New Roman" pitchFamily="18" charset="0"/>
                        </a:rPr>
                        <a:t>m1</a:t>
                      </a:r>
                    </a:p>
                    <a:p>
                      <a:r>
                        <a:rPr lang="en-IN" dirty="0" smtClean="0">
                          <a:latin typeface="Times New Roman" pitchFamily="18" charset="0"/>
                          <a:cs typeface="Times New Roman" pitchFamily="18" charset="0"/>
                        </a:rPr>
                        <a:t>m2</a:t>
                      </a:r>
                    </a:p>
                    <a:p>
                      <a:r>
                        <a:rPr lang="en-IN" dirty="0" smtClean="0">
                          <a:latin typeface="Times New Roman" pitchFamily="18" charset="0"/>
                          <a:cs typeface="Times New Roman" pitchFamily="18" charset="0"/>
                        </a:rPr>
                        <a:t>m3</a:t>
                      </a:r>
                    </a:p>
                    <a:p>
                      <a:r>
                        <a:rPr lang="en-IN" dirty="0" smtClean="0">
                          <a:latin typeface="Times New Roman" pitchFamily="18" charset="0"/>
                          <a:cs typeface="Times New Roman" pitchFamily="18" charset="0"/>
                        </a:rPr>
                        <a:t>m4</a:t>
                      </a:r>
                    </a:p>
                    <a:p>
                      <a:r>
                        <a:rPr lang="en-IN" dirty="0" smtClean="0">
                          <a:latin typeface="Times New Roman" pitchFamily="18" charset="0"/>
                          <a:cs typeface="Times New Roman" pitchFamily="18" charset="0"/>
                        </a:rPr>
                        <a:t>m5</a:t>
                      </a:r>
                    </a:p>
                    <a:p>
                      <a:r>
                        <a:rPr lang="en-IN" dirty="0" smtClean="0">
                          <a:latin typeface="Times New Roman" pitchFamily="18" charset="0"/>
                          <a:cs typeface="Times New Roman" pitchFamily="18" charset="0"/>
                        </a:rPr>
                        <a:t>m6</a:t>
                      </a:r>
                    </a:p>
                    <a:p>
                      <a:r>
                        <a:rPr lang="en-IN" dirty="0" smtClean="0">
                          <a:latin typeface="Times New Roman" pitchFamily="18" charset="0"/>
                          <a:cs typeface="Times New Roman" pitchFamily="18" charset="0"/>
                        </a:rPr>
                        <a:t>m7</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RLEFT </a:t>
                      </a:r>
                      <a:r>
                        <a:rPr lang="en-IN" dirty="0" smtClean="0">
                          <a:latin typeface="Times New Roman" pitchFamily="18" charset="0"/>
                          <a:cs typeface="Times New Roman" pitchFamily="18" charset="0"/>
                          <a:sym typeface="Symbol"/>
                        </a:rPr>
                        <a:t> AC</a:t>
                      </a:r>
                    </a:p>
                    <a:p>
                      <a:r>
                        <a:rPr lang="en-IN" dirty="0" smtClean="0">
                          <a:latin typeface="Times New Roman" pitchFamily="18" charset="0"/>
                          <a:cs typeface="Times New Roman" pitchFamily="18" charset="0"/>
                          <a:sym typeface="Symbol"/>
                        </a:rPr>
                        <a:t>RRIGHT  1</a:t>
                      </a:r>
                    </a:p>
                    <a:p>
                      <a:r>
                        <a:rPr lang="en-IN" dirty="0" smtClean="0">
                          <a:latin typeface="Times New Roman" pitchFamily="18" charset="0"/>
                          <a:cs typeface="Times New Roman" pitchFamily="18" charset="0"/>
                          <a:sym typeface="Symbol"/>
                        </a:rPr>
                        <a:t>ROUT  RLEFT+RRIGHT</a:t>
                      </a:r>
                    </a:p>
                    <a:p>
                      <a:r>
                        <a:rPr lang="en-IN" dirty="0" smtClean="0">
                          <a:latin typeface="Times New Roman" pitchFamily="18" charset="0"/>
                          <a:cs typeface="Times New Roman" pitchFamily="18" charset="0"/>
                          <a:sym typeface="Symbol"/>
                        </a:rPr>
                        <a:t>MARRIGHTSHIFT(ROUT)</a:t>
                      </a:r>
                    </a:p>
                    <a:p>
                      <a:r>
                        <a:rPr lang="en-IN" dirty="0" smtClean="0">
                          <a:latin typeface="Times New Roman" pitchFamily="18" charset="0"/>
                          <a:cs typeface="Times New Roman" pitchFamily="18" charset="0"/>
                          <a:sym typeface="Symbol"/>
                        </a:rPr>
                        <a:t>M(MAR)</a:t>
                      </a:r>
                      <a:r>
                        <a:rPr lang="en-IN" baseline="0" dirty="0" smtClean="0">
                          <a:latin typeface="Times New Roman" pitchFamily="18" charset="0"/>
                          <a:cs typeface="Times New Roman" pitchFamily="18" charset="0"/>
                          <a:sym typeface="Symbol"/>
                        </a:rPr>
                        <a:t> </a:t>
                      </a:r>
                      <a:r>
                        <a:rPr lang="en-IN" dirty="0" smtClean="0">
                          <a:latin typeface="Times New Roman" pitchFamily="18" charset="0"/>
                          <a:cs typeface="Times New Roman" pitchFamily="18" charset="0"/>
                          <a:sym typeface="Symbol"/>
                        </a:rPr>
                        <a:t> MDR</a:t>
                      </a:r>
                    </a:p>
                    <a:p>
                      <a:r>
                        <a:rPr lang="en-IN" dirty="0" smtClean="0">
                          <a:latin typeface="Times New Roman" pitchFamily="18" charset="0"/>
                          <a:cs typeface="Times New Roman" pitchFamily="18" charset="0"/>
                          <a:sym typeface="Symbol"/>
                        </a:rPr>
                        <a:t>RLEFT1</a:t>
                      </a:r>
                    </a:p>
                    <a:p>
                      <a:r>
                        <a:rPr lang="en-IN" dirty="0" smtClean="0">
                          <a:latin typeface="Times New Roman" pitchFamily="18" charset="0"/>
                          <a:cs typeface="Times New Roman" pitchFamily="18" charset="0"/>
                          <a:sym typeface="Symbol"/>
                        </a:rPr>
                        <a:t>RRIGHT  R0</a:t>
                      </a:r>
                      <a:endParaRPr lang="en-IN"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sym typeface="Symbol"/>
                        </a:rPr>
                        <a:t>1</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sym typeface="Symbol"/>
                        </a:rPr>
                        <a:t>1</a:t>
                      </a:r>
                      <a:endParaRPr lang="en-IN" dirty="0" smtClean="0">
                        <a:latin typeface="Times New Roman" pitchFamily="18" charset="0"/>
                        <a:cs typeface="Times New Roman"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sym typeface="Symbol"/>
                        </a:rPr>
                        <a:t>2</a:t>
                      </a:r>
                      <a:endParaRPr lang="en-IN" dirty="0" smtClean="0">
                        <a:latin typeface="Times New Roman" pitchFamily="18" charset="0"/>
                        <a:cs typeface="Times New Roman"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sym typeface="Symbol"/>
                        </a:rPr>
                        <a:t>3</a:t>
                      </a:r>
                      <a:endParaRPr lang="en-IN" dirty="0" smtClean="0">
                        <a:latin typeface="Times New Roman" pitchFamily="18" charset="0"/>
                        <a:cs typeface="Times New Roman"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sym typeface="Symbol"/>
                        </a:rPr>
                        <a:t>2</a:t>
                      </a:r>
                      <a:endParaRPr lang="en-IN" dirty="0" smtClean="0">
                        <a:latin typeface="Times New Roman" pitchFamily="18" charset="0"/>
                        <a:cs typeface="Times New Roman"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sym typeface="Symbol"/>
                        </a:rPr>
                        <a:t>1</a:t>
                      </a:r>
                      <a:endParaRPr lang="en-IN" dirty="0" smtClean="0">
                        <a:latin typeface="Times New Roman" pitchFamily="18" charset="0"/>
                        <a:cs typeface="Times New Roman"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sym typeface="Symbol"/>
                        </a:rPr>
                        <a:t>1</a:t>
                      </a:r>
                      <a:endParaRPr lang="en-IN" dirty="0">
                        <a:latin typeface="Times New Roman" pitchFamily="18" charset="0"/>
                        <a:cs typeface="Times New Roman" pitchFamily="18" charset="0"/>
                      </a:endParaRPr>
                    </a:p>
                  </a:txBody>
                  <a:tcPr/>
                </a:tc>
                <a:tc>
                  <a:txBody>
                    <a:bodyPr/>
                    <a:lstStyle/>
                    <a:p>
                      <a:endParaRPr lang="en-IN" dirty="0" smtClean="0">
                        <a:latin typeface="Times New Roman" pitchFamily="18" charset="0"/>
                        <a:cs typeface="Times New Roman" pitchFamily="18" charset="0"/>
                      </a:endParaRP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Adder</a:t>
                      </a:r>
                    </a:p>
                    <a:p>
                      <a:r>
                        <a:rPr lang="en-IN" dirty="0" smtClean="0">
                          <a:latin typeface="Times New Roman" pitchFamily="18" charset="0"/>
                          <a:cs typeface="Times New Roman" pitchFamily="18" charset="0"/>
                        </a:rPr>
                        <a:t>Shifter</a:t>
                      </a:r>
                    </a:p>
                    <a:p>
                      <a:r>
                        <a:rPr lang="en-IN" dirty="0" smtClean="0">
                          <a:latin typeface="Times New Roman" pitchFamily="18" charset="0"/>
                          <a:cs typeface="Times New Roman" pitchFamily="18" charset="0"/>
                        </a:rPr>
                        <a:t>Bus</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I1 = {m1}</a:t>
                      </a:r>
                    </a:p>
                    <a:p>
                      <a:r>
                        <a:rPr lang="en-IN" dirty="0" smtClean="0">
                          <a:latin typeface="Times New Roman" pitchFamily="18" charset="0"/>
                          <a:cs typeface="Times New Roman" pitchFamily="18" charset="0"/>
                        </a:rPr>
                        <a:t>I1 = {m1, m2}</a:t>
                      </a:r>
                    </a:p>
                    <a:p>
                      <a:r>
                        <a:rPr lang="en-IN" dirty="0" smtClean="0">
                          <a:latin typeface="Times New Roman" pitchFamily="18" charset="0"/>
                          <a:cs typeface="Times New Roman" pitchFamily="18" charset="0"/>
                        </a:rPr>
                        <a:t>I1 = {m1, m2, m3}</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rPr>
                        <a:t>I1 = {m1, m2, m3, m4}</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rPr>
                        <a:t>I2={m5}</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rPr>
                        <a:t>I2={m5, m6}</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rPr>
                        <a:t>I2={m5, m6, m7}</a:t>
                      </a:r>
                      <a:endParaRPr lang="en-IN" dirty="0">
                        <a:latin typeface="Times New Roman" pitchFamily="18" charset="0"/>
                        <a:cs typeface="Times New Roman" pitchFamily="18" charset="0"/>
                      </a:endParaRPr>
                    </a:p>
                  </a:txBody>
                  <a:tcPr/>
                </a:tc>
              </a:tr>
            </a:tbl>
          </a:graphicData>
        </a:graphic>
      </p:graphicFrame>
      <p:sp>
        <p:nvSpPr>
          <p:cNvPr id="10" name="TextBox 9"/>
          <p:cNvSpPr txBox="1"/>
          <p:nvPr/>
        </p:nvSpPr>
        <p:spPr>
          <a:xfrm>
            <a:off x="8904515" y="4711338"/>
            <a:ext cx="735874" cy="369332"/>
          </a:xfrm>
          <a:prstGeom prst="rect">
            <a:avLst/>
          </a:prstGeom>
          <a:noFill/>
        </p:spPr>
        <p:txBody>
          <a:bodyPr wrap="square" rtlCol="0">
            <a:spAutoFit/>
          </a:bodyPr>
          <a:lstStyle/>
          <a:p>
            <a:r>
              <a:rPr lang="en-IN" dirty="0" smtClean="0">
                <a:latin typeface="Times New Roman" pitchFamily="18" charset="0"/>
                <a:cs typeface="Times New Roman" pitchFamily="18" charset="0"/>
              </a:rPr>
              <a:t>H = 2</a:t>
            </a:r>
          </a:p>
        </p:txBody>
      </p:sp>
      <p:sp>
        <p:nvSpPr>
          <p:cNvPr id="11" name="Right Brace 10"/>
          <p:cNvSpPr/>
          <p:nvPr/>
        </p:nvSpPr>
        <p:spPr>
          <a:xfrm>
            <a:off x="8813072" y="4149633"/>
            <a:ext cx="213361" cy="196378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5132" y="209006"/>
            <a:ext cx="11782697" cy="2031325"/>
          </a:xfrm>
          <a:prstGeom prst="rect">
            <a:avLst/>
          </a:prstGeom>
          <a:noFill/>
        </p:spPr>
        <p:txBody>
          <a:bodyPr wrap="square" rtlCol="0">
            <a:spAutoFit/>
          </a:bodyPr>
          <a:lstStyle/>
          <a:p>
            <a:r>
              <a:rPr lang="en-IN" dirty="0" smtClean="0">
                <a:latin typeface="Times New Roman" pitchFamily="18" charset="0"/>
                <a:cs typeface="Times New Roman" pitchFamily="18" charset="0"/>
              </a:rPr>
              <a:t>Microinstruction after compaction</a:t>
            </a:r>
          </a:p>
          <a:p>
            <a:r>
              <a:rPr lang="en-IN" dirty="0" smtClean="0">
                <a:latin typeface="Times New Roman" pitchFamily="18" charset="0"/>
                <a:cs typeface="Times New Roman" pitchFamily="18" charset="0"/>
              </a:rPr>
              <a:t>m1, m2 are independent and so can be executed in the same phase </a:t>
            </a:r>
            <a:r>
              <a:rPr lang="en-IN" dirty="0" smtClean="0">
                <a:latin typeface="Times New Roman" pitchFamily="18" charset="0"/>
                <a:cs typeface="Times New Roman" pitchFamily="18" charset="0"/>
                <a:sym typeface="Symbol"/>
              </a:rPr>
              <a:t>1 and can be inc</a:t>
            </a:r>
            <a:r>
              <a:rPr lang="en-IN" dirty="0" smtClean="0">
                <a:latin typeface="Times New Roman" pitchFamily="18" charset="0"/>
                <a:cs typeface="Times New Roman" pitchFamily="18" charset="0"/>
              </a:rPr>
              <a:t>luded in the same microinstruction I1</a:t>
            </a:r>
          </a:p>
          <a:p>
            <a:r>
              <a:rPr lang="en-IN" dirty="0" smtClean="0">
                <a:latin typeface="Times New Roman" pitchFamily="18" charset="0"/>
                <a:cs typeface="Times New Roman" pitchFamily="18" charset="0"/>
              </a:rPr>
              <a:t>m1, m2, m3 are dependent but m3 needs different phase </a:t>
            </a:r>
            <a:r>
              <a:rPr lang="en-IN" dirty="0" smtClean="0">
                <a:latin typeface="Times New Roman" pitchFamily="18" charset="0"/>
                <a:cs typeface="Times New Roman" pitchFamily="18" charset="0"/>
                <a:sym typeface="Symbol"/>
              </a:rPr>
              <a:t>2, so m3 can be included in I1 (due to weak data dependency)</a:t>
            </a:r>
          </a:p>
          <a:p>
            <a:r>
              <a:rPr lang="en-IN" dirty="0" smtClean="0">
                <a:latin typeface="Times New Roman" pitchFamily="18" charset="0"/>
                <a:cs typeface="Times New Roman" pitchFamily="18" charset="0"/>
                <a:sym typeface="Symbol"/>
              </a:rPr>
              <a:t>m3 and m4 are dependent but they need different phase and resource, hence m4 can be included in I1</a:t>
            </a:r>
          </a:p>
          <a:p>
            <a:r>
              <a:rPr lang="en-IN" dirty="0" smtClean="0">
                <a:latin typeface="Times New Roman" pitchFamily="18" charset="0"/>
                <a:cs typeface="Times New Roman" pitchFamily="18" charset="0"/>
                <a:sym typeface="Symbol"/>
              </a:rPr>
              <a:t>m4 and m5 are strongly data dependent, m5 needs 2 for execution, so need to be placed in different microinstruction  I2</a:t>
            </a:r>
          </a:p>
          <a:p>
            <a:r>
              <a:rPr lang="en-IN" dirty="0" smtClean="0">
                <a:latin typeface="Times New Roman" pitchFamily="18" charset="0"/>
                <a:cs typeface="Times New Roman" pitchFamily="18" charset="0"/>
                <a:sym typeface="Symbol"/>
              </a:rPr>
              <a:t>m1 and </a:t>
            </a:r>
            <a:r>
              <a:rPr lang="en-IN" dirty="0" smtClean="0">
                <a:latin typeface="Times New Roman" pitchFamily="18" charset="0"/>
                <a:cs typeface="Times New Roman" pitchFamily="18" charset="0"/>
              </a:rPr>
              <a:t>m6, m2 and m7 are strongly data dependent. So m6 and m7 can’t be placed in I1. But m6 and m7 are independent on m5 and so can be placed in I2</a:t>
            </a:r>
          </a:p>
        </p:txBody>
      </p:sp>
      <p:graphicFrame>
        <p:nvGraphicFramePr>
          <p:cNvPr id="3" name="Table 2"/>
          <p:cNvGraphicFramePr>
            <a:graphicFrameLocks noGrp="1"/>
          </p:cNvGraphicFramePr>
          <p:nvPr/>
        </p:nvGraphicFramePr>
        <p:xfrm>
          <a:off x="346890" y="2600717"/>
          <a:ext cx="6458858" cy="2844800"/>
        </p:xfrm>
        <a:graphic>
          <a:graphicData uri="http://schemas.openxmlformats.org/drawingml/2006/table">
            <a:tbl>
              <a:tblPr firstRow="1" bandRow="1">
                <a:tableStyleId>{5C22544A-7EE6-4342-B048-85BDC9FD1C3A}</a:tableStyleId>
              </a:tblPr>
              <a:tblGrid>
                <a:gridCol w="750390"/>
                <a:gridCol w="1854926"/>
                <a:gridCol w="731520"/>
                <a:gridCol w="1136468"/>
                <a:gridCol w="1985554"/>
              </a:tblGrid>
              <a:tr h="370840">
                <a:tc gridSpan="5">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rPr>
                        <a:t>Example: Microinstruction cycle is divided into 3 </a:t>
                      </a:r>
                      <a:r>
                        <a:rPr lang="en-IN" dirty="0" err="1" smtClean="0">
                          <a:latin typeface="Times New Roman" pitchFamily="18" charset="0"/>
                          <a:cs typeface="Times New Roman" pitchFamily="18" charset="0"/>
                        </a:rPr>
                        <a:t>sbphases</a:t>
                      </a:r>
                      <a:endParaRPr lang="en-IN" dirty="0">
                        <a:latin typeface="Times New Roman" pitchFamily="18" charset="0"/>
                        <a:cs typeface="Times New Roman" pitchFamily="18" charset="0"/>
                      </a:endParaRPr>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dirty="0">
                        <a:latin typeface="Times New Roman" pitchFamily="18" charset="0"/>
                        <a:cs typeface="Times New Roman" pitchFamily="18" charset="0"/>
                      </a:endParaRPr>
                    </a:p>
                  </a:txBody>
                  <a:tcPr/>
                </a:tc>
              </a:tr>
              <a:tr h="370840">
                <a:tc gridSpan="4">
                  <a:txBody>
                    <a:bodyPr/>
                    <a:lstStyle/>
                    <a:p>
                      <a:r>
                        <a:rPr lang="en-IN" dirty="0" smtClean="0">
                          <a:latin typeface="Times New Roman" pitchFamily="18" charset="0"/>
                          <a:cs typeface="Times New Roman" pitchFamily="18" charset="0"/>
                        </a:rPr>
                        <a:t>Microinstruction before compaction</a:t>
                      </a:r>
                      <a:endParaRPr lang="en-IN" dirty="0">
                        <a:latin typeface="Times New Roman" pitchFamily="18" charset="0"/>
                        <a:cs typeface="Times New Roman" pitchFamily="18" charset="0"/>
                      </a:endParaRPr>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rowSpan="2">
                  <a:txBody>
                    <a:bodyPr/>
                    <a:lstStyle/>
                    <a:p>
                      <a:r>
                        <a:rPr lang="en-IN" dirty="0" smtClean="0">
                          <a:latin typeface="Times New Roman" pitchFamily="18" charset="0"/>
                          <a:cs typeface="Times New Roman" pitchFamily="18" charset="0"/>
                        </a:rPr>
                        <a:t>Microinstruction after compaction</a:t>
                      </a:r>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Name</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Micro operation</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Phase used</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Resource used</a:t>
                      </a:r>
                      <a:endParaRPr lang="en-IN" dirty="0">
                        <a:latin typeface="Times New Roman" pitchFamily="18" charset="0"/>
                        <a:cs typeface="Times New Roman" pitchFamily="18" charset="0"/>
                      </a:endParaRPr>
                    </a:p>
                  </a:txBody>
                  <a:tcPr/>
                </a:tc>
                <a:tc vMerge="1">
                  <a:txBody>
                    <a:bodyPr/>
                    <a:lstStyle/>
                    <a:p>
                      <a:endParaRPr lang="en-IN" dirty="0"/>
                    </a:p>
                  </a:txBody>
                  <a:tcPr/>
                </a:tc>
              </a:tr>
              <a:tr h="370840">
                <a:tc>
                  <a:txBody>
                    <a:bodyPr/>
                    <a:lstStyle/>
                    <a:p>
                      <a:r>
                        <a:rPr lang="en-IN" dirty="0" smtClean="0">
                          <a:latin typeface="Times New Roman" pitchFamily="18" charset="0"/>
                          <a:cs typeface="Times New Roman" pitchFamily="18" charset="0"/>
                        </a:rPr>
                        <a:t>m1</a:t>
                      </a:r>
                    </a:p>
                    <a:p>
                      <a:r>
                        <a:rPr lang="en-IN" dirty="0" smtClean="0">
                          <a:latin typeface="Times New Roman" pitchFamily="18" charset="0"/>
                          <a:cs typeface="Times New Roman" pitchFamily="18" charset="0"/>
                        </a:rPr>
                        <a:t>m2</a:t>
                      </a:r>
                    </a:p>
                    <a:p>
                      <a:r>
                        <a:rPr lang="en-IN" dirty="0" smtClean="0">
                          <a:latin typeface="Times New Roman" pitchFamily="18" charset="0"/>
                          <a:cs typeface="Times New Roman" pitchFamily="18" charset="0"/>
                        </a:rPr>
                        <a:t>m3</a:t>
                      </a:r>
                    </a:p>
                    <a:p>
                      <a:r>
                        <a:rPr lang="en-IN" dirty="0" smtClean="0">
                          <a:latin typeface="Times New Roman" pitchFamily="18" charset="0"/>
                          <a:cs typeface="Times New Roman" pitchFamily="18" charset="0"/>
                        </a:rPr>
                        <a:t>m4</a:t>
                      </a:r>
                    </a:p>
                    <a:p>
                      <a:r>
                        <a:rPr lang="en-IN" dirty="0" smtClean="0">
                          <a:latin typeface="Times New Roman" pitchFamily="18" charset="0"/>
                          <a:cs typeface="Times New Roman" pitchFamily="18" charset="0"/>
                        </a:rPr>
                        <a:t>m5</a:t>
                      </a:r>
                    </a:p>
                  </a:txBody>
                  <a:tcPr/>
                </a:tc>
                <a:tc>
                  <a:txBody>
                    <a:bodyPr/>
                    <a:lstStyle/>
                    <a:p>
                      <a:r>
                        <a:rPr lang="en-IN" dirty="0" smtClean="0">
                          <a:latin typeface="Times New Roman" pitchFamily="18" charset="0"/>
                          <a:cs typeface="Times New Roman" pitchFamily="18" charset="0"/>
                        </a:rPr>
                        <a:t>A </a:t>
                      </a:r>
                      <a:r>
                        <a:rPr lang="en-IN" dirty="0" smtClean="0">
                          <a:latin typeface="Times New Roman" pitchFamily="18" charset="0"/>
                          <a:cs typeface="Times New Roman" pitchFamily="18" charset="0"/>
                          <a:sym typeface="Symbol"/>
                        </a:rPr>
                        <a:t> R1</a:t>
                      </a:r>
                    </a:p>
                    <a:p>
                      <a:r>
                        <a:rPr lang="en-IN" dirty="0" smtClean="0">
                          <a:latin typeface="Times New Roman" pitchFamily="18" charset="0"/>
                          <a:cs typeface="Times New Roman" pitchFamily="18" charset="0"/>
                          <a:sym typeface="Symbol"/>
                        </a:rPr>
                        <a:t>C  A+R2</a:t>
                      </a:r>
                    </a:p>
                    <a:p>
                      <a:r>
                        <a:rPr lang="en-IN" dirty="0" smtClean="0">
                          <a:latin typeface="Times New Roman" pitchFamily="18" charset="0"/>
                          <a:cs typeface="Times New Roman" pitchFamily="18" charset="0"/>
                          <a:sym typeface="Symbol"/>
                        </a:rPr>
                        <a:t>R3  D</a:t>
                      </a:r>
                    </a:p>
                    <a:p>
                      <a:r>
                        <a:rPr lang="en-IN" dirty="0" smtClean="0">
                          <a:latin typeface="Times New Roman" pitchFamily="18" charset="0"/>
                          <a:cs typeface="Times New Roman" pitchFamily="18" charset="0"/>
                          <a:sym typeface="Symbol"/>
                        </a:rPr>
                        <a:t>R6R6+1</a:t>
                      </a:r>
                    </a:p>
                    <a:p>
                      <a:r>
                        <a:rPr lang="en-IN" baseline="0" dirty="0" smtClean="0">
                          <a:latin typeface="Times New Roman" pitchFamily="18" charset="0"/>
                          <a:cs typeface="Times New Roman" pitchFamily="18" charset="0"/>
                          <a:sym typeface="Symbol"/>
                        </a:rPr>
                        <a:t>R7 </a:t>
                      </a:r>
                      <a:r>
                        <a:rPr lang="en-IN" dirty="0" smtClean="0">
                          <a:latin typeface="Times New Roman" pitchFamily="18" charset="0"/>
                          <a:cs typeface="Times New Roman" pitchFamily="18" charset="0"/>
                          <a:sym typeface="Symbol"/>
                        </a:rPr>
                        <a:t> R3 OR R6</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sym typeface="Symbol"/>
                        </a:rPr>
                        <a:t>1</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sym typeface="Symbol"/>
                        </a:rPr>
                        <a:t>2</a:t>
                      </a:r>
                      <a:endParaRPr lang="en-IN" dirty="0" smtClean="0">
                        <a:latin typeface="Times New Roman" pitchFamily="18" charset="0"/>
                        <a:cs typeface="Times New Roman"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sym typeface="Symbol"/>
                        </a:rPr>
                        <a:t>2</a:t>
                      </a:r>
                      <a:endParaRPr lang="en-IN" dirty="0" smtClean="0">
                        <a:latin typeface="Times New Roman" pitchFamily="18" charset="0"/>
                        <a:cs typeface="Times New Roman"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sym typeface="Symbol"/>
                        </a:rPr>
                        <a:t>2</a:t>
                      </a:r>
                      <a:endParaRPr lang="en-IN" dirty="0" smtClean="0">
                        <a:latin typeface="Times New Roman" pitchFamily="18" charset="0"/>
                        <a:cs typeface="Times New Roman"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sym typeface="Symbol"/>
                        </a:rPr>
                        <a:t>2</a:t>
                      </a:r>
                      <a:endParaRPr lang="en-IN" dirty="0" smtClean="0">
                        <a:latin typeface="Times New Roman" pitchFamily="18" charset="0"/>
                        <a:cs typeface="Times New Roman" pitchFamily="18" charset="0"/>
                      </a:endParaRPr>
                    </a:p>
                  </a:txBody>
                  <a:tcPr/>
                </a:tc>
                <a:tc>
                  <a:txBody>
                    <a:bodyPr/>
                    <a:lstStyle/>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Adder</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Adder</a:t>
                      </a:r>
                    </a:p>
                    <a:p>
                      <a:r>
                        <a:rPr lang="en-IN" dirty="0" smtClean="0">
                          <a:latin typeface="Times New Roman" pitchFamily="18" charset="0"/>
                          <a:cs typeface="Times New Roman" pitchFamily="18" charset="0"/>
                        </a:rPr>
                        <a:t>ALU</a:t>
                      </a:r>
                    </a:p>
                  </a:txBody>
                  <a:tcPr/>
                </a:tc>
                <a:tc>
                  <a:txBody>
                    <a:bodyPr/>
                    <a:lstStyle/>
                    <a:p>
                      <a:r>
                        <a:rPr lang="en-IN" dirty="0" smtClean="0">
                          <a:latin typeface="Times New Roman" pitchFamily="18" charset="0"/>
                          <a:cs typeface="Times New Roman" pitchFamily="18" charset="0"/>
                        </a:rPr>
                        <a:t>I1 = {m1}</a:t>
                      </a:r>
                    </a:p>
                    <a:p>
                      <a:r>
                        <a:rPr lang="en-IN" dirty="0" smtClean="0">
                          <a:latin typeface="Times New Roman" pitchFamily="18" charset="0"/>
                          <a:cs typeface="Times New Roman" pitchFamily="18" charset="0"/>
                        </a:rPr>
                        <a:t>I2 = {m2}</a:t>
                      </a:r>
                    </a:p>
                    <a:p>
                      <a:r>
                        <a:rPr lang="en-IN" dirty="0" smtClean="0">
                          <a:latin typeface="Times New Roman" pitchFamily="18" charset="0"/>
                          <a:cs typeface="Times New Roman" pitchFamily="18" charset="0"/>
                        </a:rPr>
                        <a:t>I1 = {m1, m3}</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rPr>
                        <a:t>I1 = {m1, m3, m4}</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rPr>
                        <a:t>I2={m2, m5}</a:t>
                      </a:r>
                    </a:p>
                  </a:txBody>
                  <a:tcPr/>
                </a:tc>
              </a:tr>
            </a:tbl>
          </a:graphicData>
        </a:graphic>
      </p:graphicFrame>
      <p:sp>
        <p:nvSpPr>
          <p:cNvPr id="4" name="TextBox 3"/>
          <p:cNvSpPr txBox="1"/>
          <p:nvPr/>
        </p:nvSpPr>
        <p:spPr>
          <a:xfrm>
            <a:off x="6910252" y="3879669"/>
            <a:ext cx="3944983" cy="738664"/>
          </a:xfrm>
          <a:prstGeom prst="rect">
            <a:avLst/>
          </a:prstGeom>
          <a:noFill/>
        </p:spPr>
        <p:txBody>
          <a:bodyPr wrap="square" rtlCol="0">
            <a:spAutoFit/>
          </a:bodyPr>
          <a:lstStyle/>
          <a:p>
            <a:r>
              <a:rPr lang="en-IN" sz="1400" dirty="0" smtClean="0">
                <a:latin typeface="Times New Roman" pitchFamily="18" charset="0"/>
                <a:cs typeface="Times New Roman" pitchFamily="18" charset="0"/>
              </a:rPr>
              <a:t>m1 and m2 are strongly data dependent</a:t>
            </a:r>
          </a:p>
          <a:p>
            <a:r>
              <a:rPr lang="en-IN" sz="1400" dirty="0" smtClean="0">
                <a:latin typeface="Times New Roman" pitchFamily="18" charset="0"/>
                <a:cs typeface="Times New Roman" pitchFamily="18" charset="0"/>
                <a:sym typeface="Symbol"/>
              </a:rPr>
              <a:t>m2 and m4 are resource dependent, both needs 2</a:t>
            </a:r>
          </a:p>
          <a:p>
            <a:r>
              <a:rPr lang="en-IN" sz="1400" dirty="0" smtClean="0">
                <a:latin typeface="Times New Roman" pitchFamily="18" charset="0"/>
                <a:cs typeface="Times New Roman" pitchFamily="18" charset="0"/>
                <a:sym typeface="Symbol"/>
              </a:rPr>
              <a:t>m4 and m5 are data dependent, both needs 2 </a:t>
            </a:r>
          </a:p>
        </p:txBody>
      </p:sp>
      <p:sp>
        <p:nvSpPr>
          <p:cNvPr id="5" name="TextBox 4"/>
          <p:cNvSpPr txBox="1"/>
          <p:nvPr/>
        </p:nvSpPr>
        <p:spPr>
          <a:xfrm>
            <a:off x="6879771" y="4841966"/>
            <a:ext cx="2211977"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As m4 needs adder like m2</a:t>
            </a:r>
            <a:endParaRPr lang="en-IN" sz="1400" dirty="0" smtClean="0">
              <a:latin typeface="Times New Roman" pitchFamily="18" charset="0"/>
              <a:cs typeface="Times New Roman" pitchFamily="18" charset="0"/>
              <a:sym typeface="Symbol"/>
            </a:endParaRPr>
          </a:p>
        </p:txBody>
      </p:sp>
      <p:cxnSp>
        <p:nvCxnSpPr>
          <p:cNvPr id="7" name="Straight Arrow Connector 6"/>
          <p:cNvCxnSpPr/>
          <p:nvPr/>
        </p:nvCxnSpPr>
        <p:spPr>
          <a:xfrm flipV="1">
            <a:off x="5852160" y="4389120"/>
            <a:ext cx="1110343" cy="7837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6648994" y="5003074"/>
            <a:ext cx="36576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Left Brace 10"/>
          <p:cNvSpPr/>
          <p:nvPr/>
        </p:nvSpPr>
        <p:spPr>
          <a:xfrm>
            <a:off x="4702629" y="4049486"/>
            <a:ext cx="52251" cy="133241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2" name="TextBox 11"/>
          <p:cNvSpPr txBox="1"/>
          <p:nvPr/>
        </p:nvSpPr>
        <p:spPr>
          <a:xfrm>
            <a:off x="3600995" y="5599612"/>
            <a:ext cx="735874" cy="369332"/>
          </a:xfrm>
          <a:prstGeom prst="rect">
            <a:avLst/>
          </a:prstGeom>
          <a:noFill/>
        </p:spPr>
        <p:txBody>
          <a:bodyPr wrap="square" rtlCol="0">
            <a:spAutoFit/>
          </a:bodyPr>
          <a:lstStyle/>
          <a:p>
            <a:r>
              <a:rPr lang="en-IN" dirty="0" smtClean="0">
                <a:latin typeface="Times New Roman" pitchFamily="18" charset="0"/>
                <a:cs typeface="Times New Roman" pitchFamily="18" charset="0"/>
              </a:rPr>
              <a:t>H = 2</a:t>
            </a:r>
          </a:p>
        </p:txBody>
      </p:sp>
      <p:cxnSp>
        <p:nvCxnSpPr>
          <p:cNvPr id="14" name="Straight Arrow Connector 13"/>
          <p:cNvCxnSpPr>
            <a:stCxn id="12" idx="0"/>
          </p:cNvCxnSpPr>
          <p:nvPr/>
        </p:nvCxnSpPr>
        <p:spPr>
          <a:xfrm rot="5400000" flipH="1" flipV="1">
            <a:off x="3991792" y="4862650"/>
            <a:ext cx="714103" cy="75982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9818" y="209005"/>
            <a:ext cx="11782696" cy="3970318"/>
          </a:xfrm>
          <a:prstGeom prst="rect">
            <a:avLst/>
          </a:prstGeom>
          <a:noFill/>
        </p:spPr>
        <p:txBody>
          <a:bodyPr wrap="square" rtlCol="0">
            <a:spAutoFit/>
          </a:bodyPr>
          <a:lstStyle/>
          <a:p>
            <a:r>
              <a:rPr lang="en-IN" dirty="0" smtClean="0">
                <a:latin typeface="Times New Roman" pitchFamily="18" charset="0"/>
                <a:cs typeface="Times New Roman" pitchFamily="18" charset="0"/>
              </a:rPr>
              <a:t>Minimizing W</a:t>
            </a:r>
          </a:p>
          <a:p>
            <a:r>
              <a:rPr lang="en-IN" dirty="0" smtClean="0">
                <a:latin typeface="Times New Roman" pitchFamily="18" charset="0"/>
                <a:cs typeface="Times New Roman" pitchFamily="18" charset="0"/>
              </a:rPr>
              <a:t>Objective is to derive a format of the microinstruction control field such that the total number of bits in the control field is a minimum i.e. we want a control field encoding method that uses as few bits as possible</a:t>
            </a:r>
          </a:p>
          <a:p>
            <a:r>
              <a:rPr lang="en-IN" u="sng" dirty="0" smtClean="0">
                <a:latin typeface="Times New Roman" pitchFamily="18" charset="0"/>
                <a:cs typeface="Times New Roman" pitchFamily="18" charset="0"/>
              </a:rPr>
              <a:t>Steps of operation</a:t>
            </a:r>
          </a:p>
          <a:p>
            <a:r>
              <a:rPr lang="en-IN" dirty="0" smtClean="0">
                <a:latin typeface="Times New Roman" pitchFamily="18" charset="0"/>
                <a:cs typeface="Times New Roman" pitchFamily="18" charset="0"/>
              </a:rPr>
              <a:t>Determine the set of maximal compatibility class (MCC)</a:t>
            </a:r>
          </a:p>
          <a:p>
            <a:r>
              <a:rPr lang="en-IN" dirty="0" smtClean="0">
                <a:latin typeface="Times New Roman" pitchFamily="18" charset="0"/>
                <a:cs typeface="Times New Roman" pitchFamily="18" charset="0"/>
              </a:rPr>
              <a:t>Determine all minimal set of MCCs that include each control signal. Each of these sets is called minimal MCC cover</a:t>
            </a:r>
          </a:p>
          <a:p>
            <a:r>
              <a:rPr lang="en-IN" dirty="0" smtClean="0">
                <a:latin typeface="Times New Roman" pitchFamily="18" charset="0"/>
                <a:cs typeface="Times New Roman" pitchFamily="18" charset="0"/>
              </a:rPr>
              <a:t>Inspect each minimal MCC cover {</a:t>
            </a:r>
            <a:r>
              <a:rPr lang="en-IN" dirty="0" err="1" smtClean="0">
                <a:latin typeface="Times New Roman" pitchFamily="18" charset="0"/>
                <a:cs typeface="Times New Roman" pitchFamily="18" charset="0"/>
              </a:rPr>
              <a:t>Ci</a:t>
            </a:r>
            <a:r>
              <a:rPr lang="en-IN" dirty="0" smtClean="0">
                <a:latin typeface="Times New Roman" pitchFamily="18" charset="0"/>
                <a:cs typeface="Times New Roman" pitchFamily="18" charset="0"/>
              </a:rPr>
              <a:t>} in turn and determine all way of including  each control signal in exactly one subset of some </a:t>
            </a:r>
            <a:r>
              <a:rPr lang="en-IN" dirty="0" err="1" smtClean="0">
                <a:latin typeface="Times New Roman" pitchFamily="18" charset="0"/>
                <a:cs typeface="Times New Roman" pitchFamily="18" charset="0"/>
              </a:rPr>
              <a:t>Ci</a:t>
            </a:r>
            <a:r>
              <a:rPr lang="en-IN" dirty="0" smtClean="0">
                <a:latin typeface="Times New Roman" pitchFamily="18" charset="0"/>
                <a:cs typeface="Times New Roman" pitchFamily="18" charset="0"/>
              </a:rPr>
              <a:t>.</a:t>
            </a:r>
          </a:p>
          <a:p>
            <a:r>
              <a:rPr lang="en-IN" u="sng" dirty="0" smtClean="0">
                <a:latin typeface="Times New Roman" pitchFamily="18" charset="0"/>
                <a:cs typeface="Times New Roman" pitchFamily="18" charset="0"/>
              </a:rPr>
              <a:t>Compatibility class</a:t>
            </a:r>
          </a:p>
          <a:p>
            <a:r>
              <a:rPr lang="en-IN" dirty="0" err="1" smtClean="0">
                <a:latin typeface="Times New Roman" pitchFamily="18" charset="0"/>
                <a:cs typeface="Times New Roman" pitchFamily="18" charset="0"/>
              </a:rPr>
              <a:t>Ci</a:t>
            </a:r>
            <a:r>
              <a:rPr lang="en-IN" dirty="0" smtClean="0">
                <a:latin typeface="Times New Roman" pitchFamily="18" charset="0"/>
                <a:cs typeface="Times New Roman" pitchFamily="18" charset="0"/>
              </a:rPr>
              <a:t> = control signal, </a:t>
            </a:r>
            <a:r>
              <a:rPr lang="en-IN" dirty="0" err="1" smtClean="0">
                <a:latin typeface="Times New Roman" pitchFamily="18" charset="0"/>
                <a:cs typeface="Times New Roman" pitchFamily="18" charset="0"/>
              </a:rPr>
              <a:t>Ij</a:t>
            </a:r>
            <a:r>
              <a:rPr lang="en-IN" dirty="0" smtClean="0">
                <a:latin typeface="Times New Roman" pitchFamily="18" charset="0"/>
                <a:cs typeface="Times New Roman" pitchFamily="18" charset="0"/>
              </a:rPr>
              <a:t> = microinstruction</a:t>
            </a:r>
          </a:p>
          <a:p>
            <a:r>
              <a:rPr lang="en-IN" dirty="0" err="1" smtClean="0">
                <a:latin typeface="Times New Roman" pitchFamily="18" charset="0"/>
                <a:cs typeface="Times New Roman" pitchFamily="18" charset="0"/>
              </a:rPr>
              <a:t>Ci</a:t>
            </a:r>
            <a:r>
              <a:rPr lang="en-IN" dirty="0" smtClean="0">
                <a:latin typeface="Times New Roman" pitchFamily="18" charset="0"/>
                <a:cs typeface="Times New Roman" pitchFamily="18" charset="0"/>
              </a:rPr>
              <a:t> </a:t>
            </a:r>
            <a:r>
              <a:rPr lang="el-GR" dirty="0" smtClean="0">
                <a:latin typeface="Times New Roman" pitchFamily="18" charset="0"/>
                <a:cs typeface="Times New Roman" pitchFamily="18" charset="0"/>
              </a:rPr>
              <a:t>ϵ</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Ij</a:t>
            </a:r>
            <a:r>
              <a:rPr lang="en-IN" dirty="0" smtClean="0">
                <a:latin typeface="Times New Roman" pitchFamily="18" charset="0"/>
                <a:cs typeface="Times New Roman" pitchFamily="18" charset="0"/>
              </a:rPr>
              <a:t> </a:t>
            </a:r>
            <a:r>
              <a:rPr lang="en-IN" dirty="0" smtClean="0">
                <a:latin typeface="Times New Roman" pitchFamily="18" charset="0"/>
                <a:cs typeface="Times New Roman" pitchFamily="18" charset="0"/>
                <a:sym typeface="Symbol"/>
              </a:rPr>
              <a:t> </a:t>
            </a:r>
            <a:r>
              <a:rPr lang="en-IN" dirty="0" err="1" smtClean="0">
                <a:latin typeface="Times New Roman" pitchFamily="18" charset="0"/>
                <a:cs typeface="Times New Roman" pitchFamily="18" charset="0"/>
                <a:sym typeface="Symbol"/>
              </a:rPr>
              <a:t>Ci</a:t>
            </a:r>
            <a:r>
              <a:rPr lang="en-IN" dirty="0" smtClean="0">
                <a:latin typeface="Times New Roman" pitchFamily="18" charset="0"/>
                <a:cs typeface="Times New Roman" pitchFamily="18" charset="0"/>
                <a:sym typeface="Symbol"/>
              </a:rPr>
              <a:t> is activated by </a:t>
            </a:r>
            <a:r>
              <a:rPr lang="en-IN" dirty="0" err="1" smtClean="0">
                <a:latin typeface="Times New Roman" pitchFamily="18" charset="0"/>
                <a:cs typeface="Times New Roman" pitchFamily="18" charset="0"/>
                <a:sym typeface="Symbol"/>
              </a:rPr>
              <a:t>Ij</a:t>
            </a:r>
            <a:endParaRPr lang="en-IN" dirty="0" smtClean="0">
              <a:latin typeface="Times New Roman" pitchFamily="18" charset="0"/>
              <a:cs typeface="Times New Roman" pitchFamily="18" charset="0"/>
              <a:sym typeface="Symbol"/>
            </a:endParaRPr>
          </a:p>
          <a:p>
            <a:r>
              <a:rPr lang="en-IN" dirty="0" smtClean="0">
                <a:latin typeface="Times New Roman" pitchFamily="18" charset="0"/>
                <a:cs typeface="Times New Roman" pitchFamily="18" charset="0"/>
                <a:sym typeface="Symbol"/>
              </a:rPr>
              <a:t>Control signals C1 and C2 are compatible if </a:t>
            </a:r>
            <a:r>
              <a:rPr lang="en-IN" dirty="0" smtClean="0">
                <a:latin typeface="Times New Roman" pitchFamily="18" charset="0"/>
                <a:cs typeface="Times New Roman" pitchFamily="18" charset="0"/>
              </a:rPr>
              <a:t>C1 </a:t>
            </a:r>
            <a:r>
              <a:rPr lang="el-GR" dirty="0" smtClean="0">
                <a:latin typeface="Times New Roman" pitchFamily="18" charset="0"/>
                <a:cs typeface="Times New Roman" pitchFamily="18" charset="0"/>
              </a:rPr>
              <a:t>ϵ</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Ij</a:t>
            </a:r>
            <a:r>
              <a:rPr lang="en-IN" dirty="0" smtClean="0">
                <a:latin typeface="Times New Roman" pitchFamily="18" charset="0"/>
                <a:cs typeface="Times New Roman" pitchFamily="18" charset="0"/>
              </a:rPr>
              <a:t> but C2 </a:t>
            </a:r>
            <a:r>
              <a:rPr lang="el-GR" strike="sngStrike" dirty="0" smtClean="0">
                <a:latin typeface="Times New Roman" pitchFamily="18" charset="0"/>
                <a:cs typeface="Times New Roman" pitchFamily="18" charset="0"/>
              </a:rPr>
              <a:t>ϵ</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Ij</a:t>
            </a:r>
            <a:r>
              <a:rPr lang="en-IN" dirty="0" smtClean="0">
                <a:latin typeface="Times New Roman" pitchFamily="18" charset="0"/>
                <a:cs typeface="Times New Roman" pitchFamily="18" charset="0"/>
              </a:rPr>
              <a:t> and vice versa</a:t>
            </a:r>
          </a:p>
          <a:p>
            <a:r>
              <a:rPr lang="en-IN" u="sng" dirty="0" smtClean="0">
                <a:latin typeface="Times New Roman" pitchFamily="18" charset="0"/>
                <a:cs typeface="Times New Roman" pitchFamily="18" charset="0"/>
              </a:rPr>
              <a:t>Maximal compatibility class </a:t>
            </a:r>
            <a:r>
              <a:rPr lang="en-IN" dirty="0" smtClean="0">
                <a:latin typeface="Times New Roman" pitchFamily="18" charset="0"/>
                <a:cs typeface="Times New Roman" pitchFamily="18" charset="0"/>
              </a:rPr>
              <a:t>: Defined as compatibility classes to which no control signal can be added without introducing  a pair of incompatible control signals</a:t>
            </a:r>
          </a:p>
        </p:txBody>
      </p:sp>
      <p:graphicFrame>
        <p:nvGraphicFramePr>
          <p:cNvPr id="3" name="Table 2"/>
          <p:cNvGraphicFramePr>
            <a:graphicFrameLocks noGrp="1"/>
          </p:cNvGraphicFramePr>
          <p:nvPr/>
        </p:nvGraphicFramePr>
        <p:xfrm>
          <a:off x="190138" y="4481769"/>
          <a:ext cx="2892696" cy="2199640"/>
        </p:xfrm>
        <a:graphic>
          <a:graphicData uri="http://schemas.openxmlformats.org/drawingml/2006/table">
            <a:tbl>
              <a:tblPr firstRow="1" bandRow="1">
                <a:tableStyleId>{5C22544A-7EE6-4342-B048-85BDC9FD1C3A}</a:tableStyleId>
              </a:tblPr>
              <a:tblGrid>
                <a:gridCol w="1730102"/>
                <a:gridCol w="1162594"/>
              </a:tblGrid>
              <a:tr h="370840">
                <a:tc gridSpan="2">
                  <a:txBody>
                    <a:bodyPr/>
                    <a:lstStyle/>
                    <a:p>
                      <a:r>
                        <a:rPr lang="en-IN" dirty="0" smtClean="0">
                          <a:latin typeface="Times New Roman" pitchFamily="18" charset="0"/>
                          <a:cs typeface="Times New Roman" pitchFamily="18" charset="0"/>
                        </a:rPr>
                        <a:t>Example</a:t>
                      </a:r>
                      <a:endParaRPr lang="en-IN" dirty="0">
                        <a:latin typeface="Times New Roman" pitchFamily="18" charset="0"/>
                        <a:cs typeface="Times New Roman" pitchFamily="18" charset="0"/>
                      </a:endParaRPr>
                    </a:p>
                  </a:txBody>
                  <a:tcPr/>
                </a:tc>
                <a:tc hMerge="1">
                  <a:txBody>
                    <a:bodyPr/>
                    <a:lstStyle/>
                    <a:p>
                      <a:endParaRPr lang="en-IN" dirty="0"/>
                    </a:p>
                  </a:txBody>
                  <a:tcPr/>
                </a:tc>
              </a:tr>
              <a:tr h="370840">
                <a:tc>
                  <a:txBody>
                    <a:bodyPr/>
                    <a:lstStyle/>
                    <a:p>
                      <a:r>
                        <a:rPr lang="en-IN" dirty="0" smtClean="0">
                          <a:latin typeface="Times New Roman" pitchFamily="18" charset="0"/>
                          <a:cs typeface="Times New Roman" pitchFamily="18" charset="0"/>
                        </a:rPr>
                        <a:t>Microinstruction</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Control signals</a:t>
                      </a:r>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I1</a:t>
                      </a:r>
                    </a:p>
                    <a:p>
                      <a:r>
                        <a:rPr lang="en-IN" dirty="0" smtClean="0">
                          <a:latin typeface="Times New Roman" pitchFamily="18" charset="0"/>
                          <a:cs typeface="Times New Roman" pitchFamily="18" charset="0"/>
                        </a:rPr>
                        <a:t>I2</a:t>
                      </a:r>
                    </a:p>
                    <a:p>
                      <a:r>
                        <a:rPr lang="en-IN" dirty="0" smtClean="0">
                          <a:latin typeface="Times New Roman" pitchFamily="18" charset="0"/>
                          <a:cs typeface="Times New Roman" pitchFamily="18" charset="0"/>
                        </a:rPr>
                        <a:t>I3</a:t>
                      </a:r>
                    </a:p>
                    <a:p>
                      <a:r>
                        <a:rPr lang="en-IN" dirty="0" smtClean="0">
                          <a:latin typeface="Times New Roman" pitchFamily="18" charset="0"/>
                          <a:cs typeface="Times New Roman" pitchFamily="18" charset="0"/>
                        </a:rPr>
                        <a:t>I4</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a, b, c, g</a:t>
                      </a:r>
                    </a:p>
                    <a:p>
                      <a:r>
                        <a:rPr lang="en-IN" dirty="0" smtClean="0">
                          <a:latin typeface="Times New Roman" pitchFamily="18" charset="0"/>
                          <a:cs typeface="Times New Roman" pitchFamily="18" charset="0"/>
                        </a:rPr>
                        <a:t>a, c,</a:t>
                      </a:r>
                      <a:r>
                        <a:rPr lang="en-IN" baseline="0" dirty="0" smtClean="0">
                          <a:latin typeface="Times New Roman" pitchFamily="18" charset="0"/>
                          <a:cs typeface="Times New Roman" pitchFamily="18" charset="0"/>
                        </a:rPr>
                        <a:t> e, h</a:t>
                      </a:r>
                    </a:p>
                    <a:p>
                      <a:r>
                        <a:rPr lang="en-IN" baseline="0" dirty="0" smtClean="0">
                          <a:latin typeface="Times New Roman" pitchFamily="18" charset="0"/>
                          <a:cs typeface="Times New Roman" pitchFamily="18" charset="0"/>
                        </a:rPr>
                        <a:t>a, d, f</a:t>
                      </a:r>
                    </a:p>
                    <a:p>
                      <a:r>
                        <a:rPr lang="en-IN" baseline="0" dirty="0" smtClean="0">
                          <a:latin typeface="Times New Roman" pitchFamily="18" charset="0"/>
                          <a:cs typeface="Times New Roman" pitchFamily="18" charset="0"/>
                        </a:rPr>
                        <a:t>b, c, f</a:t>
                      </a:r>
                      <a:endParaRPr lang="en-IN" dirty="0">
                        <a:latin typeface="Times New Roman" pitchFamily="18" charset="0"/>
                        <a:cs typeface="Times New Roman" pitchFamily="18" charset="0"/>
                      </a:endParaRPr>
                    </a:p>
                  </a:txBody>
                  <a:tcPr/>
                </a:tc>
              </a:tr>
            </a:tbl>
          </a:graphicData>
        </a:graphic>
      </p:graphicFrame>
      <p:sp>
        <p:nvSpPr>
          <p:cNvPr id="4" name="TextBox 3"/>
          <p:cNvSpPr txBox="1"/>
          <p:nvPr/>
        </p:nvSpPr>
        <p:spPr>
          <a:xfrm>
            <a:off x="3226526" y="4036423"/>
            <a:ext cx="8804365" cy="2862322"/>
          </a:xfrm>
          <a:prstGeom prst="rect">
            <a:avLst/>
          </a:prstGeom>
          <a:noFill/>
        </p:spPr>
        <p:txBody>
          <a:bodyPr wrap="square" rtlCol="0">
            <a:spAutoFit/>
          </a:bodyPr>
          <a:lstStyle/>
          <a:p>
            <a:r>
              <a:rPr lang="en-IN" dirty="0" smtClean="0">
                <a:latin typeface="Times New Roman" pitchFamily="18" charset="0"/>
                <a:cs typeface="Times New Roman" pitchFamily="18" charset="0"/>
              </a:rPr>
              <a:t>Step-1: Determine the set of MCCs</a:t>
            </a:r>
          </a:p>
          <a:p>
            <a:r>
              <a:rPr lang="en-IN" dirty="0" smtClean="0">
                <a:latin typeface="Times New Roman" pitchFamily="18" charset="0"/>
                <a:cs typeface="Times New Roman" pitchFamily="18" charset="0"/>
              </a:rPr>
              <a:t>First determine all compatibility classes containing two control signals</a:t>
            </a:r>
          </a:p>
          <a:p>
            <a:r>
              <a:rPr lang="en-IN" dirty="0" smtClean="0">
                <a:latin typeface="Times New Roman" pitchFamily="18" charset="0"/>
                <a:cs typeface="Times New Roman" pitchFamily="18" charset="0"/>
              </a:rPr>
              <a:t>Second determine all compatibility classes containing three control signals</a:t>
            </a:r>
          </a:p>
          <a:p>
            <a:r>
              <a:rPr lang="en-IN" dirty="0" smtClean="0">
                <a:latin typeface="Times New Roman" pitchFamily="18" charset="0"/>
                <a:cs typeface="Times New Roman" pitchFamily="18" charset="0"/>
              </a:rPr>
              <a:t>Process terminates when no new compatibility classes can be formed  </a:t>
            </a:r>
          </a:p>
          <a:p>
            <a:r>
              <a:rPr lang="en-IN" dirty="0" smtClean="0">
                <a:latin typeface="Times New Roman" pitchFamily="18" charset="0"/>
                <a:cs typeface="Times New Roman" pitchFamily="18" charset="0"/>
              </a:rPr>
              <a:t>S1: a b c d e f g h</a:t>
            </a:r>
          </a:p>
          <a:p>
            <a:r>
              <a:rPr lang="en-IN" dirty="0" smtClean="0">
                <a:latin typeface="Times New Roman" pitchFamily="18" charset="0"/>
                <a:cs typeface="Times New Roman" pitchFamily="18" charset="0"/>
              </a:rPr>
              <a:t>S2: </a:t>
            </a:r>
            <a:r>
              <a:rPr lang="en-IN" dirty="0" err="1" smtClean="0">
                <a:latin typeface="Times New Roman" pitchFamily="18" charset="0"/>
                <a:cs typeface="Times New Roman" pitchFamily="18" charset="0"/>
              </a:rPr>
              <a:t>bd</a:t>
            </a:r>
            <a:r>
              <a:rPr lang="en-IN" dirty="0" smtClean="0">
                <a:latin typeface="Times New Roman" pitchFamily="18" charset="0"/>
                <a:cs typeface="Times New Roman" pitchFamily="18" charset="0"/>
              </a:rPr>
              <a:t> be </a:t>
            </a:r>
            <a:r>
              <a:rPr lang="en-IN" dirty="0" err="1" smtClean="0">
                <a:latin typeface="Times New Roman" pitchFamily="18" charset="0"/>
                <a:cs typeface="Times New Roman" pitchFamily="18" charset="0"/>
              </a:rPr>
              <a:t>bh</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cd</a:t>
            </a:r>
            <a:r>
              <a:rPr lang="en-IN" dirty="0" smtClean="0">
                <a:latin typeface="Times New Roman" pitchFamily="18" charset="0"/>
                <a:cs typeface="Times New Roman" pitchFamily="18" charset="0"/>
              </a:rPr>
              <a:t> de dg dh </a:t>
            </a:r>
            <a:r>
              <a:rPr lang="en-IN" dirty="0" err="1" smtClean="0">
                <a:latin typeface="Times New Roman" pitchFamily="18" charset="0"/>
                <a:cs typeface="Times New Roman" pitchFamily="18" charset="0"/>
              </a:rPr>
              <a:t>ef</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eg</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fg</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fh</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gh</a:t>
            </a:r>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S3: </a:t>
            </a:r>
            <a:r>
              <a:rPr lang="en-IN" dirty="0" err="1" smtClean="0">
                <a:latin typeface="Times New Roman" pitchFamily="18" charset="0"/>
                <a:cs typeface="Times New Roman" pitchFamily="18" charset="0"/>
              </a:rPr>
              <a:t>bde</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bdh</a:t>
            </a:r>
            <a:r>
              <a:rPr lang="en-IN" dirty="0" smtClean="0">
                <a:latin typeface="Times New Roman" pitchFamily="18" charset="0"/>
                <a:cs typeface="Times New Roman" pitchFamily="18" charset="0"/>
              </a:rPr>
              <a:t> deg </a:t>
            </a:r>
            <a:r>
              <a:rPr lang="en-IN" dirty="0" err="1" smtClean="0">
                <a:latin typeface="Times New Roman" pitchFamily="18" charset="0"/>
                <a:cs typeface="Times New Roman" pitchFamily="18" charset="0"/>
              </a:rPr>
              <a:t>dgh</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efg</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fgh</a:t>
            </a:r>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Rule for forming Si+1 from Si: </a:t>
            </a:r>
          </a:p>
          <a:p>
            <a:r>
              <a:rPr lang="en-IN" dirty="0" smtClean="0">
                <a:latin typeface="Times New Roman" pitchFamily="18" charset="0"/>
                <a:cs typeface="Times New Roman" pitchFamily="18" charset="0"/>
              </a:rPr>
              <a:t>Add a new control signal to a, say {</a:t>
            </a:r>
            <a:r>
              <a:rPr lang="en-IN" dirty="0" err="1" smtClean="0">
                <a:latin typeface="Times New Roman" pitchFamily="18" charset="0"/>
                <a:cs typeface="Times New Roman" pitchFamily="18" charset="0"/>
              </a:rPr>
              <a:t>a,b</a:t>
            </a:r>
            <a:r>
              <a:rPr lang="en-IN" dirty="0" smtClean="0">
                <a:latin typeface="Times New Roman" pitchFamily="18" charset="0"/>
                <a:cs typeface="Times New Roman" pitchFamily="18" charset="0"/>
              </a:rPr>
              <a:t>}</a:t>
            </a:r>
          </a:p>
          <a:p>
            <a:r>
              <a:rPr lang="en-IN" dirty="0" smtClean="0">
                <a:latin typeface="Times New Roman" pitchFamily="18" charset="0"/>
                <a:cs typeface="Times New Roman" pitchFamily="18" charset="0"/>
              </a:rPr>
              <a:t>Pair {</a:t>
            </a:r>
            <a:r>
              <a:rPr lang="en-IN" dirty="0" err="1" smtClean="0">
                <a:latin typeface="Times New Roman" pitchFamily="18" charset="0"/>
                <a:cs typeface="Times New Roman" pitchFamily="18" charset="0"/>
              </a:rPr>
              <a:t>a,b</a:t>
            </a:r>
            <a:r>
              <a:rPr lang="en-IN" dirty="0" smtClean="0">
                <a:latin typeface="Times New Roman" pitchFamily="18" charset="0"/>
                <a:cs typeface="Times New Roman" pitchFamily="18" charset="0"/>
              </a:rPr>
              <a:t>} is not compatible so check for {</a:t>
            </a:r>
            <a:r>
              <a:rPr lang="en-IN" dirty="0" err="1" smtClean="0">
                <a:latin typeface="Times New Roman" pitchFamily="18" charset="0"/>
                <a:cs typeface="Times New Roman" pitchFamily="18" charset="0"/>
              </a:rPr>
              <a:t>a,c</a:t>
            </a:r>
            <a:r>
              <a:rPr lang="en-IN" dirty="0" smtClean="0">
                <a:latin typeface="Times New Roman" pitchFamily="18" charset="0"/>
                <a:cs typeface="Times New Roman" pitchFamily="18" charset="0"/>
              </a:rPr>
              <a:t>} and so on</a:t>
            </a:r>
            <a:endParaRPr lang="en-IN"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6754" y="169817"/>
            <a:ext cx="11821886" cy="1200329"/>
          </a:xfrm>
          <a:prstGeom prst="rect">
            <a:avLst/>
          </a:prstGeom>
          <a:noFill/>
        </p:spPr>
        <p:txBody>
          <a:bodyPr wrap="square" rtlCol="0">
            <a:spAutoFit/>
          </a:bodyPr>
          <a:lstStyle/>
          <a:p>
            <a:r>
              <a:rPr lang="en-IN" dirty="0" smtClean="0">
                <a:latin typeface="Times New Roman" pitchFamily="18" charset="0"/>
                <a:cs typeface="Times New Roman" pitchFamily="18" charset="0"/>
              </a:rPr>
              <a:t>Step-2: Determination of all minimal set of MCCs that include each control signal. Each of these sets is called minimal MCC cover</a:t>
            </a:r>
          </a:p>
          <a:p>
            <a:r>
              <a:rPr lang="en-IN" dirty="0" smtClean="0">
                <a:latin typeface="Times New Roman" pitchFamily="18" charset="0"/>
                <a:cs typeface="Times New Roman" pitchFamily="18" charset="0"/>
              </a:rPr>
              <a:t>Uses cover table that contains a row for each MCC (</a:t>
            </a:r>
            <a:r>
              <a:rPr lang="en-IN" dirty="0" err="1" smtClean="0">
                <a:latin typeface="Times New Roman" pitchFamily="18" charset="0"/>
                <a:cs typeface="Times New Roman" pitchFamily="18" charset="0"/>
              </a:rPr>
              <a:t>Ci</a:t>
            </a:r>
            <a:r>
              <a:rPr lang="en-IN" dirty="0" smtClean="0">
                <a:latin typeface="Times New Roman" pitchFamily="18" charset="0"/>
                <a:cs typeface="Times New Roman" pitchFamily="18" charset="0"/>
              </a:rPr>
              <a:t>) and column for each control signal (</a:t>
            </a:r>
            <a:r>
              <a:rPr lang="en-IN" dirty="0" err="1" smtClean="0">
                <a:latin typeface="Times New Roman" pitchFamily="18" charset="0"/>
                <a:cs typeface="Times New Roman" pitchFamily="18" charset="0"/>
              </a:rPr>
              <a:t>Cj</a:t>
            </a:r>
            <a:r>
              <a:rPr lang="en-IN" dirty="0" smtClean="0">
                <a:latin typeface="Times New Roman" pitchFamily="18" charset="0"/>
                <a:cs typeface="Times New Roman" pitchFamily="18" charset="0"/>
              </a:rPr>
              <a:t>)</a:t>
            </a:r>
          </a:p>
          <a:p>
            <a:r>
              <a:rPr lang="en-IN" dirty="0" smtClean="0">
                <a:latin typeface="Times New Roman" pitchFamily="18" charset="0"/>
                <a:cs typeface="Times New Roman" pitchFamily="18" charset="0"/>
              </a:rPr>
              <a:t>X is placed at the intersection of row </a:t>
            </a:r>
            <a:r>
              <a:rPr lang="en-IN" dirty="0" err="1" smtClean="0">
                <a:latin typeface="Times New Roman" pitchFamily="18" charset="0"/>
                <a:cs typeface="Times New Roman" pitchFamily="18" charset="0"/>
              </a:rPr>
              <a:t>Ci</a:t>
            </a:r>
            <a:r>
              <a:rPr lang="en-IN" dirty="0" smtClean="0">
                <a:latin typeface="Times New Roman" pitchFamily="18" charset="0"/>
                <a:cs typeface="Times New Roman" pitchFamily="18" charset="0"/>
              </a:rPr>
              <a:t> and column </a:t>
            </a:r>
            <a:r>
              <a:rPr lang="en-IN" dirty="0" err="1" smtClean="0">
                <a:latin typeface="Times New Roman" pitchFamily="18" charset="0"/>
                <a:cs typeface="Times New Roman" pitchFamily="18" charset="0"/>
              </a:rPr>
              <a:t>Cj</a:t>
            </a:r>
            <a:r>
              <a:rPr lang="en-IN" dirty="0" smtClean="0">
                <a:latin typeface="Times New Roman" pitchFamily="18" charset="0"/>
                <a:cs typeface="Times New Roman" pitchFamily="18" charset="0"/>
              </a:rPr>
              <a:t> if </a:t>
            </a:r>
            <a:r>
              <a:rPr lang="en-IN" dirty="0" err="1" smtClean="0">
                <a:latin typeface="Times New Roman" pitchFamily="18" charset="0"/>
                <a:cs typeface="Times New Roman" pitchFamily="18" charset="0"/>
              </a:rPr>
              <a:t>Cj</a:t>
            </a:r>
            <a:r>
              <a:rPr lang="en-IN" dirty="0" smtClean="0">
                <a:latin typeface="Times New Roman" pitchFamily="18" charset="0"/>
                <a:cs typeface="Times New Roman" pitchFamily="18" charset="0"/>
              </a:rPr>
              <a:t> </a:t>
            </a:r>
            <a:r>
              <a:rPr lang="el-GR" dirty="0" smtClean="0">
                <a:latin typeface="Times New Roman" pitchFamily="18" charset="0"/>
                <a:cs typeface="Times New Roman" pitchFamily="18" charset="0"/>
              </a:rPr>
              <a:t>ϵ</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Ci</a:t>
            </a:r>
            <a:r>
              <a:rPr lang="en-IN" dirty="0" smtClean="0">
                <a:latin typeface="Times New Roman" pitchFamily="18" charset="0"/>
                <a:cs typeface="Times New Roman" pitchFamily="18" charset="0"/>
              </a:rPr>
              <a:t> i.e. </a:t>
            </a:r>
            <a:r>
              <a:rPr lang="en-IN" dirty="0" err="1" smtClean="0">
                <a:latin typeface="Times New Roman" pitchFamily="18" charset="0"/>
                <a:cs typeface="Times New Roman" pitchFamily="18" charset="0"/>
              </a:rPr>
              <a:t>Ci</a:t>
            </a:r>
            <a:r>
              <a:rPr lang="en-IN" dirty="0" smtClean="0">
                <a:latin typeface="Times New Roman" pitchFamily="18" charset="0"/>
                <a:cs typeface="Times New Roman" pitchFamily="18" charset="0"/>
              </a:rPr>
              <a:t> covers </a:t>
            </a:r>
            <a:r>
              <a:rPr lang="en-IN" dirty="0" err="1" smtClean="0">
                <a:latin typeface="Times New Roman" pitchFamily="18" charset="0"/>
                <a:cs typeface="Times New Roman" pitchFamily="18" charset="0"/>
              </a:rPr>
              <a:t>Cj</a:t>
            </a:r>
            <a:r>
              <a:rPr lang="en-IN" dirty="0" smtClean="0">
                <a:latin typeface="Times New Roman" pitchFamily="18" charset="0"/>
                <a:cs typeface="Times New Roman" pitchFamily="18" charset="0"/>
              </a:rPr>
              <a:t>. </a:t>
            </a:r>
            <a:endParaRPr lang="en-IN" dirty="0">
              <a:latin typeface="Times New Roman" pitchFamily="18" charset="0"/>
              <a:cs typeface="Times New Roman" pitchFamily="18" charset="0"/>
            </a:endParaRPr>
          </a:p>
        </p:txBody>
      </p:sp>
      <p:graphicFrame>
        <p:nvGraphicFramePr>
          <p:cNvPr id="3" name="Table 2"/>
          <p:cNvGraphicFramePr>
            <a:graphicFrameLocks noGrp="1"/>
          </p:cNvGraphicFramePr>
          <p:nvPr/>
        </p:nvGraphicFramePr>
        <p:xfrm>
          <a:off x="177074" y="1751631"/>
          <a:ext cx="4538616" cy="3337560"/>
        </p:xfrm>
        <a:graphic>
          <a:graphicData uri="http://schemas.openxmlformats.org/drawingml/2006/table">
            <a:tbl>
              <a:tblPr firstRow="1" bandRow="1">
                <a:tableStyleId>{5C22544A-7EE6-4342-B048-85BDC9FD1C3A}</a:tableStyleId>
              </a:tblPr>
              <a:tblGrid>
                <a:gridCol w="998583"/>
                <a:gridCol w="418012"/>
                <a:gridCol w="404948"/>
                <a:gridCol w="483326"/>
                <a:gridCol w="457200"/>
                <a:gridCol w="391886"/>
                <a:gridCol w="444137"/>
                <a:gridCol w="444137"/>
                <a:gridCol w="496387"/>
              </a:tblGrid>
              <a:tr h="370840">
                <a:tc>
                  <a:txBody>
                    <a:bodyPr/>
                    <a:lstStyle/>
                    <a:p>
                      <a:endParaRPr lang="en-IN" dirty="0">
                        <a:latin typeface="Times New Roman" pitchFamily="18" charset="0"/>
                        <a:cs typeface="Times New Roman" pitchFamily="18" charset="0"/>
                      </a:endParaRPr>
                    </a:p>
                  </a:txBody>
                  <a:tcPr>
                    <a:noFill/>
                  </a:tcPr>
                </a:tc>
                <a:tc>
                  <a:txBody>
                    <a:bodyPr/>
                    <a:lstStyle/>
                    <a:p>
                      <a:r>
                        <a:rPr lang="en-IN" dirty="0" smtClean="0">
                          <a:latin typeface="Times New Roman" pitchFamily="18" charset="0"/>
                          <a:cs typeface="Times New Roman" pitchFamily="18" charset="0"/>
                        </a:rPr>
                        <a:t>a</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b</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c</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d</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e</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f</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g</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h</a:t>
                      </a:r>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C1 = a</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X</a:t>
                      </a:r>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C2=</a:t>
                      </a:r>
                      <a:r>
                        <a:rPr lang="en-IN" dirty="0" err="1" smtClean="0">
                          <a:latin typeface="Times New Roman" pitchFamily="18" charset="0"/>
                          <a:cs typeface="Times New Roman" pitchFamily="18" charset="0"/>
                        </a:rPr>
                        <a:t>cd</a:t>
                      </a:r>
                      <a:endParaRPr lang="en-IN" dirty="0">
                        <a:latin typeface="Times New Roman" pitchFamily="18" charset="0"/>
                        <a:cs typeface="Times New Roman" pitchFamily="18" charset="0"/>
                      </a:endParaRPr>
                    </a:p>
                  </a:txBody>
                  <a:tcPr/>
                </a:tc>
                <a:tc>
                  <a:txBody>
                    <a:bodyPr/>
                    <a:lstStyle/>
                    <a:p>
                      <a:endParaRPr lang="en-IN" dirty="0">
                        <a:latin typeface="Times New Roman" pitchFamily="18" charset="0"/>
                        <a:cs typeface="Times New Roman" pitchFamily="18" charset="0"/>
                      </a:endParaRPr>
                    </a:p>
                  </a:txBody>
                  <a:tcPr/>
                </a:tc>
                <a:tc>
                  <a:txBody>
                    <a:bodyPr/>
                    <a:lstStyle/>
                    <a:p>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X</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X</a:t>
                      </a:r>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C3=</a:t>
                      </a:r>
                      <a:r>
                        <a:rPr lang="en-IN" dirty="0" err="1" smtClean="0">
                          <a:latin typeface="Times New Roman" pitchFamily="18" charset="0"/>
                          <a:cs typeface="Times New Roman" pitchFamily="18" charset="0"/>
                        </a:rPr>
                        <a:t>bde</a:t>
                      </a:r>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X</a:t>
                      </a:r>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X</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X</a:t>
                      </a:r>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C4=</a:t>
                      </a:r>
                      <a:r>
                        <a:rPr lang="en-IN" dirty="0" err="1" smtClean="0">
                          <a:latin typeface="Times New Roman" pitchFamily="18" charset="0"/>
                          <a:cs typeface="Times New Roman" pitchFamily="18" charset="0"/>
                        </a:rPr>
                        <a:t>bdh</a:t>
                      </a:r>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X</a:t>
                      </a:r>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X</a:t>
                      </a:r>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X</a:t>
                      </a:r>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C5=deg</a:t>
                      </a:r>
                      <a:endParaRPr lang="en-IN" dirty="0">
                        <a:latin typeface="Times New Roman" pitchFamily="18" charset="0"/>
                        <a:cs typeface="Times New Roman" pitchFamily="18" charset="0"/>
                      </a:endParaRPr>
                    </a:p>
                  </a:txBody>
                  <a:tcPr/>
                </a:tc>
                <a:tc>
                  <a:txBody>
                    <a:bodyPr/>
                    <a:lstStyle/>
                    <a:p>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X</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X</a:t>
                      </a:r>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X</a:t>
                      </a:r>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C6=</a:t>
                      </a:r>
                      <a:r>
                        <a:rPr lang="en-IN" dirty="0" err="1" smtClean="0">
                          <a:latin typeface="Times New Roman" pitchFamily="18" charset="0"/>
                          <a:cs typeface="Times New Roman" pitchFamily="18" charset="0"/>
                        </a:rPr>
                        <a:t>dgh</a:t>
                      </a:r>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X</a:t>
                      </a:r>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X</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X</a:t>
                      </a:r>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C7=</a:t>
                      </a:r>
                      <a:r>
                        <a:rPr lang="en-IN" dirty="0" err="1" smtClean="0">
                          <a:latin typeface="Times New Roman" pitchFamily="18" charset="0"/>
                          <a:cs typeface="Times New Roman" pitchFamily="18" charset="0"/>
                        </a:rPr>
                        <a:t>efg</a:t>
                      </a:r>
                      <a:endParaRPr lang="en-IN" dirty="0">
                        <a:latin typeface="Times New Roman" pitchFamily="18" charset="0"/>
                        <a:cs typeface="Times New Roman" pitchFamily="18" charset="0"/>
                      </a:endParaRPr>
                    </a:p>
                  </a:txBody>
                  <a:tcPr/>
                </a:tc>
                <a:tc>
                  <a:txBody>
                    <a:bodyPr/>
                    <a:lstStyle/>
                    <a:p>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X</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X</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X</a:t>
                      </a:r>
                      <a:endParaRPr lang="en-IN" dirty="0">
                        <a:latin typeface="Times New Roman" pitchFamily="18" charset="0"/>
                        <a:cs typeface="Times New Roman" pitchFamily="18" charset="0"/>
                      </a:endParaRPr>
                    </a:p>
                  </a:txBody>
                  <a:tcPr/>
                </a:tc>
                <a:tc>
                  <a:txBody>
                    <a:bodyPr/>
                    <a:lstStyle/>
                    <a:p>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C8=</a:t>
                      </a:r>
                      <a:r>
                        <a:rPr lang="en-IN" dirty="0" err="1" smtClean="0">
                          <a:latin typeface="Times New Roman" pitchFamily="18" charset="0"/>
                          <a:cs typeface="Times New Roman" pitchFamily="18" charset="0"/>
                        </a:rPr>
                        <a:t>fgh</a:t>
                      </a:r>
                      <a:endParaRPr lang="en-IN" dirty="0">
                        <a:latin typeface="Times New Roman" pitchFamily="18" charset="0"/>
                        <a:cs typeface="Times New Roman" pitchFamily="18" charset="0"/>
                      </a:endParaRPr>
                    </a:p>
                  </a:txBody>
                  <a:tcPr/>
                </a:tc>
                <a:tc>
                  <a:txBody>
                    <a:bodyPr/>
                    <a:lstStyle/>
                    <a:p>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X</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X</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X</a:t>
                      </a:r>
                      <a:endParaRPr lang="en-IN" dirty="0">
                        <a:latin typeface="Times New Roman" pitchFamily="18" charset="0"/>
                        <a:cs typeface="Times New Roman" pitchFamily="18" charset="0"/>
                      </a:endParaRPr>
                    </a:p>
                  </a:txBody>
                  <a:tcPr/>
                </a:tc>
              </a:tr>
            </a:tbl>
          </a:graphicData>
        </a:graphic>
      </p:graphicFrame>
      <p:cxnSp>
        <p:nvCxnSpPr>
          <p:cNvPr id="5" name="Straight Connector 4"/>
          <p:cNvCxnSpPr/>
          <p:nvPr/>
        </p:nvCxnSpPr>
        <p:spPr>
          <a:xfrm>
            <a:off x="182880" y="1737360"/>
            <a:ext cx="966651" cy="378823"/>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0" y="1854927"/>
            <a:ext cx="718457" cy="276999"/>
          </a:xfrm>
          <a:prstGeom prst="rect">
            <a:avLst/>
          </a:prstGeom>
          <a:noFill/>
        </p:spPr>
        <p:txBody>
          <a:bodyPr wrap="square" rtlCol="0">
            <a:spAutoFit/>
          </a:bodyPr>
          <a:lstStyle/>
          <a:p>
            <a:r>
              <a:rPr lang="en-IN" sz="1200" dirty="0" smtClean="0">
                <a:latin typeface="Times New Roman" pitchFamily="18" charset="0"/>
                <a:cs typeface="Times New Roman" pitchFamily="18" charset="0"/>
              </a:rPr>
              <a:t>MCC </a:t>
            </a:r>
            <a:r>
              <a:rPr lang="en-IN" sz="1200" dirty="0" err="1" smtClean="0">
                <a:latin typeface="Times New Roman" pitchFamily="18" charset="0"/>
                <a:cs typeface="Times New Roman" pitchFamily="18" charset="0"/>
              </a:rPr>
              <a:t>Ci</a:t>
            </a:r>
            <a:r>
              <a:rPr lang="en-IN" sz="1200" dirty="0" smtClean="0">
                <a:latin typeface="Times New Roman" pitchFamily="18" charset="0"/>
                <a:cs typeface="Times New Roman" pitchFamily="18" charset="0"/>
              </a:rPr>
              <a:t> </a:t>
            </a:r>
            <a:endParaRPr lang="en-IN" sz="1200" dirty="0">
              <a:latin typeface="Times New Roman" pitchFamily="18" charset="0"/>
              <a:cs typeface="Times New Roman" pitchFamily="18" charset="0"/>
            </a:endParaRPr>
          </a:p>
        </p:txBody>
      </p:sp>
      <p:sp>
        <p:nvSpPr>
          <p:cNvPr id="7" name="TextBox 6"/>
          <p:cNvSpPr txBox="1"/>
          <p:nvPr/>
        </p:nvSpPr>
        <p:spPr>
          <a:xfrm>
            <a:off x="374469" y="1419500"/>
            <a:ext cx="801188" cy="461665"/>
          </a:xfrm>
          <a:prstGeom prst="rect">
            <a:avLst/>
          </a:prstGeom>
          <a:noFill/>
        </p:spPr>
        <p:txBody>
          <a:bodyPr wrap="square" rtlCol="0">
            <a:spAutoFit/>
          </a:bodyPr>
          <a:lstStyle/>
          <a:p>
            <a:r>
              <a:rPr lang="en-IN" sz="1200" dirty="0" smtClean="0">
                <a:latin typeface="Times New Roman" pitchFamily="18" charset="0"/>
                <a:cs typeface="Times New Roman" pitchFamily="18" charset="0"/>
              </a:rPr>
              <a:t>Control </a:t>
            </a:r>
          </a:p>
          <a:p>
            <a:r>
              <a:rPr lang="en-IN" sz="1200" dirty="0" smtClean="0">
                <a:latin typeface="Times New Roman" pitchFamily="18" charset="0"/>
                <a:cs typeface="Times New Roman" pitchFamily="18" charset="0"/>
              </a:rPr>
              <a:t>Signal </a:t>
            </a:r>
            <a:r>
              <a:rPr lang="en-IN" sz="1200" dirty="0" err="1" smtClean="0">
                <a:latin typeface="Times New Roman" pitchFamily="18" charset="0"/>
                <a:cs typeface="Times New Roman" pitchFamily="18" charset="0"/>
              </a:rPr>
              <a:t>Cj</a:t>
            </a:r>
            <a:r>
              <a:rPr lang="en-IN" sz="1200" dirty="0" smtClean="0">
                <a:latin typeface="Times New Roman" pitchFamily="18" charset="0"/>
                <a:cs typeface="Times New Roman" pitchFamily="18" charset="0"/>
              </a:rPr>
              <a:t> </a:t>
            </a:r>
            <a:endParaRPr lang="en-IN" sz="1200" dirty="0">
              <a:latin typeface="Times New Roman" pitchFamily="18" charset="0"/>
              <a:cs typeface="Times New Roman" pitchFamily="18" charset="0"/>
            </a:endParaRPr>
          </a:p>
        </p:txBody>
      </p:sp>
      <p:sp>
        <p:nvSpPr>
          <p:cNvPr id="9" name="TextBox 8"/>
          <p:cNvSpPr txBox="1"/>
          <p:nvPr/>
        </p:nvSpPr>
        <p:spPr>
          <a:xfrm>
            <a:off x="4859382" y="1645920"/>
            <a:ext cx="7093132" cy="4247317"/>
          </a:xfrm>
          <a:prstGeom prst="rect">
            <a:avLst/>
          </a:prstGeom>
          <a:noFill/>
        </p:spPr>
        <p:txBody>
          <a:bodyPr wrap="square" rtlCol="0">
            <a:spAutoFit/>
          </a:bodyPr>
          <a:lstStyle/>
          <a:p>
            <a:r>
              <a:rPr lang="en-IN" dirty="0" smtClean="0">
                <a:latin typeface="Times New Roman" pitchFamily="18" charset="0"/>
                <a:cs typeface="Times New Roman" pitchFamily="18" charset="0"/>
              </a:rPr>
              <a:t>Certain rows and columns can be deleted from the cover table to simplify determination of the minimal MCC covers</a:t>
            </a:r>
          </a:p>
          <a:p>
            <a:r>
              <a:rPr lang="en-IN" dirty="0" smtClean="0">
                <a:latin typeface="Times New Roman" pitchFamily="18" charset="0"/>
                <a:cs typeface="Times New Roman" pitchFamily="18" charset="0"/>
                <a:sym typeface="Symbol"/>
              </a:rPr>
              <a:t>1. </a:t>
            </a:r>
            <a:r>
              <a:rPr lang="en-IN" dirty="0" smtClean="0">
                <a:latin typeface="Times New Roman" pitchFamily="18" charset="0"/>
                <a:cs typeface="Times New Roman" pitchFamily="18" charset="0"/>
              </a:rPr>
              <a:t>Column </a:t>
            </a:r>
            <a:r>
              <a:rPr lang="en-IN" dirty="0" err="1" smtClean="0">
                <a:latin typeface="Times New Roman" pitchFamily="18" charset="0"/>
                <a:cs typeface="Times New Roman" pitchFamily="18" charset="0"/>
              </a:rPr>
              <a:t>Cj</a:t>
            </a:r>
            <a:r>
              <a:rPr lang="en-IN" dirty="0" smtClean="0">
                <a:latin typeface="Times New Roman" pitchFamily="18" charset="0"/>
                <a:cs typeface="Times New Roman" pitchFamily="18" charset="0"/>
              </a:rPr>
              <a:t> contains only one X, which occurs in row </a:t>
            </a:r>
            <a:r>
              <a:rPr lang="en-IN" dirty="0" err="1" smtClean="0">
                <a:latin typeface="Times New Roman" pitchFamily="18" charset="0"/>
                <a:cs typeface="Times New Roman" pitchFamily="18" charset="0"/>
              </a:rPr>
              <a:t>Ci</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Ci</a:t>
            </a:r>
            <a:r>
              <a:rPr lang="en-IN" dirty="0" smtClean="0">
                <a:latin typeface="Times New Roman" pitchFamily="18" charset="0"/>
                <a:cs typeface="Times New Roman" pitchFamily="18" charset="0"/>
              </a:rPr>
              <a:t> is said to be an essential MCC and must appear in every minimal MCC cover, since it only covers </a:t>
            </a:r>
            <a:r>
              <a:rPr lang="en-IN" dirty="0" err="1" smtClean="0">
                <a:latin typeface="Times New Roman" pitchFamily="18" charset="0"/>
                <a:cs typeface="Times New Roman" pitchFamily="18" charset="0"/>
              </a:rPr>
              <a:t>Cj</a:t>
            </a:r>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Example: Column a and column  c contain only one X. So C1 and C2 are two essential MCC and must appear in every minimal MCC cover since C1 is only MCC that covers the control signal a and C2 is only MCC that covers the control signal c</a:t>
            </a:r>
          </a:p>
          <a:p>
            <a:r>
              <a:rPr lang="en-IN" dirty="0" smtClean="0">
                <a:latin typeface="Times New Roman" pitchFamily="18" charset="0"/>
                <a:cs typeface="Times New Roman" pitchFamily="18" charset="0"/>
              </a:rPr>
              <a:t>2. All rows corresponding  to essential MCCs can be deleted from the cover table and all columns with X in essential rows can be deleted</a:t>
            </a:r>
          </a:p>
          <a:p>
            <a:r>
              <a:rPr lang="en-IN" dirty="0" smtClean="0">
                <a:latin typeface="Times New Roman" pitchFamily="18" charset="0"/>
                <a:cs typeface="Times New Roman" pitchFamily="18" charset="0"/>
              </a:rPr>
              <a:t>Hence deletes row C1, C2 and columns a, c, d.</a:t>
            </a:r>
          </a:p>
          <a:p>
            <a:r>
              <a:rPr lang="en-IN" dirty="0" smtClean="0">
                <a:latin typeface="Times New Roman" pitchFamily="18" charset="0"/>
                <a:cs typeface="Times New Roman" pitchFamily="18" charset="0"/>
                <a:sym typeface="Symbol"/>
              </a:rPr>
              <a:t>3. If the cover table contains two identical columns then all but one of these columns can be deleted.</a:t>
            </a:r>
          </a:p>
          <a:p>
            <a:r>
              <a:rPr lang="en-IN" dirty="0" smtClean="0">
                <a:latin typeface="Times New Roman" pitchFamily="18" charset="0"/>
                <a:cs typeface="Times New Roman" pitchFamily="18" charset="0"/>
                <a:sym typeface="Symbol"/>
              </a:rPr>
              <a:t>Example: there is no identical columns</a:t>
            </a:r>
            <a:endParaRPr lang="en-IN"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2878" y="195943"/>
            <a:ext cx="11795761" cy="2308324"/>
          </a:xfrm>
          <a:prstGeom prst="rect">
            <a:avLst/>
          </a:prstGeom>
          <a:noFill/>
        </p:spPr>
        <p:txBody>
          <a:bodyPr wrap="square" rtlCol="0">
            <a:spAutoFit/>
          </a:bodyPr>
          <a:lstStyle/>
          <a:p>
            <a:r>
              <a:rPr lang="en-IN" dirty="0" smtClean="0">
                <a:latin typeface="Times New Roman" pitchFamily="18" charset="0"/>
                <a:cs typeface="Times New Roman" pitchFamily="18" charset="0"/>
                <a:sym typeface="Symbol"/>
              </a:rPr>
              <a:t>4. Column </a:t>
            </a:r>
            <a:r>
              <a:rPr lang="en-IN" dirty="0" err="1" smtClean="0">
                <a:latin typeface="Times New Roman" pitchFamily="18" charset="0"/>
                <a:cs typeface="Times New Roman" pitchFamily="18" charset="0"/>
                <a:sym typeface="Symbol"/>
              </a:rPr>
              <a:t>Ci</a:t>
            </a:r>
            <a:r>
              <a:rPr lang="en-IN" dirty="0" smtClean="0">
                <a:latin typeface="Times New Roman" pitchFamily="18" charset="0"/>
                <a:cs typeface="Times New Roman" pitchFamily="18" charset="0"/>
                <a:sym typeface="Symbol"/>
              </a:rPr>
              <a:t> is said to dominate column </a:t>
            </a:r>
            <a:r>
              <a:rPr lang="en-IN" dirty="0" err="1" smtClean="0">
                <a:latin typeface="Times New Roman" pitchFamily="18" charset="0"/>
                <a:cs typeface="Times New Roman" pitchFamily="18" charset="0"/>
                <a:sym typeface="Symbol"/>
              </a:rPr>
              <a:t>Cj</a:t>
            </a:r>
            <a:r>
              <a:rPr lang="en-IN" dirty="0" smtClean="0">
                <a:latin typeface="Times New Roman" pitchFamily="18" charset="0"/>
                <a:cs typeface="Times New Roman" pitchFamily="18" charset="0"/>
                <a:sym typeface="Symbol"/>
              </a:rPr>
              <a:t> if </a:t>
            </a:r>
            <a:r>
              <a:rPr lang="en-IN" dirty="0" err="1" smtClean="0">
                <a:latin typeface="Times New Roman" pitchFamily="18" charset="0"/>
                <a:cs typeface="Times New Roman" pitchFamily="18" charset="0"/>
                <a:sym typeface="Symbol"/>
              </a:rPr>
              <a:t>Ci</a:t>
            </a:r>
            <a:r>
              <a:rPr lang="en-IN" dirty="0" smtClean="0">
                <a:latin typeface="Times New Roman" pitchFamily="18" charset="0"/>
                <a:cs typeface="Times New Roman" pitchFamily="18" charset="0"/>
                <a:sym typeface="Symbol"/>
              </a:rPr>
              <a:t> contains an X in every row where </a:t>
            </a:r>
            <a:r>
              <a:rPr lang="en-IN" dirty="0" err="1" smtClean="0">
                <a:latin typeface="Times New Roman" pitchFamily="18" charset="0"/>
                <a:cs typeface="Times New Roman" pitchFamily="18" charset="0"/>
                <a:sym typeface="Symbol"/>
              </a:rPr>
              <a:t>Cj</a:t>
            </a:r>
            <a:r>
              <a:rPr lang="en-IN" dirty="0" smtClean="0">
                <a:latin typeface="Times New Roman" pitchFamily="18" charset="0"/>
                <a:cs typeface="Times New Roman" pitchFamily="18" charset="0"/>
                <a:sym typeface="Symbol"/>
              </a:rPr>
              <a:t> contains an X and </a:t>
            </a:r>
            <a:r>
              <a:rPr lang="en-IN" dirty="0" err="1" smtClean="0">
                <a:latin typeface="Times New Roman" pitchFamily="18" charset="0"/>
                <a:cs typeface="Times New Roman" pitchFamily="18" charset="0"/>
                <a:sym typeface="Symbol"/>
              </a:rPr>
              <a:t>Ci</a:t>
            </a:r>
            <a:r>
              <a:rPr lang="en-IN" dirty="0" smtClean="0">
                <a:latin typeface="Times New Roman" pitchFamily="18" charset="0"/>
                <a:cs typeface="Times New Roman" pitchFamily="18" charset="0"/>
                <a:sym typeface="Symbol"/>
              </a:rPr>
              <a:t> contains more X than </a:t>
            </a:r>
            <a:r>
              <a:rPr lang="en-IN" dirty="0" err="1" smtClean="0">
                <a:latin typeface="Times New Roman" pitchFamily="18" charset="0"/>
                <a:cs typeface="Times New Roman" pitchFamily="18" charset="0"/>
                <a:sym typeface="Symbol"/>
              </a:rPr>
              <a:t>Cj</a:t>
            </a:r>
            <a:endParaRPr lang="en-IN" dirty="0" smtClean="0">
              <a:latin typeface="Times New Roman" pitchFamily="18" charset="0"/>
              <a:cs typeface="Times New Roman" pitchFamily="18" charset="0"/>
              <a:sym typeface="Symbol"/>
            </a:endParaRPr>
          </a:p>
          <a:p>
            <a:r>
              <a:rPr lang="en-IN" dirty="0" smtClean="0">
                <a:latin typeface="Times New Roman" pitchFamily="18" charset="0"/>
                <a:cs typeface="Times New Roman" pitchFamily="18" charset="0"/>
                <a:sym typeface="Symbol"/>
              </a:rPr>
              <a:t>The dominating column can be deleted as every MCC that covers </a:t>
            </a:r>
            <a:r>
              <a:rPr lang="en-IN" dirty="0" err="1" smtClean="0">
                <a:latin typeface="Times New Roman" pitchFamily="18" charset="0"/>
                <a:cs typeface="Times New Roman" pitchFamily="18" charset="0"/>
                <a:sym typeface="Symbol"/>
              </a:rPr>
              <a:t>Cj</a:t>
            </a:r>
            <a:r>
              <a:rPr lang="en-IN" dirty="0" smtClean="0">
                <a:latin typeface="Times New Roman" pitchFamily="18" charset="0"/>
                <a:cs typeface="Times New Roman" pitchFamily="18" charset="0"/>
                <a:sym typeface="Symbol"/>
              </a:rPr>
              <a:t> automatically covers </a:t>
            </a:r>
            <a:r>
              <a:rPr lang="en-IN" dirty="0" err="1" smtClean="0">
                <a:latin typeface="Times New Roman" pitchFamily="18" charset="0"/>
                <a:cs typeface="Times New Roman" pitchFamily="18" charset="0"/>
                <a:sym typeface="Symbol"/>
              </a:rPr>
              <a:t>Ci</a:t>
            </a:r>
            <a:endParaRPr lang="en-IN" dirty="0" smtClean="0">
              <a:latin typeface="Times New Roman" pitchFamily="18" charset="0"/>
              <a:cs typeface="Times New Roman" pitchFamily="18" charset="0"/>
              <a:sym typeface="Symbol"/>
            </a:endParaRPr>
          </a:p>
          <a:p>
            <a:r>
              <a:rPr lang="en-IN" dirty="0" smtClean="0">
                <a:latin typeface="Times New Roman" pitchFamily="18" charset="0"/>
                <a:cs typeface="Times New Roman" pitchFamily="18" charset="0"/>
                <a:sym typeface="Symbol"/>
              </a:rPr>
              <a:t>Example: d dominates b and c while g dominates f , hence deletes column g</a:t>
            </a:r>
          </a:p>
          <a:p>
            <a:r>
              <a:rPr lang="en-IN" dirty="0" smtClean="0">
                <a:latin typeface="Times New Roman" pitchFamily="18" charset="0"/>
                <a:cs typeface="Times New Roman" pitchFamily="18" charset="0"/>
                <a:sym typeface="Symbol"/>
              </a:rPr>
              <a:t>5. Row </a:t>
            </a:r>
            <a:r>
              <a:rPr lang="en-IN" dirty="0" err="1" smtClean="0">
                <a:latin typeface="Times New Roman" pitchFamily="18" charset="0"/>
                <a:cs typeface="Times New Roman" pitchFamily="18" charset="0"/>
                <a:sym typeface="Symbol"/>
              </a:rPr>
              <a:t>Ci</a:t>
            </a:r>
            <a:r>
              <a:rPr lang="en-IN" dirty="0" smtClean="0">
                <a:latin typeface="Times New Roman" pitchFamily="18" charset="0"/>
                <a:cs typeface="Times New Roman" pitchFamily="18" charset="0"/>
                <a:sym typeface="Symbol"/>
              </a:rPr>
              <a:t> is said to dominate row </a:t>
            </a:r>
            <a:r>
              <a:rPr lang="en-IN" dirty="0" err="1" smtClean="0">
                <a:latin typeface="Times New Roman" pitchFamily="18" charset="0"/>
                <a:cs typeface="Times New Roman" pitchFamily="18" charset="0"/>
                <a:sym typeface="Symbol"/>
              </a:rPr>
              <a:t>Cj</a:t>
            </a:r>
            <a:r>
              <a:rPr lang="en-IN" dirty="0" smtClean="0">
                <a:latin typeface="Times New Roman" pitchFamily="18" charset="0"/>
                <a:cs typeface="Times New Roman" pitchFamily="18" charset="0"/>
                <a:sym typeface="Symbol"/>
              </a:rPr>
              <a:t> if </a:t>
            </a:r>
            <a:r>
              <a:rPr lang="en-IN" dirty="0" err="1" smtClean="0">
                <a:latin typeface="Times New Roman" pitchFamily="18" charset="0"/>
                <a:cs typeface="Times New Roman" pitchFamily="18" charset="0"/>
                <a:sym typeface="Symbol"/>
              </a:rPr>
              <a:t>Ci</a:t>
            </a:r>
            <a:r>
              <a:rPr lang="en-IN" dirty="0" smtClean="0">
                <a:latin typeface="Times New Roman" pitchFamily="18" charset="0"/>
                <a:cs typeface="Times New Roman" pitchFamily="18" charset="0"/>
                <a:sym typeface="Symbol"/>
              </a:rPr>
              <a:t> contains an X in every columns where </a:t>
            </a:r>
            <a:r>
              <a:rPr lang="en-IN" dirty="0" err="1" smtClean="0">
                <a:latin typeface="Times New Roman" pitchFamily="18" charset="0"/>
                <a:cs typeface="Times New Roman" pitchFamily="18" charset="0"/>
                <a:sym typeface="Symbol"/>
              </a:rPr>
              <a:t>Cj</a:t>
            </a:r>
            <a:r>
              <a:rPr lang="en-IN" dirty="0" smtClean="0">
                <a:latin typeface="Times New Roman" pitchFamily="18" charset="0"/>
                <a:cs typeface="Times New Roman" pitchFamily="18" charset="0"/>
                <a:sym typeface="Symbol"/>
              </a:rPr>
              <a:t> contains an X and </a:t>
            </a:r>
            <a:r>
              <a:rPr lang="en-IN" dirty="0" err="1" smtClean="0">
                <a:latin typeface="Times New Roman" pitchFamily="18" charset="0"/>
                <a:cs typeface="Times New Roman" pitchFamily="18" charset="0"/>
                <a:sym typeface="Symbol"/>
              </a:rPr>
              <a:t>Ci</a:t>
            </a:r>
            <a:r>
              <a:rPr lang="en-IN" dirty="0" smtClean="0">
                <a:latin typeface="Times New Roman" pitchFamily="18" charset="0"/>
                <a:cs typeface="Times New Roman" pitchFamily="18" charset="0"/>
                <a:sym typeface="Symbol"/>
              </a:rPr>
              <a:t> contains more X than </a:t>
            </a:r>
            <a:r>
              <a:rPr lang="en-IN" dirty="0" err="1" smtClean="0">
                <a:latin typeface="Times New Roman" pitchFamily="18" charset="0"/>
                <a:cs typeface="Times New Roman" pitchFamily="18" charset="0"/>
                <a:sym typeface="Symbol"/>
              </a:rPr>
              <a:t>Cj</a:t>
            </a:r>
            <a:endParaRPr lang="en-IN" dirty="0" smtClean="0">
              <a:latin typeface="Times New Roman" pitchFamily="18" charset="0"/>
              <a:cs typeface="Times New Roman" pitchFamily="18" charset="0"/>
              <a:sym typeface="Symbol"/>
            </a:endParaRPr>
          </a:p>
          <a:p>
            <a:r>
              <a:rPr lang="en-IN" dirty="0" smtClean="0">
                <a:latin typeface="Times New Roman" pitchFamily="18" charset="0"/>
                <a:cs typeface="Times New Roman" pitchFamily="18" charset="0"/>
                <a:sym typeface="Symbol"/>
              </a:rPr>
              <a:t>In this case the dominating row </a:t>
            </a:r>
            <a:r>
              <a:rPr lang="en-IN" dirty="0" err="1" smtClean="0">
                <a:latin typeface="Times New Roman" pitchFamily="18" charset="0"/>
                <a:cs typeface="Times New Roman" pitchFamily="18" charset="0"/>
                <a:sym typeface="Symbol"/>
              </a:rPr>
              <a:t>Cj</a:t>
            </a:r>
            <a:r>
              <a:rPr lang="en-IN" dirty="0" smtClean="0">
                <a:latin typeface="Times New Roman" pitchFamily="18" charset="0"/>
                <a:cs typeface="Times New Roman" pitchFamily="18" charset="0"/>
                <a:sym typeface="Symbol"/>
              </a:rPr>
              <a:t> can be deleted, since </a:t>
            </a:r>
            <a:r>
              <a:rPr lang="en-IN" dirty="0" err="1" smtClean="0">
                <a:latin typeface="Times New Roman" pitchFamily="18" charset="0"/>
                <a:cs typeface="Times New Roman" pitchFamily="18" charset="0"/>
                <a:sym typeface="Symbol"/>
              </a:rPr>
              <a:t>Ci</a:t>
            </a:r>
            <a:r>
              <a:rPr lang="en-IN" dirty="0" smtClean="0">
                <a:latin typeface="Times New Roman" pitchFamily="18" charset="0"/>
                <a:cs typeface="Times New Roman" pitchFamily="18" charset="0"/>
                <a:sym typeface="Symbol"/>
              </a:rPr>
              <a:t> covers all the control signals that are covered by </a:t>
            </a:r>
            <a:r>
              <a:rPr lang="en-IN" dirty="0" err="1" smtClean="0">
                <a:latin typeface="Times New Roman" pitchFamily="18" charset="0"/>
                <a:cs typeface="Times New Roman" pitchFamily="18" charset="0"/>
                <a:sym typeface="Symbol"/>
              </a:rPr>
              <a:t>Cj</a:t>
            </a:r>
            <a:endParaRPr lang="en-IN" dirty="0" smtClean="0">
              <a:latin typeface="Times New Roman" pitchFamily="18" charset="0"/>
              <a:cs typeface="Times New Roman" pitchFamily="18" charset="0"/>
              <a:sym typeface="Symbol"/>
            </a:endParaRPr>
          </a:p>
          <a:p>
            <a:r>
              <a:rPr lang="en-IN" dirty="0" smtClean="0">
                <a:latin typeface="Times New Roman" pitchFamily="18" charset="0"/>
                <a:cs typeface="Times New Roman" pitchFamily="18" charset="0"/>
                <a:sym typeface="Symbol"/>
              </a:rPr>
              <a:t>Example: There is no such dominating row.</a:t>
            </a:r>
            <a:endParaRPr lang="en-IN" dirty="0">
              <a:latin typeface="Times New Roman" pitchFamily="18" charset="0"/>
              <a:cs typeface="Times New Roman" pitchFamily="18" charset="0"/>
            </a:endParaRPr>
          </a:p>
        </p:txBody>
      </p:sp>
      <p:graphicFrame>
        <p:nvGraphicFramePr>
          <p:cNvPr id="3" name="Table 2"/>
          <p:cNvGraphicFramePr>
            <a:graphicFrameLocks noGrp="1"/>
          </p:cNvGraphicFramePr>
          <p:nvPr/>
        </p:nvGraphicFramePr>
        <p:xfrm>
          <a:off x="164013" y="2985346"/>
          <a:ext cx="2971073" cy="2590800"/>
        </p:xfrm>
        <a:graphic>
          <a:graphicData uri="http://schemas.openxmlformats.org/drawingml/2006/table">
            <a:tbl>
              <a:tblPr firstRow="1" bandRow="1">
                <a:tableStyleId>{5C22544A-7EE6-4342-B048-85BDC9FD1C3A}</a:tableStyleId>
              </a:tblPr>
              <a:tblGrid>
                <a:gridCol w="985518"/>
                <a:gridCol w="470263"/>
                <a:gridCol w="444137"/>
                <a:gridCol w="496389"/>
                <a:gridCol w="574766"/>
              </a:tblGrid>
              <a:tr h="0">
                <a:tc>
                  <a:txBody>
                    <a:bodyPr/>
                    <a:lstStyle/>
                    <a:p>
                      <a:endParaRPr lang="en-IN" dirty="0">
                        <a:latin typeface="Times New Roman" pitchFamily="18" charset="0"/>
                        <a:cs typeface="Times New Roman" pitchFamily="18" charset="0"/>
                      </a:endParaRPr>
                    </a:p>
                  </a:txBody>
                  <a:tcPr>
                    <a:noFill/>
                  </a:tcPr>
                </a:tc>
                <a:tc>
                  <a:txBody>
                    <a:bodyPr/>
                    <a:lstStyle/>
                    <a:p>
                      <a:r>
                        <a:rPr lang="en-IN" dirty="0" smtClean="0">
                          <a:latin typeface="Times New Roman" pitchFamily="18" charset="0"/>
                          <a:cs typeface="Times New Roman" pitchFamily="18" charset="0"/>
                        </a:rPr>
                        <a:t>b</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e</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f</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h</a:t>
                      </a:r>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C3=</a:t>
                      </a:r>
                      <a:r>
                        <a:rPr lang="en-IN" dirty="0" err="1" smtClean="0">
                          <a:latin typeface="Times New Roman" pitchFamily="18" charset="0"/>
                          <a:cs typeface="Times New Roman" pitchFamily="18" charset="0"/>
                        </a:rPr>
                        <a:t>bde</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X</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X</a:t>
                      </a:r>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C4=</a:t>
                      </a:r>
                      <a:r>
                        <a:rPr lang="en-IN" dirty="0" err="1" smtClean="0">
                          <a:latin typeface="Times New Roman" pitchFamily="18" charset="0"/>
                          <a:cs typeface="Times New Roman" pitchFamily="18" charset="0"/>
                        </a:rPr>
                        <a:t>bdh</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X</a:t>
                      </a:r>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X</a:t>
                      </a:r>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C5=deg</a:t>
                      </a:r>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X</a:t>
                      </a:r>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C6=</a:t>
                      </a:r>
                      <a:r>
                        <a:rPr lang="en-IN" dirty="0" err="1" smtClean="0">
                          <a:latin typeface="Times New Roman" pitchFamily="18" charset="0"/>
                          <a:cs typeface="Times New Roman" pitchFamily="18" charset="0"/>
                        </a:rPr>
                        <a:t>dgh</a:t>
                      </a:r>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X</a:t>
                      </a:r>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C7=</a:t>
                      </a:r>
                      <a:r>
                        <a:rPr lang="en-IN" dirty="0" err="1" smtClean="0">
                          <a:latin typeface="Times New Roman" pitchFamily="18" charset="0"/>
                          <a:cs typeface="Times New Roman" pitchFamily="18" charset="0"/>
                        </a:rPr>
                        <a:t>efg</a:t>
                      </a:r>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X</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X</a:t>
                      </a:r>
                      <a:endParaRPr lang="en-IN" dirty="0">
                        <a:latin typeface="Times New Roman" pitchFamily="18" charset="0"/>
                        <a:cs typeface="Times New Roman" pitchFamily="18" charset="0"/>
                      </a:endParaRPr>
                    </a:p>
                  </a:txBody>
                  <a:tcPr/>
                </a:tc>
                <a:tc>
                  <a:txBody>
                    <a:bodyPr/>
                    <a:lstStyle/>
                    <a:p>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C8=</a:t>
                      </a:r>
                      <a:r>
                        <a:rPr lang="en-IN" dirty="0" err="1" smtClean="0">
                          <a:latin typeface="Times New Roman" pitchFamily="18" charset="0"/>
                          <a:cs typeface="Times New Roman" pitchFamily="18" charset="0"/>
                        </a:rPr>
                        <a:t>fgh</a:t>
                      </a:r>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X</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X</a:t>
                      </a:r>
                      <a:endParaRPr lang="en-IN" dirty="0">
                        <a:latin typeface="Times New Roman" pitchFamily="18" charset="0"/>
                        <a:cs typeface="Times New Roman" pitchFamily="18" charset="0"/>
                      </a:endParaRPr>
                    </a:p>
                  </a:txBody>
                  <a:tcPr/>
                </a:tc>
              </a:tr>
            </a:tbl>
          </a:graphicData>
        </a:graphic>
      </p:graphicFrame>
      <p:cxnSp>
        <p:nvCxnSpPr>
          <p:cNvPr id="4" name="Straight Connector 3"/>
          <p:cNvCxnSpPr/>
          <p:nvPr/>
        </p:nvCxnSpPr>
        <p:spPr>
          <a:xfrm>
            <a:off x="169818" y="2965270"/>
            <a:ext cx="966651" cy="378823"/>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222069" y="3161213"/>
            <a:ext cx="718457" cy="276999"/>
          </a:xfrm>
          <a:prstGeom prst="rect">
            <a:avLst/>
          </a:prstGeom>
          <a:noFill/>
        </p:spPr>
        <p:txBody>
          <a:bodyPr wrap="square" rtlCol="0">
            <a:spAutoFit/>
          </a:bodyPr>
          <a:lstStyle/>
          <a:p>
            <a:r>
              <a:rPr lang="en-IN" sz="1200" dirty="0" smtClean="0">
                <a:latin typeface="Times New Roman" pitchFamily="18" charset="0"/>
                <a:cs typeface="Times New Roman" pitchFamily="18" charset="0"/>
              </a:rPr>
              <a:t>MCC </a:t>
            </a:r>
            <a:r>
              <a:rPr lang="en-IN" sz="1200" dirty="0" err="1" smtClean="0">
                <a:latin typeface="Times New Roman" pitchFamily="18" charset="0"/>
                <a:cs typeface="Times New Roman" pitchFamily="18" charset="0"/>
              </a:rPr>
              <a:t>Ci</a:t>
            </a:r>
            <a:r>
              <a:rPr lang="en-IN" sz="1200" dirty="0" smtClean="0">
                <a:latin typeface="Times New Roman" pitchFamily="18" charset="0"/>
                <a:cs typeface="Times New Roman" pitchFamily="18" charset="0"/>
              </a:rPr>
              <a:t> </a:t>
            </a:r>
            <a:endParaRPr lang="en-IN" sz="1200" dirty="0">
              <a:latin typeface="Times New Roman" pitchFamily="18" charset="0"/>
              <a:cs typeface="Times New Roman" pitchFamily="18" charset="0"/>
            </a:endParaRPr>
          </a:p>
        </p:txBody>
      </p:sp>
      <p:sp>
        <p:nvSpPr>
          <p:cNvPr id="6" name="TextBox 5"/>
          <p:cNvSpPr txBox="1"/>
          <p:nvPr/>
        </p:nvSpPr>
        <p:spPr>
          <a:xfrm>
            <a:off x="400596" y="2738849"/>
            <a:ext cx="801188" cy="461665"/>
          </a:xfrm>
          <a:prstGeom prst="rect">
            <a:avLst/>
          </a:prstGeom>
          <a:noFill/>
        </p:spPr>
        <p:txBody>
          <a:bodyPr wrap="square" rtlCol="0">
            <a:spAutoFit/>
          </a:bodyPr>
          <a:lstStyle/>
          <a:p>
            <a:r>
              <a:rPr lang="en-IN" sz="1200" dirty="0" smtClean="0">
                <a:latin typeface="Times New Roman" pitchFamily="18" charset="0"/>
                <a:cs typeface="Times New Roman" pitchFamily="18" charset="0"/>
              </a:rPr>
              <a:t>Control </a:t>
            </a:r>
          </a:p>
          <a:p>
            <a:r>
              <a:rPr lang="en-IN" sz="1200" dirty="0" smtClean="0">
                <a:latin typeface="Times New Roman" pitchFamily="18" charset="0"/>
                <a:cs typeface="Times New Roman" pitchFamily="18" charset="0"/>
              </a:rPr>
              <a:t>Signal </a:t>
            </a:r>
            <a:r>
              <a:rPr lang="en-IN" sz="1200" dirty="0" err="1" smtClean="0">
                <a:latin typeface="Times New Roman" pitchFamily="18" charset="0"/>
                <a:cs typeface="Times New Roman" pitchFamily="18" charset="0"/>
              </a:rPr>
              <a:t>Cj</a:t>
            </a:r>
            <a:r>
              <a:rPr lang="en-IN" sz="1200" dirty="0" smtClean="0">
                <a:latin typeface="Times New Roman" pitchFamily="18" charset="0"/>
                <a:cs typeface="Times New Roman" pitchFamily="18" charset="0"/>
              </a:rPr>
              <a:t> </a:t>
            </a:r>
            <a:endParaRPr lang="en-IN" sz="1200" dirty="0">
              <a:latin typeface="Times New Roman" pitchFamily="18" charset="0"/>
              <a:cs typeface="Times New Roman" pitchFamily="18" charset="0"/>
            </a:endParaRPr>
          </a:p>
        </p:txBody>
      </p:sp>
      <p:sp>
        <p:nvSpPr>
          <p:cNvPr id="7" name="TextBox 6"/>
          <p:cNvSpPr txBox="1"/>
          <p:nvPr/>
        </p:nvSpPr>
        <p:spPr>
          <a:xfrm>
            <a:off x="1227910" y="2521132"/>
            <a:ext cx="2168434" cy="369332"/>
          </a:xfrm>
          <a:prstGeom prst="rect">
            <a:avLst/>
          </a:prstGeom>
          <a:noFill/>
        </p:spPr>
        <p:txBody>
          <a:bodyPr wrap="square" rtlCol="0">
            <a:spAutoFit/>
          </a:bodyPr>
          <a:lstStyle/>
          <a:p>
            <a:r>
              <a:rPr lang="en-IN" dirty="0" smtClean="0">
                <a:latin typeface="Times New Roman" pitchFamily="18" charset="0"/>
                <a:cs typeface="Times New Roman" pitchFamily="18" charset="0"/>
              </a:rPr>
              <a:t>Reduced cover table</a:t>
            </a:r>
            <a:endParaRPr lang="en-IN" dirty="0">
              <a:latin typeface="Times New Roman" pitchFamily="18" charset="0"/>
              <a:cs typeface="Times New Roman" pitchFamily="18" charset="0"/>
            </a:endParaRPr>
          </a:p>
        </p:txBody>
      </p:sp>
      <p:sp>
        <p:nvSpPr>
          <p:cNvPr id="8" name="TextBox 7"/>
          <p:cNvSpPr txBox="1"/>
          <p:nvPr/>
        </p:nvSpPr>
        <p:spPr>
          <a:xfrm>
            <a:off x="3474720" y="2808513"/>
            <a:ext cx="8425541" cy="2585323"/>
          </a:xfrm>
          <a:prstGeom prst="rect">
            <a:avLst/>
          </a:prstGeom>
          <a:noFill/>
        </p:spPr>
        <p:txBody>
          <a:bodyPr wrap="square" rtlCol="0">
            <a:spAutoFit/>
          </a:bodyPr>
          <a:lstStyle/>
          <a:p>
            <a:r>
              <a:rPr lang="en-IN" dirty="0" smtClean="0">
                <a:latin typeface="Times New Roman" pitchFamily="18" charset="0"/>
                <a:cs typeface="Times New Roman" pitchFamily="18" charset="0"/>
              </a:rPr>
              <a:t>Step-3: Inspect each minimal MCC cover {</a:t>
            </a:r>
            <a:r>
              <a:rPr lang="en-IN" dirty="0" err="1" smtClean="0">
                <a:latin typeface="Times New Roman" pitchFamily="18" charset="0"/>
                <a:cs typeface="Times New Roman" pitchFamily="18" charset="0"/>
              </a:rPr>
              <a:t>Ci</a:t>
            </a:r>
            <a:r>
              <a:rPr lang="en-IN" dirty="0" smtClean="0">
                <a:latin typeface="Times New Roman" pitchFamily="18" charset="0"/>
                <a:cs typeface="Times New Roman" pitchFamily="18" charset="0"/>
              </a:rPr>
              <a:t>} in turn and determine all ways of including each control signal in exactly one subset of some </a:t>
            </a:r>
            <a:r>
              <a:rPr lang="en-IN" dirty="0" err="1" smtClean="0">
                <a:latin typeface="Times New Roman" pitchFamily="18" charset="0"/>
                <a:cs typeface="Times New Roman" pitchFamily="18" charset="0"/>
              </a:rPr>
              <a:t>Ci</a:t>
            </a:r>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The minimal cover for this table contains two MCCs, possible choices are {C3, C8} and {C4, C7}</a:t>
            </a:r>
          </a:p>
          <a:p>
            <a:r>
              <a:rPr lang="en-IN" dirty="0" smtClean="0">
                <a:latin typeface="Times New Roman" pitchFamily="18" charset="0"/>
                <a:cs typeface="Times New Roman" pitchFamily="18" charset="0"/>
              </a:rPr>
              <a:t>Combining these with essential MCCs C1 and C2 the desired MCC solutions are {C1, C2, C3, C8} and {C1, C2, C4, C7}.</a:t>
            </a:r>
          </a:p>
          <a:p>
            <a:r>
              <a:rPr lang="en-IN" dirty="0" smtClean="0">
                <a:latin typeface="Times New Roman" pitchFamily="18" charset="0"/>
                <a:cs typeface="Times New Roman" pitchFamily="18" charset="0"/>
              </a:rPr>
              <a:t>Consider one of the two minimal MCC, say {C1, C2, C3, C8}. </a:t>
            </a:r>
          </a:p>
          <a:p>
            <a:r>
              <a:rPr lang="en-IN" dirty="0" smtClean="0">
                <a:latin typeface="Times New Roman" pitchFamily="18" charset="0"/>
                <a:cs typeface="Times New Roman" pitchFamily="18" charset="0"/>
              </a:rPr>
              <a:t>There is only one way to cover a (by C1), b (by C3), c (by C2), e (by C3), </a:t>
            </a:r>
            <a:r>
              <a:rPr lang="en-IN" dirty="0" err="1" smtClean="0">
                <a:latin typeface="Times New Roman" pitchFamily="18" charset="0"/>
                <a:cs typeface="Times New Roman" pitchFamily="18" charset="0"/>
              </a:rPr>
              <a:t>f,g,h</a:t>
            </a:r>
            <a:r>
              <a:rPr lang="en-IN" dirty="0" smtClean="0">
                <a:latin typeface="Times New Roman" pitchFamily="18" charset="0"/>
                <a:cs typeface="Times New Roman" pitchFamily="18" charset="0"/>
              </a:rPr>
              <a:t> (by C8).</a:t>
            </a:r>
          </a:p>
          <a:p>
            <a:r>
              <a:rPr lang="en-IN" dirty="0" smtClean="0">
                <a:latin typeface="Times New Roman" pitchFamily="18" charset="0"/>
                <a:cs typeface="Times New Roman" pitchFamily="18" charset="0"/>
              </a:rPr>
              <a:t>There is two way to cover d (by C2 and C3). </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95944" y="3252650"/>
            <a:ext cx="4114799" cy="1754326"/>
          </a:xfrm>
          <a:prstGeom prst="rect">
            <a:avLst/>
          </a:prstGeom>
          <a:noFill/>
        </p:spPr>
        <p:txBody>
          <a:bodyPr wrap="square" rtlCol="0">
            <a:spAutoFit/>
          </a:bodyPr>
          <a:lstStyle/>
          <a:p>
            <a:r>
              <a:rPr lang="en-IN" dirty="0" smtClean="0">
                <a:latin typeface="Times New Roman" pitchFamily="18" charset="0"/>
                <a:cs typeface="Times New Roman" pitchFamily="18" charset="0"/>
              </a:rPr>
              <a:t>If we decide to cover d by C2 then delete d from C3 to obtain the partition {a, </a:t>
            </a:r>
            <a:r>
              <a:rPr lang="en-IN" dirty="0" err="1" smtClean="0">
                <a:latin typeface="Times New Roman" pitchFamily="18" charset="0"/>
                <a:cs typeface="Times New Roman" pitchFamily="18" charset="0"/>
              </a:rPr>
              <a:t>cd</a:t>
            </a:r>
            <a:r>
              <a:rPr lang="en-IN" dirty="0" smtClean="0">
                <a:latin typeface="Times New Roman" pitchFamily="18" charset="0"/>
                <a:cs typeface="Times New Roman" pitchFamily="18" charset="0"/>
              </a:rPr>
              <a:t>, be, </a:t>
            </a:r>
            <a:r>
              <a:rPr lang="en-IN" dirty="0" err="1" smtClean="0">
                <a:latin typeface="Times New Roman" pitchFamily="18" charset="0"/>
                <a:cs typeface="Times New Roman" pitchFamily="18" charset="0"/>
              </a:rPr>
              <a:t>fgh</a:t>
            </a:r>
            <a:r>
              <a:rPr lang="en-IN" dirty="0" smtClean="0">
                <a:latin typeface="Times New Roman" pitchFamily="18" charset="0"/>
                <a:cs typeface="Times New Roman" pitchFamily="18" charset="0"/>
              </a:rPr>
              <a:t>}. </a:t>
            </a:r>
          </a:p>
          <a:p>
            <a:r>
              <a:rPr lang="en-IN" dirty="0" smtClean="0">
                <a:latin typeface="Times New Roman" pitchFamily="18" charset="0"/>
                <a:cs typeface="Times New Roman" pitchFamily="18" charset="0"/>
              </a:rPr>
              <a:t>F1, F2, F3, F4 are the four subfields in microinstruction control</a:t>
            </a:r>
          </a:p>
          <a:p>
            <a:r>
              <a:rPr lang="en-IN" dirty="0" smtClean="0">
                <a:latin typeface="Times New Roman" pitchFamily="18" charset="0"/>
                <a:cs typeface="Times New Roman" pitchFamily="18" charset="0"/>
              </a:rPr>
              <a:t>W = width of the control field = 7 bits</a:t>
            </a:r>
          </a:p>
        </p:txBody>
      </p:sp>
      <p:sp>
        <p:nvSpPr>
          <p:cNvPr id="9" name="Rectangle 8"/>
          <p:cNvSpPr/>
          <p:nvPr/>
        </p:nvSpPr>
        <p:spPr>
          <a:xfrm>
            <a:off x="313508" y="522513"/>
            <a:ext cx="4232366" cy="3265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p:cNvSpPr txBox="1"/>
          <p:nvPr/>
        </p:nvSpPr>
        <p:spPr>
          <a:xfrm>
            <a:off x="653142" y="470262"/>
            <a:ext cx="378823" cy="369332"/>
          </a:xfrm>
          <a:prstGeom prst="rect">
            <a:avLst/>
          </a:prstGeom>
          <a:noFill/>
        </p:spPr>
        <p:txBody>
          <a:bodyPr wrap="square" rtlCol="0">
            <a:spAutoFit/>
          </a:bodyPr>
          <a:lstStyle/>
          <a:p>
            <a:r>
              <a:rPr lang="en-IN" dirty="0" smtClean="0">
                <a:latin typeface="Times New Roman" pitchFamily="18" charset="0"/>
                <a:cs typeface="Times New Roman" pitchFamily="18" charset="0"/>
              </a:rPr>
              <a:t>X </a:t>
            </a:r>
            <a:endParaRPr lang="en-IN" dirty="0">
              <a:latin typeface="Times New Roman" pitchFamily="18" charset="0"/>
              <a:cs typeface="Times New Roman" pitchFamily="18" charset="0"/>
            </a:endParaRPr>
          </a:p>
        </p:txBody>
      </p:sp>
      <p:sp>
        <p:nvSpPr>
          <p:cNvPr id="11" name="TextBox 10"/>
          <p:cNvSpPr txBox="1"/>
          <p:nvPr/>
        </p:nvSpPr>
        <p:spPr>
          <a:xfrm>
            <a:off x="3627120" y="465908"/>
            <a:ext cx="539932" cy="369332"/>
          </a:xfrm>
          <a:prstGeom prst="rect">
            <a:avLst/>
          </a:prstGeom>
          <a:noFill/>
        </p:spPr>
        <p:txBody>
          <a:bodyPr wrap="square" rtlCol="0">
            <a:spAutoFit/>
          </a:bodyPr>
          <a:lstStyle/>
          <a:p>
            <a:r>
              <a:rPr lang="en-IN" dirty="0" smtClean="0">
                <a:latin typeface="Times New Roman" pitchFamily="18" charset="0"/>
                <a:cs typeface="Times New Roman" pitchFamily="18" charset="0"/>
              </a:rPr>
              <a:t>XX  </a:t>
            </a:r>
            <a:endParaRPr lang="en-IN" dirty="0">
              <a:latin typeface="Times New Roman" pitchFamily="18" charset="0"/>
              <a:cs typeface="Times New Roman" pitchFamily="18" charset="0"/>
            </a:endParaRPr>
          </a:p>
        </p:txBody>
      </p:sp>
      <p:sp>
        <p:nvSpPr>
          <p:cNvPr id="14" name="TextBox 13"/>
          <p:cNvSpPr txBox="1"/>
          <p:nvPr/>
        </p:nvSpPr>
        <p:spPr>
          <a:xfrm>
            <a:off x="2629989" y="461555"/>
            <a:ext cx="539932" cy="369332"/>
          </a:xfrm>
          <a:prstGeom prst="rect">
            <a:avLst/>
          </a:prstGeom>
          <a:noFill/>
        </p:spPr>
        <p:txBody>
          <a:bodyPr wrap="square" rtlCol="0">
            <a:spAutoFit/>
          </a:bodyPr>
          <a:lstStyle/>
          <a:p>
            <a:r>
              <a:rPr lang="en-IN" dirty="0" smtClean="0">
                <a:latin typeface="Times New Roman" pitchFamily="18" charset="0"/>
                <a:cs typeface="Times New Roman" pitchFamily="18" charset="0"/>
              </a:rPr>
              <a:t>XX  </a:t>
            </a:r>
            <a:endParaRPr lang="en-IN" dirty="0">
              <a:latin typeface="Times New Roman" pitchFamily="18" charset="0"/>
              <a:cs typeface="Times New Roman" pitchFamily="18" charset="0"/>
            </a:endParaRPr>
          </a:p>
        </p:txBody>
      </p:sp>
      <p:sp>
        <p:nvSpPr>
          <p:cNvPr id="15" name="TextBox 14"/>
          <p:cNvSpPr txBox="1"/>
          <p:nvPr/>
        </p:nvSpPr>
        <p:spPr>
          <a:xfrm>
            <a:off x="1606731" y="470263"/>
            <a:ext cx="539932" cy="369332"/>
          </a:xfrm>
          <a:prstGeom prst="rect">
            <a:avLst/>
          </a:prstGeom>
          <a:noFill/>
        </p:spPr>
        <p:txBody>
          <a:bodyPr wrap="square" rtlCol="0">
            <a:spAutoFit/>
          </a:bodyPr>
          <a:lstStyle/>
          <a:p>
            <a:r>
              <a:rPr lang="en-IN" dirty="0" smtClean="0">
                <a:latin typeface="Times New Roman" pitchFamily="18" charset="0"/>
                <a:cs typeface="Times New Roman" pitchFamily="18" charset="0"/>
              </a:rPr>
              <a:t>XX </a:t>
            </a:r>
            <a:endParaRPr lang="en-IN" dirty="0">
              <a:latin typeface="Times New Roman" pitchFamily="18" charset="0"/>
              <a:cs typeface="Times New Roman" pitchFamily="18" charset="0"/>
            </a:endParaRPr>
          </a:p>
        </p:txBody>
      </p:sp>
      <p:cxnSp>
        <p:nvCxnSpPr>
          <p:cNvPr id="17" name="Straight Connector 16"/>
          <p:cNvCxnSpPr>
            <a:stCxn id="9" idx="0"/>
            <a:endCxn id="9" idx="2"/>
          </p:cNvCxnSpPr>
          <p:nvPr/>
        </p:nvCxnSpPr>
        <p:spPr>
          <a:xfrm rot="16200000" flipH="1">
            <a:off x="2266405" y="685799"/>
            <a:ext cx="32657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a:off x="3246121" y="695302"/>
            <a:ext cx="323011" cy="35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16200000" flipH="1">
            <a:off x="1188720" y="679268"/>
            <a:ext cx="344782" cy="5148"/>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431075" y="822959"/>
            <a:ext cx="718457" cy="523220"/>
          </a:xfrm>
          <a:prstGeom prst="rect">
            <a:avLst/>
          </a:prstGeom>
          <a:noFill/>
        </p:spPr>
        <p:txBody>
          <a:bodyPr wrap="square" rtlCol="0">
            <a:spAutoFit/>
          </a:bodyPr>
          <a:lstStyle/>
          <a:p>
            <a:r>
              <a:rPr lang="en-IN" sz="1400" dirty="0" smtClean="0">
                <a:latin typeface="Times New Roman" pitchFamily="18" charset="0"/>
                <a:cs typeface="Times New Roman" pitchFamily="18" charset="0"/>
              </a:rPr>
              <a:t>0 NOP</a:t>
            </a:r>
          </a:p>
          <a:p>
            <a:r>
              <a:rPr lang="en-IN" sz="1400" dirty="0" smtClean="0">
                <a:latin typeface="Times New Roman" pitchFamily="18" charset="0"/>
                <a:cs typeface="Times New Roman" pitchFamily="18" charset="0"/>
              </a:rPr>
              <a:t>1 a  </a:t>
            </a:r>
            <a:endParaRPr lang="en-IN" sz="1400" dirty="0">
              <a:latin typeface="Times New Roman" pitchFamily="18" charset="0"/>
              <a:cs typeface="Times New Roman" pitchFamily="18" charset="0"/>
            </a:endParaRPr>
          </a:p>
        </p:txBody>
      </p:sp>
      <p:sp>
        <p:nvSpPr>
          <p:cNvPr id="22" name="TextBox 21"/>
          <p:cNvSpPr txBox="1"/>
          <p:nvPr/>
        </p:nvSpPr>
        <p:spPr>
          <a:xfrm>
            <a:off x="1393372" y="1053735"/>
            <a:ext cx="957943"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Decoder 1 </a:t>
            </a:r>
            <a:endParaRPr lang="en-IN" sz="1400" dirty="0">
              <a:latin typeface="Times New Roman" pitchFamily="18" charset="0"/>
              <a:cs typeface="Times New Roman" pitchFamily="18" charset="0"/>
            </a:endParaRPr>
          </a:p>
        </p:txBody>
      </p:sp>
      <p:sp>
        <p:nvSpPr>
          <p:cNvPr id="23" name="TextBox 22"/>
          <p:cNvSpPr txBox="1"/>
          <p:nvPr/>
        </p:nvSpPr>
        <p:spPr>
          <a:xfrm>
            <a:off x="2407919" y="1062444"/>
            <a:ext cx="957943"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Decoder 2 </a:t>
            </a:r>
            <a:endParaRPr lang="en-IN" sz="1400" dirty="0">
              <a:latin typeface="Times New Roman" pitchFamily="18" charset="0"/>
              <a:cs typeface="Times New Roman" pitchFamily="18" charset="0"/>
            </a:endParaRPr>
          </a:p>
        </p:txBody>
      </p:sp>
      <p:sp>
        <p:nvSpPr>
          <p:cNvPr id="24" name="TextBox 23"/>
          <p:cNvSpPr txBox="1"/>
          <p:nvPr/>
        </p:nvSpPr>
        <p:spPr>
          <a:xfrm>
            <a:off x="3513909" y="1058091"/>
            <a:ext cx="957943"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Decoder 3</a:t>
            </a:r>
            <a:endParaRPr lang="en-IN" sz="1400" dirty="0">
              <a:latin typeface="Times New Roman" pitchFamily="18" charset="0"/>
              <a:cs typeface="Times New Roman" pitchFamily="18" charset="0"/>
            </a:endParaRPr>
          </a:p>
        </p:txBody>
      </p:sp>
      <p:sp>
        <p:nvSpPr>
          <p:cNvPr id="25" name="Rectangle 24"/>
          <p:cNvSpPr/>
          <p:nvPr/>
        </p:nvSpPr>
        <p:spPr>
          <a:xfrm>
            <a:off x="1449977" y="1097280"/>
            <a:ext cx="822960" cy="24819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p:cNvSpPr/>
          <p:nvPr/>
        </p:nvSpPr>
        <p:spPr>
          <a:xfrm>
            <a:off x="2451462" y="1092926"/>
            <a:ext cx="822960" cy="24819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p:cNvSpPr/>
          <p:nvPr/>
        </p:nvSpPr>
        <p:spPr>
          <a:xfrm>
            <a:off x="3570513" y="1088573"/>
            <a:ext cx="822960" cy="24819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9" name="Straight Arrow Connector 28"/>
          <p:cNvCxnSpPr/>
          <p:nvPr/>
        </p:nvCxnSpPr>
        <p:spPr>
          <a:xfrm rot="5400000">
            <a:off x="1508760" y="973182"/>
            <a:ext cx="222069"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rot="5400000">
            <a:off x="1791789" y="955766"/>
            <a:ext cx="222069"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rot="5400000">
            <a:off x="2849880" y="968828"/>
            <a:ext cx="222069"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rot="5400000">
            <a:off x="2505891" y="977537"/>
            <a:ext cx="222069"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rot="5400000">
            <a:off x="3868783" y="968829"/>
            <a:ext cx="222069"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rot="5400000">
            <a:off x="3563983" y="951412"/>
            <a:ext cx="222069"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6" name="Rectangle 35"/>
          <p:cNvSpPr/>
          <p:nvPr/>
        </p:nvSpPr>
        <p:spPr>
          <a:xfrm>
            <a:off x="492034" y="896983"/>
            <a:ext cx="579120" cy="4093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p:cNvSpPr txBox="1"/>
          <p:nvPr/>
        </p:nvSpPr>
        <p:spPr>
          <a:xfrm>
            <a:off x="422365" y="187233"/>
            <a:ext cx="857795" cy="309155"/>
          </a:xfrm>
          <a:prstGeom prst="rect">
            <a:avLst/>
          </a:prstGeom>
          <a:noFill/>
        </p:spPr>
        <p:txBody>
          <a:bodyPr wrap="square" rtlCol="0">
            <a:spAutoFit/>
          </a:bodyPr>
          <a:lstStyle/>
          <a:p>
            <a:r>
              <a:rPr lang="en-IN" sz="1400" dirty="0" smtClean="0">
                <a:latin typeface="Times New Roman" pitchFamily="18" charset="0"/>
                <a:cs typeface="Times New Roman" pitchFamily="18" charset="0"/>
              </a:rPr>
              <a:t>F1=a=C1 </a:t>
            </a:r>
            <a:endParaRPr lang="en-IN" sz="1400" dirty="0">
              <a:latin typeface="Times New Roman" pitchFamily="18" charset="0"/>
              <a:cs typeface="Times New Roman" pitchFamily="18" charset="0"/>
            </a:endParaRPr>
          </a:p>
        </p:txBody>
      </p:sp>
      <p:sp>
        <p:nvSpPr>
          <p:cNvPr id="42" name="TextBox 41"/>
          <p:cNvSpPr txBox="1"/>
          <p:nvPr/>
        </p:nvSpPr>
        <p:spPr>
          <a:xfrm>
            <a:off x="1436914" y="169816"/>
            <a:ext cx="1005840"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F2=</a:t>
            </a:r>
            <a:r>
              <a:rPr lang="en-IN" sz="1400" dirty="0" err="1" smtClean="0">
                <a:latin typeface="Times New Roman" pitchFamily="18" charset="0"/>
                <a:cs typeface="Times New Roman" pitchFamily="18" charset="0"/>
              </a:rPr>
              <a:t>cd</a:t>
            </a:r>
            <a:r>
              <a:rPr lang="en-IN" sz="1400" dirty="0" smtClean="0">
                <a:latin typeface="Times New Roman" pitchFamily="18" charset="0"/>
                <a:cs typeface="Times New Roman" pitchFamily="18" charset="0"/>
              </a:rPr>
              <a:t>=C2 </a:t>
            </a:r>
            <a:endParaRPr lang="en-IN" sz="1400" dirty="0">
              <a:latin typeface="Times New Roman" pitchFamily="18" charset="0"/>
              <a:cs typeface="Times New Roman" pitchFamily="18" charset="0"/>
            </a:endParaRPr>
          </a:p>
        </p:txBody>
      </p:sp>
      <p:sp>
        <p:nvSpPr>
          <p:cNvPr id="43" name="TextBox 42"/>
          <p:cNvSpPr txBox="1"/>
          <p:nvPr/>
        </p:nvSpPr>
        <p:spPr>
          <a:xfrm>
            <a:off x="2442753" y="182880"/>
            <a:ext cx="953590"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F3=be=C3 </a:t>
            </a:r>
            <a:endParaRPr lang="en-IN" sz="1400" dirty="0">
              <a:latin typeface="Times New Roman" pitchFamily="18" charset="0"/>
              <a:cs typeface="Times New Roman" pitchFamily="18" charset="0"/>
            </a:endParaRPr>
          </a:p>
        </p:txBody>
      </p:sp>
      <p:sp>
        <p:nvSpPr>
          <p:cNvPr id="44" name="TextBox 43"/>
          <p:cNvSpPr txBox="1"/>
          <p:nvPr/>
        </p:nvSpPr>
        <p:spPr>
          <a:xfrm>
            <a:off x="3431176" y="178525"/>
            <a:ext cx="1036322" cy="317863"/>
          </a:xfrm>
          <a:prstGeom prst="rect">
            <a:avLst/>
          </a:prstGeom>
          <a:noFill/>
        </p:spPr>
        <p:txBody>
          <a:bodyPr wrap="square" rtlCol="0">
            <a:spAutoFit/>
          </a:bodyPr>
          <a:lstStyle/>
          <a:p>
            <a:r>
              <a:rPr lang="en-IN" sz="1400" dirty="0" smtClean="0">
                <a:latin typeface="Times New Roman" pitchFamily="18" charset="0"/>
                <a:cs typeface="Times New Roman" pitchFamily="18" charset="0"/>
              </a:rPr>
              <a:t>F4=</a:t>
            </a:r>
            <a:r>
              <a:rPr lang="en-IN" sz="1400" dirty="0" err="1" smtClean="0">
                <a:latin typeface="Times New Roman" pitchFamily="18" charset="0"/>
                <a:cs typeface="Times New Roman" pitchFamily="18" charset="0"/>
              </a:rPr>
              <a:t>fgh</a:t>
            </a:r>
            <a:r>
              <a:rPr lang="en-IN" sz="1400" dirty="0" smtClean="0">
                <a:latin typeface="Times New Roman" pitchFamily="18" charset="0"/>
                <a:cs typeface="Times New Roman" pitchFamily="18" charset="0"/>
              </a:rPr>
              <a:t>=C8 </a:t>
            </a:r>
            <a:endParaRPr lang="en-IN" sz="1400" dirty="0">
              <a:latin typeface="Times New Roman" pitchFamily="18" charset="0"/>
              <a:cs typeface="Times New Roman" pitchFamily="18" charset="0"/>
            </a:endParaRPr>
          </a:p>
        </p:txBody>
      </p:sp>
      <p:graphicFrame>
        <p:nvGraphicFramePr>
          <p:cNvPr id="45" name="Table 44"/>
          <p:cNvGraphicFramePr>
            <a:graphicFrameLocks noGrp="1"/>
          </p:cNvGraphicFramePr>
          <p:nvPr/>
        </p:nvGraphicFramePr>
        <p:xfrm>
          <a:off x="320765" y="1529563"/>
          <a:ext cx="4042229" cy="1559560"/>
        </p:xfrm>
        <a:graphic>
          <a:graphicData uri="http://schemas.openxmlformats.org/drawingml/2006/table">
            <a:tbl>
              <a:tblPr firstRow="1" bandRow="1">
                <a:tableStyleId>{5C22544A-7EE6-4342-B048-85BDC9FD1C3A}</a:tableStyleId>
              </a:tblPr>
              <a:tblGrid>
                <a:gridCol w="1299029"/>
                <a:gridCol w="1319349"/>
                <a:gridCol w="1423851"/>
              </a:tblGrid>
              <a:tr h="370840">
                <a:tc>
                  <a:txBody>
                    <a:bodyPr/>
                    <a:lstStyle/>
                    <a:p>
                      <a:r>
                        <a:rPr lang="en-IN" dirty="0" smtClean="0">
                          <a:latin typeface="Times New Roman" pitchFamily="18" charset="0"/>
                          <a:cs typeface="Times New Roman" pitchFamily="18" charset="0"/>
                        </a:rPr>
                        <a:t>Decoder 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Decoder 2</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Decoder 3</a:t>
                      </a:r>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00</a:t>
                      </a:r>
                      <a:r>
                        <a:rPr lang="en-IN" baseline="0" dirty="0" smtClean="0">
                          <a:latin typeface="Times New Roman" pitchFamily="18" charset="0"/>
                          <a:cs typeface="Times New Roman" pitchFamily="18" charset="0"/>
                        </a:rPr>
                        <a:t> </a:t>
                      </a:r>
                      <a:r>
                        <a:rPr lang="en-IN" baseline="0" dirty="0" smtClean="0">
                          <a:latin typeface="Times New Roman" pitchFamily="18" charset="0"/>
                          <a:cs typeface="Times New Roman" pitchFamily="18" charset="0"/>
                          <a:sym typeface="Symbol"/>
                        </a:rPr>
                        <a:t> NOP</a:t>
                      </a:r>
                    </a:p>
                    <a:p>
                      <a:r>
                        <a:rPr lang="en-IN" baseline="0" dirty="0" smtClean="0">
                          <a:latin typeface="Times New Roman" pitchFamily="18" charset="0"/>
                          <a:cs typeface="Times New Roman" pitchFamily="18" charset="0"/>
                          <a:sym typeface="Symbol"/>
                        </a:rPr>
                        <a:t>01  d</a:t>
                      </a:r>
                    </a:p>
                    <a:p>
                      <a:r>
                        <a:rPr lang="en-IN" baseline="0" dirty="0" smtClean="0">
                          <a:latin typeface="Times New Roman" pitchFamily="18" charset="0"/>
                          <a:cs typeface="Times New Roman" pitchFamily="18" charset="0"/>
                          <a:sym typeface="Symbol"/>
                        </a:rPr>
                        <a:t>10  c</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00</a:t>
                      </a:r>
                      <a:r>
                        <a:rPr lang="en-IN" baseline="0" dirty="0" smtClean="0">
                          <a:latin typeface="Times New Roman" pitchFamily="18" charset="0"/>
                          <a:cs typeface="Times New Roman" pitchFamily="18" charset="0"/>
                        </a:rPr>
                        <a:t> </a:t>
                      </a:r>
                      <a:r>
                        <a:rPr lang="en-IN" baseline="0" dirty="0" smtClean="0">
                          <a:latin typeface="Times New Roman" pitchFamily="18" charset="0"/>
                          <a:cs typeface="Times New Roman" pitchFamily="18" charset="0"/>
                          <a:sym typeface="Symbol"/>
                        </a:rPr>
                        <a:t> NOP</a:t>
                      </a:r>
                    </a:p>
                    <a:p>
                      <a:r>
                        <a:rPr lang="en-IN" baseline="0" dirty="0" smtClean="0">
                          <a:latin typeface="Times New Roman" pitchFamily="18" charset="0"/>
                          <a:cs typeface="Times New Roman" pitchFamily="18" charset="0"/>
                          <a:sym typeface="Symbol"/>
                        </a:rPr>
                        <a:t>01  b</a:t>
                      </a:r>
                    </a:p>
                    <a:p>
                      <a:r>
                        <a:rPr lang="en-IN" baseline="0" dirty="0" smtClean="0">
                          <a:latin typeface="Times New Roman" pitchFamily="18" charset="0"/>
                          <a:cs typeface="Times New Roman" pitchFamily="18" charset="0"/>
                          <a:sym typeface="Symbol"/>
                        </a:rPr>
                        <a:t>10  e</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00</a:t>
                      </a:r>
                      <a:r>
                        <a:rPr lang="en-IN" baseline="0" dirty="0" smtClean="0">
                          <a:latin typeface="Times New Roman" pitchFamily="18" charset="0"/>
                          <a:cs typeface="Times New Roman" pitchFamily="18" charset="0"/>
                        </a:rPr>
                        <a:t> </a:t>
                      </a:r>
                      <a:r>
                        <a:rPr lang="en-IN" baseline="0" dirty="0" smtClean="0">
                          <a:latin typeface="Times New Roman" pitchFamily="18" charset="0"/>
                          <a:cs typeface="Times New Roman" pitchFamily="18" charset="0"/>
                          <a:sym typeface="Symbol"/>
                        </a:rPr>
                        <a:t> NOP</a:t>
                      </a:r>
                    </a:p>
                    <a:p>
                      <a:r>
                        <a:rPr lang="en-IN" baseline="0" dirty="0" smtClean="0">
                          <a:latin typeface="Times New Roman" pitchFamily="18" charset="0"/>
                          <a:cs typeface="Times New Roman" pitchFamily="18" charset="0"/>
                          <a:sym typeface="Symbol"/>
                        </a:rPr>
                        <a:t>01  f</a:t>
                      </a:r>
                    </a:p>
                    <a:p>
                      <a:r>
                        <a:rPr lang="en-IN" baseline="0" dirty="0" smtClean="0">
                          <a:latin typeface="Times New Roman" pitchFamily="18" charset="0"/>
                          <a:cs typeface="Times New Roman" pitchFamily="18" charset="0"/>
                          <a:sym typeface="Symbol"/>
                        </a:rPr>
                        <a:t>10  g</a:t>
                      </a:r>
                    </a:p>
                    <a:p>
                      <a:r>
                        <a:rPr lang="en-IN" baseline="0" dirty="0" smtClean="0">
                          <a:latin typeface="Times New Roman" pitchFamily="18" charset="0"/>
                          <a:cs typeface="Times New Roman" pitchFamily="18" charset="0"/>
                          <a:sym typeface="Symbol"/>
                        </a:rPr>
                        <a:t>11  h</a:t>
                      </a:r>
                      <a:endParaRPr lang="en-IN" dirty="0">
                        <a:latin typeface="Times New Roman" pitchFamily="18" charset="0"/>
                        <a:cs typeface="Times New Roman" pitchFamily="18" charset="0"/>
                      </a:endParaRPr>
                    </a:p>
                  </a:txBody>
                  <a:tcPr/>
                </a:tc>
              </a:tr>
            </a:tbl>
          </a:graphicData>
        </a:graphic>
      </p:graphicFrame>
      <p:sp>
        <p:nvSpPr>
          <p:cNvPr id="73" name="Rectangle 72"/>
          <p:cNvSpPr/>
          <p:nvPr/>
        </p:nvSpPr>
        <p:spPr>
          <a:xfrm>
            <a:off x="6061165" y="731519"/>
            <a:ext cx="4232366" cy="3265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4" name="TextBox 73"/>
          <p:cNvSpPr txBox="1"/>
          <p:nvPr/>
        </p:nvSpPr>
        <p:spPr>
          <a:xfrm>
            <a:off x="6400799" y="679268"/>
            <a:ext cx="378823" cy="369332"/>
          </a:xfrm>
          <a:prstGeom prst="rect">
            <a:avLst/>
          </a:prstGeom>
          <a:noFill/>
        </p:spPr>
        <p:txBody>
          <a:bodyPr wrap="square" rtlCol="0">
            <a:spAutoFit/>
          </a:bodyPr>
          <a:lstStyle/>
          <a:p>
            <a:r>
              <a:rPr lang="en-IN" dirty="0" smtClean="0">
                <a:latin typeface="Times New Roman" pitchFamily="18" charset="0"/>
                <a:cs typeface="Times New Roman" pitchFamily="18" charset="0"/>
              </a:rPr>
              <a:t>X </a:t>
            </a:r>
            <a:endParaRPr lang="en-IN" dirty="0">
              <a:latin typeface="Times New Roman" pitchFamily="18" charset="0"/>
              <a:cs typeface="Times New Roman" pitchFamily="18" charset="0"/>
            </a:endParaRPr>
          </a:p>
        </p:txBody>
      </p:sp>
      <p:sp>
        <p:nvSpPr>
          <p:cNvPr id="75" name="TextBox 74"/>
          <p:cNvSpPr txBox="1"/>
          <p:nvPr/>
        </p:nvSpPr>
        <p:spPr>
          <a:xfrm>
            <a:off x="9374777" y="674914"/>
            <a:ext cx="539932" cy="369332"/>
          </a:xfrm>
          <a:prstGeom prst="rect">
            <a:avLst/>
          </a:prstGeom>
          <a:noFill/>
        </p:spPr>
        <p:txBody>
          <a:bodyPr wrap="square" rtlCol="0">
            <a:spAutoFit/>
          </a:bodyPr>
          <a:lstStyle/>
          <a:p>
            <a:r>
              <a:rPr lang="en-IN" dirty="0" smtClean="0">
                <a:latin typeface="Times New Roman" pitchFamily="18" charset="0"/>
                <a:cs typeface="Times New Roman" pitchFamily="18" charset="0"/>
              </a:rPr>
              <a:t>XX  </a:t>
            </a:r>
            <a:endParaRPr lang="en-IN" dirty="0">
              <a:latin typeface="Times New Roman" pitchFamily="18" charset="0"/>
              <a:cs typeface="Times New Roman" pitchFamily="18" charset="0"/>
            </a:endParaRPr>
          </a:p>
        </p:txBody>
      </p:sp>
      <p:sp>
        <p:nvSpPr>
          <p:cNvPr id="76" name="TextBox 75"/>
          <p:cNvSpPr txBox="1"/>
          <p:nvPr/>
        </p:nvSpPr>
        <p:spPr>
          <a:xfrm>
            <a:off x="8377646" y="670561"/>
            <a:ext cx="539932" cy="369332"/>
          </a:xfrm>
          <a:prstGeom prst="rect">
            <a:avLst/>
          </a:prstGeom>
          <a:noFill/>
        </p:spPr>
        <p:txBody>
          <a:bodyPr wrap="square" rtlCol="0">
            <a:spAutoFit/>
          </a:bodyPr>
          <a:lstStyle/>
          <a:p>
            <a:r>
              <a:rPr lang="en-IN" dirty="0" smtClean="0">
                <a:latin typeface="Times New Roman" pitchFamily="18" charset="0"/>
                <a:cs typeface="Times New Roman" pitchFamily="18" charset="0"/>
              </a:rPr>
              <a:t>XX  </a:t>
            </a:r>
            <a:endParaRPr lang="en-IN" dirty="0">
              <a:latin typeface="Times New Roman" pitchFamily="18" charset="0"/>
              <a:cs typeface="Times New Roman" pitchFamily="18" charset="0"/>
            </a:endParaRPr>
          </a:p>
        </p:txBody>
      </p:sp>
      <p:sp>
        <p:nvSpPr>
          <p:cNvPr id="77" name="TextBox 76"/>
          <p:cNvSpPr txBox="1"/>
          <p:nvPr/>
        </p:nvSpPr>
        <p:spPr>
          <a:xfrm>
            <a:off x="7354388" y="679269"/>
            <a:ext cx="539932" cy="369332"/>
          </a:xfrm>
          <a:prstGeom prst="rect">
            <a:avLst/>
          </a:prstGeom>
          <a:noFill/>
        </p:spPr>
        <p:txBody>
          <a:bodyPr wrap="square" rtlCol="0">
            <a:spAutoFit/>
          </a:bodyPr>
          <a:lstStyle/>
          <a:p>
            <a:r>
              <a:rPr lang="en-IN" smtClean="0">
                <a:latin typeface="Times New Roman" pitchFamily="18" charset="0"/>
                <a:cs typeface="Times New Roman" pitchFamily="18" charset="0"/>
              </a:rPr>
              <a:t>X </a:t>
            </a:r>
            <a:endParaRPr lang="en-IN" dirty="0">
              <a:latin typeface="Times New Roman" pitchFamily="18" charset="0"/>
              <a:cs typeface="Times New Roman" pitchFamily="18" charset="0"/>
            </a:endParaRPr>
          </a:p>
        </p:txBody>
      </p:sp>
      <p:cxnSp>
        <p:nvCxnSpPr>
          <p:cNvPr id="78" name="Straight Connector 77"/>
          <p:cNvCxnSpPr>
            <a:stCxn id="73" idx="0"/>
            <a:endCxn id="73" idx="2"/>
          </p:cNvCxnSpPr>
          <p:nvPr/>
        </p:nvCxnSpPr>
        <p:spPr>
          <a:xfrm rot="16200000" flipH="1">
            <a:off x="8014062" y="894805"/>
            <a:ext cx="32657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rot="5400000">
            <a:off x="8993778" y="904308"/>
            <a:ext cx="323011" cy="3561"/>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rot="16200000" flipH="1">
            <a:off x="6936377" y="888274"/>
            <a:ext cx="344782" cy="5148"/>
          </a:xfrm>
          <a:prstGeom prst="line">
            <a:avLst/>
          </a:prstGeom>
        </p:spPr>
        <p:style>
          <a:lnRef idx="1">
            <a:schemeClr val="accent1"/>
          </a:lnRef>
          <a:fillRef idx="0">
            <a:schemeClr val="accent1"/>
          </a:fillRef>
          <a:effectRef idx="0">
            <a:schemeClr val="accent1"/>
          </a:effectRef>
          <a:fontRef idx="minor">
            <a:schemeClr val="tx1"/>
          </a:fontRef>
        </p:style>
      </p:cxnSp>
      <p:sp>
        <p:nvSpPr>
          <p:cNvPr id="81" name="TextBox 80"/>
          <p:cNvSpPr txBox="1"/>
          <p:nvPr/>
        </p:nvSpPr>
        <p:spPr>
          <a:xfrm>
            <a:off x="6178732" y="1031965"/>
            <a:ext cx="718457" cy="523220"/>
          </a:xfrm>
          <a:prstGeom prst="rect">
            <a:avLst/>
          </a:prstGeom>
          <a:noFill/>
        </p:spPr>
        <p:txBody>
          <a:bodyPr wrap="square" rtlCol="0">
            <a:spAutoFit/>
          </a:bodyPr>
          <a:lstStyle/>
          <a:p>
            <a:r>
              <a:rPr lang="en-IN" sz="1400" dirty="0" smtClean="0">
                <a:latin typeface="Times New Roman" pitchFamily="18" charset="0"/>
                <a:cs typeface="Times New Roman" pitchFamily="18" charset="0"/>
              </a:rPr>
              <a:t>0 NOP</a:t>
            </a:r>
          </a:p>
          <a:p>
            <a:r>
              <a:rPr lang="en-IN" sz="1400" dirty="0" smtClean="0">
                <a:latin typeface="Times New Roman" pitchFamily="18" charset="0"/>
                <a:cs typeface="Times New Roman" pitchFamily="18" charset="0"/>
              </a:rPr>
              <a:t>1 a  </a:t>
            </a:r>
            <a:endParaRPr lang="en-IN" sz="1400" dirty="0">
              <a:latin typeface="Times New Roman" pitchFamily="18" charset="0"/>
              <a:cs typeface="Times New Roman" pitchFamily="18" charset="0"/>
            </a:endParaRPr>
          </a:p>
        </p:txBody>
      </p:sp>
      <p:sp>
        <p:nvSpPr>
          <p:cNvPr id="82" name="TextBox 81"/>
          <p:cNvSpPr txBox="1"/>
          <p:nvPr/>
        </p:nvSpPr>
        <p:spPr>
          <a:xfrm>
            <a:off x="8155576" y="1271450"/>
            <a:ext cx="957943"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Decoder 1 </a:t>
            </a:r>
            <a:endParaRPr lang="en-IN" sz="1400" dirty="0">
              <a:latin typeface="Times New Roman" pitchFamily="18" charset="0"/>
              <a:cs typeface="Times New Roman" pitchFamily="18" charset="0"/>
            </a:endParaRPr>
          </a:p>
        </p:txBody>
      </p:sp>
      <p:sp>
        <p:nvSpPr>
          <p:cNvPr id="83" name="TextBox 82"/>
          <p:cNvSpPr txBox="1"/>
          <p:nvPr/>
        </p:nvSpPr>
        <p:spPr>
          <a:xfrm>
            <a:off x="9261566" y="1267097"/>
            <a:ext cx="957943"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Decoder 2</a:t>
            </a:r>
            <a:endParaRPr lang="en-IN" sz="1400" dirty="0">
              <a:latin typeface="Times New Roman" pitchFamily="18" charset="0"/>
              <a:cs typeface="Times New Roman" pitchFamily="18" charset="0"/>
            </a:endParaRPr>
          </a:p>
        </p:txBody>
      </p:sp>
      <p:sp>
        <p:nvSpPr>
          <p:cNvPr id="84" name="Rectangle 83"/>
          <p:cNvSpPr/>
          <p:nvPr/>
        </p:nvSpPr>
        <p:spPr>
          <a:xfrm>
            <a:off x="8199119" y="1301932"/>
            <a:ext cx="822960" cy="24819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5" name="Rectangle 84"/>
          <p:cNvSpPr/>
          <p:nvPr/>
        </p:nvSpPr>
        <p:spPr>
          <a:xfrm>
            <a:off x="9318170" y="1297579"/>
            <a:ext cx="822960" cy="24819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6" name="Straight Arrow Connector 85"/>
          <p:cNvCxnSpPr/>
          <p:nvPr/>
        </p:nvCxnSpPr>
        <p:spPr>
          <a:xfrm rot="5400000">
            <a:off x="8597537" y="1177834"/>
            <a:ext cx="222069"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p:nvPr/>
        </p:nvCxnSpPr>
        <p:spPr>
          <a:xfrm rot="5400000">
            <a:off x="8253548" y="1186543"/>
            <a:ext cx="222069"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p:nvPr/>
        </p:nvCxnSpPr>
        <p:spPr>
          <a:xfrm rot="5400000">
            <a:off x="9616440" y="1177835"/>
            <a:ext cx="222069"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p:nvPr/>
        </p:nvCxnSpPr>
        <p:spPr>
          <a:xfrm rot="5400000">
            <a:off x="9311640" y="1160418"/>
            <a:ext cx="222069"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0" name="Rectangle 89"/>
          <p:cNvSpPr/>
          <p:nvPr/>
        </p:nvSpPr>
        <p:spPr>
          <a:xfrm>
            <a:off x="6239691" y="1105989"/>
            <a:ext cx="579120" cy="4093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1" name="TextBox 90"/>
          <p:cNvSpPr txBox="1"/>
          <p:nvPr/>
        </p:nvSpPr>
        <p:spPr>
          <a:xfrm>
            <a:off x="6170022" y="396239"/>
            <a:ext cx="857795" cy="309155"/>
          </a:xfrm>
          <a:prstGeom prst="rect">
            <a:avLst/>
          </a:prstGeom>
          <a:noFill/>
        </p:spPr>
        <p:txBody>
          <a:bodyPr wrap="square" rtlCol="0">
            <a:spAutoFit/>
          </a:bodyPr>
          <a:lstStyle/>
          <a:p>
            <a:r>
              <a:rPr lang="en-IN" sz="1400" dirty="0" smtClean="0">
                <a:latin typeface="Times New Roman" pitchFamily="18" charset="0"/>
                <a:cs typeface="Times New Roman" pitchFamily="18" charset="0"/>
              </a:rPr>
              <a:t>F1=a=C1 </a:t>
            </a:r>
            <a:endParaRPr lang="en-IN" sz="1400" dirty="0">
              <a:latin typeface="Times New Roman" pitchFamily="18" charset="0"/>
              <a:cs typeface="Times New Roman" pitchFamily="18" charset="0"/>
            </a:endParaRPr>
          </a:p>
        </p:txBody>
      </p:sp>
      <p:sp>
        <p:nvSpPr>
          <p:cNvPr id="92" name="TextBox 91"/>
          <p:cNvSpPr txBox="1"/>
          <p:nvPr/>
        </p:nvSpPr>
        <p:spPr>
          <a:xfrm>
            <a:off x="7184571" y="378822"/>
            <a:ext cx="1005840"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F2=c=C2 </a:t>
            </a:r>
            <a:endParaRPr lang="en-IN" sz="1400" dirty="0">
              <a:latin typeface="Times New Roman" pitchFamily="18" charset="0"/>
              <a:cs typeface="Times New Roman" pitchFamily="18" charset="0"/>
            </a:endParaRPr>
          </a:p>
        </p:txBody>
      </p:sp>
      <p:sp>
        <p:nvSpPr>
          <p:cNvPr id="93" name="TextBox 92"/>
          <p:cNvSpPr txBox="1"/>
          <p:nvPr/>
        </p:nvSpPr>
        <p:spPr>
          <a:xfrm>
            <a:off x="8138157" y="391886"/>
            <a:ext cx="1058093"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F3=</a:t>
            </a:r>
            <a:r>
              <a:rPr lang="en-IN" sz="1400" dirty="0" err="1" smtClean="0">
                <a:latin typeface="Times New Roman" pitchFamily="18" charset="0"/>
                <a:cs typeface="Times New Roman" pitchFamily="18" charset="0"/>
              </a:rPr>
              <a:t>bde</a:t>
            </a:r>
            <a:r>
              <a:rPr lang="en-IN" sz="1400" dirty="0" smtClean="0">
                <a:latin typeface="Times New Roman" pitchFamily="18" charset="0"/>
                <a:cs typeface="Times New Roman" pitchFamily="18" charset="0"/>
              </a:rPr>
              <a:t>=C3 </a:t>
            </a:r>
            <a:endParaRPr lang="en-IN" sz="1400" dirty="0">
              <a:latin typeface="Times New Roman" pitchFamily="18" charset="0"/>
              <a:cs typeface="Times New Roman" pitchFamily="18" charset="0"/>
            </a:endParaRPr>
          </a:p>
        </p:txBody>
      </p:sp>
      <p:sp>
        <p:nvSpPr>
          <p:cNvPr id="94" name="TextBox 93"/>
          <p:cNvSpPr txBox="1"/>
          <p:nvPr/>
        </p:nvSpPr>
        <p:spPr>
          <a:xfrm>
            <a:off x="9178833" y="387531"/>
            <a:ext cx="1036322" cy="317863"/>
          </a:xfrm>
          <a:prstGeom prst="rect">
            <a:avLst/>
          </a:prstGeom>
          <a:noFill/>
        </p:spPr>
        <p:txBody>
          <a:bodyPr wrap="square" rtlCol="0">
            <a:spAutoFit/>
          </a:bodyPr>
          <a:lstStyle/>
          <a:p>
            <a:r>
              <a:rPr lang="en-IN" sz="1400" dirty="0" smtClean="0">
                <a:latin typeface="Times New Roman" pitchFamily="18" charset="0"/>
                <a:cs typeface="Times New Roman" pitchFamily="18" charset="0"/>
              </a:rPr>
              <a:t>F4=</a:t>
            </a:r>
            <a:r>
              <a:rPr lang="en-IN" sz="1400" dirty="0" err="1" smtClean="0">
                <a:latin typeface="Times New Roman" pitchFamily="18" charset="0"/>
                <a:cs typeface="Times New Roman" pitchFamily="18" charset="0"/>
              </a:rPr>
              <a:t>fgh</a:t>
            </a:r>
            <a:r>
              <a:rPr lang="en-IN" sz="1400" dirty="0" smtClean="0">
                <a:latin typeface="Times New Roman" pitchFamily="18" charset="0"/>
                <a:cs typeface="Times New Roman" pitchFamily="18" charset="0"/>
              </a:rPr>
              <a:t>=C8 </a:t>
            </a:r>
            <a:endParaRPr lang="en-IN" sz="1400" dirty="0">
              <a:latin typeface="Times New Roman" pitchFamily="18" charset="0"/>
              <a:cs typeface="Times New Roman" pitchFamily="18" charset="0"/>
            </a:endParaRPr>
          </a:p>
        </p:txBody>
      </p:sp>
      <p:graphicFrame>
        <p:nvGraphicFramePr>
          <p:cNvPr id="95" name="Table 94"/>
          <p:cNvGraphicFramePr>
            <a:graphicFrameLocks noGrp="1"/>
          </p:cNvGraphicFramePr>
          <p:nvPr/>
        </p:nvGraphicFramePr>
        <p:xfrm>
          <a:off x="6852193" y="1699380"/>
          <a:ext cx="2743200" cy="1559560"/>
        </p:xfrm>
        <a:graphic>
          <a:graphicData uri="http://schemas.openxmlformats.org/drawingml/2006/table">
            <a:tbl>
              <a:tblPr firstRow="1" bandRow="1">
                <a:tableStyleId>{5C22544A-7EE6-4342-B048-85BDC9FD1C3A}</a:tableStyleId>
              </a:tblPr>
              <a:tblGrid>
                <a:gridCol w="1319349"/>
                <a:gridCol w="1423851"/>
              </a:tblGrid>
              <a:tr h="370840">
                <a:tc>
                  <a:txBody>
                    <a:bodyPr/>
                    <a:lstStyle/>
                    <a:p>
                      <a:r>
                        <a:rPr lang="en-IN" dirty="0" smtClean="0">
                          <a:latin typeface="Times New Roman" pitchFamily="18" charset="0"/>
                          <a:cs typeface="Times New Roman" pitchFamily="18" charset="0"/>
                        </a:rPr>
                        <a:t>Decoder 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Decoder 2</a:t>
                      </a:r>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00</a:t>
                      </a:r>
                      <a:r>
                        <a:rPr lang="en-IN" baseline="0" dirty="0" smtClean="0">
                          <a:latin typeface="Times New Roman" pitchFamily="18" charset="0"/>
                          <a:cs typeface="Times New Roman" pitchFamily="18" charset="0"/>
                        </a:rPr>
                        <a:t> </a:t>
                      </a:r>
                      <a:r>
                        <a:rPr lang="en-IN" baseline="0" dirty="0" smtClean="0">
                          <a:latin typeface="Times New Roman" pitchFamily="18" charset="0"/>
                          <a:cs typeface="Times New Roman" pitchFamily="18" charset="0"/>
                          <a:sym typeface="Symbol"/>
                        </a:rPr>
                        <a:t> NOP</a:t>
                      </a:r>
                    </a:p>
                    <a:p>
                      <a:r>
                        <a:rPr lang="en-IN" baseline="0" dirty="0" smtClean="0">
                          <a:latin typeface="Times New Roman" pitchFamily="18" charset="0"/>
                          <a:cs typeface="Times New Roman" pitchFamily="18" charset="0"/>
                          <a:sym typeface="Symbol"/>
                        </a:rPr>
                        <a:t>01  b</a:t>
                      </a:r>
                    </a:p>
                    <a:p>
                      <a:r>
                        <a:rPr lang="en-IN" baseline="0" dirty="0" smtClean="0">
                          <a:latin typeface="Times New Roman" pitchFamily="18" charset="0"/>
                          <a:cs typeface="Times New Roman" pitchFamily="18" charset="0"/>
                          <a:sym typeface="Symbol"/>
                        </a:rPr>
                        <a:t>10  d</a:t>
                      </a:r>
                    </a:p>
                    <a:p>
                      <a:r>
                        <a:rPr lang="en-IN" baseline="0" dirty="0" smtClean="0">
                          <a:latin typeface="Times New Roman" pitchFamily="18" charset="0"/>
                          <a:cs typeface="Times New Roman" pitchFamily="18" charset="0"/>
                          <a:sym typeface="Symbol"/>
                        </a:rPr>
                        <a:t>11  e</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00</a:t>
                      </a:r>
                      <a:r>
                        <a:rPr lang="en-IN" baseline="0" dirty="0" smtClean="0">
                          <a:latin typeface="Times New Roman" pitchFamily="18" charset="0"/>
                          <a:cs typeface="Times New Roman" pitchFamily="18" charset="0"/>
                        </a:rPr>
                        <a:t> </a:t>
                      </a:r>
                      <a:r>
                        <a:rPr lang="en-IN" baseline="0" dirty="0" smtClean="0">
                          <a:latin typeface="Times New Roman" pitchFamily="18" charset="0"/>
                          <a:cs typeface="Times New Roman" pitchFamily="18" charset="0"/>
                          <a:sym typeface="Symbol"/>
                        </a:rPr>
                        <a:t> NOP</a:t>
                      </a:r>
                    </a:p>
                    <a:p>
                      <a:r>
                        <a:rPr lang="en-IN" baseline="0" dirty="0" smtClean="0">
                          <a:latin typeface="Times New Roman" pitchFamily="18" charset="0"/>
                          <a:cs typeface="Times New Roman" pitchFamily="18" charset="0"/>
                          <a:sym typeface="Symbol"/>
                        </a:rPr>
                        <a:t>01  f</a:t>
                      </a:r>
                    </a:p>
                    <a:p>
                      <a:r>
                        <a:rPr lang="en-IN" baseline="0" dirty="0" smtClean="0">
                          <a:latin typeface="Times New Roman" pitchFamily="18" charset="0"/>
                          <a:cs typeface="Times New Roman" pitchFamily="18" charset="0"/>
                          <a:sym typeface="Symbol"/>
                        </a:rPr>
                        <a:t>10  g</a:t>
                      </a:r>
                    </a:p>
                    <a:p>
                      <a:r>
                        <a:rPr lang="en-IN" baseline="0" dirty="0" smtClean="0">
                          <a:latin typeface="Times New Roman" pitchFamily="18" charset="0"/>
                          <a:cs typeface="Times New Roman" pitchFamily="18" charset="0"/>
                          <a:sym typeface="Symbol"/>
                        </a:rPr>
                        <a:t>11  h</a:t>
                      </a:r>
                      <a:endParaRPr lang="en-IN" dirty="0">
                        <a:latin typeface="Times New Roman" pitchFamily="18" charset="0"/>
                        <a:cs typeface="Times New Roman" pitchFamily="18" charset="0"/>
                      </a:endParaRPr>
                    </a:p>
                  </a:txBody>
                  <a:tcPr/>
                </a:tc>
              </a:tr>
            </a:tbl>
          </a:graphicData>
        </a:graphic>
      </p:graphicFrame>
      <p:sp>
        <p:nvSpPr>
          <p:cNvPr id="96" name="TextBox 95"/>
          <p:cNvSpPr txBox="1"/>
          <p:nvPr/>
        </p:nvSpPr>
        <p:spPr>
          <a:xfrm>
            <a:off x="5943599" y="3409406"/>
            <a:ext cx="5255623" cy="923330"/>
          </a:xfrm>
          <a:prstGeom prst="rect">
            <a:avLst/>
          </a:prstGeom>
          <a:noFill/>
        </p:spPr>
        <p:txBody>
          <a:bodyPr wrap="square" rtlCol="0">
            <a:spAutoFit/>
          </a:bodyPr>
          <a:lstStyle/>
          <a:p>
            <a:r>
              <a:rPr lang="en-IN" dirty="0" smtClean="0">
                <a:latin typeface="Times New Roman" pitchFamily="18" charset="0"/>
                <a:cs typeface="Times New Roman" pitchFamily="18" charset="0"/>
              </a:rPr>
              <a:t>If we want to cover d by C3 then delete d from C2 to obtain the partition {a, c, </a:t>
            </a:r>
            <a:r>
              <a:rPr lang="en-IN" dirty="0" err="1" smtClean="0">
                <a:latin typeface="Times New Roman" pitchFamily="18" charset="0"/>
                <a:cs typeface="Times New Roman" pitchFamily="18" charset="0"/>
              </a:rPr>
              <a:t>bde</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fgh</a:t>
            </a:r>
            <a:r>
              <a:rPr lang="en-IN" dirty="0" smtClean="0">
                <a:latin typeface="Times New Roman" pitchFamily="18" charset="0"/>
                <a:cs typeface="Times New Roman" pitchFamily="18" charset="0"/>
              </a:rPr>
              <a:t>}</a:t>
            </a:r>
          </a:p>
          <a:p>
            <a:r>
              <a:rPr lang="en-IN" dirty="0" smtClean="0">
                <a:latin typeface="Times New Roman" pitchFamily="18" charset="0"/>
                <a:cs typeface="Times New Roman" pitchFamily="18" charset="0"/>
              </a:rPr>
              <a:t>W =  6 bits, number of decoder reduces</a:t>
            </a:r>
            <a:endParaRPr lang="en-IN" dirty="0"/>
          </a:p>
        </p:txBody>
      </p:sp>
      <p:sp>
        <p:nvSpPr>
          <p:cNvPr id="97" name="TextBox 96"/>
          <p:cNvSpPr txBox="1"/>
          <p:nvPr/>
        </p:nvSpPr>
        <p:spPr>
          <a:xfrm>
            <a:off x="165462" y="5024846"/>
            <a:ext cx="11630298" cy="646331"/>
          </a:xfrm>
          <a:prstGeom prst="rect">
            <a:avLst/>
          </a:prstGeom>
          <a:noFill/>
        </p:spPr>
        <p:txBody>
          <a:bodyPr wrap="square" rtlCol="0">
            <a:spAutoFit/>
          </a:bodyPr>
          <a:lstStyle/>
          <a:p>
            <a:r>
              <a:rPr lang="en-IN" dirty="0" smtClean="0">
                <a:latin typeface="Times New Roman" pitchFamily="18" charset="0"/>
                <a:cs typeface="Times New Roman" pitchFamily="18" charset="0"/>
              </a:rPr>
              <a:t>Totally horizontal microinstruction format needs 8 bits in control field for 8 control signals without the use of any decoder. So vertical format needs 6 bits and horizontal format needs 8 bits in the control field.</a:t>
            </a:r>
            <a:endParaRPr lang="en-IN"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5550</TotalTime>
  <Words>4186</Words>
  <Application>Microsoft Office PowerPoint</Application>
  <PresentationFormat>Custom</PresentationFormat>
  <Paragraphs>763</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cst_laptop5</dc:creator>
  <cp:lastModifiedBy>cst_laptop5</cp:lastModifiedBy>
  <cp:revision>152</cp:revision>
  <dcterms:created xsi:type="dcterms:W3CDTF">2025-07-08T07:26:39Z</dcterms:created>
  <dcterms:modified xsi:type="dcterms:W3CDTF">2026-02-03T05:24:57Z</dcterms:modified>
</cp:coreProperties>
</file>