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8" r:id="rId10"/>
    <p:sldId id="269" r:id="rId11"/>
    <p:sldId id="294" r:id="rId12"/>
    <p:sldId id="271" r:id="rId13"/>
    <p:sldId id="295" r:id="rId14"/>
    <p:sldId id="273" r:id="rId15"/>
    <p:sldId id="274" r:id="rId16"/>
    <p:sldId id="275" r:id="rId17"/>
    <p:sldId id="276" r:id="rId18"/>
    <p:sldId id="278" r:id="rId19"/>
    <p:sldId id="279" r:id="rId20"/>
    <p:sldId id="296" r:id="rId21"/>
    <p:sldId id="280" r:id="rId22"/>
    <p:sldId id="281" r:id="rId23"/>
    <p:sldId id="297" r:id="rId24"/>
    <p:sldId id="277" r:id="rId25"/>
    <p:sldId id="282" r:id="rId26"/>
    <p:sldId id="283" r:id="rId27"/>
    <p:sldId id="284" r:id="rId28"/>
    <p:sldId id="298" r:id="rId29"/>
    <p:sldId id="285" r:id="rId30"/>
    <p:sldId id="286" r:id="rId31"/>
    <p:sldId id="287" r:id="rId32"/>
    <p:sldId id="289" r:id="rId33"/>
    <p:sldId id="290" r:id="rId34"/>
    <p:sldId id="292" r:id="rId35"/>
    <p:sldId id="29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snapToGrid="0">
      <p:cViewPr varScale="1">
        <p:scale>
          <a:sx n="73" d="100"/>
          <a:sy n="73" d="100"/>
        </p:scale>
        <p:origin x="-61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307205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4147730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3711833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2625268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3657025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2565505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1218712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319564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26634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938563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2345DB4-485C-44AE-9C87-DA551E77A055}" type="datetimeFigureOut">
              <a:rPr lang="en-IN" smtClean="0"/>
              <a:pPr/>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2462026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345DB4-485C-44AE-9C87-DA551E77A055}" type="datetimeFigureOut">
              <a:rPr lang="en-IN" smtClean="0"/>
              <a:pPr/>
              <a:t>01-04-2026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68FAD6-45BE-4DE0-9FCF-7F7CF9C7CFE0}" type="slidenum">
              <a:rPr lang="en-IN" smtClean="0"/>
              <a:pPr/>
              <a:t>‹#›</a:t>
            </a:fld>
            <a:endParaRPr lang="en-IN"/>
          </a:p>
        </p:txBody>
      </p:sp>
    </p:spTree>
    <p:extLst>
      <p:ext uri="{BB962C8B-B14F-4D97-AF65-F5344CB8AC3E}">
        <p14:creationId xmlns="" xmlns:p14="http://schemas.microsoft.com/office/powerpoint/2010/main" val="2183810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0305" y="206062"/>
            <a:ext cx="11784168" cy="397031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Peripherals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Basic properties</a:t>
            </a:r>
            <a:r>
              <a:rPr lang="en-IN" dirty="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Peripherals </a:t>
            </a:r>
            <a:r>
              <a:rPr lang="en-IN" dirty="0">
                <a:latin typeface="Times New Roman" panose="02020603050405020304" pitchFamily="18" charset="0"/>
                <a:cs typeface="Times New Roman" panose="02020603050405020304" pitchFamily="18" charset="0"/>
              </a:rPr>
              <a:t>are IO devices using which the processor can communicate with the external </a:t>
            </a:r>
            <a:r>
              <a:rPr lang="en-IN" dirty="0" smtClean="0">
                <a:latin typeface="Times New Roman" panose="02020603050405020304" pitchFamily="18" charset="0"/>
                <a:cs typeface="Times New Roman" panose="02020603050405020304" pitchFamily="18" charset="0"/>
              </a:rPr>
              <a:t>world.</a:t>
            </a:r>
          </a:p>
          <a:p>
            <a:r>
              <a:rPr lang="en-IN" u="sng" dirty="0" smtClean="0">
                <a:latin typeface="Times New Roman" panose="02020603050405020304" pitchFamily="18" charset="0"/>
                <a:cs typeface="Times New Roman" panose="02020603050405020304" pitchFamily="18" charset="0"/>
              </a:rPr>
              <a:t>Function </a:t>
            </a:r>
            <a:r>
              <a:rPr lang="en-IN" u="sng" dirty="0">
                <a:latin typeface="Times New Roman" panose="02020603050405020304" pitchFamily="18" charset="0"/>
                <a:cs typeface="Times New Roman" panose="02020603050405020304" pitchFamily="18" charset="0"/>
              </a:rPr>
              <a:t>of IO </a:t>
            </a:r>
            <a:r>
              <a:rPr lang="en-IN" u="sng" dirty="0" smtClean="0">
                <a:latin typeface="Times New Roman" panose="02020603050405020304" pitchFamily="18" charset="0"/>
                <a:cs typeface="Times New Roman" panose="02020603050405020304" pitchFamily="18" charset="0"/>
              </a:rPr>
              <a:t>devices</a:t>
            </a:r>
          </a:p>
          <a:p>
            <a:r>
              <a:rPr lang="en-IN" dirty="0" smtClean="0">
                <a:latin typeface="Times New Roman" panose="02020603050405020304" pitchFamily="18" charset="0"/>
                <a:cs typeface="Times New Roman" panose="02020603050405020304" pitchFamily="18" charset="0"/>
              </a:rPr>
              <a:t>Act </a:t>
            </a:r>
            <a:r>
              <a:rPr lang="en-IN" dirty="0">
                <a:latin typeface="Times New Roman" panose="02020603050405020304" pitchFamily="18" charset="0"/>
                <a:cs typeface="Times New Roman" panose="02020603050405020304" pitchFamily="18" charset="0"/>
              </a:rPr>
              <a:t>as data transducers i.e., to convert information from one physical representation to another.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Do </a:t>
            </a:r>
            <a:r>
              <a:rPr lang="en-IN" dirty="0">
                <a:latin typeface="Times New Roman" panose="02020603050405020304" pitchFamily="18" charset="0"/>
                <a:cs typeface="Times New Roman" panose="02020603050405020304" pitchFamily="18" charset="0"/>
              </a:rPr>
              <a:t>not alter the information content or meaning of the data on which they act.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Since </a:t>
            </a:r>
            <a:r>
              <a:rPr lang="en-IN" dirty="0">
                <a:latin typeface="Times New Roman" panose="02020603050405020304" pitchFamily="18" charset="0"/>
                <a:cs typeface="Times New Roman" panose="02020603050405020304" pitchFamily="18" charset="0"/>
              </a:rPr>
              <a:t>data is transferred and processed within a computer system in the form of digital electrical signals, input devices transform other form of information to digital electrical signals and output devices transform digital electrical signals to other form of information.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Many </a:t>
            </a:r>
            <a:r>
              <a:rPr lang="en-IN" dirty="0">
                <a:latin typeface="Times New Roman" panose="02020603050405020304" pitchFamily="18" charset="0"/>
                <a:cs typeface="Times New Roman" panose="02020603050405020304" pitchFamily="18" charset="0"/>
              </a:rPr>
              <a:t>of such devices use electromechanical technology and hence slower than CPU and main memory.</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Bus</a:t>
            </a:r>
            <a:r>
              <a:rPr lang="en-IN" dirty="0">
                <a:latin typeface="Times New Roman" panose="02020603050405020304" pitchFamily="18" charset="0"/>
                <a:cs typeface="Times New Roman" panose="02020603050405020304" pitchFamily="18" charset="0"/>
              </a:rPr>
              <a:t>: The various processor level components like CPU, IOP, Memory, IO or peripheral devices of a computer system are interconnected by buses. The system components communicate with each other through bus.  </a:t>
            </a:r>
          </a:p>
        </p:txBody>
      </p:sp>
      <p:sp>
        <p:nvSpPr>
          <p:cNvPr id="5" name="Rectangle 4"/>
          <p:cNvSpPr/>
          <p:nvPr/>
        </p:nvSpPr>
        <p:spPr>
          <a:xfrm>
            <a:off x="387925" y="4814851"/>
            <a:ext cx="3782291" cy="353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863429" y="4774867"/>
            <a:ext cx="81049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Bus</a:t>
            </a:r>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297871" y="5604560"/>
            <a:ext cx="63038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CPU</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091044" y="5604560"/>
            <a:ext cx="60613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MM</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873823" y="5611488"/>
            <a:ext cx="81049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IOD1</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3629885" y="5601097"/>
            <a:ext cx="810491"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IODn</a:t>
            </a:r>
            <a:endParaRPr lang="en-IN" dirty="0">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658088" y="5168142"/>
            <a:ext cx="0" cy="436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392379" y="5168142"/>
            <a:ext cx="0" cy="436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268676" y="5175070"/>
            <a:ext cx="0" cy="436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927760" y="5168142"/>
            <a:ext cx="0" cy="436418"/>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871" y="5633363"/>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1111826" y="5620693"/>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1953485" y="5618416"/>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647203" y="5618416"/>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6770506" y="5038121"/>
            <a:ext cx="1759527" cy="353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6944265" y="4999136"/>
            <a:ext cx="142297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Memory bus</a:t>
            </a:r>
            <a:endParaRPr lang="en-IN"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6680452" y="5827830"/>
            <a:ext cx="63038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CPU</a:t>
            </a:r>
            <a:endParaRPr lang="en-IN"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7473625" y="5827830"/>
            <a:ext cx="60613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MM</a:t>
            </a:r>
            <a:endParaRPr lang="en-IN"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9447496" y="5769526"/>
            <a:ext cx="81049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IOD1</a:t>
            </a:r>
            <a:endParaRPr lang="en-IN"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10746173" y="5683360"/>
            <a:ext cx="810491"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IODn</a:t>
            </a:r>
            <a:endParaRPr lang="en-IN" dirty="0">
              <a:latin typeface="Times New Roman" panose="02020603050405020304" pitchFamily="18" charset="0"/>
              <a:cs typeface="Times New Roman" panose="02020603050405020304" pitchFamily="18" charset="0"/>
            </a:endParaRPr>
          </a:p>
        </p:txBody>
      </p:sp>
      <p:cxnSp>
        <p:nvCxnSpPr>
          <p:cNvPr id="26" name="Straight Connector 25"/>
          <p:cNvCxnSpPr/>
          <p:nvPr/>
        </p:nvCxnSpPr>
        <p:spPr>
          <a:xfrm>
            <a:off x="7040669" y="5391412"/>
            <a:ext cx="0" cy="436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7774960" y="5391412"/>
            <a:ext cx="0" cy="436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357230" y="5391412"/>
            <a:ext cx="0" cy="436418"/>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6680452" y="5856633"/>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7494407" y="5843963"/>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p:cNvSpPr/>
          <p:nvPr/>
        </p:nvSpPr>
        <p:spPr>
          <a:xfrm>
            <a:off x="9504419" y="5759135"/>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p:cNvSpPr/>
          <p:nvPr/>
        </p:nvSpPr>
        <p:spPr>
          <a:xfrm>
            <a:off x="10800994" y="5719850"/>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p:cNvSpPr txBox="1"/>
          <p:nvPr/>
        </p:nvSpPr>
        <p:spPr>
          <a:xfrm>
            <a:off x="8182890" y="5843963"/>
            <a:ext cx="63384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IOP</a:t>
            </a:r>
            <a:endParaRPr lang="en-IN" dirty="0">
              <a:latin typeface="Times New Roman" panose="02020603050405020304" pitchFamily="18" charset="0"/>
              <a:cs typeface="Times New Roman" panose="02020603050405020304" pitchFamily="18" charset="0"/>
            </a:endParaRPr>
          </a:p>
        </p:txBody>
      </p:sp>
      <p:sp>
        <p:nvSpPr>
          <p:cNvPr id="35" name="Rectangle 34"/>
          <p:cNvSpPr/>
          <p:nvPr/>
        </p:nvSpPr>
        <p:spPr>
          <a:xfrm>
            <a:off x="8213681" y="5850774"/>
            <a:ext cx="630381" cy="337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p:cNvSpPr/>
          <p:nvPr/>
        </p:nvSpPr>
        <p:spPr>
          <a:xfrm>
            <a:off x="9529461" y="4946482"/>
            <a:ext cx="1759527" cy="353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p:cNvSpPr txBox="1"/>
          <p:nvPr/>
        </p:nvSpPr>
        <p:spPr>
          <a:xfrm>
            <a:off x="9703220" y="4907497"/>
            <a:ext cx="142297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IO bus</a:t>
            </a:r>
            <a:endParaRPr lang="en-IN" dirty="0">
              <a:latin typeface="Times New Roman" panose="02020603050405020304" pitchFamily="18" charset="0"/>
              <a:cs typeface="Times New Roman" panose="02020603050405020304" pitchFamily="18" charset="0"/>
            </a:endParaRPr>
          </a:p>
        </p:txBody>
      </p:sp>
      <p:cxnSp>
        <p:nvCxnSpPr>
          <p:cNvPr id="40" name="Straight Connector 39"/>
          <p:cNvCxnSpPr/>
          <p:nvPr/>
        </p:nvCxnSpPr>
        <p:spPr>
          <a:xfrm>
            <a:off x="9799624" y="5299773"/>
            <a:ext cx="0" cy="436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11116185" y="5299773"/>
            <a:ext cx="0" cy="436418"/>
          </a:xfrm>
          <a:prstGeom prst="line">
            <a:avLst/>
          </a:prstGeom>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2777930" y="5746324"/>
            <a:ext cx="103909" cy="831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3072052" y="5754590"/>
            <a:ext cx="103909" cy="831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p:cNvSpPr/>
          <p:nvPr/>
        </p:nvSpPr>
        <p:spPr>
          <a:xfrm>
            <a:off x="3352014" y="5760178"/>
            <a:ext cx="103909" cy="831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p:cNvSpPr/>
          <p:nvPr/>
        </p:nvSpPr>
        <p:spPr>
          <a:xfrm>
            <a:off x="10200881" y="5912628"/>
            <a:ext cx="103909" cy="831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10387196" y="5916092"/>
            <a:ext cx="81507" cy="76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10595461" y="5903423"/>
            <a:ext cx="103909" cy="831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p:cNvSpPr txBox="1"/>
          <p:nvPr/>
        </p:nvSpPr>
        <p:spPr>
          <a:xfrm>
            <a:off x="926776" y="6203524"/>
            <a:ext cx="268379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Fig.1: Single bus system</a:t>
            </a:r>
            <a:endParaRPr lang="en-IN" dirty="0">
              <a:latin typeface="Times New Roman" panose="02020603050405020304" pitchFamily="18" charset="0"/>
              <a:cs typeface="Times New Roman" panose="02020603050405020304" pitchFamily="18" charset="0"/>
            </a:endParaRPr>
          </a:p>
        </p:txBody>
      </p:sp>
      <p:sp>
        <p:nvSpPr>
          <p:cNvPr id="54" name="TextBox 53"/>
          <p:cNvSpPr txBox="1"/>
          <p:nvPr/>
        </p:nvSpPr>
        <p:spPr>
          <a:xfrm>
            <a:off x="7659231" y="6317571"/>
            <a:ext cx="268379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Fig.2: Double bus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83703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45" y="154745"/>
            <a:ext cx="11859064" cy="6186309"/>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Bus </a:t>
            </a:r>
            <a:r>
              <a:rPr lang="en-IN" dirty="0">
                <a:latin typeface="Times New Roman" panose="02020603050405020304" pitchFamily="18" charset="0"/>
                <a:cs typeface="Times New Roman" panose="02020603050405020304" pitchFamily="18" charset="0"/>
              </a:rPr>
              <a:t>is shared among CPU, main memory (MM) and </a:t>
            </a:r>
            <a:r>
              <a:rPr lang="en-IN" b="1" dirty="0">
                <a:latin typeface="Times New Roman" panose="02020603050405020304" pitchFamily="18" charset="0"/>
                <a:cs typeface="Times New Roman" panose="02020603050405020304" pitchFamily="18" charset="0"/>
              </a:rPr>
              <a:t>n</a:t>
            </a:r>
            <a:r>
              <a:rPr lang="en-IN" dirty="0">
                <a:latin typeface="Times New Roman" panose="02020603050405020304" pitchFamily="18" charset="0"/>
                <a:cs typeface="Times New Roman" panose="02020603050405020304" pitchFamily="18" charset="0"/>
              </a:rPr>
              <a:t> number of IO </a:t>
            </a:r>
            <a:r>
              <a:rPr lang="en-IN" dirty="0" smtClean="0">
                <a:latin typeface="Times New Roman" panose="02020603050405020304" pitchFamily="18" charset="0"/>
                <a:cs typeface="Times New Roman" panose="02020603050405020304" pitchFamily="18" charset="0"/>
              </a:rPr>
              <a:t>devices in single bus system</a:t>
            </a:r>
          </a:p>
          <a:p>
            <a:r>
              <a:rPr lang="en-IN" dirty="0" smtClean="0">
                <a:latin typeface="Times New Roman" panose="02020603050405020304" pitchFamily="18" charset="0"/>
                <a:cs typeface="Times New Roman" panose="02020603050405020304" pitchFamily="18" charset="0"/>
              </a:rPr>
              <a:t>In </a:t>
            </a:r>
            <a:r>
              <a:rPr lang="en-IN" dirty="0">
                <a:latin typeface="Times New Roman" panose="02020603050405020304" pitchFamily="18" charset="0"/>
                <a:cs typeface="Times New Roman" panose="02020603050405020304" pitchFamily="18" charset="0"/>
              </a:rPr>
              <a:t>double bus </a:t>
            </a:r>
            <a:r>
              <a:rPr lang="en-IN" dirty="0" smtClean="0">
                <a:latin typeface="Times New Roman" panose="02020603050405020304" pitchFamily="18" charset="0"/>
                <a:cs typeface="Times New Roman" panose="02020603050405020304" pitchFamily="18" charset="0"/>
              </a:rPr>
              <a:t>system, memory </a:t>
            </a:r>
            <a:r>
              <a:rPr lang="en-IN" dirty="0">
                <a:latin typeface="Times New Roman" panose="02020603050405020304" pitchFamily="18" charset="0"/>
                <a:cs typeface="Times New Roman" panose="02020603050405020304" pitchFamily="18" charset="0"/>
              </a:rPr>
              <a:t>bus is used for communication among CPU, MM and IO processor (IOP) whereas IO bus is used for communication between IOP and </a:t>
            </a:r>
            <a:r>
              <a:rPr lang="en-IN" b="1" dirty="0">
                <a:latin typeface="Times New Roman" panose="02020603050405020304" pitchFamily="18" charset="0"/>
                <a:cs typeface="Times New Roman" panose="02020603050405020304" pitchFamily="18" charset="0"/>
              </a:rPr>
              <a:t>n</a:t>
            </a:r>
            <a:r>
              <a:rPr lang="en-IN" dirty="0">
                <a:latin typeface="Times New Roman" panose="02020603050405020304" pitchFamily="18" charset="0"/>
                <a:cs typeface="Times New Roman" panose="02020603050405020304" pitchFamily="18" charset="0"/>
              </a:rPr>
              <a:t> number of IO </a:t>
            </a:r>
            <a:r>
              <a:rPr lang="en-IN" dirty="0" smtClean="0">
                <a:latin typeface="Times New Roman" panose="02020603050405020304" pitchFamily="18" charset="0"/>
                <a:cs typeface="Times New Roman" panose="02020603050405020304" pitchFamily="18" charset="0"/>
              </a:rPr>
              <a:t>devices </a:t>
            </a:r>
          </a:p>
          <a:p>
            <a:r>
              <a:rPr lang="en-IN" dirty="0" smtClean="0">
                <a:latin typeface="Times New Roman" panose="02020603050405020304" pitchFamily="18" charset="0"/>
                <a:cs typeface="Times New Roman" panose="02020603050405020304" pitchFamily="18" charset="0"/>
              </a:rPr>
              <a:t>Communication </a:t>
            </a:r>
            <a:r>
              <a:rPr lang="en-IN" dirty="0">
                <a:latin typeface="Times New Roman" panose="02020603050405020304" pitchFamily="18" charset="0"/>
                <a:cs typeface="Times New Roman" panose="02020603050405020304" pitchFamily="18" charset="0"/>
              </a:rPr>
              <a:t>between MM and CPU is straightforward but the communication between IOP and IO devices is a source of difficulty due to the wide variety of operating characteristics (such as speed, some devices are electromechanical type etc.) of IO devices</a:t>
            </a:r>
            <a:r>
              <a:rPr lang="en-IN" dirty="0" smtClean="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Bus control</a:t>
            </a:r>
            <a:r>
              <a:rPr lang="en-IN" dirty="0">
                <a:latin typeface="Times New Roman" panose="02020603050405020304" pitchFamily="18" charset="0"/>
                <a:cs typeface="Times New Roman" panose="02020603050405020304" pitchFamily="18" charset="0"/>
              </a:rPr>
              <a:t>: As multiple devices are connected to the same bus so it is required to control the time of transferring information through the bus and to select one device from multiple devices that can gain access to the </a:t>
            </a:r>
            <a:r>
              <a:rPr lang="en-IN" dirty="0" smtClean="0">
                <a:latin typeface="Times New Roman" panose="02020603050405020304" pitchFamily="18" charset="0"/>
                <a:cs typeface="Times New Roman" panose="02020603050405020304" pitchFamily="18" charset="0"/>
              </a:rPr>
              <a:t>bus.</a:t>
            </a:r>
          </a:p>
          <a:p>
            <a:r>
              <a:rPr lang="en-IN" dirty="0" smtClean="0">
                <a:latin typeface="Times New Roman" panose="02020603050405020304" pitchFamily="18" charset="0"/>
                <a:cs typeface="Times New Roman" panose="02020603050405020304" pitchFamily="18" charset="0"/>
              </a:rPr>
              <a:t>Devices </a:t>
            </a:r>
            <a:r>
              <a:rPr lang="en-IN" dirty="0">
                <a:latin typeface="Times New Roman" panose="02020603050405020304" pitchFamily="18" charset="0"/>
                <a:cs typeface="Times New Roman" panose="02020603050405020304" pitchFamily="18" charset="0"/>
              </a:rPr>
              <a:t>are categorized as bus master and bus slave. </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Bus </a:t>
            </a:r>
            <a:r>
              <a:rPr lang="en-IN" b="1" dirty="0" smtClean="0">
                <a:latin typeface="Times New Roman" panose="02020603050405020304" pitchFamily="18" charset="0"/>
                <a:cs typeface="Times New Roman" panose="02020603050405020304" pitchFamily="18" charset="0"/>
              </a:rPr>
              <a:t>master</a:t>
            </a:r>
          </a:p>
          <a:p>
            <a:r>
              <a:rPr lang="en-IN" dirty="0" smtClean="0">
                <a:latin typeface="Times New Roman" panose="02020603050405020304" pitchFamily="18" charset="0"/>
                <a:cs typeface="Times New Roman" panose="02020603050405020304" pitchFamily="18" charset="0"/>
              </a:rPr>
              <a:t>Main </a:t>
            </a:r>
            <a:r>
              <a:rPr lang="en-IN" dirty="0">
                <a:latin typeface="Times New Roman" panose="02020603050405020304" pitchFamily="18" charset="0"/>
                <a:cs typeface="Times New Roman" panose="02020603050405020304" pitchFamily="18" charset="0"/>
              </a:rPr>
              <a:t>bus control unit. CPU and IOP are example of bus master.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Supervises </a:t>
            </a:r>
            <a:r>
              <a:rPr lang="en-IN" dirty="0">
                <a:latin typeface="Times New Roman" panose="02020603050405020304" pitchFamily="18" charset="0"/>
                <a:cs typeface="Times New Roman" panose="02020603050405020304" pitchFamily="18" charset="0"/>
              </a:rPr>
              <a:t>the use of bus by other devices.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Drives </a:t>
            </a:r>
            <a:r>
              <a:rPr lang="en-IN" dirty="0">
                <a:latin typeface="Times New Roman" panose="02020603050405020304" pitchFamily="18" charset="0"/>
                <a:cs typeface="Times New Roman" panose="02020603050405020304" pitchFamily="18" charset="0"/>
              </a:rPr>
              <a:t>most bus lines </a:t>
            </a:r>
            <a:r>
              <a:rPr lang="en-IN" dirty="0" smtClean="0">
                <a:latin typeface="Times New Roman" panose="02020603050405020304" pitchFamily="18" charset="0"/>
                <a:cs typeface="Times New Roman" panose="02020603050405020304" pitchFamily="18" charset="0"/>
              </a:rPr>
              <a:t>including </a:t>
            </a:r>
            <a:r>
              <a:rPr lang="en-IN" dirty="0">
                <a:latin typeface="Times New Roman" panose="02020603050405020304" pitchFamily="18" charset="0"/>
                <a:cs typeface="Times New Roman" panose="02020603050405020304" pitchFamily="18" charset="0"/>
              </a:rPr>
              <a:t>certain lines that can't be driven by any slave units, for example, CPU can drive all data, address and most control lines of a system bus</a:t>
            </a:r>
            <a:r>
              <a:rPr lang="en-IN" dirty="0" smtClean="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Bus slave </a:t>
            </a:r>
            <a:endParaRPr lang="en-IN" b="1"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Responds </a:t>
            </a:r>
            <a:r>
              <a:rPr lang="en-IN" dirty="0">
                <a:latin typeface="Times New Roman" panose="02020603050405020304" pitchFamily="18" charset="0"/>
                <a:cs typeface="Times New Roman" panose="02020603050405020304" pitchFamily="18" charset="0"/>
              </a:rPr>
              <a:t>command issued by bus master. Memory and IO interface circuit are example of bus slave.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Each </a:t>
            </a:r>
            <a:r>
              <a:rPr lang="en-IN" dirty="0">
                <a:latin typeface="Times New Roman" panose="02020603050405020304" pitchFamily="18" charset="0"/>
                <a:cs typeface="Times New Roman" panose="02020603050405020304" pitchFamily="18" charset="0"/>
              </a:rPr>
              <a:t>IO device has an IO interface circuit.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MM </a:t>
            </a:r>
            <a:r>
              <a:rPr lang="en-IN" dirty="0">
                <a:latin typeface="Times New Roman" panose="02020603050405020304" pitchFamily="18" charset="0"/>
                <a:cs typeface="Times New Roman" panose="02020603050405020304" pitchFamily="18" charset="0"/>
              </a:rPr>
              <a:t>and IO interface circuit can drive data line and control line  but can’t drive address line (i.e. MM and IO interface circuit cannot generate address, address is always generated by master </a:t>
            </a:r>
            <a:r>
              <a:rPr lang="en-IN" dirty="0" smtClean="0">
                <a:latin typeface="Times New Roman" panose="02020603050405020304" pitchFamily="18" charset="0"/>
                <a:cs typeface="Times New Roman" panose="02020603050405020304" pitchFamily="18" charset="0"/>
              </a:rPr>
              <a:t>device).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93324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44" y="112542"/>
            <a:ext cx="11816861" cy="34163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Function of IO interface circuit (Fig.5)</a:t>
            </a:r>
            <a:r>
              <a:rPr lang="en-IN" dirty="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Contains </a:t>
            </a:r>
            <a:r>
              <a:rPr lang="en-IN" dirty="0">
                <a:latin typeface="Times New Roman" panose="02020603050405020304" pitchFamily="18" charset="0"/>
                <a:cs typeface="Times New Roman" panose="02020603050405020304" pitchFamily="18" charset="0"/>
              </a:rPr>
              <a:t>an address decoder to decode the address which is placed by CPU on the address bus to see whether this address is the address of its associated IO device. If the address on the address bus and the address of the IO device are not identical the IO interface circuit ignores the address on the address bus. Otherwise it starts communication between its associated IO device and CPU.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Control </a:t>
            </a:r>
            <a:r>
              <a:rPr lang="en-IN" dirty="0">
                <a:latin typeface="Times New Roman" panose="02020603050405020304" pitchFamily="18" charset="0"/>
                <a:cs typeface="Times New Roman" panose="02020603050405020304" pitchFamily="18" charset="0"/>
              </a:rPr>
              <a:t>circuit in the IO interface has bidirectional connection with the control bus for sending status signals and receiving control signals (for example, IOR for IO read in case of input device, IOW for IO write in case of output device).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IO </a:t>
            </a:r>
            <a:r>
              <a:rPr lang="en-IN" dirty="0">
                <a:latin typeface="Times New Roman" panose="02020603050405020304" pitchFamily="18" charset="0"/>
                <a:cs typeface="Times New Roman" panose="02020603050405020304" pitchFamily="18" charset="0"/>
              </a:rPr>
              <a:t>interface circuit generates the appropriate control signals that are required by the bus control scheme. For example, the status signal determines whether the communication between CPU and IO device is successful or not, occurrence of error if any etc.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Data </a:t>
            </a:r>
            <a:r>
              <a:rPr lang="en-IN" dirty="0">
                <a:latin typeface="Times New Roman" panose="02020603050405020304" pitchFamily="18" charset="0"/>
                <a:cs typeface="Times New Roman" panose="02020603050405020304" pitchFamily="18" charset="0"/>
              </a:rPr>
              <a:t>and status register in the IO interface circuit has bidirectional connection with the data bus to store status information, to receive data (in case of output device for write operation) and to send data (in case of input device for read operation</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578922" y="4131425"/>
            <a:ext cx="61098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578922" y="4283825"/>
            <a:ext cx="610985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78922" y="4519352"/>
            <a:ext cx="6109855" cy="6928"/>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78922" y="4741025"/>
            <a:ext cx="6109855" cy="12815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759033" y="5195055"/>
            <a:ext cx="1627908" cy="4749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759032" y="5283723"/>
            <a:ext cx="177338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Address decoder</a:t>
            </a:r>
            <a:endParaRPr lang="en-IN" dirty="0">
              <a:latin typeface="Times New Roman" panose="02020603050405020304" pitchFamily="18" charset="0"/>
              <a:cs typeface="Times New Roman" panose="02020603050405020304" pitchFamily="18" charset="0"/>
            </a:endParaRPr>
          </a:p>
        </p:txBody>
      </p:sp>
      <p:sp>
        <p:nvSpPr>
          <p:cNvPr id="14" name="Rectangle 13"/>
          <p:cNvSpPr/>
          <p:nvPr/>
        </p:nvSpPr>
        <p:spPr>
          <a:xfrm>
            <a:off x="2878778" y="5200192"/>
            <a:ext cx="1627908" cy="4749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2878777" y="5288860"/>
            <a:ext cx="1773381"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 circuits</a:t>
            </a:r>
            <a:endParaRPr lang="en-IN" dirty="0">
              <a:latin typeface="Times New Roman" panose="02020603050405020304" pitchFamily="18" charset="0"/>
              <a:cs typeface="Times New Roman" panose="02020603050405020304" pitchFamily="18" charset="0"/>
            </a:endParaRPr>
          </a:p>
        </p:txBody>
      </p:sp>
      <p:sp>
        <p:nvSpPr>
          <p:cNvPr id="16" name="Rectangle 15"/>
          <p:cNvSpPr/>
          <p:nvPr/>
        </p:nvSpPr>
        <p:spPr>
          <a:xfrm>
            <a:off x="4853050" y="5241221"/>
            <a:ext cx="1627908" cy="5936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p:cNvSpPr txBox="1"/>
          <p:nvPr/>
        </p:nvSpPr>
        <p:spPr>
          <a:xfrm>
            <a:off x="4853051" y="5145223"/>
            <a:ext cx="1627908"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and status register</a:t>
            </a:r>
            <a:endParaRPr lang="en-IN" dirty="0">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a:off x="1410195" y="4131425"/>
            <a:ext cx="20782" cy="1063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5453992" y="4894761"/>
            <a:ext cx="733993" cy="100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3160126" y="4736769"/>
            <a:ext cx="897375" cy="191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532412" y="6320609"/>
            <a:ext cx="1340426"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p:cNvSpPr txBox="1"/>
          <p:nvPr/>
        </p:nvSpPr>
        <p:spPr>
          <a:xfrm>
            <a:off x="2532413" y="6320607"/>
            <a:ext cx="1340425" cy="369333"/>
          </a:xfrm>
          <a:prstGeom prst="rect">
            <a:avLst/>
          </a:prstGeom>
          <a:noFill/>
        </p:spPr>
        <p:txBody>
          <a:bodyPr wrap="square" rtlCol="0">
            <a:spAutoFit/>
          </a:bodyPr>
          <a:lstStyle/>
          <a:p>
            <a:r>
              <a:rPr lang="en-IN" smtClean="0">
                <a:latin typeface="Times New Roman" panose="02020603050405020304" pitchFamily="18" charset="0"/>
                <a:cs typeface="Times New Roman" panose="02020603050405020304" pitchFamily="18" charset="0"/>
              </a:rPr>
              <a:t>IO device</a:t>
            </a:r>
            <a:endParaRPr lang="en-IN" dirty="0">
              <a:latin typeface="Times New Roman" panose="02020603050405020304" pitchFamily="18" charset="0"/>
              <a:cs typeface="Times New Roman" panose="02020603050405020304" pitchFamily="18" charset="0"/>
            </a:endParaRPr>
          </a:p>
        </p:txBody>
      </p:sp>
      <p:cxnSp>
        <p:nvCxnSpPr>
          <p:cNvPr id="30" name="Straight Arrow Connector 29"/>
          <p:cNvCxnSpPr>
            <a:stCxn id="28" idx="0"/>
          </p:cNvCxnSpPr>
          <p:nvPr/>
        </p:nvCxnSpPr>
        <p:spPr>
          <a:xfrm flipH="1" flipV="1">
            <a:off x="3197431" y="5669974"/>
            <a:ext cx="5195" cy="650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7" idx="3"/>
          </p:cNvCxnSpPr>
          <p:nvPr/>
        </p:nvCxnSpPr>
        <p:spPr>
          <a:xfrm flipV="1">
            <a:off x="3872838" y="6479771"/>
            <a:ext cx="1506684" cy="25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5379522" y="5834887"/>
            <a:ext cx="0" cy="644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082139" y="4742993"/>
            <a:ext cx="1340425" cy="369334"/>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IO interface</a:t>
            </a:r>
            <a:endParaRPr lang="en-IN"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6604428" y="3878645"/>
            <a:ext cx="2186875"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Unidirectional address line</a:t>
            </a:r>
            <a:endParaRPr lang="en-IN" sz="1400"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6657828" y="4438794"/>
            <a:ext cx="181996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Bidirectional data line</a:t>
            </a:r>
            <a:endParaRPr lang="en-IN" sz="1400"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6683954" y="4039906"/>
            <a:ext cx="4759110" cy="523220"/>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Bidirectional control line for sending status signal like error etc. and receiving control signal like IOR, IOW etc.</a:t>
            </a:r>
            <a:endParaRPr lang="en-IN" sz="14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6976587" y="5629051"/>
            <a:ext cx="1943638"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Fig.5 IO interface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02996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545" y="128789"/>
            <a:ext cx="11835685" cy="286232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Synchronous communication</a:t>
            </a:r>
            <a:r>
              <a:rPr lang="en-IN" dirty="0">
                <a:latin typeface="Times New Roman" panose="02020603050405020304" pitchFamily="18" charset="0"/>
                <a:cs typeface="Times New Roman" panose="02020603050405020304" pitchFamily="18" charset="0"/>
              </a:rPr>
              <a:t>: Each item is transferred in a particular time slot which is known to both the source and destination.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Communication </a:t>
            </a:r>
            <a:r>
              <a:rPr lang="en-IN" dirty="0">
                <a:latin typeface="Times New Roman" panose="02020603050405020304" pitchFamily="18" charset="0"/>
                <a:cs typeface="Times New Roman" panose="02020603050405020304" pitchFamily="18" charset="0"/>
              </a:rPr>
              <a:t>between the source and destination is synchronized. Such synchronization is achieved by using the same clock signal at the source and destination end. Separate clock signal having identical frequency may be used at source and destination end to achieve synchronization.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Useful </a:t>
            </a:r>
            <a:r>
              <a:rPr lang="en-IN" dirty="0">
                <a:latin typeface="Times New Roman" panose="02020603050405020304" pitchFamily="18" charset="0"/>
                <a:cs typeface="Times New Roman" panose="02020603050405020304" pitchFamily="18" charset="0"/>
              </a:rPr>
              <a:t>for short distance communication as it is difficult to maintain identical clock signal (i.e. clock signals for source and destination are generated from the same clock generator) or different clock signal (i.e. clock signals for source and destination are generated from different clock generator) having identical frequency at the source and destination end for long distance communication.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Data </a:t>
            </a:r>
            <a:r>
              <a:rPr lang="en-IN" dirty="0">
                <a:latin typeface="Times New Roman" panose="02020603050405020304" pitchFamily="18" charset="0"/>
                <a:cs typeface="Times New Roman" panose="02020603050405020304" pitchFamily="18" charset="0"/>
              </a:rPr>
              <a:t>transfer rate is identical to the data transfer rate of the slowest device during communication. </a:t>
            </a:r>
          </a:p>
        </p:txBody>
      </p:sp>
      <p:cxnSp>
        <p:nvCxnSpPr>
          <p:cNvPr id="4" name="Straight Connector 3"/>
          <p:cNvCxnSpPr/>
          <p:nvPr/>
        </p:nvCxnSpPr>
        <p:spPr>
          <a:xfrm>
            <a:off x="369647" y="3706812"/>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367174" y="285475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3337982" y="285475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361237" y="285475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4293945" y="2840903"/>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337982" y="2840903"/>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361237" y="3706812"/>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384492" y="2854758"/>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314727" y="3679102"/>
            <a:ext cx="976745"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3164" y="3266930"/>
            <a:ext cx="78971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Clock</a:t>
            </a:r>
            <a:endParaRPr lang="en-IN"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859007" y="3096119"/>
            <a:ext cx="387929"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T</a:t>
            </a:r>
            <a:endParaRPr lang="en-IN" dirty="0">
              <a:latin typeface="Times New Roman" panose="02020603050405020304" pitchFamily="18" charset="0"/>
              <a:cs typeface="Times New Roman" panose="02020603050405020304" pitchFamily="18" charset="0"/>
            </a:endParaRPr>
          </a:p>
        </p:txBody>
      </p:sp>
      <p:cxnSp>
        <p:nvCxnSpPr>
          <p:cNvPr id="17" name="Straight Arrow Connector 16"/>
          <p:cNvCxnSpPr>
            <a:stCxn id="15" idx="1"/>
          </p:cNvCxnSpPr>
          <p:nvPr/>
        </p:nvCxnSpPr>
        <p:spPr>
          <a:xfrm flipH="1">
            <a:off x="1346392" y="3280785"/>
            <a:ext cx="5126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097999" y="3280785"/>
            <a:ext cx="1239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476227" y="4695936"/>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622687" y="3843882"/>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615762" y="3843882"/>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3146687" y="382311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146687" y="4675164"/>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646927" y="3919044"/>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Address from </a:t>
            </a:r>
          </a:p>
          <a:p>
            <a:r>
              <a:rPr lang="en-IN" dirty="0" smtClean="0">
                <a:latin typeface="Times New Roman" panose="02020603050405020304" pitchFamily="18" charset="0"/>
                <a:cs typeface="Times New Roman" panose="02020603050405020304" pitchFamily="18" charset="0"/>
              </a:rPr>
              <a:t>master</a:t>
            </a:r>
            <a:endParaRPr lang="en-IN" dirty="0">
              <a:latin typeface="Times New Roman" panose="02020603050405020304" pitchFamily="18" charset="0"/>
              <a:cs typeface="Times New Roman" panose="02020603050405020304" pitchFamily="18" charset="0"/>
            </a:endParaRPr>
          </a:p>
        </p:txBody>
      </p:sp>
      <p:cxnSp>
        <p:nvCxnSpPr>
          <p:cNvPr id="29" name="Straight Connector 28"/>
          <p:cNvCxnSpPr/>
          <p:nvPr/>
        </p:nvCxnSpPr>
        <p:spPr>
          <a:xfrm flipV="1">
            <a:off x="483152" y="5722219"/>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629612" y="487016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622687" y="4870165"/>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3153612" y="4849393"/>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153612" y="5701447"/>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653852" y="4945327"/>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Read from </a:t>
            </a:r>
          </a:p>
          <a:p>
            <a:r>
              <a:rPr lang="en-IN" dirty="0" smtClean="0">
                <a:latin typeface="Times New Roman" panose="02020603050405020304" pitchFamily="18" charset="0"/>
                <a:cs typeface="Times New Roman" panose="02020603050405020304" pitchFamily="18" charset="0"/>
              </a:rPr>
              <a:t>master</a:t>
            </a:r>
            <a:endParaRPr lang="en-IN" dirty="0">
              <a:latin typeface="Times New Roman" panose="02020603050405020304" pitchFamily="18" charset="0"/>
              <a:cs typeface="Times New Roman" panose="02020603050405020304" pitchFamily="18" charset="0"/>
            </a:endParaRPr>
          </a:p>
        </p:txBody>
      </p:sp>
      <p:cxnSp>
        <p:nvCxnSpPr>
          <p:cNvPr id="36" name="Straight Connector 35"/>
          <p:cNvCxnSpPr/>
          <p:nvPr/>
        </p:nvCxnSpPr>
        <p:spPr>
          <a:xfrm flipV="1">
            <a:off x="3648922" y="487016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3641997" y="4870165"/>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172922" y="4849393"/>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172922" y="5701447"/>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673162" y="4945327"/>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Status from </a:t>
            </a:r>
          </a:p>
          <a:p>
            <a:r>
              <a:rPr lang="en-IN" dirty="0" smtClean="0">
                <a:latin typeface="Times New Roman" panose="02020603050405020304" pitchFamily="18" charset="0"/>
                <a:cs typeface="Times New Roman" panose="02020603050405020304" pitchFamily="18" charset="0"/>
              </a:rPr>
              <a:t>slave</a:t>
            </a:r>
            <a:endParaRPr lang="en-IN" dirty="0">
              <a:latin typeface="Times New Roman" panose="02020603050405020304" pitchFamily="18" charset="0"/>
              <a:cs typeface="Times New Roman" panose="02020603050405020304" pitchFamily="18" charset="0"/>
            </a:endParaRPr>
          </a:p>
        </p:txBody>
      </p:sp>
      <p:cxnSp>
        <p:nvCxnSpPr>
          <p:cNvPr id="41" name="Straight Connector 40"/>
          <p:cNvCxnSpPr/>
          <p:nvPr/>
        </p:nvCxnSpPr>
        <p:spPr>
          <a:xfrm flipV="1">
            <a:off x="5294934" y="2825686"/>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304535" y="2716409"/>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83152" y="6739471"/>
            <a:ext cx="31588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648922" y="588741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641997" y="5887417"/>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172922" y="586664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172922" y="6718699"/>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3673162" y="5962579"/>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from slave</a:t>
            </a:r>
            <a:endParaRPr lang="en-IN" dirty="0">
              <a:latin typeface="Times New Roman" panose="02020603050405020304" pitchFamily="18" charset="0"/>
              <a:cs typeface="Times New Roman" panose="02020603050405020304" pitchFamily="18" charset="0"/>
            </a:endParaRPr>
          </a:p>
        </p:txBody>
      </p:sp>
      <p:sp>
        <p:nvSpPr>
          <p:cNvPr id="50" name="TextBox 49"/>
          <p:cNvSpPr txBox="1"/>
          <p:nvPr/>
        </p:nvSpPr>
        <p:spPr>
          <a:xfrm>
            <a:off x="6904548" y="6031820"/>
            <a:ext cx="5074276"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Fig.6 : Timing diagram for synchronous data transfer (read operation of master from slave) </a:t>
            </a:r>
            <a:endParaRPr lang="en-IN" dirty="0">
              <a:latin typeface="Times New Roman" panose="02020603050405020304" pitchFamily="18" charset="0"/>
              <a:cs typeface="Times New Roman" panose="02020603050405020304" pitchFamily="18" charset="0"/>
            </a:endParaRPr>
          </a:p>
        </p:txBody>
      </p:sp>
      <p:sp>
        <p:nvSpPr>
          <p:cNvPr id="49" name="Rectangle 48"/>
          <p:cNvSpPr/>
          <p:nvPr/>
        </p:nvSpPr>
        <p:spPr>
          <a:xfrm>
            <a:off x="7208648" y="3658670"/>
            <a:ext cx="4742329" cy="1077218"/>
          </a:xfrm>
          <a:prstGeom prst="rect">
            <a:avLst/>
          </a:prstGeom>
        </p:spPr>
        <p:txBody>
          <a:bodyPr wrap="square">
            <a:spAutoFit/>
          </a:bodyPr>
          <a:lstStyle/>
          <a:p>
            <a:r>
              <a:rPr lang="en-IN" sz="1600" dirty="0" smtClean="0">
                <a:latin typeface="Times New Roman" panose="02020603050405020304" pitchFamily="18" charset="0"/>
                <a:cs typeface="Times New Roman" panose="02020603050405020304" pitchFamily="18" charset="0"/>
              </a:rPr>
              <a:t>First waveform shows the clock signal</a:t>
            </a:r>
          </a:p>
          <a:p>
            <a:r>
              <a:rPr lang="en-IN" sz="1600" dirty="0" smtClean="0">
                <a:latin typeface="Times New Roman" panose="02020603050405020304" pitchFamily="18" charset="0"/>
                <a:cs typeface="Times New Roman" panose="02020603050405020304" pitchFamily="18" charset="0"/>
              </a:rPr>
              <a:t>Second waveform shows the signal on the address bus</a:t>
            </a:r>
          </a:p>
          <a:p>
            <a:r>
              <a:rPr lang="en-IN" sz="1600" dirty="0" smtClean="0">
                <a:latin typeface="Times New Roman" panose="02020603050405020304" pitchFamily="18" charset="0"/>
                <a:cs typeface="Times New Roman" panose="02020603050405020304" pitchFamily="18" charset="0"/>
              </a:rPr>
              <a:t>Third waveform shows the signal on control bus </a:t>
            </a:r>
          </a:p>
          <a:p>
            <a:r>
              <a:rPr lang="en-IN" sz="1600" dirty="0" smtClean="0">
                <a:latin typeface="Times New Roman" panose="02020603050405020304" pitchFamily="18" charset="0"/>
                <a:cs typeface="Times New Roman" panose="02020603050405020304" pitchFamily="18" charset="0"/>
              </a:rPr>
              <a:t>Fourth waveform shows the signal on data bus. </a:t>
            </a:r>
            <a:endParaRPr lang="en-IN" sz="1600" dirty="0"/>
          </a:p>
        </p:txBody>
      </p:sp>
      <p:sp>
        <p:nvSpPr>
          <p:cNvPr id="51" name="TextBox 50"/>
          <p:cNvSpPr txBox="1"/>
          <p:nvPr/>
        </p:nvSpPr>
        <p:spPr>
          <a:xfrm>
            <a:off x="5447212" y="3043647"/>
            <a:ext cx="5016137"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Clock signal use to achieve synchronization between master and slave unit during communication</a:t>
            </a:r>
            <a:endParaRPr lang="en-IN" sz="1400" dirty="0">
              <a:latin typeface="Times New Roman" pitchFamily="18" charset="0"/>
              <a:cs typeface="Times New Roman" pitchFamily="18" charset="0"/>
            </a:endParaRPr>
          </a:p>
        </p:txBody>
      </p:sp>
      <p:sp>
        <p:nvSpPr>
          <p:cNvPr id="52" name="TextBox 51"/>
          <p:cNvSpPr txBox="1"/>
          <p:nvPr/>
        </p:nvSpPr>
        <p:spPr>
          <a:xfrm>
            <a:off x="3274425" y="3836127"/>
            <a:ext cx="3884022"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Signal on address bus in the first clock pulse to select one slave unit from multiple slave units</a:t>
            </a:r>
          </a:p>
          <a:p>
            <a:r>
              <a:rPr lang="en-IN" sz="1400" dirty="0" smtClean="0">
                <a:latin typeface="Times New Roman" pitchFamily="18" charset="0"/>
                <a:cs typeface="Times New Roman" pitchFamily="18" charset="0"/>
              </a:rPr>
              <a:t>Address of the desired slave from master</a:t>
            </a:r>
            <a:endParaRPr lang="en-IN" sz="1400" dirty="0">
              <a:latin typeface="Times New Roman" pitchFamily="18" charset="0"/>
              <a:cs typeface="Times New Roman" pitchFamily="18" charset="0"/>
            </a:endParaRPr>
          </a:p>
        </p:txBody>
      </p:sp>
      <p:sp>
        <p:nvSpPr>
          <p:cNvPr id="53" name="TextBox 52"/>
          <p:cNvSpPr txBox="1"/>
          <p:nvPr/>
        </p:nvSpPr>
        <p:spPr>
          <a:xfrm>
            <a:off x="5216435" y="4876802"/>
            <a:ext cx="2477587"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Signal on control bus, write from master in case of (write operation) </a:t>
            </a:r>
            <a:endParaRPr lang="en-IN" sz="1400" dirty="0">
              <a:latin typeface="Times New Roman" pitchFamily="18" charset="0"/>
              <a:cs typeface="Times New Roman" pitchFamily="18" charset="0"/>
            </a:endParaRPr>
          </a:p>
        </p:txBody>
      </p:sp>
      <p:sp>
        <p:nvSpPr>
          <p:cNvPr id="54" name="TextBox 53"/>
          <p:cNvSpPr txBox="1"/>
          <p:nvPr/>
        </p:nvSpPr>
        <p:spPr>
          <a:xfrm>
            <a:off x="5355389" y="5876367"/>
            <a:ext cx="177603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Signal on data bus </a:t>
            </a:r>
            <a:endParaRPr lang="en-IN" sz="1400" dirty="0">
              <a:latin typeface="Times New Roman" pitchFamily="18" charset="0"/>
              <a:cs typeface="Times New Roman" pitchFamily="18" charset="0"/>
            </a:endParaRPr>
          </a:p>
        </p:txBody>
      </p:sp>
    </p:spTree>
    <p:extLst>
      <p:ext uri="{BB962C8B-B14F-4D97-AF65-F5344CB8AC3E}">
        <p14:creationId xmlns="" xmlns:p14="http://schemas.microsoft.com/office/powerpoint/2010/main" val="154142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941" y="115910"/>
            <a:ext cx="11758411" cy="2308324"/>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 </a:t>
            </a:r>
            <a:r>
              <a:rPr lang="en-IN" dirty="0">
                <a:latin typeface="Times New Roman" panose="02020603050405020304" pitchFamily="18" charset="0"/>
                <a:cs typeface="Times New Roman" panose="02020603050405020304" pitchFamily="18" charset="0"/>
              </a:rPr>
              <a:t>the first clock pulse all the slave units read address from the address bus </a:t>
            </a:r>
            <a:r>
              <a:rPr lang="en-IN" dirty="0" smtClean="0">
                <a:latin typeface="Times New Roman" panose="02020603050405020304" pitchFamily="18" charset="0"/>
                <a:cs typeface="Times New Roman" panose="02020603050405020304" pitchFamily="18" charset="0"/>
              </a:rPr>
              <a:t>and </a:t>
            </a:r>
            <a:r>
              <a:rPr lang="en-IN" dirty="0">
                <a:latin typeface="Times New Roman" panose="02020603050405020304" pitchFamily="18" charset="0"/>
                <a:cs typeface="Times New Roman" panose="02020603050405020304" pitchFamily="18" charset="0"/>
              </a:rPr>
              <a:t>compare this address with its own address. </a:t>
            </a:r>
            <a:r>
              <a:rPr lang="en-IN" dirty="0" smtClean="0">
                <a:latin typeface="Times New Roman" panose="02020603050405020304" pitchFamily="18" charset="0"/>
                <a:cs typeface="Times New Roman" panose="02020603050405020304" pitchFamily="18" charset="0"/>
              </a:rPr>
              <a:t>Slave </a:t>
            </a:r>
            <a:r>
              <a:rPr lang="en-IN" dirty="0">
                <a:latin typeface="Times New Roman" panose="02020603050405020304" pitchFamily="18" charset="0"/>
                <a:cs typeface="Times New Roman" panose="02020603050405020304" pitchFamily="18" charset="0"/>
              </a:rPr>
              <a:t>unit for which match occurs between the address on address bus and its own address reads </a:t>
            </a:r>
            <a:r>
              <a:rPr lang="en-IN" dirty="0" smtClean="0">
                <a:latin typeface="Times New Roman" panose="02020603050405020304" pitchFamily="18" charset="0"/>
                <a:cs typeface="Times New Roman" panose="02020603050405020304" pitchFamily="18" charset="0"/>
              </a:rPr>
              <a:t>the </a:t>
            </a:r>
            <a:r>
              <a:rPr lang="en-IN" dirty="0">
                <a:latin typeface="Times New Roman" panose="02020603050405020304" pitchFamily="18" charset="0"/>
                <a:cs typeface="Times New Roman" panose="02020603050405020304" pitchFamily="18" charset="0"/>
              </a:rPr>
              <a:t>control signal from the control bus </a:t>
            </a:r>
            <a:r>
              <a:rPr lang="en-IN" dirty="0" smtClean="0">
                <a:latin typeface="Times New Roman" panose="02020603050405020304" pitchFamily="18" charset="0"/>
                <a:cs typeface="Times New Roman" panose="02020603050405020304" pitchFamily="18" charset="0"/>
              </a:rPr>
              <a:t>as </a:t>
            </a:r>
            <a:r>
              <a:rPr lang="en-IN" dirty="0">
                <a:latin typeface="Times New Roman" panose="02020603050405020304" pitchFamily="18" charset="0"/>
                <a:cs typeface="Times New Roman" panose="02020603050405020304" pitchFamily="18" charset="0"/>
              </a:rPr>
              <a:t>placed by the master unit in the first clock </a:t>
            </a:r>
            <a:r>
              <a:rPr lang="en-IN" dirty="0" smtClean="0">
                <a:latin typeface="Times New Roman" panose="02020603050405020304" pitchFamily="18" charset="0"/>
                <a:cs typeface="Times New Roman" panose="02020603050405020304" pitchFamily="18" charset="0"/>
              </a:rPr>
              <a:t>pulse</a:t>
            </a:r>
          </a:p>
          <a:p>
            <a:r>
              <a:rPr lang="en-IN" dirty="0" smtClean="0">
                <a:latin typeface="Times New Roman" panose="02020603050405020304" pitchFamily="18" charset="0"/>
                <a:cs typeface="Times New Roman" panose="02020603050405020304" pitchFamily="18" charset="0"/>
              </a:rPr>
              <a:t>In </a:t>
            </a:r>
            <a:r>
              <a:rPr lang="en-IN" dirty="0">
                <a:latin typeface="Times New Roman" panose="02020603050405020304" pitchFamily="18" charset="0"/>
                <a:cs typeface="Times New Roman" panose="02020603050405020304" pitchFamily="18" charset="0"/>
              </a:rPr>
              <a:t>case of read operation from slave, this slave unit responds by sending status information on the control bus </a:t>
            </a:r>
            <a:r>
              <a:rPr lang="en-IN" dirty="0" smtClean="0">
                <a:latin typeface="Times New Roman" panose="02020603050405020304" pitchFamily="18" charset="0"/>
                <a:cs typeface="Times New Roman" panose="02020603050405020304" pitchFamily="18" charset="0"/>
              </a:rPr>
              <a:t>and </a:t>
            </a:r>
            <a:r>
              <a:rPr lang="en-IN" dirty="0">
                <a:latin typeface="Times New Roman" panose="02020603050405020304" pitchFamily="18" charset="0"/>
                <a:cs typeface="Times New Roman" panose="02020603050405020304" pitchFamily="18" charset="0"/>
              </a:rPr>
              <a:t>data on the data bus </a:t>
            </a:r>
            <a:r>
              <a:rPr lang="en-IN" dirty="0" smtClean="0">
                <a:latin typeface="Times New Roman" panose="02020603050405020304" pitchFamily="18" charset="0"/>
                <a:cs typeface="Times New Roman" panose="02020603050405020304" pitchFamily="18" charset="0"/>
              </a:rPr>
              <a:t>in </a:t>
            </a:r>
            <a:r>
              <a:rPr lang="en-IN" dirty="0">
                <a:latin typeface="Times New Roman" panose="02020603050405020304" pitchFamily="18" charset="0"/>
                <a:cs typeface="Times New Roman" panose="02020603050405020304" pitchFamily="18" charset="0"/>
              </a:rPr>
              <a:t>the second clock pulse </a:t>
            </a:r>
            <a:endParaRPr lang="en-IN" dirty="0" smtClean="0">
              <a:latin typeface="Times New Roman" panose="02020603050405020304" pitchFamily="18" charset="0"/>
              <a:cs typeface="Times New Roman" panose="02020603050405020304" pitchFamily="18" charset="0"/>
            </a:endParaRPr>
          </a:p>
          <a:p>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In </a:t>
            </a:r>
            <a:r>
              <a:rPr lang="en-IN" dirty="0">
                <a:latin typeface="Times New Roman" panose="02020603050405020304" pitchFamily="18" charset="0"/>
                <a:cs typeface="Times New Roman" panose="02020603050405020304" pitchFamily="18" charset="0"/>
              </a:rPr>
              <a:t>case of write operation into slave, the master unit places data on the data </a:t>
            </a:r>
            <a:r>
              <a:rPr lang="en-IN" dirty="0" smtClean="0">
                <a:latin typeface="Times New Roman" panose="02020603050405020304" pitchFamily="18" charset="0"/>
                <a:cs typeface="Times New Roman" panose="02020603050405020304" pitchFamily="18" charset="0"/>
              </a:rPr>
              <a:t>bus </a:t>
            </a:r>
            <a:r>
              <a:rPr lang="en-IN" dirty="0">
                <a:latin typeface="Times New Roman" panose="02020603050405020304" pitchFamily="18" charset="0"/>
                <a:cs typeface="Times New Roman" panose="02020603050405020304" pitchFamily="18" charset="0"/>
              </a:rPr>
              <a:t>in the second clock pulse. It can be shown in the fourth waveform by writing </a:t>
            </a:r>
            <a:r>
              <a:rPr lang="en-IN" b="1" dirty="0">
                <a:latin typeface="Times New Roman" panose="02020603050405020304" pitchFamily="18" charset="0"/>
                <a:cs typeface="Times New Roman" panose="02020603050405020304" pitchFamily="18" charset="0"/>
              </a:rPr>
              <a:t>data from master </a:t>
            </a:r>
            <a:r>
              <a:rPr lang="en-IN" dirty="0">
                <a:latin typeface="Times New Roman" panose="02020603050405020304" pitchFamily="18" charset="0"/>
                <a:cs typeface="Times New Roman" panose="02020603050405020304" pitchFamily="18" charset="0"/>
              </a:rPr>
              <a:t>instead of</a:t>
            </a:r>
            <a:r>
              <a:rPr lang="en-IN" b="1" dirty="0">
                <a:latin typeface="Times New Roman" panose="02020603050405020304" pitchFamily="18" charset="0"/>
                <a:cs typeface="Times New Roman" panose="02020603050405020304" pitchFamily="18" charset="0"/>
              </a:rPr>
              <a:t> data from slave</a:t>
            </a:r>
            <a:r>
              <a:rPr lang="en-IN" b="1"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21111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150890" y="1165994"/>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1148417" y="31394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3119225" y="31394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2142480" y="31394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4075188" y="30008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19225" y="300085"/>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142480" y="1165994"/>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65735" y="313940"/>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095970" y="1138284"/>
            <a:ext cx="97674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44407" y="726112"/>
            <a:ext cx="78971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Clock</a:t>
            </a:r>
            <a:endParaRPr lang="en-IN"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1640250" y="555301"/>
            <a:ext cx="387929"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T</a:t>
            </a:r>
            <a:endParaRPr lang="en-IN" dirty="0">
              <a:latin typeface="Times New Roman" panose="02020603050405020304" pitchFamily="18" charset="0"/>
              <a:cs typeface="Times New Roman" panose="02020603050405020304" pitchFamily="18" charset="0"/>
            </a:endParaRPr>
          </a:p>
        </p:txBody>
      </p:sp>
      <p:cxnSp>
        <p:nvCxnSpPr>
          <p:cNvPr id="14" name="Straight Arrow Connector 13"/>
          <p:cNvCxnSpPr>
            <a:stCxn id="13" idx="1"/>
          </p:cNvCxnSpPr>
          <p:nvPr/>
        </p:nvCxnSpPr>
        <p:spPr>
          <a:xfrm flipH="1">
            <a:off x="1127635" y="739967"/>
            <a:ext cx="5126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879242" y="739967"/>
            <a:ext cx="1239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237482" y="2170052"/>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1383942" y="131799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377017" y="1317998"/>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2907942" y="1297226"/>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907942" y="2149280"/>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408182" y="1393160"/>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Address from </a:t>
            </a:r>
          </a:p>
          <a:p>
            <a:r>
              <a:rPr lang="en-IN" dirty="0" smtClean="0">
                <a:latin typeface="Times New Roman" panose="02020603050405020304" pitchFamily="18" charset="0"/>
                <a:cs typeface="Times New Roman" panose="02020603050405020304" pitchFamily="18" charset="0"/>
              </a:rPr>
              <a:t>master</a:t>
            </a:r>
            <a:endParaRPr lang="en-IN" dirty="0">
              <a:latin typeface="Times New Roman" panose="02020603050405020304" pitchFamily="18" charset="0"/>
              <a:cs typeface="Times New Roman" panose="02020603050405020304" pitchFamily="18" charset="0"/>
            </a:endParaRPr>
          </a:p>
        </p:txBody>
      </p:sp>
      <p:cxnSp>
        <p:nvCxnSpPr>
          <p:cNvPr id="22" name="Straight Connector 21"/>
          <p:cNvCxnSpPr/>
          <p:nvPr/>
        </p:nvCxnSpPr>
        <p:spPr>
          <a:xfrm flipV="1">
            <a:off x="244407" y="3196335"/>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1390867" y="2344281"/>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383942" y="2344281"/>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2914867" y="2323509"/>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914867" y="3175563"/>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415107" y="2419443"/>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Read/write from master</a:t>
            </a:r>
            <a:endParaRPr lang="en-IN" dirty="0">
              <a:latin typeface="Times New Roman" panose="02020603050405020304" pitchFamily="18" charset="0"/>
              <a:cs typeface="Times New Roman" panose="02020603050405020304" pitchFamily="18" charset="0"/>
            </a:endParaRPr>
          </a:p>
        </p:txBody>
      </p:sp>
      <p:cxnSp>
        <p:nvCxnSpPr>
          <p:cNvPr id="28" name="Straight Connector 27"/>
          <p:cNvCxnSpPr/>
          <p:nvPr/>
        </p:nvCxnSpPr>
        <p:spPr>
          <a:xfrm flipV="1">
            <a:off x="5453724" y="222198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453724" y="2221988"/>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953484" y="222198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953484" y="3074042"/>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453724" y="2317922"/>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Status from </a:t>
            </a:r>
          </a:p>
          <a:p>
            <a:r>
              <a:rPr lang="en-IN" dirty="0" smtClean="0">
                <a:latin typeface="Times New Roman" panose="02020603050405020304" pitchFamily="18" charset="0"/>
                <a:cs typeface="Times New Roman" panose="02020603050405020304" pitchFamily="18" charset="0"/>
              </a:rPr>
              <a:t>slave</a:t>
            </a:r>
            <a:endParaRPr lang="en-IN" dirty="0">
              <a:latin typeface="Times New Roman" panose="02020603050405020304" pitchFamily="18" charset="0"/>
              <a:cs typeface="Times New Roman" panose="02020603050405020304" pitchFamily="18" charset="0"/>
            </a:endParaRPr>
          </a:p>
        </p:txBody>
      </p:sp>
      <p:cxnSp>
        <p:nvCxnSpPr>
          <p:cNvPr id="33" name="Straight Connector 32"/>
          <p:cNvCxnSpPr/>
          <p:nvPr/>
        </p:nvCxnSpPr>
        <p:spPr>
          <a:xfrm flipV="1">
            <a:off x="5076177" y="28486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44407" y="4064196"/>
            <a:ext cx="519373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453724" y="321711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438139" y="3217117"/>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6953484" y="321711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6984653" y="4064196"/>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5708297" y="3417865"/>
            <a:ext cx="1499760"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from slave</a:t>
            </a:r>
            <a:endParaRPr lang="en-IN" dirty="0">
              <a:latin typeface="Times New Roman" panose="02020603050405020304" pitchFamily="18" charset="0"/>
              <a:cs typeface="Times New Roman" panose="02020603050405020304" pitchFamily="18" charset="0"/>
            </a:endParaRPr>
          </a:p>
        </p:txBody>
      </p:sp>
      <p:cxnSp>
        <p:nvCxnSpPr>
          <p:cNvPr id="40" name="Straight Connector 39"/>
          <p:cNvCxnSpPr/>
          <p:nvPr/>
        </p:nvCxnSpPr>
        <p:spPr>
          <a:xfrm>
            <a:off x="6049460" y="1127129"/>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72715" y="275075"/>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6049460" y="275075"/>
            <a:ext cx="0" cy="852054"/>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86355" y="1755001"/>
            <a:ext cx="988064"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Address</a:t>
            </a:r>
            <a:endParaRPr lang="en-IN" dirty="0">
              <a:latin typeface="Times New Roman" panose="02020603050405020304" pitchFamily="18" charset="0"/>
              <a:cs typeface="Times New Roman" panose="02020603050405020304" pitchFamily="18" charset="0"/>
            </a:endParaRPr>
          </a:p>
        </p:txBody>
      </p:sp>
      <p:sp>
        <p:nvSpPr>
          <p:cNvPr id="44" name="TextBox 43"/>
          <p:cNvSpPr txBox="1"/>
          <p:nvPr/>
        </p:nvSpPr>
        <p:spPr>
          <a:xfrm>
            <a:off x="221872" y="2793024"/>
            <a:ext cx="97157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a:t>
            </a:r>
            <a:endParaRPr lang="en-IN" dirty="0">
              <a:latin typeface="Times New Roman" panose="02020603050405020304" pitchFamily="18" charset="0"/>
              <a:cs typeface="Times New Roman" panose="02020603050405020304" pitchFamily="18" charset="0"/>
            </a:endParaRPr>
          </a:p>
        </p:txBody>
      </p:sp>
      <p:cxnSp>
        <p:nvCxnSpPr>
          <p:cNvPr id="45" name="Straight Connector 44"/>
          <p:cNvCxnSpPr/>
          <p:nvPr/>
        </p:nvCxnSpPr>
        <p:spPr>
          <a:xfrm flipV="1">
            <a:off x="7026205" y="27507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7026205" y="256993"/>
            <a:ext cx="976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a:off x="5065790" y="3074042"/>
            <a:ext cx="387934"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604139" y="2889376"/>
            <a:ext cx="1330036" cy="369332"/>
          </a:xfrm>
          <a:prstGeom prst="rect">
            <a:avLst/>
          </a:prstGeom>
          <a:noFill/>
        </p:spPr>
        <p:txBody>
          <a:bodyPr wrap="square" rtlCol="0">
            <a:spAutoFit/>
          </a:bodyPr>
          <a:lstStyle/>
          <a:p>
            <a:r>
              <a:rPr lang="en-IN" dirty="0" smtClean="0"/>
              <a:t>………………..</a:t>
            </a:r>
            <a:endParaRPr lang="en-IN" dirty="0"/>
          </a:p>
        </p:txBody>
      </p:sp>
      <p:sp>
        <p:nvSpPr>
          <p:cNvPr id="50" name="TextBox 49"/>
          <p:cNvSpPr txBox="1"/>
          <p:nvPr/>
        </p:nvSpPr>
        <p:spPr>
          <a:xfrm>
            <a:off x="3600672" y="2479018"/>
            <a:ext cx="144092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n</a:t>
            </a:r>
            <a:r>
              <a:rPr lang="en-IN" dirty="0" smtClean="0">
                <a:latin typeface="Times New Roman" panose="02020603050405020304" pitchFamily="18" charset="0"/>
                <a:cs typeface="Times New Roman" panose="02020603050405020304" pitchFamily="18" charset="0"/>
              </a:rPr>
              <a:t>-cycle delay</a:t>
            </a:r>
            <a:endParaRPr lang="en-IN" dirty="0">
              <a:latin typeface="Times New Roman" panose="02020603050405020304" pitchFamily="18" charset="0"/>
              <a:cs typeface="Times New Roman" panose="02020603050405020304" pitchFamily="18" charset="0"/>
            </a:endParaRPr>
          </a:p>
        </p:txBody>
      </p:sp>
      <p:sp>
        <p:nvSpPr>
          <p:cNvPr id="53" name="TextBox 52"/>
          <p:cNvSpPr txBox="1"/>
          <p:nvPr/>
        </p:nvSpPr>
        <p:spPr>
          <a:xfrm>
            <a:off x="341356" y="3712130"/>
            <a:ext cx="68583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cxnSp>
        <p:nvCxnSpPr>
          <p:cNvPr id="54" name="Straight Connector 53"/>
          <p:cNvCxnSpPr/>
          <p:nvPr/>
        </p:nvCxnSpPr>
        <p:spPr>
          <a:xfrm>
            <a:off x="259992" y="5180706"/>
            <a:ext cx="519373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969068" y="5185682"/>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5708297" y="4436489"/>
            <a:ext cx="1499760" cy="646331"/>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Ack</a:t>
            </a:r>
            <a:r>
              <a:rPr lang="en-IN" dirty="0" smtClean="0">
                <a:latin typeface="Times New Roman" panose="02020603050405020304" pitchFamily="18" charset="0"/>
                <a:cs typeface="Times New Roman" panose="02020603050405020304" pitchFamily="18" charset="0"/>
              </a:rPr>
              <a:t> from slave</a:t>
            </a:r>
            <a:endParaRPr lang="en-IN"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259992" y="4743873"/>
            <a:ext cx="1468192"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Ack</a:t>
            </a:r>
            <a:r>
              <a:rPr lang="en-IN" dirty="0" smtClean="0">
                <a:latin typeface="Times New Roman" panose="02020603050405020304" pitchFamily="18" charset="0"/>
                <a:cs typeface="Times New Roman" panose="02020603050405020304" pitchFamily="18" charset="0"/>
              </a:rPr>
              <a:t> (control)</a:t>
            </a:r>
            <a:endParaRPr lang="en-IN" dirty="0">
              <a:latin typeface="Times New Roman" panose="02020603050405020304" pitchFamily="18" charset="0"/>
              <a:cs typeface="Times New Roman" panose="02020603050405020304" pitchFamily="18" charset="0"/>
            </a:endParaRPr>
          </a:p>
        </p:txBody>
      </p:sp>
      <p:cxnSp>
        <p:nvCxnSpPr>
          <p:cNvPr id="58" name="Straight Connector 57"/>
          <p:cNvCxnSpPr/>
          <p:nvPr/>
        </p:nvCxnSpPr>
        <p:spPr>
          <a:xfrm flipV="1">
            <a:off x="5457538" y="4333628"/>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5453724" y="4333628"/>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6969068" y="4333628"/>
            <a:ext cx="0" cy="852054"/>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712980" y="313940"/>
            <a:ext cx="4479020" cy="313932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Slave </a:t>
            </a:r>
            <a:r>
              <a:rPr lang="en-IN" dirty="0">
                <a:latin typeface="Times New Roman" panose="02020603050405020304" pitchFamily="18" charset="0"/>
                <a:cs typeface="Times New Roman" panose="02020603050405020304" pitchFamily="18" charset="0"/>
              </a:rPr>
              <a:t>unit responds by sending status information on the control </a:t>
            </a:r>
            <a:r>
              <a:rPr lang="en-IN" dirty="0" smtClean="0">
                <a:latin typeface="Times New Roman" panose="02020603050405020304" pitchFamily="18" charset="0"/>
                <a:cs typeface="Times New Roman" panose="02020603050405020304" pitchFamily="18" charset="0"/>
              </a:rPr>
              <a:t>bus, </a:t>
            </a:r>
            <a:r>
              <a:rPr lang="en-IN" b="1" dirty="0" smtClean="0">
                <a:latin typeface="Times New Roman" panose="02020603050405020304" pitchFamily="18" charset="0"/>
                <a:cs typeface="Times New Roman" panose="02020603050405020304" pitchFamily="18" charset="0"/>
              </a:rPr>
              <a:t>status </a:t>
            </a:r>
            <a:r>
              <a:rPr lang="en-IN" b="1" dirty="0">
                <a:latin typeface="Times New Roman" panose="02020603050405020304" pitchFamily="18" charset="0"/>
                <a:cs typeface="Times New Roman" panose="02020603050405020304" pitchFamily="18" charset="0"/>
              </a:rPr>
              <a:t>from slave</a:t>
            </a:r>
            <a:r>
              <a:rPr lang="en-IN" dirty="0">
                <a:latin typeface="Times New Roman" panose="02020603050405020304" pitchFamily="18" charset="0"/>
                <a:cs typeface="Times New Roman" panose="02020603050405020304" pitchFamily="18" charset="0"/>
              </a:rPr>
              <a:t> and data on the data </a:t>
            </a:r>
            <a:r>
              <a:rPr lang="en-IN" dirty="0" smtClean="0">
                <a:latin typeface="Times New Roman" panose="02020603050405020304" pitchFamily="18" charset="0"/>
                <a:cs typeface="Times New Roman" panose="02020603050405020304" pitchFamily="18" charset="0"/>
              </a:rPr>
              <a:t>bus, </a:t>
            </a:r>
            <a:r>
              <a:rPr lang="en-IN" b="1" dirty="0" smtClean="0">
                <a:latin typeface="Times New Roman" panose="02020603050405020304" pitchFamily="18" charset="0"/>
                <a:cs typeface="Times New Roman" panose="02020603050405020304" pitchFamily="18" charset="0"/>
              </a:rPr>
              <a:t>data </a:t>
            </a:r>
            <a:r>
              <a:rPr lang="en-IN" b="1" dirty="0">
                <a:latin typeface="Times New Roman" panose="02020603050405020304" pitchFamily="18" charset="0"/>
                <a:cs typeface="Times New Roman" panose="02020603050405020304" pitchFamily="18" charset="0"/>
              </a:rPr>
              <a:t>from slave </a:t>
            </a:r>
            <a:r>
              <a:rPr lang="en-IN" dirty="0">
                <a:latin typeface="Times New Roman" panose="02020603050405020304" pitchFamily="18" charset="0"/>
                <a:cs typeface="Times New Roman" panose="02020603050405020304" pitchFamily="18" charset="0"/>
              </a:rPr>
              <a:t>after a delay of amount</a:t>
            </a:r>
            <a:r>
              <a:rPr lang="en-IN" b="1" dirty="0">
                <a:latin typeface="Times New Roman" panose="02020603050405020304" pitchFamily="18" charset="0"/>
                <a:cs typeface="Times New Roman" panose="02020603050405020304" pitchFamily="18" charset="0"/>
              </a:rPr>
              <a:t> n clock cycles. </a:t>
            </a:r>
            <a:r>
              <a:rPr lang="en-IN" dirty="0">
                <a:latin typeface="Times New Roman" panose="02020603050405020304" pitchFamily="18" charset="0"/>
                <a:cs typeface="Times New Roman" panose="02020603050405020304" pitchFamily="18" charset="0"/>
              </a:rPr>
              <a:t>In such a case the master unit does not know exactly when the slave unit sends the requested data on the data bus </a:t>
            </a:r>
            <a:r>
              <a:rPr lang="en-IN" dirty="0" smtClean="0">
                <a:latin typeface="Times New Roman" panose="02020603050405020304" pitchFamily="18" charset="0"/>
                <a:cs typeface="Times New Roman" panose="02020603050405020304" pitchFamily="18" charset="0"/>
              </a:rPr>
              <a:t>during </a:t>
            </a:r>
            <a:r>
              <a:rPr lang="en-IN" dirty="0">
                <a:latin typeface="Times New Roman" panose="02020603050405020304" pitchFamily="18" charset="0"/>
                <a:cs typeface="Times New Roman" panose="02020603050405020304" pitchFamily="18" charset="0"/>
              </a:rPr>
              <a:t>read operation of master unit from slave. So the slave unit also sends an acknowledgement </a:t>
            </a:r>
            <a:r>
              <a:rPr lang="en-IN" dirty="0" smtClean="0">
                <a:latin typeface="Times New Roman" panose="02020603050405020304" pitchFamily="18" charset="0"/>
                <a:cs typeface="Times New Roman" panose="02020603050405020304" pitchFamily="18" charset="0"/>
              </a:rPr>
              <a:t>signal, </a:t>
            </a:r>
            <a:r>
              <a:rPr lang="en-IN" b="1" dirty="0" err="1">
                <a:latin typeface="Times New Roman" panose="02020603050405020304" pitchFamily="18" charset="0"/>
                <a:cs typeface="Times New Roman" panose="02020603050405020304" pitchFamily="18" charset="0"/>
              </a:rPr>
              <a:t>Ack</a:t>
            </a:r>
            <a:r>
              <a:rPr lang="en-IN" b="1" dirty="0">
                <a:latin typeface="Times New Roman" panose="02020603050405020304" pitchFamily="18" charset="0"/>
                <a:cs typeface="Times New Roman" panose="02020603050405020304" pitchFamily="18" charset="0"/>
              </a:rPr>
              <a:t> from slave</a:t>
            </a:r>
            <a:r>
              <a:rPr lang="en-IN" dirty="0">
                <a:latin typeface="Times New Roman" panose="02020603050405020304" pitchFamily="18" charset="0"/>
                <a:cs typeface="Times New Roman" panose="02020603050405020304" pitchFamily="18" charset="0"/>
              </a:rPr>
              <a:t> at the time of placing data on the data </a:t>
            </a:r>
            <a:r>
              <a:rPr lang="en-IN" dirty="0" smtClean="0">
                <a:latin typeface="Times New Roman" panose="02020603050405020304" pitchFamily="18" charset="0"/>
                <a:cs typeface="Times New Roman" panose="02020603050405020304" pitchFamily="18" charset="0"/>
              </a:rPr>
              <a:t>bus</a:t>
            </a:r>
            <a:endParaRPr lang="en-IN" dirty="0">
              <a:latin typeface="Times New Roman" panose="02020603050405020304" pitchFamily="18" charset="0"/>
              <a:cs typeface="Times New Roman" panose="02020603050405020304" pitchFamily="18" charset="0"/>
            </a:endParaRPr>
          </a:p>
        </p:txBody>
      </p:sp>
      <p:sp>
        <p:nvSpPr>
          <p:cNvPr id="62" name="TextBox 61"/>
          <p:cNvSpPr txBox="1"/>
          <p:nvPr/>
        </p:nvSpPr>
        <p:spPr>
          <a:xfrm>
            <a:off x="216365" y="5692186"/>
            <a:ext cx="6968206"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Fig.7 : Timing diagram for read operation of the master unit from a slave unit when the slave unit is much slower than the master unit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368986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69817"/>
            <a:ext cx="11821886" cy="2308324"/>
          </a:xfrm>
          <a:prstGeom prst="rect">
            <a:avLst/>
          </a:prstGeom>
          <a:noFill/>
        </p:spPr>
        <p:txBody>
          <a:bodyPr wrap="square" rtlCol="0">
            <a:spAutoFit/>
          </a:bodyPr>
          <a:lstStyle/>
          <a:p>
            <a:r>
              <a:rPr lang="en-IN" b="1" dirty="0" smtClean="0">
                <a:latin typeface="Times New Roman" pitchFamily="18" charset="0"/>
                <a:cs typeface="Times New Roman" pitchFamily="18" charset="0"/>
              </a:rPr>
              <a:t>Asynchronous communication</a:t>
            </a:r>
            <a:r>
              <a:rPr lang="en-IN" dirty="0" smtClean="0">
                <a:latin typeface="Times New Roman" pitchFamily="18" charset="0"/>
                <a:cs typeface="Times New Roman" pitchFamily="18" charset="0"/>
              </a:rPr>
              <a:t>: Such communication needs to exchange handshaking signal among source and destination. Devices having widely different data transfer rate can communicate asynchronously. </a:t>
            </a:r>
          </a:p>
          <a:p>
            <a:r>
              <a:rPr lang="en-IN" dirty="0" smtClean="0">
                <a:latin typeface="Times New Roman" pitchFamily="18" charset="0"/>
                <a:cs typeface="Times New Roman" pitchFamily="18" charset="0"/>
              </a:rPr>
              <a:t>Data transfer rate during communication depends upon the speed of communicating devices. </a:t>
            </a:r>
          </a:p>
          <a:p>
            <a:r>
              <a:rPr lang="en-IN" dirty="0" smtClean="0">
                <a:latin typeface="Times New Roman" pitchFamily="18" charset="0"/>
                <a:cs typeface="Times New Roman" pitchFamily="18" charset="0"/>
              </a:rPr>
              <a:t>Such communication needs more complex bus control circuitry. </a:t>
            </a:r>
          </a:p>
          <a:p>
            <a:r>
              <a:rPr lang="en-IN" dirty="0" smtClean="0">
                <a:latin typeface="Times New Roman" pitchFamily="18" charset="0"/>
                <a:cs typeface="Times New Roman" pitchFamily="18" charset="0"/>
              </a:rPr>
              <a:t>Useful for long distance communication.</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One-way asynchronous data transfer</a:t>
            </a:r>
            <a:r>
              <a:rPr lang="en-IN" dirty="0" smtClean="0">
                <a:latin typeface="Times New Roman" pitchFamily="18" charset="0"/>
                <a:cs typeface="Times New Roman" pitchFamily="18" charset="0"/>
              </a:rPr>
              <a:t>: Timing signals are supplied by one of the two communicating devices to initiate data transfer operation. </a:t>
            </a:r>
            <a:endParaRPr lang="en-IN" dirty="0">
              <a:latin typeface="Times New Roman" pitchFamily="18" charset="0"/>
              <a:cs typeface="Times New Roman" pitchFamily="18" charset="0"/>
            </a:endParaRPr>
          </a:p>
        </p:txBody>
      </p:sp>
      <p:cxnSp>
        <p:nvCxnSpPr>
          <p:cNvPr id="3" name="Straight Connector 2"/>
          <p:cNvCxnSpPr/>
          <p:nvPr/>
        </p:nvCxnSpPr>
        <p:spPr>
          <a:xfrm flipV="1">
            <a:off x="577117" y="3397961"/>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1723577" y="254590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716652" y="2545907"/>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3247577" y="252513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247577" y="3377189"/>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067857" y="2651549"/>
            <a:ext cx="721063"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69830" y="2967670"/>
            <a:ext cx="70845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flipV="1">
            <a:off x="988597" y="4556201"/>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2150297" y="370414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164080" y="3703320"/>
            <a:ext cx="9448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095177" y="3683375"/>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095177" y="4550669"/>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189777" y="3809789"/>
            <a:ext cx="721063"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ready</a:t>
            </a:r>
            <a:endParaRPr lang="en-IN"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685800" y="4125910"/>
            <a:ext cx="91440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a:t>
            </a:r>
            <a:endParaRPr lang="en-IN" dirty="0">
              <a:latin typeface="Times New Roman" panose="02020603050405020304" pitchFamily="18" charset="0"/>
              <a:cs typeface="Times New Roman" panose="02020603050405020304" pitchFamily="18" charset="0"/>
            </a:endParaRPr>
          </a:p>
        </p:txBody>
      </p:sp>
      <p:cxnSp>
        <p:nvCxnSpPr>
          <p:cNvPr id="22" name="Straight Connector 21"/>
          <p:cNvCxnSpPr/>
          <p:nvPr/>
        </p:nvCxnSpPr>
        <p:spPr>
          <a:xfrm rot="5400000">
            <a:off x="1592580" y="364998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1607820" y="401574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1592580" y="435102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1562100" y="471678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2004060" y="471678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2004060" y="505206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1562100" y="5067300"/>
            <a:ext cx="228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309258" y="2460172"/>
            <a:ext cx="2529840" cy="2308324"/>
          </a:xfrm>
          <a:prstGeom prst="rect">
            <a:avLst/>
          </a:prstGeom>
          <a:noFill/>
        </p:spPr>
        <p:txBody>
          <a:bodyPr wrap="square" rtlCol="0">
            <a:spAutoFit/>
          </a:bodyPr>
          <a:lstStyle/>
          <a:p>
            <a:r>
              <a:rPr lang="en-IN" sz="1600" dirty="0" smtClean="0">
                <a:latin typeface="Times New Roman" pitchFamily="18" charset="0"/>
                <a:cs typeface="Times New Roman" pitchFamily="18" charset="0"/>
              </a:rPr>
              <a:t>Both data and control remains active for a considerable amount of time to allow destination device to copy the data</a:t>
            </a:r>
          </a:p>
          <a:p>
            <a:r>
              <a:rPr lang="en-IN" sz="1600" dirty="0" smtClean="0">
                <a:latin typeface="Times New Roman" pitchFamily="18" charset="0"/>
                <a:cs typeface="Times New Roman" pitchFamily="18" charset="0"/>
              </a:rPr>
              <a:t>Source end deactivates the data bus i.e. removes data from the data bus after deactivating the control bus.</a:t>
            </a:r>
            <a:endParaRPr lang="en-IN" sz="1600" dirty="0">
              <a:latin typeface="Times New Roman" pitchFamily="18" charset="0"/>
              <a:cs typeface="Times New Roman" pitchFamily="18" charset="0"/>
            </a:endParaRPr>
          </a:p>
        </p:txBody>
      </p:sp>
      <p:sp>
        <p:nvSpPr>
          <p:cNvPr id="30" name="TextBox 29"/>
          <p:cNvSpPr txBox="1"/>
          <p:nvPr/>
        </p:nvSpPr>
        <p:spPr>
          <a:xfrm>
            <a:off x="2379502" y="5047764"/>
            <a:ext cx="3433469" cy="830997"/>
          </a:xfrm>
          <a:prstGeom prst="rect">
            <a:avLst/>
          </a:prstGeom>
          <a:noFill/>
        </p:spPr>
        <p:txBody>
          <a:bodyPr wrap="square" rtlCol="0">
            <a:spAutoFit/>
          </a:bodyPr>
          <a:lstStyle/>
          <a:p>
            <a:r>
              <a:rPr lang="en-IN" sz="1600" dirty="0" smtClean="0">
                <a:latin typeface="Times New Roman" pitchFamily="18" charset="0"/>
                <a:cs typeface="Times New Roman" pitchFamily="18" charset="0"/>
              </a:rPr>
              <a:t>This delay prevents  data ready to reach to the destination before the availability  of data on the data line</a:t>
            </a:r>
            <a:endParaRPr lang="en-IN" sz="1600" dirty="0">
              <a:latin typeface="Times New Roman" pitchFamily="18" charset="0"/>
              <a:cs typeface="Times New Roman" pitchFamily="18" charset="0"/>
            </a:endParaRPr>
          </a:p>
        </p:txBody>
      </p:sp>
      <p:sp>
        <p:nvSpPr>
          <p:cNvPr id="31" name="TextBox 30"/>
          <p:cNvSpPr txBox="1"/>
          <p:nvPr/>
        </p:nvSpPr>
        <p:spPr>
          <a:xfrm>
            <a:off x="593330" y="6076864"/>
            <a:ext cx="10756231"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8 Asynchronous 1-way data transfer  (a) Source initiated data transfer (b) Destination initiated data transfer</a:t>
            </a:r>
            <a:endParaRPr lang="en-IN" dirty="0">
              <a:latin typeface="Times New Roman" pitchFamily="18" charset="0"/>
              <a:cs typeface="Times New Roman" pitchFamily="18" charset="0"/>
            </a:endParaRPr>
          </a:p>
        </p:txBody>
      </p:sp>
      <p:cxnSp>
        <p:nvCxnSpPr>
          <p:cNvPr id="36" name="Straight Arrow Connector 35"/>
          <p:cNvCxnSpPr/>
          <p:nvPr/>
        </p:nvCxnSpPr>
        <p:spPr>
          <a:xfrm>
            <a:off x="1841863" y="5003074"/>
            <a:ext cx="640080" cy="235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8297266" y="3241206"/>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9443726" y="2389152"/>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9436801" y="2389152"/>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10967726" y="236838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967726" y="3220434"/>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9788006" y="2494794"/>
            <a:ext cx="721063"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sp>
        <p:nvSpPr>
          <p:cNvPr id="43" name="TextBox 42"/>
          <p:cNvSpPr txBox="1"/>
          <p:nvPr/>
        </p:nvSpPr>
        <p:spPr>
          <a:xfrm>
            <a:off x="8489979" y="2810915"/>
            <a:ext cx="70845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cxnSp>
        <p:nvCxnSpPr>
          <p:cNvPr id="44" name="Straight Connector 43"/>
          <p:cNvCxnSpPr/>
          <p:nvPr/>
        </p:nvCxnSpPr>
        <p:spPr>
          <a:xfrm flipV="1">
            <a:off x="8495386" y="4384765"/>
            <a:ext cx="794483" cy="49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6200000" flipV="1">
            <a:off x="8832590" y="3955949"/>
            <a:ext cx="885537" cy="14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9274629" y="3516085"/>
            <a:ext cx="1143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10434326" y="351138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10434326" y="4323805"/>
            <a:ext cx="1111063" cy="3962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9407006" y="3653034"/>
            <a:ext cx="858223"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request</a:t>
            </a:r>
            <a:endParaRPr lang="en-IN" dirty="0">
              <a:latin typeface="Times New Roman" panose="02020603050405020304" pitchFamily="18" charset="0"/>
              <a:cs typeface="Times New Roman" panose="02020603050405020304" pitchFamily="18" charset="0"/>
            </a:endParaRPr>
          </a:p>
        </p:txBody>
      </p:sp>
      <p:sp>
        <p:nvSpPr>
          <p:cNvPr id="50" name="TextBox 49"/>
          <p:cNvSpPr txBox="1"/>
          <p:nvPr/>
        </p:nvSpPr>
        <p:spPr>
          <a:xfrm>
            <a:off x="8375469" y="3953915"/>
            <a:ext cx="88392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a:t>
            </a:r>
            <a:endParaRPr lang="en-IN"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6102532" y="2270762"/>
            <a:ext cx="2323010" cy="2062103"/>
          </a:xfrm>
          <a:prstGeom prst="rect">
            <a:avLst/>
          </a:prstGeom>
          <a:noFill/>
        </p:spPr>
        <p:txBody>
          <a:bodyPr wrap="square" rtlCol="0">
            <a:spAutoFit/>
          </a:bodyPr>
          <a:lstStyle/>
          <a:p>
            <a:r>
              <a:rPr lang="en-IN" sz="1600" dirty="0" smtClean="0">
                <a:latin typeface="Times New Roman" pitchFamily="18" charset="0"/>
                <a:cs typeface="Times New Roman" pitchFamily="18" charset="0"/>
              </a:rPr>
              <a:t>Source places the required data on the data bus</a:t>
            </a:r>
          </a:p>
          <a:p>
            <a:r>
              <a:rPr lang="en-IN" sz="1600" dirty="0" smtClean="0">
                <a:latin typeface="Times New Roman" pitchFamily="18" charset="0"/>
                <a:cs typeface="Times New Roman" pitchFamily="18" charset="0"/>
              </a:rPr>
              <a:t>Data bus remain active for sufficiently long time to allow destination device to read the data from data bus</a:t>
            </a:r>
            <a:endParaRPr lang="en-IN" sz="1600" dirty="0">
              <a:latin typeface="Times New Roman" pitchFamily="18" charset="0"/>
              <a:cs typeface="Times New Roman" pitchFamily="18" charset="0"/>
            </a:endParaRPr>
          </a:p>
        </p:txBody>
      </p:sp>
      <p:sp>
        <p:nvSpPr>
          <p:cNvPr id="52" name="TextBox 51"/>
          <p:cNvSpPr txBox="1"/>
          <p:nvPr/>
        </p:nvSpPr>
        <p:spPr>
          <a:xfrm>
            <a:off x="8516981" y="4537164"/>
            <a:ext cx="3396344" cy="646331"/>
          </a:xfrm>
          <a:prstGeom prst="rect">
            <a:avLst/>
          </a:prstGeom>
          <a:noFill/>
        </p:spPr>
        <p:txBody>
          <a:bodyPr wrap="square" rtlCol="0">
            <a:spAutoFit/>
          </a:bodyPr>
          <a:lstStyle/>
          <a:p>
            <a:r>
              <a:rPr lang="en-IN" dirty="0" smtClean="0">
                <a:latin typeface="Times New Roman" pitchFamily="18" charset="0"/>
                <a:cs typeface="Times New Roman" pitchFamily="18" charset="0"/>
              </a:rPr>
              <a:t>Destination initiates data transfer by activating control line</a:t>
            </a:r>
            <a:endParaRPr lang="en-IN" dirty="0">
              <a:latin typeface="Times New Roman" pitchFamily="18" charset="0"/>
              <a:cs typeface="Times New Roman" pitchFamily="18" charset="0"/>
            </a:endParaRPr>
          </a:p>
        </p:txBody>
      </p:sp>
      <p:cxnSp>
        <p:nvCxnSpPr>
          <p:cNvPr id="55" name="Straight Arrow Connector 54"/>
          <p:cNvCxnSpPr/>
          <p:nvPr/>
        </p:nvCxnSpPr>
        <p:spPr>
          <a:xfrm rot="16200000" flipH="1">
            <a:off x="7987937" y="2684417"/>
            <a:ext cx="600892" cy="5094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7889966" y="3749040"/>
            <a:ext cx="692331" cy="5617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5400000" flipH="1" flipV="1">
            <a:off x="9032966" y="4460966"/>
            <a:ext cx="222068" cy="1567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66205" y="5042263"/>
            <a:ext cx="50945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a:t>
            </a:r>
            <a:endParaRPr lang="en-IN" dirty="0">
              <a:latin typeface="Times New Roman" pitchFamily="18" charset="0"/>
              <a:cs typeface="Times New Roman" pitchFamily="18" charset="0"/>
            </a:endParaRPr>
          </a:p>
        </p:txBody>
      </p:sp>
      <p:sp>
        <p:nvSpPr>
          <p:cNvPr id="61" name="TextBox 60"/>
          <p:cNvSpPr txBox="1"/>
          <p:nvPr/>
        </p:nvSpPr>
        <p:spPr>
          <a:xfrm>
            <a:off x="7728857" y="4711337"/>
            <a:ext cx="50945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a:t>
            </a:r>
            <a:endParaRPr lang="en-IN"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194" y="222068"/>
            <a:ext cx="11756572"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The source end can't understand whether the data transfer operation is over successfully or not in case of one-way data transfer. Because the destination device may be unexpectedly slow in responding to the data ready signal of the source end, during that time the data may be lost. The two-way asynchronous data transfer is used to solve this problem.</a:t>
            </a:r>
          </a:p>
          <a:p>
            <a:r>
              <a:rPr lang="en-IN" u="sng" dirty="0" smtClean="0">
                <a:latin typeface="Times New Roman" pitchFamily="18" charset="0"/>
                <a:cs typeface="Times New Roman" pitchFamily="18" charset="0"/>
              </a:rPr>
              <a:t>Two-way asynchronous data transfer</a:t>
            </a:r>
            <a:r>
              <a:rPr lang="en-IN" dirty="0" smtClean="0">
                <a:latin typeface="Times New Roman" pitchFamily="18" charset="0"/>
                <a:cs typeface="Times New Roman" pitchFamily="18" charset="0"/>
              </a:rPr>
              <a:t>: Both the communicating devices (source and destination) generate timing signals during data transfer operation. </a:t>
            </a:r>
            <a:endParaRPr lang="en-IN" dirty="0">
              <a:latin typeface="Times New Roman" pitchFamily="18" charset="0"/>
              <a:cs typeface="Times New Roman" pitchFamily="18" charset="0"/>
            </a:endParaRPr>
          </a:p>
        </p:txBody>
      </p:sp>
      <p:cxnSp>
        <p:nvCxnSpPr>
          <p:cNvPr id="3" name="Straight Connector 2"/>
          <p:cNvCxnSpPr/>
          <p:nvPr/>
        </p:nvCxnSpPr>
        <p:spPr>
          <a:xfrm flipV="1">
            <a:off x="1592948" y="274402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1586023" y="2744027"/>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3116948" y="2723255"/>
            <a:ext cx="0" cy="852054"/>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937228" y="2849669"/>
            <a:ext cx="888703" cy="646331"/>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From source</a:t>
            </a:r>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639201" y="3165790"/>
            <a:ext cx="70845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cxnSp>
        <p:nvCxnSpPr>
          <p:cNvPr id="8" name="Straight Connector 7"/>
          <p:cNvCxnSpPr/>
          <p:nvPr/>
        </p:nvCxnSpPr>
        <p:spPr>
          <a:xfrm flipV="1">
            <a:off x="857968" y="4754321"/>
            <a:ext cx="1139535"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019668" y="390226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033451" y="3901440"/>
            <a:ext cx="9448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2964548" y="3881495"/>
            <a:ext cx="0" cy="852054"/>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059148" y="3931709"/>
            <a:ext cx="782023" cy="1200329"/>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ready</a:t>
            </a:r>
          </a:p>
          <a:p>
            <a:r>
              <a:rPr lang="en-IN" dirty="0" smtClean="0">
                <a:latin typeface="Times New Roman" panose="02020603050405020304" pitchFamily="18" charset="0"/>
                <a:cs typeface="Times New Roman" panose="02020603050405020304" pitchFamily="18" charset="0"/>
              </a:rPr>
              <a:t>From source</a:t>
            </a:r>
            <a:endParaRPr lang="en-IN"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753291" y="4308790"/>
            <a:ext cx="91440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Control</a:t>
            </a:r>
            <a:endParaRPr lang="en-IN" dirty="0">
              <a:latin typeface="Times New Roman" panose="02020603050405020304" pitchFamily="18" charset="0"/>
              <a:cs typeface="Times New Roman" panose="02020603050405020304" pitchFamily="18" charset="0"/>
            </a:endParaRPr>
          </a:p>
        </p:txBody>
      </p:sp>
      <p:cxnSp>
        <p:nvCxnSpPr>
          <p:cNvPr id="18" name="Straight Connector 17"/>
          <p:cNvCxnSpPr/>
          <p:nvPr/>
        </p:nvCxnSpPr>
        <p:spPr>
          <a:xfrm rot="10800000" flipV="1">
            <a:off x="600891" y="3598228"/>
            <a:ext cx="990600" cy="28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115491" y="3596640"/>
            <a:ext cx="1066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2963091" y="4724400"/>
            <a:ext cx="12649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2385428" y="510622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3391268" y="5090987"/>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378503" y="5106227"/>
            <a:ext cx="1026548" cy="14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981891" y="5958281"/>
            <a:ext cx="1411852" cy="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374571" y="5943041"/>
            <a:ext cx="1411852" cy="559"/>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0" y="5479656"/>
            <a:ext cx="2168863" cy="381211"/>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Ack</a:t>
            </a:r>
            <a:r>
              <a:rPr lang="en-IN" dirty="0" smtClean="0">
                <a:latin typeface="Times New Roman" panose="02020603050405020304" pitchFamily="18" charset="0"/>
                <a:cs typeface="Times New Roman" panose="02020603050405020304" pitchFamily="18" charset="0"/>
              </a:rPr>
              <a:t> from destination</a:t>
            </a:r>
            <a:endParaRPr lang="en-IN" dirty="0">
              <a:latin typeface="Times New Roman" panose="02020603050405020304" pitchFamily="18" charset="0"/>
              <a:cs typeface="Times New Roman" panose="02020603050405020304" pitchFamily="18" charset="0"/>
            </a:endParaRPr>
          </a:p>
        </p:txBody>
      </p:sp>
      <p:cxnSp>
        <p:nvCxnSpPr>
          <p:cNvPr id="44" name="Shape 43"/>
          <p:cNvCxnSpPr>
            <a:stCxn id="12" idx="1"/>
          </p:cNvCxnSpPr>
          <p:nvPr/>
        </p:nvCxnSpPr>
        <p:spPr>
          <a:xfrm rot="10800000" flipH="1" flipV="1">
            <a:off x="2059147" y="4531874"/>
            <a:ext cx="309583" cy="1381246"/>
          </a:xfrm>
          <a:prstGeom prst="curvedConnector4">
            <a:avLst>
              <a:gd name="adj1" fmla="val -73841"/>
              <a:gd name="adj2" fmla="val 7172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Curved Connector 47"/>
          <p:cNvCxnSpPr/>
          <p:nvPr/>
        </p:nvCxnSpPr>
        <p:spPr>
          <a:xfrm rot="5400000" flipH="1" flipV="1">
            <a:off x="2056311" y="4594860"/>
            <a:ext cx="1249680" cy="56388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Curved Connector 49"/>
          <p:cNvCxnSpPr/>
          <p:nvPr/>
        </p:nvCxnSpPr>
        <p:spPr>
          <a:xfrm rot="16200000" flipH="1">
            <a:off x="2361111" y="4640580"/>
            <a:ext cx="1600200" cy="42672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228703" y="2560322"/>
            <a:ext cx="2323010" cy="1077218"/>
          </a:xfrm>
          <a:prstGeom prst="rect">
            <a:avLst/>
          </a:prstGeom>
          <a:noFill/>
        </p:spPr>
        <p:txBody>
          <a:bodyPr wrap="square" rtlCol="0">
            <a:spAutoFit/>
          </a:bodyPr>
          <a:lstStyle/>
          <a:p>
            <a:r>
              <a:rPr lang="en-IN" sz="1600" dirty="0" smtClean="0">
                <a:latin typeface="Times New Roman" pitchFamily="18" charset="0"/>
                <a:cs typeface="Times New Roman" pitchFamily="18" charset="0"/>
              </a:rPr>
              <a:t>Source device maintains data on bus till receives </a:t>
            </a:r>
            <a:r>
              <a:rPr lang="en-IN" sz="1600" dirty="0" err="1" smtClean="0">
                <a:latin typeface="Times New Roman" pitchFamily="18" charset="0"/>
                <a:cs typeface="Times New Roman" pitchFamily="18" charset="0"/>
              </a:rPr>
              <a:t>Ack</a:t>
            </a:r>
            <a:r>
              <a:rPr lang="en-IN" sz="1600" dirty="0" smtClean="0">
                <a:latin typeface="Times New Roman" pitchFamily="18" charset="0"/>
                <a:cs typeface="Times New Roman" pitchFamily="18" charset="0"/>
              </a:rPr>
              <a:t> signal from destination</a:t>
            </a:r>
            <a:endParaRPr lang="en-IN" sz="1600" dirty="0">
              <a:latin typeface="Times New Roman" pitchFamily="18" charset="0"/>
              <a:cs typeface="Times New Roman" pitchFamily="18" charset="0"/>
            </a:endParaRPr>
          </a:p>
        </p:txBody>
      </p:sp>
      <p:sp>
        <p:nvSpPr>
          <p:cNvPr id="52" name="TextBox 51"/>
          <p:cNvSpPr txBox="1"/>
          <p:nvPr/>
        </p:nvSpPr>
        <p:spPr>
          <a:xfrm>
            <a:off x="3487783" y="4892042"/>
            <a:ext cx="2323010" cy="830997"/>
          </a:xfrm>
          <a:prstGeom prst="rect">
            <a:avLst/>
          </a:prstGeom>
          <a:noFill/>
        </p:spPr>
        <p:txBody>
          <a:bodyPr wrap="square" rtlCol="0">
            <a:spAutoFit/>
          </a:bodyPr>
          <a:lstStyle/>
          <a:p>
            <a:r>
              <a:rPr lang="en-IN" sz="1600" dirty="0" smtClean="0">
                <a:latin typeface="Times New Roman" pitchFamily="18" charset="0"/>
                <a:cs typeface="Times New Roman" pitchFamily="18" charset="0"/>
              </a:rPr>
              <a:t>Destination sends </a:t>
            </a:r>
            <a:r>
              <a:rPr lang="en-IN" sz="1600" dirty="0" err="1" smtClean="0">
                <a:latin typeface="Times New Roman" pitchFamily="18" charset="0"/>
                <a:cs typeface="Times New Roman" pitchFamily="18" charset="0"/>
              </a:rPr>
              <a:t>Ack</a:t>
            </a:r>
            <a:r>
              <a:rPr lang="en-IN" sz="1600" dirty="0" smtClean="0">
                <a:latin typeface="Times New Roman" pitchFamily="18" charset="0"/>
                <a:cs typeface="Times New Roman" pitchFamily="18" charset="0"/>
              </a:rPr>
              <a:t> after copying the data from data bus</a:t>
            </a:r>
            <a:endParaRPr lang="en-IN" sz="1600" dirty="0">
              <a:latin typeface="Times New Roman" pitchFamily="18" charset="0"/>
              <a:cs typeface="Times New Roman" pitchFamily="18" charset="0"/>
            </a:endParaRPr>
          </a:p>
        </p:txBody>
      </p:sp>
      <p:cxnSp>
        <p:nvCxnSpPr>
          <p:cNvPr id="53" name="Straight Connector 52"/>
          <p:cNvCxnSpPr/>
          <p:nvPr/>
        </p:nvCxnSpPr>
        <p:spPr>
          <a:xfrm flipV="1">
            <a:off x="8986526" y="2983512"/>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979601" y="2983512"/>
            <a:ext cx="1530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10510526" y="296274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0510526" y="3814794"/>
            <a:ext cx="519550"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9330806" y="3089154"/>
            <a:ext cx="721063"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a:t>
            </a:r>
            <a:endParaRPr lang="en-IN"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7103139" y="3313834"/>
            <a:ext cx="1797022"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from source</a:t>
            </a:r>
            <a:endParaRPr lang="en-IN" dirty="0">
              <a:latin typeface="Times New Roman" panose="02020603050405020304" pitchFamily="18" charset="0"/>
              <a:cs typeface="Times New Roman" panose="02020603050405020304" pitchFamily="18" charset="0"/>
            </a:endParaRPr>
          </a:p>
        </p:txBody>
      </p:sp>
      <p:cxnSp>
        <p:nvCxnSpPr>
          <p:cNvPr id="59" name="Straight Connector 58"/>
          <p:cNvCxnSpPr/>
          <p:nvPr/>
        </p:nvCxnSpPr>
        <p:spPr>
          <a:xfrm flipV="1">
            <a:off x="7687666" y="5055325"/>
            <a:ext cx="794483" cy="49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V="1">
            <a:off x="8024870" y="4611269"/>
            <a:ext cx="885537" cy="14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8451669" y="4171405"/>
            <a:ext cx="1561011" cy="4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9992366" y="4166700"/>
            <a:ext cx="0" cy="852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9977126" y="4963885"/>
            <a:ext cx="1111063" cy="39629"/>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8462126" y="4247394"/>
            <a:ext cx="1489594" cy="923330"/>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Data request from </a:t>
            </a:r>
          </a:p>
          <a:p>
            <a:r>
              <a:rPr lang="en-IN" dirty="0" smtClean="0">
                <a:latin typeface="Times New Roman" panose="02020603050405020304" pitchFamily="18" charset="0"/>
                <a:cs typeface="Times New Roman" panose="02020603050405020304" pitchFamily="18" charset="0"/>
              </a:rPr>
              <a:t>destination</a:t>
            </a:r>
            <a:endParaRPr lang="en-IN" dirty="0">
              <a:latin typeface="Times New Roman" panose="02020603050405020304" pitchFamily="18" charset="0"/>
              <a:cs typeface="Times New Roman" panose="02020603050405020304" pitchFamily="18" charset="0"/>
            </a:endParaRPr>
          </a:p>
        </p:txBody>
      </p:sp>
      <p:cxnSp>
        <p:nvCxnSpPr>
          <p:cNvPr id="65" name="Straight Connector 64"/>
          <p:cNvCxnSpPr/>
          <p:nvPr/>
        </p:nvCxnSpPr>
        <p:spPr>
          <a:xfrm rot="10800000" flipV="1">
            <a:off x="7970520" y="3840480"/>
            <a:ext cx="10210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V="1">
            <a:off x="8878310" y="5647589"/>
            <a:ext cx="885537" cy="14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16200000" flipV="1">
            <a:off x="10067030" y="5617109"/>
            <a:ext cx="885537" cy="14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9320349" y="5196840"/>
            <a:ext cx="1210491" cy="108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0800000">
            <a:off x="7879080" y="6096000"/>
            <a:ext cx="1447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0800000">
            <a:off x="10515600" y="6065520"/>
            <a:ext cx="1447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468899" y="5676034"/>
            <a:ext cx="1797022" cy="369332"/>
          </a:xfrm>
          <a:prstGeom prst="rect">
            <a:avLst/>
          </a:prstGeom>
          <a:noFill/>
        </p:spPr>
        <p:txBody>
          <a:bodyPr wrap="square" rtlCol="0">
            <a:spAutoFit/>
          </a:bodyPr>
          <a:lstStyle/>
          <a:p>
            <a:r>
              <a:rPr lang="en-IN" dirty="0" err="1" smtClean="0">
                <a:latin typeface="Times New Roman" panose="02020603050405020304" pitchFamily="18" charset="0"/>
                <a:cs typeface="Times New Roman" panose="02020603050405020304" pitchFamily="18" charset="0"/>
              </a:rPr>
              <a:t>Ack</a:t>
            </a:r>
            <a:r>
              <a:rPr lang="en-IN" dirty="0" smtClean="0">
                <a:latin typeface="Times New Roman" panose="02020603050405020304" pitchFamily="18" charset="0"/>
                <a:cs typeface="Times New Roman" panose="02020603050405020304" pitchFamily="18" charset="0"/>
              </a:rPr>
              <a:t> from source</a:t>
            </a:r>
            <a:endParaRPr lang="en-IN"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6265818" y="6118443"/>
            <a:ext cx="5769428" cy="338554"/>
          </a:xfrm>
          <a:prstGeom prst="rect">
            <a:avLst/>
          </a:prstGeom>
          <a:noFill/>
        </p:spPr>
        <p:txBody>
          <a:bodyPr wrap="square" rtlCol="0">
            <a:spAutoFit/>
          </a:bodyPr>
          <a:lstStyle/>
          <a:p>
            <a:r>
              <a:rPr lang="en-IN" sz="1600" dirty="0" smtClean="0">
                <a:latin typeface="Times New Roman" pitchFamily="18" charset="0"/>
                <a:cs typeface="Times New Roman" pitchFamily="18" charset="0"/>
              </a:rPr>
              <a:t>Source unit activates </a:t>
            </a:r>
            <a:r>
              <a:rPr lang="en-IN" sz="1600" dirty="0" err="1" smtClean="0">
                <a:latin typeface="Times New Roman" pitchFamily="18" charset="0"/>
                <a:cs typeface="Times New Roman" pitchFamily="18" charset="0"/>
              </a:rPr>
              <a:t>Ack</a:t>
            </a:r>
            <a:r>
              <a:rPr lang="en-IN" sz="1600" dirty="0" smtClean="0">
                <a:latin typeface="Times New Roman" pitchFamily="18" charset="0"/>
                <a:cs typeface="Times New Roman" pitchFamily="18" charset="0"/>
              </a:rPr>
              <a:t> after placing requested data on data line</a:t>
            </a:r>
            <a:endParaRPr lang="en-IN" sz="1600" dirty="0">
              <a:latin typeface="Times New Roman" pitchFamily="18" charset="0"/>
              <a:cs typeface="Times New Roman" pitchFamily="18" charset="0"/>
            </a:endParaRPr>
          </a:p>
        </p:txBody>
      </p:sp>
      <p:sp>
        <p:nvSpPr>
          <p:cNvPr id="74" name="TextBox 73"/>
          <p:cNvSpPr txBox="1"/>
          <p:nvPr/>
        </p:nvSpPr>
        <p:spPr>
          <a:xfrm>
            <a:off x="7014754" y="1804852"/>
            <a:ext cx="4813664" cy="1077218"/>
          </a:xfrm>
          <a:prstGeom prst="rect">
            <a:avLst/>
          </a:prstGeom>
          <a:noFill/>
        </p:spPr>
        <p:txBody>
          <a:bodyPr wrap="square" rtlCol="0">
            <a:spAutoFit/>
          </a:bodyPr>
          <a:lstStyle/>
          <a:p>
            <a:r>
              <a:rPr lang="en-IN" sz="1600" dirty="0" smtClean="0">
                <a:latin typeface="Times New Roman" pitchFamily="18" charset="0"/>
                <a:cs typeface="Times New Roman" pitchFamily="18" charset="0"/>
              </a:rPr>
              <a:t>Source maintains data on data bus till destination deactivates the data request line</a:t>
            </a:r>
          </a:p>
          <a:p>
            <a:r>
              <a:rPr lang="en-IN" sz="1600" dirty="0" smtClean="0">
                <a:latin typeface="Times New Roman" pitchFamily="18" charset="0"/>
                <a:cs typeface="Times New Roman" pitchFamily="18" charset="0"/>
              </a:rPr>
              <a:t>Source unit deactivates data bus i.e. removes data from data bus after deactivating the control bus</a:t>
            </a:r>
            <a:endParaRPr lang="en-IN" sz="1600" dirty="0">
              <a:latin typeface="Times New Roman" pitchFamily="18" charset="0"/>
              <a:cs typeface="Times New Roman" pitchFamily="18" charset="0"/>
            </a:endParaRPr>
          </a:p>
        </p:txBody>
      </p:sp>
      <p:sp>
        <p:nvSpPr>
          <p:cNvPr id="75" name="TextBox 74"/>
          <p:cNvSpPr txBox="1"/>
          <p:nvPr/>
        </p:nvSpPr>
        <p:spPr>
          <a:xfrm>
            <a:off x="170966" y="5963653"/>
            <a:ext cx="5959870" cy="646331"/>
          </a:xfrm>
          <a:prstGeom prst="rect">
            <a:avLst/>
          </a:prstGeom>
          <a:noFill/>
        </p:spPr>
        <p:txBody>
          <a:bodyPr wrap="square" rtlCol="0">
            <a:spAutoFit/>
          </a:bodyPr>
          <a:lstStyle/>
          <a:p>
            <a:r>
              <a:rPr lang="en-IN" dirty="0" smtClean="0">
                <a:latin typeface="Times New Roman" pitchFamily="18" charset="0"/>
                <a:cs typeface="Times New Roman" pitchFamily="18" charset="0"/>
              </a:rPr>
              <a:t>Fig. 9 Asynchronous 2-way data transfer  (a) Source initiated data transfer (b) Destination initiated data transfer</a:t>
            </a:r>
            <a:endParaRPr lang="en-IN" dirty="0">
              <a:latin typeface="Times New Roman" pitchFamily="18" charset="0"/>
              <a:cs typeface="Times New Roman" pitchFamily="18" charset="0"/>
            </a:endParaRPr>
          </a:p>
        </p:txBody>
      </p:sp>
      <p:sp>
        <p:nvSpPr>
          <p:cNvPr id="76" name="TextBox 75"/>
          <p:cNvSpPr txBox="1"/>
          <p:nvPr/>
        </p:nvSpPr>
        <p:spPr>
          <a:xfrm>
            <a:off x="230776" y="4082143"/>
            <a:ext cx="509452"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a:t>
            </a:r>
            <a:endParaRPr lang="en-IN" dirty="0">
              <a:latin typeface="Times New Roman" pitchFamily="18" charset="0"/>
              <a:cs typeface="Times New Roman" pitchFamily="18" charset="0"/>
            </a:endParaRPr>
          </a:p>
        </p:txBody>
      </p:sp>
      <p:sp>
        <p:nvSpPr>
          <p:cNvPr id="77" name="TextBox 76"/>
          <p:cNvSpPr txBox="1"/>
          <p:nvPr/>
        </p:nvSpPr>
        <p:spPr>
          <a:xfrm>
            <a:off x="6945085" y="4249783"/>
            <a:ext cx="509452" cy="369332"/>
          </a:xfrm>
          <a:prstGeom prst="rect">
            <a:avLst/>
          </a:prstGeom>
          <a:noFill/>
        </p:spPr>
        <p:txBody>
          <a:bodyPr wrap="square" rtlCol="0">
            <a:spAutoFit/>
          </a:bodyPr>
          <a:lstStyle/>
          <a:p>
            <a:r>
              <a:rPr lang="en-IN" smtClean="0">
                <a:latin typeface="Times New Roman" pitchFamily="18" charset="0"/>
                <a:cs typeface="Times New Roman" pitchFamily="18" charset="0"/>
              </a:rPr>
              <a:t>(b)</a:t>
            </a:r>
            <a:endParaRPr lang="en-IN"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43840"/>
            <a:ext cx="11750040" cy="5632311"/>
          </a:xfrm>
          <a:prstGeom prst="rect">
            <a:avLst/>
          </a:prstGeom>
          <a:noFill/>
        </p:spPr>
        <p:txBody>
          <a:bodyPr wrap="square" rtlCol="0">
            <a:spAutoFit/>
          </a:bodyPr>
          <a:lstStyle/>
          <a:p>
            <a:r>
              <a:rPr lang="en-IN" u="sng" dirty="0" smtClean="0">
                <a:latin typeface="Times New Roman" pitchFamily="18" charset="0"/>
                <a:cs typeface="Times New Roman" pitchFamily="18" charset="0"/>
              </a:rPr>
              <a:t>Source initiated data transfer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Destination end reads the control signal from the control bus, copies the data from the data bus and sends acknowledgement signal to the source end </a:t>
            </a:r>
          </a:p>
          <a:p>
            <a:r>
              <a:rPr lang="en-IN" dirty="0" smtClean="0">
                <a:latin typeface="Times New Roman" pitchFamily="18" charset="0"/>
                <a:cs typeface="Times New Roman" pitchFamily="18" charset="0"/>
              </a:rPr>
              <a:t>Source end deactivates the control bus i.e. removes the control signal (Data ready) from the control bus after receiving the acknowledgement signal from the destination end </a:t>
            </a:r>
          </a:p>
          <a:p>
            <a:r>
              <a:rPr lang="en-IN" dirty="0" smtClean="0">
                <a:latin typeface="Times New Roman" pitchFamily="18" charset="0"/>
                <a:cs typeface="Times New Roman" pitchFamily="18" charset="0"/>
              </a:rPr>
              <a:t>Destination end deactivates the acknowledgement signal after the deactivation of the control signal by the source end </a:t>
            </a:r>
          </a:p>
          <a:p>
            <a:r>
              <a:rPr lang="en-IN" dirty="0" smtClean="0">
                <a:latin typeface="Times New Roman" pitchFamily="18" charset="0"/>
                <a:cs typeface="Times New Roman" pitchFamily="18" charset="0"/>
              </a:rPr>
              <a:t>Source end deactivates the data bus i.e. removes data from the data bus after deactivating the control bus as in one-way data transfer.</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Destination initiated data transfer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Destination end initiates data transfer by placing a control signal on the control bus, </a:t>
            </a:r>
            <a:r>
              <a:rPr lang="en-IN" b="1" dirty="0" smtClean="0">
                <a:latin typeface="Times New Roman" pitchFamily="18" charset="0"/>
                <a:cs typeface="Times New Roman" pitchFamily="18" charset="0"/>
              </a:rPr>
              <a:t>Data request from destination</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Source end places the data on the data bus, </a:t>
            </a:r>
            <a:r>
              <a:rPr lang="en-IN" b="1" dirty="0" smtClean="0">
                <a:latin typeface="Times New Roman" pitchFamily="18" charset="0"/>
                <a:cs typeface="Times New Roman" pitchFamily="18" charset="0"/>
              </a:rPr>
              <a:t>Data </a:t>
            </a:r>
            <a:r>
              <a:rPr lang="en-IN" dirty="0" smtClean="0">
                <a:latin typeface="Times New Roman" pitchFamily="18" charset="0"/>
                <a:cs typeface="Times New Roman" pitchFamily="18" charset="0"/>
              </a:rPr>
              <a:t>and sends acknowledgement signal, </a:t>
            </a:r>
            <a:r>
              <a:rPr lang="en-IN" b="1" dirty="0" err="1" smtClean="0">
                <a:latin typeface="Times New Roman" pitchFamily="18" charset="0"/>
                <a:cs typeface="Times New Roman" pitchFamily="18" charset="0"/>
              </a:rPr>
              <a:t>Ack</a:t>
            </a:r>
            <a:r>
              <a:rPr lang="en-IN" b="1" dirty="0" smtClean="0">
                <a:latin typeface="Times New Roman" pitchFamily="18" charset="0"/>
                <a:cs typeface="Times New Roman" pitchFamily="18" charset="0"/>
              </a:rPr>
              <a:t> from source </a:t>
            </a:r>
            <a:r>
              <a:rPr lang="en-IN" dirty="0" smtClean="0">
                <a:latin typeface="Times New Roman" pitchFamily="18" charset="0"/>
                <a:cs typeface="Times New Roman" pitchFamily="18" charset="0"/>
              </a:rPr>
              <a:t>after placing the data on the data bus to the destination end to inform the destination end that the data is ready on the data bus</a:t>
            </a:r>
          </a:p>
          <a:p>
            <a:r>
              <a:rPr lang="en-IN" dirty="0" smtClean="0">
                <a:latin typeface="Times New Roman" pitchFamily="18" charset="0"/>
                <a:cs typeface="Times New Roman" pitchFamily="18" charset="0"/>
              </a:rPr>
              <a:t> Destination end copies the data from the data bus after receiving the acknowledgement from the source end and deactivates the control bus i.e. removes data request from the control bus. </a:t>
            </a:r>
          </a:p>
          <a:p>
            <a:r>
              <a:rPr lang="en-IN" dirty="0" smtClean="0">
                <a:latin typeface="Times New Roman" pitchFamily="18" charset="0"/>
                <a:cs typeface="Times New Roman" pitchFamily="18" charset="0"/>
              </a:rPr>
              <a:t>Source end maintains the data on the data bus till the destination end deactivates the data request signal on the control bus. </a:t>
            </a:r>
          </a:p>
          <a:p>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The use of acknowledgement signal both in source initiated data transfer and destination initiated data transfer helps the source end to verify the successful data reception at the destination end and hence solves the problem of one-way data transfer.</a:t>
            </a:r>
            <a:endParaRPr lang="en-IN"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40030" y="210503"/>
            <a:ext cx="5829300" cy="2809875"/>
          </a:xfrm>
          <a:prstGeom prst="rect">
            <a:avLst/>
          </a:prstGeom>
          <a:noFill/>
          <a:ln w="9525">
            <a:noFill/>
            <a:miter lim="800000"/>
            <a:headEnd/>
            <a:tailEnd/>
          </a:ln>
          <a:effectLst/>
        </p:spPr>
      </p:pic>
      <p:sp>
        <p:nvSpPr>
          <p:cNvPr id="5" name="TextBox 4"/>
          <p:cNvSpPr txBox="1"/>
          <p:nvPr/>
        </p:nvSpPr>
        <p:spPr>
          <a:xfrm>
            <a:off x="1156063" y="3487783"/>
            <a:ext cx="2005148"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3 Shared bus</a:t>
            </a:r>
            <a:endParaRPr lang="en-IN" dirty="0">
              <a:latin typeface="Times New Roman" pitchFamily="18" charset="0"/>
              <a:cs typeface="Times New Roman" pitchFamily="18" charset="0"/>
            </a:endParaRPr>
          </a:p>
        </p:txBody>
      </p:sp>
      <p:sp>
        <p:nvSpPr>
          <p:cNvPr id="6" name="TextBox 5"/>
          <p:cNvSpPr txBox="1"/>
          <p:nvPr/>
        </p:nvSpPr>
        <p:spPr>
          <a:xfrm>
            <a:off x="5747656" y="195942"/>
            <a:ext cx="6178732" cy="3970318"/>
          </a:xfrm>
          <a:prstGeom prst="rect">
            <a:avLst/>
          </a:prstGeom>
          <a:noFill/>
        </p:spPr>
        <p:txBody>
          <a:bodyPr wrap="square" rtlCol="0">
            <a:spAutoFit/>
          </a:bodyPr>
          <a:lstStyle/>
          <a:p>
            <a:r>
              <a:rPr lang="en-IN" dirty="0" smtClean="0">
                <a:latin typeface="Times New Roman" pitchFamily="18" charset="0"/>
                <a:cs typeface="Times New Roman" pitchFamily="18" charset="0"/>
              </a:rPr>
              <a:t>Seven bidirectional bus lines (1234567) are used for data input as well as data output. </a:t>
            </a:r>
          </a:p>
          <a:p>
            <a:r>
              <a:rPr lang="en-IN" dirty="0" smtClean="0">
                <a:latin typeface="Times New Roman" pitchFamily="18" charset="0"/>
                <a:cs typeface="Times New Roman" pitchFamily="18" charset="0"/>
              </a:rPr>
              <a:t>z</a:t>
            </a:r>
            <a:r>
              <a:rPr lang="en-IN" baseline="-25000" dirty="0" smtClean="0">
                <a:latin typeface="Times New Roman" pitchFamily="18" charset="0"/>
                <a:cs typeface="Times New Roman" pitchFamily="18" charset="0"/>
              </a:rPr>
              <a:t>1,1</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1,2</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1,7</a:t>
            </a:r>
            <a:r>
              <a:rPr lang="en-IN" dirty="0" smtClean="0">
                <a:latin typeface="Times New Roman" pitchFamily="18" charset="0"/>
                <a:cs typeface="Times New Roman" pitchFamily="18" charset="0"/>
              </a:rPr>
              <a:t> are the 7 data inputs lines and x</a:t>
            </a:r>
            <a:r>
              <a:rPr lang="en-IN" baseline="-25000" dirty="0" smtClean="0">
                <a:latin typeface="Times New Roman" pitchFamily="18" charset="0"/>
                <a:cs typeface="Times New Roman" pitchFamily="18" charset="0"/>
              </a:rPr>
              <a:t>1,1</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1,2</a:t>
            </a:r>
            <a:r>
              <a:rPr lang="en-IN" dirty="0" smtClean="0">
                <a:latin typeface="Times New Roman" pitchFamily="18" charset="0"/>
                <a:cs typeface="Times New Roman" pitchFamily="18" charset="0"/>
              </a:rPr>
              <a:t>....x</a:t>
            </a:r>
            <a:r>
              <a:rPr lang="en-IN" baseline="-25000" dirty="0" smtClean="0">
                <a:latin typeface="Times New Roman" pitchFamily="18" charset="0"/>
                <a:cs typeface="Times New Roman" pitchFamily="18" charset="0"/>
              </a:rPr>
              <a:t>1,7 </a:t>
            </a:r>
            <a:r>
              <a:rPr lang="en-IN" dirty="0" smtClean="0">
                <a:latin typeface="Times New Roman" pitchFamily="18" charset="0"/>
                <a:cs typeface="Times New Roman" pitchFamily="18" charset="0"/>
              </a:rPr>
              <a:t>are the 7 data output lines of unit U1.</a:t>
            </a:r>
          </a:p>
          <a:p>
            <a:r>
              <a:rPr lang="en-IN" dirty="0" smtClean="0">
                <a:latin typeface="Times New Roman" pitchFamily="18" charset="0"/>
                <a:cs typeface="Times New Roman" pitchFamily="18" charset="0"/>
              </a:rPr>
              <a:t>z</a:t>
            </a:r>
            <a:r>
              <a:rPr lang="en-IN" baseline="-25000" dirty="0" smtClean="0">
                <a:latin typeface="Times New Roman" pitchFamily="18" charset="0"/>
                <a:cs typeface="Times New Roman" pitchFamily="18" charset="0"/>
              </a:rPr>
              <a:t>2,1</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2,2</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2,7</a:t>
            </a:r>
            <a:r>
              <a:rPr lang="en-IN" dirty="0" smtClean="0">
                <a:latin typeface="Times New Roman" pitchFamily="18" charset="0"/>
                <a:cs typeface="Times New Roman" pitchFamily="18" charset="0"/>
              </a:rPr>
              <a:t> are the 7 data inputs lines and x</a:t>
            </a:r>
            <a:r>
              <a:rPr lang="en-IN" baseline="-25000" dirty="0" smtClean="0">
                <a:latin typeface="Times New Roman" pitchFamily="18" charset="0"/>
                <a:cs typeface="Times New Roman" pitchFamily="18" charset="0"/>
              </a:rPr>
              <a:t>2,1</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2,2</a:t>
            </a:r>
            <a:r>
              <a:rPr lang="en-IN" dirty="0" smtClean="0">
                <a:latin typeface="Times New Roman" pitchFamily="18" charset="0"/>
                <a:cs typeface="Times New Roman" pitchFamily="18" charset="0"/>
              </a:rPr>
              <a:t>....x</a:t>
            </a:r>
            <a:r>
              <a:rPr lang="en-IN" baseline="-25000" dirty="0" smtClean="0">
                <a:latin typeface="Times New Roman" pitchFamily="18" charset="0"/>
                <a:cs typeface="Times New Roman" pitchFamily="18" charset="0"/>
              </a:rPr>
              <a:t>2,7 </a:t>
            </a:r>
            <a:r>
              <a:rPr lang="en-IN" dirty="0" smtClean="0">
                <a:latin typeface="Times New Roman" pitchFamily="18" charset="0"/>
                <a:cs typeface="Times New Roman" pitchFamily="18" charset="0"/>
              </a:rPr>
              <a:t>are the 7 data output lines of unit U2. </a:t>
            </a:r>
          </a:p>
          <a:p>
            <a:r>
              <a:rPr lang="en-IN" dirty="0" smtClean="0">
                <a:latin typeface="Times New Roman" pitchFamily="18" charset="0"/>
                <a:cs typeface="Times New Roman" pitchFamily="18" charset="0"/>
              </a:rPr>
              <a:t>Seven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(drivers) are used in the seven input lines of unit U1 and U2. </a:t>
            </a:r>
          </a:p>
          <a:p>
            <a:r>
              <a:rPr lang="en-IN" dirty="0" smtClean="0">
                <a:latin typeface="Times New Roman" pitchFamily="18" charset="0"/>
                <a:cs typeface="Times New Roman" pitchFamily="18" charset="0"/>
              </a:rPr>
              <a:t>Control signal for the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of unit U1 is e1 and U2 is e2. So if e1=1 all the 7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in unit U1 are enabled and if e2=1 all the 7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in unit U2 are enabled. </a:t>
            </a:r>
          </a:p>
          <a:p>
            <a:r>
              <a:rPr lang="en-IN" dirty="0" smtClean="0">
                <a:latin typeface="Times New Roman" pitchFamily="18" charset="0"/>
                <a:cs typeface="Times New Roman" pitchFamily="18" charset="0"/>
              </a:rPr>
              <a:t>Seven receivers are used in the seven output lines of unit U1 and U2 for receiving data from bus during read operation.</a:t>
            </a:r>
          </a:p>
          <a:p>
            <a:endParaRPr lang="en-IN" dirty="0"/>
          </a:p>
        </p:txBody>
      </p:sp>
      <p:sp>
        <p:nvSpPr>
          <p:cNvPr id="7" name="TextBox 6"/>
          <p:cNvSpPr txBox="1"/>
          <p:nvPr/>
        </p:nvSpPr>
        <p:spPr>
          <a:xfrm>
            <a:off x="404949" y="4167051"/>
            <a:ext cx="10398035"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Use of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logic for interfacing two units greatly reduce fan-in and fan-out constraints on bus lines, facilitate bidirectional signal transmission over a bus line by allowing the same bus line to serve both as input and output. </a:t>
            </a:r>
          </a:p>
          <a:p>
            <a:r>
              <a:rPr lang="en-IN" dirty="0" smtClean="0">
                <a:latin typeface="Times New Roman" pitchFamily="18" charset="0"/>
                <a:cs typeface="Times New Roman" pitchFamily="18" charset="0"/>
              </a:rPr>
              <a:t>Tristate </a:t>
            </a:r>
            <a:r>
              <a:rPr lang="en-IN" smtClean="0">
                <a:latin typeface="Times New Roman" pitchFamily="18" charset="0"/>
                <a:cs typeface="Times New Roman" pitchFamily="18" charset="0"/>
              </a:rPr>
              <a:t>logic helps </a:t>
            </a:r>
            <a:r>
              <a:rPr lang="en-IN" dirty="0" smtClean="0">
                <a:latin typeface="Times New Roman" pitchFamily="18" charset="0"/>
                <a:cs typeface="Times New Roman" pitchFamily="18" charset="0"/>
              </a:rPr>
              <a:t>use the same set of bus for input as well as output which in turn helps to minimize the cost of </a:t>
            </a:r>
            <a:r>
              <a:rPr lang="en-IN" smtClean="0">
                <a:latin typeface="Times New Roman" pitchFamily="18" charset="0"/>
                <a:cs typeface="Times New Roman" pitchFamily="18" charset="0"/>
              </a:rPr>
              <a:t>system bus.</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2069" y="156755"/>
            <a:ext cx="11652068" cy="6463308"/>
          </a:xfrm>
          <a:prstGeom prst="rect">
            <a:avLst/>
          </a:prstGeom>
          <a:noFill/>
        </p:spPr>
        <p:txBody>
          <a:bodyPr wrap="square" rtlCol="0">
            <a:spAutoFit/>
          </a:bodyPr>
          <a:lstStyle/>
          <a:p>
            <a:r>
              <a:rPr lang="en-IN" u="sng" dirty="0" smtClean="0">
                <a:latin typeface="Times New Roman" pitchFamily="18" charset="0"/>
                <a:cs typeface="Times New Roman" pitchFamily="18" charset="0"/>
              </a:rPr>
              <a:t>Operation of the circuit in Fig 3 for communication between U1 and U2</a:t>
            </a:r>
            <a:r>
              <a:rPr lang="en-IN" dirty="0" smtClean="0">
                <a:latin typeface="Times New Roman" pitchFamily="18" charset="0"/>
                <a:cs typeface="Times New Roman" pitchFamily="18" charset="0"/>
              </a:rPr>
              <a:t>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If e1=1 and e2=0 </a:t>
            </a:r>
          </a:p>
          <a:p>
            <a:r>
              <a:rPr lang="en-IN" dirty="0" smtClean="0">
                <a:latin typeface="Times New Roman" pitchFamily="18" charset="0"/>
                <a:cs typeface="Times New Roman" pitchFamily="18" charset="0"/>
              </a:rPr>
              <a:t>All the 7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in unit U1 are enabled. These 7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transfer the data from the 7 input data lines (z</a:t>
            </a:r>
            <a:r>
              <a:rPr lang="en-IN" baseline="-25000" dirty="0" smtClean="0">
                <a:latin typeface="Times New Roman" pitchFamily="18" charset="0"/>
                <a:cs typeface="Times New Roman" pitchFamily="18" charset="0"/>
              </a:rPr>
              <a:t>1,1</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1,2</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1,7</a:t>
            </a:r>
            <a:r>
              <a:rPr lang="en-IN" dirty="0" smtClean="0">
                <a:latin typeface="Times New Roman" pitchFamily="18" charset="0"/>
                <a:cs typeface="Times New Roman" pitchFamily="18" charset="0"/>
              </a:rPr>
              <a:t>)</a:t>
            </a:r>
            <a:r>
              <a:rPr lang="en-IN" baseline="-25000" dirty="0" smtClean="0">
                <a:latin typeface="Times New Roman" pitchFamily="18" charset="0"/>
                <a:cs typeface="Times New Roman" pitchFamily="18" charset="0"/>
              </a:rPr>
              <a:t> </a:t>
            </a:r>
            <a:r>
              <a:rPr lang="en-IN" dirty="0" smtClean="0">
                <a:latin typeface="Times New Roman" pitchFamily="18" charset="0"/>
                <a:cs typeface="Times New Roman" pitchFamily="18" charset="0"/>
              </a:rPr>
              <a:t>of unit U1 to the 7 bidirectional bus lines (1234567).  That is the unit U1 performs write operation in the bus (1234567), in effect making x</a:t>
            </a:r>
            <a:r>
              <a:rPr lang="en-IN" baseline="-25000" dirty="0" smtClean="0">
                <a:latin typeface="Times New Roman" pitchFamily="18" charset="0"/>
                <a:cs typeface="Times New Roman" pitchFamily="18" charset="0"/>
              </a:rPr>
              <a:t>2,i</a:t>
            </a:r>
            <a:r>
              <a:rPr lang="en-IN" dirty="0" smtClean="0">
                <a:latin typeface="Times New Roman" pitchFamily="18" charset="0"/>
                <a:cs typeface="Times New Roman" pitchFamily="18" charset="0"/>
              </a:rPr>
              <a:t>=z</a:t>
            </a:r>
            <a:r>
              <a:rPr lang="en-IN" baseline="-25000" dirty="0" smtClean="0">
                <a:latin typeface="Times New Roman" pitchFamily="18" charset="0"/>
                <a:cs typeface="Times New Roman" pitchFamily="18" charset="0"/>
              </a:rPr>
              <a:t>1,i </a:t>
            </a:r>
            <a:r>
              <a:rPr lang="en-IN" dirty="0" smtClean="0">
                <a:latin typeface="Times New Roman" pitchFamily="18" charset="0"/>
                <a:cs typeface="Times New Roman" pitchFamily="18" charset="0"/>
              </a:rPr>
              <a:t>for all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=1 to 7). </a:t>
            </a:r>
          </a:p>
          <a:p>
            <a:r>
              <a:rPr lang="en-IN" dirty="0" smtClean="0">
                <a:latin typeface="Times New Roman" pitchFamily="18" charset="0"/>
                <a:cs typeface="Times New Roman" pitchFamily="18" charset="0"/>
              </a:rPr>
              <a:t>All the 7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in unit U2 are disabled as e2=0. So the unit U2 can't perform write operation in the bus (1234567). But the unit U2 can perform read operation from the bus (1234567) through receivers.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(ii) If e1=0 and e2=1</a:t>
            </a:r>
          </a:p>
          <a:p>
            <a:r>
              <a:rPr lang="en-IN" dirty="0" smtClean="0">
                <a:latin typeface="Times New Roman" pitchFamily="18" charset="0"/>
                <a:cs typeface="Times New Roman" pitchFamily="18" charset="0"/>
              </a:rPr>
              <a:t>U2 drives the bus, and information is transferred over the bus from U2 to U1, in effect making x</a:t>
            </a:r>
            <a:r>
              <a:rPr lang="en-IN" baseline="-25000" dirty="0" smtClean="0">
                <a:latin typeface="Times New Roman" pitchFamily="18" charset="0"/>
                <a:cs typeface="Times New Roman" pitchFamily="18" charset="0"/>
              </a:rPr>
              <a:t>1,i</a:t>
            </a:r>
            <a:r>
              <a:rPr lang="en-IN" dirty="0" smtClean="0">
                <a:latin typeface="Times New Roman" pitchFamily="18" charset="0"/>
                <a:cs typeface="Times New Roman" pitchFamily="18" charset="0"/>
              </a:rPr>
              <a:t>=z</a:t>
            </a:r>
            <a:r>
              <a:rPr lang="en-IN" baseline="-25000" dirty="0" smtClean="0">
                <a:latin typeface="Times New Roman" pitchFamily="18" charset="0"/>
                <a:cs typeface="Times New Roman" pitchFamily="18" charset="0"/>
              </a:rPr>
              <a:t>2,i </a:t>
            </a:r>
            <a:r>
              <a:rPr lang="en-IN" dirty="0" smtClean="0">
                <a:latin typeface="Times New Roman" pitchFamily="18" charset="0"/>
                <a:cs typeface="Times New Roman" pitchFamily="18" charset="0"/>
              </a:rPr>
              <a:t>for all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=1 to 7). </a:t>
            </a:r>
          </a:p>
          <a:p>
            <a:r>
              <a:rPr lang="en-IN" dirty="0" smtClean="0">
                <a:latin typeface="Times New Roman" pitchFamily="18" charset="0"/>
                <a:cs typeface="Times New Roman" pitchFamily="18" charset="0"/>
              </a:rPr>
              <a:t>U2 performs write operation in 1, 2, 3, 4, 5, 6, 7 from z</a:t>
            </a:r>
            <a:r>
              <a:rPr lang="en-IN" baseline="-25000" dirty="0" smtClean="0">
                <a:latin typeface="Times New Roman" pitchFamily="18" charset="0"/>
                <a:cs typeface="Times New Roman" pitchFamily="18" charset="0"/>
              </a:rPr>
              <a:t>2,1</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2,2</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2,3</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2,4</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2,5</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2,6</a:t>
            </a:r>
            <a:r>
              <a:rPr lang="en-IN" dirty="0" smtClean="0">
                <a:latin typeface="Times New Roman" pitchFamily="18" charset="0"/>
                <a:cs typeface="Times New Roman" pitchFamily="18" charset="0"/>
              </a:rPr>
              <a:t>, z</a:t>
            </a:r>
            <a:r>
              <a:rPr lang="en-IN" baseline="-25000" dirty="0" smtClean="0">
                <a:latin typeface="Times New Roman" pitchFamily="18" charset="0"/>
                <a:cs typeface="Times New Roman" pitchFamily="18" charset="0"/>
              </a:rPr>
              <a:t>2,7</a:t>
            </a:r>
            <a:r>
              <a:rPr lang="en-IN" dirty="0" smtClean="0">
                <a:latin typeface="Times New Roman" pitchFamily="18" charset="0"/>
                <a:cs typeface="Times New Roman" pitchFamily="18" charset="0"/>
              </a:rPr>
              <a:t> and the unit U1 performs read operation from 1, 2, 3, 4, 5, 6, 7 to x</a:t>
            </a:r>
            <a:r>
              <a:rPr lang="en-IN" baseline="-25000" dirty="0" smtClean="0">
                <a:latin typeface="Times New Roman" pitchFamily="18" charset="0"/>
                <a:cs typeface="Times New Roman" pitchFamily="18" charset="0"/>
              </a:rPr>
              <a:t>1,1</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1,2</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1,3</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1,4</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1,5</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1,6</a:t>
            </a:r>
            <a:r>
              <a:rPr lang="en-IN" dirty="0" smtClean="0">
                <a:latin typeface="Times New Roman" pitchFamily="18" charset="0"/>
                <a:cs typeface="Times New Roman" pitchFamily="18" charset="0"/>
              </a:rPr>
              <a:t>, x</a:t>
            </a:r>
            <a:r>
              <a:rPr lang="en-IN" baseline="-25000" dirty="0" smtClean="0">
                <a:latin typeface="Times New Roman" pitchFamily="18" charset="0"/>
                <a:cs typeface="Times New Roman" pitchFamily="18" charset="0"/>
              </a:rPr>
              <a:t>1,7</a:t>
            </a:r>
            <a:r>
              <a:rPr lang="en-IN" dirty="0" smtClean="0">
                <a:latin typeface="Times New Roman" pitchFamily="18" charset="0"/>
                <a:cs typeface="Times New Roman" pitchFamily="18" charset="0"/>
              </a:rPr>
              <a:t>.</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(iii) If e1=0 and e2=0 </a:t>
            </a:r>
          </a:p>
          <a:p>
            <a:r>
              <a:rPr lang="en-IN" dirty="0" smtClean="0">
                <a:latin typeface="Times New Roman" pitchFamily="18" charset="0"/>
                <a:cs typeface="Times New Roman" pitchFamily="18" charset="0"/>
              </a:rPr>
              <a:t>The outputs of both U1 and U2 are logically disconnected from the bus. </a:t>
            </a:r>
          </a:p>
          <a:p>
            <a:r>
              <a:rPr lang="en-IN" dirty="0" smtClean="0">
                <a:latin typeface="Times New Roman" pitchFamily="18" charset="0"/>
                <a:cs typeface="Times New Roman" pitchFamily="18" charset="0"/>
              </a:rPr>
              <a:t>Neither the unit U1 nor the unit U2 performs write operation in the bus (1234567) as all the 7 </a:t>
            </a:r>
            <a:r>
              <a:rPr lang="en-IN" dirty="0" err="1" smtClean="0">
                <a:latin typeface="Times New Roman" pitchFamily="18" charset="0"/>
                <a:cs typeface="Times New Roman" pitchFamily="18" charset="0"/>
              </a:rPr>
              <a:t>tristate</a:t>
            </a:r>
            <a:r>
              <a:rPr lang="en-IN" dirty="0" smtClean="0">
                <a:latin typeface="Times New Roman" pitchFamily="18" charset="0"/>
                <a:cs typeface="Times New Roman" pitchFamily="18" charset="0"/>
              </a:rPr>
              <a:t> gates both in unit U1 and unit U2 are disabled. </a:t>
            </a:r>
          </a:p>
          <a:p>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(iv) If e1=1 and e2=1 </a:t>
            </a:r>
          </a:p>
          <a:p>
            <a:r>
              <a:rPr lang="en-IN" dirty="0" smtClean="0">
                <a:latin typeface="Times New Roman" pitchFamily="18" charset="0"/>
                <a:cs typeface="Times New Roman" pitchFamily="18" charset="0"/>
              </a:rPr>
              <a:t>It is invalid, since it applies two different signals to each bus line making the resultant bus state indeterminate. </a:t>
            </a:r>
          </a:p>
          <a:p>
            <a:r>
              <a:rPr lang="en-IN" dirty="0" smtClean="0">
                <a:latin typeface="Times New Roman" pitchFamily="18" charset="0"/>
                <a:cs typeface="Times New Roman" pitchFamily="18" charset="0"/>
              </a:rPr>
              <a:t>It allows both the units to perform write operation into the bus simultaneously. So it is invalid as the bus state becomes indeterminate.</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0"/>
            <a:ext cx="5819775" cy="3209925"/>
          </a:xfrm>
          <a:prstGeom prst="rect">
            <a:avLst/>
          </a:prstGeom>
          <a:noFill/>
          <a:ln w="9525">
            <a:noFill/>
            <a:miter lim="800000"/>
            <a:headEnd/>
            <a:tailEnd/>
          </a:ln>
          <a:effectLst/>
        </p:spPr>
      </p:pic>
      <p:sp>
        <p:nvSpPr>
          <p:cNvPr id="3" name="TextBox 2"/>
          <p:cNvSpPr txBox="1"/>
          <p:nvPr/>
        </p:nvSpPr>
        <p:spPr>
          <a:xfrm>
            <a:off x="670560" y="365760"/>
            <a:ext cx="6705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4</a:t>
            </a:r>
            <a:endParaRPr lang="en-IN" dirty="0">
              <a:latin typeface="Times New Roman" pitchFamily="18" charset="0"/>
              <a:cs typeface="Times New Roman" pitchFamily="18" charset="0"/>
            </a:endParaRPr>
          </a:p>
        </p:txBody>
      </p:sp>
      <p:sp>
        <p:nvSpPr>
          <p:cNvPr id="4" name="TextBox 3"/>
          <p:cNvSpPr txBox="1"/>
          <p:nvPr/>
        </p:nvSpPr>
        <p:spPr>
          <a:xfrm>
            <a:off x="171995" y="3341914"/>
            <a:ext cx="11795760" cy="2862322"/>
          </a:xfrm>
          <a:prstGeom prst="rect">
            <a:avLst/>
          </a:prstGeom>
          <a:noFill/>
        </p:spPr>
        <p:txBody>
          <a:bodyPr wrap="square" rtlCol="0">
            <a:spAutoFit/>
          </a:bodyPr>
          <a:lstStyle/>
          <a:p>
            <a:r>
              <a:rPr lang="en-IN" b="1" dirty="0" smtClean="0">
                <a:latin typeface="Times New Roman" pitchFamily="18" charset="0"/>
                <a:cs typeface="Times New Roman" pitchFamily="18" charset="0"/>
              </a:rPr>
              <a:t>Transceiver</a:t>
            </a:r>
            <a:r>
              <a:rPr lang="en-IN" dirty="0" smtClean="0">
                <a:latin typeface="Times New Roman" pitchFamily="18" charset="0"/>
                <a:cs typeface="Times New Roman" pitchFamily="18" charset="0"/>
              </a:rPr>
              <a:t>: Fig 4 shows transceiver between the bidirectional bus and IO interface </a:t>
            </a:r>
          </a:p>
          <a:p>
            <a:r>
              <a:rPr lang="en-IN" dirty="0" smtClean="0">
                <a:latin typeface="Times New Roman" pitchFamily="18" charset="0"/>
                <a:cs typeface="Times New Roman" pitchFamily="18" charset="0"/>
              </a:rPr>
              <a:t>Transceiver operates both in transmitting mode and receiving mode. </a:t>
            </a:r>
          </a:p>
          <a:p>
            <a:r>
              <a:rPr lang="en-IN" dirty="0" smtClean="0">
                <a:latin typeface="Times New Roman" pitchFamily="18" charset="0"/>
                <a:cs typeface="Times New Roman" pitchFamily="18" charset="0"/>
              </a:rPr>
              <a:t>Driver part of the transceiver is enabled at the time of write operation by the IO device to the bidirectional bus</a:t>
            </a:r>
          </a:p>
          <a:p>
            <a:r>
              <a:rPr lang="en-IN" dirty="0" smtClean="0">
                <a:latin typeface="Times New Roman" pitchFamily="18" charset="0"/>
                <a:cs typeface="Times New Roman" pitchFamily="18" charset="0"/>
              </a:rPr>
              <a:t>Receiver part of the transceiver is enabled at the time of read operation by the IO device from the bus through the IO interface. Driver is positive controlled but the receiver is negative controlled. </a:t>
            </a:r>
          </a:p>
          <a:p>
            <a:r>
              <a:rPr lang="en-IN" dirty="0" smtClean="0">
                <a:latin typeface="Times New Roman" pitchFamily="18" charset="0"/>
                <a:cs typeface="Times New Roman" pitchFamily="18" charset="0"/>
              </a:rPr>
              <a:t>Control input is output enable (OE). </a:t>
            </a:r>
          </a:p>
          <a:p>
            <a:r>
              <a:rPr lang="en-IN" dirty="0" smtClean="0">
                <a:latin typeface="Times New Roman" pitchFamily="18" charset="0"/>
                <a:cs typeface="Times New Roman" pitchFamily="18" charset="0"/>
              </a:rPr>
              <a:t>If OE=0 the driver output is in high impedance state but the receiver is enabled, receiver receives the data from bus and sends the data to the IO device through the IO interface circuit. </a:t>
            </a:r>
          </a:p>
          <a:p>
            <a:r>
              <a:rPr lang="en-IN" dirty="0" smtClean="0">
                <a:latin typeface="Times New Roman" pitchFamily="18" charset="0"/>
                <a:cs typeface="Times New Roman" pitchFamily="18" charset="0"/>
              </a:rPr>
              <a:t>If OE=1 the receiver output is in the high impedance state but the driver is enabled, driver puts data on the bus from the IO device through the IO interface circuit. </a:t>
            </a:r>
          </a:p>
        </p:txBody>
      </p:sp>
      <p:sp>
        <p:nvSpPr>
          <p:cNvPr id="5" name="TextBox 4"/>
          <p:cNvSpPr txBox="1"/>
          <p:nvPr/>
        </p:nvSpPr>
        <p:spPr>
          <a:xfrm>
            <a:off x="5826034" y="169817"/>
            <a:ext cx="6152606" cy="1754326"/>
          </a:xfrm>
          <a:prstGeom prst="rect">
            <a:avLst/>
          </a:prstGeom>
          <a:noFill/>
        </p:spPr>
        <p:txBody>
          <a:bodyPr wrap="square" rtlCol="0">
            <a:spAutoFit/>
          </a:bodyPr>
          <a:lstStyle/>
          <a:p>
            <a:r>
              <a:rPr lang="en-IN" u="sng" dirty="0" smtClean="0">
                <a:latin typeface="Times New Roman" pitchFamily="18" charset="0"/>
                <a:cs typeface="Times New Roman" pitchFamily="18" charset="0"/>
              </a:rPr>
              <a:t>Advantage of using transceiver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Reduces fan in and fan out constraints on the bus lines. </a:t>
            </a:r>
          </a:p>
          <a:p>
            <a:r>
              <a:rPr lang="en-IN" dirty="0" smtClean="0">
                <a:latin typeface="Times New Roman" pitchFamily="18" charset="0"/>
                <a:cs typeface="Times New Roman" pitchFamily="18" charset="0"/>
              </a:rPr>
              <a:t>Facilitates bidirectional signal transmission over a bus line by allowing same line to be used as input and output. </a:t>
            </a:r>
          </a:p>
          <a:p>
            <a:r>
              <a:rPr lang="en-IN" dirty="0" smtClean="0">
                <a:latin typeface="Times New Roman" pitchFamily="18" charset="0"/>
                <a:cs typeface="Times New Roman" pitchFamily="18" charset="0"/>
              </a:rPr>
              <a:t>At a time one device can perform write operation in the bus but all the devices can perform read operation from the bus.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382" y="228600"/>
            <a:ext cx="11573691" cy="1754326"/>
          </a:xfrm>
          <a:prstGeom prst="rect">
            <a:avLst/>
          </a:prstGeom>
          <a:noFill/>
        </p:spPr>
        <p:txBody>
          <a:bodyPr wrap="square" rtlCol="0">
            <a:spAutoFit/>
          </a:bodyPr>
          <a:lstStyle/>
          <a:p>
            <a:r>
              <a:rPr lang="en-IN" u="sng" dirty="0" smtClean="0">
                <a:latin typeface="Times New Roman" pitchFamily="18" charset="0"/>
                <a:cs typeface="Times New Roman" pitchFamily="18" charset="0"/>
              </a:rPr>
              <a:t>Arbitration</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Several master and/or slave devices are connected to a shared bus. </a:t>
            </a:r>
          </a:p>
          <a:p>
            <a:r>
              <a:rPr lang="en-IN" dirty="0" smtClean="0">
                <a:latin typeface="Times New Roman" pitchFamily="18" charset="0"/>
                <a:cs typeface="Times New Roman" pitchFamily="18" charset="0"/>
              </a:rPr>
              <a:t>More than one such devices may generate request for accessing the bus at the same time. </a:t>
            </a:r>
          </a:p>
          <a:p>
            <a:r>
              <a:rPr lang="en-IN" dirty="0" smtClean="0">
                <a:latin typeface="Times New Roman" pitchFamily="18" charset="0"/>
                <a:cs typeface="Times New Roman" pitchFamily="18" charset="0"/>
              </a:rPr>
              <a:t>Bus access can be given to a single device at a time. </a:t>
            </a:r>
          </a:p>
          <a:p>
            <a:r>
              <a:rPr lang="en-IN" dirty="0" smtClean="0">
                <a:latin typeface="Times New Roman" pitchFamily="18" charset="0"/>
                <a:cs typeface="Times New Roman" pitchFamily="18" charset="0"/>
              </a:rPr>
              <a:t>So a selection mechanism called bus arbitration is required to select one device from several requesting devices. </a:t>
            </a:r>
          </a:p>
          <a:p>
            <a:r>
              <a:rPr lang="en-IN" dirty="0" smtClean="0">
                <a:latin typeface="Times New Roman" pitchFamily="18" charset="0"/>
                <a:cs typeface="Times New Roman" pitchFamily="18" charset="0"/>
              </a:rPr>
              <a:t>Daisy chaining, polling, independent requesting are the three bus arbitration schemes.</a:t>
            </a:r>
            <a:endParaRPr lang="en-IN" dirty="0"/>
          </a:p>
        </p:txBody>
      </p:sp>
      <p:sp>
        <p:nvSpPr>
          <p:cNvPr id="3" name="TextBox 2"/>
          <p:cNvSpPr txBox="1"/>
          <p:nvPr/>
        </p:nvSpPr>
        <p:spPr>
          <a:xfrm>
            <a:off x="6230983" y="2148841"/>
            <a:ext cx="5645331" cy="2031325"/>
          </a:xfrm>
          <a:prstGeom prst="rect">
            <a:avLst/>
          </a:prstGeom>
          <a:noFill/>
        </p:spPr>
        <p:txBody>
          <a:bodyPr wrap="square" rtlCol="0">
            <a:spAutoFit/>
          </a:bodyPr>
          <a:lstStyle/>
          <a:p>
            <a:r>
              <a:rPr lang="en-IN" u="sng" dirty="0" smtClean="0">
                <a:latin typeface="Times New Roman" pitchFamily="18" charset="0"/>
                <a:cs typeface="Times New Roman" pitchFamily="18" charset="0"/>
              </a:rPr>
              <a:t>Daisy chaining</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Bus request, Bus busy, Bus grant are the three control signals. </a:t>
            </a:r>
          </a:p>
          <a:p>
            <a:r>
              <a:rPr lang="en-IN" dirty="0" smtClean="0">
                <a:latin typeface="Times New Roman" pitchFamily="18" charset="0"/>
                <a:cs typeface="Times New Roman" pitchFamily="18" charset="0"/>
              </a:rPr>
              <a:t>All the bus devices (U1, U2...Un) are connected to a common bus request line. </a:t>
            </a:r>
          </a:p>
          <a:p>
            <a:r>
              <a:rPr lang="en-IN" dirty="0" smtClean="0">
                <a:latin typeface="Times New Roman" pitchFamily="18" charset="0"/>
                <a:cs typeface="Times New Roman" pitchFamily="18" charset="0"/>
              </a:rPr>
              <a:t>Bus request line becomes active when one or more devices are requesting use of the bus. </a:t>
            </a:r>
          </a:p>
        </p:txBody>
      </p:sp>
      <p:sp>
        <p:nvSpPr>
          <p:cNvPr id="4" name="Rectangle 3"/>
          <p:cNvSpPr/>
          <p:nvPr/>
        </p:nvSpPr>
        <p:spPr>
          <a:xfrm>
            <a:off x="330926" y="2114006"/>
            <a:ext cx="100584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2510246" y="2281646"/>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2571206" y="2266406"/>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U1</a:t>
            </a:r>
            <a:endParaRPr lang="en-IN" dirty="0">
              <a:latin typeface="Times New Roman" pitchFamily="18" charset="0"/>
              <a:cs typeface="Times New Roman" pitchFamily="18" charset="0"/>
            </a:endParaRPr>
          </a:p>
        </p:txBody>
      </p:sp>
      <p:sp>
        <p:nvSpPr>
          <p:cNvPr id="7" name="Rectangle 6"/>
          <p:cNvSpPr/>
          <p:nvPr/>
        </p:nvSpPr>
        <p:spPr>
          <a:xfrm>
            <a:off x="3531326" y="2266406"/>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3592286" y="2251166"/>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U2</a:t>
            </a:r>
            <a:endParaRPr lang="en-IN" dirty="0">
              <a:latin typeface="Times New Roman" pitchFamily="18" charset="0"/>
              <a:cs typeface="Times New Roman" pitchFamily="18" charset="0"/>
            </a:endParaRPr>
          </a:p>
        </p:txBody>
      </p:sp>
      <p:sp>
        <p:nvSpPr>
          <p:cNvPr id="9" name="Rectangle 8"/>
          <p:cNvSpPr/>
          <p:nvPr/>
        </p:nvSpPr>
        <p:spPr>
          <a:xfrm>
            <a:off x="4948646" y="2235926"/>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5009606" y="2220686"/>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Un</a:t>
            </a:r>
            <a:endParaRPr lang="en-IN" dirty="0">
              <a:latin typeface="Times New Roman" pitchFamily="18" charset="0"/>
              <a:cs typeface="Times New Roman" pitchFamily="18" charset="0"/>
            </a:endParaRPr>
          </a:p>
        </p:txBody>
      </p:sp>
      <p:sp>
        <p:nvSpPr>
          <p:cNvPr id="11" name="TextBox 10"/>
          <p:cNvSpPr txBox="1"/>
          <p:nvPr/>
        </p:nvSpPr>
        <p:spPr>
          <a:xfrm>
            <a:off x="422366" y="2251166"/>
            <a:ext cx="853440" cy="923330"/>
          </a:xfrm>
          <a:prstGeom prst="rect">
            <a:avLst/>
          </a:prstGeom>
          <a:noFill/>
        </p:spPr>
        <p:txBody>
          <a:bodyPr wrap="square" rtlCol="0">
            <a:spAutoFit/>
          </a:bodyPr>
          <a:lstStyle/>
          <a:p>
            <a:r>
              <a:rPr lang="en-IN" dirty="0" smtClean="0">
                <a:latin typeface="Times New Roman" pitchFamily="18" charset="0"/>
                <a:cs typeface="Times New Roman" pitchFamily="18" charset="0"/>
              </a:rPr>
              <a:t>Bus control unit</a:t>
            </a:r>
            <a:endParaRPr lang="en-IN" dirty="0">
              <a:latin typeface="Times New Roman" pitchFamily="18" charset="0"/>
              <a:cs typeface="Times New Roman" pitchFamily="18" charset="0"/>
            </a:endParaRPr>
          </a:p>
        </p:txBody>
      </p:sp>
      <p:cxnSp>
        <p:nvCxnSpPr>
          <p:cNvPr id="12" name="Straight Arrow Connector 11"/>
          <p:cNvCxnSpPr>
            <a:endCxn id="6" idx="1"/>
          </p:cNvCxnSpPr>
          <p:nvPr/>
        </p:nvCxnSpPr>
        <p:spPr>
          <a:xfrm flipV="1">
            <a:off x="1336766" y="2451072"/>
            <a:ext cx="1234440" cy="286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3"/>
          </p:cNvCxnSpPr>
          <p:nvPr/>
        </p:nvCxnSpPr>
        <p:spPr>
          <a:xfrm flipV="1">
            <a:off x="3135086" y="2434046"/>
            <a:ext cx="441960" cy="7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628606" y="2403566"/>
            <a:ext cx="335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4491446" y="2373086"/>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4354286" y="2373086"/>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4247606" y="2373086"/>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Connector 17"/>
          <p:cNvCxnSpPr/>
          <p:nvPr/>
        </p:nvCxnSpPr>
        <p:spPr>
          <a:xfrm flipV="1">
            <a:off x="1312817" y="3577046"/>
            <a:ext cx="435864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0800000" flipV="1">
            <a:off x="1336766" y="3013166"/>
            <a:ext cx="4282440" cy="45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flipV="1">
            <a:off x="1336766" y="3241766"/>
            <a:ext cx="432816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321526" y="2068286"/>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Bus grant</a:t>
            </a:r>
            <a:endParaRPr lang="en-IN" dirty="0">
              <a:latin typeface="Times New Roman" pitchFamily="18" charset="0"/>
              <a:cs typeface="Times New Roman" pitchFamily="18" charset="0"/>
            </a:endParaRPr>
          </a:p>
        </p:txBody>
      </p:sp>
      <p:sp>
        <p:nvSpPr>
          <p:cNvPr id="22" name="TextBox 21"/>
          <p:cNvSpPr txBox="1"/>
          <p:nvPr/>
        </p:nvSpPr>
        <p:spPr>
          <a:xfrm>
            <a:off x="1336766" y="2738846"/>
            <a:ext cx="138684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Bus request</a:t>
            </a:r>
            <a:endParaRPr lang="en-IN" dirty="0">
              <a:latin typeface="Times New Roman" pitchFamily="18" charset="0"/>
              <a:cs typeface="Times New Roman" pitchFamily="18" charset="0"/>
            </a:endParaRPr>
          </a:p>
        </p:txBody>
      </p:sp>
      <p:sp>
        <p:nvSpPr>
          <p:cNvPr id="23" name="TextBox 22"/>
          <p:cNvSpPr txBox="1"/>
          <p:nvPr/>
        </p:nvSpPr>
        <p:spPr>
          <a:xfrm>
            <a:off x="1428206" y="3180806"/>
            <a:ext cx="11430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Bus busy</a:t>
            </a:r>
            <a:endParaRPr lang="en-IN" dirty="0">
              <a:latin typeface="Times New Roman" pitchFamily="18" charset="0"/>
              <a:cs typeface="Times New Roman" pitchFamily="18" charset="0"/>
            </a:endParaRPr>
          </a:p>
        </p:txBody>
      </p:sp>
      <p:cxnSp>
        <p:nvCxnSpPr>
          <p:cNvPr id="24" name="Straight Connector 23"/>
          <p:cNvCxnSpPr/>
          <p:nvPr/>
        </p:nvCxnSpPr>
        <p:spPr>
          <a:xfrm rot="5400000">
            <a:off x="2434046" y="283028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4841966" y="278456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3424646" y="281504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2489172" y="2915892"/>
            <a:ext cx="6822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3464532" y="2931132"/>
            <a:ext cx="6822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4897092" y="2885412"/>
            <a:ext cx="6822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2533106" y="3112226"/>
            <a:ext cx="1021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3523706" y="3127466"/>
            <a:ext cx="1021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910546" y="3081746"/>
            <a:ext cx="102108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998617" y="3666309"/>
            <a:ext cx="231648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10: Daisy chaining</a:t>
            </a:r>
            <a:endParaRPr lang="en-IN" dirty="0">
              <a:latin typeface="Times New Roman" pitchFamily="18" charset="0"/>
              <a:cs typeface="Times New Roman" pitchFamily="18" charset="0"/>
            </a:endParaRPr>
          </a:p>
        </p:txBody>
      </p:sp>
      <p:sp>
        <p:nvSpPr>
          <p:cNvPr id="34" name="TextBox 33"/>
          <p:cNvSpPr txBox="1"/>
          <p:nvPr/>
        </p:nvSpPr>
        <p:spPr>
          <a:xfrm>
            <a:off x="182880" y="4297680"/>
            <a:ext cx="11730446" cy="2308324"/>
          </a:xfrm>
          <a:prstGeom prst="rect">
            <a:avLst/>
          </a:prstGeom>
          <a:noFill/>
        </p:spPr>
        <p:txBody>
          <a:bodyPr wrap="square" rtlCol="0">
            <a:spAutoFit/>
          </a:bodyPr>
          <a:lstStyle/>
          <a:p>
            <a:r>
              <a:rPr lang="en-IN" dirty="0" smtClean="0">
                <a:latin typeface="Times New Roman" pitchFamily="18" charset="0"/>
                <a:cs typeface="Times New Roman" pitchFamily="18" charset="0"/>
              </a:rPr>
              <a:t>Bus control unit places a signal on the bus grant line in response to bus request if bus busy is inactive. </a:t>
            </a:r>
          </a:p>
          <a:p>
            <a:r>
              <a:rPr lang="en-IN" dirty="0" smtClean="0">
                <a:latin typeface="Times New Roman" pitchFamily="18" charset="0"/>
                <a:cs typeface="Times New Roman" pitchFamily="18" charset="0"/>
              </a:rPr>
              <a:t>Bus grant line is connected serially from device to device.</a:t>
            </a:r>
          </a:p>
          <a:p>
            <a:r>
              <a:rPr lang="en-IN" dirty="0" smtClean="0">
                <a:latin typeface="Times New Roman" pitchFamily="18" charset="0"/>
                <a:cs typeface="Times New Roman" pitchFamily="18" charset="0"/>
              </a:rPr>
              <a:t>First requesting device receives the bus grant signal, blocks further propagation of bus grant signal, enables its physical bus connection, activates bus busy and begins to use the bus, deactivates bus busy when its bus activity is over. </a:t>
            </a:r>
          </a:p>
          <a:p>
            <a:r>
              <a:rPr lang="en-IN" dirty="0" smtClean="0">
                <a:latin typeface="Times New Roman" pitchFamily="18" charset="0"/>
                <a:cs typeface="Times New Roman" pitchFamily="18" charset="0"/>
              </a:rPr>
              <a:t>A non-requesting device forwards the bus grant signal to the next device. Thus if two devices are simultaneously requesting bus access, the device closest to the bus control unit receives the bus grant signal first and gains access to the bus. </a:t>
            </a:r>
          </a:p>
          <a:p>
            <a:r>
              <a:rPr lang="en-IN" dirty="0" smtClean="0">
                <a:latin typeface="Times New Roman" pitchFamily="18" charset="0"/>
                <a:cs typeface="Times New Roman" pitchFamily="18" charset="0"/>
              </a:rPr>
              <a:t>Selection priority is therefore completely determined by the order in which the devices are linked together (chained) by the bus grant line.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3360" y="243840"/>
            <a:ext cx="11978640" cy="4801314"/>
          </a:xfrm>
          <a:prstGeom prst="rect">
            <a:avLst/>
          </a:prstGeom>
          <a:noFill/>
        </p:spPr>
        <p:txBody>
          <a:bodyPr wrap="square" rtlCol="0">
            <a:spAutoFit/>
          </a:bodyPr>
          <a:lstStyle/>
          <a:p>
            <a:r>
              <a:rPr lang="en-IN" dirty="0" smtClean="0">
                <a:latin typeface="Times New Roman" pitchFamily="18" charset="0"/>
                <a:cs typeface="Times New Roman" pitchFamily="18" charset="0"/>
              </a:rPr>
              <a:t>Requires very few control lines and employs a very simple arbitration algorithm. </a:t>
            </a:r>
          </a:p>
          <a:p>
            <a:r>
              <a:rPr lang="en-IN" dirty="0" smtClean="0">
                <a:latin typeface="Times New Roman" pitchFamily="18" charset="0"/>
                <a:cs typeface="Times New Roman" pitchFamily="18" charset="0"/>
              </a:rPr>
              <a:t>Can be used with an essentially unlimited number of devices. </a:t>
            </a:r>
          </a:p>
          <a:p>
            <a:r>
              <a:rPr lang="en-IN" dirty="0" smtClean="0">
                <a:latin typeface="Times New Roman" pitchFamily="18" charset="0"/>
                <a:cs typeface="Times New Roman" pitchFamily="18" charset="0"/>
              </a:rPr>
              <a:t>Priority of each device cannot be changed. </a:t>
            </a:r>
          </a:p>
          <a:p>
            <a:r>
              <a:rPr lang="en-IN" dirty="0" smtClean="0">
                <a:latin typeface="Times New Roman" pitchFamily="18" charset="0"/>
                <a:cs typeface="Times New Roman" pitchFamily="18" charset="0"/>
              </a:rPr>
              <a:t>If device </a:t>
            </a:r>
            <a:r>
              <a:rPr lang="en-IN" dirty="0" err="1" smtClean="0">
                <a:latin typeface="Times New Roman" pitchFamily="18" charset="0"/>
                <a:cs typeface="Times New Roman" pitchFamily="18" charset="0"/>
              </a:rPr>
              <a:t>Ui</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device, 1≤i≤n) is unable to propagate the bus grant signal due to failure, then all {</a:t>
            </a:r>
            <a:r>
              <a:rPr lang="en-IN" dirty="0" err="1" smtClean="0">
                <a:latin typeface="Times New Roman" pitchFamily="18" charset="0"/>
                <a:cs typeface="Times New Roman" pitchFamily="18" charset="0"/>
              </a:rPr>
              <a:t>Uj</a:t>
            </a:r>
            <a:r>
              <a:rPr lang="en-IN" dirty="0" smtClean="0">
                <a:latin typeface="Times New Roman" pitchFamily="18" charset="0"/>
                <a:cs typeface="Times New Roman" pitchFamily="18" charset="0"/>
              </a:rPr>
              <a:t>} where j&gt;</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cannot gain access to the bus.</a:t>
            </a:r>
          </a:p>
          <a:p>
            <a:r>
              <a:rPr lang="en-IN" dirty="0" smtClean="0">
                <a:latin typeface="Times New Roman" pitchFamily="18" charset="0"/>
                <a:cs typeface="Times New Roman" pitchFamily="18" charset="0"/>
              </a:rPr>
              <a:t>Now let us consider Un is the only requesting device and the other (n-1) number of devices are non-requesting. In such a case Un has to wait till it receives bus grant from (n-1)</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device. So the selection priority i.e. the priority of selecting a device out of multiple requesting devices depends upon the physical position of the device.</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Polling</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Bus grant line is replaced by a set of lines called poll count lines which are connected directly to all devices (U1, U2....Un) on the bus.</a:t>
            </a:r>
          </a:p>
          <a:p>
            <a:r>
              <a:rPr lang="en-IN" dirty="0" smtClean="0">
                <a:latin typeface="Times New Roman" pitchFamily="18" charset="0"/>
                <a:cs typeface="Times New Roman" pitchFamily="18" charset="0"/>
              </a:rPr>
              <a:t>All the bus devices are connected to a common bus request line. </a:t>
            </a:r>
          </a:p>
          <a:p>
            <a:r>
              <a:rPr lang="en-IN" dirty="0" smtClean="0">
                <a:latin typeface="Times New Roman" pitchFamily="18" charset="0"/>
                <a:cs typeface="Times New Roman" pitchFamily="18" charset="0"/>
              </a:rPr>
              <a:t>Bus control unit proceeds to generate a sequence of numbers on the poll count lines in response to a signal on bus request. Each requesting device compares its unique address with the number on the poll count lines. The requesting device for which a match occurs between the unique address and the number on the poll count lines activates bus busy and begins to use the bus. </a:t>
            </a:r>
          </a:p>
          <a:p>
            <a:r>
              <a:rPr lang="en-IN" dirty="0" smtClean="0">
                <a:latin typeface="Times New Roman" pitchFamily="18" charset="0"/>
                <a:cs typeface="Times New Roman" pitchFamily="18" charset="0"/>
              </a:rPr>
              <a:t>Bus control unit responds by terminating the polling process. </a:t>
            </a:r>
            <a:endParaRPr lang="en-IN"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9960" y="289560"/>
            <a:ext cx="100584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p:cNvSpPr/>
          <p:nvPr/>
        </p:nvSpPr>
        <p:spPr>
          <a:xfrm>
            <a:off x="8702040" y="487680"/>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8763000" y="472440"/>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U1</a:t>
            </a:r>
            <a:endParaRPr lang="en-IN" dirty="0">
              <a:latin typeface="Times New Roman" pitchFamily="18" charset="0"/>
              <a:cs typeface="Times New Roman" pitchFamily="18" charset="0"/>
            </a:endParaRPr>
          </a:p>
        </p:txBody>
      </p:sp>
      <p:sp>
        <p:nvSpPr>
          <p:cNvPr id="5" name="Rectangle 4"/>
          <p:cNvSpPr/>
          <p:nvPr/>
        </p:nvSpPr>
        <p:spPr>
          <a:xfrm>
            <a:off x="9723120" y="472440"/>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9784080" y="457200"/>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U2</a:t>
            </a:r>
            <a:endParaRPr lang="en-IN" dirty="0">
              <a:latin typeface="Times New Roman" pitchFamily="18" charset="0"/>
              <a:cs typeface="Times New Roman" pitchFamily="18" charset="0"/>
            </a:endParaRPr>
          </a:p>
        </p:txBody>
      </p:sp>
      <p:sp>
        <p:nvSpPr>
          <p:cNvPr id="7" name="Rectangle 6"/>
          <p:cNvSpPr/>
          <p:nvPr/>
        </p:nvSpPr>
        <p:spPr>
          <a:xfrm>
            <a:off x="11140440" y="441960"/>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11201400" y="426720"/>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Un</a:t>
            </a:r>
            <a:endParaRPr lang="en-IN" dirty="0">
              <a:latin typeface="Times New Roman" pitchFamily="18" charset="0"/>
              <a:cs typeface="Times New Roman" pitchFamily="18" charset="0"/>
            </a:endParaRPr>
          </a:p>
        </p:txBody>
      </p:sp>
      <p:sp>
        <p:nvSpPr>
          <p:cNvPr id="9" name="TextBox 8"/>
          <p:cNvSpPr txBox="1"/>
          <p:nvPr/>
        </p:nvSpPr>
        <p:spPr>
          <a:xfrm>
            <a:off x="7391400" y="426720"/>
            <a:ext cx="853440" cy="923330"/>
          </a:xfrm>
          <a:prstGeom prst="rect">
            <a:avLst/>
          </a:prstGeom>
          <a:noFill/>
        </p:spPr>
        <p:txBody>
          <a:bodyPr wrap="square" rtlCol="0">
            <a:spAutoFit/>
          </a:bodyPr>
          <a:lstStyle/>
          <a:p>
            <a:r>
              <a:rPr lang="en-IN" dirty="0" smtClean="0">
                <a:latin typeface="Times New Roman" pitchFamily="18" charset="0"/>
                <a:cs typeface="Times New Roman" pitchFamily="18" charset="0"/>
              </a:rPr>
              <a:t>Bus control unit</a:t>
            </a:r>
            <a:endParaRPr lang="en-IN" dirty="0">
              <a:latin typeface="Times New Roman" pitchFamily="18" charset="0"/>
              <a:cs typeface="Times New Roman" pitchFamily="18" charset="0"/>
            </a:endParaRPr>
          </a:p>
        </p:txBody>
      </p:sp>
      <p:cxnSp>
        <p:nvCxnSpPr>
          <p:cNvPr id="10" name="Straight Arrow Connector 9"/>
          <p:cNvCxnSpPr/>
          <p:nvPr/>
        </p:nvCxnSpPr>
        <p:spPr>
          <a:xfrm>
            <a:off x="8305800" y="579120"/>
            <a:ext cx="4114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10683240" y="5791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10546080" y="5791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p:cNvSpPr/>
          <p:nvPr/>
        </p:nvSpPr>
        <p:spPr>
          <a:xfrm>
            <a:off x="10439400" y="5791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p:cNvCxnSpPr/>
          <p:nvPr/>
        </p:nvCxnSpPr>
        <p:spPr>
          <a:xfrm flipV="1">
            <a:off x="8321040" y="1584960"/>
            <a:ext cx="3535680" cy="4572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663440" y="1767840"/>
            <a:ext cx="1066800" cy="365760"/>
          </a:xfrm>
          <a:prstGeom prst="rect">
            <a:avLst/>
          </a:prstGeom>
          <a:noFill/>
        </p:spPr>
        <p:txBody>
          <a:bodyPr wrap="square" rtlCol="0">
            <a:spAutoFit/>
          </a:bodyPr>
          <a:lstStyle/>
          <a:p>
            <a:r>
              <a:rPr lang="en-IN" dirty="0" smtClean="0">
                <a:latin typeface="Times New Roman" pitchFamily="18" charset="0"/>
                <a:cs typeface="Times New Roman" pitchFamily="18" charset="0"/>
              </a:rPr>
              <a:t>Bus busy</a:t>
            </a:r>
            <a:endParaRPr lang="en-IN" dirty="0">
              <a:latin typeface="Times New Roman" pitchFamily="18" charset="0"/>
              <a:cs typeface="Times New Roman" pitchFamily="18" charset="0"/>
            </a:endParaRPr>
          </a:p>
        </p:txBody>
      </p:sp>
      <p:sp>
        <p:nvSpPr>
          <p:cNvPr id="20" name="TextBox 19"/>
          <p:cNvSpPr txBox="1"/>
          <p:nvPr/>
        </p:nvSpPr>
        <p:spPr>
          <a:xfrm>
            <a:off x="4678680" y="1554480"/>
            <a:ext cx="1264920" cy="365760"/>
          </a:xfrm>
          <a:prstGeom prst="rect">
            <a:avLst/>
          </a:prstGeom>
          <a:noFill/>
        </p:spPr>
        <p:txBody>
          <a:bodyPr wrap="square" rtlCol="0">
            <a:spAutoFit/>
          </a:bodyPr>
          <a:lstStyle/>
          <a:p>
            <a:r>
              <a:rPr lang="en-IN" dirty="0" smtClean="0">
                <a:latin typeface="Times New Roman" pitchFamily="18" charset="0"/>
                <a:cs typeface="Times New Roman" pitchFamily="18" charset="0"/>
              </a:rPr>
              <a:t>Bus request</a:t>
            </a:r>
            <a:endParaRPr lang="en-IN" dirty="0">
              <a:latin typeface="Times New Roman" pitchFamily="18" charset="0"/>
              <a:cs typeface="Times New Roman" pitchFamily="18" charset="0"/>
            </a:endParaRPr>
          </a:p>
        </p:txBody>
      </p:sp>
      <p:cxnSp>
        <p:nvCxnSpPr>
          <p:cNvPr id="26" name="Straight Connector 25"/>
          <p:cNvCxnSpPr/>
          <p:nvPr/>
        </p:nvCxnSpPr>
        <p:spPr>
          <a:xfrm rot="5400000">
            <a:off x="10723126" y="1030486"/>
            <a:ext cx="6822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8298180" y="1303020"/>
            <a:ext cx="1021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10800000">
            <a:off x="8305800" y="701040"/>
            <a:ext cx="3962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9525000" y="579120"/>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10957560" y="563880"/>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9349740" y="754380"/>
            <a:ext cx="3352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10637520" y="883920"/>
            <a:ext cx="640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0800000" flipV="1">
            <a:off x="8290560" y="944880"/>
            <a:ext cx="121920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V="1">
            <a:off x="8305800" y="1188720"/>
            <a:ext cx="2651760" cy="30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10800000" flipV="1">
            <a:off x="8260080" y="1051560"/>
            <a:ext cx="135636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10800000" flipV="1">
            <a:off x="8275320" y="1356360"/>
            <a:ext cx="278892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flipH="1" flipV="1">
            <a:off x="9470866" y="906780"/>
            <a:ext cx="32083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9631680" y="746760"/>
            <a:ext cx="914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1033760" y="701040"/>
            <a:ext cx="914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8290560" y="228600"/>
            <a:ext cx="50292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BG</a:t>
            </a:r>
            <a:endParaRPr lang="en-IN" sz="1400" dirty="0">
              <a:latin typeface="Times New Roman" pitchFamily="18" charset="0"/>
              <a:cs typeface="Times New Roman" pitchFamily="18" charset="0"/>
            </a:endParaRPr>
          </a:p>
        </p:txBody>
      </p:sp>
      <p:sp>
        <p:nvSpPr>
          <p:cNvPr id="66" name="TextBox 65"/>
          <p:cNvSpPr txBox="1"/>
          <p:nvPr/>
        </p:nvSpPr>
        <p:spPr>
          <a:xfrm>
            <a:off x="9342120" y="259080"/>
            <a:ext cx="57912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BG</a:t>
            </a:r>
            <a:endParaRPr lang="en-IN" sz="1400" dirty="0">
              <a:latin typeface="Times New Roman" pitchFamily="18" charset="0"/>
              <a:cs typeface="Times New Roman" pitchFamily="18" charset="0"/>
            </a:endParaRPr>
          </a:p>
        </p:txBody>
      </p:sp>
      <p:sp>
        <p:nvSpPr>
          <p:cNvPr id="67" name="TextBox 66"/>
          <p:cNvSpPr txBox="1"/>
          <p:nvPr/>
        </p:nvSpPr>
        <p:spPr>
          <a:xfrm>
            <a:off x="10789920" y="274320"/>
            <a:ext cx="57912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BG</a:t>
            </a:r>
            <a:endParaRPr lang="en-IN" sz="1400" dirty="0">
              <a:latin typeface="Times New Roman" pitchFamily="18" charset="0"/>
              <a:cs typeface="Times New Roman" pitchFamily="18" charset="0"/>
            </a:endParaRPr>
          </a:p>
        </p:txBody>
      </p:sp>
      <p:sp>
        <p:nvSpPr>
          <p:cNvPr id="68" name="TextBox 67"/>
          <p:cNvSpPr txBox="1"/>
          <p:nvPr/>
        </p:nvSpPr>
        <p:spPr>
          <a:xfrm>
            <a:off x="8260080" y="716280"/>
            <a:ext cx="51816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BR</a:t>
            </a:r>
            <a:endParaRPr lang="en-IN" sz="1400" dirty="0">
              <a:latin typeface="Times New Roman" pitchFamily="18" charset="0"/>
              <a:cs typeface="Times New Roman" pitchFamily="18" charset="0"/>
            </a:endParaRPr>
          </a:p>
        </p:txBody>
      </p:sp>
      <p:sp>
        <p:nvSpPr>
          <p:cNvPr id="69" name="TextBox 68"/>
          <p:cNvSpPr txBox="1"/>
          <p:nvPr/>
        </p:nvSpPr>
        <p:spPr>
          <a:xfrm>
            <a:off x="9525000" y="746760"/>
            <a:ext cx="51816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BR</a:t>
            </a:r>
            <a:endParaRPr lang="en-IN" sz="1400" dirty="0">
              <a:latin typeface="Times New Roman" pitchFamily="18" charset="0"/>
              <a:cs typeface="Times New Roman" pitchFamily="18" charset="0"/>
            </a:endParaRPr>
          </a:p>
        </p:txBody>
      </p:sp>
      <p:sp>
        <p:nvSpPr>
          <p:cNvPr id="70" name="TextBox 69"/>
          <p:cNvSpPr txBox="1"/>
          <p:nvPr/>
        </p:nvSpPr>
        <p:spPr>
          <a:xfrm>
            <a:off x="10957560" y="746760"/>
            <a:ext cx="50292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BR</a:t>
            </a:r>
            <a:endParaRPr lang="en-IN" sz="1400" dirty="0">
              <a:latin typeface="Times New Roman" pitchFamily="18" charset="0"/>
              <a:cs typeface="Times New Roman" pitchFamily="18" charset="0"/>
            </a:endParaRPr>
          </a:p>
        </p:txBody>
      </p:sp>
      <p:cxnSp>
        <p:nvCxnSpPr>
          <p:cNvPr id="71" name="Straight Connector 70"/>
          <p:cNvCxnSpPr/>
          <p:nvPr/>
        </p:nvCxnSpPr>
        <p:spPr>
          <a:xfrm flipV="1">
            <a:off x="8290560" y="1767840"/>
            <a:ext cx="358140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9425940" y="1303020"/>
            <a:ext cx="1021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5400000">
            <a:off x="10858500" y="1272540"/>
            <a:ext cx="102108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9906000" y="17221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Oval 74"/>
          <p:cNvSpPr/>
          <p:nvPr/>
        </p:nvSpPr>
        <p:spPr>
          <a:xfrm>
            <a:off x="11353800" y="170688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p:cNvSpPr/>
          <p:nvPr/>
        </p:nvSpPr>
        <p:spPr>
          <a:xfrm flipH="1">
            <a:off x="8778240" y="1767840"/>
            <a:ext cx="6096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p:cNvSpPr/>
          <p:nvPr/>
        </p:nvSpPr>
        <p:spPr>
          <a:xfrm>
            <a:off x="11567160" y="153924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p:cNvSpPr/>
          <p:nvPr/>
        </p:nvSpPr>
        <p:spPr>
          <a:xfrm>
            <a:off x="10180320" y="158496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p:cNvSpPr/>
          <p:nvPr/>
        </p:nvSpPr>
        <p:spPr>
          <a:xfrm>
            <a:off x="9083040" y="160020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3" name="Straight Connector 82"/>
          <p:cNvCxnSpPr/>
          <p:nvPr/>
        </p:nvCxnSpPr>
        <p:spPr>
          <a:xfrm rot="5400000">
            <a:off x="8713470" y="1223010"/>
            <a:ext cx="8458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5400000">
            <a:off x="9780270" y="1192530"/>
            <a:ext cx="8458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11182350" y="1192530"/>
            <a:ext cx="845820" cy="15240"/>
          </a:xfrm>
          <a:prstGeom prst="line">
            <a:avLst/>
          </a:prstGeom>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8458200" y="1981200"/>
            <a:ext cx="3139440" cy="365760"/>
          </a:xfrm>
          <a:prstGeom prst="rect">
            <a:avLst/>
          </a:prstGeom>
          <a:noFill/>
        </p:spPr>
        <p:txBody>
          <a:bodyPr wrap="square" rtlCol="0">
            <a:spAutoFit/>
          </a:bodyPr>
          <a:lstStyle/>
          <a:p>
            <a:r>
              <a:rPr lang="en-IN" dirty="0" smtClean="0">
                <a:latin typeface="Times New Roman" pitchFamily="18" charset="0"/>
                <a:cs typeface="Times New Roman" pitchFamily="18" charset="0"/>
              </a:rPr>
              <a:t>Fig 12: Independent requesting</a:t>
            </a:r>
            <a:endParaRPr lang="en-IN" dirty="0">
              <a:latin typeface="Times New Roman" pitchFamily="18" charset="0"/>
              <a:cs typeface="Times New Roman" pitchFamily="18" charset="0"/>
            </a:endParaRPr>
          </a:p>
        </p:txBody>
      </p:sp>
      <p:sp>
        <p:nvSpPr>
          <p:cNvPr id="90" name="Rectangle 89"/>
          <p:cNvSpPr/>
          <p:nvPr/>
        </p:nvSpPr>
        <p:spPr>
          <a:xfrm>
            <a:off x="198120" y="594360"/>
            <a:ext cx="100584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Rectangle 90"/>
          <p:cNvSpPr/>
          <p:nvPr/>
        </p:nvSpPr>
        <p:spPr>
          <a:xfrm>
            <a:off x="1600200" y="792480"/>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p:cNvSpPr txBox="1"/>
          <p:nvPr/>
        </p:nvSpPr>
        <p:spPr>
          <a:xfrm>
            <a:off x="1661160" y="777240"/>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U1</a:t>
            </a:r>
            <a:endParaRPr lang="en-IN" dirty="0">
              <a:latin typeface="Times New Roman" pitchFamily="18" charset="0"/>
              <a:cs typeface="Times New Roman" pitchFamily="18" charset="0"/>
            </a:endParaRPr>
          </a:p>
        </p:txBody>
      </p:sp>
      <p:sp>
        <p:nvSpPr>
          <p:cNvPr id="93" name="Rectangle 92"/>
          <p:cNvSpPr/>
          <p:nvPr/>
        </p:nvSpPr>
        <p:spPr>
          <a:xfrm>
            <a:off x="2621280" y="777240"/>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p:cNvSpPr txBox="1"/>
          <p:nvPr/>
        </p:nvSpPr>
        <p:spPr>
          <a:xfrm>
            <a:off x="2682240" y="762000"/>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U2</a:t>
            </a:r>
            <a:endParaRPr lang="en-IN" dirty="0">
              <a:latin typeface="Times New Roman" pitchFamily="18" charset="0"/>
              <a:cs typeface="Times New Roman" pitchFamily="18" charset="0"/>
            </a:endParaRPr>
          </a:p>
        </p:txBody>
      </p:sp>
      <p:sp>
        <p:nvSpPr>
          <p:cNvPr id="95" name="Rectangle 94"/>
          <p:cNvSpPr/>
          <p:nvPr/>
        </p:nvSpPr>
        <p:spPr>
          <a:xfrm>
            <a:off x="4038600" y="746760"/>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TextBox 95"/>
          <p:cNvSpPr txBox="1"/>
          <p:nvPr/>
        </p:nvSpPr>
        <p:spPr>
          <a:xfrm>
            <a:off x="4099560" y="731520"/>
            <a:ext cx="51816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Un</a:t>
            </a:r>
            <a:endParaRPr lang="en-IN" dirty="0">
              <a:latin typeface="Times New Roman" pitchFamily="18" charset="0"/>
              <a:cs typeface="Times New Roman" pitchFamily="18" charset="0"/>
            </a:endParaRPr>
          </a:p>
        </p:txBody>
      </p:sp>
      <p:sp>
        <p:nvSpPr>
          <p:cNvPr id="97" name="TextBox 96"/>
          <p:cNvSpPr txBox="1"/>
          <p:nvPr/>
        </p:nvSpPr>
        <p:spPr>
          <a:xfrm>
            <a:off x="289560" y="731520"/>
            <a:ext cx="853440" cy="923330"/>
          </a:xfrm>
          <a:prstGeom prst="rect">
            <a:avLst/>
          </a:prstGeom>
          <a:noFill/>
        </p:spPr>
        <p:txBody>
          <a:bodyPr wrap="square" rtlCol="0">
            <a:spAutoFit/>
          </a:bodyPr>
          <a:lstStyle/>
          <a:p>
            <a:r>
              <a:rPr lang="en-IN" dirty="0" smtClean="0">
                <a:latin typeface="Times New Roman" pitchFamily="18" charset="0"/>
                <a:cs typeface="Times New Roman" pitchFamily="18" charset="0"/>
              </a:rPr>
              <a:t>Bus control unit</a:t>
            </a:r>
            <a:endParaRPr lang="en-IN" dirty="0">
              <a:latin typeface="Times New Roman" pitchFamily="18" charset="0"/>
              <a:cs typeface="Times New Roman" pitchFamily="18" charset="0"/>
            </a:endParaRPr>
          </a:p>
        </p:txBody>
      </p:sp>
      <p:sp>
        <p:nvSpPr>
          <p:cNvPr id="99" name="Oval 98"/>
          <p:cNvSpPr/>
          <p:nvPr/>
        </p:nvSpPr>
        <p:spPr>
          <a:xfrm>
            <a:off x="3581400" y="8839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p:cNvSpPr/>
          <p:nvPr/>
        </p:nvSpPr>
        <p:spPr>
          <a:xfrm>
            <a:off x="3444240" y="8839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Oval 100"/>
          <p:cNvSpPr/>
          <p:nvPr/>
        </p:nvSpPr>
        <p:spPr>
          <a:xfrm>
            <a:off x="3337560" y="88392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Connector 103"/>
          <p:cNvCxnSpPr>
            <a:endCxn id="128" idx="3"/>
          </p:cNvCxnSpPr>
          <p:nvPr/>
        </p:nvCxnSpPr>
        <p:spPr>
          <a:xfrm rot="16200000" flipH="1">
            <a:off x="1144910" y="1660837"/>
            <a:ext cx="1146287" cy="20759"/>
          </a:xfrm>
          <a:prstGeom prst="line">
            <a:avLst/>
          </a:prstGeom>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8732520" y="6858000"/>
            <a:ext cx="51816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BR</a:t>
            </a:r>
            <a:endParaRPr lang="en-IN" sz="1400" dirty="0">
              <a:latin typeface="Times New Roman" pitchFamily="18" charset="0"/>
              <a:cs typeface="Times New Roman" pitchFamily="18" charset="0"/>
            </a:endParaRPr>
          </a:p>
        </p:txBody>
      </p:sp>
      <p:sp>
        <p:nvSpPr>
          <p:cNvPr id="122" name="TextBox 121"/>
          <p:cNvSpPr txBox="1"/>
          <p:nvPr/>
        </p:nvSpPr>
        <p:spPr>
          <a:xfrm>
            <a:off x="1676400" y="335281"/>
            <a:ext cx="128016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Fig 11: Polling</a:t>
            </a:r>
            <a:endParaRPr lang="en-IN" sz="1400" dirty="0">
              <a:latin typeface="Times New Roman" pitchFamily="18" charset="0"/>
              <a:cs typeface="Times New Roman" pitchFamily="18" charset="0"/>
            </a:endParaRPr>
          </a:p>
        </p:txBody>
      </p:sp>
      <p:cxnSp>
        <p:nvCxnSpPr>
          <p:cNvPr id="123" name="Straight Connector 122"/>
          <p:cNvCxnSpPr/>
          <p:nvPr/>
        </p:nvCxnSpPr>
        <p:spPr>
          <a:xfrm flipV="1">
            <a:off x="1203960" y="2164080"/>
            <a:ext cx="358140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rot="5400000">
            <a:off x="2324100" y="1607820"/>
            <a:ext cx="1021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a:endCxn id="127" idx="3"/>
          </p:cNvCxnSpPr>
          <p:nvPr/>
        </p:nvCxnSpPr>
        <p:spPr>
          <a:xfrm rot="5400000">
            <a:off x="3693530" y="1634952"/>
            <a:ext cx="1141823" cy="7107"/>
          </a:xfrm>
          <a:prstGeom prst="line">
            <a:avLst/>
          </a:prstGeom>
        </p:spPr>
        <p:style>
          <a:lnRef idx="1">
            <a:schemeClr val="accent1"/>
          </a:lnRef>
          <a:fillRef idx="0">
            <a:schemeClr val="accent1"/>
          </a:fillRef>
          <a:effectRef idx="0">
            <a:schemeClr val="accent1"/>
          </a:effectRef>
          <a:fontRef idx="minor">
            <a:schemeClr val="tx1"/>
          </a:fontRef>
        </p:style>
      </p:cxnSp>
      <p:sp>
        <p:nvSpPr>
          <p:cNvPr id="126" name="Oval 125"/>
          <p:cNvSpPr/>
          <p:nvPr/>
        </p:nvSpPr>
        <p:spPr>
          <a:xfrm>
            <a:off x="2804160" y="213360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4251960" y="211836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flipH="1">
            <a:off x="1676400" y="2179320"/>
            <a:ext cx="6096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4465320" y="184404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Oval 129"/>
          <p:cNvSpPr/>
          <p:nvPr/>
        </p:nvSpPr>
        <p:spPr>
          <a:xfrm>
            <a:off x="3078480" y="188976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Oval 130"/>
          <p:cNvSpPr/>
          <p:nvPr/>
        </p:nvSpPr>
        <p:spPr>
          <a:xfrm>
            <a:off x="1981200" y="1905000"/>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2" name="Straight Connector 131"/>
          <p:cNvCxnSpPr/>
          <p:nvPr/>
        </p:nvCxnSpPr>
        <p:spPr>
          <a:xfrm rot="5400000">
            <a:off x="1611630" y="1527810"/>
            <a:ext cx="8458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5400000">
            <a:off x="2678430" y="1497330"/>
            <a:ext cx="8458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rot="5400000">
            <a:off x="4080510" y="1497330"/>
            <a:ext cx="8458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rot="10800000" flipV="1">
            <a:off x="1188720" y="1935480"/>
            <a:ext cx="356616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p:nvPr/>
        </p:nvCxnSpPr>
        <p:spPr>
          <a:xfrm rot="10800000" flipV="1">
            <a:off x="1188720" y="1783080"/>
            <a:ext cx="356616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8" name="Oval 137"/>
          <p:cNvSpPr/>
          <p:nvPr/>
        </p:nvSpPr>
        <p:spPr>
          <a:xfrm flipH="1">
            <a:off x="4343400" y="1752600"/>
            <a:ext cx="6096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9" name="Oval 138"/>
          <p:cNvSpPr/>
          <p:nvPr/>
        </p:nvSpPr>
        <p:spPr>
          <a:xfrm flipH="1">
            <a:off x="2941320" y="1767840"/>
            <a:ext cx="6096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Oval 139"/>
          <p:cNvSpPr/>
          <p:nvPr/>
        </p:nvSpPr>
        <p:spPr>
          <a:xfrm flipH="1">
            <a:off x="1828800" y="1783080"/>
            <a:ext cx="6096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4" name="Straight Connector 143"/>
          <p:cNvCxnSpPr/>
          <p:nvPr/>
        </p:nvCxnSpPr>
        <p:spPr>
          <a:xfrm rot="16200000" flipH="1">
            <a:off x="1464156" y="1477163"/>
            <a:ext cx="735601" cy="6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rot="16200000" flipH="1">
            <a:off x="2607156" y="1446683"/>
            <a:ext cx="735601" cy="6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rot="16200000" flipH="1">
            <a:off x="4024476" y="1416203"/>
            <a:ext cx="735601" cy="6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a:xfrm>
            <a:off x="1463040" y="1082040"/>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2" name="Straight Arrow Connector 151"/>
          <p:cNvCxnSpPr/>
          <p:nvPr/>
        </p:nvCxnSpPr>
        <p:spPr>
          <a:xfrm>
            <a:off x="1447800" y="960120"/>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p:nvPr/>
        </p:nvCxnSpPr>
        <p:spPr>
          <a:xfrm flipV="1">
            <a:off x="1325880" y="838200"/>
            <a:ext cx="33528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p:nvPr/>
        </p:nvCxnSpPr>
        <p:spPr>
          <a:xfrm flipV="1">
            <a:off x="1203960" y="1645920"/>
            <a:ext cx="347472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p:nvPr/>
        </p:nvCxnSpPr>
        <p:spPr>
          <a:xfrm flipV="1">
            <a:off x="1203960" y="1356360"/>
            <a:ext cx="347472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p:nvPr/>
        </p:nvCxnSpPr>
        <p:spPr>
          <a:xfrm flipV="1">
            <a:off x="1188720" y="1508760"/>
            <a:ext cx="347472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rot="16200000" flipH="1">
            <a:off x="1341120" y="1234440"/>
            <a:ext cx="32004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rot="16200000" flipH="1">
            <a:off x="1143000" y="1249680"/>
            <a:ext cx="59436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rot="16200000" flipH="1">
            <a:off x="914400" y="1249680"/>
            <a:ext cx="8686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p:nvPr/>
        </p:nvCxnSpPr>
        <p:spPr>
          <a:xfrm>
            <a:off x="3749040" y="822960"/>
            <a:ext cx="32004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2331720" y="838200"/>
            <a:ext cx="3200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rot="16200000" flipH="1">
            <a:off x="3307080" y="1219200"/>
            <a:ext cx="8686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rot="16200000" flipH="1">
            <a:off x="1889760" y="1219200"/>
            <a:ext cx="86868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Straight Arrow Connector 179"/>
          <p:cNvCxnSpPr/>
          <p:nvPr/>
        </p:nvCxnSpPr>
        <p:spPr>
          <a:xfrm>
            <a:off x="2423160" y="92964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p:nvPr/>
        </p:nvCxnSpPr>
        <p:spPr>
          <a:xfrm>
            <a:off x="3825240" y="960120"/>
            <a:ext cx="2438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2118360" y="1219200"/>
            <a:ext cx="59436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3535680" y="1249680"/>
            <a:ext cx="59436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3733800" y="1249680"/>
            <a:ext cx="32004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16200000" flipH="1">
            <a:off x="2316480" y="1219200"/>
            <a:ext cx="32004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Straight Arrow Connector 185"/>
          <p:cNvCxnSpPr/>
          <p:nvPr/>
        </p:nvCxnSpPr>
        <p:spPr>
          <a:xfrm>
            <a:off x="2453640" y="1066800"/>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3886200" y="1082040"/>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4" name="TextBox 193"/>
          <p:cNvSpPr txBox="1"/>
          <p:nvPr/>
        </p:nvSpPr>
        <p:spPr>
          <a:xfrm>
            <a:off x="4770120" y="457200"/>
            <a:ext cx="1264920" cy="646331"/>
          </a:xfrm>
          <a:prstGeom prst="rect">
            <a:avLst/>
          </a:prstGeom>
          <a:noFill/>
        </p:spPr>
        <p:txBody>
          <a:bodyPr wrap="square" rtlCol="0">
            <a:spAutoFit/>
          </a:bodyPr>
          <a:lstStyle/>
          <a:p>
            <a:r>
              <a:rPr lang="en-IN" dirty="0" smtClean="0">
                <a:latin typeface="Times New Roman" pitchFamily="18" charset="0"/>
                <a:cs typeface="Times New Roman" pitchFamily="18" charset="0"/>
              </a:rPr>
              <a:t>Poll count line</a:t>
            </a:r>
            <a:endParaRPr lang="en-IN" dirty="0">
              <a:latin typeface="Times New Roman" pitchFamily="18" charset="0"/>
              <a:cs typeface="Times New Roman" pitchFamily="18" charset="0"/>
            </a:endParaRPr>
          </a:p>
        </p:txBody>
      </p:sp>
      <p:sp>
        <p:nvSpPr>
          <p:cNvPr id="195" name="Right Brace 194"/>
          <p:cNvSpPr/>
          <p:nvPr/>
        </p:nvSpPr>
        <p:spPr>
          <a:xfrm>
            <a:off x="4693920" y="1295400"/>
            <a:ext cx="45719"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97" name="Straight Arrow Connector 196"/>
          <p:cNvCxnSpPr>
            <a:stCxn id="195" idx="1"/>
          </p:cNvCxnSpPr>
          <p:nvPr/>
        </p:nvCxnSpPr>
        <p:spPr>
          <a:xfrm rot="10800000" flipH="1">
            <a:off x="4739638" y="1005840"/>
            <a:ext cx="213361" cy="4724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8" name="TextBox 197"/>
          <p:cNvSpPr txBox="1"/>
          <p:nvPr/>
        </p:nvSpPr>
        <p:spPr>
          <a:xfrm>
            <a:off x="182880" y="2575560"/>
            <a:ext cx="5608320" cy="3139321"/>
          </a:xfrm>
          <a:prstGeom prst="rect">
            <a:avLst/>
          </a:prstGeom>
          <a:noFill/>
        </p:spPr>
        <p:txBody>
          <a:bodyPr wrap="square" rtlCol="0">
            <a:spAutoFit/>
          </a:bodyPr>
          <a:lstStyle/>
          <a:p>
            <a:r>
              <a:rPr lang="en-IN" dirty="0" smtClean="0">
                <a:latin typeface="Times New Roman" pitchFamily="18" charset="0"/>
                <a:cs typeface="Times New Roman" pitchFamily="18" charset="0"/>
              </a:rPr>
              <a:t>Priority of a bus device is determined by the position of its address in the polling sequence. This sequence is normally programmable and hence the selection priority can be altered under program control. </a:t>
            </a:r>
          </a:p>
          <a:p>
            <a:r>
              <a:rPr lang="en-IN" dirty="0" smtClean="0">
                <a:latin typeface="Times New Roman" pitchFamily="18" charset="0"/>
                <a:cs typeface="Times New Roman" pitchFamily="18" charset="0"/>
              </a:rPr>
              <a:t>A failure in one device does not affect any of the other devices. This flexibility is achieved at the cost of more control lines. If the number of device is </a:t>
            </a:r>
            <a:r>
              <a:rPr lang="en-IN" b="1" dirty="0" smtClean="0">
                <a:latin typeface="Times New Roman" pitchFamily="18" charset="0"/>
                <a:cs typeface="Times New Roman" pitchFamily="18" charset="0"/>
              </a:rPr>
              <a:t>n</a:t>
            </a:r>
            <a:r>
              <a:rPr lang="en-IN" dirty="0" smtClean="0">
                <a:latin typeface="Times New Roman" pitchFamily="18" charset="0"/>
                <a:cs typeface="Times New Roman" pitchFamily="18" charset="0"/>
              </a:rPr>
              <a:t>, then </a:t>
            </a:r>
            <a:r>
              <a:rPr lang="en-IN" b="1" dirty="0" smtClean="0">
                <a:latin typeface="Times New Roman" pitchFamily="18" charset="0"/>
                <a:cs typeface="Times New Roman" pitchFamily="18" charset="0"/>
              </a:rPr>
              <a:t>log</a:t>
            </a:r>
            <a:r>
              <a:rPr lang="en-IN" b="1" baseline="-25000" dirty="0" smtClean="0">
                <a:latin typeface="Times New Roman" pitchFamily="18" charset="0"/>
                <a:cs typeface="Times New Roman" pitchFamily="18" charset="0"/>
              </a:rPr>
              <a:t>2</a:t>
            </a:r>
            <a:r>
              <a:rPr lang="en-IN" b="1" dirty="0" smtClean="0">
                <a:latin typeface="Times New Roman" pitchFamily="18" charset="0"/>
                <a:cs typeface="Times New Roman" pitchFamily="18" charset="0"/>
              </a:rPr>
              <a:t>n</a:t>
            </a:r>
            <a:r>
              <a:rPr lang="en-IN" dirty="0" smtClean="0">
                <a:latin typeface="Times New Roman" pitchFamily="18" charset="0"/>
                <a:cs typeface="Times New Roman" pitchFamily="18" charset="0"/>
              </a:rPr>
              <a:t> number of poll count lines are required instead of one bus grant line. </a:t>
            </a:r>
          </a:p>
          <a:p>
            <a:r>
              <a:rPr lang="en-IN" dirty="0" smtClean="0">
                <a:latin typeface="Times New Roman" pitchFamily="18" charset="0"/>
                <a:cs typeface="Times New Roman" pitchFamily="18" charset="0"/>
              </a:rPr>
              <a:t>Number of devices that can share the bus is limited by the addressing capability of the poll count lines.</a:t>
            </a:r>
            <a:endParaRPr lang="en-IN" dirty="0">
              <a:latin typeface="Times New Roman" pitchFamily="18" charset="0"/>
              <a:cs typeface="Times New Roman" pitchFamily="18" charset="0"/>
            </a:endParaRPr>
          </a:p>
        </p:txBody>
      </p:sp>
      <p:sp>
        <p:nvSpPr>
          <p:cNvPr id="199" name="TextBox 198"/>
          <p:cNvSpPr txBox="1"/>
          <p:nvPr/>
        </p:nvSpPr>
        <p:spPr>
          <a:xfrm>
            <a:off x="6370320" y="2606040"/>
            <a:ext cx="5623560" cy="3970318"/>
          </a:xfrm>
          <a:prstGeom prst="rect">
            <a:avLst/>
          </a:prstGeom>
          <a:noFill/>
        </p:spPr>
        <p:txBody>
          <a:bodyPr wrap="square" rtlCol="0">
            <a:spAutoFit/>
          </a:bodyPr>
          <a:lstStyle/>
          <a:p>
            <a:r>
              <a:rPr lang="en-IN" u="sng" dirty="0" smtClean="0">
                <a:latin typeface="Times New Roman" pitchFamily="18" charset="0"/>
                <a:cs typeface="Times New Roman" pitchFamily="18" charset="0"/>
              </a:rPr>
              <a:t>Independent requesting</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Each device has its own bus request (BR) and bus grant (BG) line. </a:t>
            </a:r>
          </a:p>
          <a:p>
            <a:r>
              <a:rPr lang="en-IN" dirty="0" smtClean="0">
                <a:latin typeface="Times New Roman" pitchFamily="18" charset="0"/>
                <a:cs typeface="Times New Roman" pitchFamily="18" charset="0"/>
              </a:rPr>
              <a:t>Bus control unit identifies the requesting device immediately after receiving the bus request from it. Priority is determined by the bus control unit and may be programmable. </a:t>
            </a:r>
          </a:p>
          <a:p>
            <a:r>
              <a:rPr lang="en-IN" dirty="0" smtClean="0">
                <a:latin typeface="Times New Roman" pitchFamily="18" charset="0"/>
                <a:cs typeface="Times New Roman" pitchFamily="18" charset="0"/>
              </a:rPr>
              <a:t>A failure in one device does not affect any of the other devices. </a:t>
            </a:r>
            <a:endParaRPr lang="en-IN" smtClean="0">
              <a:latin typeface="Times New Roman" pitchFamily="18" charset="0"/>
              <a:cs typeface="Times New Roman" pitchFamily="18" charset="0"/>
            </a:endParaRPr>
          </a:p>
          <a:p>
            <a:r>
              <a:rPr lang="en-IN" b="1" smtClean="0">
                <a:latin typeface="Times New Roman" pitchFamily="18" charset="0"/>
                <a:cs typeface="Times New Roman" pitchFamily="18" charset="0"/>
              </a:rPr>
              <a:t>2n</a:t>
            </a:r>
            <a:r>
              <a:rPr lang="en-IN" smtClean="0">
                <a:latin typeface="Times New Roman" pitchFamily="18" charset="0"/>
                <a:cs typeface="Times New Roman" pitchFamily="18" charset="0"/>
              </a:rPr>
              <a:t> </a:t>
            </a:r>
            <a:r>
              <a:rPr lang="en-IN" dirty="0" smtClean="0">
                <a:latin typeface="Times New Roman" pitchFamily="18" charset="0"/>
                <a:cs typeface="Times New Roman" pitchFamily="18" charset="0"/>
              </a:rPr>
              <a:t>bus request and bus grant lines must be connected to the bus control unit in order to control </a:t>
            </a:r>
            <a:r>
              <a:rPr lang="en-IN" b="1" dirty="0" smtClean="0">
                <a:latin typeface="Times New Roman" pitchFamily="18" charset="0"/>
                <a:cs typeface="Times New Roman" pitchFamily="18" charset="0"/>
              </a:rPr>
              <a:t>n</a:t>
            </a:r>
            <a:r>
              <a:rPr lang="en-IN" dirty="0" smtClean="0">
                <a:latin typeface="Times New Roman" pitchFamily="18" charset="0"/>
                <a:cs typeface="Times New Roman" pitchFamily="18" charset="0"/>
              </a:rPr>
              <a:t> devices. In contrast, daisy chaining requires </a:t>
            </a:r>
            <a:r>
              <a:rPr lang="en-IN" b="1"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bus request and </a:t>
            </a:r>
            <a:r>
              <a:rPr lang="en-IN" b="1"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bus grant line, while polling requires approximately </a:t>
            </a:r>
            <a:r>
              <a:rPr lang="en-IN" b="1" dirty="0" smtClean="0">
                <a:latin typeface="Times New Roman" pitchFamily="18" charset="0"/>
                <a:cs typeface="Times New Roman" pitchFamily="18" charset="0"/>
              </a:rPr>
              <a:t>log</a:t>
            </a:r>
            <a:r>
              <a:rPr lang="en-IN" b="1" baseline="-25000" dirty="0" smtClean="0">
                <a:latin typeface="Times New Roman" pitchFamily="18" charset="0"/>
                <a:cs typeface="Times New Roman" pitchFamily="18" charset="0"/>
              </a:rPr>
              <a:t>2</a:t>
            </a:r>
            <a:r>
              <a:rPr lang="en-IN" b="1" dirty="0" smtClean="0">
                <a:latin typeface="Times New Roman" pitchFamily="18" charset="0"/>
                <a:cs typeface="Times New Roman" pitchFamily="18" charset="0"/>
              </a:rPr>
              <a:t>n</a:t>
            </a:r>
            <a:r>
              <a:rPr lang="en-IN" dirty="0" smtClean="0">
                <a:latin typeface="Times New Roman" pitchFamily="18" charset="0"/>
                <a:cs typeface="Times New Roman" pitchFamily="18" charset="0"/>
              </a:rPr>
              <a:t> lines.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 y="198120"/>
            <a:ext cx="11750040" cy="6463308"/>
          </a:xfrm>
          <a:prstGeom prst="rect">
            <a:avLst/>
          </a:prstGeom>
          <a:noFill/>
        </p:spPr>
        <p:txBody>
          <a:bodyPr wrap="square" rtlCol="0">
            <a:spAutoFit/>
          </a:bodyPr>
          <a:lstStyle/>
          <a:p>
            <a:r>
              <a:rPr lang="en-IN" u="sng" dirty="0" smtClean="0">
                <a:latin typeface="Times New Roman" pitchFamily="18" charset="0"/>
                <a:cs typeface="Times New Roman" pitchFamily="18" charset="0"/>
              </a:rPr>
              <a:t>UNIBUS system</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Combination of daisy chaining and independent requesting. </a:t>
            </a:r>
          </a:p>
          <a:p>
            <a:r>
              <a:rPr lang="en-IN" b="1" dirty="0" smtClean="0">
                <a:latin typeface="Times New Roman" pitchFamily="18" charset="0"/>
                <a:cs typeface="Times New Roman" pitchFamily="18" charset="0"/>
              </a:rPr>
              <a:t>m</a:t>
            </a:r>
            <a:r>
              <a:rPr lang="en-IN" dirty="0" smtClean="0">
                <a:latin typeface="Times New Roman" pitchFamily="18" charset="0"/>
                <a:cs typeface="Times New Roman" pitchFamily="18" charset="0"/>
              </a:rPr>
              <a:t> bus request lines having different priority are connected to the bus control unit. </a:t>
            </a:r>
          </a:p>
          <a:p>
            <a:r>
              <a:rPr lang="en-IN" b="1" dirty="0" smtClean="0">
                <a:latin typeface="Times New Roman" pitchFamily="18" charset="0"/>
                <a:cs typeface="Times New Roman" pitchFamily="18" charset="0"/>
              </a:rPr>
              <a:t>n</a:t>
            </a:r>
            <a:r>
              <a:rPr lang="en-IN" dirty="0" smtClean="0">
                <a:latin typeface="Times New Roman" pitchFamily="18" charset="0"/>
                <a:cs typeface="Times New Roman" pitchFamily="18" charset="0"/>
              </a:rPr>
              <a:t> number of devices are distributed among </a:t>
            </a:r>
            <a:r>
              <a:rPr lang="en-IN" b="1" dirty="0" smtClean="0">
                <a:latin typeface="Times New Roman" pitchFamily="18" charset="0"/>
                <a:cs typeface="Times New Roman" pitchFamily="18" charset="0"/>
              </a:rPr>
              <a:t>m</a:t>
            </a:r>
            <a:r>
              <a:rPr lang="en-IN" dirty="0" smtClean="0">
                <a:latin typeface="Times New Roman" pitchFamily="18" charset="0"/>
                <a:cs typeface="Times New Roman" pitchFamily="18" charset="0"/>
              </a:rPr>
              <a:t> bus request lines depending upon their priority. </a:t>
            </a:r>
          </a:p>
          <a:p>
            <a:r>
              <a:rPr lang="en-IN" dirty="0" smtClean="0">
                <a:latin typeface="Times New Roman" pitchFamily="18" charset="0"/>
                <a:cs typeface="Times New Roman" pitchFamily="18" charset="0"/>
              </a:rPr>
              <a:t>One bus grant line is used corresponding to each bus request line to select one device from multiple requesting devices like daisy chaining. </a:t>
            </a:r>
          </a:p>
          <a:p>
            <a:r>
              <a:rPr lang="en-IN" dirty="0" smtClean="0">
                <a:latin typeface="Times New Roman" pitchFamily="18" charset="0"/>
                <a:cs typeface="Times New Roman" pitchFamily="18" charset="0"/>
              </a:rPr>
              <a:t>Number of control line is </a:t>
            </a:r>
            <a:r>
              <a:rPr lang="en-IN" b="1" dirty="0" smtClean="0">
                <a:latin typeface="Times New Roman" pitchFamily="18" charset="0"/>
                <a:cs typeface="Times New Roman" pitchFamily="18" charset="0"/>
              </a:rPr>
              <a:t>2m (m bus request +m bus grant)</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Failure of one device affects other devices connected to the same bus request line. </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Input-Output system</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Such system transfers information between MM or CPU and IO devices.</a:t>
            </a:r>
          </a:p>
          <a:p>
            <a:r>
              <a:rPr lang="en-IN" dirty="0" smtClean="0">
                <a:latin typeface="Times New Roman" pitchFamily="18" charset="0"/>
                <a:cs typeface="Times New Roman" pitchFamily="18" charset="0"/>
              </a:rPr>
              <a:t>Includes IO devices, control units for these devices, software designed to carry out IO operation. </a:t>
            </a:r>
          </a:p>
          <a:p>
            <a:r>
              <a:rPr lang="en-IN" dirty="0" smtClean="0">
                <a:latin typeface="Times New Roman" pitchFamily="18" charset="0"/>
                <a:cs typeface="Times New Roman" pitchFamily="18" charset="0"/>
              </a:rPr>
              <a:t>Input/output controller in the control unit of IO device connects the device to the bus system of CPU. </a:t>
            </a:r>
          </a:p>
          <a:p>
            <a:r>
              <a:rPr lang="en-IN" dirty="0" smtClean="0">
                <a:latin typeface="Times New Roman" pitchFamily="18" charset="0"/>
                <a:cs typeface="Times New Roman" pitchFamily="18" charset="0"/>
              </a:rPr>
              <a:t>Typically communicates with CPU and MM over the system bus. </a:t>
            </a:r>
          </a:p>
          <a:p>
            <a:r>
              <a:rPr lang="en-IN" dirty="0" smtClean="0">
                <a:latin typeface="Times New Roman" pitchFamily="18" charset="0"/>
                <a:cs typeface="Times New Roman" pitchFamily="18" charset="0"/>
              </a:rPr>
              <a:t>CPU initiates the control by sending IO requests for read/write operation. </a:t>
            </a:r>
          </a:p>
          <a:p>
            <a:r>
              <a:rPr lang="en-IN" dirty="0" smtClean="0">
                <a:latin typeface="Times New Roman" pitchFamily="18" charset="0"/>
                <a:cs typeface="Times New Roman" pitchFamily="18" charset="0"/>
              </a:rPr>
              <a:t>Input/output controller receives such requests from CPU and sends device-specific control signals to the device for performing the requested read/write operation. </a:t>
            </a:r>
          </a:p>
          <a:p>
            <a:r>
              <a:rPr lang="en-IN" dirty="0" smtClean="0">
                <a:latin typeface="Times New Roman" pitchFamily="18" charset="0"/>
                <a:cs typeface="Times New Roman" pitchFamily="18" charset="0"/>
              </a:rPr>
              <a:t>Such controller also manages the data flow to or from the device. </a:t>
            </a:r>
          </a:p>
          <a:p>
            <a:r>
              <a:rPr lang="en-IN" dirty="0" smtClean="0">
                <a:latin typeface="Times New Roman" pitchFamily="18" charset="0"/>
                <a:cs typeface="Times New Roman" pitchFamily="18" charset="0"/>
              </a:rPr>
              <a:t>Input/output controller is sometimes called device controller. </a:t>
            </a:r>
          </a:p>
          <a:p>
            <a:r>
              <a:rPr lang="en-IN" dirty="0" smtClean="0">
                <a:latin typeface="Times New Roman" pitchFamily="18" charset="0"/>
                <a:cs typeface="Times New Roman" pitchFamily="18" charset="0"/>
              </a:rPr>
              <a:t>Software that directly interacts with a device controller to carry out IO operation is called a device driver.</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IO operation</a:t>
            </a:r>
            <a:r>
              <a:rPr lang="en-IN" dirty="0" smtClean="0">
                <a:latin typeface="Times New Roman" pitchFamily="18" charset="0"/>
                <a:cs typeface="Times New Roman" pitchFamily="18" charset="0"/>
              </a:rPr>
              <a:t>: Includes data transfer between IO device and MM, data transfer between IO device and CPU. </a:t>
            </a:r>
          </a:p>
          <a:p>
            <a:r>
              <a:rPr lang="en-IN" dirty="0" smtClean="0">
                <a:latin typeface="Times New Roman" pitchFamily="18" charset="0"/>
                <a:cs typeface="Times New Roman" pitchFamily="18" charset="0"/>
              </a:rPr>
              <a:t>                       Objective is communication with the external world.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 y="198120"/>
            <a:ext cx="11795760" cy="3970318"/>
          </a:xfrm>
          <a:prstGeom prst="rect">
            <a:avLst/>
          </a:prstGeom>
          <a:noFill/>
        </p:spPr>
        <p:txBody>
          <a:bodyPr wrap="square" rtlCol="0">
            <a:spAutoFit/>
          </a:bodyPr>
          <a:lstStyle/>
          <a:p>
            <a:r>
              <a:rPr lang="en-IN" u="sng" dirty="0" smtClean="0">
                <a:latin typeface="Times New Roman" pitchFamily="18" charset="0"/>
                <a:cs typeface="Times New Roman" pitchFamily="18" charset="0"/>
              </a:rPr>
              <a:t>Programmed IO</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IO device does not have direct access to MM. </a:t>
            </a:r>
          </a:p>
          <a:p>
            <a:r>
              <a:rPr lang="en-IN" dirty="0" smtClean="0">
                <a:latin typeface="Times New Roman" pitchFamily="18" charset="0"/>
                <a:cs typeface="Times New Roman" pitchFamily="18" charset="0"/>
              </a:rPr>
              <a:t>Programmed IO is a method of controlling IO operation. </a:t>
            </a:r>
          </a:p>
          <a:p>
            <a:r>
              <a:rPr lang="en-IN" dirty="0" smtClean="0">
                <a:latin typeface="Times New Roman" pitchFamily="18" charset="0"/>
                <a:cs typeface="Times New Roman" pitchFamily="18" charset="0"/>
              </a:rPr>
              <a:t>In programmed IO all IO operations are executed under the direct control of CPU. </a:t>
            </a:r>
          </a:p>
          <a:p>
            <a:r>
              <a:rPr lang="en-IN" dirty="0" smtClean="0">
                <a:latin typeface="Times New Roman" pitchFamily="18" charset="0"/>
                <a:cs typeface="Times New Roman" pitchFamily="18" charset="0"/>
              </a:rPr>
              <a:t>Function of CPU</a:t>
            </a:r>
          </a:p>
          <a:p>
            <a:r>
              <a:rPr lang="en-IN" dirty="0" smtClean="0">
                <a:latin typeface="Times New Roman" pitchFamily="18" charset="0"/>
                <a:cs typeface="Times New Roman" pitchFamily="18" charset="0"/>
              </a:rPr>
              <a:t>Executes program to transfer data between the buffer register connected to the IO device and MM. </a:t>
            </a:r>
          </a:p>
          <a:p>
            <a:r>
              <a:rPr lang="en-IN" u="sng" dirty="0" smtClean="0">
                <a:latin typeface="Times New Roman" pitchFamily="18" charset="0"/>
                <a:cs typeface="Times New Roman" pitchFamily="18" charset="0"/>
              </a:rPr>
              <a:t>This program includes </a:t>
            </a:r>
          </a:p>
          <a:p>
            <a:r>
              <a:rPr lang="en-IN" dirty="0" smtClean="0">
                <a:latin typeface="Times New Roman" pitchFamily="18" charset="0"/>
                <a:cs typeface="Times New Roman" pitchFamily="18" charset="0"/>
              </a:rPr>
              <a:t>Input instruction to transfer data from the input device to CPU register (i.e. accumulator)  and a store instruction to transfer data from CPU register to MM. </a:t>
            </a:r>
          </a:p>
          <a:p>
            <a:r>
              <a:rPr lang="en-IN" dirty="0" smtClean="0">
                <a:latin typeface="Times New Roman" pitchFamily="18" charset="0"/>
                <a:cs typeface="Times New Roman" pitchFamily="18" charset="0"/>
              </a:rPr>
              <a:t>Load instruction to load data in CPU register from MM and an output instruction to transfer data from CPU register to output device. </a:t>
            </a:r>
          </a:p>
          <a:p>
            <a:r>
              <a:rPr lang="en-IN" dirty="0" smtClean="0">
                <a:latin typeface="Times New Roman" pitchFamily="18" charset="0"/>
                <a:cs typeface="Times New Roman" pitchFamily="18" charset="0"/>
              </a:rPr>
              <a:t>Includes instruction to compute MM address for performing read/write operation and data word counting (i.e. to count the number of bytes to be transferred between IO device and MM). </a:t>
            </a:r>
          </a:p>
          <a:p>
            <a:r>
              <a:rPr lang="en-IN" dirty="0" smtClean="0">
                <a:latin typeface="Times New Roman" pitchFamily="18" charset="0"/>
                <a:cs typeface="Times New Roman" pitchFamily="18" charset="0"/>
              </a:rPr>
              <a:t>Determines IO status i.e. identifies the IO device that is ready for data transfer operation. </a:t>
            </a:r>
            <a:endParaRPr lang="en-IN" dirty="0">
              <a:latin typeface="Times New Roman" pitchFamily="18" charset="0"/>
              <a:cs typeface="Times New Roman" pitchFamily="18" charset="0"/>
            </a:endParaRPr>
          </a:p>
        </p:txBody>
      </p:sp>
      <p:sp>
        <p:nvSpPr>
          <p:cNvPr id="3" name="Rectangle 2"/>
          <p:cNvSpPr/>
          <p:nvPr/>
        </p:nvSpPr>
        <p:spPr>
          <a:xfrm>
            <a:off x="333102" y="5738949"/>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348342" y="5708469"/>
            <a:ext cx="6096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MM</a:t>
            </a:r>
            <a:endParaRPr lang="en-IN" dirty="0">
              <a:latin typeface="Times New Roman" pitchFamily="18" charset="0"/>
              <a:cs typeface="Times New Roman" pitchFamily="18" charset="0"/>
            </a:endParaRPr>
          </a:p>
        </p:txBody>
      </p:sp>
      <p:sp>
        <p:nvSpPr>
          <p:cNvPr id="9" name="Oval 8"/>
          <p:cNvSpPr/>
          <p:nvPr/>
        </p:nvSpPr>
        <p:spPr>
          <a:xfrm>
            <a:off x="3442062" y="5815149"/>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3609702" y="5815149"/>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3259182" y="5815149"/>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1156062" y="5738949"/>
            <a:ext cx="762000" cy="2895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a:off x="1186542" y="5708469"/>
            <a:ext cx="685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CPU</a:t>
            </a:r>
            <a:endParaRPr lang="en-IN" dirty="0">
              <a:latin typeface="Times New Roman" pitchFamily="18" charset="0"/>
              <a:cs typeface="Times New Roman" pitchFamily="18" charset="0"/>
            </a:endParaRPr>
          </a:p>
        </p:txBody>
      </p:sp>
      <p:sp>
        <p:nvSpPr>
          <p:cNvPr id="20" name="Rectangle 19"/>
          <p:cNvSpPr/>
          <p:nvPr/>
        </p:nvSpPr>
        <p:spPr>
          <a:xfrm>
            <a:off x="2039982" y="5677989"/>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2055222" y="5617029"/>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1</a:t>
            </a:r>
            <a:endParaRPr lang="en-IN" dirty="0">
              <a:latin typeface="Times New Roman" pitchFamily="18" charset="0"/>
              <a:cs typeface="Times New Roman" pitchFamily="18" charset="0"/>
            </a:endParaRPr>
          </a:p>
        </p:txBody>
      </p:sp>
      <p:sp>
        <p:nvSpPr>
          <p:cNvPr id="22" name="Rectangle 21"/>
          <p:cNvSpPr/>
          <p:nvPr/>
        </p:nvSpPr>
        <p:spPr>
          <a:xfrm>
            <a:off x="3746862" y="5677989"/>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p:cNvSpPr txBox="1"/>
          <p:nvPr/>
        </p:nvSpPr>
        <p:spPr>
          <a:xfrm>
            <a:off x="3762102" y="5617029"/>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7</a:t>
            </a:r>
            <a:endParaRPr lang="en-IN" dirty="0">
              <a:latin typeface="Times New Roman" pitchFamily="18" charset="0"/>
              <a:cs typeface="Times New Roman" pitchFamily="18" charset="0"/>
            </a:endParaRPr>
          </a:p>
        </p:txBody>
      </p:sp>
      <p:cxnSp>
        <p:nvCxnSpPr>
          <p:cNvPr id="24" name="Straight Connector 23"/>
          <p:cNvCxnSpPr/>
          <p:nvPr/>
        </p:nvCxnSpPr>
        <p:spPr>
          <a:xfrm flipV="1">
            <a:off x="317862" y="4565469"/>
            <a:ext cx="441960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302622" y="4809309"/>
            <a:ext cx="446532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317862" y="5022669"/>
            <a:ext cx="4480560" cy="30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02622" y="5251269"/>
            <a:ext cx="4511040" cy="60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139338" y="5190309"/>
            <a:ext cx="11582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3304902" y="5129349"/>
            <a:ext cx="11582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1598022" y="5129349"/>
            <a:ext cx="11582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653142" y="5190309"/>
            <a:ext cx="11582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81642" y="5304609"/>
            <a:ext cx="8991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16200000" flipH="1">
            <a:off x="644728" y="5518763"/>
            <a:ext cx="457994" cy="144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16200000" flipH="1">
            <a:off x="401682" y="5411289"/>
            <a:ext cx="73152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flipH="1" flipV="1">
            <a:off x="919842" y="5289369"/>
            <a:ext cx="8991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rot="5400000" flipH="1" flipV="1">
            <a:off x="1910442" y="5228409"/>
            <a:ext cx="8991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5400000" flipH="1" flipV="1">
            <a:off x="3571602" y="5228409"/>
            <a:ext cx="8991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9" idx="0"/>
          </p:cNvCxnSpPr>
          <p:nvPr/>
        </p:nvCxnSpPr>
        <p:spPr>
          <a:xfrm rot="16200000" flipV="1">
            <a:off x="1190352" y="5369379"/>
            <a:ext cx="655320" cy="228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16200000" flipV="1">
            <a:off x="2226672" y="5354139"/>
            <a:ext cx="655320" cy="228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16200000" flipV="1">
            <a:off x="3842112" y="5323659"/>
            <a:ext cx="655320" cy="228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5400000" flipH="1" flipV="1">
            <a:off x="1521822" y="5510349"/>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5400000" flipH="1" flipV="1">
            <a:off x="4219302" y="5449389"/>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5400000" flipH="1" flipV="1">
            <a:off x="2649582" y="5464629"/>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770119" y="4604658"/>
            <a:ext cx="5486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Data</a:t>
            </a:r>
            <a:endParaRPr lang="en-IN" sz="1400" dirty="0">
              <a:latin typeface="Times New Roman" pitchFamily="18" charset="0"/>
              <a:cs typeface="Times New Roman" pitchFamily="18" charset="0"/>
            </a:endParaRPr>
          </a:p>
        </p:txBody>
      </p:sp>
      <p:sp>
        <p:nvSpPr>
          <p:cNvPr id="63" name="TextBox 62"/>
          <p:cNvSpPr txBox="1"/>
          <p:nvPr/>
        </p:nvSpPr>
        <p:spPr>
          <a:xfrm>
            <a:off x="4828902" y="4839789"/>
            <a:ext cx="56388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Read</a:t>
            </a:r>
            <a:endParaRPr lang="en-IN" sz="1400" dirty="0">
              <a:latin typeface="Times New Roman" pitchFamily="18" charset="0"/>
              <a:cs typeface="Times New Roman" pitchFamily="18" charset="0"/>
            </a:endParaRPr>
          </a:p>
        </p:txBody>
      </p:sp>
      <p:sp>
        <p:nvSpPr>
          <p:cNvPr id="64" name="TextBox 63"/>
          <p:cNvSpPr txBox="1"/>
          <p:nvPr/>
        </p:nvSpPr>
        <p:spPr>
          <a:xfrm>
            <a:off x="4783182" y="5068390"/>
            <a:ext cx="59436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Write</a:t>
            </a:r>
            <a:endParaRPr lang="en-IN" sz="1400" dirty="0">
              <a:latin typeface="Times New Roman" pitchFamily="18" charset="0"/>
              <a:cs typeface="Times New Roman" pitchFamily="18" charset="0"/>
            </a:endParaRPr>
          </a:p>
        </p:txBody>
      </p:sp>
      <p:sp>
        <p:nvSpPr>
          <p:cNvPr id="65" name="TextBox 64"/>
          <p:cNvSpPr txBox="1"/>
          <p:nvPr/>
        </p:nvSpPr>
        <p:spPr>
          <a:xfrm>
            <a:off x="4700451" y="4371704"/>
            <a:ext cx="8534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Address</a:t>
            </a:r>
            <a:endParaRPr lang="en-IN" sz="1400" dirty="0">
              <a:latin typeface="Times New Roman" pitchFamily="18" charset="0"/>
              <a:cs typeface="Times New Roman" pitchFamily="18" charset="0"/>
            </a:endParaRPr>
          </a:p>
        </p:txBody>
      </p:sp>
      <p:sp>
        <p:nvSpPr>
          <p:cNvPr id="100" name="Rectangle 99"/>
          <p:cNvSpPr/>
          <p:nvPr/>
        </p:nvSpPr>
        <p:spPr>
          <a:xfrm>
            <a:off x="6230982" y="5183778"/>
            <a:ext cx="624840" cy="32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TextBox 100"/>
          <p:cNvSpPr txBox="1"/>
          <p:nvPr/>
        </p:nvSpPr>
        <p:spPr>
          <a:xfrm>
            <a:off x="6246222" y="5153298"/>
            <a:ext cx="6096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MM</a:t>
            </a:r>
            <a:endParaRPr lang="en-IN" dirty="0">
              <a:latin typeface="Times New Roman" pitchFamily="18" charset="0"/>
              <a:cs typeface="Times New Roman" pitchFamily="18" charset="0"/>
            </a:endParaRPr>
          </a:p>
        </p:txBody>
      </p:sp>
      <p:sp>
        <p:nvSpPr>
          <p:cNvPr id="102" name="Oval 101"/>
          <p:cNvSpPr/>
          <p:nvPr/>
        </p:nvSpPr>
        <p:spPr>
          <a:xfrm>
            <a:off x="9339942" y="525997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Oval 102"/>
          <p:cNvSpPr/>
          <p:nvPr/>
        </p:nvSpPr>
        <p:spPr>
          <a:xfrm>
            <a:off x="9507582" y="525997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p:cNvSpPr/>
          <p:nvPr/>
        </p:nvSpPr>
        <p:spPr>
          <a:xfrm>
            <a:off x="9157062" y="525997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Rectangle 104"/>
          <p:cNvSpPr/>
          <p:nvPr/>
        </p:nvSpPr>
        <p:spPr>
          <a:xfrm>
            <a:off x="7053942" y="5183778"/>
            <a:ext cx="762000" cy="2895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TextBox 105"/>
          <p:cNvSpPr txBox="1"/>
          <p:nvPr/>
        </p:nvSpPr>
        <p:spPr>
          <a:xfrm>
            <a:off x="7084422" y="5153298"/>
            <a:ext cx="685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CPU</a:t>
            </a:r>
            <a:endParaRPr lang="en-IN" dirty="0">
              <a:latin typeface="Times New Roman" pitchFamily="18" charset="0"/>
              <a:cs typeface="Times New Roman" pitchFamily="18" charset="0"/>
            </a:endParaRPr>
          </a:p>
        </p:txBody>
      </p:sp>
      <p:sp>
        <p:nvSpPr>
          <p:cNvPr id="107" name="Rectangle 106"/>
          <p:cNvSpPr/>
          <p:nvPr/>
        </p:nvSpPr>
        <p:spPr>
          <a:xfrm>
            <a:off x="7937862" y="5122818"/>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TextBox 107"/>
          <p:cNvSpPr txBox="1"/>
          <p:nvPr/>
        </p:nvSpPr>
        <p:spPr>
          <a:xfrm>
            <a:off x="7953102" y="5061858"/>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1</a:t>
            </a:r>
            <a:endParaRPr lang="en-IN" dirty="0">
              <a:latin typeface="Times New Roman" pitchFamily="18" charset="0"/>
              <a:cs typeface="Times New Roman" pitchFamily="18" charset="0"/>
            </a:endParaRPr>
          </a:p>
        </p:txBody>
      </p:sp>
      <p:sp>
        <p:nvSpPr>
          <p:cNvPr id="109" name="Rectangle 108"/>
          <p:cNvSpPr/>
          <p:nvPr/>
        </p:nvSpPr>
        <p:spPr>
          <a:xfrm>
            <a:off x="9644742" y="5122818"/>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TextBox 109"/>
          <p:cNvSpPr txBox="1"/>
          <p:nvPr/>
        </p:nvSpPr>
        <p:spPr>
          <a:xfrm>
            <a:off x="9659982" y="5061858"/>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7</a:t>
            </a:r>
            <a:endParaRPr lang="en-IN" dirty="0">
              <a:latin typeface="Times New Roman" pitchFamily="18" charset="0"/>
              <a:cs typeface="Times New Roman" pitchFamily="18" charset="0"/>
            </a:endParaRPr>
          </a:p>
        </p:txBody>
      </p:sp>
      <p:cxnSp>
        <p:nvCxnSpPr>
          <p:cNvPr id="111" name="Straight Connector 110"/>
          <p:cNvCxnSpPr/>
          <p:nvPr/>
        </p:nvCxnSpPr>
        <p:spPr>
          <a:xfrm flipV="1">
            <a:off x="6300651" y="4482737"/>
            <a:ext cx="441960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V="1">
            <a:off x="6507480" y="4726577"/>
            <a:ext cx="4465320" cy="4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rot="16200000" flipH="1">
            <a:off x="5972696" y="4849292"/>
            <a:ext cx="654526" cy="14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rot="16200000" flipH="1">
            <a:off x="9401696" y="4803572"/>
            <a:ext cx="685006" cy="14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rot="16200000" flipH="1">
            <a:off x="7702436" y="4795952"/>
            <a:ext cx="669766" cy="14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rot="16200000" flipH="1">
            <a:off x="7069976" y="4849292"/>
            <a:ext cx="654526" cy="14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rot="16200000" flipV="1">
            <a:off x="9999072" y="5759088"/>
            <a:ext cx="655320" cy="228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p:nvPr/>
        </p:nvCxnSpPr>
        <p:spPr>
          <a:xfrm rot="5400000" flipH="1" flipV="1">
            <a:off x="7373982" y="4970418"/>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rot="16200000" flipV="1">
            <a:off x="9752216" y="5611292"/>
            <a:ext cx="364966" cy="296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6596742" y="4741818"/>
            <a:ext cx="83820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Read M</a:t>
            </a:r>
            <a:endParaRPr lang="en-IN" sz="1400" dirty="0">
              <a:latin typeface="Times New Roman" pitchFamily="18" charset="0"/>
              <a:cs typeface="Times New Roman" pitchFamily="18" charset="0"/>
            </a:endParaRPr>
          </a:p>
        </p:txBody>
      </p:sp>
      <p:sp>
        <p:nvSpPr>
          <p:cNvPr id="121" name="TextBox 120"/>
          <p:cNvSpPr txBox="1"/>
          <p:nvPr/>
        </p:nvSpPr>
        <p:spPr>
          <a:xfrm>
            <a:off x="6490062" y="5640979"/>
            <a:ext cx="83820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Write M</a:t>
            </a:r>
            <a:endParaRPr lang="en-IN" sz="1400" dirty="0">
              <a:latin typeface="Times New Roman" pitchFamily="18" charset="0"/>
              <a:cs typeface="Times New Roman" pitchFamily="18" charset="0"/>
            </a:endParaRPr>
          </a:p>
        </p:txBody>
      </p:sp>
      <p:sp>
        <p:nvSpPr>
          <p:cNvPr id="122" name="TextBox 121"/>
          <p:cNvSpPr txBox="1"/>
          <p:nvPr/>
        </p:nvSpPr>
        <p:spPr>
          <a:xfrm>
            <a:off x="10589622" y="4543698"/>
            <a:ext cx="80772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Address</a:t>
            </a:r>
            <a:endParaRPr lang="en-IN" sz="1400" dirty="0">
              <a:latin typeface="Times New Roman" pitchFamily="18" charset="0"/>
              <a:cs typeface="Times New Roman" pitchFamily="18" charset="0"/>
            </a:endParaRPr>
          </a:p>
        </p:txBody>
      </p:sp>
      <p:sp>
        <p:nvSpPr>
          <p:cNvPr id="123" name="TextBox 122"/>
          <p:cNvSpPr txBox="1"/>
          <p:nvPr/>
        </p:nvSpPr>
        <p:spPr>
          <a:xfrm>
            <a:off x="10589622" y="4330338"/>
            <a:ext cx="5486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Data</a:t>
            </a:r>
            <a:endParaRPr lang="en-IN" sz="1400" dirty="0">
              <a:latin typeface="Times New Roman" pitchFamily="18" charset="0"/>
              <a:cs typeface="Times New Roman" pitchFamily="18" charset="0"/>
            </a:endParaRPr>
          </a:p>
        </p:txBody>
      </p:sp>
      <p:cxnSp>
        <p:nvCxnSpPr>
          <p:cNvPr id="124" name="Straight Arrow Connector 123"/>
          <p:cNvCxnSpPr/>
          <p:nvPr/>
        </p:nvCxnSpPr>
        <p:spPr>
          <a:xfrm rot="5400000">
            <a:off x="6283528" y="4978038"/>
            <a:ext cx="427514" cy="160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rot="5400000">
            <a:off x="8097088" y="4917078"/>
            <a:ext cx="427514" cy="160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rot="5400000">
            <a:off x="9682048" y="4932318"/>
            <a:ext cx="427514" cy="160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rot="5400000">
            <a:off x="6993776" y="5595258"/>
            <a:ext cx="258286"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rot="10800000" flipV="1">
            <a:off x="6688182" y="5701938"/>
            <a:ext cx="45720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rot="5400000" flipH="1" flipV="1">
            <a:off x="6573882" y="5602878"/>
            <a:ext cx="24384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rot="5400000">
            <a:off x="7031876" y="5084718"/>
            <a:ext cx="25828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10800000" flipV="1">
            <a:off x="6672942" y="4955178"/>
            <a:ext cx="45720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rot="5400000">
            <a:off x="6566262" y="5077098"/>
            <a:ext cx="2438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rot="16200000" flipH="1">
            <a:off x="7234798" y="5638954"/>
            <a:ext cx="392668" cy="7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V="1">
            <a:off x="7450182" y="5793378"/>
            <a:ext cx="1554480" cy="30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rot="16200000" flipH="1">
            <a:off x="6947262" y="5793378"/>
            <a:ext cx="65532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V="1">
            <a:off x="7282542" y="6128658"/>
            <a:ext cx="17221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rot="16200000" flipH="1">
            <a:off x="7937862" y="5640978"/>
            <a:ext cx="38100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rot="16200000" flipH="1">
            <a:off x="8280762" y="5800998"/>
            <a:ext cx="685800" cy="30480"/>
          </a:xfrm>
          <a:prstGeom prst="line">
            <a:avLst/>
          </a:prstGeom>
        </p:spPr>
        <p:style>
          <a:lnRef idx="1">
            <a:schemeClr val="accent1"/>
          </a:lnRef>
          <a:fillRef idx="0">
            <a:schemeClr val="accent1"/>
          </a:fillRef>
          <a:effectRef idx="0">
            <a:schemeClr val="accent1"/>
          </a:effectRef>
          <a:fontRef idx="minor">
            <a:schemeClr val="tx1"/>
          </a:fontRef>
        </p:style>
      </p:cxnSp>
      <p:sp>
        <p:nvSpPr>
          <p:cNvPr id="139" name="Oval 138"/>
          <p:cNvSpPr/>
          <p:nvPr/>
        </p:nvSpPr>
        <p:spPr>
          <a:xfrm>
            <a:off x="8608422" y="606769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Oval 139"/>
          <p:cNvSpPr/>
          <p:nvPr/>
        </p:nvSpPr>
        <p:spPr>
          <a:xfrm>
            <a:off x="8090262" y="579337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Oval 140"/>
          <p:cNvSpPr/>
          <p:nvPr/>
        </p:nvSpPr>
        <p:spPr>
          <a:xfrm>
            <a:off x="9507582" y="574765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Oval 141"/>
          <p:cNvSpPr/>
          <p:nvPr/>
        </p:nvSpPr>
        <p:spPr>
          <a:xfrm>
            <a:off x="9309462" y="574765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Oval 142"/>
          <p:cNvSpPr/>
          <p:nvPr/>
        </p:nvSpPr>
        <p:spPr>
          <a:xfrm>
            <a:off x="9096102" y="574765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Oval 143"/>
          <p:cNvSpPr/>
          <p:nvPr/>
        </p:nvSpPr>
        <p:spPr>
          <a:xfrm>
            <a:off x="9339942" y="609817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5" name="Oval 144"/>
          <p:cNvSpPr/>
          <p:nvPr/>
        </p:nvSpPr>
        <p:spPr>
          <a:xfrm>
            <a:off x="9538062" y="608293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Oval 145"/>
          <p:cNvSpPr/>
          <p:nvPr/>
        </p:nvSpPr>
        <p:spPr>
          <a:xfrm>
            <a:off x="9111342" y="6082938"/>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7" name="Straight Connector 146"/>
          <p:cNvCxnSpPr/>
          <p:nvPr/>
        </p:nvCxnSpPr>
        <p:spPr>
          <a:xfrm flipV="1">
            <a:off x="9690462" y="5778138"/>
            <a:ext cx="24384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flipV="1">
            <a:off x="9675222" y="6067698"/>
            <a:ext cx="655320" cy="15240"/>
          </a:xfrm>
          <a:prstGeom prst="line">
            <a:avLst/>
          </a:prstGeom>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359228" y="6318069"/>
            <a:ext cx="2893423" cy="365760"/>
          </a:xfrm>
          <a:prstGeom prst="rect">
            <a:avLst/>
          </a:prstGeom>
          <a:noFill/>
        </p:spPr>
        <p:txBody>
          <a:bodyPr wrap="square" rtlCol="0">
            <a:spAutoFit/>
          </a:bodyPr>
          <a:lstStyle/>
          <a:p>
            <a:r>
              <a:rPr lang="en-IN" dirty="0" smtClean="0">
                <a:latin typeface="Times New Roman" pitchFamily="18" charset="0"/>
                <a:cs typeface="Times New Roman" pitchFamily="18" charset="0"/>
              </a:rPr>
              <a:t>Fig 13: Memory mapped IO</a:t>
            </a:r>
            <a:endParaRPr lang="en-IN" dirty="0">
              <a:latin typeface="Times New Roman" pitchFamily="18" charset="0"/>
              <a:cs typeface="Times New Roman" pitchFamily="18" charset="0"/>
            </a:endParaRPr>
          </a:p>
        </p:txBody>
      </p:sp>
      <p:sp>
        <p:nvSpPr>
          <p:cNvPr id="150" name="TextBox 149"/>
          <p:cNvSpPr txBox="1"/>
          <p:nvPr/>
        </p:nvSpPr>
        <p:spPr>
          <a:xfrm>
            <a:off x="7186748" y="6326777"/>
            <a:ext cx="2893423" cy="365760"/>
          </a:xfrm>
          <a:prstGeom prst="rect">
            <a:avLst/>
          </a:prstGeom>
          <a:noFill/>
        </p:spPr>
        <p:txBody>
          <a:bodyPr wrap="square" rtlCol="0">
            <a:spAutoFit/>
          </a:bodyPr>
          <a:lstStyle/>
          <a:p>
            <a:r>
              <a:rPr lang="en-IN" dirty="0" smtClean="0">
                <a:latin typeface="Times New Roman" pitchFamily="18" charset="0"/>
                <a:cs typeface="Times New Roman" pitchFamily="18" charset="0"/>
              </a:rPr>
              <a:t>Fig 14: IO mapped IO</a:t>
            </a:r>
            <a:endParaRPr lang="en-IN" dirty="0">
              <a:latin typeface="Times New Roman" pitchFamily="18" charset="0"/>
              <a:cs typeface="Times New Roman" pitchFamily="18" charset="0"/>
            </a:endParaRPr>
          </a:p>
        </p:txBody>
      </p:sp>
      <p:sp>
        <p:nvSpPr>
          <p:cNvPr id="89" name="TextBox 88"/>
          <p:cNvSpPr txBox="1"/>
          <p:nvPr/>
        </p:nvSpPr>
        <p:spPr>
          <a:xfrm>
            <a:off x="9244148" y="5508172"/>
            <a:ext cx="83820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Read IO </a:t>
            </a:r>
            <a:endParaRPr lang="en-IN" sz="1400" dirty="0">
              <a:latin typeface="Times New Roman" pitchFamily="18" charset="0"/>
              <a:cs typeface="Times New Roman" pitchFamily="18" charset="0"/>
            </a:endParaRPr>
          </a:p>
        </p:txBody>
      </p:sp>
      <p:sp>
        <p:nvSpPr>
          <p:cNvPr id="90" name="TextBox 89"/>
          <p:cNvSpPr txBox="1"/>
          <p:nvPr/>
        </p:nvSpPr>
        <p:spPr>
          <a:xfrm>
            <a:off x="10219508" y="5634446"/>
            <a:ext cx="83820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Write IO</a:t>
            </a:r>
            <a:endParaRPr lang="en-IN" sz="1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2" y="182880"/>
            <a:ext cx="11782697" cy="6186309"/>
          </a:xfrm>
          <a:prstGeom prst="rect">
            <a:avLst/>
          </a:prstGeom>
          <a:noFill/>
        </p:spPr>
        <p:txBody>
          <a:bodyPr wrap="square" rtlCol="0">
            <a:spAutoFit/>
          </a:bodyPr>
          <a:lstStyle/>
          <a:p>
            <a:r>
              <a:rPr lang="en-IN" u="sng" dirty="0" smtClean="0">
                <a:latin typeface="Times New Roman" pitchFamily="18" charset="0"/>
                <a:cs typeface="Times New Roman" pitchFamily="18" charset="0"/>
              </a:rPr>
              <a:t>Memory-mapped IO</a:t>
            </a:r>
            <a:r>
              <a:rPr lang="en-IN" dirty="0" smtClean="0">
                <a:latin typeface="Times New Roman" pitchFamily="18" charset="0"/>
                <a:cs typeface="Times New Roman" pitchFamily="18" charset="0"/>
              </a:rPr>
              <a:t>: Fig 13 shows memory-mapped IO. </a:t>
            </a:r>
          </a:p>
          <a:p>
            <a:r>
              <a:rPr lang="en-IN" dirty="0" smtClean="0">
                <a:latin typeface="Times New Roman" pitchFamily="18" charset="0"/>
                <a:cs typeface="Times New Roman" pitchFamily="18" charset="0"/>
              </a:rPr>
              <a:t>Programmed IO with shared MM and IO address space. [</a:t>
            </a:r>
            <a:r>
              <a:rPr lang="en-IN" b="1" dirty="0" smtClean="0">
                <a:latin typeface="Times New Roman" pitchFamily="18" charset="0"/>
                <a:cs typeface="Times New Roman" pitchFamily="18" charset="0"/>
              </a:rPr>
              <a:t>Note</a:t>
            </a:r>
            <a:r>
              <a:rPr lang="en-IN" dirty="0" smtClean="0">
                <a:latin typeface="Times New Roman" pitchFamily="18" charset="0"/>
                <a:cs typeface="Times New Roman" pitchFamily="18" charset="0"/>
              </a:rPr>
              <a:t>: For example, the address space for 16-bit address is 2</a:t>
            </a:r>
            <a:r>
              <a:rPr lang="en-IN" baseline="30000" dirty="0" smtClean="0">
                <a:latin typeface="Times New Roman" pitchFamily="18" charset="0"/>
                <a:cs typeface="Times New Roman" pitchFamily="18" charset="0"/>
              </a:rPr>
              <a:t>16</a:t>
            </a:r>
            <a:r>
              <a:rPr lang="en-IN" dirty="0" smtClean="0">
                <a:latin typeface="Times New Roman" pitchFamily="18" charset="0"/>
                <a:cs typeface="Times New Roman" pitchFamily="18" charset="0"/>
              </a:rPr>
              <a:t>. A few locations out of these 2</a:t>
            </a:r>
            <a:r>
              <a:rPr lang="en-IN" baseline="30000" dirty="0" smtClean="0">
                <a:latin typeface="Times New Roman" pitchFamily="18" charset="0"/>
                <a:cs typeface="Times New Roman" pitchFamily="18" charset="0"/>
              </a:rPr>
              <a:t>16 </a:t>
            </a:r>
            <a:r>
              <a:rPr lang="en-IN" dirty="0" smtClean="0">
                <a:latin typeface="Times New Roman" pitchFamily="18" charset="0"/>
                <a:cs typeface="Times New Roman" pitchFamily="18" charset="0"/>
              </a:rPr>
              <a:t>locations are used for MM and the other locations are reserved for IO devices. So the address space of amount 2</a:t>
            </a:r>
            <a:r>
              <a:rPr lang="en-IN" baseline="30000" dirty="0" smtClean="0">
                <a:latin typeface="Times New Roman" pitchFamily="18" charset="0"/>
                <a:cs typeface="Times New Roman" pitchFamily="18" charset="0"/>
              </a:rPr>
              <a:t>16</a:t>
            </a:r>
            <a:r>
              <a:rPr lang="en-IN" dirty="0" smtClean="0">
                <a:latin typeface="Times New Roman" pitchFamily="18" charset="0"/>
                <a:cs typeface="Times New Roman" pitchFamily="18" charset="0"/>
              </a:rPr>
              <a:t> is shared among MM and IO.] </a:t>
            </a:r>
          </a:p>
          <a:p>
            <a:r>
              <a:rPr lang="en-IN" dirty="0" smtClean="0">
                <a:latin typeface="Times New Roman" pitchFamily="18" charset="0"/>
                <a:cs typeface="Times New Roman" pitchFamily="18" charset="0"/>
              </a:rPr>
              <a:t>System bus includes</a:t>
            </a:r>
          </a:p>
          <a:p>
            <a:r>
              <a:rPr lang="en-IN" dirty="0" smtClean="0">
                <a:latin typeface="Times New Roman" pitchFamily="18" charset="0"/>
                <a:cs typeface="Times New Roman" pitchFamily="18" charset="0"/>
              </a:rPr>
              <a:t>Address bus, data bus, control bus. </a:t>
            </a:r>
          </a:p>
          <a:p>
            <a:r>
              <a:rPr lang="en-IN" dirty="0" smtClean="0">
                <a:latin typeface="Times New Roman" pitchFamily="18" charset="0"/>
                <a:cs typeface="Times New Roman" pitchFamily="18" charset="0"/>
              </a:rPr>
              <a:t>MM, CPU, IO devices share the same system bus. </a:t>
            </a:r>
          </a:p>
          <a:p>
            <a:r>
              <a:rPr lang="en-IN" dirty="0" smtClean="0">
                <a:latin typeface="Times New Roman" pitchFamily="18" charset="0"/>
                <a:cs typeface="Times New Roman" pitchFamily="18" charset="0"/>
              </a:rPr>
              <a:t>Each junction between the system bus and the IO device is called an IO port. Seven such IO ports are shown in Fig 13. A unique address is assigned to each IO port. The IO port includes a data buffer register for storing data temporarily during read/write operation.</a:t>
            </a:r>
          </a:p>
          <a:p>
            <a:r>
              <a:rPr lang="en-IN" dirty="0" smtClean="0">
                <a:latin typeface="Times New Roman" pitchFamily="18" charset="0"/>
                <a:cs typeface="Times New Roman" pitchFamily="18" charset="0"/>
              </a:rPr>
              <a:t>Suppose CPU generates an address X in the address bus. </a:t>
            </a:r>
          </a:p>
          <a:p>
            <a:r>
              <a:rPr lang="en-IN" dirty="0" smtClean="0">
                <a:latin typeface="Times New Roman" pitchFamily="18" charset="0"/>
                <a:cs typeface="Times New Roman" pitchFamily="18" charset="0"/>
              </a:rPr>
              <a:t>Address on the address bus, control signal (Read/Write) on the control bus, data on the data bus activate MM if the address X is an address of the address space which is used by MM. That is read and write control lines are activated by CPU to initiate a memory access cycle (MM read/write). </a:t>
            </a:r>
          </a:p>
          <a:p>
            <a:r>
              <a:rPr lang="en-IN" dirty="0" smtClean="0">
                <a:latin typeface="Times New Roman" pitchFamily="18" charset="0"/>
                <a:cs typeface="Times New Roman" pitchFamily="18" charset="0"/>
              </a:rPr>
              <a:t>Address on the address bus, control signal (Read/Write) on the control bus, data on the data bus activate IO device if the address X is an address of the address space which is reserved for IO device. That is read and write control lines are activated by CPU to initiate IO access cycle (IO read/write). </a:t>
            </a:r>
          </a:p>
          <a:p>
            <a:r>
              <a:rPr lang="en-IN" dirty="0" smtClean="0">
                <a:latin typeface="Times New Roman" pitchFamily="18" charset="0"/>
                <a:cs typeface="Times New Roman" pitchFamily="18" charset="0"/>
              </a:rPr>
              <a:t>Memory load/store instructions are used to transfer a word to or from an IO port. </a:t>
            </a:r>
          </a:p>
          <a:p>
            <a:r>
              <a:rPr lang="en-IN" dirty="0" smtClean="0">
                <a:latin typeface="Times New Roman" pitchFamily="18" charset="0"/>
                <a:cs typeface="Times New Roman" pitchFamily="18" charset="0"/>
              </a:rPr>
              <a:t>No special IO instructions are required. </a:t>
            </a:r>
          </a:p>
          <a:p>
            <a:r>
              <a:rPr lang="en-IN" dirty="0" smtClean="0">
                <a:latin typeface="Times New Roman" pitchFamily="18" charset="0"/>
                <a:cs typeface="Times New Roman" pitchFamily="18" charset="0"/>
              </a:rPr>
              <a:t>[</a:t>
            </a:r>
            <a:r>
              <a:rPr lang="en-IN" b="1" dirty="0" smtClean="0">
                <a:latin typeface="Times New Roman" pitchFamily="18" charset="0"/>
                <a:cs typeface="Times New Roman" pitchFamily="18" charset="0"/>
              </a:rPr>
              <a:t>Note</a:t>
            </a:r>
            <a:r>
              <a:rPr lang="en-IN" dirty="0" smtClean="0">
                <a:latin typeface="Times New Roman" pitchFamily="18" charset="0"/>
                <a:cs typeface="Times New Roman" pitchFamily="18" charset="0"/>
              </a:rPr>
              <a:t>: Move A, X moves data from location X in the address space to accumulator. This data transfer operation is in between MM and CPU if the address X is used for MM. This data transfer operation is in between an input device and CPU if the address X is reserved for IO.] </a:t>
            </a:r>
            <a:endParaRPr lang="en-IN"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193" y="248194"/>
            <a:ext cx="11717383" cy="5355312"/>
          </a:xfrm>
          <a:prstGeom prst="rect">
            <a:avLst/>
          </a:prstGeom>
          <a:noFill/>
        </p:spPr>
        <p:txBody>
          <a:bodyPr wrap="square" rtlCol="0">
            <a:spAutoFit/>
          </a:bodyPr>
          <a:lstStyle/>
          <a:p>
            <a:r>
              <a:rPr lang="en-IN" u="sng" dirty="0" smtClean="0">
                <a:latin typeface="Times New Roman" pitchFamily="18" charset="0"/>
                <a:cs typeface="Times New Roman" pitchFamily="18" charset="0"/>
              </a:rPr>
              <a:t>IO-mapped IO</a:t>
            </a:r>
            <a:r>
              <a:rPr lang="en-IN" dirty="0" smtClean="0">
                <a:latin typeface="Times New Roman" pitchFamily="18" charset="0"/>
                <a:cs typeface="Times New Roman" pitchFamily="18" charset="0"/>
              </a:rPr>
              <a:t>: Fig 14 shows IO-mapped IO. </a:t>
            </a:r>
          </a:p>
          <a:p>
            <a:r>
              <a:rPr lang="en-IN" dirty="0" smtClean="0">
                <a:latin typeface="Times New Roman" pitchFamily="18" charset="0"/>
                <a:cs typeface="Times New Roman" pitchFamily="18" charset="0"/>
              </a:rPr>
              <a:t>Programmed IO with separate MM and IO address space. </a:t>
            </a:r>
          </a:p>
          <a:p>
            <a:r>
              <a:rPr lang="en-IN" dirty="0" smtClean="0">
                <a:latin typeface="Times New Roman" pitchFamily="18" charset="0"/>
                <a:cs typeface="Times New Roman" pitchFamily="18" charset="0"/>
              </a:rPr>
              <a:t>Seven IO ports are shown in Fig 14. </a:t>
            </a:r>
          </a:p>
          <a:p>
            <a:r>
              <a:rPr lang="en-IN" dirty="0" smtClean="0">
                <a:latin typeface="Times New Roman" pitchFamily="18" charset="0"/>
                <a:cs typeface="Times New Roman" pitchFamily="18" charset="0"/>
              </a:rPr>
              <a:t>IO-mapped IO has separate control signal for MM (written as </a:t>
            </a:r>
            <a:r>
              <a:rPr lang="en-IN" b="1" dirty="0" smtClean="0">
                <a:latin typeface="Times New Roman" pitchFamily="18" charset="0"/>
                <a:cs typeface="Times New Roman" pitchFamily="18" charset="0"/>
              </a:rPr>
              <a:t>Read M</a:t>
            </a:r>
            <a:r>
              <a:rPr lang="en-IN" dirty="0" smtClean="0">
                <a:latin typeface="Times New Roman" pitchFamily="18" charset="0"/>
                <a:cs typeface="Times New Roman" pitchFamily="18" charset="0"/>
              </a:rPr>
              <a:t> for read operation from MM and </a:t>
            </a:r>
            <a:r>
              <a:rPr lang="en-IN" b="1" dirty="0" smtClean="0">
                <a:latin typeface="Times New Roman" pitchFamily="18" charset="0"/>
                <a:cs typeface="Times New Roman" pitchFamily="18" charset="0"/>
              </a:rPr>
              <a:t>Write M</a:t>
            </a:r>
            <a:r>
              <a:rPr lang="en-IN" dirty="0" smtClean="0">
                <a:latin typeface="Times New Roman" pitchFamily="18" charset="0"/>
                <a:cs typeface="Times New Roman" pitchFamily="18" charset="0"/>
              </a:rPr>
              <a:t> for write operation into MM) and IO (written as </a:t>
            </a:r>
            <a:r>
              <a:rPr lang="en-IN" b="1" dirty="0" smtClean="0">
                <a:latin typeface="Times New Roman" pitchFamily="18" charset="0"/>
                <a:cs typeface="Times New Roman" pitchFamily="18" charset="0"/>
              </a:rPr>
              <a:t>Read IO</a:t>
            </a:r>
            <a:r>
              <a:rPr lang="en-IN" dirty="0" smtClean="0">
                <a:latin typeface="Times New Roman" pitchFamily="18" charset="0"/>
                <a:cs typeface="Times New Roman" pitchFamily="18" charset="0"/>
              </a:rPr>
              <a:t> for read operation from input device and </a:t>
            </a:r>
            <a:r>
              <a:rPr lang="en-IN" b="1" dirty="0" smtClean="0">
                <a:latin typeface="Times New Roman" pitchFamily="18" charset="0"/>
                <a:cs typeface="Times New Roman" pitchFamily="18" charset="0"/>
              </a:rPr>
              <a:t>Write IO</a:t>
            </a:r>
            <a:r>
              <a:rPr lang="en-IN" dirty="0" smtClean="0">
                <a:latin typeface="Times New Roman" pitchFamily="18" charset="0"/>
                <a:cs typeface="Times New Roman" pitchFamily="18" charset="0"/>
              </a:rPr>
              <a:t> for write operation into output device).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Suppose CPU generates an address X in the address bus and activates Read M then X is the address of a MM location and CPU wants to perform read operation from address X of MM. </a:t>
            </a:r>
          </a:p>
          <a:p>
            <a:r>
              <a:rPr lang="en-IN" dirty="0" smtClean="0">
                <a:latin typeface="Times New Roman" pitchFamily="18" charset="0"/>
                <a:cs typeface="Times New Roman" pitchFamily="18" charset="0"/>
              </a:rPr>
              <a:t>But if CPU generates an address X in the address bus and activates Write IO then X is the port address of an output device and CPU wants to perform write operation in an output device whose port address is X. </a:t>
            </a:r>
          </a:p>
          <a:p>
            <a:r>
              <a:rPr lang="en-IN" dirty="0" smtClean="0">
                <a:latin typeface="Times New Roman" pitchFamily="18" charset="0"/>
                <a:cs typeface="Times New Roman" pitchFamily="18" charset="0"/>
              </a:rPr>
              <a:t>Separate IO reference instructions activate Read IO/Write IO. [</a:t>
            </a:r>
            <a:r>
              <a:rPr lang="en-IN" b="1" dirty="0" smtClean="0">
                <a:latin typeface="Times New Roman" pitchFamily="18" charset="0"/>
                <a:cs typeface="Times New Roman" pitchFamily="18" charset="0"/>
              </a:rPr>
              <a:t>Note</a:t>
            </a:r>
            <a:r>
              <a:rPr lang="en-IN" dirty="0" smtClean="0">
                <a:latin typeface="Times New Roman" pitchFamily="18" charset="0"/>
                <a:cs typeface="Times New Roman" pitchFamily="18" charset="0"/>
              </a:rPr>
              <a:t>: For example, IN &lt;port address&gt; activates Read IO to transfer data from an input device whose address is equal to the port address as mentioned in the instruction to accumulator and OUT &lt;port address&gt; activates Write IO to transfer data from accumulator to an output device whose address is equal to the port address as mentioned in the instruction.] whereas the usual memory load/store instructions activate Read M/Write M. [</a:t>
            </a:r>
            <a:r>
              <a:rPr lang="en-IN" b="1" dirty="0" smtClean="0">
                <a:latin typeface="Times New Roman" pitchFamily="18" charset="0"/>
                <a:cs typeface="Times New Roman" pitchFamily="18" charset="0"/>
              </a:rPr>
              <a:t>Note</a:t>
            </a:r>
            <a:r>
              <a:rPr lang="en-IN" dirty="0" smtClean="0">
                <a:latin typeface="Times New Roman" pitchFamily="18" charset="0"/>
                <a:cs typeface="Times New Roman" pitchFamily="18" charset="0"/>
              </a:rPr>
              <a:t>: Move A, X activates Read M as it is a MM read operation from location X to A and Move X, A activates Write M as it is a MM write operation from A into location X.]</a:t>
            </a:r>
          </a:p>
          <a:p>
            <a:endParaRPr lang="en-IN" dirty="0" smtClean="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3" y="169817"/>
            <a:ext cx="11808823" cy="4801314"/>
          </a:xfrm>
          <a:prstGeom prst="rect">
            <a:avLst/>
          </a:prstGeom>
          <a:noFill/>
        </p:spPr>
        <p:txBody>
          <a:bodyPr wrap="square" rtlCol="0">
            <a:spAutoFit/>
          </a:bodyPr>
          <a:lstStyle/>
          <a:p>
            <a:r>
              <a:rPr lang="en-IN" u="sng" dirty="0" smtClean="0">
                <a:latin typeface="Times New Roman" pitchFamily="18" charset="0"/>
                <a:cs typeface="Times New Roman" pitchFamily="18" charset="0"/>
              </a:rPr>
              <a:t>Disadvantage of programmed IO</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Data transfer between MM and IO devices is under the control of CPU as CPU has to execute data transfer instructions like Move, IN, OUT. </a:t>
            </a:r>
          </a:p>
          <a:p>
            <a:r>
              <a:rPr lang="en-IN" dirty="0" smtClean="0">
                <a:latin typeface="Times New Roman" pitchFamily="18" charset="0"/>
                <a:cs typeface="Times New Roman" pitchFamily="18" charset="0"/>
              </a:rPr>
              <a:t>Let the size of accumulator (CPU register A) is 8-bit. So only 8-bit data can be transferred at a time. For example, the execution of the instruction IN &lt;port address&gt; transfers 8-bit data from an input device to accumulator as the size of accumulator is 8-bit. So to transfer N-byte of data from input device to MM through accumulator, CPU has to execute two instructions (one instruction to transfer data from input device to accumulator and another instruction to transfer the same data from accumulator to MM) N times. </a:t>
            </a:r>
          </a:p>
          <a:p>
            <a:r>
              <a:rPr lang="en-IN" dirty="0" smtClean="0">
                <a:latin typeface="Times New Roman" pitchFamily="18" charset="0"/>
                <a:cs typeface="Times New Roman" pitchFamily="18" charset="0"/>
              </a:rPr>
              <a:t>CPU remains busy for data transfer operation instead of executing the normal program. </a:t>
            </a:r>
          </a:p>
          <a:p>
            <a:r>
              <a:rPr lang="en-IN" dirty="0" smtClean="0">
                <a:latin typeface="Times New Roman" pitchFamily="18" charset="0"/>
                <a:cs typeface="Times New Roman" pitchFamily="18" charset="0"/>
              </a:rPr>
              <a:t>Moreover, CPU has to determine the IO status i.e. to identify the IO device that is ready for data transfer operation.</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Solutions of the difficulties of programmed IO</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Interrupt driven data transfer and direct memory access (DMA) are the two other methods of data transfer between MM and IO device to solve the difficulties of programmed IO. </a:t>
            </a:r>
          </a:p>
          <a:p>
            <a:r>
              <a:rPr lang="en-IN" dirty="0" smtClean="0">
                <a:latin typeface="Times New Roman" pitchFamily="18" charset="0"/>
                <a:cs typeface="Times New Roman" pitchFamily="18" charset="0"/>
              </a:rPr>
              <a:t>Fig 15 shows one instruction cycle which is divided into 5 CPU cycles. Several CPU cycles use system bus during the execution of an instruction. One interrupt break point is shown at the end of the instruction cycle whereas one DMA breakpoint is shown at the end of each CPU cycle. </a:t>
            </a:r>
            <a:endParaRPr lang="en-IN" dirty="0"/>
          </a:p>
        </p:txBody>
      </p:sp>
      <p:cxnSp>
        <p:nvCxnSpPr>
          <p:cNvPr id="4" name="Straight Connector 3"/>
          <p:cNvCxnSpPr/>
          <p:nvPr/>
        </p:nvCxnSpPr>
        <p:spPr>
          <a:xfrm flipV="1">
            <a:off x="561704" y="5656217"/>
            <a:ext cx="7341325" cy="6531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130628" y="5760719"/>
            <a:ext cx="888274"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a:off x="1510937" y="5743301"/>
            <a:ext cx="888274"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126377" y="5725885"/>
            <a:ext cx="888274"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4754879" y="5747657"/>
            <a:ext cx="888274"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6213565" y="5717176"/>
            <a:ext cx="888274"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7476309" y="5725885"/>
            <a:ext cx="888274" cy="26126"/>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043645" y="4990011"/>
            <a:ext cx="1606732" cy="338554"/>
          </a:xfrm>
          <a:prstGeom prst="rect">
            <a:avLst/>
          </a:prstGeom>
          <a:noFill/>
        </p:spPr>
        <p:txBody>
          <a:bodyPr wrap="square" rtlCol="0">
            <a:spAutoFit/>
          </a:bodyPr>
          <a:lstStyle/>
          <a:p>
            <a:r>
              <a:rPr lang="en-IN" sz="1600" dirty="0" smtClean="0">
                <a:latin typeface="Times New Roman" pitchFamily="18" charset="0"/>
                <a:cs typeface="Times New Roman" pitchFamily="18" charset="0"/>
              </a:rPr>
              <a:t>Instruction cycle </a:t>
            </a:r>
            <a:endParaRPr lang="en-IN" sz="1600" dirty="0">
              <a:latin typeface="Times New Roman" pitchFamily="18" charset="0"/>
              <a:cs typeface="Times New Roman" pitchFamily="18" charset="0"/>
            </a:endParaRPr>
          </a:p>
        </p:txBody>
      </p:sp>
      <p:sp>
        <p:nvSpPr>
          <p:cNvPr id="15" name="TextBox 14"/>
          <p:cNvSpPr txBox="1"/>
          <p:nvPr/>
        </p:nvSpPr>
        <p:spPr>
          <a:xfrm>
            <a:off x="609598" y="5325290"/>
            <a:ext cx="1101635" cy="338554"/>
          </a:xfrm>
          <a:prstGeom prst="rect">
            <a:avLst/>
          </a:prstGeom>
          <a:noFill/>
        </p:spPr>
        <p:txBody>
          <a:bodyPr wrap="square" rtlCol="0">
            <a:spAutoFit/>
          </a:bodyPr>
          <a:lstStyle/>
          <a:p>
            <a:r>
              <a:rPr lang="en-IN" sz="1600" dirty="0" smtClean="0">
                <a:latin typeface="Times New Roman" pitchFamily="18" charset="0"/>
                <a:cs typeface="Times New Roman" pitchFamily="18" charset="0"/>
              </a:rPr>
              <a:t>CPU cycle </a:t>
            </a:r>
            <a:endParaRPr lang="en-IN" sz="1600" dirty="0">
              <a:latin typeface="Times New Roman" pitchFamily="18" charset="0"/>
              <a:cs typeface="Times New Roman" pitchFamily="18" charset="0"/>
            </a:endParaRPr>
          </a:p>
        </p:txBody>
      </p:sp>
      <p:sp>
        <p:nvSpPr>
          <p:cNvPr id="16" name="TextBox 15"/>
          <p:cNvSpPr txBox="1"/>
          <p:nvPr/>
        </p:nvSpPr>
        <p:spPr>
          <a:xfrm>
            <a:off x="670560" y="5660571"/>
            <a:ext cx="1101635" cy="584775"/>
          </a:xfrm>
          <a:prstGeom prst="rect">
            <a:avLst/>
          </a:prstGeom>
          <a:noFill/>
        </p:spPr>
        <p:txBody>
          <a:bodyPr wrap="square" rtlCol="0">
            <a:spAutoFit/>
          </a:bodyPr>
          <a:lstStyle/>
          <a:p>
            <a:r>
              <a:rPr lang="en-IN" sz="1600" dirty="0" smtClean="0">
                <a:latin typeface="Times New Roman" pitchFamily="18" charset="0"/>
                <a:cs typeface="Times New Roman" pitchFamily="18" charset="0"/>
              </a:rPr>
              <a:t>Fetch instruction </a:t>
            </a:r>
            <a:endParaRPr lang="en-IN" sz="1600" dirty="0">
              <a:latin typeface="Times New Roman" pitchFamily="18" charset="0"/>
              <a:cs typeface="Times New Roman" pitchFamily="18" charset="0"/>
            </a:endParaRPr>
          </a:p>
        </p:txBody>
      </p:sp>
      <p:sp>
        <p:nvSpPr>
          <p:cNvPr id="17" name="TextBox 16"/>
          <p:cNvSpPr txBox="1"/>
          <p:nvPr/>
        </p:nvSpPr>
        <p:spPr>
          <a:xfrm>
            <a:off x="2076994" y="5656216"/>
            <a:ext cx="1101635" cy="584775"/>
          </a:xfrm>
          <a:prstGeom prst="rect">
            <a:avLst/>
          </a:prstGeom>
          <a:noFill/>
        </p:spPr>
        <p:txBody>
          <a:bodyPr wrap="square" rtlCol="0">
            <a:spAutoFit/>
          </a:bodyPr>
          <a:lstStyle/>
          <a:p>
            <a:r>
              <a:rPr lang="en-IN" sz="1600" dirty="0" smtClean="0">
                <a:latin typeface="Times New Roman" pitchFamily="18" charset="0"/>
                <a:cs typeface="Times New Roman" pitchFamily="18" charset="0"/>
              </a:rPr>
              <a:t>Decode</a:t>
            </a:r>
          </a:p>
          <a:p>
            <a:r>
              <a:rPr lang="en-IN" sz="1600" dirty="0" smtClean="0">
                <a:latin typeface="Times New Roman" pitchFamily="18" charset="0"/>
                <a:cs typeface="Times New Roman" pitchFamily="18" charset="0"/>
              </a:rPr>
              <a:t>instruction</a:t>
            </a:r>
            <a:endParaRPr lang="en-IN" sz="1600" dirty="0">
              <a:latin typeface="Times New Roman" pitchFamily="18" charset="0"/>
              <a:cs typeface="Times New Roman" pitchFamily="18" charset="0"/>
            </a:endParaRPr>
          </a:p>
        </p:txBody>
      </p:sp>
      <p:sp>
        <p:nvSpPr>
          <p:cNvPr id="18" name="TextBox 17"/>
          <p:cNvSpPr txBox="1"/>
          <p:nvPr/>
        </p:nvSpPr>
        <p:spPr>
          <a:xfrm>
            <a:off x="3918858" y="5656215"/>
            <a:ext cx="849086" cy="584775"/>
          </a:xfrm>
          <a:prstGeom prst="rect">
            <a:avLst/>
          </a:prstGeom>
          <a:noFill/>
        </p:spPr>
        <p:txBody>
          <a:bodyPr wrap="square" rtlCol="0">
            <a:spAutoFit/>
          </a:bodyPr>
          <a:lstStyle/>
          <a:p>
            <a:r>
              <a:rPr lang="en-IN" sz="1600" dirty="0" smtClean="0">
                <a:latin typeface="Times New Roman" pitchFamily="18" charset="0"/>
                <a:cs typeface="Times New Roman" pitchFamily="18" charset="0"/>
              </a:rPr>
              <a:t>Fetch operand</a:t>
            </a:r>
            <a:endParaRPr lang="en-IN" sz="1600" dirty="0">
              <a:latin typeface="Times New Roman" pitchFamily="18" charset="0"/>
              <a:cs typeface="Times New Roman" pitchFamily="18" charset="0"/>
            </a:endParaRPr>
          </a:p>
        </p:txBody>
      </p:sp>
      <p:sp>
        <p:nvSpPr>
          <p:cNvPr id="19" name="TextBox 18"/>
          <p:cNvSpPr txBox="1"/>
          <p:nvPr/>
        </p:nvSpPr>
        <p:spPr>
          <a:xfrm>
            <a:off x="5499462" y="5695403"/>
            <a:ext cx="1101635" cy="584775"/>
          </a:xfrm>
          <a:prstGeom prst="rect">
            <a:avLst/>
          </a:prstGeom>
          <a:noFill/>
        </p:spPr>
        <p:txBody>
          <a:bodyPr wrap="square" rtlCol="0">
            <a:spAutoFit/>
          </a:bodyPr>
          <a:lstStyle/>
          <a:p>
            <a:r>
              <a:rPr lang="en-IN" sz="1600" dirty="0" smtClean="0">
                <a:latin typeface="Times New Roman" pitchFamily="18" charset="0"/>
                <a:cs typeface="Times New Roman" pitchFamily="18" charset="0"/>
              </a:rPr>
              <a:t>Execute</a:t>
            </a:r>
          </a:p>
          <a:p>
            <a:r>
              <a:rPr lang="en-IN" sz="1600" dirty="0" smtClean="0">
                <a:latin typeface="Times New Roman" pitchFamily="18" charset="0"/>
                <a:cs typeface="Times New Roman" pitchFamily="18" charset="0"/>
              </a:rPr>
              <a:t>instruction</a:t>
            </a:r>
            <a:endParaRPr lang="en-IN" sz="1600" dirty="0">
              <a:latin typeface="Times New Roman" pitchFamily="18" charset="0"/>
              <a:cs typeface="Times New Roman" pitchFamily="18" charset="0"/>
            </a:endParaRPr>
          </a:p>
        </p:txBody>
      </p:sp>
      <p:sp>
        <p:nvSpPr>
          <p:cNvPr id="20" name="TextBox 19"/>
          <p:cNvSpPr txBox="1"/>
          <p:nvPr/>
        </p:nvSpPr>
        <p:spPr>
          <a:xfrm>
            <a:off x="6844938" y="5643153"/>
            <a:ext cx="666206" cy="584775"/>
          </a:xfrm>
          <a:prstGeom prst="rect">
            <a:avLst/>
          </a:prstGeom>
          <a:noFill/>
        </p:spPr>
        <p:txBody>
          <a:bodyPr wrap="square" rtlCol="0">
            <a:spAutoFit/>
          </a:bodyPr>
          <a:lstStyle/>
          <a:p>
            <a:r>
              <a:rPr lang="en-IN" sz="1600" dirty="0" smtClean="0">
                <a:latin typeface="Times New Roman" pitchFamily="18" charset="0"/>
                <a:cs typeface="Times New Roman" pitchFamily="18" charset="0"/>
              </a:rPr>
              <a:t>Store result</a:t>
            </a:r>
            <a:endParaRPr lang="en-IN" sz="1600" dirty="0">
              <a:latin typeface="Times New Roman" pitchFamily="18" charset="0"/>
              <a:cs typeface="Times New Roman" pitchFamily="18" charset="0"/>
            </a:endParaRPr>
          </a:p>
        </p:txBody>
      </p:sp>
      <p:cxnSp>
        <p:nvCxnSpPr>
          <p:cNvPr id="24" name="Straight Arrow Connector 23"/>
          <p:cNvCxnSpPr/>
          <p:nvPr/>
        </p:nvCxnSpPr>
        <p:spPr>
          <a:xfrm rot="10800000">
            <a:off x="535578" y="5643154"/>
            <a:ext cx="222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554480" y="5643154"/>
            <a:ext cx="41801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4" idx="1"/>
          </p:cNvCxnSpPr>
          <p:nvPr/>
        </p:nvCxnSpPr>
        <p:spPr>
          <a:xfrm rot="10800000">
            <a:off x="600891" y="5146766"/>
            <a:ext cx="2442754" cy="125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p:cNvCxnSpPr>
          <p:nvPr/>
        </p:nvCxnSpPr>
        <p:spPr>
          <a:xfrm>
            <a:off x="4650377" y="5159288"/>
            <a:ext cx="3265714" cy="5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782389" y="6339839"/>
            <a:ext cx="1737360" cy="338554"/>
          </a:xfrm>
          <a:prstGeom prst="rect">
            <a:avLst/>
          </a:prstGeom>
          <a:noFill/>
        </p:spPr>
        <p:txBody>
          <a:bodyPr wrap="square" rtlCol="0">
            <a:spAutoFit/>
          </a:bodyPr>
          <a:lstStyle/>
          <a:p>
            <a:r>
              <a:rPr lang="en-IN" sz="1600" dirty="0" smtClean="0">
                <a:latin typeface="Times New Roman" pitchFamily="18" charset="0"/>
                <a:cs typeface="Times New Roman" pitchFamily="18" charset="0"/>
              </a:rPr>
              <a:t>DMA breakpoints </a:t>
            </a:r>
            <a:endParaRPr lang="en-IN" sz="1600" dirty="0">
              <a:latin typeface="Times New Roman" pitchFamily="18" charset="0"/>
              <a:cs typeface="Times New Roman" pitchFamily="18" charset="0"/>
            </a:endParaRPr>
          </a:p>
        </p:txBody>
      </p:sp>
      <p:sp>
        <p:nvSpPr>
          <p:cNvPr id="33" name="TextBox 32"/>
          <p:cNvSpPr txBox="1"/>
          <p:nvPr/>
        </p:nvSpPr>
        <p:spPr>
          <a:xfrm>
            <a:off x="7289075" y="6351602"/>
            <a:ext cx="1972492" cy="338554"/>
          </a:xfrm>
          <a:prstGeom prst="rect">
            <a:avLst/>
          </a:prstGeom>
          <a:noFill/>
        </p:spPr>
        <p:txBody>
          <a:bodyPr wrap="square" rtlCol="0">
            <a:spAutoFit/>
          </a:bodyPr>
          <a:lstStyle/>
          <a:p>
            <a:r>
              <a:rPr lang="en-IN" sz="1600" dirty="0" smtClean="0">
                <a:latin typeface="Times New Roman" pitchFamily="18" charset="0"/>
                <a:cs typeface="Times New Roman" pitchFamily="18" charset="0"/>
              </a:rPr>
              <a:t>Interrupt breakpoints</a:t>
            </a:r>
            <a:endParaRPr lang="en-IN" sz="1600" dirty="0">
              <a:latin typeface="Times New Roman" pitchFamily="18" charset="0"/>
              <a:cs typeface="Times New Roman" pitchFamily="18" charset="0"/>
            </a:endParaRPr>
          </a:p>
        </p:txBody>
      </p:sp>
      <p:cxnSp>
        <p:nvCxnSpPr>
          <p:cNvPr id="35" name="Straight Arrow Connector 34"/>
          <p:cNvCxnSpPr/>
          <p:nvPr/>
        </p:nvCxnSpPr>
        <p:spPr>
          <a:xfrm rot="5400000" flipH="1" flipV="1">
            <a:off x="7752806" y="6328954"/>
            <a:ext cx="27432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2" idx="1"/>
          </p:cNvCxnSpPr>
          <p:nvPr/>
        </p:nvCxnSpPr>
        <p:spPr>
          <a:xfrm rot="10800000">
            <a:off x="1946367" y="6283234"/>
            <a:ext cx="836023" cy="2258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flipH="1" flipV="1">
            <a:off x="3304903" y="6283235"/>
            <a:ext cx="378823" cy="391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3722914" y="6087291"/>
            <a:ext cx="1463040" cy="4441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4232366" y="6139543"/>
            <a:ext cx="2390503" cy="365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4362994" y="6074229"/>
            <a:ext cx="3566160" cy="5617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098971" y="4820194"/>
            <a:ext cx="3435532" cy="646331"/>
          </a:xfrm>
          <a:prstGeom prst="rect">
            <a:avLst/>
          </a:prstGeom>
          <a:noFill/>
        </p:spPr>
        <p:txBody>
          <a:bodyPr wrap="square" rtlCol="0">
            <a:spAutoFit/>
          </a:bodyPr>
          <a:lstStyle/>
          <a:p>
            <a:r>
              <a:rPr lang="en-IN" dirty="0" smtClean="0">
                <a:latin typeface="Times New Roman" pitchFamily="18" charset="0"/>
                <a:cs typeface="Times New Roman" pitchFamily="18" charset="0"/>
              </a:rPr>
              <a:t>CPU responds to interrupt only between instruction cycles</a:t>
            </a:r>
            <a:endParaRPr lang="en-IN"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3" y="182880"/>
            <a:ext cx="11782697" cy="4524315"/>
          </a:xfrm>
          <a:prstGeom prst="rect">
            <a:avLst/>
          </a:prstGeom>
          <a:noFill/>
        </p:spPr>
        <p:txBody>
          <a:bodyPr wrap="square" rtlCol="0">
            <a:spAutoFit/>
          </a:bodyPr>
          <a:lstStyle/>
          <a:p>
            <a:r>
              <a:rPr lang="en-IN" dirty="0" smtClean="0">
                <a:latin typeface="Times New Roman" pitchFamily="18" charset="0"/>
                <a:cs typeface="Times New Roman" pitchFamily="18" charset="0"/>
              </a:rPr>
              <a:t> </a:t>
            </a:r>
            <a:r>
              <a:rPr lang="en-IN" u="sng" dirty="0" smtClean="0">
                <a:latin typeface="Times New Roman" pitchFamily="18" charset="0"/>
                <a:cs typeface="Times New Roman" pitchFamily="18" charset="0"/>
              </a:rPr>
              <a:t>Interrupt driven data transfer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IO device sends a signal called interrupt request to the CPU after becoming ready for data transfer operation. </a:t>
            </a:r>
          </a:p>
          <a:p>
            <a:r>
              <a:rPr lang="en-IN" dirty="0" smtClean="0">
                <a:latin typeface="Times New Roman" pitchFamily="18" charset="0"/>
                <a:cs typeface="Times New Roman" pitchFamily="18" charset="0"/>
              </a:rPr>
              <a:t>Interrupt request line of CPU becomes active. </a:t>
            </a:r>
          </a:p>
          <a:p>
            <a:r>
              <a:rPr lang="en-IN" dirty="0" smtClean="0">
                <a:latin typeface="Times New Roman" pitchFamily="18" charset="0"/>
                <a:cs typeface="Times New Roman" pitchFamily="18" charset="0"/>
              </a:rPr>
              <a:t>Suppose CPU receives this interrupt request during the execution of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instruction in the main program. </a:t>
            </a:r>
          </a:p>
          <a:p>
            <a:r>
              <a:rPr lang="en-IN" dirty="0" smtClean="0">
                <a:latin typeface="Times New Roman" pitchFamily="18" charset="0"/>
                <a:cs typeface="Times New Roman" pitchFamily="18" charset="0"/>
              </a:rPr>
              <a:t>Program counter (PC) contains the address of (i+1)</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instruction. </a:t>
            </a:r>
          </a:p>
          <a:p>
            <a:r>
              <a:rPr lang="en-IN" dirty="0" smtClean="0">
                <a:latin typeface="Times New Roman" pitchFamily="18" charset="0"/>
                <a:cs typeface="Times New Roman" pitchFamily="18" charset="0"/>
              </a:rPr>
              <a:t>CPU completes the execution of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instruction  as interrupt breakpoint is at the end of an instruction cycle as shown in Fig 15 , stores the content of PC in </a:t>
            </a:r>
            <a:r>
              <a:rPr lang="en-IN" b="1" dirty="0" smtClean="0">
                <a:latin typeface="Times New Roman" pitchFamily="18" charset="0"/>
                <a:cs typeface="Times New Roman" pitchFamily="18" charset="0"/>
              </a:rPr>
              <a:t>temporary storage </a:t>
            </a:r>
            <a:r>
              <a:rPr lang="en-IN" dirty="0" smtClean="0">
                <a:latin typeface="Times New Roman" pitchFamily="18" charset="0"/>
                <a:cs typeface="Times New Roman" pitchFamily="18" charset="0"/>
              </a:rPr>
              <a:t>to resume the execution of main program from (i+1)</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instruction, saves other CPU status [</a:t>
            </a:r>
            <a:r>
              <a:rPr lang="en-IN" b="1" dirty="0" smtClean="0">
                <a:latin typeface="Times New Roman" pitchFamily="18" charset="0"/>
                <a:cs typeface="Times New Roman" pitchFamily="18" charset="0"/>
              </a:rPr>
              <a:t>Note</a:t>
            </a:r>
            <a:r>
              <a:rPr lang="en-IN" dirty="0" smtClean="0">
                <a:latin typeface="Times New Roman" pitchFamily="18" charset="0"/>
                <a:cs typeface="Times New Roman" pitchFamily="18" charset="0"/>
              </a:rPr>
              <a:t>: the condition of various flags like carry flag, sign flag, zero flag etc. is an example of such CPU status, whether set or reset after the execution of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instruction], sends interrupt acknowledgement to the interrupted device to deactivate the interrupt request line. </a:t>
            </a:r>
          </a:p>
          <a:p>
            <a:r>
              <a:rPr lang="en-IN" dirty="0" smtClean="0">
                <a:latin typeface="Times New Roman" pitchFamily="18" charset="0"/>
                <a:cs typeface="Times New Roman" pitchFamily="18" charset="0"/>
              </a:rPr>
              <a:t>Deactivation of interrupt request line helps CPU to become ready for receiving the next interrupt request from the other IO devices. </a:t>
            </a:r>
          </a:p>
          <a:p>
            <a:r>
              <a:rPr lang="en-IN" dirty="0" smtClean="0">
                <a:latin typeface="Times New Roman" pitchFamily="18" charset="0"/>
                <a:cs typeface="Times New Roman" pitchFamily="18" charset="0"/>
              </a:rPr>
              <a:t>CPU loads PC by the staring address of the interrupt service routine (ISR) and starts to execute ISR for data transfer operation between MM and IO device</a:t>
            </a:r>
          </a:p>
          <a:p>
            <a:r>
              <a:rPr lang="en-IN" dirty="0" smtClean="0">
                <a:latin typeface="Times New Roman" pitchFamily="18" charset="0"/>
                <a:cs typeface="Times New Roman" pitchFamily="18" charset="0"/>
              </a:rPr>
              <a:t>CPU resumes the execution of main program from instruction (i+1) when return instruction is encountered in ISR. </a:t>
            </a:r>
          </a:p>
          <a:p>
            <a:r>
              <a:rPr lang="en-IN" dirty="0" smtClean="0">
                <a:latin typeface="Times New Roman" pitchFamily="18" charset="0"/>
                <a:cs typeface="Times New Roman" pitchFamily="18" charset="0"/>
              </a:rPr>
              <a:t>Return instruction loads PC by the address of the (i+1)</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instruction from the </a:t>
            </a:r>
            <a:r>
              <a:rPr lang="en-IN" b="1" dirty="0" smtClean="0">
                <a:latin typeface="Times New Roman" pitchFamily="18" charset="0"/>
                <a:cs typeface="Times New Roman" pitchFamily="18" charset="0"/>
              </a:rPr>
              <a:t>temporary storage</a:t>
            </a:r>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383" y="365760"/>
            <a:ext cx="11599817" cy="369332"/>
          </a:xfrm>
          <a:prstGeom prst="rect">
            <a:avLst/>
          </a:prstGeom>
          <a:noFill/>
        </p:spPr>
        <p:txBody>
          <a:bodyPr wrap="square" rtlCol="0">
            <a:spAutoFit/>
          </a:bodyPr>
          <a:lstStyle/>
          <a:p>
            <a:endParaRPr lang="en-IN" dirty="0"/>
          </a:p>
        </p:txBody>
      </p:sp>
      <p:graphicFrame>
        <p:nvGraphicFramePr>
          <p:cNvPr id="3" name="Table 2"/>
          <p:cNvGraphicFramePr>
            <a:graphicFrameLocks noGrp="1"/>
          </p:cNvGraphicFramePr>
          <p:nvPr/>
        </p:nvGraphicFramePr>
        <p:xfrm>
          <a:off x="195944" y="554331"/>
          <a:ext cx="5055326" cy="2054479"/>
        </p:xfrm>
        <a:graphic>
          <a:graphicData uri="http://schemas.openxmlformats.org/drawingml/2006/table">
            <a:tbl>
              <a:tblPr/>
              <a:tblGrid>
                <a:gridCol w="1724296"/>
                <a:gridCol w="1802674"/>
                <a:gridCol w="1528356"/>
              </a:tblGrid>
              <a:tr h="0">
                <a:tc gridSpan="2">
                  <a:txBody>
                    <a:bodyPr/>
                    <a:lstStyle/>
                    <a:p>
                      <a:pPr algn="ctr">
                        <a:lnSpc>
                          <a:spcPct val="107000"/>
                        </a:lnSpc>
                        <a:spcAft>
                          <a:spcPts val="0"/>
                        </a:spcAft>
                      </a:pPr>
                      <a:r>
                        <a:rPr lang="en-IN" sz="1800" dirty="0">
                          <a:latin typeface="Times New Roman"/>
                          <a:ea typeface="Calibri"/>
                          <a:cs typeface="Times New Roman"/>
                        </a:rPr>
                        <a:t>In case of subroutine</a:t>
                      </a:r>
                      <a:endParaRPr lang="en-IN"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a:txBody>
                    <a:bodyPr/>
                    <a:lstStyle/>
                    <a:p>
                      <a:pPr algn="ctr">
                        <a:lnSpc>
                          <a:spcPct val="107000"/>
                        </a:lnSpc>
                        <a:spcAft>
                          <a:spcPts val="0"/>
                        </a:spcAft>
                      </a:pPr>
                      <a:r>
                        <a:rPr lang="en-IN" sz="1800">
                          <a:latin typeface="Times New Roman"/>
                          <a:ea typeface="Calibri"/>
                          <a:cs typeface="Times New Roman"/>
                        </a:rPr>
                        <a:t>In case of ISR</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IN" sz="1800">
                          <a:latin typeface="Times New Roman"/>
                          <a:ea typeface="Calibri"/>
                          <a:cs typeface="Times New Roman"/>
                        </a:rPr>
                        <a:t>Main program</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IN" sz="1800">
                          <a:latin typeface="Times New Roman"/>
                          <a:ea typeface="Calibri"/>
                          <a:cs typeface="Times New Roman"/>
                        </a:rPr>
                        <a:t>FUNC subroutine</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IN" sz="1800">
                          <a:latin typeface="Times New Roman"/>
                          <a:ea typeface="Calibri"/>
                          <a:cs typeface="Times New Roman"/>
                        </a:rPr>
                        <a:t>Main program</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IN" sz="1800" dirty="0">
                          <a:latin typeface="Times New Roman"/>
                          <a:ea typeface="Calibri"/>
                          <a:cs typeface="Times New Roman"/>
                        </a:rPr>
                        <a:t>I1</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I2</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I3    Call FUNC</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I4</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I5</a:t>
                      </a:r>
                      <a:endParaRPr lang="en-IN"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IN" sz="1800" dirty="0">
                          <a:latin typeface="Times New Roman"/>
                          <a:ea typeface="Calibri"/>
                          <a:cs typeface="Times New Roman"/>
                        </a:rPr>
                        <a:t>I6</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I7</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I8</a:t>
                      </a:r>
                      <a:endParaRPr lang="en-IN"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IN" sz="1800" dirty="0">
                          <a:latin typeface="Times New Roman"/>
                          <a:ea typeface="Calibri"/>
                          <a:cs typeface="Times New Roman"/>
                        </a:rPr>
                        <a:t>I1</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I2</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I3</a:t>
                      </a:r>
                      <a:endParaRPr lang="en-IN" sz="1800" dirty="0">
                        <a:latin typeface="Calibri"/>
                        <a:ea typeface="Calibri"/>
                        <a:cs typeface="Times New Roman"/>
                      </a:endParaRPr>
                    </a:p>
                    <a:p>
                      <a:pPr algn="ctr">
                        <a:lnSpc>
                          <a:spcPct val="107000"/>
                        </a:lnSpc>
                        <a:spcAft>
                          <a:spcPts val="0"/>
                        </a:spcAft>
                      </a:pPr>
                      <a:r>
                        <a:rPr lang="en-IN" sz="1800" dirty="0">
                          <a:latin typeface="Times New Roman"/>
                          <a:ea typeface="Calibri"/>
                          <a:cs typeface="Times New Roman"/>
                        </a:rPr>
                        <a:t>I4</a:t>
                      </a:r>
                      <a:endParaRPr lang="en-IN"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TextBox 3"/>
          <p:cNvSpPr txBox="1"/>
          <p:nvPr/>
        </p:nvSpPr>
        <p:spPr>
          <a:xfrm>
            <a:off x="156754" y="169817"/>
            <a:ext cx="4376057" cy="369332"/>
          </a:xfrm>
          <a:prstGeom prst="rect">
            <a:avLst/>
          </a:prstGeom>
          <a:noFill/>
        </p:spPr>
        <p:txBody>
          <a:bodyPr wrap="square" rtlCol="0">
            <a:spAutoFit/>
          </a:bodyPr>
          <a:lstStyle/>
          <a:p>
            <a:r>
              <a:rPr lang="en-IN" dirty="0" smtClean="0">
                <a:latin typeface="Times New Roman" pitchFamily="18" charset="0"/>
                <a:cs typeface="Times New Roman" pitchFamily="18" charset="0"/>
              </a:rPr>
              <a:t>Difference between subroutine  call and ISR:</a:t>
            </a:r>
            <a:endParaRPr lang="en-IN" dirty="0">
              <a:latin typeface="Times New Roman" pitchFamily="18" charset="0"/>
              <a:cs typeface="Times New Roman" pitchFamily="18" charset="0"/>
            </a:endParaRPr>
          </a:p>
        </p:txBody>
      </p:sp>
      <p:sp>
        <p:nvSpPr>
          <p:cNvPr id="5" name="TextBox 4"/>
          <p:cNvSpPr txBox="1"/>
          <p:nvPr/>
        </p:nvSpPr>
        <p:spPr>
          <a:xfrm>
            <a:off x="222070" y="2677886"/>
            <a:ext cx="5486399" cy="3970318"/>
          </a:xfrm>
          <a:prstGeom prst="rect">
            <a:avLst/>
          </a:prstGeom>
          <a:noFill/>
        </p:spPr>
        <p:txBody>
          <a:bodyPr wrap="square" rtlCol="0">
            <a:spAutoFit/>
          </a:bodyPr>
          <a:lstStyle/>
          <a:p>
            <a:r>
              <a:rPr lang="en-IN" u="sng" dirty="0" smtClean="0">
                <a:latin typeface="Times New Roman" pitchFamily="18" charset="0"/>
                <a:cs typeface="Times New Roman" pitchFamily="18" charset="0"/>
              </a:rPr>
              <a:t>Subroutine call</a:t>
            </a:r>
            <a:r>
              <a:rPr lang="en-IN" dirty="0" smtClean="0">
                <a:latin typeface="Times New Roman" pitchFamily="18" charset="0"/>
                <a:cs typeface="Times New Roman" pitchFamily="18" charset="0"/>
              </a:rPr>
              <a:t>: I1, I2, I3, I4, I5 are the instructions in the main program. </a:t>
            </a:r>
          </a:p>
          <a:p>
            <a:r>
              <a:rPr lang="en-IN" dirty="0" smtClean="0">
                <a:latin typeface="Times New Roman" pitchFamily="18" charset="0"/>
                <a:cs typeface="Times New Roman" pitchFamily="18" charset="0"/>
              </a:rPr>
              <a:t>I3 is calling a subroutine called FUNC. </a:t>
            </a:r>
          </a:p>
          <a:p>
            <a:r>
              <a:rPr lang="en-IN" dirty="0" smtClean="0">
                <a:latin typeface="Times New Roman" pitchFamily="18" charset="0"/>
                <a:cs typeface="Times New Roman" pitchFamily="18" charset="0"/>
              </a:rPr>
              <a:t>I6, I7, I8 are the instructions in the subroutine FUNC. Suppose FUNC is written by the programmer to find the square root of X. Call FUNC instruction in the main program sends the value of X to FUNC, FUNC computes square root of X and returns the result of computation to the main program. </a:t>
            </a:r>
          </a:p>
          <a:p>
            <a:r>
              <a:rPr lang="en-IN" dirty="0" smtClean="0">
                <a:latin typeface="Times New Roman" pitchFamily="18" charset="0"/>
                <a:cs typeface="Times New Roman" pitchFamily="18" charset="0"/>
              </a:rPr>
              <a:t>After this the instructions I4 and I5 in the main program are executed. </a:t>
            </a:r>
          </a:p>
          <a:p>
            <a:r>
              <a:rPr lang="en-IN" dirty="0" smtClean="0">
                <a:latin typeface="Times New Roman" pitchFamily="18" charset="0"/>
                <a:cs typeface="Times New Roman" pitchFamily="18" charset="0"/>
              </a:rPr>
              <a:t>So the subroutine FUNC is used by the main program to calculate square root of X, main program sends X to the FUNC and FUNC is written by the programmer.</a:t>
            </a:r>
            <a:endParaRPr lang="en-IN" dirty="0">
              <a:latin typeface="Times New Roman" pitchFamily="18" charset="0"/>
              <a:cs typeface="Times New Roman" pitchFamily="18" charset="0"/>
            </a:endParaRPr>
          </a:p>
        </p:txBody>
      </p:sp>
      <p:sp>
        <p:nvSpPr>
          <p:cNvPr id="6" name="TextBox 5"/>
          <p:cNvSpPr txBox="1"/>
          <p:nvPr/>
        </p:nvSpPr>
        <p:spPr>
          <a:xfrm>
            <a:off x="5760720" y="169817"/>
            <a:ext cx="6270171" cy="4247317"/>
          </a:xfrm>
          <a:prstGeom prst="rect">
            <a:avLst/>
          </a:prstGeom>
          <a:noFill/>
        </p:spPr>
        <p:txBody>
          <a:bodyPr wrap="square" rtlCol="0">
            <a:spAutoFit/>
          </a:bodyPr>
          <a:lstStyle/>
          <a:p>
            <a:r>
              <a:rPr lang="en-IN" u="sng" dirty="0" smtClean="0">
                <a:latin typeface="Times New Roman" pitchFamily="18" charset="0"/>
                <a:cs typeface="Times New Roman" pitchFamily="18" charset="0"/>
              </a:rPr>
              <a:t>ISR</a:t>
            </a:r>
            <a:r>
              <a:rPr lang="en-IN" dirty="0" smtClean="0">
                <a:latin typeface="Times New Roman" pitchFamily="18" charset="0"/>
                <a:cs typeface="Times New Roman" pitchFamily="18" charset="0"/>
              </a:rPr>
              <a:t>: I1, I2, I3, I4 are the instructions in the main program. Suppose CPU receives an interrupt from the external IO device during the execution of instruction I2 in main program. </a:t>
            </a:r>
          </a:p>
          <a:p>
            <a:r>
              <a:rPr lang="en-IN" dirty="0" smtClean="0">
                <a:latin typeface="Times New Roman" pitchFamily="18" charset="0"/>
                <a:cs typeface="Times New Roman" pitchFamily="18" charset="0"/>
              </a:rPr>
              <a:t>CPU completes the execution of I2 and starts to execute ISR till return instruction is encountered in ISR. CPU executes the instructions I3 and I4 in the main program after returning to the main program from ISR.</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Main program is written by the programmer but ISR is not written by the programmer. </a:t>
            </a:r>
          </a:p>
          <a:p>
            <a:r>
              <a:rPr lang="en-IN" dirty="0" smtClean="0">
                <a:latin typeface="Times New Roman" pitchFamily="18" charset="0"/>
                <a:cs typeface="Times New Roman" pitchFamily="18" charset="0"/>
              </a:rPr>
              <a:t>ISR is not used by the main program. </a:t>
            </a:r>
          </a:p>
          <a:p>
            <a:r>
              <a:rPr lang="en-IN" dirty="0" smtClean="0">
                <a:latin typeface="Times New Roman" pitchFamily="18" charset="0"/>
                <a:cs typeface="Times New Roman" pitchFamily="18" charset="0"/>
              </a:rPr>
              <a:t>CPU executes ISR in response to the received interrupt of the IO device to initiate data transfer operation. </a:t>
            </a:r>
          </a:p>
          <a:p>
            <a:r>
              <a:rPr lang="en-IN" dirty="0" smtClean="0">
                <a:latin typeface="Times New Roman" pitchFamily="18" charset="0"/>
                <a:cs typeface="Times New Roman" pitchFamily="18" charset="0"/>
              </a:rPr>
              <a:t>So main program and ISR are the two independent program. </a:t>
            </a:r>
          </a:p>
          <a:p>
            <a:r>
              <a:rPr lang="en-IN" dirty="0" smtClean="0">
                <a:latin typeface="Times New Roman" pitchFamily="18" charset="0"/>
                <a:cs typeface="Times New Roman" pitchFamily="18" charset="0"/>
              </a:rPr>
              <a:t>Main program does not send any data like to ISR.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7" y="169816"/>
            <a:ext cx="11848012" cy="2585323"/>
          </a:xfrm>
          <a:prstGeom prst="rect">
            <a:avLst/>
          </a:prstGeom>
          <a:noFill/>
        </p:spPr>
        <p:txBody>
          <a:bodyPr wrap="square" rtlCol="0">
            <a:spAutoFit/>
          </a:bodyPr>
          <a:lstStyle/>
          <a:p>
            <a:r>
              <a:rPr lang="en-IN" u="sng" dirty="0" smtClean="0">
                <a:latin typeface="Times New Roman" pitchFamily="18" charset="0"/>
                <a:cs typeface="Times New Roman" pitchFamily="18" charset="0"/>
              </a:rPr>
              <a:t>Enabling and disabling interrupt</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Interrupt request comes from an external device and may come at any time from different devices to CPU. </a:t>
            </a:r>
          </a:p>
          <a:p>
            <a:r>
              <a:rPr lang="en-IN" dirty="0" smtClean="0">
                <a:latin typeface="Times New Roman" pitchFamily="18" charset="0"/>
                <a:cs typeface="Times New Roman" pitchFamily="18" charset="0"/>
              </a:rPr>
              <a:t>Interrupt request from any device stops the execution of one program and starts the execution of another program. </a:t>
            </a:r>
          </a:p>
          <a:p>
            <a:r>
              <a:rPr lang="en-IN" dirty="0" smtClean="0">
                <a:latin typeface="Times New Roman" pitchFamily="18" charset="0"/>
                <a:cs typeface="Times New Roman" pitchFamily="18" charset="0"/>
              </a:rPr>
              <a:t>So it is required to control the interruption of program execution carefully.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Disable interrupt (DI) instruction is used as the first instruction of ISR to ensure no further interruption until the enable interrupt (EI) instruction is executed. </a:t>
            </a:r>
          </a:p>
          <a:p>
            <a:r>
              <a:rPr lang="en-IN" dirty="0" smtClean="0">
                <a:latin typeface="Times New Roman" pitchFamily="18" charset="0"/>
                <a:cs typeface="Times New Roman" pitchFamily="18" charset="0"/>
              </a:rPr>
              <a:t>EI is the last instruction of ISR before the return instruction to guarantee that the execution of ISR is completed before further interruption.</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Oval 89"/>
          <p:cNvSpPr/>
          <p:nvPr/>
        </p:nvSpPr>
        <p:spPr>
          <a:xfrm>
            <a:off x="4454435" y="783772"/>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p:cNvSpPr/>
          <p:nvPr/>
        </p:nvSpPr>
        <p:spPr>
          <a:xfrm>
            <a:off x="4622075" y="783772"/>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p:cNvSpPr/>
          <p:nvPr/>
        </p:nvSpPr>
        <p:spPr>
          <a:xfrm>
            <a:off x="4271555" y="783772"/>
            <a:ext cx="6096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Rectangle 92"/>
          <p:cNvSpPr/>
          <p:nvPr/>
        </p:nvSpPr>
        <p:spPr>
          <a:xfrm>
            <a:off x="1830978" y="707572"/>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p:cNvSpPr txBox="1"/>
          <p:nvPr/>
        </p:nvSpPr>
        <p:spPr>
          <a:xfrm>
            <a:off x="1861458" y="661852"/>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1</a:t>
            </a:r>
            <a:endParaRPr lang="en-IN" dirty="0">
              <a:latin typeface="Times New Roman" pitchFamily="18" charset="0"/>
              <a:cs typeface="Times New Roman" pitchFamily="18" charset="0"/>
            </a:endParaRPr>
          </a:p>
        </p:txBody>
      </p:sp>
      <p:sp>
        <p:nvSpPr>
          <p:cNvPr id="95" name="Rectangle 94"/>
          <p:cNvSpPr/>
          <p:nvPr/>
        </p:nvSpPr>
        <p:spPr>
          <a:xfrm>
            <a:off x="4759235" y="646612"/>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TextBox 95"/>
          <p:cNvSpPr txBox="1"/>
          <p:nvPr/>
        </p:nvSpPr>
        <p:spPr>
          <a:xfrm>
            <a:off x="4774475" y="585652"/>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7</a:t>
            </a:r>
            <a:endParaRPr lang="en-IN" dirty="0">
              <a:latin typeface="Times New Roman" pitchFamily="18" charset="0"/>
              <a:cs typeface="Times New Roman" pitchFamily="18" charset="0"/>
            </a:endParaRPr>
          </a:p>
        </p:txBody>
      </p:sp>
      <p:sp>
        <p:nvSpPr>
          <p:cNvPr id="97" name="Rectangle 96"/>
          <p:cNvSpPr/>
          <p:nvPr/>
        </p:nvSpPr>
        <p:spPr>
          <a:xfrm>
            <a:off x="3082835" y="661852"/>
            <a:ext cx="108204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TextBox 97"/>
          <p:cNvSpPr txBox="1"/>
          <p:nvPr/>
        </p:nvSpPr>
        <p:spPr>
          <a:xfrm>
            <a:off x="3113315" y="631372"/>
            <a:ext cx="106680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IO port 2</a:t>
            </a:r>
            <a:endParaRPr lang="en-IN" dirty="0">
              <a:latin typeface="Times New Roman" pitchFamily="18" charset="0"/>
              <a:cs typeface="Times New Roman" pitchFamily="18" charset="0"/>
            </a:endParaRPr>
          </a:p>
        </p:txBody>
      </p:sp>
      <p:sp>
        <p:nvSpPr>
          <p:cNvPr id="99" name="Rectangle 98"/>
          <p:cNvSpPr/>
          <p:nvPr/>
        </p:nvSpPr>
        <p:spPr>
          <a:xfrm>
            <a:off x="185058" y="169817"/>
            <a:ext cx="1554480" cy="1299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TextBox 99"/>
          <p:cNvSpPr txBox="1"/>
          <p:nvPr/>
        </p:nvSpPr>
        <p:spPr>
          <a:xfrm>
            <a:off x="185058" y="372292"/>
            <a:ext cx="1036320" cy="646331"/>
          </a:xfrm>
          <a:prstGeom prst="rect">
            <a:avLst/>
          </a:prstGeom>
          <a:noFill/>
        </p:spPr>
        <p:txBody>
          <a:bodyPr wrap="square" rtlCol="0">
            <a:spAutoFit/>
          </a:bodyPr>
          <a:lstStyle/>
          <a:p>
            <a:r>
              <a:rPr lang="en-IN" dirty="0" smtClean="0">
                <a:latin typeface="Times New Roman" pitchFamily="18" charset="0"/>
                <a:cs typeface="Times New Roman" pitchFamily="18" charset="0"/>
              </a:rPr>
              <a:t>Interrupt FF</a:t>
            </a:r>
            <a:endParaRPr lang="en-IN" dirty="0">
              <a:latin typeface="Times New Roman" pitchFamily="18" charset="0"/>
              <a:cs typeface="Times New Roman" pitchFamily="18" charset="0"/>
            </a:endParaRPr>
          </a:p>
        </p:txBody>
      </p:sp>
      <p:sp>
        <p:nvSpPr>
          <p:cNvPr id="101" name="TextBox 100"/>
          <p:cNvSpPr txBox="1"/>
          <p:nvPr/>
        </p:nvSpPr>
        <p:spPr>
          <a:xfrm>
            <a:off x="836024" y="968829"/>
            <a:ext cx="640080" cy="381000"/>
          </a:xfrm>
          <a:prstGeom prst="rect">
            <a:avLst/>
          </a:prstGeom>
          <a:noFill/>
        </p:spPr>
        <p:txBody>
          <a:bodyPr wrap="square" rtlCol="0">
            <a:spAutoFit/>
          </a:bodyPr>
          <a:lstStyle/>
          <a:p>
            <a:r>
              <a:rPr lang="en-IN" dirty="0" smtClean="0">
                <a:latin typeface="Times New Roman" pitchFamily="18" charset="0"/>
                <a:cs typeface="Times New Roman" pitchFamily="18" charset="0"/>
              </a:rPr>
              <a:t>CPU</a:t>
            </a:r>
            <a:endParaRPr lang="en-IN" dirty="0">
              <a:latin typeface="Times New Roman" pitchFamily="18" charset="0"/>
              <a:cs typeface="Times New Roman" pitchFamily="18" charset="0"/>
            </a:endParaRPr>
          </a:p>
        </p:txBody>
      </p:sp>
      <p:sp>
        <p:nvSpPr>
          <p:cNvPr id="103" name="Rectangle 102"/>
          <p:cNvSpPr/>
          <p:nvPr/>
        </p:nvSpPr>
        <p:spPr>
          <a:xfrm>
            <a:off x="796835" y="981892"/>
            <a:ext cx="64008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Rectangle 103"/>
          <p:cNvSpPr/>
          <p:nvPr/>
        </p:nvSpPr>
        <p:spPr>
          <a:xfrm>
            <a:off x="1147355" y="250372"/>
            <a:ext cx="36576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5" name="Straight Arrow Connector 104"/>
          <p:cNvCxnSpPr/>
          <p:nvPr/>
        </p:nvCxnSpPr>
        <p:spPr>
          <a:xfrm rot="10800000" flipV="1">
            <a:off x="1497875" y="341812"/>
            <a:ext cx="4343400" cy="45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5400000">
            <a:off x="1954281" y="539932"/>
            <a:ext cx="32083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rot="5400000">
            <a:off x="5048001" y="478972"/>
            <a:ext cx="32083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rot="5400000">
            <a:off x="3386841" y="494212"/>
            <a:ext cx="32083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rot="5400000">
            <a:off x="1954281" y="1195252"/>
            <a:ext cx="32083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rot="5400000">
            <a:off x="3432561" y="1134292"/>
            <a:ext cx="32083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rot="5400000">
            <a:off x="5108961" y="1119052"/>
            <a:ext cx="320834" cy="16034"/>
          </a:xfrm>
          <a:prstGeom prst="line">
            <a:avLst/>
          </a:prstGeom>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2532017" y="0"/>
            <a:ext cx="178308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Interrupt request</a:t>
            </a:r>
            <a:endParaRPr lang="en-IN" dirty="0">
              <a:latin typeface="Times New Roman" pitchFamily="18" charset="0"/>
              <a:cs typeface="Times New Roman" pitchFamily="18" charset="0"/>
            </a:endParaRPr>
          </a:p>
        </p:txBody>
      </p:sp>
      <p:sp>
        <p:nvSpPr>
          <p:cNvPr id="116" name="TextBox 115"/>
          <p:cNvSpPr txBox="1"/>
          <p:nvPr/>
        </p:nvSpPr>
        <p:spPr>
          <a:xfrm>
            <a:off x="3037115" y="1271452"/>
            <a:ext cx="1234440" cy="365760"/>
          </a:xfrm>
          <a:prstGeom prst="rect">
            <a:avLst/>
          </a:prstGeom>
          <a:noFill/>
        </p:spPr>
        <p:txBody>
          <a:bodyPr wrap="square" rtlCol="0">
            <a:spAutoFit/>
          </a:bodyPr>
          <a:lstStyle/>
          <a:p>
            <a:r>
              <a:rPr lang="en-IN" dirty="0" smtClean="0">
                <a:latin typeface="Times New Roman" pitchFamily="18" charset="0"/>
                <a:cs typeface="Times New Roman" pitchFamily="18" charset="0"/>
              </a:rPr>
              <a:t>IO devices</a:t>
            </a:r>
            <a:endParaRPr lang="en-IN" dirty="0">
              <a:latin typeface="Times New Roman" pitchFamily="18" charset="0"/>
              <a:cs typeface="Times New Roman" pitchFamily="18" charset="0"/>
            </a:endParaRPr>
          </a:p>
        </p:txBody>
      </p:sp>
      <p:cxnSp>
        <p:nvCxnSpPr>
          <p:cNvPr id="118" name="Straight Arrow Connector 117"/>
          <p:cNvCxnSpPr>
            <a:stCxn id="116" idx="1"/>
          </p:cNvCxnSpPr>
          <p:nvPr/>
        </p:nvCxnSpPr>
        <p:spPr>
          <a:xfrm rot="10800000" flipV="1">
            <a:off x="2046515" y="1454332"/>
            <a:ext cx="99060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stCxn id="116" idx="3"/>
          </p:cNvCxnSpPr>
          <p:nvPr/>
        </p:nvCxnSpPr>
        <p:spPr>
          <a:xfrm flipV="1">
            <a:off x="4271555" y="1423852"/>
            <a:ext cx="105156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7713617" y="324395"/>
            <a:ext cx="1127760" cy="2057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Rectangle 121"/>
          <p:cNvSpPr/>
          <p:nvPr/>
        </p:nvSpPr>
        <p:spPr>
          <a:xfrm>
            <a:off x="7957457" y="1924595"/>
            <a:ext cx="640080" cy="33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p:cNvSpPr txBox="1"/>
          <p:nvPr/>
        </p:nvSpPr>
        <p:spPr>
          <a:xfrm>
            <a:off x="8018417" y="1909355"/>
            <a:ext cx="640080" cy="381000"/>
          </a:xfrm>
          <a:prstGeom prst="rect">
            <a:avLst/>
          </a:prstGeom>
          <a:noFill/>
        </p:spPr>
        <p:txBody>
          <a:bodyPr wrap="square" rtlCol="0">
            <a:spAutoFit/>
          </a:bodyPr>
          <a:lstStyle/>
          <a:p>
            <a:r>
              <a:rPr lang="en-IN" dirty="0" smtClean="0">
                <a:latin typeface="Times New Roman" pitchFamily="18" charset="0"/>
                <a:cs typeface="Times New Roman" pitchFamily="18" charset="0"/>
              </a:rPr>
              <a:t>CPU</a:t>
            </a:r>
            <a:endParaRPr lang="en-IN" dirty="0">
              <a:latin typeface="Times New Roman" pitchFamily="18" charset="0"/>
              <a:cs typeface="Times New Roman" pitchFamily="18" charset="0"/>
            </a:endParaRPr>
          </a:p>
        </p:txBody>
      </p:sp>
      <p:sp>
        <p:nvSpPr>
          <p:cNvPr id="124" name="Rectangle 123"/>
          <p:cNvSpPr/>
          <p:nvPr/>
        </p:nvSpPr>
        <p:spPr>
          <a:xfrm>
            <a:off x="7881257" y="415835"/>
            <a:ext cx="79248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6" name="Straight Connector 125"/>
          <p:cNvCxnSpPr>
            <a:stCxn id="124" idx="1"/>
            <a:endCxn id="124" idx="3"/>
          </p:cNvCxnSpPr>
          <p:nvPr/>
        </p:nvCxnSpPr>
        <p:spPr>
          <a:xfrm rot="10800000" flipH="1">
            <a:off x="7881257" y="1063535"/>
            <a:ext cx="7924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rot="10800000" flipH="1">
            <a:off x="7896497" y="1337855"/>
            <a:ext cx="7924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0800000" flipH="1">
            <a:off x="7896497" y="682535"/>
            <a:ext cx="79248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9209314" y="1870167"/>
            <a:ext cx="613955"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IO </a:t>
            </a:r>
          </a:p>
          <a:p>
            <a:r>
              <a:rPr lang="en-IN" sz="1400" dirty="0" smtClean="0">
                <a:latin typeface="Times New Roman" pitchFamily="18" charset="0"/>
                <a:cs typeface="Times New Roman" pitchFamily="18" charset="0"/>
              </a:rPr>
              <a:t>port 0 </a:t>
            </a:r>
            <a:endParaRPr lang="en-IN" sz="1400" dirty="0">
              <a:latin typeface="Times New Roman" pitchFamily="18" charset="0"/>
              <a:cs typeface="Times New Roman" pitchFamily="18" charset="0"/>
            </a:endParaRPr>
          </a:p>
        </p:txBody>
      </p:sp>
      <p:sp>
        <p:nvSpPr>
          <p:cNvPr id="136" name="Rectangle 135"/>
          <p:cNvSpPr/>
          <p:nvPr/>
        </p:nvSpPr>
        <p:spPr>
          <a:xfrm>
            <a:off x="11116491" y="1913708"/>
            <a:ext cx="548640" cy="5029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141" name="Straight Connector 140"/>
          <p:cNvCxnSpPr/>
          <p:nvPr/>
        </p:nvCxnSpPr>
        <p:spPr>
          <a:xfrm rot="5400000" flipH="1" flipV="1">
            <a:off x="9344841" y="1709602"/>
            <a:ext cx="365760" cy="7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rot="10800000" flipV="1">
            <a:off x="8612777" y="461555"/>
            <a:ext cx="2545080" cy="30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rot="16200000" flipH="1">
            <a:off x="10431780" y="1157151"/>
            <a:ext cx="1460862" cy="39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p:nvPr/>
        </p:nvCxnSpPr>
        <p:spPr>
          <a:xfrm rot="10800000" flipV="1">
            <a:off x="8643257" y="857795"/>
            <a:ext cx="201168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rot="16200000" flipH="1">
            <a:off x="10102487" y="1395005"/>
            <a:ext cx="1097280" cy="22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p:nvPr/>
        </p:nvCxnSpPr>
        <p:spPr>
          <a:xfrm rot="10800000" flipV="1">
            <a:off x="8643257" y="1223555"/>
            <a:ext cx="143256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rot="16200000" flipH="1">
            <a:off x="9721487" y="1593125"/>
            <a:ext cx="685800" cy="7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Straight Arrow Connector 162"/>
          <p:cNvCxnSpPr/>
          <p:nvPr/>
        </p:nvCxnSpPr>
        <p:spPr>
          <a:xfrm rot="10800000">
            <a:off x="8628017" y="1558835"/>
            <a:ext cx="9296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5" name="TextBox 164"/>
          <p:cNvSpPr txBox="1"/>
          <p:nvPr/>
        </p:nvSpPr>
        <p:spPr>
          <a:xfrm>
            <a:off x="8963297" y="1299755"/>
            <a:ext cx="1021080" cy="369332"/>
          </a:xfrm>
          <a:prstGeom prst="rect">
            <a:avLst/>
          </a:prstGeom>
          <a:noFill/>
        </p:spPr>
        <p:txBody>
          <a:bodyPr wrap="square" rtlCol="0">
            <a:spAutoFit/>
          </a:bodyPr>
          <a:lstStyle/>
          <a:p>
            <a:r>
              <a:rPr lang="en-IN" dirty="0" err="1" smtClean="0">
                <a:latin typeface="Times New Roman" pitchFamily="18" charset="0"/>
                <a:cs typeface="Times New Roman" pitchFamily="18" charset="0"/>
              </a:rPr>
              <a:t>Int</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req</a:t>
            </a:r>
            <a:r>
              <a:rPr lang="en-IN" dirty="0" smtClean="0">
                <a:latin typeface="Times New Roman" pitchFamily="18" charset="0"/>
                <a:cs typeface="Times New Roman" pitchFamily="18" charset="0"/>
              </a:rPr>
              <a:t> 0</a:t>
            </a:r>
            <a:endParaRPr lang="en-IN" dirty="0">
              <a:latin typeface="Times New Roman" pitchFamily="18" charset="0"/>
              <a:cs typeface="Times New Roman" pitchFamily="18" charset="0"/>
            </a:endParaRPr>
          </a:p>
        </p:txBody>
      </p:sp>
      <p:sp>
        <p:nvSpPr>
          <p:cNvPr id="166" name="TextBox 165"/>
          <p:cNvSpPr txBox="1"/>
          <p:nvPr/>
        </p:nvSpPr>
        <p:spPr>
          <a:xfrm>
            <a:off x="9283337" y="918755"/>
            <a:ext cx="1021080" cy="369332"/>
          </a:xfrm>
          <a:prstGeom prst="rect">
            <a:avLst/>
          </a:prstGeom>
          <a:noFill/>
        </p:spPr>
        <p:txBody>
          <a:bodyPr wrap="square" rtlCol="0">
            <a:spAutoFit/>
          </a:bodyPr>
          <a:lstStyle/>
          <a:p>
            <a:r>
              <a:rPr lang="en-IN" dirty="0" err="1" smtClean="0">
                <a:latin typeface="Times New Roman" pitchFamily="18" charset="0"/>
                <a:cs typeface="Times New Roman" pitchFamily="18" charset="0"/>
              </a:rPr>
              <a:t>Int</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req</a:t>
            </a:r>
            <a:r>
              <a:rPr lang="en-IN" dirty="0" smtClean="0">
                <a:latin typeface="Times New Roman" pitchFamily="18" charset="0"/>
                <a:cs typeface="Times New Roman" pitchFamily="18" charset="0"/>
              </a:rPr>
              <a:t> 1</a:t>
            </a:r>
            <a:endParaRPr lang="en-IN" dirty="0">
              <a:latin typeface="Times New Roman" pitchFamily="18" charset="0"/>
              <a:cs typeface="Times New Roman" pitchFamily="18" charset="0"/>
            </a:endParaRPr>
          </a:p>
        </p:txBody>
      </p:sp>
      <p:sp>
        <p:nvSpPr>
          <p:cNvPr id="167" name="TextBox 166"/>
          <p:cNvSpPr txBox="1"/>
          <p:nvPr/>
        </p:nvSpPr>
        <p:spPr>
          <a:xfrm>
            <a:off x="9268097" y="568235"/>
            <a:ext cx="1021080" cy="369332"/>
          </a:xfrm>
          <a:prstGeom prst="rect">
            <a:avLst/>
          </a:prstGeom>
          <a:noFill/>
        </p:spPr>
        <p:txBody>
          <a:bodyPr wrap="square" rtlCol="0">
            <a:spAutoFit/>
          </a:bodyPr>
          <a:lstStyle/>
          <a:p>
            <a:r>
              <a:rPr lang="en-IN" dirty="0" err="1" smtClean="0">
                <a:latin typeface="Times New Roman" pitchFamily="18" charset="0"/>
                <a:cs typeface="Times New Roman" pitchFamily="18" charset="0"/>
              </a:rPr>
              <a:t>Int</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req</a:t>
            </a:r>
            <a:r>
              <a:rPr lang="en-IN" dirty="0" smtClean="0">
                <a:latin typeface="Times New Roman" pitchFamily="18" charset="0"/>
                <a:cs typeface="Times New Roman" pitchFamily="18" charset="0"/>
              </a:rPr>
              <a:t> 2</a:t>
            </a:r>
            <a:endParaRPr lang="en-IN" dirty="0">
              <a:latin typeface="Times New Roman" pitchFamily="18" charset="0"/>
              <a:cs typeface="Times New Roman" pitchFamily="18" charset="0"/>
            </a:endParaRPr>
          </a:p>
        </p:txBody>
      </p:sp>
      <p:sp>
        <p:nvSpPr>
          <p:cNvPr id="168" name="TextBox 167"/>
          <p:cNvSpPr txBox="1"/>
          <p:nvPr/>
        </p:nvSpPr>
        <p:spPr>
          <a:xfrm>
            <a:off x="9268097" y="187235"/>
            <a:ext cx="1021080" cy="369332"/>
          </a:xfrm>
          <a:prstGeom prst="rect">
            <a:avLst/>
          </a:prstGeom>
          <a:noFill/>
        </p:spPr>
        <p:txBody>
          <a:bodyPr wrap="square" rtlCol="0">
            <a:spAutoFit/>
          </a:bodyPr>
          <a:lstStyle/>
          <a:p>
            <a:r>
              <a:rPr lang="en-IN" dirty="0" err="1" smtClean="0">
                <a:latin typeface="Times New Roman" pitchFamily="18" charset="0"/>
                <a:cs typeface="Times New Roman" pitchFamily="18" charset="0"/>
              </a:rPr>
              <a:t>Int</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req</a:t>
            </a:r>
            <a:r>
              <a:rPr lang="en-IN" dirty="0" smtClean="0">
                <a:latin typeface="Times New Roman" pitchFamily="18" charset="0"/>
                <a:cs typeface="Times New Roman" pitchFamily="18" charset="0"/>
              </a:rPr>
              <a:t> 3</a:t>
            </a:r>
            <a:endParaRPr lang="en-IN" dirty="0">
              <a:latin typeface="Times New Roman" pitchFamily="18" charset="0"/>
              <a:cs typeface="Times New Roman" pitchFamily="18" charset="0"/>
            </a:endParaRPr>
          </a:p>
        </p:txBody>
      </p:sp>
      <p:cxnSp>
        <p:nvCxnSpPr>
          <p:cNvPr id="169" name="Straight Arrow Connector 168"/>
          <p:cNvCxnSpPr/>
          <p:nvPr/>
        </p:nvCxnSpPr>
        <p:spPr>
          <a:xfrm rot="10800000">
            <a:off x="9505406" y="2719252"/>
            <a:ext cx="28956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flipV="1">
            <a:off x="11066417" y="2690949"/>
            <a:ext cx="35052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9814560" y="2597331"/>
            <a:ext cx="1234440" cy="365760"/>
          </a:xfrm>
          <a:prstGeom prst="rect">
            <a:avLst/>
          </a:prstGeom>
          <a:noFill/>
        </p:spPr>
        <p:txBody>
          <a:bodyPr wrap="square" rtlCol="0">
            <a:spAutoFit/>
          </a:bodyPr>
          <a:lstStyle/>
          <a:p>
            <a:r>
              <a:rPr lang="en-IN" dirty="0" smtClean="0">
                <a:latin typeface="Times New Roman" pitchFamily="18" charset="0"/>
                <a:cs typeface="Times New Roman" pitchFamily="18" charset="0"/>
              </a:rPr>
              <a:t>IO devices</a:t>
            </a:r>
            <a:endParaRPr lang="en-IN" dirty="0">
              <a:latin typeface="Times New Roman" pitchFamily="18" charset="0"/>
              <a:cs typeface="Times New Roman" pitchFamily="18" charset="0"/>
            </a:endParaRPr>
          </a:p>
        </p:txBody>
      </p:sp>
      <p:sp>
        <p:nvSpPr>
          <p:cNvPr id="178" name="TextBox 177"/>
          <p:cNvSpPr txBox="1"/>
          <p:nvPr/>
        </p:nvSpPr>
        <p:spPr>
          <a:xfrm>
            <a:off x="6355080" y="2536371"/>
            <a:ext cx="2976154" cy="381000"/>
          </a:xfrm>
          <a:prstGeom prst="rect">
            <a:avLst/>
          </a:prstGeom>
          <a:noFill/>
        </p:spPr>
        <p:txBody>
          <a:bodyPr wrap="square" rtlCol="0">
            <a:spAutoFit/>
          </a:bodyPr>
          <a:lstStyle/>
          <a:p>
            <a:r>
              <a:rPr lang="en-IN" dirty="0" smtClean="0">
                <a:latin typeface="Times New Roman" pitchFamily="18" charset="0"/>
                <a:cs typeface="Times New Roman" pitchFamily="18" charset="0"/>
              </a:rPr>
              <a:t>Fig 17: Multiple line interrupt</a:t>
            </a:r>
            <a:endParaRPr lang="en-IN" dirty="0">
              <a:latin typeface="Times New Roman" pitchFamily="18" charset="0"/>
              <a:cs typeface="Times New Roman" pitchFamily="18" charset="0"/>
            </a:endParaRPr>
          </a:p>
        </p:txBody>
      </p:sp>
      <p:sp>
        <p:nvSpPr>
          <p:cNvPr id="179" name="TextBox 178"/>
          <p:cNvSpPr txBox="1"/>
          <p:nvPr/>
        </p:nvSpPr>
        <p:spPr>
          <a:xfrm>
            <a:off x="424543" y="1676400"/>
            <a:ext cx="3463834" cy="365760"/>
          </a:xfrm>
          <a:prstGeom prst="rect">
            <a:avLst/>
          </a:prstGeom>
          <a:noFill/>
        </p:spPr>
        <p:txBody>
          <a:bodyPr wrap="square" rtlCol="0">
            <a:spAutoFit/>
          </a:bodyPr>
          <a:lstStyle/>
          <a:p>
            <a:r>
              <a:rPr lang="en-IN" dirty="0" smtClean="0">
                <a:latin typeface="Times New Roman" pitchFamily="18" charset="0"/>
                <a:cs typeface="Times New Roman" pitchFamily="18" charset="0"/>
              </a:rPr>
              <a:t>Fig 16: Single line interrupt system</a:t>
            </a:r>
            <a:endParaRPr lang="en-IN" dirty="0">
              <a:latin typeface="Times New Roman" pitchFamily="18" charset="0"/>
              <a:cs typeface="Times New Roman" pitchFamily="18" charset="0"/>
            </a:endParaRPr>
          </a:p>
        </p:txBody>
      </p:sp>
      <p:sp>
        <p:nvSpPr>
          <p:cNvPr id="180" name="TextBox 179"/>
          <p:cNvSpPr txBox="1"/>
          <p:nvPr/>
        </p:nvSpPr>
        <p:spPr>
          <a:xfrm>
            <a:off x="182880" y="3017518"/>
            <a:ext cx="11743509" cy="3416320"/>
          </a:xfrm>
          <a:prstGeom prst="rect">
            <a:avLst/>
          </a:prstGeom>
          <a:noFill/>
        </p:spPr>
        <p:txBody>
          <a:bodyPr wrap="square" rtlCol="0">
            <a:spAutoFit/>
          </a:bodyPr>
          <a:lstStyle/>
          <a:p>
            <a:r>
              <a:rPr lang="en-IN" u="sng" dirty="0" smtClean="0">
                <a:latin typeface="Times New Roman" pitchFamily="18" charset="0"/>
                <a:cs typeface="Times New Roman" pitchFamily="18" charset="0"/>
              </a:rPr>
              <a:t>Interrupt selection</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In Fig. 16, 7 IO ports are connected to the interrupt request line. </a:t>
            </a:r>
          </a:p>
          <a:p>
            <a:r>
              <a:rPr lang="en-IN" dirty="0" smtClean="0">
                <a:latin typeface="Times New Roman" pitchFamily="18" charset="0"/>
                <a:cs typeface="Times New Roman" pitchFamily="18" charset="0"/>
              </a:rPr>
              <a:t>A single interrupt request line is shared among </a:t>
            </a:r>
            <a:r>
              <a:rPr lang="en-IN" b="1" dirty="0" smtClean="0">
                <a:latin typeface="Times New Roman" pitchFamily="18" charset="0"/>
                <a:cs typeface="Times New Roman" pitchFamily="18" charset="0"/>
              </a:rPr>
              <a:t>7</a:t>
            </a:r>
            <a:r>
              <a:rPr lang="en-IN" dirty="0" smtClean="0">
                <a:latin typeface="Times New Roman" pitchFamily="18" charset="0"/>
                <a:cs typeface="Times New Roman" pitchFamily="18" charset="0"/>
              </a:rPr>
              <a:t> number of IO devices for sending interrupt request. </a:t>
            </a:r>
          </a:p>
          <a:p>
            <a:r>
              <a:rPr lang="en-IN" dirty="0" smtClean="0">
                <a:latin typeface="Times New Roman" pitchFamily="18" charset="0"/>
                <a:cs typeface="Times New Roman" pitchFamily="18" charset="0"/>
              </a:rPr>
              <a:t>CPU sends interrupt acknowledgement (INTA) in response to the interrupt request. </a:t>
            </a:r>
          </a:p>
          <a:p>
            <a:r>
              <a:rPr lang="en-IN" dirty="0" smtClean="0">
                <a:latin typeface="Times New Roman" pitchFamily="18" charset="0"/>
                <a:cs typeface="Times New Roman" pitchFamily="18" charset="0"/>
              </a:rPr>
              <a:t>INTA signal is propagated serially through all the devices starting from nearest one as in daisy chaining.</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Fig 17 shows multiple line interrupt system having 4 IO devices. </a:t>
            </a:r>
          </a:p>
          <a:p>
            <a:r>
              <a:rPr lang="en-IN" dirty="0" smtClean="0">
                <a:latin typeface="Times New Roman" pitchFamily="18" charset="0"/>
                <a:cs typeface="Times New Roman" pitchFamily="18" charset="0"/>
              </a:rPr>
              <a:t>Each device has its own interrupt request line for sending interrupt request to CPU as in independent requesting. </a:t>
            </a:r>
          </a:p>
          <a:p>
            <a:r>
              <a:rPr lang="en-IN" dirty="0" smtClean="0">
                <a:latin typeface="Times New Roman" pitchFamily="18" charset="0"/>
                <a:cs typeface="Times New Roman" pitchFamily="18" charset="0"/>
              </a:rPr>
              <a:t>CPU stores the received interrupts in an interrupt register. </a:t>
            </a:r>
          </a:p>
          <a:p>
            <a:r>
              <a:rPr lang="en-IN" dirty="0" smtClean="0">
                <a:latin typeface="Times New Roman" pitchFamily="18" charset="0"/>
                <a:cs typeface="Times New Roman" pitchFamily="18" charset="0"/>
              </a:rPr>
              <a:t>Source of interrupt is immediately known to CPU. </a:t>
            </a:r>
          </a:p>
          <a:p>
            <a:r>
              <a:rPr lang="en-IN" dirty="0" smtClean="0">
                <a:latin typeface="Times New Roman" pitchFamily="18" charset="0"/>
                <a:cs typeface="Times New Roman" pitchFamily="18" charset="0"/>
              </a:rPr>
              <a:t>Each interrupt request line has a unique priority. </a:t>
            </a:r>
          </a:p>
          <a:p>
            <a:r>
              <a:rPr lang="en-IN" dirty="0" smtClean="0">
                <a:latin typeface="Times New Roman" pitchFamily="18" charset="0"/>
                <a:cs typeface="Times New Roman" pitchFamily="18" charset="0"/>
              </a:rPr>
              <a:t>CPU sends INTA to the interrupted devices depending upon the priority of the interrupt request in the interrupt register.</a:t>
            </a:r>
            <a:endParaRPr lang="en-IN" dirty="0">
              <a:latin typeface="Times New Roman" pitchFamily="18" charset="0"/>
              <a:cs typeface="Times New Roman" pitchFamily="18" charset="0"/>
            </a:endParaRPr>
          </a:p>
        </p:txBody>
      </p:sp>
      <p:sp>
        <p:nvSpPr>
          <p:cNvPr id="60" name="TextBox 59"/>
          <p:cNvSpPr txBox="1"/>
          <p:nvPr/>
        </p:nvSpPr>
        <p:spPr>
          <a:xfrm>
            <a:off x="6021978" y="1554480"/>
            <a:ext cx="1593667" cy="338554"/>
          </a:xfrm>
          <a:prstGeom prst="rect">
            <a:avLst/>
          </a:prstGeom>
          <a:noFill/>
        </p:spPr>
        <p:txBody>
          <a:bodyPr wrap="square" rtlCol="0">
            <a:spAutoFit/>
          </a:bodyPr>
          <a:lstStyle/>
          <a:p>
            <a:r>
              <a:rPr lang="en-IN" sz="1600" dirty="0" smtClean="0">
                <a:latin typeface="Times New Roman" pitchFamily="18" charset="0"/>
                <a:cs typeface="Times New Roman" pitchFamily="18" charset="0"/>
              </a:rPr>
              <a:t>Interrupt register</a:t>
            </a:r>
            <a:endParaRPr lang="en-IN" sz="1600" dirty="0">
              <a:latin typeface="Times New Roman" pitchFamily="18" charset="0"/>
              <a:cs typeface="Times New Roman" pitchFamily="18" charset="0"/>
            </a:endParaRPr>
          </a:p>
        </p:txBody>
      </p:sp>
      <p:sp>
        <p:nvSpPr>
          <p:cNvPr id="63" name="TextBox 62"/>
          <p:cNvSpPr txBox="1"/>
          <p:nvPr/>
        </p:nvSpPr>
        <p:spPr>
          <a:xfrm>
            <a:off x="11086010" y="1905001"/>
            <a:ext cx="613955"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IO </a:t>
            </a:r>
          </a:p>
          <a:p>
            <a:r>
              <a:rPr lang="en-IN" sz="1400" dirty="0" smtClean="0">
                <a:latin typeface="Times New Roman" pitchFamily="18" charset="0"/>
                <a:cs typeface="Times New Roman" pitchFamily="18" charset="0"/>
              </a:rPr>
              <a:t>port 3 </a:t>
            </a:r>
            <a:endParaRPr lang="en-IN" sz="1400" dirty="0">
              <a:latin typeface="Times New Roman" pitchFamily="18" charset="0"/>
              <a:cs typeface="Times New Roman" pitchFamily="18" charset="0"/>
            </a:endParaRPr>
          </a:p>
        </p:txBody>
      </p:sp>
      <p:sp>
        <p:nvSpPr>
          <p:cNvPr id="64" name="TextBox 63"/>
          <p:cNvSpPr txBox="1"/>
          <p:nvPr/>
        </p:nvSpPr>
        <p:spPr>
          <a:xfrm>
            <a:off x="10480765" y="1887583"/>
            <a:ext cx="613955"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IO </a:t>
            </a:r>
          </a:p>
          <a:p>
            <a:r>
              <a:rPr lang="en-IN" sz="1400" dirty="0" smtClean="0">
                <a:latin typeface="Times New Roman" pitchFamily="18" charset="0"/>
                <a:cs typeface="Times New Roman" pitchFamily="18" charset="0"/>
              </a:rPr>
              <a:t>port 2 </a:t>
            </a:r>
            <a:endParaRPr lang="en-IN" sz="1400" dirty="0">
              <a:latin typeface="Times New Roman" pitchFamily="18" charset="0"/>
              <a:cs typeface="Times New Roman" pitchFamily="18" charset="0"/>
            </a:endParaRPr>
          </a:p>
        </p:txBody>
      </p:sp>
      <p:sp>
        <p:nvSpPr>
          <p:cNvPr id="65" name="TextBox 64"/>
          <p:cNvSpPr txBox="1"/>
          <p:nvPr/>
        </p:nvSpPr>
        <p:spPr>
          <a:xfrm>
            <a:off x="9836331" y="1870167"/>
            <a:ext cx="613955"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IO </a:t>
            </a:r>
          </a:p>
          <a:p>
            <a:r>
              <a:rPr lang="en-IN" sz="1400" dirty="0" smtClean="0">
                <a:latin typeface="Times New Roman" pitchFamily="18" charset="0"/>
                <a:cs typeface="Times New Roman" pitchFamily="18" charset="0"/>
              </a:rPr>
              <a:t>port 1</a:t>
            </a:r>
            <a:endParaRPr lang="en-IN" sz="1400" dirty="0">
              <a:latin typeface="Times New Roman" pitchFamily="18" charset="0"/>
              <a:cs typeface="Times New Roman" pitchFamily="18" charset="0"/>
            </a:endParaRPr>
          </a:p>
        </p:txBody>
      </p:sp>
      <p:sp>
        <p:nvSpPr>
          <p:cNvPr id="66" name="Rectangle 65"/>
          <p:cNvSpPr/>
          <p:nvPr/>
        </p:nvSpPr>
        <p:spPr>
          <a:xfrm>
            <a:off x="10485121" y="1922417"/>
            <a:ext cx="548640" cy="5029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7" name="Rectangle 66"/>
          <p:cNvSpPr/>
          <p:nvPr/>
        </p:nvSpPr>
        <p:spPr>
          <a:xfrm>
            <a:off x="9226732" y="1891938"/>
            <a:ext cx="548640" cy="5029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ectangle 67"/>
          <p:cNvSpPr/>
          <p:nvPr/>
        </p:nvSpPr>
        <p:spPr>
          <a:xfrm>
            <a:off x="9862458" y="1900646"/>
            <a:ext cx="548640" cy="5029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p:cNvCxnSpPr/>
          <p:nvPr/>
        </p:nvCxnSpPr>
        <p:spPr>
          <a:xfrm rot="5400000">
            <a:off x="9411791" y="2488473"/>
            <a:ext cx="2220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11262363" y="2497182"/>
            <a:ext cx="2220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5400000">
            <a:off x="10617928" y="2532017"/>
            <a:ext cx="2220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5400000">
            <a:off x="9986557" y="2527662"/>
            <a:ext cx="2220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rot="5400000" flipH="1" flipV="1">
            <a:off x="7073537" y="842555"/>
            <a:ext cx="796834" cy="7837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82880"/>
            <a:ext cx="11769634" cy="6463308"/>
          </a:xfrm>
          <a:prstGeom prst="rect">
            <a:avLst/>
          </a:prstGeom>
          <a:noFill/>
        </p:spPr>
        <p:txBody>
          <a:bodyPr wrap="square" rtlCol="0">
            <a:spAutoFit/>
          </a:bodyPr>
          <a:lstStyle/>
          <a:p>
            <a:r>
              <a:rPr lang="en-IN" u="sng" dirty="0" smtClean="0">
                <a:latin typeface="Times New Roman" pitchFamily="18" charset="0"/>
                <a:cs typeface="Times New Roman" pitchFamily="18" charset="0"/>
              </a:rPr>
              <a:t>Disadvantage of interrupt driven data transfer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CPU may have to execute a program to fetch the starting address of ISR before starting its execution. </a:t>
            </a:r>
          </a:p>
          <a:p>
            <a:r>
              <a:rPr lang="en-IN" dirty="0" smtClean="0">
                <a:latin typeface="Times New Roman" pitchFamily="18" charset="0"/>
                <a:cs typeface="Times New Roman" pitchFamily="18" charset="0"/>
              </a:rPr>
              <a:t>This problem is solved in vectored interrupt in which an IO device sends a special code to CPU along with interrupt request to compute the starting address of ISR.</a:t>
            </a:r>
          </a:p>
          <a:p>
            <a:r>
              <a:rPr lang="en-IN" dirty="0" smtClean="0">
                <a:latin typeface="Times New Roman" pitchFamily="18" charset="0"/>
                <a:cs typeface="Times New Roman" pitchFamily="18" charset="0"/>
              </a:rPr>
              <a:t>In programmed IO CPU checks the ready pin of IO devices to identify the IO device that is ready for data transfer operation. It consumes a considerable amount of CPU time. It is eliminated in interrupt driven data transfer as a device sends an interrupt to CPU as soon as it becomes ready for data transfer operation. </a:t>
            </a:r>
          </a:p>
          <a:p>
            <a:r>
              <a:rPr lang="en-IN" dirty="0" smtClean="0">
                <a:latin typeface="Times New Roman" pitchFamily="18" charset="0"/>
                <a:cs typeface="Times New Roman" pitchFamily="18" charset="0"/>
              </a:rPr>
              <a:t>But in interrupt driven data transfer CPU remains busy during data transfer operation between IO device and MM due to the execution of ISR like programmed IO. </a:t>
            </a:r>
          </a:p>
          <a:p>
            <a:r>
              <a:rPr lang="en-IN" dirty="0" smtClean="0">
                <a:latin typeface="Times New Roman" pitchFamily="18" charset="0"/>
                <a:cs typeface="Times New Roman" pitchFamily="18" charset="0"/>
              </a:rPr>
              <a:t>This problem is solved in DMA mode of data transfer. </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DMA mode of data transfer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IO device sends data transfer request to the DMA controller. </a:t>
            </a:r>
          </a:p>
          <a:p>
            <a:r>
              <a:rPr lang="en-IN" dirty="0" smtClean="0">
                <a:latin typeface="Times New Roman" pitchFamily="18" charset="0"/>
                <a:cs typeface="Times New Roman" pitchFamily="18" charset="0"/>
              </a:rPr>
              <a:t>Fig 18 shows the communication between CPU and DMA controller after receiving data transfer request from IO device. </a:t>
            </a:r>
          </a:p>
          <a:p>
            <a:r>
              <a:rPr lang="en-IN" dirty="0" smtClean="0">
                <a:latin typeface="Times New Roman" pitchFamily="18" charset="0"/>
                <a:cs typeface="Times New Roman" pitchFamily="18" charset="0"/>
              </a:rPr>
              <a:t>System bus includes address, </a:t>
            </a:r>
            <a:r>
              <a:rPr lang="en-IN" dirty="0" err="1" smtClean="0">
                <a:latin typeface="Times New Roman" pitchFamily="18" charset="0"/>
                <a:cs typeface="Times New Roman" pitchFamily="18" charset="0"/>
              </a:rPr>
              <a:t>Dout</a:t>
            </a:r>
            <a:r>
              <a:rPr lang="en-IN" dirty="0" smtClean="0">
                <a:latin typeface="Times New Roman" pitchFamily="18" charset="0"/>
                <a:cs typeface="Times New Roman" pitchFamily="18" charset="0"/>
              </a:rPr>
              <a:t> (data out), Din (data in).</a:t>
            </a:r>
          </a:p>
          <a:p>
            <a:r>
              <a:rPr lang="en-IN" dirty="0" smtClean="0">
                <a:latin typeface="Times New Roman" pitchFamily="18" charset="0"/>
                <a:cs typeface="Times New Roman" pitchFamily="18" charset="0"/>
              </a:rPr>
              <a:t>Inside the block of CPU AR is address register, AC is accumulator, IR is instruction register and CU is control unit. </a:t>
            </a:r>
          </a:p>
          <a:p>
            <a:r>
              <a:rPr lang="en-IN" dirty="0" smtClean="0">
                <a:latin typeface="Times New Roman" pitchFamily="18" charset="0"/>
                <a:cs typeface="Times New Roman" pitchFamily="18" charset="0"/>
              </a:rPr>
              <a:t>Inside the block of DMA controller DC is data count, IOAR is the address register and IODR is the data buffer register. </a:t>
            </a:r>
          </a:p>
          <a:p>
            <a:r>
              <a:rPr lang="en-IN" dirty="0" smtClean="0">
                <a:latin typeface="Times New Roman" pitchFamily="18" charset="0"/>
                <a:cs typeface="Times New Roman" pitchFamily="18" charset="0"/>
              </a:rPr>
              <a:t>IODR is connected with IO device and data bus (</a:t>
            </a:r>
            <a:r>
              <a:rPr lang="en-IN" dirty="0" err="1" smtClean="0">
                <a:latin typeface="Times New Roman" pitchFamily="18" charset="0"/>
                <a:cs typeface="Times New Roman" pitchFamily="18" charset="0"/>
              </a:rPr>
              <a:t>Dout</a:t>
            </a:r>
            <a:r>
              <a:rPr lang="en-IN" dirty="0" smtClean="0">
                <a:latin typeface="Times New Roman" pitchFamily="18" charset="0"/>
                <a:cs typeface="Times New Roman" pitchFamily="18" charset="0"/>
              </a:rPr>
              <a:t> and Din as shown in Fig 18). </a:t>
            </a:r>
          </a:p>
          <a:p>
            <a:r>
              <a:rPr lang="en-IN" dirty="0" smtClean="0">
                <a:latin typeface="Times New Roman" pitchFamily="18" charset="0"/>
                <a:cs typeface="Times New Roman" pitchFamily="18" charset="0"/>
              </a:rPr>
              <a:t>IODR stores data during data transfer from IO device to MM through </a:t>
            </a:r>
            <a:r>
              <a:rPr lang="en-IN" dirty="0" err="1" smtClean="0">
                <a:latin typeface="Times New Roman" pitchFamily="18" charset="0"/>
                <a:cs typeface="Times New Roman" pitchFamily="18" charset="0"/>
              </a:rPr>
              <a:t>Dout</a:t>
            </a:r>
            <a:r>
              <a:rPr lang="en-IN" dirty="0" smtClean="0">
                <a:latin typeface="Times New Roman" pitchFamily="18" charset="0"/>
                <a:cs typeface="Times New Roman" pitchFamily="18" charset="0"/>
              </a:rPr>
              <a:t> and MM to IO device through Din.</a:t>
            </a:r>
          </a:p>
          <a:p>
            <a:r>
              <a:rPr lang="en-IN" dirty="0" smtClean="0">
                <a:latin typeface="Times New Roman" pitchFamily="18" charset="0"/>
                <a:cs typeface="Times New Roman" pitchFamily="18" charset="0"/>
              </a:rPr>
              <a:t>DMA controller receives data transfer request from IO device and activates bus request line (BR) to release buses for data transfer between MM and IO device. </a:t>
            </a:r>
          </a:p>
          <a:p>
            <a:endParaRPr lang="en-IN" dirty="0" smtClean="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71883" y="202746"/>
            <a:ext cx="5648325" cy="2357574"/>
          </a:xfrm>
          <a:prstGeom prst="rect">
            <a:avLst/>
          </a:prstGeom>
          <a:noFill/>
          <a:ln w="9525">
            <a:noFill/>
            <a:miter lim="800000"/>
            <a:headEnd/>
            <a:tailEnd/>
          </a:ln>
          <a:effectLst/>
        </p:spPr>
      </p:pic>
      <p:sp>
        <p:nvSpPr>
          <p:cNvPr id="3" name="TextBox 2"/>
          <p:cNvSpPr txBox="1"/>
          <p:nvPr/>
        </p:nvSpPr>
        <p:spPr>
          <a:xfrm>
            <a:off x="169818" y="2508069"/>
            <a:ext cx="11704320" cy="3416320"/>
          </a:xfrm>
          <a:prstGeom prst="rect">
            <a:avLst/>
          </a:prstGeom>
          <a:noFill/>
        </p:spPr>
        <p:txBody>
          <a:bodyPr wrap="square" rtlCol="0">
            <a:spAutoFit/>
          </a:bodyPr>
          <a:lstStyle/>
          <a:p>
            <a:r>
              <a:rPr lang="en-IN" dirty="0" smtClean="0">
                <a:latin typeface="Times New Roman" pitchFamily="18" charset="0"/>
                <a:cs typeface="Times New Roman" pitchFamily="18" charset="0"/>
              </a:rPr>
              <a:t>CPU releases system bus at the end of current CPU cycle (i.e. at the DMA breakpoint). </a:t>
            </a:r>
          </a:p>
          <a:p>
            <a:r>
              <a:rPr lang="en-IN" dirty="0" smtClean="0">
                <a:latin typeface="Times New Roman" pitchFamily="18" charset="0"/>
                <a:cs typeface="Times New Roman" pitchFamily="18" charset="0"/>
              </a:rPr>
              <a:t>CPU sends DMA parameters like </a:t>
            </a:r>
            <a:r>
              <a:rPr lang="en-IN" b="1" dirty="0" smtClean="0">
                <a:latin typeface="Times New Roman" pitchFamily="18" charset="0"/>
                <a:cs typeface="Times New Roman" pitchFamily="18" charset="0"/>
              </a:rPr>
              <a:t>starting address</a:t>
            </a:r>
            <a:r>
              <a:rPr lang="en-IN" dirty="0" smtClean="0">
                <a:latin typeface="Times New Roman" pitchFamily="18" charset="0"/>
                <a:cs typeface="Times New Roman" pitchFamily="18" charset="0"/>
              </a:rPr>
              <a:t> of MM from where data transfer operation takes place, </a:t>
            </a:r>
            <a:r>
              <a:rPr lang="en-IN" b="1" dirty="0" smtClean="0">
                <a:latin typeface="Times New Roman" pitchFamily="18" charset="0"/>
                <a:cs typeface="Times New Roman" pitchFamily="18" charset="0"/>
              </a:rPr>
              <a:t>number of words/bytes</a:t>
            </a:r>
            <a:r>
              <a:rPr lang="en-IN" dirty="0" smtClean="0">
                <a:latin typeface="Times New Roman" pitchFamily="18" charset="0"/>
                <a:cs typeface="Times New Roman" pitchFamily="18" charset="0"/>
              </a:rPr>
              <a:t> to be transferred between MM and IO device, direction of data transfer (IO device to MM or MM to IO device) to the DMA controller through data bus. </a:t>
            </a:r>
          </a:p>
          <a:p>
            <a:r>
              <a:rPr lang="en-IN" dirty="0" smtClean="0">
                <a:latin typeface="Times New Roman" pitchFamily="18" charset="0"/>
                <a:cs typeface="Times New Roman" pitchFamily="18" charset="0"/>
              </a:rPr>
              <a:t>CPU activates bus grant line (BG).</a:t>
            </a:r>
          </a:p>
          <a:p>
            <a:r>
              <a:rPr lang="en-IN" dirty="0" smtClean="0">
                <a:latin typeface="Times New Roman" pitchFamily="18" charset="0"/>
                <a:cs typeface="Times New Roman" pitchFamily="18" charset="0"/>
              </a:rPr>
              <a:t>DMA controller stores the </a:t>
            </a:r>
            <a:r>
              <a:rPr lang="en-IN" b="1" dirty="0" smtClean="0">
                <a:latin typeface="Times New Roman" pitchFamily="18" charset="0"/>
                <a:cs typeface="Times New Roman" pitchFamily="18" charset="0"/>
              </a:rPr>
              <a:t>starting address</a:t>
            </a:r>
            <a:r>
              <a:rPr lang="en-IN" dirty="0" smtClean="0">
                <a:latin typeface="Times New Roman" pitchFamily="18" charset="0"/>
                <a:cs typeface="Times New Roman" pitchFamily="18" charset="0"/>
              </a:rPr>
              <a:t> in IOAR, word or byte count i.e. the </a:t>
            </a:r>
            <a:r>
              <a:rPr lang="en-IN" b="1" dirty="0" smtClean="0">
                <a:latin typeface="Times New Roman" pitchFamily="18" charset="0"/>
                <a:cs typeface="Times New Roman" pitchFamily="18" charset="0"/>
              </a:rPr>
              <a:t>number of words or bytes</a:t>
            </a:r>
            <a:r>
              <a:rPr lang="en-IN" dirty="0" smtClean="0">
                <a:latin typeface="Times New Roman" pitchFamily="18" charset="0"/>
                <a:cs typeface="Times New Roman" pitchFamily="18" charset="0"/>
              </a:rPr>
              <a:t> to be transferred in DC, activates bus grant acknowledgement () and deactivates . </a:t>
            </a:r>
          </a:p>
          <a:p>
            <a:r>
              <a:rPr lang="en-IN" dirty="0" smtClean="0">
                <a:latin typeface="Times New Roman" pitchFamily="18" charset="0"/>
                <a:cs typeface="Times New Roman" pitchFamily="18" charset="0"/>
              </a:rPr>
              <a:t> Data transfer takes place between MM and IO device under the supervision of DMA controller. </a:t>
            </a:r>
          </a:p>
          <a:p>
            <a:r>
              <a:rPr lang="en-IN" dirty="0" smtClean="0">
                <a:latin typeface="Times New Roman" pitchFamily="18" charset="0"/>
                <a:cs typeface="Times New Roman" pitchFamily="18" charset="0"/>
              </a:rPr>
              <a:t>DMA controller provides memory address and all the bus signals, that control data transfer operation. </a:t>
            </a:r>
          </a:p>
          <a:p>
            <a:r>
              <a:rPr lang="en-IN" dirty="0" smtClean="0">
                <a:latin typeface="Times New Roman" pitchFamily="18" charset="0"/>
                <a:cs typeface="Times New Roman" pitchFamily="18" charset="0"/>
              </a:rPr>
              <a:t>DMA controller updates IOAR and DC after transferring each word/byte. </a:t>
            </a:r>
          </a:p>
          <a:p>
            <a:r>
              <a:rPr lang="en-IN" dirty="0" smtClean="0">
                <a:latin typeface="Times New Roman" pitchFamily="18" charset="0"/>
                <a:cs typeface="Times New Roman" pitchFamily="18" charset="0"/>
              </a:rPr>
              <a:t>DMA controller raises an interrupt signal to inform CPU about the end of data transfer operation and returns the system bus to CPU by deactivating  </a:t>
            </a:r>
            <a:endParaRPr lang="en-IN"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95942"/>
            <a:ext cx="11730446" cy="4801314"/>
          </a:xfrm>
          <a:prstGeom prst="rect">
            <a:avLst/>
          </a:prstGeom>
          <a:noFill/>
        </p:spPr>
        <p:txBody>
          <a:bodyPr wrap="square" rtlCol="0">
            <a:spAutoFit/>
          </a:bodyPr>
          <a:lstStyle/>
          <a:p>
            <a:r>
              <a:rPr lang="en-IN" u="sng" dirty="0" smtClean="0">
                <a:latin typeface="Times New Roman" pitchFamily="18" charset="0"/>
                <a:cs typeface="Times New Roman" pitchFamily="18" charset="0"/>
              </a:rPr>
              <a:t>Modes of data transfer using DMA</a:t>
            </a:r>
            <a:r>
              <a:rPr lang="en-IN" dirty="0" smtClean="0">
                <a:latin typeface="Times New Roman" pitchFamily="18" charset="0"/>
                <a:cs typeface="Times New Roman" pitchFamily="18" charset="0"/>
              </a:rPr>
              <a:t>: Data can be transferred in several different ways under DMA control. </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DMA block transfer</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Transfers a data word sequence of arbitrary length in a single continuous burst while the DMA controller is the master of the system bus. </a:t>
            </a:r>
          </a:p>
          <a:p>
            <a:r>
              <a:rPr lang="en-IN" dirty="0" smtClean="0">
                <a:latin typeface="Times New Roman" pitchFamily="18" charset="0"/>
                <a:cs typeface="Times New Roman" pitchFamily="18" charset="0"/>
              </a:rPr>
              <a:t>This mode supports maximum IO data transmission rate while CPU may remain inactive for relatively long period. </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Cycle stealing</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Allows DMA controller to use the system bus to transfer one or several data words after which it must return control of the system bus to CPU. </a:t>
            </a:r>
          </a:p>
          <a:p>
            <a:r>
              <a:rPr lang="en-IN" dirty="0" smtClean="0">
                <a:latin typeface="Times New Roman" pitchFamily="18" charset="0"/>
                <a:cs typeface="Times New Roman" pitchFamily="18" charset="0"/>
              </a:rPr>
              <a:t>That is a few CPU cycles are stolen by the DMA controller as CPU remains inactive during the data transfer operation by DMA controller</a:t>
            </a:r>
          </a:p>
          <a:p>
            <a:r>
              <a:rPr lang="en-IN" dirty="0" smtClean="0">
                <a:latin typeface="Times New Roman" pitchFamily="18" charset="0"/>
                <a:cs typeface="Times New Roman" pitchFamily="18" charset="0"/>
              </a:rPr>
              <a:t>It needs a sequence of DMA bus transaction to transfer long blocks of IO data. </a:t>
            </a:r>
          </a:p>
          <a:p>
            <a:r>
              <a:rPr lang="en-IN" dirty="0" smtClean="0">
                <a:latin typeface="Times New Roman" pitchFamily="18" charset="0"/>
                <a:cs typeface="Times New Roman" pitchFamily="18" charset="0"/>
              </a:rPr>
              <a:t>It reduces IO data transfer rate and interference of CPU activity than block transfer.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It is possible to eliminate the CPU interference completely by designing the DMA interface so that bus cycles are stolen only when the CPU is not actually using the system bus; this is transparent DMA.  </a:t>
            </a:r>
            <a:endParaRPr lang="en-IN"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7" y="209006"/>
            <a:ext cx="11808823" cy="6186309"/>
          </a:xfrm>
          <a:prstGeom prst="rect">
            <a:avLst/>
          </a:prstGeom>
          <a:noFill/>
        </p:spPr>
        <p:txBody>
          <a:bodyPr wrap="square" rtlCol="0">
            <a:spAutoFit/>
          </a:bodyPr>
          <a:lstStyle/>
          <a:p>
            <a:r>
              <a:rPr lang="en-IN" dirty="0" smtClean="0">
                <a:latin typeface="Times New Roman" pitchFamily="18" charset="0"/>
                <a:cs typeface="Times New Roman" pitchFamily="18" charset="0"/>
              </a:rPr>
              <a:t>Access time of disk:</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Total time required for a storage device (such as a Hard Disk Drive) to process a read/write request and transfer the requested data, spanning from the initial request to the moment the data is available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Access time = Seek time + Rotational latency + Transfer time</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RAID (Redundant Array of Independent Disks)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Provides significant advantages over a single hard disk drive</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Key advantages of RAID over a single disk include:</a:t>
            </a:r>
          </a:p>
          <a:p>
            <a:r>
              <a:rPr lang="en-IN" b="1" dirty="0" smtClean="0">
                <a:latin typeface="Times New Roman" pitchFamily="18" charset="0"/>
                <a:cs typeface="Times New Roman" pitchFamily="18" charset="0"/>
              </a:rPr>
              <a:t>Improved Performance (Speed):</a:t>
            </a:r>
            <a:r>
              <a:rPr lang="en-IN" dirty="0" smtClean="0">
                <a:latin typeface="Times New Roman" pitchFamily="18" charset="0"/>
                <a:cs typeface="Times New Roman" pitchFamily="18" charset="0"/>
              </a:rPr>
              <a:t> RAID uses "striping" to distribute data across multiple disks, allowing read and write operations to happen in parallel, significantly increasing throughput compared to a single drive.</a:t>
            </a:r>
          </a:p>
          <a:p>
            <a:r>
              <a:rPr lang="en-IN" b="1" dirty="0" smtClean="0">
                <a:latin typeface="Times New Roman" pitchFamily="18" charset="0"/>
                <a:cs typeface="Times New Roman" pitchFamily="18" charset="0"/>
              </a:rPr>
              <a:t>Data Redundancy and Fault Tolerance:</a:t>
            </a:r>
            <a:r>
              <a:rPr lang="en-IN" dirty="0" smtClean="0">
                <a:latin typeface="Times New Roman" pitchFamily="18" charset="0"/>
                <a:cs typeface="Times New Roman" pitchFamily="18" charset="0"/>
              </a:rPr>
              <a:t> RAID mirrors or stripes data with parity, allowing the system to continue operating without data loss if one or more drives fail.</a:t>
            </a:r>
          </a:p>
          <a:p>
            <a:r>
              <a:rPr lang="en-IN" b="1" dirty="0" smtClean="0">
                <a:latin typeface="Times New Roman" pitchFamily="18" charset="0"/>
                <a:cs typeface="Times New Roman" pitchFamily="18" charset="0"/>
              </a:rPr>
              <a:t>Increased Storage Capacity:</a:t>
            </a:r>
            <a:r>
              <a:rPr lang="en-IN" dirty="0" smtClean="0">
                <a:latin typeface="Times New Roman" pitchFamily="18" charset="0"/>
                <a:cs typeface="Times New Roman" pitchFamily="18" charset="0"/>
              </a:rPr>
              <a:t> By pooling several smaller, less expensive disks, RAID allows for the creation of a large, high-capacity logical drive.</a:t>
            </a:r>
          </a:p>
          <a:p>
            <a:r>
              <a:rPr lang="en-IN" b="1" dirty="0" smtClean="0">
                <a:latin typeface="Times New Roman" pitchFamily="18" charset="0"/>
                <a:cs typeface="Times New Roman" pitchFamily="18" charset="0"/>
              </a:rPr>
              <a:t>Improved System Uptime:</a:t>
            </a:r>
            <a:r>
              <a:rPr lang="en-IN" dirty="0" smtClean="0">
                <a:latin typeface="Times New Roman" pitchFamily="18" charset="0"/>
                <a:cs typeface="Times New Roman" pitchFamily="18" charset="0"/>
              </a:rPr>
              <a:t> Because RAID provides high availability, servers can continue to run and access data even during a disk failure, preventing downtime.</a:t>
            </a:r>
          </a:p>
          <a:p>
            <a:r>
              <a:rPr lang="en-IN" b="1" dirty="0" smtClean="0">
                <a:latin typeface="Times New Roman" pitchFamily="18" charset="0"/>
                <a:cs typeface="Times New Roman" pitchFamily="18" charset="0"/>
              </a:rPr>
              <a:t>Higher Data Reliability:</a:t>
            </a:r>
            <a:r>
              <a:rPr lang="en-IN" dirty="0" smtClean="0">
                <a:latin typeface="Times New Roman" pitchFamily="18" charset="0"/>
                <a:cs typeface="Times New Roman" pitchFamily="18" charset="0"/>
              </a:rPr>
              <a:t> RAID configurations like RAID 5 and 6 enhance data integrity, reducing the probability of total data loss compared to relying on a single disk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7" y="209005"/>
            <a:ext cx="6557554" cy="5909310"/>
          </a:xfrm>
          <a:prstGeom prst="rect">
            <a:avLst/>
          </a:prstGeom>
          <a:noFill/>
        </p:spPr>
        <p:txBody>
          <a:bodyPr wrap="square" rtlCol="0">
            <a:spAutoFit/>
          </a:bodyPr>
          <a:lstStyle/>
          <a:p>
            <a:r>
              <a:rPr lang="en-IN" dirty="0" smtClean="0">
                <a:latin typeface="Times New Roman" pitchFamily="18" charset="0"/>
                <a:cs typeface="Times New Roman" pitchFamily="18" charset="0"/>
              </a:rPr>
              <a:t>RAID 0 (Striping)</a:t>
            </a:r>
          </a:p>
          <a:p>
            <a:pPr lvl="0"/>
            <a:r>
              <a:rPr lang="en-IN" dirty="0" smtClean="0">
                <a:latin typeface="Times New Roman" pitchFamily="18" charset="0"/>
                <a:cs typeface="Times New Roman" pitchFamily="18" charset="0"/>
              </a:rPr>
              <a:t>Array has multiple disks, let the number of disks in the array is N</a:t>
            </a:r>
          </a:p>
          <a:p>
            <a:pPr lvl="0"/>
            <a:r>
              <a:rPr lang="en-IN" dirty="0" smtClean="0">
                <a:latin typeface="Times New Roman" pitchFamily="18" charset="0"/>
                <a:cs typeface="Times New Roman" pitchFamily="18" charset="0"/>
              </a:rPr>
              <a:t>Each disk operates independently</a:t>
            </a: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Breaks a file into N number of small pieces of data</a:t>
            </a:r>
          </a:p>
          <a:p>
            <a:pPr lvl="0"/>
            <a:r>
              <a:rPr lang="en-IN" dirty="0" smtClean="0">
                <a:latin typeface="Times New Roman" pitchFamily="18" charset="0"/>
                <a:cs typeface="Times New Roman" pitchFamily="18" charset="0"/>
              </a:rPr>
              <a:t>Stores the N small pieces of data in N different disks </a:t>
            </a:r>
          </a:p>
          <a:p>
            <a:pPr lvl="0"/>
            <a:r>
              <a:rPr lang="en-IN" dirty="0" smtClean="0">
                <a:latin typeface="Times New Roman" pitchFamily="18" charset="0"/>
                <a:cs typeface="Times New Roman" pitchFamily="18" charset="0"/>
              </a:rPr>
              <a:t>Read operation: </a:t>
            </a:r>
          </a:p>
          <a:p>
            <a:pPr lvl="0"/>
            <a:r>
              <a:rPr lang="en-IN" dirty="0" smtClean="0">
                <a:latin typeface="Times New Roman" pitchFamily="18" charset="0"/>
                <a:cs typeface="Times New Roman" pitchFamily="18" charset="0"/>
              </a:rPr>
              <a:t>All the N number of disks deliver data in parallel during read operation. All these N pieces of data are stored in a buffer during read operation to reassemble the file from N small pieces of data</a:t>
            </a:r>
          </a:p>
          <a:p>
            <a:pPr lvl="0"/>
            <a:r>
              <a:rPr lang="en-IN" dirty="0" smtClean="0">
                <a:latin typeface="Times New Roman" pitchFamily="18" charset="0"/>
                <a:cs typeface="Times New Roman" pitchFamily="18" charset="0"/>
              </a:rPr>
              <a:t>Access time: Seek time +Rotational latency time + Data transfer time </a:t>
            </a:r>
          </a:p>
          <a:p>
            <a:pPr lvl="0"/>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The seek time and rotational latency time to locate the beginning of the piece of data  on each disk are not reduced i.e. identical to the use of single disk for storing the same file.</a:t>
            </a:r>
          </a:p>
          <a:p>
            <a:r>
              <a:rPr lang="en-IN" dirty="0" smtClean="0">
                <a:latin typeface="Times New Roman" pitchFamily="18" charset="0"/>
                <a:cs typeface="Times New Roman" pitchFamily="18" charset="0"/>
              </a:rPr>
              <a:t>The data transfer time reduces as it is equal to the time which is required to read the entire file from a single disk  divided by the number of disks used in the array i.e. N</a:t>
            </a:r>
          </a:p>
          <a:p>
            <a:pPr lvl="0"/>
            <a:r>
              <a:rPr lang="en-IN" dirty="0" smtClean="0">
                <a:latin typeface="Times New Roman" pitchFamily="18" charset="0"/>
                <a:cs typeface="Times New Roman" pitchFamily="18" charset="0"/>
              </a:rPr>
              <a:t>This configuration of RAID is the simplest possible disk array operation in which the data transfer time component of access time reduces and hence the data access time during read operation reduces</a:t>
            </a:r>
          </a:p>
        </p:txBody>
      </p:sp>
      <p:sp>
        <p:nvSpPr>
          <p:cNvPr id="3" name="TextBox 2"/>
          <p:cNvSpPr txBox="1"/>
          <p:nvPr/>
        </p:nvSpPr>
        <p:spPr>
          <a:xfrm>
            <a:off x="6949441" y="156755"/>
            <a:ext cx="4754880" cy="6463308"/>
          </a:xfrm>
          <a:prstGeom prst="rect">
            <a:avLst/>
          </a:prstGeom>
          <a:noFill/>
        </p:spPr>
        <p:txBody>
          <a:bodyPr wrap="square" rtlCol="0">
            <a:spAutoFit/>
          </a:bodyPr>
          <a:lstStyle/>
          <a:p>
            <a:r>
              <a:rPr lang="en-IN" dirty="0" smtClean="0">
                <a:latin typeface="Times New Roman" pitchFamily="18" charset="0"/>
                <a:cs typeface="Times New Roman" pitchFamily="18" charset="0"/>
              </a:rPr>
              <a:t>RAID 1 (Mirroring)</a:t>
            </a:r>
          </a:p>
          <a:p>
            <a:pPr lvl="0"/>
            <a:r>
              <a:rPr lang="en-IN" dirty="0" smtClean="0">
                <a:latin typeface="Times New Roman" pitchFamily="18" charset="0"/>
                <a:cs typeface="Times New Roman" pitchFamily="18" charset="0"/>
              </a:rPr>
              <a:t>Array has multiple disks, let the number of data disks in the array is N</a:t>
            </a:r>
          </a:p>
          <a:p>
            <a:pPr lvl="0"/>
            <a:r>
              <a:rPr lang="en-IN" dirty="0" smtClean="0">
                <a:latin typeface="Times New Roman" pitchFamily="18" charset="0"/>
                <a:cs typeface="Times New Roman" pitchFamily="18" charset="0"/>
              </a:rPr>
              <a:t>Each disk operates independently</a:t>
            </a: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Breaks a file into N number of small pieces of data</a:t>
            </a:r>
          </a:p>
          <a:p>
            <a:pPr lvl="0"/>
            <a:r>
              <a:rPr lang="en-IN" dirty="0" smtClean="0">
                <a:latin typeface="Times New Roman" pitchFamily="18" charset="0"/>
                <a:cs typeface="Times New Roman" pitchFamily="18" charset="0"/>
              </a:rPr>
              <a:t>Stores the N small pieces of data in N different data disks </a:t>
            </a:r>
          </a:p>
          <a:p>
            <a:pPr lvl="0"/>
            <a:r>
              <a:rPr lang="en-IN" dirty="0" smtClean="0">
                <a:latin typeface="Times New Roman" pitchFamily="18" charset="0"/>
                <a:cs typeface="Times New Roman" pitchFamily="18" charset="0"/>
              </a:rPr>
              <a:t>Stores identical copies of data on two disks rather than on a single disk that is each data disk has a redundant disk. If one disk drive fails all read and write operation from this faulty disk are directed to its redundant disk to avoid any data loss and hence improves reliability</a:t>
            </a:r>
          </a:p>
          <a:p>
            <a:pPr lvl="0"/>
            <a:r>
              <a:rPr lang="en-IN" dirty="0" smtClean="0">
                <a:latin typeface="Times New Roman" pitchFamily="18" charset="0"/>
                <a:cs typeface="Times New Roman" pitchFamily="18" charset="0"/>
              </a:rPr>
              <a:t>Read operation: </a:t>
            </a:r>
          </a:p>
          <a:p>
            <a:pPr lvl="0"/>
            <a:r>
              <a:rPr lang="en-IN" dirty="0" smtClean="0">
                <a:latin typeface="Times New Roman" pitchFamily="18" charset="0"/>
                <a:cs typeface="Times New Roman" pitchFamily="18" charset="0"/>
              </a:rPr>
              <a:t>All the N number of disks deliver data in parallel during read operation. All these N pieces of data are stored in a buffer during read operation to reassemble the file from N small pieces of data</a:t>
            </a:r>
          </a:p>
          <a:p>
            <a:pPr lvl="0"/>
            <a:r>
              <a:rPr lang="en-IN" dirty="0" smtClean="0">
                <a:latin typeface="Times New Roman" pitchFamily="18" charset="0"/>
                <a:cs typeface="Times New Roman" pitchFamily="18" charset="0"/>
              </a:rPr>
              <a:t>Costly way to improve reliability as it needs 2N number of disks (N data disks + N redundant disks)</a:t>
            </a:r>
            <a:endParaRPr lang="en-IN"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8572635" y="329351"/>
          <a:ext cx="610554" cy="2280580"/>
        </p:xfrm>
        <a:graphic>
          <a:graphicData uri="http://schemas.openxmlformats.org/drawingml/2006/table">
            <a:tbl>
              <a:tblPr/>
              <a:tblGrid>
                <a:gridCol w="610554"/>
              </a:tblGrid>
              <a:tr h="204800">
                <a:tc>
                  <a:txBody>
                    <a:bodyPr/>
                    <a:lstStyle/>
                    <a:p>
                      <a:pPr algn="l">
                        <a:lnSpc>
                          <a:spcPct val="107000"/>
                        </a:lnSpc>
                        <a:spcAft>
                          <a:spcPts val="800"/>
                        </a:spcAft>
                      </a:pPr>
                      <a:r>
                        <a:rPr lang="en-IN" sz="1400" dirty="0">
                          <a:latin typeface="Times New Roman" pitchFamily="18" charset="0"/>
                          <a:ea typeface="Calibri"/>
                          <a:cs typeface="Times New Roman" pitchFamily="18" charset="0"/>
                        </a:rPr>
                        <a:t>DD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5224">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5691">
                <a:tc>
                  <a:txBody>
                    <a:bodyPr/>
                    <a:lstStyle/>
                    <a:p>
                      <a:pPr algn="l">
                        <a:lnSpc>
                          <a:spcPct val="107000"/>
                        </a:lnSpc>
                        <a:spcAft>
                          <a:spcPts val="800"/>
                        </a:spcAft>
                      </a:pPr>
                      <a:r>
                        <a:rPr lang="en-IN" sz="1400">
                          <a:latin typeface="Times New Roman" pitchFamily="18" charset="0"/>
                          <a:ea typeface="Calibri"/>
                          <a:cs typeface="Times New Roman" pitchFamily="18" charset="0"/>
                        </a:rPr>
                        <a:t>b1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5691">
                <a:tc>
                  <a:txBody>
                    <a:bodyPr/>
                    <a:lstStyle/>
                    <a:p>
                      <a:pPr algn="l">
                        <a:lnSpc>
                          <a:spcPct val="107000"/>
                        </a:lnSpc>
                        <a:spcAft>
                          <a:spcPts val="800"/>
                        </a:spcAft>
                      </a:pPr>
                      <a:r>
                        <a:rPr lang="en-IN" sz="1400">
                          <a:latin typeface="Times New Roman" pitchFamily="18" charset="0"/>
                          <a:ea typeface="Calibri"/>
                          <a:cs typeface="Times New Roman" pitchFamily="18" charset="0"/>
                        </a:rPr>
                        <a:t>b3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5691">
                <a:tc>
                  <a:txBody>
                    <a:bodyPr/>
                    <a:lstStyle/>
                    <a:p>
                      <a:pPr algn="l">
                        <a:lnSpc>
                          <a:spcPct val="107000"/>
                        </a:lnSpc>
                        <a:spcAft>
                          <a:spcPts val="800"/>
                        </a:spcAft>
                      </a:pPr>
                      <a:r>
                        <a:rPr lang="en-IN" sz="1400" dirty="0">
                          <a:latin typeface="Times New Roman" pitchFamily="18" charset="0"/>
                          <a:ea typeface="Calibri"/>
                          <a:cs typeface="Times New Roman" pitchFamily="18" charset="0"/>
                        </a:rPr>
                        <a:t>b5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9513161" y="303225"/>
          <a:ext cx="597490" cy="2291127"/>
        </p:xfrm>
        <a:graphic>
          <a:graphicData uri="http://schemas.openxmlformats.org/drawingml/2006/table">
            <a:tbl>
              <a:tblPr/>
              <a:tblGrid>
                <a:gridCol w="597490"/>
              </a:tblGrid>
              <a:tr h="220377">
                <a:tc>
                  <a:txBody>
                    <a:bodyPr/>
                    <a:lstStyle/>
                    <a:p>
                      <a:pPr algn="l">
                        <a:lnSpc>
                          <a:spcPct val="107000"/>
                        </a:lnSpc>
                        <a:spcAft>
                          <a:spcPts val="800"/>
                        </a:spcAft>
                      </a:pPr>
                      <a:r>
                        <a:rPr lang="en-IN" sz="1400">
                          <a:latin typeface="Times New Roman" pitchFamily="18" charset="0"/>
                          <a:ea typeface="Calibri"/>
                          <a:cs typeface="Times New Roman" pitchFamily="18" charset="0"/>
                        </a:rPr>
                        <a:t>DD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6579">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716">
                <a:tc>
                  <a:txBody>
                    <a:bodyPr/>
                    <a:lstStyle/>
                    <a:p>
                      <a:pPr algn="l">
                        <a:lnSpc>
                          <a:spcPct val="107000"/>
                        </a:lnSpc>
                        <a:spcAft>
                          <a:spcPts val="800"/>
                        </a:spcAft>
                      </a:pPr>
                      <a:r>
                        <a:rPr lang="en-IN" sz="1400">
                          <a:latin typeface="Times New Roman" pitchFamily="18" charset="0"/>
                          <a:ea typeface="Calibri"/>
                          <a:cs typeface="Times New Roman" pitchFamily="18" charset="0"/>
                        </a:rPr>
                        <a:t>b2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8833">
                <a:tc>
                  <a:txBody>
                    <a:bodyPr/>
                    <a:lstStyle/>
                    <a:p>
                      <a:pPr algn="l">
                        <a:lnSpc>
                          <a:spcPct val="107000"/>
                        </a:lnSpc>
                        <a:spcAft>
                          <a:spcPts val="800"/>
                        </a:spcAft>
                      </a:pPr>
                      <a:r>
                        <a:rPr lang="en-IN" sz="1400">
                          <a:latin typeface="Times New Roman" pitchFamily="18" charset="0"/>
                          <a:ea typeface="Calibri"/>
                          <a:cs typeface="Times New Roman" pitchFamily="18" charset="0"/>
                        </a:rPr>
                        <a:t>b4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716">
                <a:tc>
                  <a:txBody>
                    <a:bodyPr/>
                    <a:lstStyle/>
                    <a:p>
                      <a:pPr algn="l">
                        <a:lnSpc>
                          <a:spcPct val="107000"/>
                        </a:lnSpc>
                        <a:spcAft>
                          <a:spcPts val="800"/>
                        </a:spcAft>
                      </a:pPr>
                      <a:r>
                        <a:rPr lang="en-IN" sz="1400" dirty="0">
                          <a:latin typeface="Times New Roman" pitchFamily="18" charset="0"/>
                          <a:ea typeface="Calibri"/>
                          <a:cs typeface="Times New Roman" pitchFamily="18" charset="0"/>
                        </a:rPr>
                        <a:t>b6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10378120" y="293972"/>
          <a:ext cx="633867" cy="2259871"/>
        </p:xfrm>
        <a:graphic>
          <a:graphicData uri="http://schemas.openxmlformats.org/drawingml/2006/table">
            <a:tbl>
              <a:tblPr/>
              <a:tblGrid>
                <a:gridCol w="633867"/>
              </a:tblGrid>
              <a:tr h="221696">
                <a:tc>
                  <a:txBody>
                    <a:bodyPr/>
                    <a:lstStyle/>
                    <a:p>
                      <a:pPr algn="l">
                        <a:lnSpc>
                          <a:spcPct val="107000"/>
                        </a:lnSpc>
                        <a:spcAft>
                          <a:spcPts val="800"/>
                        </a:spcAft>
                      </a:pPr>
                      <a:r>
                        <a:rPr lang="en-IN" sz="1400">
                          <a:latin typeface="Times New Roman" pitchFamily="18" charset="0"/>
                          <a:ea typeface="Calibri"/>
                          <a:cs typeface="Times New Roman" pitchFamily="18" charset="0"/>
                        </a:rPr>
                        <a:t>ECC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9342">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0511">
                <a:tc>
                  <a:txBody>
                    <a:bodyPr/>
                    <a:lstStyle/>
                    <a:p>
                      <a:pPr algn="l">
                        <a:lnSpc>
                          <a:spcPct val="107000"/>
                        </a:lnSpc>
                        <a:spcAft>
                          <a:spcPts val="800"/>
                        </a:spcAft>
                      </a:pPr>
                      <a:r>
                        <a:rPr lang="en-IN" sz="1400">
                          <a:latin typeface="Times New Roman" pitchFamily="18" charset="0"/>
                          <a:ea typeface="Calibri"/>
                          <a:cs typeface="Times New Roman" pitchFamily="18" charset="0"/>
                        </a:rPr>
                        <a:t>E1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1224">
                <a:tc>
                  <a:txBody>
                    <a:bodyPr/>
                    <a:lstStyle/>
                    <a:p>
                      <a:pPr algn="l">
                        <a:lnSpc>
                          <a:spcPct val="107000"/>
                        </a:lnSpc>
                        <a:spcAft>
                          <a:spcPts val="800"/>
                        </a:spcAft>
                      </a:pPr>
                      <a:r>
                        <a:rPr lang="en-IN" sz="1400">
                          <a:latin typeface="Times New Roman" pitchFamily="18" charset="0"/>
                          <a:ea typeface="Calibri"/>
                          <a:cs typeface="Times New Roman" pitchFamily="18" charset="0"/>
                        </a:rPr>
                        <a:t>E3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0511">
                <a:tc>
                  <a:txBody>
                    <a:bodyPr/>
                    <a:lstStyle/>
                    <a:p>
                      <a:pPr algn="l">
                        <a:lnSpc>
                          <a:spcPct val="107000"/>
                        </a:lnSpc>
                        <a:spcAft>
                          <a:spcPts val="800"/>
                        </a:spcAft>
                      </a:pPr>
                      <a:r>
                        <a:rPr lang="en-IN" sz="1400" dirty="0">
                          <a:latin typeface="Times New Roman" pitchFamily="18" charset="0"/>
                          <a:ea typeface="Calibri"/>
                          <a:cs typeface="Times New Roman" pitchFamily="18" charset="0"/>
                        </a:rPr>
                        <a:t>E5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11237458" y="290162"/>
          <a:ext cx="649741" cy="2226038"/>
        </p:xfrm>
        <a:graphic>
          <a:graphicData uri="http://schemas.openxmlformats.org/drawingml/2006/table">
            <a:tbl>
              <a:tblPr/>
              <a:tblGrid>
                <a:gridCol w="649741"/>
              </a:tblGrid>
              <a:tr h="220152">
                <a:tc>
                  <a:txBody>
                    <a:bodyPr/>
                    <a:lstStyle/>
                    <a:p>
                      <a:pPr algn="l">
                        <a:lnSpc>
                          <a:spcPct val="107000"/>
                        </a:lnSpc>
                        <a:spcAft>
                          <a:spcPts val="800"/>
                        </a:spcAft>
                      </a:pPr>
                      <a:r>
                        <a:rPr lang="en-IN" sz="1400">
                          <a:latin typeface="Times New Roman" pitchFamily="18" charset="0"/>
                          <a:ea typeface="Calibri"/>
                          <a:cs typeface="Times New Roman" pitchFamily="18" charset="0"/>
                        </a:rPr>
                        <a:t>ECC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8473">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096">
                <a:tc>
                  <a:txBody>
                    <a:bodyPr/>
                    <a:lstStyle/>
                    <a:p>
                      <a:pPr algn="l">
                        <a:lnSpc>
                          <a:spcPct val="107000"/>
                        </a:lnSpc>
                        <a:spcAft>
                          <a:spcPts val="800"/>
                        </a:spcAft>
                      </a:pPr>
                      <a:r>
                        <a:rPr lang="en-IN" sz="1400">
                          <a:latin typeface="Times New Roman" pitchFamily="18" charset="0"/>
                          <a:ea typeface="Calibri"/>
                          <a:cs typeface="Times New Roman" pitchFamily="18" charset="0"/>
                        </a:rPr>
                        <a:t>E2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090">
                <a:tc>
                  <a:txBody>
                    <a:bodyPr/>
                    <a:lstStyle/>
                    <a:p>
                      <a:pPr algn="l">
                        <a:lnSpc>
                          <a:spcPct val="107000"/>
                        </a:lnSpc>
                        <a:spcAft>
                          <a:spcPts val="800"/>
                        </a:spcAft>
                      </a:pPr>
                      <a:r>
                        <a:rPr lang="en-IN" sz="1400">
                          <a:latin typeface="Times New Roman" pitchFamily="18" charset="0"/>
                          <a:ea typeface="Calibri"/>
                          <a:cs typeface="Times New Roman" pitchFamily="18" charset="0"/>
                        </a:rPr>
                        <a:t>E4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096">
                <a:tc>
                  <a:txBody>
                    <a:bodyPr/>
                    <a:lstStyle/>
                    <a:p>
                      <a:pPr algn="l">
                        <a:lnSpc>
                          <a:spcPct val="107000"/>
                        </a:lnSpc>
                        <a:spcAft>
                          <a:spcPts val="800"/>
                        </a:spcAft>
                      </a:pPr>
                      <a:r>
                        <a:rPr lang="en-IN" sz="1400" dirty="0">
                          <a:latin typeface="Times New Roman" pitchFamily="18" charset="0"/>
                          <a:ea typeface="Calibri"/>
                          <a:cs typeface="Times New Roman" pitchFamily="18" charset="0"/>
                        </a:rPr>
                        <a:t>E6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 name="TextBox 7"/>
          <p:cNvSpPr txBox="1"/>
          <p:nvPr/>
        </p:nvSpPr>
        <p:spPr>
          <a:xfrm>
            <a:off x="8477794" y="3095896"/>
            <a:ext cx="1802675"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1: RAID 2</a:t>
            </a:r>
            <a:endParaRPr lang="en-IN" dirty="0">
              <a:latin typeface="Times New Roman" pitchFamily="18" charset="0"/>
              <a:cs typeface="Times New Roman" pitchFamily="18" charset="0"/>
            </a:endParaRPr>
          </a:p>
        </p:txBody>
      </p:sp>
      <p:sp>
        <p:nvSpPr>
          <p:cNvPr id="9" name="TextBox 8"/>
          <p:cNvSpPr txBox="1"/>
          <p:nvPr/>
        </p:nvSpPr>
        <p:spPr>
          <a:xfrm>
            <a:off x="5290457" y="2860766"/>
            <a:ext cx="6688183" cy="369332"/>
          </a:xfrm>
          <a:prstGeom prst="rect">
            <a:avLst/>
          </a:prstGeom>
          <a:noFill/>
        </p:spPr>
        <p:txBody>
          <a:bodyPr wrap="square" rtlCol="0">
            <a:spAutoFit/>
          </a:bodyPr>
          <a:lstStyle/>
          <a:p>
            <a:endParaRPr lang="en-IN" dirty="0"/>
          </a:p>
        </p:txBody>
      </p:sp>
      <p:sp>
        <p:nvSpPr>
          <p:cNvPr id="11" name="TextBox 10"/>
          <p:cNvSpPr txBox="1"/>
          <p:nvPr/>
        </p:nvSpPr>
        <p:spPr>
          <a:xfrm>
            <a:off x="182880" y="169817"/>
            <a:ext cx="7197633" cy="3970318"/>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Four disks of RAID 2 configuration is shown in Fig 1. The left two disks are the data disks (DD 1 and DD 2 as written at the top of these disks) whereas the right two disks are the ECC (error correcting code) disks (ECC 1 and ECC 2) in Fig 1</a:t>
            </a: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Strips the data bits (b1, b2, b3, b4, b5, b6) in the two data disks</a:t>
            </a:r>
          </a:p>
          <a:p>
            <a:r>
              <a:rPr lang="en-IN" dirty="0" smtClean="0">
                <a:latin typeface="Times New Roman" pitchFamily="18" charset="0"/>
                <a:cs typeface="Times New Roman" pitchFamily="18" charset="0"/>
              </a:rPr>
              <a:t>[File is divided into bits while storing the entire file in the data disks]</a:t>
            </a:r>
          </a:p>
          <a:p>
            <a:pPr lvl="0"/>
            <a:r>
              <a:rPr lang="en-IN" dirty="0" smtClean="0">
                <a:latin typeface="Times New Roman" pitchFamily="18" charset="0"/>
                <a:cs typeface="Times New Roman" pitchFamily="18" charset="0"/>
              </a:rPr>
              <a:t>Calculates ECC (using hamming code) during each write operation and stores the bits (E1, E2, E3, E4, E5, E6) of ECC in the ECC disks</a:t>
            </a:r>
          </a:p>
          <a:p>
            <a:pPr lvl="0"/>
            <a:r>
              <a:rPr lang="en-IN" dirty="0" smtClean="0">
                <a:latin typeface="Times New Roman" pitchFamily="18" charset="0"/>
                <a:cs typeface="Times New Roman" pitchFamily="18" charset="0"/>
              </a:rPr>
              <a:t>Read operation</a:t>
            </a:r>
          </a:p>
          <a:p>
            <a:pPr lvl="0"/>
            <a:r>
              <a:rPr lang="en-IN" dirty="0" smtClean="0">
                <a:latin typeface="Times New Roman" pitchFamily="18" charset="0"/>
                <a:cs typeface="Times New Roman" pitchFamily="18" charset="0"/>
              </a:rPr>
              <a:t>Reads the data bits from the data disks and computes </a:t>
            </a:r>
            <a:r>
              <a:rPr lang="en-IN" b="1" dirty="0" smtClean="0">
                <a:latin typeface="Times New Roman" pitchFamily="18" charset="0"/>
                <a:cs typeface="Times New Roman" pitchFamily="18" charset="0"/>
              </a:rPr>
              <a:t>new ECC</a:t>
            </a:r>
            <a:r>
              <a:rPr lang="en-IN" dirty="0" smtClean="0">
                <a:latin typeface="Times New Roman" pitchFamily="18" charset="0"/>
                <a:cs typeface="Times New Roman" pitchFamily="18" charset="0"/>
              </a:rPr>
              <a:t> from these data bits</a:t>
            </a:r>
          </a:p>
          <a:p>
            <a:pPr lvl="0"/>
            <a:r>
              <a:rPr lang="en-IN" dirty="0" smtClean="0">
                <a:latin typeface="Times New Roman" pitchFamily="18" charset="0"/>
                <a:cs typeface="Times New Roman" pitchFamily="18" charset="0"/>
              </a:rPr>
              <a:t>Reads the bits of ECC from the ECC disks and compares these bits with the bits of </a:t>
            </a:r>
            <a:r>
              <a:rPr lang="en-IN" b="1" dirty="0" smtClean="0">
                <a:latin typeface="Times New Roman" pitchFamily="18" charset="0"/>
                <a:cs typeface="Times New Roman" pitchFamily="18" charset="0"/>
              </a:rPr>
              <a:t>new ECC</a:t>
            </a:r>
            <a:r>
              <a:rPr lang="en-IN" dirty="0" smtClean="0">
                <a:latin typeface="Times New Roman" pitchFamily="18" charset="0"/>
                <a:cs typeface="Times New Roman" pitchFamily="18" charset="0"/>
              </a:rPr>
              <a:t> to verify the data bits for reliability</a:t>
            </a:r>
            <a:endParaRPr lang="en-IN" dirty="0">
              <a:latin typeface="Times New Roman" pitchFamily="18" charset="0"/>
              <a:cs typeface="Times New Roman" pitchFamily="18" charset="0"/>
            </a:endParaRPr>
          </a:p>
        </p:txBody>
      </p:sp>
      <p:sp>
        <p:nvSpPr>
          <p:cNvPr id="12" name="TextBox 11"/>
          <p:cNvSpPr txBox="1"/>
          <p:nvPr/>
        </p:nvSpPr>
        <p:spPr>
          <a:xfrm>
            <a:off x="222067" y="4219303"/>
            <a:ext cx="11403875" cy="2031325"/>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Uses lot of disks (Data disks + ECC disks) and hence difficult to maintain synchronization among the disks during read write operation</a:t>
            </a:r>
          </a:p>
          <a:p>
            <a:pPr lvl="0"/>
            <a:r>
              <a:rPr lang="en-IN" dirty="0" smtClean="0">
                <a:latin typeface="Times New Roman" pitchFamily="18" charset="0"/>
                <a:cs typeface="Times New Roman" pitchFamily="18" charset="0"/>
              </a:rPr>
              <a:t>Good for sequential reading and fair for sequential writing as ECC calculation is required even if the write operation is performed in a single bit</a:t>
            </a:r>
          </a:p>
          <a:p>
            <a:pPr lvl="0"/>
            <a:r>
              <a:rPr lang="en-IN" dirty="0" smtClean="0">
                <a:latin typeface="Times New Roman" pitchFamily="18" charset="0"/>
                <a:cs typeface="Times New Roman" pitchFamily="18" charset="0"/>
              </a:rPr>
              <a:t>Random read is fair but random write is slow due to the overhead of ECC calculation and bit stripping</a:t>
            </a:r>
          </a:p>
          <a:p>
            <a:pPr lvl="0"/>
            <a:r>
              <a:rPr lang="en-IN" dirty="0" smtClean="0">
                <a:latin typeface="Times New Roman" pitchFamily="18" charset="0"/>
                <a:cs typeface="Times New Roman" pitchFamily="18" charset="0"/>
              </a:rPr>
              <a:t>Single bit error can be detected and corrected easily, multiple bit error can be detected but not corrected </a:t>
            </a:r>
          </a:p>
          <a:p>
            <a:endParaRPr lang="en-IN"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2446156" y="917179"/>
          <a:ext cx="428625" cy="2750503"/>
        </p:xfrm>
        <a:graphic>
          <a:graphicData uri="http://schemas.openxmlformats.org/drawingml/2006/table">
            <a:tbl>
              <a:tblPr/>
              <a:tblGrid>
                <a:gridCol w="428625"/>
              </a:tblGrid>
              <a:tr h="84455">
                <a:tc>
                  <a:txBody>
                    <a:bodyPr/>
                    <a:lstStyle/>
                    <a:p>
                      <a:pPr algn="l">
                        <a:lnSpc>
                          <a:spcPct val="107000"/>
                        </a:lnSpc>
                        <a:spcAft>
                          <a:spcPts val="800"/>
                        </a:spcAft>
                      </a:pPr>
                      <a:r>
                        <a:rPr lang="en-IN" sz="1400" dirty="0">
                          <a:latin typeface="Times New Roman" pitchFamily="18" charset="0"/>
                          <a:ea typeface="Calibri"/>
                          <a:cs typeface="Times New Roman" pitchFamily="18" charset="0"/>
                        </a:rPr>
                        <a:t>PD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dirty="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P1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P2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P3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1704384" y="894863"/>
          <a:ext cx="594679" cy="2742883"/>
        </p:xfrm>
        <a:graphic>
          <a:graphicData uri="http://schemas.openxmlformats.org/drawingml/2006/table">
            <a:tbl>
              <a:tblPr/>
              <a:tblGrid>
                <a:gridCol w="594679"/>
              </a:tblGrid>
              <a:tr h="87630">
                <a:tc>
                  <a:txBody>
                    <a:bodyPr/>
                    <a:lstStyle/>
                    <a:p>
                      <a:pPr algn="l">
                        <a:lnSpc>
                          <a:spcPct val="107000"/>
                        </a:lnSpc>
                        <a:spcAft>
                          <a:spcPts val="800"/>
                        </a:spcAft>
                      </a:pPr>
                      <a:r>
                        <a:rPr lang="en-IN" sz="1400" dirty="0">
                          <a:latin typeface="Times New Roman" pitchFamily="18" charset="0"/>
                          <a:ea typeface="Calibri"/>
                          <a:cs typeface="Times New Roman" pitchFamily="18" charset="0"/>
                        </a:rPr>
                        <a:t>DD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endParaRPr lang="en-IN" sz="1400" dirty="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a:latin typeface="Times New Roman" pitchFamily="18" charset="0"/>
                          <a:ea typeface="Calibri"/>
                          <a:cs typeface="Times New Roman" pitchFamily="18" charset="0"/>
                        </a:rPr>
                        <a:t>B3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a:latin typeface="Times New Roman" pitchFamily="18" charset="0"/>
                          <a:ea typeface="Calibri"/>
                          <a:cs typeface="Times New Roman" pitchFamily="18" charset="0"/>
                        </a:rPr>
                        <a:t>B6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dirty="0">
                          <a:latin typeface="Times New Roman" pitchFamily="18" charset="0"/>
                          <a:ea typeface="Calibri"/>
                          <a:cs typeface="Times New Roman" pitchFamily="18" charset="0"/>
                        </a:rPr>
                        <a:t>B9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1022304" y="877990"/>
          <a:ext cx="545239" cy="2750503"/>
        </p:xfrm>
        <a:graphic>
          <a:graphicData uri="http://schemas.openxmlformats.org/drawingml/2006/table">
            <a:tbl>
              <a:tblPr/>
              <a:tblGrid>
                <a:gridCol w="545239"/>
              </a:tblGrid>
              <a:tr h="87630">
                <a:tc>
                  <a:txBody>
                    <a:bodyPr/>
                    <a:lstStyle/>
                    <a:p>
                      <a:pPr algn="l">
                        <a:lnSpc>
                          <a:spcPct val="107000"/>
                        </a:lnSpc>
                        <a:spcAft>
                          <a:spcPts val="800"/>
                        </a:spcAft>
                      </a:pPr>
                      <a:r>
                        <a:rPr lang="en-IN" sz="1400" dirty="0">
                          <a:latin typeface="Times New Roman" pitchFamily="18" charset="0"/>
                          <a:ea typeface="Calibri"/>
                          <a:cs typeface="Times New Roman" pitchFamily="18" charset="0"/>
                        </a:rPr>
                        <a:t>DD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dirty="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B2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B5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B8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 name="Table 7"/>
          <p:cNvGraphicFramePr>
            <a:graphicFrameLocks noGrp="1"/>
          </p:cNvGraphicFramePr>
          <p:nvPr/>
        </p:nvGraphicFramePr>
        <p:xfrm>
          <a:off x="329973" y="891053"/>
          <a:ext cx="571364" cy="2750503"/>
        </p:xfrm>
        <a:graphic>
          <a:graphicData uri="http://schemas.openxmlformats.org/drawingml/2006/table">
            <a:tbl>
              <a:tblPr/>
              <a:tblGrid>
                <a:gridCol w="571364"/>
              </a:tblGrid>
              <a:tr h="85725">
                <a:tc>
                  <a:txBody>
                    <a:bodyPr/>
                    <a:lstStyle/>
                    <a:p>
                      <a:pPr algn="l">
                        <a:lnSpc>
                          <a:spcPct val="107000"/>
                        </a:lnSpc>
                        <a:spcAft>
                          <a:spcPts val="800"/>
                        </a:spcAft>
                      </a:pPr>
                      <a:r>
                        <a:rPr lang="en-IN" sz="1400" dirty="0">
                          <a:latin typeface="Times New Roman" pitchFamily="18" charset="0"/>
                          <a:ea typeface="Calibri"/>
                          <a:cs typeface="Times New Roman" pitchFamily="18" charset="0"/>
                        </a:rPr>
                        <a:t>DD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dirty="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B1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B4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B7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TextBox 8"/>
          <p:cNvSpPr txBox="1"/>
          <p:nvPr/>
        </p:nvSpPr>
        <p:spPr>
          <a:xfrm>
            <a:off x="418011" y="287383"/>
            <a:ext cx="15806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2: RAID 3</a:t>
            </a:r>
          </a:p>
        </p:txBody>
      </p:sp>
      <p:sp>
        <p:nvSpPr>
          <p:cNvPr id="10" name="TextBox 9"/>
          <p:cNvSpPr txBox="1"/>
          <p:nvPr/>
        </p:nvSpPr>
        <p:spPr>
          <a:xfrm>
            <a:off x="3043646" y="169817"/>
            <a:ext cx="9148354" cy="3970318"/>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Four disks of RAID 3 configuration are shown in Fig 2. The left three disks are the data disks (DD 1, DD 2, DD 3) whereas the right most disk is the parity disk </a:t>
            </a:r>
            <a:r>
              <a:rPr lang="en-IN" smtClean="0">
                <a:latin typeface="Times New Roman" pitchFamily="18" charset="0"/>
                <a:cs typeface="Times New Roman" pitchFamily="18" charset="0"/>
              </a:rPr>
              <a:t>(PD) </a:t>
            </a:r>
            <a:r>
              <a:rPr lang="en-IN" dirty="0" smtClean="0">
                <a:latin typeface="Times New Roman" pitchFamily="18" charset="0"/>
                <a:cs typeface="Times New Roman" pitchFamily="18" charset="0"/>
              </a:rPr>
              <a:t>in Fig 2</a:t>
            </a: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Strips the data bytes (B1, B2, B3, B4, B5, B6, B7, B8, B9) in the three data disks </a:t>
            </a:r>
          </a:p>
          <a:p>
            <a:r>
              <a:rPr lang="en-IN" dirty="0" smtClean="0">
                <a:latin typeface="Times New Roman" pitchFamily="18" charset="0"/>
                <a:cs typeface="Times New Roman" pitchFamily="18" charset="0"/>
              </a:rPr>
              <a:t>[File is divided into bytes instead of bits (done in RAID 2) which reduces the required number of data disks in RAID 3 than RAID 2 to store the entire file]</a:t>
            </a:r>
          </a:p>
          <a:p>
            <a:pPr lvl="0"/>
            <a:r>
              <a:rPr lang="en-IN" dirty="0" smtClean="0">
                <a:latin typeface="Times New Roman" pitchFamily="18" charset="0"/>
                <a:cs typeface="Times New Roman" pitchFamily="18" charset="0"/>
              </a:rPr>
              <a:t>Calculates parity byte corresponding to each row of data byte during each write operation and stores the parity byte in the parity disk</a:t>
            </a:r>
          </a:p>
          <a:p>
            <a:r>
              <a:rPr lang="en-IN" dirty="0" smtClean="0">
                <a:latin typeface="Times New Roman" pitchFamily="18" charset="0"/>
                <a:cs typeface="Times New Roman" pitchFamily="18" charset="0"/>
              </a:rPr>
              <a:t>[For example, the parity byte P1 is calculated from the data bytes B1, B2, B3; P2 is calculated from the data bytes B4, B5, B6; P3 is calculated from the data bytes B7, B8, B9]   </a:t>
            </a:r>
          </a:p>
          <a:p>
            <a:pPr lvl="0"/>
            <a:r>
              <a:rPr lang="en-IN" dirty="0" smtClean="0">
                <a:latin typeface="Times New Roman" pitchFamily="18" charset="0"/>
                <a:cs typeface="Times New Roman" pitchFamily="18" charset="0"/>
              </a:rPr>
              <a:t>Read operation</a:t>
            </a:r>
          </a:p>
          <a:p>
            <a:pPr lvl="0"/>
            <a:r>
              <a:rPr lang="en-IN" dirty="0" smtClean="0">
                <a:latin typeface="Times New Roman" pitchFamily="18" charset="0"/>
                <a:cs typeface="Times New Roman" pitchFamily="18" charset="0"/>
              </a:rPr>
              <a:t>Reads the data bytes from the data disks and computes </a:t>
            </a:r>
            <a:r>
              <a:rPr lang="en-IN" b="1" dirty="0" smtClean="0">
                <a:latin typeface="Times New Roman" pitchFamily="18" charset="0"/>
                <a:cs typeface="Times New Roman" pitchFamily="18" charset="0"/>
              </a:rPr>
              <a:t>new parity byte</a:t>
            </a:r>
            <a:r>
              <a:rPr lang="en-IN" dirty="0" smtClean="0">
                <a:latin typeface="Times New Roman" pitchFamily="18" charset="0"/>
                <a:cs typeface="Times New Roman" pitchFamily="18" charset="0"/>
              </a:rPr>
              <a:t> from these data bytes</a:t>
            </a:r>
          </a:p>
          <a:p>
            <a:pPr lvl="0"/>
            <a:r>
              <a:rPr lang="en-IN" dirty="0" smtClean="0">
                <a:latin typeface="Times New Roman" pitchFamily="18" charset="0"/>
                <a:cs typeface="Times New Roman" pitchFamily="18" charset="0"/>
              </a:rPr>
              <a:t>Reads the parity byte from the parity disk and compares this parity byte with the </a:t>
            </a:r>
            <a:r>
              <a:rPr lang="en-IN" b="1" dirty="0" smtClean="0">
                <a:latin typeface="Times New Roman" pitchFamily="18" charset="0"/>
                <a:cs typeface="Times New Roman" pitchFamily="18" charset="0"/>
              </a:rPr>
              <a:t>new parity byte</a:t>
            </a:r>
            <a:r>
              <a:rPr lang="en-IN" dirty="0" smtClean="0">
                <a:latin typeface="Times New Roman" pitchFamily="18" charset="0"/>
                <a:cs typeface="Times New Roman" pitchFamily="18" charset="0"/>
              </a:rPr>
              <a:t> to verify the data bytes for reliability</a:t>
            </a:r>
            <a:endParaRPr lang="en-IN" dirty="0">
              <a:latin typeface="Times New Roman" pitchFamily="18" charset="0"/>
              <a:cs typeface="Times New Roman" pitchFamily="18" charset="0"/>
            </a:endParaRPr>
          </a:p>
        </p:txBody>
      </p:sp>
      <p:sp>
        <p:nvSpPr>
          <p:cNvPr id="11" name="TextBox 10"/>
          <p:cNvSpPr txBox="1"/>
          <p:nvPr/>
        </p:nvSpPr>
        <p:spPr>
          <a:xfrm>
            <a:off x="156754" y="4272677"/>
            <a:ext cx="11769634" cy="1477328"/>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N+1 (N data disks + 1 parity disk, N=3 in Fig 2) is the number of disks </a:t>
            </a:r>
          </a:p>
          <a:p>
            <a:pPr lvl="0"/>
            <a:r>
              <a:rPr lang="en-IN" dirty="0" smtClean="0">
                <a:latin typeface="Times New Roman" pitchFamily="18" charset="0"/>
                <a:cs typeface="Times New Roman" pitchFamily="18" charset="0"/>
              </a:rPr>
              <a:t>If a data disk fails, the data bytes of this faulty disk can be recovered by an appropriate calculation between the parity bytes and the data bytes of the remaining data disks</a:t>
            </a:r>
          </a:p>
          <a:p>
            <a:pPr lvl="0"/>
            <a:r>
              <a:rPr lang="en-IN" dirty="0" smtClean="0">
                <a:latin typeface="Times New Roman" pitchFamily="18" charset="0"/>
                <a:cs typeface="Times New Roman" pitchFamily="18" charset="0"/>
              </a:rPr>
              <a:t>High read speed but low write speed due to parity byte calculation for each write operation</a:t>
            </a:r>
          </a:p>
          <a:p>
            <a:r>
              <a:rPr lang="en-IN" dirty="0" smtClean="0">
                <a:latin typeface="Times New Roman" pitchFamily="18" charset="0"/>
                <a:cs typeface="Times New Roman" pitchFamily="18" charset="0"/>
              </a:rPr>
              <a:t>Single disk error can be detected and corrected easily</a:t>
            </a:r>
            <a:endParaRPr lang="en-IN"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77721" y="616734"/>
          <a:ext cx="558302" cy="2750503"/>
        </p:xfrm>
        <a:graphic>
          <a:graphicData uri="http://schemas.openxmlformats.org/drawingml/2006/table">
            <a:tbl>
              <a:tblPr/>
              <a:tblGrid>
                <a:gridCol w="558302"/>
              </a:tblGrid>
              <a:tr h="81915">
                <a:tc>
                  <a:txBody>
                    <a:bodyPr/>
                    <a:lstStyle/>
                    <a:p>
                      <a:pPr algn="l">
                        <a:lnSpc>
                          <a:spcPct val="107000"/>
                        </a:lnSpc>
                        <a:spcAft>
                          <a:spcPts val="800"/>
                        </a:spcAft>
                      </a:pPr>
                      <a:r>
                        <a:rPr lang="en-IN" sz="1400">
                          <a:latin typeface="Times New Roman" pitchFamily="18" charset="0"/>
                          <a:ea typeface="Calibri"/>
                          <a:cs typeface="Times New Roman" pitchFamily="18" charset="0"/>
                        </a:rPr>
                        <a:t>DD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nvGraphicFramePr>
        <p:xfrm>
          <a:off x="983115" y="603671"/>
          <a:ext cx="571365" cy="2750503"/>
        </p:xfrm>
        <a:graphic>
          <a:graphicData uri="http://schemas.openxmlformats.org/drawingml/2006/table">
            <a:tbl>
              <a:tblPr/>
              <a:tblGrid>
                <a:gridCol w="571365"/>
              </a:tblGrid>
              <a:tr h="83820">
                <a:tc>
                  <a:txBody>
                    <a:bodyPr/>
                    <a:lstStyle/>
                    <a:p>
                      <a:pPr algn="l">
                        <a:lnSpc>
                          <a:spcPct val="107000"/>
                        </a:lnSpc>
                        <a:spcAft>
                          <a:spcPts val="800"/>
                        </a:spcAft>
                      </a:pPr>
                      <a:r>
                        <a:rPr lang="en-IN" sz="1400">
                          <a:latin typeface="Times New Roman" pitchFamily="18" charset="0"/>
                          <a:ea typeface="Calibri"/>
                          <a:cs typeface="Times New Roman" pitchFamily="18" charset="0"/>
                        </a:rPr>
                        <a:t>DD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1717448" y="594418"/>
          <a:ext cx="568552" cy="2742883"/>
        </p:xfrm>
        <a:graphic>
          <a:graphicData uri="http://schemas.openxmlformats.org/drawingml/2006/table">
            <a:tbl>
              <a:tblPr/>
              <a:tblGrid>
                <a:gridCol w="568552"/>
              </a:tblGrid>
              <a:tr h="83820">
                <a:tc>
                  <a:txBody>
                    <a:bodyPr/>
                    <a:lstStyle/>
                    <a:p>
                      <a:pPr algn="l">
                        <a:lnSpc>
                          <a:spcPct val="107000"/>
                        </a:lnSpc>
                        <a:spcAft>
                          <a:spcPts val="800"/>
                        </a:spcAft>
                      </a:pPr>
                      <a:r>
                        <a:rPr lang="en-IN" sz="1400">
                          <a:latin typeface="Times New Roman" pitchFamily="18" charset="0"/>
                          <a:ea typeface="Calibri"/>
                          <a:cs typeface="Times New Roman" pitchFamily="18" charset="0"/>
                        </a:rPr>
                        <a:t>DD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a:latin typeface="Times New Roman" pitchFamily="18" charset="0"/>
                          <a:ea typeface="Calibri"/>
                          <a:cs typeface="Times New Roman" pitchFamily="18" charset="0"/>
                        </a:rPr>
                        <a:t>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a:latin typeface="Times New Roman" pitchFamily="18" charset="0"/>
                          <a:ea typeface="Calibri"/>
                          <a:cs typeface="Times New Roman" pitchFamily="18" charset="0"/>
                        </a:rPr>
                        <a:t>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dirty="0">
                          <a:latin typeface="Times New Roman" pitchFamily="18" charset="0"/>
                          <a:ea typeface="Calibri"/>
                          <a:cs typeface="Times New Roman" pitchFamily="18" charset="0"/>
                        </a:rPr>
                        <a:t>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2406967" y="590607"/>
          <a:ext cx="428625" cy="2750503"/>
        </p:xfrm>
        <a:graphic>
          <a:graphicData uri="http://schemas.openxmlformats.org/drawingml/2006/table">
            <a:tbl>
              <a:tblPr/>
              <a:tblGrid>
                <a:gridCol w="428625"/>
              </a:tblGrid>
              <a:tr h="81280">
                <a:tc>
                  <a:txBody>
                    <a:bodyPr/>
                    <a:lstStyle/>
                    <a:p>
                      <a:pPr algn="l">
                        <a:lnSpc>
                          <a:spcPct val="107000"/>
                        </a:lnSpc>
                        <a:spcAft>
                          <a:spcPts val="800"/>
                        </a:spcAft>
                      </a:pPr>
                      <a:r>
                        <a:rPr lang="en-IN" sz="1400">
                          <a:latin typeface="Times New Roman" pitchFamily="18" charset="0"/>
                          <a:ea typeface="Calibri"/>
                          <a:cs typeface="Times New Roman" pitchFamily="18" charset="0"/>
                        </a:rPr>
                        <a:t>PD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P1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P2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P3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Box 5"/>
          <p:cNvSpPr txBox="1"/>
          <p:nvPr/>
        </p:nvSpPr>
        <p:spPr>
          <a:xfrm>
            <a:off x="326571" y="182880"/>
            <a:ext cx="15806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3: RAID 4</a:t>
            </a:r>
          </a:p>
        </p:txBody>
      </p:sp>
      <p:sp>
        <p:nvSpPr>
          <p:cNvPr id="7" name="TextBox 6"/>
          <p:cNvSpPr txBox="1"/>
          <p:nvPr/>
        </p:nvSpPr>
        <p:spPr>
          <a:xfrm>
            <a:off x="3017521" y="156754"/>
            <a:ext cx="8987245" cy="4524315"/>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Four disks of RAID 4 configuration are shown in Fig 3. The left three disks are the data disks (DD 1, DD 2, DD 3 as written at the top of these disks) whereas the right most disk is the parity disk (PD as written at the top of this disk) in Fig 3</a:t>
            </a:r>
          </a:p>
          <a:p>
            <a:pPr lvl="0"/>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Strips the data blocks (A, B, C, D, E, F, G, H, I) in the three data disks</a:t>
            </a:r>
          </a:p>
          <a:p>
            <a:pPr lvl="0"/>
            <a:r>
              <a:rPr lang="en-IN" dirty="0" smtClean="0">
                <a:latin typeface="Times New Roman" pitchFamily="18" charset="0"/>
                <a:cs typeface="Times New Roman" pitchFamily="18" charset="0"/>
              </a:rPr>
              <a:t>Calculates parity block corresponding to each row of data blocks during each write operation and stores the parity block in the parity disk</a:t>
            </a:r>
          </a:p>
          <a:p>
            <a:pPr lvl="0"/>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Read operation</a:t>
            </a:r>
          </a:p>
          <a:p>
            <a:pPr lvl="0"/>
            <a:r>
              <a:rPr lang="en-IN" dirty="0" smtClean="0">
                <a:latin typeface="Times New Roman" pitchFamily="18" charset="0"/>
                <a:cs typeface="Times New Roman" pitchFamily="18" charset="0"/>
              </a:rPr>
              <a:t>Reads the data blocks from the data disks and computes </a:t>
            </a:r>
            <a:r>
              <a:rPr lang="en-IN" b="1" dirty="0" smtClean="0">
                <a:latin typeface="Times New Roman" pitchFamily="18" charset="0"/>
                <a:cs typeface="Times New Roman" pitchFamily="18" charset="0"/>
              </a:rPr>
              <a:t>new parity block</a:t>
            </a:r>
            <a:r>
              <a:rPr lang="en-IN" dirty="0" smtClean="0">
                <a:latin typeface="Times New Roman" pitchFamily="18" charset="0"/>
                <a:cs typeface="Times New Roman" pitchFamily="18" charset="0"/>
              </a:rPr>
              <a:t> from these data blocks</a:t>
            </a:r>
          </a:p>
          <a:p>
            <a:pPr lvl="0"/>
            <a:r>
              <a:rPr lang="en-IN" dirty="0" smtClean="0">
                <a:latin typeface="Times New Roman" pitchFamily="18" charset="0"/>
                <a:cs typeface="Times New Roman" pitchFamily="18" charset="0"/>
              </a:rPr>
              <a:t>Reads the parity block from the parity disk and compares this parity block with the </a:t>
            </a:r>
            <a:r>
              <a:rPr lang="en-IN" b="1" dirty="0" smtClean="0">
                <a:latin typeface="Times New Roman" pitchFamily="18" charset="0"/>
                <a:cs typeface="Times New Roman" pitchFamily="18" charset="0"/>
              </a:rPr>
              <a:t>new parity block </a:t>
            </a:r>
            <a:r>
              <a:rPr lang="en-IN" dirty="0" smtClean="0">
                <a:latin typeface="Times New Roman" pitchFamily="18" charset="0"/>
                <a:cs typeface="Times New Roman" pitchFamily="18" charset="0"/>
              </a:rPr>
              <a:t>to verify the data blocks for reliability</a:t>
            </a:r>
          </a:p>
          <a:p>
            <a:pPr lvl="0"/>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N+1 (N data disks + 1 parity disk, N=3 in Fig 3) is the number of disks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7" y="169818"/>
            <a:ext cx="11808823" cy="1754326"/>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If a data disk fails, the data blocks of this faulty disk can be recovered by an appropriate calculation between the parity blocks and the data blocks of the remaining data disks. </a:t>
            </a:r>
          </a:p>
          <a:p>
            <a:pPr lvl="0"/>
            <a:r>
              <a:rPr lang="en-IN" dirty="0" smtClean="0">
                <a:latin typeface="Times New Roman" pitchFamily="18" charset="0"/>
                <a:cs typeface="Times New Roman" pitchFamily="18" charset="0"/>
              </a:rPr>
              <a:t>Needs hardware support for parity calculation</a:t>
            </a:r>
          </a:p>
          <a:p>
            <a:pPr lvl="0"/>
            <a:r>
              <a:rPr lang="en-IN" dirty="0" smtClean="0">
                <a:latin typeface="Times New Roman" pitchFamily="18" charset="0"/>
                <a:cs typeface="Times New Roman" pitchFamily="18" charset="0"/>
              </a:rPr>
              <a:t>Good for sequential read and write operation</a:t>
            </a:r>
          </a:p>
          <a:p>
            <a:pPr lvl="0"/>
            <a:r>
              <a:rPr lang="en-IN" dirty="0" smtClean="0">
                <a:latin typeface="Times New Roman" pitchFamily="18" charset="0"/>
                <a:cs typeface="Times New Roman" pitchFamily="18" charset="0"/>
              </a:rPr>
              <a:t>Good for random read but bad for random write as parity block calculation causes large loss of time</a:t>
            </a:r>
          </a:p>
          <a:p>
            <a:pPr lvl="0"/>
            <a:r>
              <a:rPr lang="en-IN" dirty="0" smtClean="0">
                <a:latin typeface="Times New Roman" pitchFamily="18" charset="0"/>
                <a:cs typeface="Times New Roman" pitchFamily="18" charset="0"/>
              </a:rPr>
              <a:t>Single disk error can be detected and corrected easily </a:t>
            </a:r>
            <a:endParaRPr lang="en-IN"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262644" y="3671547"/>
          <a:ext cx="586442" cy="2867435"/>
        </p:xfrm>
        <a:graphic>
          <a:graphicData uri="http://schemas.openxmlformats.org/drawingml/2006/table">
            <a:tbl>
              <a:tblPr/>
              <a:tblGrid>
                <a:gridCol w="586442"/>
              </a:tblGrid>
              <a:tr h="182171">
                <a:tc>
                  <a:txBody>
                    <a:bodyPr/>
                    <a:lstStyle/>
                    <a:p>
                      <a:pPr algn="l">
                        <a:lnSpc>
                          <a:spcPct val="107000"/>
                        </a:lnSpc>
                        <a:spcAft>
                          <a:spcPts val="800"/>
                        </a:spcAft>
                      </a:pPr>
                      <a:r>
                        <a:rPr lang="en-IN" sz="1400" dirty="0">
                          <a:latin typeface="Times New Roman" pitchFamily="18" charset="0"/>
                          <a:ea typeface="Calibri"/>
                          <a:cs typeface="Times New Roman" pitchFamily="18" charset="0"/>
                        </a:rPr>
                        <a:t>DD 1</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6582">
                <a:tc>
                  <a:txBody>
                    <a:bodyPr/>
                    <a:lstStyle/>
                    <a:p>
                      <a:endParaRPr lang="en-IN" sz="1400">
                        <a:latin typeface="Times New Roman" pitchFamily="18" charset="0"/>
                        <a:cs typeface="Times New Roman" pitchFamily="18" charset="0"/>
                      </a:endParaRP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7211">
                <a:tc>
                  <a:txBody>
                    <a:bodyPr/>
                    <a:lstStyle/>
                    <a:p>
                      <a:pPr algn="l">
                        <a:lnSpc>
                          <a:spcPct val="107000"/>
                        </a:lnSpc>
                        <a:spcAft>
                          <a:spcPts val="800"/>
                        </a:spcAft>
                      </a:pPr>
                      <a:r>
                        <a:rPr lang="en-IN" sz="1400" dirty="0">
                          <a:latin typeface="Times New Roman" pitchFamily="18" charset="0"/>
                          <a:ea typeface="Calibri"/>
                          <a:cs typeface="Times New Roman" pitchFamily="18" charset="0"/>
                        </a:rPr>
                        <a:t>0</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0052">
                <a:tc>
                  <a:txBody>
                    <a:bodyPr/>
                    <a:lstStyle/>
                    <a:p>
                      <a:pPr algn="l">
                        <a:lnSpc>
                          <a:spcPct val="107000"/>
                        </a:lnSpc>
                        <a:spcAft>
                          <a:spcPts val="800"/>
                        </a:spcAft>
                      </a:pPr>
                      <a:r>
                        <a:rPr lang="en-IN" sz="1400">
                          <a:latin typeface="Times New Roman" pitchFamily="18" charset="0"/>
                          <a:ea typeface="Calibri"/>
                          <a:cs typeface="Times New Roman" pitchFamily="18" charset="0"/>
                        </a:rPr>
                        <a:t>4</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4466">
                <a:tc>
                  <a:txBody>
                    <a:bodyPr/>
                    <a:lstStyle/>
                    <a:p>
                      <a:pPr algn="l">
                        <a:lnSpc>
                          <a:spcPct val="107000"/>
                        </a:lnSpc>
                        <a:spcAft>
                          <a:spcPts val="800"/>
                        </a:spcAft>
                      </a:pPr>
                      <a:r>
                        <a:rPr lang="en-IN" sz="1400">
                          <a:latin typeface="Times New Roman" pitchFamily="18" charset="0"/>
                          <a:ea typeface="Calibri"/>
                          <a:cs typeface="Times New Roman" pitchFamily="18" charset="0"/>
                        </a:rPr>
                        <a:t>8</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algn="l">
                        <a:lnSpc>
                          <a:spcPct val="107000"/>
                        </a:lnSpc>
                        <a:spcAft>
                          <a:spcPts val="800"/>
                        </a:spcAft>
                      </a:pPr>
                      <a:r>
                        <a:rPr lang="en-IN" sz="1400" dirty="0">
                          <a:latin typeface="Times New Roman" pitchFamily="18" charset="0"/>
                          <a:ea typeface="Calibri"/>
                          <a:cs typeface="Times New Roman" pitchFamily="18" charset="0"/>
                        </a:rPr>
                        <a:t>12</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2201">
                <a:tc>
                  <a:txBody>
                    <a:bodyPr/>
                    <a:lstStyle/>
                    <a:p>
                      <a:pPr algn="l">
                        <a:lnSpc>
                          <a:spcPct val="107000"/>
                        </a:lnSpc>
                        <a:spcAft>
                          <a:spcPts val="800"/>
                        </a:spcAft>
                      </a:pPr>
                      <a:r>
                        <a:rPr lang="en-IN" sz="1400" dirty="0">
                          <a:latin typeface="Times New Roman" pitchFamily="18" charset="0"/>
                          <a:ea typeface="Calibri"/>
                          <a:cs typeface="Times New Roman" pitchFamily="18" charset="0"/>
                        </a:rPr>
                        <a:t>P4</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954974" y="3632358"/>
          <a:ext cx="573381" cy="2944823"/>
        </p:xfrm>
        <a:graphic>
          <a:graphicData uri="http://schemas.openxmlformats.org/drawingml/2006/table">
            <a:tbl>
              <a:tblPr/>
              <a:tblGrid>
                <a:gridCol w="573381"/>
              </a:tblGrid>
              <a:tr h="208656">
                <a:tc>
                  <a:txBody>
                    <a:bodyPr/>
                    <a:lstStyle/>
                    <a:p>
                      <a:pPr algn="l">
                        <a:lnSpc>
                          <a:spcPct val="107000"/>
                        </a:lnSpc>
                        <a:spcAft>
                          <a:spcPts val="800"/>
                        </a:spcAft>
                      </a:pPr>
                      <a:r>
                        <a:rPr lang="en-IN" sz="1400" dirty="0">
                          <a:latin typeface="Times New Roman" pitchFamily="18" charset="0"/>
                          <a:ea typeface="Calibri"/>
                          <a:cs typeface="Times New Roman" pitchFamily="18" charset="0"/>
                        </a:rPr>
                        <a:t>DD 2</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790">
                <a:tc>
                  <a:txBody>
                    <a:bodyPr/>
                    <a:lstStyle/>
                    <a:p>
                      <a:endParaRPr lang="en-IN" sz="1400">
                        <a:latin typeface="Times New Roman" pitchFamily="18" charset="0"/>
                        <a:cs typeface="Times New Roman" pitchFamily="18" charset="0"/>
                      </a:endParaRP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9050">
                <a:tc>
                  <a:txBody>
                    <a:bodyPr/>
                    <a:lstStyle/>
                    <a:p>
                      <a:pPr algn="l">
                        <a:lnSpc>
                          <a:spcPct val="107000"/>
                        </a:lnSpc>
                        <a:spcAft>
                          <a:spcPts val="800"/>
                        </a:spcAft>
                      </a:pPr>
                      <a:r>
                        <a:rPr lang="en-IN" sz="1400">
                          <a:latin typeface="Times New Roman" pitchFamily="18" charset="0"/>
                          <a:ea typeface="Calibri"/>
                          <a:cs typeface="Times New Roman" pitchFamily="18" charset="0"/>
                        </a:rPr>
                        <a:t>1</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4394">
                <a:tc>
                  <a:txBody>
                    <a:bodyPr/>
                    <a:lstStyle/>
                    <a:p>
                      <a:pPr algn="l">
                        <a:lnSpc>
                          <a:spcPct val="107000"/>
                        </a:lnSpc>
                        <a:spcAft>
                          <a:spcPts val="800"/>
                        </a:spcAft>
                      </a:pPr>
                      <a:r>
                        <a:rPr lang="en-IN" sz="1400">
                          <a:latin typeface="Times New Roman" pitchFamily="18" charset="0"/>
                          <a:ea typeface="Calibri"/>
                          <a:cs typeface="Times New Roman" pitchFamily="18" charset="0"/>
                        </a:rPr>
                        <a:t>5</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7411">
                <a:tc>
                  <a:txBody>
                    <a:bodyPr/>
                    <a:lstStyle/>
                    <a:p>
                      <a:pPr algn="l">
                        <a:lnSpc>
                          <a:spcPct val="107000"/>
                        </a:lnSpc>
                        <a:spcAft>
                          <a:spcPts val="800"/>
                        </a:spcAft>
                      </a:pPr>
                      <a:r>
                        <a:rPr lang="en-IN" sz="1400">
                          <a:latin typeface="Times New Roman" pitchFamily="18" charset="0"/>
                          <a:ea typeface="Calibri"/>
                          <a:cs typeface="Times New Roman" pitchFamily="18" charset="0"/>
                        </a:rPr>
                        <a:t>9</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9969">
                <a:tc>
                  <a:txBody>
                    <a:bodyPr/>
                    <a:lstStyle/>
                    <a:p>
                      <a:pPr algn="l">
                        <a:lnSpc>
                          <a:spcPct val="107000"/>
                        </a:lnSpc>
                        <a:spcAft>
                          <a:spcPts val="800"/>
                        </a:spcAft>
                      </a:pPr>
                      <a:r>
                        <a:rPr lang="en-IN" sz="1400">
                          <a:latin typeface="Times New Roman" pitchFamily="18" charset="0"/>
                          <a:ea typeface="Calibri"/>
                          <a:cs typeface="Times New Roman" pitchFamily="18" charset="0"/>
                        </a:rPr>
                        <a:t>P3</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2926">
                <a:tc>
                  <a:txBody>
                    <a:bodyPr/>
                    <a:lstStyle/>
                    <a:p>
                      <a:pPr algn="l">
                        <a:lnSpc>
                          <a:spcPct val="107000"/>
                        </a:lnSpc>
                        <a:spcAft>
                          <a:spcPts val="800"/>
                        </a:spcAft>
                      </a:pPr>
                      <a:r>
                        <a:rPr lang="en-IN" sz="1400" dirty="0">
                          <a:latin typeface="Times New Roman" pitchFamily="18" charset="0"/>
                          <a:ea typeface="Calibri"/>
                          <a:cs typeface="Times New Roman" pitchFamily="18" charset="0"/>
                        </a:rPr>
                        <a:t>16</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1634245" y="3632357"/>
          <a:ext cx="508064" cy="2975584"/>
        </p:xfrm>
        <a:graphic>
          <a:graphicData uri="http://schemas.openxmlformats.org/drawingml/2006/table">
            <a:tbl>
              <a:tblPr/>
              <a:tblGrid>
                <a:gridCol w="508064"/>
              </a:tblGrid>
              <a:tr h="204020">
                <a:tc>
                  <a:txBody>
                    <a:bodyPr/>
                    <a:lstStyle/>
                    <a:p>
                      <a:pPr algn="l">
                        <a:lnSpc>
                          <a:spcPct val="107000"/>
                        </a:lnSpc>
                        <a:spcAft>
                          <a:spcPts val="800"/>
                        </a:spcAft>
                      </a:pPr>
                      <a:r>
                        <a:rPr lang="en-IN" sz="1400">
                          <a:latin typeface="Times New Roman" pitchFamily="18" charset="0"/>
                          <a:ea typeface="Calibri"/>
                          <a:cs typeface="Times New Roman" pitchFamily="18" charset="0"/>
                        </a:rPr>
                        <a:t>DD 3</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155">
                <a:tc>
                  <a:txBody>
                    <a:bodyPr/>
                    <a:lstStyle/>
                    <a:p>
                      <a:endParaRPr lang="en-IN" sz="1400">
                        <a:latin typeface="Times New Roman" pitchFamily="18" charset="0"/>
                        <a:cs typeface="Times New Roman" pitchFamily="18" charset="0"/>
                      </a:endParaRP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374">
                <a:tc>
                  <a:txBody>
                    <a:bodyPr/>
                    <a:lstStyle/>
                    <a:p>
                      <a:pPr algn="l">
                        <a:lnSpc>
                          <a:spcPct val="107000"/>
                        </a:lnSpc>
                        <a:spcAft>
                          <a:spcPts val="800"/>
                        </a:spcAft>
                      </a:pPr>
                      <a:r>
                        <a:rPr lang="en-IN" sz="1400">
                          <a:latin typeface="Times New Roman" pitchFamily="18" charset="0"/>
                          <a:ea typeface="Calibri"/>
                          <a:cs typeface="Times New Roman" pitchFamily="18" charset="0"/>
                        </a:rPr>
                        <a:t>2</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557">
                <a:tc>
                  <a:txBody>
                    <a:bodyPr/>
                    <a:lstStyle/>
                    <a:p>
                      <a:pPr algn="l">
                        <a:lnSpc>
                          <a:spcPct val="107000"/>
                        </a:lnSpc>
                        <a:spcAft>
                          <a:spcPts val="800"/>
                        </a:spcAft>
                      </a:pPr>
                      <a:r>
                        <a:rPr lang="en-IN" sz="1400">
                          <a:latin typeface="Times New Roman" pitchFamily="18" charset="0"/>
                          <a:ea typeface="Calibri"/>
                          <a:cs typeface="Times New Roman" pitchFamily="18" charset="0"/>
                        </a:rPr>
                        <a:t>6</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5379">
                <a:tc>
                  <a:txBody>
                    <a:bodyPr/>
                    <a:lstStyle/>
                    <a:p>
                      <a:pPr algn="l">
                        <a:lnSpc>
                          <a:spcPct val="107000"/>
                        </a:lnSpc>
                        <a:spcAft>
                          <a:spcPts val="800"/>
                        </a:spcAft>
                      </a:pPr>
                      <a:r>
                        <a:rPr lang="en-IN" sz="1400">
                          <a:latin typeface="Times New Roman" pitchFamily="18" charset="0"/>
                          <a:ea typeface="Calibri"/>
                          <a:cs typeface="Times New Roman" pitchFamily="18" charset="0"/>
                        </a:rPr>
                        <a:t>P2</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3048">
                <a:tc>
                  <a:txBody>
                    <a:bodyPr/>
                    <a:lstStyle/>
                    <a:p>
                      <a:pPr algn="l">
                        <a:lnSpc>
                          <a:spcPct val="107000"/>
                        </a:lnSpc>
                        <a:spcAft>
                          <a:spcPts val="800"/>
                        </a:spcAft>
                      </a:pPr>
                      <a:r>
                        <a:rPr lang="en-IN" sz="1400">
                          <a:latin typeface="Times New Roman" pitchFamily="18" charset="0"/>
                          <a:ea typeface="Calibri"/>
                          <a:cs typeface="Times New Roman" pitchFamily="18" charset="0"/>
                        </a:rPr>
                        <a:t>13</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24788">
                <a:tc>
                  <a:txBody>
                    <a:bodyPr/>
                    <a:lstStyle/>
                    <a:p>
                      <a:pPr algn="l">
                        <a:lnSpc>
                          <a:spcPct val="107000"/>
                        </a:lnSpc>
                        <a:spcAft>
                          <a:spcPts val="800"/>
                        </a:spcAft>
                      </a:pPr>
                      <a:r>
                        <a:rPr lang="en-IN" sz="1400" dirty="0">
                          <a:latin typeface="Times New Roman" pitchFamily="18" charset="0"/>
                          <a:ea typeface="Calibri"/>
                          <a:cs typeface="Times New Roman" pitchFamily="18" charset="0"/>
                        </a:rPr>
                        <a:t>17</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2286000" y="3684608"/>
          <a:ext cx="603859" cy="2900617"/>
        </p:xfrm>
        <a:graphic>
          <a:graphicData uri="http://schemas.openxmlformats.org/drawingml/2006/table">
            <a:tbl>
              <a:tblPr/>
              <a:tblGrid>
                <a:gridCol w="603859"/>
              </a:tblGrid>
              <a:tr h="213675">
                <a:tc>
                  <a:txBody>
                    <a:bodyPr/>
                    <a:lstStyle/>
                    <a:p>
                      <a:pPr algn="l">
                        <a:lnSpc>
                          <a:spcPct val="107000"/>
                        </a:lnSpc>
                        <a:spcAft>
                          <a:spcPts val="800"/>
                        </a:spcAft>
                      </a:pPr>
                      <a:r>
                        <a:rPr lang="en-IN" sz="1400">
                          <a:latin typeface="Times New Roman" pitchFamily="18" charset="0"/>
                          <a:ea typeface="Calibri"/>
                          <a:cs typeface="Times New Roman" pitchFamily="18" charset="0"/>
                        </a:rPr>
                        <a:t>DD 4</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5669">
                <a:tc>
                  <a:txBody>
                    <a:bodyPr/>
                    <a:lstStyle/>
                    <a:p>
                      <a:endParaRPr lang="en-IN" sz="1400" dirty="0">
                        <a:latin typeface="Times New Roman" pitchFamily="18" charset="0"/>
                        <a:cs typeface="Times New Roman" pitchFamily="18" charset="0"/>
                      </a:endParaRP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901">
                <a:tc>
                  <a:txBody>
                    <a:bodyPr/>
                    <a:lstStyle/>
                    <a:p>
                      <a:pPr algn="l">
                        <a:lnSpc>
                          <a:spcPct val="107000"/>
                        </a:lnSpc>
                        <a:spcAft>
                          <a:spcPts val="800"/>
                        </a:spcAft>
                      </a:pPr>
                      <a:r>
                        <a:rPr lang="en-IN" sz="1400">
                          <a:latin typeface="Times New Roman" pitchFamily="18" charset="0"/>
                          <a:ea typeface="Calibri"/>
                          <a:cs typeface="Times New Roman" pitchFamily="18" charset="0"/>
                        </a:rPr>
                        <a:t>3</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902">
                <a:tc>
                  <a:txBody>
                    <a:bodyPr/>
                    <a:lstStyle/>
                    <a:p>
                      <a:pPr algn="l">
                        <a:lnSpc>
                          <a:spcPct val="107000"/>
                        </a:lnSpc>
                        <a:spcAft>
                          <a:spcPts val="800"/>
                        </a:spcAft>
                      </a:pPr>
                      <a:r>
                        <a:rPr lang="en-IN" sz="1400">
                          <a:latin typeface="Times New Roman" pitchFamily="18" charset="0"/>
                          <a:ea typeface="Calibri"/>
                          <a:cs typeface="Times New Roman" pitchFamily="18" charset="0"/>
                        </a:rPr>
                        <a:t>P1</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1306">
                <a:tc>
                  <a:txBody>
                    <a:bodyPr/>
                    <a:lstStyle/>
                    <a:p>
                      <a:pPr algn="l">
                        <a:lnSpc>
                          <a:spcPct val="107000"/>
                        </a:lnSpc>
                        <a:spcAft>
                          <a:spcPts val="800"/>
                        </a:spcAft>
                      </a:pPr>
                      <a:r>
                        <a:rPr lang="en-IN" sz="1400" dirty="0">
                          <a:latin typeface="Times New Roman" pitchFamily="18" charset="0"/>
                          <a:ea typeface="Calibri"/>
                          <a:cs typeface="Times New Roman" pitchFamily="18" charset="0"/>
                        </a:rPr>
                        <a:t>10</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852">
                <a:tc>
                  <a:txBody>
                    <a:bodyPr/>
                    <a:lstStyle/>
                    <a:p>
                      <a:pPr algn="l">
                        <a:lnSpc>
                          <a:spcPct val="107000"/>
                        </a:lnSpc>
                        <a:spcAft>
                          <a:spcPts val="800"/>
                        </a:spcAft>
                      </a:pPr>
                      <a:r>
                        <a:rPr lang="en-IN" sz="1400">
                          <a:latin typeface="Times New Roman" pitchFamily="18" charset="0"/>
                          <a:ea typeface="Calibri"/>
                          <a:cs typeface="Times New Roman" pitchFamily="18" charset="0"/>
                        </a:rPr>
                        <a:t>14</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2704">
                <a:tc>
                  <a:txBody>
                    <a:bodyPr/>
                    <a:lstStyle/>
                    <a:p>
                      <a:pPr algn="l">
                        <a:lnSpc>
                          <a:spcPct val="107000"/>
                        </a:lnSpc>
                        <a:spcAft>
                          <a:spcPts val="800"/>
                        </a:spcAft>
                      </a:pPr>
                      <a:r>
                        <a:rPr lang="en-IN" sz="1400" dirty="0">
                          <a:latin typeface="Times New Roman" pitchFamily="18" charset="0"/>
                          <a:ea typeface="Calibri"/>
                          <a:cs typeface="Times New Roman" pitchFamily="18" charset="0"/>
                        </a:rPr>
                        <a:t>18</a:t>
                      </a:r>
                    </a:p>
                  </a:txBody>
                  <a:tcPr marL="56684" marR="566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 name="Table 7"/>
          <p:cNvGraphicFramePr>
            <a:graphicFrameLocks noGrp="1"/>
          </p:cNvGraphicFramePr>
          <p:nvPr/>
        </p:nvGraphicFramePr>
        <p:xfrm>
          <a:off x="3030584" y="3669088"/>
          <a:ext cx="608810" cy="2905431"/>
        </p:xfrm>
        <a:graphic>
          <a:graphicData uri="http://schemas.openxmlformats.org/drawingml/2006/table">
            <a:tbl>
              <a:tblPr/>
              <a:tblGrid>
                <a:gridCol w="608810"/>
              </a:tblGrid>
              <a:tr h="208273">
                <a:tc>
                  <a:txBody>
                    <a:bodyPr/>
                    <a:lstStyle/>
                    <a:p>
                      <a:pPr algn="l">
                        <a:lnSpc>
                          <a:spcPct val="107000"/>
                        </a:lnSpc>
                        <a:spcAft>
                          <a:spcPts val="800"/>
                        </a:spcAft>
                      </a:pPr>
                      <a:r>
                        <a:rPr lang="en-IN" sz="1400" dirty="0">
                          <a:latin typeface="Times New Roman" pitchFamily="18" charset="0"/>
                          <a:ea typeface="Calibri"/>
                          <a:cs typeface="Times New Roman" pitchFamily="18" charset="0"/>
                        </a:rPr>
                        <a:t>DD 5</a:t>
                      </a: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0288">
                <a:tc>
                  <a:txBody>
                    <a:bodyPr/>
                    <a:lstStyle/>
                    <a:p>
                      <a:endParaRPr lang="en-IN" sz="1400" dirty="0">
                        <a:latin typeface="Times New Roman" pitchFamily="18" charset="0"/>
                        <a:cs typeface="Times New Roman" pitchFamily="18" charset="0"/>
                      </a:endParaRP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9865">
                <a:tc>
                  <a:txBody>
                    <a:bodyPr/>
                    <a:lstStyle/>
                    <a:p>
                      <a:pPr algn="l">
                        <a:lnSpc>
                          <a:spcPct val="107000"/>
                        </a:lnSpc>
                        <a:spcAft>
                          <a:spcPts val="800"/>
                        </a:spcAft>
                      </a:pPr>
                      <a:r>
                        <a:rPr lang="en-IN" sz="1400">
                          <a:latin typeface="Times New Roman" pitchFamily="18" charset="0"/>
                          <a:ea typeface="Calibri"/>
                          <a:cs typeface="Times New Roman" pitchFamily="18" charset="0"/>
                        </a:rPr>
                        <a:t>P0</a:t>
                      </a: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8273">
                <a:tc>
                  <a:txBody>
                    <a:bodyPr/>
                    <a:lstStyle/>
                    <a:p>
                      <a:pPr algn="l">
                        <a:lnSpc>
                          <a:spcPct val="107000"/>
                        </a:lnSpc>
                        <a:spcAft>
                          <a:spcPts val="800"/>
                        </a:spcAft>
                      </a:pPr>
                      <a:r>
                        <a:rPr lang="en-IN" sz="1400">
                          <a:latin typeface="Times New Roman" pitchFamily="18" charset="0"/>
                          <a:ea typeface="Calibri"/>
                          <a:cs typeface="Times New Roman" pitchFamily="18" charset="0"/>
                        </a:rPr>
                        <a:t>7</a:t>
                      </a: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716">
                <a:tc>
                  <a:txBody>
                    <a:bodyPr/>
                    <a:lstStyle/>
                    <a:p>
                      <a:pPr algn="l">
                        <a:lnSpc>
                          <a:spcPct val="107000"/>
                        </a:lnSpc>
                        <a:spcAft>
                          <a:spcPts val="800"/>
                        </a:spcAft>
                      </a:pPr>
                      <a:r>
                        <a:rPr lang="en-IN" sz="1400">
                          <a:latin typeface="Times New Roman" pitchFamily="18" charset="0"/>
                          <a:ea typeface="Calibri"/>
                          <a:cs typeface="Times New Roman" pitchFamily="18" charset="0"/>
                        </a:rPr>
                        <a:t>11</a:t>
                      </a: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2878">
                <a:tc>
                  <a:txBody>
                    <a:bodyPr/>
                    <a:lstStyle/>
                    <a:p>
                      <a:pPr algn="l">
                        <a:lnSpc>
                          <a:spcPct val="107000"/>
                        </a:lnSpc>
                        <a:spcAft>
                          <a:spcPts val="800"/>
                        </a:spcAft>
                      </a:pPr>
                      <a:r>
                        <a:rPr lang="en-IN" sz="1400">
                          <a:latin typeface="Times New Roman" pitchFamily="18" charset="0"/>
                          <a:ea typeface="Calibri"/>
                          <a:cs typeface="Times New Roman" pitchFamily="18" charset="0"/>
                        </a:rPr>
                        <a:t>15</a:t>
                      </a: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54046">
                <a:tc>
                  <a:txBody>
                    <a:bodyPr/>
                    <a:lstStyle/>
                    <a:p>
                      <a:pPr algn="l">
                        <a:lnSpc>
                          <a:spcPct val="107000"/>
                        </a:lnSpc>
                        <a:spcAft>
                          <a:spcPts val="800"/>
                        </a:spcAft>
                      </a:pPr>
                      <a:r>
                        <a:rPr lang="en-IN" sz="1400" dirty="0">
                          <a:latin typeface="Times New Roman" pitchFamily="18" charset="0"/>
                          <a:ea typeface="Calibri"/>
                          <a:cs typeface="Times New Roman" pitchFamily="18" charset="0"/>
                        </a:rPr>
                        <a:t>19</a:t>
                      </a:r>
                    </a:p>
                  </a:txBody>
                  <a:tcPr marL="66629" marR="666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TextBox 8"/>
          <p:cNvSpPr txBox="1"/>
          <p:nvPr/>
        </p:nvSpPr>
        <p:spPr>
          <a:xfrm>
            <a:off x="195943" y="2821577"/>
            <a:ext cx="15806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4: RAID 5</a:t>
            </a:r>
          </a:p>
        </p:txBody>
      </p:sp>
      <p:sp>
        <p:nvSpPr>
          <p:cNvPr id="10" name="TextBox 9"/>
          <p:cNvSpPr txBox="1"/>
          <p:nvPr/>
        </p:nvSpPr>
        <p:spPr>
          <a:xfrm>
            <a:off x="3740331" y="2155372"/>
            <a:ext cx="8268789" cy="3970318"/>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Five disks (DD 1, DD 2, DD 3, DD 4, DD 5) of RAID 5 configuration are shown in Fig 4. </a:t>
            </a: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Strips the data blocks (0, 1, 2, 3, 4, 5, 6, 7, 8, 9, 10, 11, 12, 13, 14, 15, 16, 17, 18, 19) in the five disks</a:t>
            </a:r>
          </a:p>
          <a:p>
            <a:pPr lvl="0"/>
            <a:r>
              <a:rPr lang="en-IN" dirty="0" smtClean="0">
                <a:latin typeface="Times New Roman" pitchFamily="18" charset="0"/>
                <a:cs typeface="Times New Roman" pitchFamily="18" charset="0"/>
              </a:rPr>
              <a:t>Calculates parity block corresponding to each row of data blocks during each write operation </a:t>
            </a:r>
          </a:p>
          <a:p>
            <a:pPr lvl="0"/>
            <a:r>
              <a:rPr lang="en-IN" dirty="0" smtClean="0">
                <a:latin typeface="Times New Roman" pitchFamily="18" charset="0"/>
                <a:cs typeface="Times New Roman" pitchFamily="18" charset="0"/>
              </a:rPr>
              <a:t>Distributes the parity blocks among disks</a:t>
            </a:r>
          </a:p>
          <a:p>
            <a:pPr lvl="0"/>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Read operation</a:t>
            </a:r>
          </a:p>
          <a:p>
            <a:pPr lvl="0"/>
            <a:r>
              <a:rPr lang="en-IN" dirty="0" smtClean="0">
                <a:latin typeface="Times New Roman" pitchFamily="18" charset="0"/>
                <a:cs typeface="Times New Roman" pitchFamily="18" charset="0"/>
              </a:rPr>
              <a:t>Reads the data blocks from the disks and computes </a:t>
            </a:r>
            <a:r>
              <a:rPr lang="en-IN" b="1" dirty="0" smtClean="0">
                <a:latin typeface="Times New Roman" pitchFamily="18" charset="0"/>
                <a:cs typeface="Times New Roman" pitchFamily="18" charset="0"/>
              </a:rPr>
              <a:t>new parity block</a:t>
            </a:r>
            <a:r>
              <a:rPr lang="en-IN" dirty="0" smtClean="0">
                <a:latin typeface="Times New Roman" pitchFamily="18" charset="0"/>
                <a:cs typeface="Times New Roman" pitchFamily="18" charset="0"/>
              </a:rPr>
              <a:t> from these data blocks</a:t>
            </a:r>
          </a:p>
          <a:p>
            <a:pPr lvl="0"/>
            <a:r>
              <a:rPr lang="en-IN" dirty="0" smtClean="0">
                <a:latin typeface="Times New Roman" pitchFamily="18" charset="0"/>
                <a:cs typeface="Times New Roman" pitchFamily="18" charset="0"/>
              </a:rPr>
              <a:t>Reads the parity block corresponding to the data blocks from the disk and compares this parity block with the </a:t>
            </a:r>
            <a:r>
              <a:rPr lang="en-IN" b="1" dirty="0" smtClean="0">
                <a:latin typeface="Times New Roman" pitchFamily="18" charset="0"/>
                <a:cs typeface="Times New Roman" pitchFamily="18" charset="0"/>
              </a:rPr>
              <a:t>new parity block</a:t>
            </a:r>
            <a:r>
              <a:rPr lang="en-IN" dirty="0" smtClean="0">
                <a:latin typeface="Times New Roman" pitchFamily="18" charset="0"/>
                <a:cs typeface="Times New Roman" pitchFamily="18" charset="0"/>
              </a:rPr>
              <a:t> to verify the data blocks for reliability</a:t>
            </a:r>
            <a:endParaRPr lang="en-IN"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234" y="209005"/>
            <a:ext cx="12004766" cy="3416320"/>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N+1 is the number of disks </a:t>
            </a:r>
          </a:p>
          <a:p>
            <a:pPr lvl="0"/>
            <a:r>
              <a:rPr lang="en-IN" dirty="0" smtClean="0">
                <a:latin typeface="Times New Roman" pitchFamily="18" charset="0"/>
                <a:cs typeface="Times New Roman" pitchFamily="18" charset="0"/>
              </a:rPr>
              <a:t>If a data disk fails, the data blocks of this faulty disk can be recovered by an appropriate calculation between the parity blocks and the data blocks of the remaining data disks</a:t>
            </a:r>
          </a:p>
          <a:p>
            <a:pPr lvl="0"/>
            <a:r>
              <a:rPr lang="en-IN" dirty="0" smtClean="0">
                <a:latin typeface="Times New Roman" pitchFamily="18" charset="0"/>
                <a:cs typeface="Times New Roman" pitchFamily="18" charset="0"/>
              </a:rPr>
              <a:t>Needs hardware support for parity calculation</a:t>
            </a:r>
          </a:p>
          <a:p>
            <a:pPr lvl="0"/>
            <a:r>
              <a:rPr lang="en-IN" dirty="0" smtClean="0">
                <a:latin typeface="Times New Roman" pitchFamily="18" charset="0"/>
                <a:cs typeface="Times New Roman" pitchFamily="18" charset="0"/>
              </a:rPr>
              <a:t>Good for sequential read and write operation</a:t>
            </a:r>
          </a:p>
          <a:p>
            <a:pPr lvl="0"/>
            <a:r>
              <a:rPr lang="en-IN" dirty="0" smtClean="0">
                <a:latin typeface="Times New Roman" pitchFamily="18" charset="0"/>
                <a:cs typeface="Times New Roman" pitchFamily="18" charset="0"/>
              </a:rPr>
              <a:t>Good for random read but bad for random write as parity block calculation causes large loss of time</a:t>
            </a:r>
          </a:p>
          <a:p>
            <a:pPr lvl="0"/>
            <a:r>
              <a:rPr lang="en-IN" dirty="0" smtClean="0">
                <a:latin typeface="Times New Roman" pitchFamily="18" charset="0"/>
                <a:cs typeface="Times New Roman" pitchFamily="18" charset="0"/>
              </a:rPr>
              <a:t>Single disk error can be detected and corrected easily </a:t>
            </a:r>
          </a:p>
          <a:p>
            <a:pPr lvl="0"/>
            <a:r>
              <a:rPr lang="en-IN" dirty="0" smtClean="0">
                <a:latin typeface="Times New Roman" pitchFamily="18" charset="0"/>
                <a:cs typeface="Times New Roman" pitchFamily="18" charset="0"/>
              </a:rPr>
              <a:t>Helps to perform multiple write operation simultaneously</a:t>
            </a:r>
          </a:p>
          <a:p>
            <a:r>
              <a:rPr lang="en-IN" dirty="0" smtClean="0">
                <a:latin typeface="Times New Roman" pitchFamily="18" charset="0"/>
                <a:cs typeface="Times New Roman" pitchFamily="18" charset="0"/>
              </a:rPr>
              <a:t>[For example, write operation in data block 8 in DD 1 needs to update the parity block P2 in DD 3; again write operation in data block 5 in DD 2 needs to update the parity block P1 in DD 4. Four different disks (DD 1, DD 2, DD 3, DD 4) are required to access for performing these two write operations and hence can be done simultaneously.]</a:t>
            </a:r>
          </a:p>
          <a:p>
            <a:endParaRPr lang="en-IN"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3" y="209005"/>
            <a:ext cx="15806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5: RAID 6</a:t>
            </a:r>
          </a:p>
        </p:txBody>
      </p:sp>
      <p:graphicFrame>
        <p:nvGraphicFramePr>
          <p:cNvPr id="3" name="Table 2"/>
          <p:cNvGraphicFramePr>
            <a:graphicFrameLocks noGrp="1"/>
          </p:cNvGraphicFramePr>
          <p:nvPr/>
        </p:nvGraphicFramePr>
        <p:xfrm>
          <a:off x="343036" y="812676"/>
          <a:ext cx="597490" cy="2750503"/>
        </p:xfrm>
        <a:graphic>
          <a:graphicData uri="http://schemas.openxmlformats.org/drawingml/2006/table">
            <a:tbl>
              <a:tblPr/>
              <a:tblGrid>
                <a:gridCol w="597490"/>
              </a:tblGrid>
              <a:tr h="83820">
                <a:tc>
                  <a:txBody>
                    <a:bodyPr/>
                    <a:lstStyle/>
                    <a:p>
                      <a:pPr algn="l">
                        <a:lnSpc>
                          <a:spcPct val="107000"/>
                        </a:lnSpc>
                        <a:spcAft>
                          <a:spcPts val="800"/>
                        </a:spcAft>
                      </a:pPr>
                      <a:r>
                        <a:rPr lang="en-IN" sz="1400">
                          <a:latin typeface="Times New Roman" pitchFamily="18" charset="0"/>
                          <a:ea typeface="Calibri"/>
                          <a:cs typeface="Times New Roman" pitchFamily="18" charset="0"/>
                        </a:rPr>
                        <a:t>DD 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P5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1074556" y="799615"/>
          <a:ext cx="558302" cy="2750503"/>
        </p:xfrm>
        <a:graphic>
          <a:graphicData uri="http://schemas.openxmlformats.org/drawingml/2006/table">
            <a:tbl>
              <a:tblPr/>
              <a:tblGrid>
                <a:gridCol w="558302"/>
              </a:tblGrid>
              <a:tr h="86995">
                <a:tc>
                  <a:txBody>
                    <a:bodyPr/>
                    <a:lstStyle/>
                    <a:p>
                      <a:pPr algn="l">
                        <a:lnSpc>
                          <a:spcPct val="107000"/>
                        </a:lnSpc>
                        <a:spcAft>
                          <a:spcPts val="800"/>
                        </a:spcAft>
                      </a:pPr>
                      <a:r>
                        <a:rPr lang="en-IN" sz="1400" dirty="0">
                          <a:latin typeface="Times New Roman" pitchFamily="18" charset="0"/>
                          <a:ea typeface="Calibri"/>
                          <a:cs typeface="Times New Roman" pitchFamily="18" charset="0"/>
                        </a:rPr>
                        <a:t>DD 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P3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P6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1743573" y="790360"/>
          <a:ext cx="542427" cy="2742883"/>
        </p:xfrm>
        <a:graphic>
          <a:graphicData uri="http://schemas.openxmlformats.org/drawingml/2006/table">
            <a:tbl>
              <a:tblPr/>
              <a:tblGrid>
                <a:gridCol w="542427"/>
              </a:tblGrid>
              <a:tr h="86995">
                <a:tc>
                  <a:txBody>
                    <a:bodyPr/>
                    <a:lstStyle/>
                    <a:p>
                      <a:pPr algn="l">
                        <a:lnSpc>
                          <a:spcPct val="107000"/>
                        </a:lnSpc>
                        <a:spcAft>
                          <a:spcPts val="800"/>
                        </a:spcAft>
                      </a:pPr>
                      <a:r>
                        <a:rPr lang="en-IN" sz="1400" dirty="0">
                          <a:latin typeface="Times New Roman" pitchFamily="18" charset="0"/>
                          <a:ea typeface="Calibri"/>
                          <a:cs typeface="Times New Roman" pitchFamily="18" charset="0"/>
                        </a:rPr>
                        <a:t>DD 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dirty="0">
                          <a:latin typeface="Times New Roman" pitchFamily="18" charset="0"/>
                          <a:ea typeface="Calibri"/>
                          <a:cs typeface="Times New Roman" pitchFamily="18" charset="0"/>
                        </a:rPr>
                        <a:t>P1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a:latin typeface="Times New Roman" pitchFamily="18" charset="0"/>
                          <a:ea typeface="Calibri"/>
                          <a:cs typeface="Times New Roman" pitchFamily="18" charset="0"/>
                        </a:rPr>
                        <a:t>P4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8650">
                <a:tc>
                  <a:txBody>
                    <a:bodyPr/>
                    <a:lstStyle/>
                    <a:p>
                      <a:pPr algn="l">
                        <a:lnSpc>
                          <a:spcPct val="107000"/>
                        </a:lnSpc>
                        <a:spcAft>
                          <a:spcPts val="800"/>
                        </a:spcAft>
                      </a:pPr>
                      <a:r>
                        <a:rPr lang="en-IN" sz="1400" dirty="0">
                          <a:latin typeface="Times New Roman" pitchFamily="18" charset="0"/>
                          <a:ea typeface="Calibri"/>
                          <a:cs typeface="Times New Roman" pitchFamily="18" charset="0"/>
                        </a:rPr>
                        <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2420030" y="773488"/>
          <a:ext cx="571364" cy="2750503"/>
        </p:xfrm>
        <a:graphic>
          <a:graphicData uri="http://schemas.openxmlformats.org/drawingml/2006/table">
            <a:tbl>
              <a:tblPr/>
              <a:tblGrid>
                <a:gridCol w="571364"/>
              </a:tblGrid>
              <a:tr h="85090">
                <a:tc>
                  <a:txBody>
                    <a:bodyPr/>
                    <a:lstStyle/>
                    <a:p>
                      <a:pPr algn="l">
                        <a:lnSpc>
                          <a:spcPct val="107000"/>
                        </a:lnSpc>
                        <a:spcAft>
                          <a:spcPts val="800"/>
                        </a:spcAft>
                      </a:pPr>
                      <a:r>
                        <a:rPr lang="en-IN" sz="1400">
                          <a:latin typeface="Times New Roman" pitchFamily="18" charset="0"/>
                          <a:ea typeface="Calibri"/>
                          <a:cs typeface="Times New Roman" pitchFamily="18" charset="0"/>
                        </a:rPr>
                        <a:t>DD 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endParaRPr lang="en-IN" sz="1400">
                        <a:latin typeface="Times New Roman" pitchFamily="18"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P2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a:latin typeface="Times New Roman" pitchFamily="18" charset="0"/>
                          <a:ea typeface="Calibri"/>
                          <a:cs typeface="Times New Roman" pitchFamily="18"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555">
                <a:tc>
                  <a:txBody>
                    <a:bodyPr/>
                    <a:lstStyle/>
                    <a:p>
                      <a:pPr algn="l">
                        <a:lnSpc>
                          <a:spcPct val="107000"/>
                        </a:lnSpc>
                        <a:spcAft>
                          <a:spcPts val="800"/>
                        </a:spcAft>
                      </a:pPr>
                      <a:r>
                        <a:rPr lang="en-IN" sz="1400" dirty="0">
                          <a:latin typeface="Times New Roman" pitchFamily="18" charset="0"/>
                          <a:ea typeface="Calibri"/>
                          <a:cs typeface="Times New Roman" pitchFamily="18" charset="0"/>
                        </a:rPr>
                        <a:t>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3108960" y="156755"/>
            <a:ext cx="8921931" cy="3139321"/>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Four disks (DD 1, DD 2, DD 3, DD 4) of RAID 6 configuration are shown in Fig 5. </a:t>
            </a:r>
          </a:p>
          <a:p>
            <a:pPr lvl="0"/>
            <a:r>
              <a:rPr lang="en-IN" dirty="0" smtClean="0">
                <a:latin typeface="Times New Roman" pitchFamily="18" charset="0"/>
                <a:cs typeface="Times New Roman" pitchFamily="18" charset="0"/>
              </a:rPr>
              <a:t>Write operation</a:t>
            </a:r>
          </a:p>
          <a:p>
            <a:pPr lvl="0"/>
            <a:r>
              <a:rPr lang="en-IN" dirty="0" smtClean="0">
                <a:latin typeface="Times New Roman" pitchFamily="18" charset="0"/>
                <a:cs typeface="Times New Roman" pitchFamily="18" charset="0"/>
              </a:rPr>
              <a:t>Strips the data blocks (A, B, C, D, E, F) in the four disks</a:t>
            </a:r>
          </a:p>
          <a:p>
            <a:pPr lvl="0"/>
            <a:r>
              <a:rPr lang="en-IN" dirty="0" smtClean="0">
                <a:latin typeface="Times New Roman" pitchFamily="18" charset="0"/>
                <a:cs typeface="Times New Roman" pitchFamily="18" charset="0"/>
              </a:rPr>
              <a:t>Calculates dual parity block corresponding to each row of data blocks during each write operation </a:t>
            </a:r>
          </a:p>
          <a:p>
            <a:pPr lvl="0"/>
            <a:r>
              <a:rPr lang="en-IN" dirty="0" smtClean="0">
                <a:latin typeface="Times New Roman" pitchFamily="18" charset="0"/>
                <a:cs typeface="Times New Roman" pitchFamily="18" charset="0"/>
              </a:rPr>
              <a:t>Distributes the parity blocks among disks</a:t>
            </a:r>
          </a:p>
          <a:p>
            <a:pPr lvl="0"/>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Read operation</a:t>
            </a:r>
          </a:p>
          <a:p>
            <a:pPr lvl="0"/>
            <a:r>
              <a:rPr lang="en-IN" dirty="0" smtClean="0">
                <a:latin typeface="Times New Roman" pitchFamily="18" charset="0"/>
                <a:cs typeface="Times New Roman" pitchFamily="18" charset="0"/>
              </a:rPr>
              <a:t>Reads the data blocks from the disks and computes </a:t>
            </a:r>
            <a:r>
              <a:rPr lang="en-IN" b="1" dirty="0" smtClean="0">
                <a:latin typeface="Times New Roman" pitchFamily="18" charset="0"/>
                <a:cs typeface="Times New Roman" pitchFamily="18" charset="0"/>
              </a:rPr>
              <a:t>new parity blocks</a:t>
            </a:r>
            <a:r>
              <a:rPr lang="en-IN" dirty="0" smtClean="0">
                <a:latin typeface="Times New Roman" pitchFamily="18" charset="0"/>
                <a:cs typeface="Times New Roman" pitchFamily="18" charset="0"/>
              </a:rPr>
              <a:t> from these data blocks</a:t>
            </a:r>
          </a:p>
          <a:p>
            <a:pPr lvl="0"/>
            <a:r>
              <a:rPr lang="en-IN" dirty="0" smtClean="0">
                <a:latin typeface="Times New Roman" pitchFamily="18" charset="0"/>
                <a:cs typeface="Times New Roman" pitchFamily="18" charset="0"/>
              </a:rPr>
              <a:t>Reads the parity blocks corresponding to the data blocks from the disk and compares this parity blocks with the </a:t>
            </a:r>
            <a:r>
              <a:rPr lang="en-IN" b="1" dirty="0" smtClean="0">
                <a:latin typeface="Times New Roman" pitchFamily="18" charset="0"/>
                <a:cs typeface="Times New Roman" pitchFamily="18" charset="0"/>
              </a:rPr>
              <a:t>new parity blocks</a:t>
            </a:r>
            <a:r>
              <a:rPr lang="en-IN" dirty="0" smtClean="0">
                <a:latin typeface="Times New Roman" pitchFamily="18" charset="0"/>
                <a:cs typeface="Times New Roman" pitchFamily="18" charset="0"/>
              </a:rPr>
              <a:t> to verify the data blocks </a:t>
            </a:r>
            <a:r>
              <a:rPr lang="en-IN" smtClean="0">
                <a:latin typeface="Times New Roman" pitchFamily="18" charset="0"/>
                <a:cs typeface="Times New Roman" pitchFamily="18" charset="0"/>
              </a:rPr>
              <a:t>for reliability</a:t>
            </a:r>
            <a:endParaRPr lang="en-IN" dirty="0" smtClean="0">
              <a:latin typeface="Times New Roman" pitchFamily="18" charset="0"/>
              <a:cs typeface="Times New Roman" pitchFamily="18" charset="0"/>
            </a:endParaRPr>
          </a:p>
        </p:txBody>
      </p:sp>
      <p:sp>
        <p:nvSpPr>
          <p:cNvPr id="8" name="TextBox 7"/>
          <p:cNvSpPr txBox="1"/>
          <p:nvPr/>
        </p:nvSpPr>
        <p:spPr>
          <a:xfrm>
            <a:off x="156754" y="4637315"/>
            <a:ext cx="11834949" cy="2031325"/>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If a data disk fails, the data blocks of this faulty disk can be recovered by an appropriate calculation between the parity blocks and the data blocks of the remaining data disks</a:t>
            </a:r>
          </a:p>
          <a:p>
            <a:pPr lvl="0"/>
            <a:r>
              <a:rPr lang="en-IN" dirty="0" smtClean="0">
                <a:latin typeface="Times New Roman" pitchFamily="18" charset="0"/>
                <a:cs typeface="Times New Roman" pitchFamily="18" charset="0"/>
              </a:rPr>
              <a:t>Needs hardware support for parity calculation</a:t>
            </a:r>
          </a:p>
          <a:p>
            <a:pPr lvl="0"/>
            <a:r>
              <a:rPr lang="en-IN" dirty="0" smtClean="0">
                <a:latin typeface="Times New Roman" pitchFamily="18" charset="0"/>
                <a:cs typeface="Times New Roman" pitchFamily="18" charset="0"/>
              </a:rPr>
              <a:t>Good for sequential read and write operation</a:t>
            </a:r>
          </a:p>
          <a:p>
            <a:pPr lvl="0"/>
            <a:r>
              <a:rPr lang="en-IN" dirty="0" smtClean="0">
                <a:latin typeface="Times New Roman" pitchFamily="18" charset="0"/>
                <a:cs typeface="Times New Roman" pitchFamily="18" charset="0"/>
              </a:rPr>
              <a:t>Good for random read but bad for random write as parity block calculation causes large loss of time</a:t>
            </a:r>
          </a:p>
          <a:p>
            <a:pPr lvl="0"/>
            <a:r>
              <a:rPr lang="en-IN" dirty="0" smtClean="0">
                <a:latin typeface="Times New Roman" pitchFamily="18" charset="0"/>
                <a:cs typeface="Times New Roman" pitchFamily="18" charset="0"/>
              </a:rPr>
              <a:t>Can handle the failure of two disks</a:t>
            </a:r>
          </a:p>
          <a:p>
            <a:pPr lvl="0"/>
            <a:r>
              <a:rPr lang="en-IN" dirty="0" smtClean="0">
                <a:latin typeface="Times New Roman" pitchFamily="18" charset="0"/>
                <a:cs typeface="Times New Roman" pitchFamily="18" charset="0"/>
              </a:rPr>
              <a:t>Complex to implement as it has to calculate two parity blocks for each write operation</a:t>
            </a:r>
            <a:endParaRPr lang="en-IN" dirty="0">
              <a:latin typeface="Times New Roman" pitchFamily="18" charset="0"/>
              <a:cs typeface="Times New Roman" pitchFamily="18" charset="0"/>
            </a:endParaRPr>
          </a:p>
        </p:txBody>
      </p:sp>
      <p:sp>
        <p:nvSpPr>
          <p:cNvPr id="10" name="TextBox 9"/>
          <p:cNvSpPr txBox="1"/>
          <p:nvPr/>
        </p:nvSpPr>
        <p:spPr>
          <a:xfrm>
            <a:off x="209006" y="3749040"/>
            <a:ext cx="2756263" cy="369332"/>
          </a:xfrm>
          <a:prstGeom prst="rect">
            <a:avLst/>
          </a:prstGeom>
          <a:noFill/>
        </p:spPr>
        <p:txBody>
          <a:bodyPr wrap="square" rtlCol="0">
            <a:spAutoFit/>
          </a:bodyPr>
          <a:lstStyle/>
          <a:p>
            <a:pPr lvl="0"/>
            <a:r>
              <a:rPr lang="en-IN" dirty="0" smtClean="0">
                <a:latin typeface="Times New Roman" pitchFamily="18" charset="0"/>
                <a:cs typeface="Times New Roman" pitchFamily="18" charset="0"/>
              </a:rPr>
              <a:t>N+2 is the number of disks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TotalTime>
  <Words>7428</Words>
  <Application>Microsoft Office PowerPoint</Application>
  <PresentationFormat>Custom</PresentationFormat>
  <Paragraphs>684</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cst_laptop5</dc:creator>
  <cp:lastModifiedBy>cst_laptop5</cp:lastModifiedBy>
  <cp:revision>169</cp:revision>
  <dcterms:created xsi:type="dcterms:W3CDTF">2025-07-01T07:10:34Z</dcterms:created>
  <dcterms:modified xsi:type="dcterms:W3CDTF">2026-04-01T09:11:08Z</dcterms:modified>
</cp:coreProperties>
</file>