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000" autoAdjust="0"/>
    <p:restoredTop sz="94660"/>
  </p:normalViewPr>
  <p:slideViewPr>
    <p:cSldViewPr snapToGrid="0">
      <p:cViewPr>
        <p:scale>
          <a:sx n="66" d="100"/>
          <a:sy n="66" d="100"/>
        </p:scale>
        <p:origin x="-900" y="-25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A2E16F1F-10D7-4274-A746-76727EEF0F58}" type="datetimeFigureOut">
              <a:rPr lang="en-IN" smtClean="0"/>
              <a:pPr/>
              <a:t>22-01-2026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D12609-F336-439B-BC4F-0659178CE083}" type="slidenum">
              <a:rPr lang="en-IN" smtClean="0"/>
              <a:pPr/>
              <a:t>‹#›</a:t>
            </a:fld>
            <a:endParaRPr lang="en-IN"/>
          </a:p>
        </p:txBody>
      </p:sp>
    </p:spTree>
    <p:extLst>
      <p:ext uri="{BB962C8B-B14F-4D97-AF65-F5344CB8AC3E}">
        <p14:creationId xmlns="" xmlns:p14="http://schemas.microsoft.com/office/powerpoint/2010/main" val="1199583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2E16F1F-10D7-4274-A746-76727EEF0F58}" type="datetimeFigureOut">
              <a:rPr lang="en-IN" smtClean="0"/>
              <a:pPr/>
              <a:t>22-01-2026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D12609-F336-439B-BC4F-0659178CE083}" type="slidenum">
              <a:rPr lang="en-IN" smtClean="0"/>
              <a:pPr/>
              <a:t>‹#›</a:t>
            </a:fld>
            <a:endParaRPr lang="en-IN"/>
          </a:p>
        </p:txBody>
      </p:sp>
    </p:spTree>
    <p:extLst>
      <p:ext uri="{BB962C8B-B14F-4D97-AF65-F5344CB8AC3E}">
        <p14:creationId xmlns="" xmlns:p14="http://schemas.microsoft.com/office/powerpoint/2010/main" val="29113190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2E16F1F-10D7-4274-A746-76727EEF0F58}" type="datetimeFigureOut">
              <a:rPr lang="en-IN" smtClean="0"/>
              <a:pPr/>
              <a:t>22-01-2026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D12609-F336-439B-BC4F-0659178CE083}" type="slidenum">
              <a:rPr lang="en-IN" smtClean="0"/>
              <a:pPr/>
              <a:t>‹#›</a:t>
            </a:fld>
            <a:endParaRPr lang="en-IN"/>
          </a:p>
        </p:txBody>
      </p:sp>
    </p:spTree>
    <p:extLst>
      <p:ext uri="{BB962C8B-B14F-4D97-AF65-F5344CB8AC3E}">
        <p14:creationId xmlns="" xmlns:p14="http://schemas.microsoft.com/office/powerpoint/2010/main" val="16931888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A2E16F1F-10D7-4274-A746-76727EEF0F58}" type="datetimeFigureOut">
              <a:rPr lang="en-IN" smtClean="0"/>
              <a:pPr/>
              <a:t>22-01-2026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8D12609-F336-439B-BC4F-0659178CE083}" type="slidenum">
              <a:rPr lang="en-IN" smtClean="0"/>
              <a:pPr/>
              <a:t>‹#›</a:t>
            </a:fld>
            <a:endParaRPr lang="en-IN"/>
          </a:p>
        </p:txBody>
      </p:sp>
    </p:spTree>
    <p:extLst>
      <p:ext uri="{BB962C8B-B14F-4D97-AF65-F5344CB8AC3E}">
        <p14:creationId xmlns="" xmlns:p14="http://schemas.microsoft.com/office/powerpoint/2010/main" val="884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A2E16F1F-10D7-4274-A746-76727EEF0F58}" type="datetimeFigureOut">
              <a:rPr lang="en-IN" smtClean="0"/>
              <a:pPr/>
              <a:t>22-01-2026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8D12609-F336-439B-BC4F-0659178CE083}" type="slidenum">
              <a:rPr lang="en-IN" smtClean="0"/>
              <a:pPr/>
              <a:t>‹#›</a:t>
            </a:fld>
            <a:endParaRPr lang="en-IN"/>
          </a:p>
        </p:txBody>
      </p:sp>
    </p:spTree>
    <p:extLst>
      <p:ext uri="{BB962C8B-B14F-4D97-AF65-F5344CB8AC3E}">
        <p14:creationId xmlns="" xmlns:p14="http://schemas.microsoft.com/office/powerpoint/2010/main" val="3056207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A2E16F1F-10D7-4274-A746-76727EEF0F58}" type="datetimeFigureOut">
              <a:rPr lang="en-IN" smtClean="0"/>
              <a:pPr/>
              <a:t>22-01-2026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8D12609-F336-439B-BC4F-0659178CE083}" type="slidenum">
              <a:rPr lang="en-IN" smtClean="0"/>
              <a:pPr/>
              <a:t>‹#›</a:t>
            </a:fld>
            <a:endParaRPr lang="en-IN"/>
          </a:p>
        </p:txBody>
      </p:sp>
    </p:spTree>
    <p:extLst>
      <p:ext uri="{BB962C8B-B14F-4D97-AF65-F5344CB8AC3E}">
        <p14:creationId xmlns="" xmlns:p14="http://schemas.microsoft.com/office/powerpoint/2010/main" val="26025133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E16F1F-10D7-4274-A746-76727EEF0F58}" type="datetimeFigureOut">
              <a:rPr lang="en-IN" smtClean="0"/>
              <a:pPr/>
              <a:t>22-01-2026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8D12609-F336-439B-BC4F-0659178CE083}" type="slidenum">
              <a:rPr lang="en-IN" smtClean="0"/>
              <a:pPr/>
              <a:t>‹#›</a:t>
            </a:fld>
            <a:endParaRPr lang="en-IN"/>
          </a:p>
        </p:txBody>
      </p:sp>
    </p:spTree>
    <p:extLst>
      <p:ext uri="{BB962C8B-B14F-4D97-AF65-F5344CB8AC3E}">
        <p14:creationId xmlns="" xmlns:p14="http://schemas.microsoft.com/office/powerpoint/2010/main" val="2544281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2E16F1F-10D7-4274-A746-76727EEF0F58}" type="datetimeFigureOut">
              <a:rPr lang="en-IN" smtClean="0"/>
              <a:pPr/>
              <a:t>22-01-2026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8D12609-F336-439B-BC4F-0659178CE083}" type="slidenum">
              <a:rPr lang="en-IN" smtClean="0"/>
              <a:pPr/>
              <a:t>‹#›</a:t>
            </a:fld>
            <a:endParaRPr lang="en-IN"/>
          </a:p>
        </p:txBody>
      </p:sp>
    </p:spTree>
    <p:extLst>
      <p:ext uri="{BB962C8B-B14F-4D97-AF65-F5344CB8AC3E}">
        <p14:creationId xmlns="" xmlns:p14="http://schemas.microsoft.com/office/powerpoint/2010/main" val="191249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2E16F1F-10D7-4274-A746-76727EEF0F58}" type="datetimeFigureOut">
              <a:rPr lang="en-IN" smtClean="0"/>
              <a:pPr/>
              <a:t>22-01-2026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8D12609-F336-439B-BC4F-0659178CE083}" type="slidenum">
              <a:rPr lang="en-IN" smtClean="0"/>
              <a:pPr/>
              <a:t>‹#›</a:t>
            </a:fld>
            <a:endParaRPr lang="en-IN"/>
          </a:p>
        </p:txBody>
      </p:sp>
    </p:spTree>
    <p:extLst>
      <p:ext uri="{BB962C8B-B14F-4D97-AF65-F5344CB8AC3E}">
        <p14:creationId xmlns="" xmlns:p14="http://schemas.microsoft.com/office/powerpoint/2010/main" val="2878446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2E16F1F-10D7-4274-A746-76727EEF0F58}" type="datetimeFigureOut">
              <a:rPr lang="en-IN" smtClean="0"/>
              <a:pPr/>
              <a:t>22-01-2026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D12609-F336-439B-BC4F-0659178CE083}" type="slidenum">
              <a:rPr lang="en-IN" smtClean="0"/>
              <a:pPr/>
              <a:t>‹#›</a:t>
            </a:fld>
            <a:endParaRPr lang="en-IN"/>
          </a:p>
        </p:txBody>
      </p:sp>
    </p:spTree>
    <p:extLst>
      <p:ext uri="{BB962C8B-B14F-4D97-AF65-F5344CB8AC3E}">
        <p14:creationId xmlns="" xmlns:p14="http://schemas.microsoft.com/office/powerpoint/2010/main" val="38562959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2E16F1F-10D7-4274-A746-76727EEF0F58}" type="datetimeFigureOut">
              <a:rPr lang="en-IN" smtClean="0"/>
              <a:pPr/>
              <a:t>22-01-2026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D12609-F336-439B-BC4F-0659178CE083}" type="slidenum">
              <a:rPr lang="en-IN" smtClean="0"/>
              <a:pPr/>
              <a:t>‹#›</a:t>
            </a:fld>
            <a:endParaRPr lang="en-IN"/>
          </a:p>
        </p:txBody>
      </p:sp>
    </p:spTree>
    <p:extLst>
      <p:ext uri="{BB962C8B-B14F-4D97-AF65-F5344CB8AC3E}">
        <p14:creationId xmlns="" xmlns:p14="http://schemas.microsoft.com/office/powerpoint/2010/main" val="976647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E16F1F-10D7-4274-A746-76727EEF0F58}" type="datetimeFigureOut">
              <a:rPr lang="en-IN" smtClean="0"/>
              <a:pPr/>
              <a:t>22-01-2026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D12609-F336-439B-BC4F-0659178CE083}" type="slidenum">
              <a:rPr lang="en-IN" smtClean="0"/>
              <a:pPr/>
              <a:t>‹#›</a:t>
            </a:fld>
            <a:endParaRPr lang="en-IN"/>
          </a:p>
        </p:txBody>
      </p:sp>
    </p:spTree>
    <p:extLst>
      <p:ext uri="{BB962C8B-B14F-4D97-AF65-F5344CB8AC3E}">
        <p14:creationId xmlns="" xmlns:p14="http://schemas.microsoft.com/office/powerpoint/2010/main" val="292791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0153" y="115909"/>
            <a:ext cx="11874320" cy="1477328"/>
          </a:xfrm>
          <a:prstGeom prst="rect">
            <a:avLst/>
          </a:prstGeom>
          <a:noFill/>
        </p:spPr>
        <p:txBody>
          <a:bodyPr wrap="square" rtlCol="0">
            <a:spAutoFit/>
          </a:bodyPr>
          <a:lstStyle/>
          <a:p>
            <a:r>
              <a:rPr lang="en-IN" b="1" dirty="0" smtClean="0">
                <a:latin typeface="Times New Roman" panose="02020603050405020304" pitchFamily="18" charset="0"/>
                <a:cs typeface="Times New Roman" panose="02020603050405020304" pitchFamily="18" charset="0"/>
              </a:rPr>
              <a:t>Instruction sets</a:t>
            </a:r>
          </a:p>
          <a:p>
            <a:r>
              <a:rPr lang="en-IN" dirty="0" smtClean="0">
                <a:latin typeface="Times New Roman" panose="02020603050405020304" pitchFamily="18" charset="0"/>
                <a:cs typeface="Times New Roman" panose="02020603050405020304" pitchFamily="18" charset="0"/>
              </a:rPr>
              <a:t>Specify an operation to be carried out or set of operands or data to be used </a:t>
            </a:r>
          </a:p>
          <a:p>
            <a:r>
              <a:rPr lang="en-IN" dirty="0" smtClean="0">
                <a:latin typeface="Times New Roman" panose="02020603050405020304" pitchFamily="18" charset="0"/>
                <a:cs typeface="Times New Roman" panose="02020603050405020304" pitchFamily="18" charset="0"/>
              </a:rPr>
              <a:t>Operation specified in opcode field of the instruction</a:t>
            </a:r>
          </a:p>
          <a:p>
            <a:r>
              <a:rPr lang="en-IN" dirty="0" smtClean="0">
                <a:latin typeface="Times New Roman" panose="02020603050405020304" pitchFamily="18" charset="0"/>
                <a:cs typeface="Times New Roman" panose="02020603050405020304" pitchFamily="18" charset="0"/>
              </a:rPr>
              <a:t>Operand field includes input data and results that are produced </a:t>
            </a:r>
          </a:p>
          <a:p>
            <a:r>
              <a:rPr lang="en-IN" dirty="0" smtClean="0">
                <a:latin typeface="Times New Roman" panose="02020603050405020304" pitchFamily="18" charset="0"/>
                <a:cs typeface="Times New Roman" panose="02020603050405020304" pitchFamily="18" charset="0"/>
              </a:rPr>
              <a:t>Operand field of the instruction contains addresses of storage locations in main memory or in the processor </a:t>
            </a:r>
            <a:endParaRPr lang="en-IN" dirty="0">
              <a:latin typeface="Times New Roman" panose="02020603050405020304" pitchFamily="18" charset="0"/>
              <a:cs typeface="Times New Roman" panose="02020603050405020304" pitchFamily="18" charset="0"/>
            </a:endParaRPr>
          </a:p>
        </p:txBody>
      </p:sp>
      <p:sp>
        <p:nvSpPr>
          <p:cNvPr id="5" name="TextBox 75"/>
          <p:cNvSpPr txBox="1"/>
          <p:nvPr/>
        </p:nvSpPr>
        <p:spPr>
          <a:xfrm>
            <a:off x="387312" y="1881280"/>
            <a:ext cx="944881"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smtClean="0">
                <a:latin typeface="Times New Roman" panose="02020603050405020304" pitchFamily="18" charset="0"/>
                <a:cs typeface="Times New Roman" panose="02020603050405020304" pitchFamily="18" charset="0"/>
              </a:rPr>
              <a:t>Opcode </a:t>
            </a:r>
            <a:endParaRPr lang="en-IN" dirty="0">
              <a:latin typeface="Times New Roman" panose="02020603050405020304" pitchFamily="18" charset="0"/>
              <a:cs typeface="Times New Roman" panose="02020603050405020304" pitchFamily="18" charset="0"/>
            </a:endParaRPr>
          </a:p>
        </p:txBody>
      </p:sp>
      <p:sp>
        <p:nvSpPr>
          <p:cNvPr id="6" name="TextBox 76"/>
          <p:cNvSpPr txBox="1"/>
          <p:nvPr/>
        </p:nvSpPr>
        <p:spPr>
          <a:xfrm>
            <a:off x="3512736" y="1832391"/>
            <a:ext cx="481922"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smtClean="0">
                <a:latin typeface="Times New Roman" panose="02020603050405020304" pitchFamily="18" charset="0"/>
                <a:cs typeface="Times New Roman" panose="02020603050405020304" pitchFamily="18" charset="0"/>
              </a:rPr>
              <a:t>. . .</a:t>
            </a:r>
            <a:endParaRPr lang="en-IN" dirty="0">
              <a:latin typeface="Times New Roman" panose="02020603050405020304" pitchFamily="18" charset="0"/>
              <a:cs typeface="Times New Roman" panose="02020603050405020304" pitchFamily="18" charset="0"/>
            </a:endParaRPr>
          </a:p>
        </p:txBody>
      </p:sp>
      <p:sp>
        <p:nvSpPr>
          <p:cNvPr id="7" name="Rectangle 6"/>
          <p:cNvSpPr/>
          <p:nvPr/>
        </p:nvSpPr>
        <p:spPr>
          <a:xfrm>
            <a:off x="423522" y="1901675"/>
            <a:ext cx="4187115" cy="3962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cxnSp>
        <p:nvCxnSpPr>
          <p:cNvPr id="9" name="Straight Connector 8"/>
          <p:cNvCxnSpPr/>
          <p:nvPr/>
        </p:nvCxnSpPr>
        <p:spPr>
          <a:xfrm>
            <a:off x="1332193" y="1891047"/>
            <a:ext cx="0" cy="406868"/>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2167048" y="1891047"/>
            <a:ext cx="0" cy="40686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2899123" y="1901675"/>
            <a:ext cx="0" cy="406868"/>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3476525" y="1901675"/>
            <a:ext cx="0" cy="406868"/>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3994658" y="1901675"/>
            <a:ext cx="0" cy="406868"/>
          </a:xfrm>
          <a:prstGeom prst="line">
            <a:avLst/>
          </a:prstGeom>
        </p:spPr>
        <p:style>
          <a:lnRef idx="1">
            <a:schemeClr val="accent1"/>
          </a:lnRef>
          <a:fillRef idx="0">
            <a:schemeClr val="accent1"/>
          </a:fillRef>
          <a:effectRef idx="0">
            <a:schemeClr val="accent1"/>
          </a:effectRef>
          <a:fontRef idx="minor">
            <a:schemeClr val="tx1"/>
          </a:fontRef>
        </p:style>
      </p:cxnSp>
      <p:sp>
        <p:nvSpPr>
          <p:cNvPr id="30" name="TextBox 75"/>
          <p:cNvSpPr txBox="1"/>
          <p:nvPr/>
        </p:nvSpPr>
        <p:spPr>
          <a:xfrm>
            <a:off x="2111669" y="2297915"/>
            <a:ext cx="1076156"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smtClean="0">
                <a:latin typeface="Times New Roman" panose="02020603050405020304" pitchFamily="18" charset="0"/>
                <a:cs typeface="Times New Roman" panose="02020603050405020304" pitchFamily="18" charset="0"/>
              </a:rPr>
              <a:t>Operands</a:t>
            </a:r>
            <a:endParaRPr lang="en-IN" dirty="0">
              <a:latin typeface="Times New Roman" panose="02020603050405020304" pitchFamily="18" charset="0"/>
              <a:cs typeface="Times New Roman" panose="02020603050405020304" pitchFamily="18" charset="0"/>
            </a:endParaRPr>
          </a:p>
        </p:txBody>
      </p:sp>
      <p:sp>
        <p:nvSpPr>
          <p:cNvPr id="31" name="TextBox 30"/>
          <p:cNvSpPr txBox="1"/>
          <p:nvPr/>
        </p:nvSpPr>
        <p:spPr>
          <a:xfrm>
            <a:off x="2410736" y="1607775"/>
            <a:ext cx="244699"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2</a:t>
            </a:r>
            <a:r>
              <a:rPr lang="en-IN" sz="1400" dirty="0" smtClean="0">
                <a:latin typeface="Times New Roman" panose="02020603050405020304" pitchFamily="18" charset="0"/>
                <a:cs typeface="Times New Roman" panose="02020603050405020304" pitchFamily="18" charset="0"/>
              </a:rPr>
              <a:t> </a:t>
            </a:r>
            <a:endParaRPr lang="en-IN" sz="1400" dirty="0">
              <a:latin typeface="Times New Roman" panose="02020603050405020304" pitchFamily="18" charset="0"/>
              <a:cs typeface="Times New Roman" panose="02020603050405020304" pitchFamily="18" charset="0"/>
            </a:endParaRPr>
          </a:p>
        </p:txBody>
      </p:sp>
      <p:sp>
        <p:nvSpPr>
          <p:cNvPr id="32" name="TextBox 31"/>
          <p:cNvSpPr txBox="1"/>
          <p:nvPr/>
        </p:nvSpPr>
        <p:spPr>
          <a:xfrm>
            <a:off x="3071852" y="1607774"/>
            <a:ext cx="244699"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3 </a:t>
            </a:r>
            <a:endParaRPr lang="en-IN" sz="1400" dirty="0">
              <a:latin typeface="Times New Roman" panose="02020603050405020304" pitchFamily="18" charset="0"/>
              <a:cs typeface="Times New Roman" panose="02020603050405020304" pitchFamily="18" charset="0"/>
            </a:endParaRPr>
          </a:p>
        </p:txBody>
      </p:sp>
      <p:sp>
        <p:nvSpPr>
          <p:cNvPr id="33" name="TextBox 32"/>
          <p:cNvSpPr txBox="1"/>
          <p:nvPr/>
        </p:nvSpPr>
        <p:spPr>
          <a:xfrm>
            <a:off x="4190843" y="1583270"/>
            <a:ext cx="244699"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n</a:t>
            </a:r>
            <a:r>
              <a:rPr lang="en-IN" sz="1400" dirty="0" smtClean="0">
                <a:latin typeface="Times New Roman" panose="02020603050405020304" pitchFamily="18" charset="0"/>
                <a:cs typeface="Times New Roman" panose="02020603050405020304" pitchFamily="18" charset="0"/>
              </a:rPr>
              <a:t> </a:t>
            </a:r>
            <a:endParaRPr lang="en-IN" sz="1400" dirty="0">
              <a:latin typeface="Times New Roman" panose="02020603050405020304" pitchFamily="18" charset="0"/>
              <a:cs typeface="Times New Roman" panose="02020603050405020304" pitchFamily="18" charset="0"/>
            </a:endParaRPr>
          </a:p>
        </p:txBody>
      </p:sp>
      <p:sp>
        <p:nvSpPr>
          <p:cNvPr id="34" name="TextBox 33"/>
          <p:cNvSpPr txBox="1"/>
          <p:nvPr/>
        </p:nvSpPr>
        <p:spPr>
          <a:xfrm>
            <a:off x="1627270" y="1629138"/>
            <a:ext cx="244699"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1</a:t>
            </a:r>
            <a:endParaRPr lang="en-IN" sz="1400" dirty="0">
              <a:latin typeface="Times New Roman" panose="02020603050405020304" pitchFamily="18" charset="0"/>
              <a:cs typeface="Times New Roman" panose="02020603050405020304" pitchFamily="18" charset="0"/>
            </a:endParaRPr>
          </a:p>
        </p:txBody>
      </p:sp>
      <p:sp>
        <p:nvSpPr>
          <p:cNvPr id="35" name="TextBox 34"/>
          <p:cNvSpPr txBox="1"/>
          <p:nvPr/>
        </p:nvSpPr>
        <p:spPr>
          <a:xfrm>
            <a:off x="203917" y="2704783"/>
            <a:ext cx="11874320" cy="3693319"/>
          </a:xfrm>
          <a:prstGeom prst="rect">
            <a:avLst/>
          </a:prstGeom>
          <a:noFill/>
        </p:spPr>
        <p:txBody>
          <a:bodyPr wrap="square" rtlCol="0">
            <a:spAutoFit/>
          </a:bodyPr>
          <a:lstStyle/>
          <a:p>
            <a:r>
              <a:rPr lang="en-IN" b="1" dirty="0" smtClean="0">
                <a:latin typeface="Times New Roman" panose="02020603050405020304" pitchFamily="18" charset="0"/>
                <a:cs typeface="Times New Roman" panose="02020603050405020304" pitchFamily="18" charset="0"/>
              </a:rPr>
              <a:t>Instruction format</a:t>
            </a:r>
          </a:p>
          <a:p>
            <a:r>
              <a:rPr lang="en-IN" dirty="0" smtClean="0">
                <a:latin typeface="Times New Roman" panose="02020603050405020304" pitchFamily="18" charset="0"/>
                <a:cs typeface="Times New Roman" panose="02020603050405020304" pitchFamily="18" charset="0"/>
              </a:rPr>
              <a:t>n-operand format</a:t>
            </a:r>
          </a:p>
          <a:p>
            <a:r>
              <a:rPr lang="en-IN" dirty="0" smtClean="0">
                <a:latin typeface="Times New Roman" panose="02020603050405020304" pitchFamily="18" charset="0"/>
                <a:cs typeface="Times New Roman" panose="02020603050405020304" pitchFamily="18" charset="0"/>
              </a:rPr>
              <a:t>To reduce instruction size and thereby reduce program storage space it is common to specify only m&lt;n operands explicitly in the instruction, remaining operands are implicit</a:t>
            </a:r>
          </a:p>
          <a:p>
            <a:r>
              <a:rPr lang="en-IN" dirty="0" smtClean="0">
                <a:latin typeface="Times New Roman" panose="02020603050405020304" pitchFamily="18" charset="0"/>
                <a:cs typeface="Times New Roman" panose="02020603050405020304" pitchFamily="18" charset="0"/>
              </a:rPr>
              <a:t>Explicit address fields usually refer to main memory implicit ones refer to registers</a:t>
            </a:r>
          </a:p>
          <a:p>
            <a:r>
              <a:rPr lang="en-IN" dirty="0" smtClean="0">
                <a:latin typeface="Times New Roman" panose="02020603050405020304" pitchFamily="18" charset="0"/>
                <a:cs typeface="Times New Roman" panose="02020603050405020304" pitchFamily="18" charset="0"/>
              </a:rPr>
              <a:t>If m is the maximum number of explicit main memory addresses allowed in any processor instruction, the processor may be called an m-address machine</a:t>
            </a:r>
          </a:p>
          <a:p>
            <a:r>
              <a:rPr lang="en-IN" dirty="0" smtClean="0">
                <a:latin typeface="Times New Roman" panose="02020603050405020304" pitchFamily="18" charset="0"/>
                <a:cs typeface="Times New Roman" panose="02020603050405020304" pitchFamily="18" charset="0"/>
              </a:rPr>
              <a:t>Implicit input operands must be placed in locations known to the processor before the instruction that refers to them is executed</a:t>
            </a:r>
          </a:p>
          <a:p>
            <a:endParaRPr lang="en-IN" dirty="0" smtClean="0">
              <a:latin typeface="Times New Roman" panose="02020603050405020304" pitchFamily="18" charset="0"/>
              <a:cs typeface="Times New Roman" panose="02020603050405020304" pitchFamily="18" charset="0"/>
            </a:endParaRPr>
          </a:p>
          <a:p>
            <a:r>
              <a:rPr lang="en-IN" b="1" dirty="0" smtClean="0">
                <a:latin typeface="Times New Roman" panose="02020603050405020304" pitchFamily="18" charset="0"/>
                <a:cs typeface="Times New Roman" panose="02020603050405020304" pitchFamily="18" charset="0"/>
              </a:rPr>
              <a:t>Addressing modes</a:t>
            </a:r>
          </a:p>
          <a:p>
            <a:r>
              <a:rPr lang="en-IN" dirty="0" smtClean="0">
                <a:latin typeface="Times New Roman" panose="02020603050405020304" pitchFamily="18" charset="0"/>
                <a:cs typeface="Times New Roman" panose="02020603050405020304" pitchFamily="18" charset="0"/>
              </a:rPr>
              <a:t>Operand field of an instruction contains a piece of data X</a:t>
            </a:r>
          </a:p>
          <a:p>
            <a:r>
              <a:rPr lang="en-IN" dirty="0" smtClean="0">
                <a:latin typeface="Times New Roman" panose="02020603050405020304" pitchFamily="18" charset="0"/>
                <a:cs typeface="Times New Roman" panose="02020603050405020304" pitchFamily="18" charset="0"/>
              </a:rPr>
              <a:t>To execute instruction processor requires the current value of X, this value can be specified in several ways, termed addressing modes</a:t>
            </a:r>
            <a:endParaRPr lang="en-IN" dirty="0">
              <a:latin typeface="Times New Roman" panose="02020603050405020304" pitchFamily="18" charset="0"/>
              <a:cs typeface="Times New Roman" panose="02020603050405020304" pitchFamily="18" charset="0"/>
            </a:endParaRPr>
          </a:p>
        </p:txBody>
      </p:sp>
      <p:sp>
        <p:nvSpPr>
          <p:cNvPr id="36" name="TextBox 35"/>
          <p:cNvSpPr txBox="1"/>
          <p:nvPr/>
        </p:nvSpPr>
        <p:spPr>
          <a:xfrm>
            <a:off x="5201837" y="1650447"/>
            <a:ext cx="2923504" cy="95410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Add r1, r2</a:t>
            </a:r>
            <a:r>
              <a:rPr lang="en-IN" sz="1400" dirty="0">
                <a:latin typeface="Times New Roman" panose="02020603050405020304" pitchFamily="18" charset="0"/>
                <a:cs typeface="Times New Roman" panose="02020603050405020304" pitchFamily="18" charset="0"/>
                <a:sym typeface="Symbol" panose="05050102010706020507" pitchFamily="18" charset="2"/>
              </a:rPr>
              <a:t>:</a:t>
            </a:r>
            <a:r>
              <a:rPr lang="en-IN" sz="1400" dirty="0" smtClean="0">
                <a:latin typeface="Times New Roman" panose="02020603050405020304" pitchFamily="18" charset="0"/>
                <a:cs typeface="Times New Roman" panose="02020603050405020304" pitchFamily="18" charset="0"/>
              </a:rPr>
              <a:t> r1</a:t>
            </a:r>
            <a:r>
              <a:rPr lang="en-IN" sz="1400" dirty="0" smtClean="0">
                <a:latin typeface="Times New Roman" panose="02020603050405020304" pitchFamily="18" charset="0"/>
                <a:cs typeface="Times New Roman" panose="02020603050405020304" pitchFamily="18" charset="0"/>
                <a:sym typeface="Symbol" panose="05050102010706020507" pitchFamily="18" charset="2"/>
              </a:rPr>
              <a:t>r1+r2</a:t>
            </a:r>
          </a:p>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Add r1, M(X): r1r1+M(X)</a:t>
            </a:r>
          </a:p>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MOV A, M(X): X is explicit</a:t>
            </a:r>
          </a:p>
          <a:p>
            <a:r>
              <a:rPr lang="en-IN" sz="1400" dirty="0" smtClean="0">
                <a:latin typeface="Times New Roman" panose="02020603050405020304" pitchFamily="18" charset="0"/>
                <a:cs typeface="Times New Roman" panose="02020603050405020304" pitchFamily="18" charset="0"/>
                <a:sym typeface="Symbol" panose="05050102010706020507" pitchFamily="18" charset="2"/>
              </a:rPr>
              <a:t>MOV A, B: B is implicit</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4815189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2880" y="169817"/>
            <a:ext cx="11756572" cy="2031325"/>
          </a:xfrm>
          <a:prstGeom prst="rect">
            <a:avLst/>
          </a:prstGeom>
          <a:noFill/>
        </p:spPr>
        <p:txBody>
          <a:bodyPr wrap="square" rtlCol="0">
            <a:spAutoFit/>
          </a:bodyPr>
          <a:lstStyle/>
          <a:p>
            <a:r>
              <a:rPr lang="en-IN" u="sng" dirty="0" smtClean="0">
                <a:latin typeface="Times New Roman" pitchFamily="18" charset="0"/>
                <a:cs typeface="Times New Roman" pitchFamily="18" charset="0"/>
              </a:rPr>
              <a:t>Immediate addressing</a:t>
            </a:r>
            <a:r>
              <a:rPr lang="en-IN" dirty="0" smtClean="0">
                <a:latin typeface="Times New Roman" pitchFamily="18" charset="0"/>
                <a:cs typeface="Times New Roman" pitchFamily="18" charset="0"/>
              </a:rPr>
              <a:t>:  X  (Operand) is constant, its value can be placed in the instruction operand field</a:t>
            </a:r>
          </a:p>
          <a:p>
            <a:r>
              <a:rPr lang="en-IN" u="sng" dirty="0" smtClean="0">
                <a:latin typeface="Times New Roman" pitchFamily="18" charset="0"/>
                <a:cs typeface="Times New Roman" pitchFamily="18" charset="0"/>
              </a:rPr>
              <a:t>Direct addressing</a:t>
            </a:r>
            <a:r>
              <a:rPr lang="en-IN" dirty="0" smtClean="0">
                <a:latin typeface="Times New Roman" pitchFamily="18" charset="0"/>
                <a:cs typeface="Times New Roman" pitchFamily="18" charset="0"/>
              </a:rPr>
              <a:t>: X (Operand) is variable, then operand field X contains address of the memory location of  the operand. Requires one fetch operation for getting the operand.</a:t>
            </a:r>
          </a:p>
          <a:p>
            <a:r>
              <a:rPr lang="en-IN" u="sng" dirty="0" smtClean="0">
                <a:latin typeface="Times New Roman" pitchFamily="18" charset="0"/>
                <a:cs typeface="Times New Roman" pitchFamily="18" charset="0"/>
              </a:rPr>
              <a:t>Indirect addressing</a:t>
            </a:r>
            <a:r>
              <a:rPr lang="en-IN" dirty="0" smtClean="0">
                <a:latin typeface="Times New Roman" pitchFamily="18" charset="0"/>
                <a:cs typeface="Times New Roman" pitchFamily="18" charset="0"/>
              </a:rPr>
              <a:t>: Instruction operand  field contains the address W of a storage location which in turn contains address X of the desired operand. By changing the content of W, address of the operand value required by the instruction is effectively changed</a:t>
            </a:r>
          </a:p>
          <a:p>
            <a:r>
              <a:rPr lang="en-IN" dirty="0" smtClean="0">
                <a:latin typeface="Times New Roman" pitchFamily="18" charset="0"/>
                <a:cs typeface="Times New Roman" pitchFamily="18" charset="0"/>
              </a:rPr>
              <a:t>Requires two fetch operation for getting the operand.</a:t>
            </a:r>
          </a:p>
        </p:txBody>
      </p:sp>
      <p:sp>
        <p:nvSpPr>
          <p:cNvPr id="3" name="Rectangle 2"/>
          <p:cNvSpPr/>
          <p:nvPr/>
        </p:nvSpPr>
        <p:spPr>
          <a:xfrm>
            <a:off x="306520" y="2386087"/>
            <a:ext cx="1365526" cy="3535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t> </a:t>
            </a:r>
            <a:endParaRPr lang="en-IN" sz="1400" dirty="0"/>
          </a:p>
        </p:txBody>
      </p:sp>
      <p:sp>
        <p:nvSpPr>
          <p:cNvPr id="4" name="TextBox 3"/>
          <p:cNvSpPr txBox="1"/>
          <p:nvPr/>
        </p:nvSpPr>
        <p:spPr>
          <a:xfrm>
            <a:off x="306520" y="2386086"/>
            <a:ext cx="811368"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LOADI</a:t>
            </a:r>
            <a:endParaRPr lang="en-IN" sz="14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1126475" y="2431820"/>
            <a:ext cx="467193"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999 </a:t>
            </a:r>
            <a:endParaRPr lang="en-IN" sz="1400" dirty="0">
              <a:latin typeface="Times New Roman" panose="02020603050405020304" pitchFamily="18" charset="0"/>
              <a:cs typeface="Times New Roman" panose="02020603050405020304" pitchFamily="18" charset="0"/>
            </a:endParaRPr>
          </a:p>
        </p:txBody>
      </p:sp>
      <p:cxnSp>
        <p:nvCxnSpPr>
          <p:cNvPr id="6" name="Straight Connector 5"/>
          <p:cNvCxnSpPr/>
          <p:nvPr/>
        </p:nvCxnSpPr>
        <p:spPr>
          <a:xfrm>
            <a:off x="1117888" y="2386086"/>
            <a:ext cx="0" cy="353510"/>
          </a:xfrm>
          <a:prstGeom prst="line">
            <a:avLst/>
          </a:prstGeom>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1785384" y="3460458"/>
            <a:ext cx="1159098" cy="115200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a:off x="1994390" y="3914416"/>
            <a:ext cx="853313"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999</a:t>
            </a:r>
            <a:endParaRPr lang="en-IN" sz="1400" dirty="0">
              <a:latin typeface="Times New Roman" panose="02020603050405020304" pitchFamily="18" charset="0"/>
              <a:cs typeface="Times New Roman" panose="02020603050405020304" pitchFamily="18" charset="0"/>
            </a:endParaRPr>
          </a:p>
        </p:txBody>
      </p:sp>
      <p:cxnSp>
        <p:nvCxnSpPr>
          <p:cNvPr id="9" name="Straight Connector 8"/>
          <p:cNvCxnSpPr/>
          <p:nvPr/>
        </p:nvCxnSpPr>
        <p:spPr>
          <a:xfrm flipV="1">
            <a:off x="1785384" y="3837926"/>
            <a:ext cx="1159098"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1785384" y="4248318"/>
            <a:ext cx="1159098" cy="1"/>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788064" y="4586922"/>
            <a:ext cx="1214906"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Main memory </a:t>
            </a:r>
            <a:endParaRPr lang="en-IN" sz="1400" dirty="0">
              <a:latin typeface="Times New Roman" panose="02020603050405020304" pitchFamily="18" charset="0"/>
              <a:cs typeface="Times New Roman" panose="02020603050405020304" pitchFamily="18" charset="0"/>
            </a:endParaRPr>
          </a:p>
        </p:txBody>
      </p:sp>
      <p:sp>
        <p:nvSpPr>
          <p:cNvPr id="21" name="TextBox 20"/>
          <p:cNvSpPr txBox="1"/>
          <p:nvPr/>
        </p:nvSpPr>
        <p:spPr>
          <a:xfrm>
            <a:off x="1148247" y="3015294"/>
            <a:ext cx="467193"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AC</a:t>
            </a:r>
            <a:endParaRPr lang="en-IN" sz="1400" dirty="0">
              <a:latin typeface="Times New Roman" panose="02020603050405020304" pitchFamily="18" charset="0"/>
              <a:cs typeface="Times New Roman" panose="02020603050405020304" pitchFamily="18" charset="0"/>
            </a:endParaRPr>
          </a:p>
        </p:txBody>
      </p:sp>
      <p:sp>
        <p:nvSpPr>
          <p:cNvPr id="22" name="Rectangle 21"/>
          <p:cNvSpPr/>
          <p:nvPr/>
        </p:nvSpPr>
        <p:spPr>
          <a:xfrm>
            <a:off x="1203503" y="3047938"/>
            <a:ext cx="337914" cy="2439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p:cxnSp>
        <p:nvCxnSpPr>
          <p:cNvPr id="24" name="Straight Arrow Connector 23"/>
          <p:cNvCxnSpPr>
            <a:endCxn id="22" idx="0"/>
          </p:cNvCxnSpPr>
          <p:nvPr/>
        </p:nvCxnSpPr>
        <p:spPr>
          <a:xfrm rot="16200000" flipH="1">
            <a:off x="1147815" y="2823292"/>
            <a:ext cx="435367" cy="1392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184600" y="3505138"/>
            <a:ext cx="1365526" cy="3535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t> </a:t>
            </a:r>
            <a:endParaRPr lang="en-IN" sz="1400" dirty="0"/>
          </a:p>
        </p:txBody>
      </p:sp>
      <p:sp>
        <p:nvSpPr>
          <p:cNvPr id="26" name="TextBox 25"/>
          <p:cNvSpPr txBox="1"/>
          <p:nvPr/>
        </p:nvSpPr>
        <p:spPr>
          <a:xfrm>
            <a:off x="184600" y="3505137"/>
            <a:ext cx="811368"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LOAD</a:t>
            </a:r>
            <a:endParaRPr lang="en-IN" sz="1400" dirty="0">
              <a:latin typeface="Times New Roman" panose="02020603050405020304" pitchFamily="18" charset="0"/>
              <a:cs typeface="Times New Roman" panose="02020603050405020304" pitchFamily="18" charset="0"/>
            </a:endParaRPr>
          </a:p>
        </p:txBody>
      </p:sp>
      <p:sp>
        <p:nvSpPr>
          <p:cNvPr id="27" name="TextBox 26"/>
          <p:cNvSpPr txBox="1"/>
          <p:nvPr/>
        </p:nvSpPr>
        <p:spPr>
          <a:xfrm>
            <a:off x="1004555" y="3550871"/>
            <a:ext cx="467193"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X </a:t>
            </a:r>
            <a:endParaRPr lang="en-IN" sz="1400" dirty="0">
              <a:latin typeface="Times New Roman" panose="02020603050405020304" pitchFamily="18" charset="0"/>
              <a:cs typeface="Times New Roman" panose="02020603050405020304" pitchFamily="18" charset="0"/>
            </a:endParaRPr>
          </a:p>
        </p:txBody>
      </p:sp>
      <p:cxnSp>
        <p:nvCxnSpPr>
          <p:cNvPr id="28" name="Straight Connector 27"/>
          <p:cNvCxnSpPr/>
          <p:nvPr/>
        </p:nvCxnSpPr>
        <p:spPr>
          <a:xfrm>
            <a:off x="995968" y="3505137"/>
            <a:ext cx="0" cy="353510"/>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1026327" y="4134345"/>
            <a:ext cx="467193"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AC</a:t>
            </a:r>
            <a:endParaRPr lang="en-IN" sz="1400" dirty="0">
              <a:latin typeface="Times New Roman" panose="02020603050405020304" pitchFamily="18" charset="0"/>
              <a:cs typeface="Times New Roman" panose="02020603050405020304" pitchFamily="18" charset="0"/>
            </a:endParaRPr>
          </a:p>
        </p:txBody>
      </p:sp>
      <p:sp>
        <p:nvSpPr>
          <p:cNvPr id="30" name="Rectangle 29"/>
          <p:cNvSpPr/>
          <p:nvPr/>
        </p:nvSpPr>
        <p:spPr>
          <a:xfrm>
            <a:off x="1081583" y="4166989"/>
            <a:ext cx="337914" cy="2439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p:sp>
        <p:nvSpPr>
          <p:cNvPr id="32" name="TextBox 31"/>
          <p:cNvSpPr txBox="1"/>
          <p:nvPr/>
        </p:nvSpPr>
        <p:spPr>
          <a:xfrm>
            <a:off x="2985755" y="3925340"/>
            <a:ext cx="279959"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X</a:t>
            </a:r>
            <a:endParaRPr lang="en-IN" sz="1400" dirty="0">
              <a:latin typeface="Times New Roman" panose="02020603050405020304" pitchFamily="18" charset="0"/>
              <a:cs typeface="Times New Roman" panose="02020603050405020304" pitchFamily="18" charset="0"/>
            </a:endParaRPr>
          </a:p>
        </p:txBody>
      </p:sp>
      <p:sp>
        <p:nvSpPr>
          <p:cNvPr id="33" name="TextBox 32"/>
          <p:cNvSpPr txBox="1"/>
          <p:nvPr/>
        </p:nvSpPr>
        <p:spPr>
          <a:xfrm>
            <a:off x="2946568" y="3494267"/>
            <a:ext cx="279960"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W</a:t>
            </a:r>
            <a:endParaRPr lang="en-IN" sz="1400" dirty="0">
              <a:latin typeface="Times New Roman" panose="02020603050405020304" pitchFamily="18" charset="0"/>
              <a:cs typeface="Times New Roman" panose="02020603050405020304" pitchFamily="18" charset="0"/>
            </a:endParaRPr>
          </a:p>
        </p:txBody>
      </p:sp>
      <p:cxnSp>
        <p:nvCxnSpPr>
          <p:cNvPr id="35" name="Straight Arrow Connector 34"/>
          <p:cNvCxnSpPr/>
          <p:nvPr/>
        </p:nvCxnSpPr>
        <p:spPr>
          <a:xfrm rot="10800000" flipV="1">
            <a:off x="1397726" y="3958044"/>
            <a:ext cx="561703" cy="3396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6" name="Rectangle 35"/>
          <p:cNvSpPr/>
          <p:nvPr/>
        </p:nvSpPr>
        <p:spPr>
          <a:xfrm>
            <a:off x="3466139" y="2332698"/>
            <a:ext cx="1159098" cy="115200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TextBox 36"/>
          <p:cNvSpPr txBox="1"/>
          <p:nvPr/>
        </p:nvSpPr>
        <p:spPr>
          <a:xfrm>
            <a:off x="3675145" y="2786656"/>
            <a:ext cx="853313"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999</a:t>
            </a:r>
            <a:endParaRPr lang="en-IN" sz="1400" dirty="0">
              <a:latin typeface="Times New Roman" panose="02020603050405020304" pitchFamily="18" charset="0"/>
              <a:cs typeface="Times New Roman" panose="02020603050405020304" pitchFamily="18" charset="0"/>
            </a:endParaRPr>
          </a:p>
        </p:txBody>
      </p:sp>
      <p:cxnSp>
        <p:nvCxnSpPr>
          <p:cNvPr id="38" name="Straight Connector 37"/>
          <p:cNvCxnSpPr/>
          <p:nvPr/>
        </p:nvCxnSpPr>
        <p:spPr>
          <a:xfrm flipV="1">
            <a:off x="3466139" y="2710166"/>
            <a:ext cx="1159098"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V="1">
            <a:off x="3466139" y="3120558"/>
            <a:ext cx="1159098" cy="1"/>
          </a:xfrm>
          <a:prstGeom prst="line">
            <a:avLst/>
          </a:prstGeom>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3468819" y="3459162"/>
            <a:ext cx="1214906"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Main memory</a:t>
            </a:r>
            <a:endParaRPr lang="en-IN" sz="1400" dirty="0">
              <a:latin typeface="Times New Roman" panose="02020603050405020304" pitchFamily="18" charset="0"/>
              <a:cs typeface="Times New Roman" panose="02020603050405020304" pitchFamily="18" charset="0"/>
            </a:endParaRPr>
          </a:p>
        </p:txBody>
      </p:sp>
      <p:sp>
        <p:nvSpPr>
          <p:cNvPr id="41" name="Rectangle 40"/>
          <p:cNvSpPr/>
          <p:nvPr/>
        </p:nvSpPr>
        <p:spPr>
          <a:xfrm>
            <a:off x="1865355" y="2377378"/>
            <a:ext cx="1365526" cy="3535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t> </a:t>
            </a:r>
            <a:endParaRPr lang="en-IN" sz="1400" dirty="0"/>
          </a:p>
        </p:txBody>
      </p:sp>
      <p:sp>
        <p:nvSpPr>
          <p:cNvPr id="42" name="TextBox 41"/>
          <p:cNvSpPr txBox="1"/>
          <p:nvPr/>
        </p:nvSpPr>
        <p:spPr>
          <a:xfrm>
            <a:off x="1865355" y="2377377"/>
            <a:ext cx="811368"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LOADN</a:t>
            </a:r>
            <a:endParaRPr lang="en-IN" sz="1400" dirty="0">
              <a:latin typeface="Times New Roman" panose="02020603050405020304" pitchFamily="18" charset="0"/>
              <a:cs typeface="Times New Roman" panose="02020603050405020304" pitchFamily="18" charset="0"/>
            </a:endParaRPr>
          </a:p>
        </p:txBody>
      </p:sp>
      <p:sp>
        <p:nvSpPr>
          <p:cNvPr id="43" name="TextBox 42"/>
          <p:cNvSpPr txBox="1"/>
          <p:nvPr/>
        </p:nvSpPr>
        <p:spPr>
          <a:xfrm>
            <a:off x="2685310" y="2423111"/>
            <a:ext cx="467193"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W </a:t>
            </a:r>
            <a:endParaRPr lang="en-IN" sz="1400" dirty="0">
              <a:latin typeface="Times New Roman" panose="02020603050405020304" pitchFamily="18" charset="0"/>
              <a:cs typeface="Times New Roman" panose="02020603050405020304" pitchFamily="18" charset="0"/>
            </a:endParaRPr>
          </a:p>
        </p:txBody>
      </p:sp>
      <p:cxnSp>
        <p:nvCxnSpPr>
          <p:cNvPr id="44" name="Straight Connector 43"/>
          <p:cNvCxnSpPr/>
          <p:nvPr/>
        </p:nvCxnSpPr>
        <p:spPr>
          <a:xfrm>
            <a:off x="2676723" y="2377377"/>
            <a:ext cx="0" cy="353510"/>
          </a:xfrm>
          <a:prstGeom prst="line">
            <a:avLst/>
          </a:prstGeom>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2707082" y="3006585"/>
            <a:ext cx="467193"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AC</a:t>
            </a:r>
            <a:endParaRPr lang="en-IN" sz="1400" dirty="0">
              <a:latin typeface="Times New Roman" panose="02020603050405020304" pitchFamily="18" charset="0"/>
              <a:cs typeface="Times New Roman" panose="02020603050405020304" pitchFamily="18" charset="0"/>
            </a:endParaRPr>
          </a:p>
        </p:txBody>
      </p:sp>
      <p:sp>
        <p:nvSpPr>
          <p:cNvPr id="46" name="Rectangle 45"/>
          <p:cNvSpPr/>
          <p:nvPr/>
        </p:nvSpPr>
        <p:spPr>
          <a:xfrm>
            <a:off x="2762338" y="3039229"/>
            <a:ext cx="337914" cy="2439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p:sp>
        <p:nvSpPr>
          <p:cNvPr id="47" name="TextBox 46"/>
          <p:cNvSpPr txBox="1"/>
          <p:nvPr/>
        </p:nvSpPr>
        <p:spPr>
          <a:xfrm>
            <a:off x="4666510" y="2797580"/>
            <a:ext cx="279959"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X</a:t>
            </a:r>
            <a:endParaRPr lang="en-IN" sz="1400" dirty="0">
              <a:latin typeface="Times New Roman" panose="02020603050405020304" pitchFamily="18" charset="0"/>
              <a:cs typeface="Times New Roman" panose="02020603050405020304" pitchFamily="18" charset="0"/>
            </a:endParaRPr>
          </a:p>
        </p:txBody>
      </p:sp>
      <p:sp>
        <p:nvSpPr>
          <p:cNvPr id="48" name="TextBox 47"/>
          <p:cNvSpPr txBox="1"/>
          <p:nvPr/>
        </p:nvSpPr>
        <p:spPr>
          <a:xfrm>
            <a:off x="4627323" y="2366507"/>
            <a:ext cx="279960"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W</a:t>
            </a:r>
            <a:endParaRPr lang="en-IN" sz="1400" dirty="0">
              <a:latin typeface="Times New Roman" panose="02020603050405020304" pitchFamily="18" charset="0"/>
              <a:cs typeface="Times New Roman" panose="02020603050405020304" pitchFamily="18" charset="0"/>
            </a:endParaRPr>
          </a:p>
        </p:txBody>
      </p:sp>
      <p:cxnSp>
        <p:nvCxnSpPr>
          <p:cNvPr id="49" name="Straight Arrow Connector 48"/>
          <p:cNvCxnSpPr/>
          <p:nvPr/>
        </p:nvCxnSpPr>
        <p:spPr>
          <a:xfrm rot="10800000" flipV="1">
            <a:off x="3078481" y="2830284"/>
            <a:ext cx="561703" cy="3396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3778235" y="2366506"/>
            <a:ext cx="279959"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X</a:t>
            </a:r>
            <a:endParaRPr lang="en-IN" sz="1400" dirty="0">
              <a:latin typeface="Times New Roman" panose="02020603050405020304" pitchFamily="18" charset="0"/>
              <a:cs typeface="Times New Roman" panose="02020603050405020304" pitchFamily="18" charset="0"/>
            </a:endParaRPr>
          </a:p>
        </p:txBody>
      </p:sp>
      <p:sp>
        <p:nvSpPr>
          <p:cNvPr id="51" name="TextBox 50"/>
          <p:cNvSpPr txBox="1"/>
          <p:nvPr/>
        </p:nvSpPr>
        <p:spPr>
          <a:xfrm>
            <a:off x="229230" y="2819083"/>
            <a:ext cx="985616"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Immediate </a:t>
            </a:r>
            <a:endParaRPr lang="en-IN" sz="1400" dirty="0">
              <a:latin typeface="Times New Roman" panose="02020603050405020304" pitchFamily="18" charset="0"/>
              <a:cs typeface="Times New Roman" panose="02020603050405020304" pitchFamily="18" charset="0"/>
            </a:endParaRPr>
          </a:p>
        </p:txBody>
      </p:sp>
      <p:sp>
        <p:nvSpPr>
          <p:cNvPr id="52" name="TextBox 51"/>
          <p:cNvSpPr txBox="1"/>
          <p:nvPr/>
        </p:nvSpPr>
        <p:spPr>
          <a:xfrm>
            <a:off x="224875" y="3964259"/>
            <a:ext cx="676462"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Direct</a:t>
            </a:r>
            <a:endParaRPr lang="en-IN" sz="1400" dirty="0">
              <a:latin typeface="Times New Roman" panose="02020603050405020304" pitchFamily="18" charset="0"/>
              <a:cs typeface="Times New Roman" panose="02020603050405020304" pitchFamily="18" charset="0"/>
            </a:endParaRPr>
          </a:p>
        </p:txBody>
      </p:sp>
      <p:sp>
        <p:nvSpPr>
          <p:cNvPr id="53" name="TextBox 52"/>
          <p:cNvSpPr txBox="1"/>
          <p:nvPr/>
        </p:nvSpPr>
        <p:spPr>
          <a:xfrm>
            <a:off x="1883858" y="2788602"/>
            <a:ext cx="807090" cy="307777"/>
          </a:xfrm>
          <a:prstGeom prst="rect">
            <a:avLst/>
          </a:prstGeom>
          <a:noFill/>
        </p:spPr>
        <p:txBody>
          <a:bodyPr wrap="square" rtlCol="0">
            <a:spAutoFit/>
          </a:bodyPr>
          <a:lstStyle/>
          <a:p>
            <a:r>
              <a:rPr lang="en-IN" sz="1400" dirty="0" smtClean="0">
                <a:latin typeface="Times New Roman" panose="02020603050405020304" pitchFamily="18" charset="0"/>
                <a:cs typeface="Times New Roman" panose="02020603050405020304" pitchFamily="18" charset="0"/>
              </a:rPr>
              <a:t>Indirect</a:t>
            </a:r>
            <a:endParaRPr lang="en-IN" sz="1400" dirty="0">
              <a:latin typeface="Times New Roman" panose="02020603050405020304" pitchFamily="18" charset="0"/>
              <a:cs typeface="Times New Roman" panose="02020603050405020304" pitchFamily="18" charset="0"/>
            </a:endParaRPr>
          </a:p>
        </p:txBody>
      </p:sp>
      <p:sp>
        <p:nvSpPr>
          <p:cNvPr id="54" name="TextBox 53"/>
          <p:cNvSpPr txBox="1"/>
          <p:nvPr/>
        </p:nvSpPr>
        <p:spPr>
          <a:xfrm>
            <a:off x="4968240" y="2216331"/>
            <a:ext cx="6971211" cy="2585323"/>
          </a:xfrm>
          <a:prstGeom prst="rect">
            <a:avLst/>
          </a:prstGeom>
          <a:noFill/>
        </p:spPr>
        <p:txBody>
          <a:bodyPr wrap="square" rtlCol="0">
            <a:spAutoFit/>
          </a:bodyPr>
          <a:lstStyle/>
          <a:p>
            <a:r>
              <a:rPr lang="en-IN" u="sng" dirty="0" smtClean="0">
                <a:latin typeface="Times New Roman" pitchFamily="18" charset="0"/>
                <a:cs typeface="Times New Roman" pitchFamily="18" charset="0"/>
              </a:rPr>
              <a:t>Absolute addressing</a:t>
            </a:r>
            <a:r>
              <a:rPr lang="en-IN" dirty="0" smtClean="0">
                <a:latin typeface="Times New Roman" pitchFamily="18" charset="0"/>
                <a:cs typeface="Times New Roman" pitchFamily="18" charset="0"/>
              </a:rPr>
              <a:t>: Direct addressing needs the complete operand address</a:t>
            </a:r>
          </a:p>
          <a:p>
            <a:r>
              <a:rPr lang="en-IN" dirty="0" smtClean="0">
                <a:latin typeface="Times New Roman" pitchFamily="18" charset="0"/>
                <a:cs typeface="Times New Roman" pitchFamily="18" charset="0"/>
              </a:rPr>
              <a:t>Partial addressing information is included in the instruction, so the complete (absolute) operand address must be constructed by the processor</a:t>
            </a:r>
          </a:p>
          <a:p>
            <a:r>
              <a:rPr lang="en-IN" u="sng" dirty="0" smtClean="0">
                <a:latin typeface="Times New Roman" pitchFamily="18" charset="0"/>
                <a:cs typeface="Times New Roman" pitchFamily="18" charset="0"/>
              </a:rPr>
              <a:t>Relative addressing</a:t>
            </a:r>
            <a:r>
              <a:rPr lang="en-IN" dirty="0" smtClean="0">
                <a:latin typeface="Times New Roman" pitchFamily="18" charset="0"/>
                <a:cs typeface="Times New Roman" pitchFamily="18" charset="0"/>
              </a:rPr>
              <a:t>: Operand field contains a relative address or displacement D</a:t>
            </a:r>
          </a:p>
          <a:p>
            <a:r>
              <a:rPr lang="en-IN" dirty="0" smtClean="0">
                <a:latin typeface="Times New Roman" pitchFamily="18" charset="0"/>
                <a:cs typeface="Times New Roman" pitchFamily="18" charset="0"/>
              </a:rPr>
              <a:t>Absolute or effective address (A) = Single address register from a set of general purpose registers associated with the operand (R) + Displacement (D)</a:t>
            </a:r>
          </a:p>
        </p:txBody>
      </p:sp>
      <p:sp>
        <p:nvSpPr>
          <p:cNvPr id="56" name="TextBox 55"/>
          <p:cNvSpPr txBox="1"/>
          <p:nvPr/>
        </p:nvSpPr>
        <p:spPr>
          <a:xfrm>
            <a:off x="169817" y="4898572"/>
            <a:ext cx="11691257" cy="1754326"/>
          </a:xfrm>
          <a:prstGeom prst="rect">
            <a:avLst/>
          </a:prstGeom>
          <a:noFill/>
        </p:spPr>
        <p:txBody>
          <a:bodyPr wrap="square" rtlCol="0">
            <a:spAutoFit/>
          </a:bodyPr>
          <a:lstStyle/>
          <a:p>
            <a:r>
              <a:rPr lang="en-IN" u="sng" dirty="0" smtClean="0">
                <a:latin typeface="Times New Roman" pitchFamily="18" charset="0"/>
                <a:cs typeface="Times New Roman" pitchFamily="18" charset="0"/>
              </a:rPr>
              <a:t>Why relative addressing</a:t>
            </a:r>
            <a:r>
              <a:rPr lang="en-IN" dirty="0" smtClean="0">
                <a:latin typeface="Times New Roman" pitchFamily="18" charset="0"/>
                <a:cs typeface="Times New Roman" pitchFamily="18" charset="0"/>
              </a:rPr>
              <a:t>: </a:t>
            </a:r>
          </a:p>
          <a:p>
            <a:r>
              <a:rPr lang="en-IN" dirty="0" smtClean="0">
                <a:latin typeface="Times New Roman" pitchFamily="18" charset="0"/>
                <a:cs typeface="Times New Roman" pitchFamily="18" charset="0"/>
              </a:rPr>
              <a:t>Instruction length is reduced as all the address information need not be included in the instructions</a:t>
            </a:r>
          </a:p>
          <a:p>
            <a:r>
              <a:rPr lang="en-IN" dirty="0" smtClean="0">
                <a:latin typeface="Times New Roman" pitchFamily="18" charset="0"/>
                <a:cs typeface="Times New Roman" pitchFamily="18" charset="0"/>
              </a:rPr>
              <a:t>By changing the content of R, processor can change the absolute addresses referred to by a block (B) of instructions</a:t>
            </a:r>
          </a:p>
          <a:p>
            <a:r>
              <a:rPr lang="en-IN" dirty="0" smtClean="0">
                <a:latin typeface="Times New Roman" pitchFamily="18" charset="0"/>
                <a:cs typeface="Times New Roman" pitchFamily="18" charset="0"/>
              </a:rPr>
              <a:t>Permits the processor to move (relocate) the entire block B from one region of memory to another without invalidating the addresses in B</a:t>
            </a:r>
          </a:p>
          <a:p>
            <a:r>
              <a:rPr lang="en-IN" dirty="0" smtClean="0">
                <a:latin typeface="Times New Roman" pitchFamily="18" charset="0"/>
                <a:cs typeface="Times New Roman" pitchFamily="18" charset="0"/>
              </a:rPr>
              <a:t>When used in this way, R may be referred to as a base register and its content as a base address</a:t>
            </a:r>
            <a:endParaRPr lang="en-IN"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2880" y="169817"/>
            <a:ext cx="11691257" cy="6463308"/>
          </a:xfrm>
          <a:prstGeom prst="rect">
            <a:avLst/>
          </a:prstGeom>
          <a:noFill/>
        </p:spPr>
        <p:txBody>
          <a:bodyPr wrap="square" rtlCol="0">
            <a:spAutoFit/>
          </a:bodyPr>
          <a:lstStyle/>
          <a:p>
            <a:r>
              <a:rPr lang="en-IN" dirty="0" smtClean="0">
                <a:latin typeface="Times New Roman" pitchFamily="18" charset="0"/>
                <a:cs typeface="Times New Roman" pitchFamily="18" charset="0"/>
              </a:rPr>
              <a:t>R can be used for storing indices to facilitate the processing of indexed data, in this role, R is called index register</a:t>
            </a:r>
          </a:p>
          <a:p>
            <a:r>
              <a:rPr lang="en-IN" dirty="0" smtClean="0">
                <a:latin typeface="Times New Roman" pitchFamily="18" charset="0"/>
                <a:cs typeface="Times New Roman" pitchFamily="18" charset="0"/>
              </a:rPr>
              <a:t>Indexed items X(0), X(1),…X(</a:t>
            </a:r>
            <a:r>
              <a:rPr lang="en-IN" dirty="0" err="1" smtClean="0">
                <a:latin typeface="Times New Roman" pitchFamily="18" charset="0"/>
                <a:cs typeface="Times New Roman" pitchFamily="18" charset="0"/>
              </a:rPr>
              <a:t>i</a:t>
            </a:r>
            <a:r>
              <a:rPr lang="en-IN" dirty="0" smtClean="0">
                <a:latin typeface="Times New Roman" pitchFamily="18" charset="0"/>
                <a:cs typeface="Times New Roman" pitchFamily="18" charset="0"/>
              </a:rPr>
              <a:t>) are stored in consecutive addresses in main memory. Instruction address field contains D the address of the first item X(0) while the index register R contains the index </a:t>
            </a:r>
            <a:r>
              <a:rPr lang="en-IN" dirty="0" err="1" smtClean="0">
                <a:latin typeface="Times New Roman" pitchFamily="18" charset="0"/>
                <a:cs typeface="Times New Roman" pitchFamily="18" charset="0"/>
              </a:rPr>
              <a:t>i</a:t>
            </a:r>
            <a:r>
              <a:rPr lang="en-IN" dirty="0" smtClean="0">
                <a:latin typeface="Times New Roman" pitchFamily="18" charset="0"/>
                <a:cs typeface="Times New Roman" pitchFamily="18" charset="0"/>
              </a:rPr>
              <a:t>. Address of item X(</a:t>
            </a:r>
            <a:r>
              <a:rPr lang="en-IN" dirty="0" err="1" smtClean="0">
                <a:latin typeface="Times New Roman" pitchFamily="18" charset="0"/>
                <a:cs typeface="Times New Roman" pitchFamily="18" charset="0"/>
              </a:rPr>
              <a:t>i</a:t>
            </a:r>
            <a:r>
              <a:rPr lang="en-IN" dirty="0" smtClean="0">
                <a:latin typeface="Times New Roman" pitchFamily="18" charset="0"/>
                <a:cs typeface="Times New Roman" pitchFamily="18" charset="0"/>
              </a:rPr>
              <a:t>) is D+R.</a:t>
            </a:r>
          </a:p>
          <a:p>
            <a:r>
              <a:rPr lang="en-IN" dirty="0" smtClean="0">
                <a:latin typeface="Times New Roman" pitchFamily="18" charset="0"/>
                <a:cs typeface="Times New Roman" pitchFamily="18" charset="0"/>
              </a:rPr>
              <a:t>By changing the content of the index register, a single instruction can be made to refer to any item X(</a:t>
            </a:r>
            <a:r>
              <a:rPr lang="en-IN" dirty="0" err="1" smtClean="0">
                <a:latin typeface="Times New Roman" pitchFamily="18" charset="0"/>
                <a:cs typeface="Times New Roman" pitchFamily="18" charset="0"/>
              </a:rPr>
              <a:t>i</a:t>
            </a:r>
            <a:r>
              <a:rPr lang="en-IN" dirty="0" smtClean="0">
                <a:latin typeface="Times New Roman" pitchFamily="18" charset="0"/>
                <a:cs typeface="Times New Roman" pitchFamily="18" charset="0"/>
              </a:rPr>
              <a:t>) in the given data list.</a:t>
            </a:r>
          </a:p>
          <a:p>
            <a:r>
              <a:rPr lang="en-IN" dirty="0" smtClean="0">
                <a:latin typeface="Times New Roman" pitchFamily="18" charset="0"/>
                <a:cs typeface="Times New Roman" pitchFamily="18" charset="0"/>
              </a:rPr>
              <a:t>Disadvantage: Needs extra logic circuits and extra processing time for address computation</a:t>
            </a:r>
          </a:p>
          <a:p>
            <a:endParaRPr lang="en-IN" dirty="0" smtClean="0">
              <a:latin typeface="Times New Roman" pitchFamily="18" charset="0"/>
              <a:cs typeface="Times New Roman" pitchFamily="18" charset="0"/>
            </a:endParaRPr>
          </a:p>
          <a:p>
            <a:r>
              <a:rPr lang="en-IN" u="sng" dirty="0" err="1" smtClean="0">
                <a:latin typeface="Times New Roman" pitchFamily="18" charset="0"/>
                <a:cs typeface="Times New Roman" pitchFamily="18" charset="0"/>
              </a:rPr>
              <a:t>Autoindexing</a:t>
            </a:r>
            <a:r>
              <a:rPr lang="en-IN" dirty="0" smtClean="0">
                <a:latin typeface="Times New Roman" pitchFamily="18" charset="0"/>
                <a:cs typeface="Times New Roman" pitchFamily="18" charset="0"/>
              </a:rPr>
              <a:t>: Indexed items are frequently accessed sequentially so that a reference to X(k) stored in memory location A is immediately followed by a reference to X(k+1) or X(k-1) stored in location A+1 and A-1 respectively.</a:t>
            </a:r>
            <a:endParaRPr lang="en-IN" dirty="0" err="1"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To facilitate stepping through a sequence of items in this manner, addressing modes that automatically increment or decrement an address can be defined.</a:t>
            </a:r>
          </a:p>
          <a:p>
            <a:r>
              <a:rPr lang="en-IN" dirty="0" smtClean="0">
                <a:latin typeface="Times New Roman" pitchFamily="18" charset="0"/>
                <a:cs typeface="Times New Roman" pitchFamily="18" charset="0"/>
              </a:rPr>
              <a:t>Example: -(A3) </a:t>
            </a:r>
            <a:r>
              <a:rPr lang="en-IN" dirty="0" smtClean="0">
                <a:latin typeface="Times New Roman" pitchFamily="18" charset="0"/>
                <a:cs typeface="Times New Roman" pitchFamily="18" charset="0"/>
                <a:sym typeface="Symbol"/>
              </a:rPr>
              <a:t> </a:t>
            </a:r>
            <a:r>
              <a:rPr lang="en-IN" dirty="0" err="1" smtClean="0">
                <a:latin typeface="Times New Roman" pitchFamily="18" charset="0"/>
                <a:cs typeface="Times New Roman" pitchFamily="18" charset="0"/>
                <a:sym typeface="Symbol"/>
              </a:rPr>
              <a:t>Predecrement</a:t>
            </a:r>
            <a:r>
              <a:rPr lang="en-IN" dirty="0" smtClean="0">
                <a:latin typeface="Times New Roman" pitchFamily="18" charset="0"/>
                <a:cs typeface="Times New Roman" pitchFamily="18" charset="0"/>
                <a:sym typeface="Symbol"/>
              </a:rPr>
              <a:t>: indicates the content of A3 should be decremented automatically before the instruction is executed</a:t>
            </a:r>
          </a:p>
          <a:p>
            <a:r>
              <a:rPr lang="en-IN" dirty="0" smtClean="0">
                <a:latin typeface="Times New Roman" pitchFamily="18" charset="0"/>
                <a:cs typeface="Times New Roman" pitchFamily="18" charset="0"/>
                <a:sym typeface="Symbol"/>
              </a:rPr>
              <a:t>(A3)+  </a:t>
            </a:r>
            <a:r>
              <a:rPr lang="en-IN" dirty="0" err="1" smtClean="0">
                <a:latin typeface="Times New Roman" pitchFamily="18" charset="0"/>
                <a:cs typeface="Times New Roman" pitchFamily="18" charset="0"/>
                <a:sym typeface="Symbol"/>
              </a:rPr>
              <a:t>Postincrement</a:t>
            </a:r>
            <a:r>
              <a:rPr lang="en-IN" dirty="0" smtClean="0">
                <a:latin typeface="Times New Roman" pitchFamily="18" charset="0"/>
                <a:cs typeface="Times New Roman" pitchFamily="18" charset="0"/>
                <a:sym typeface="Symbol"/>
              </a:rPr>
              <a:t>: indicates the content of A3 should be incremented automatically after the execution of the instruction </a:t>
            </a:r>
          </a:p>
          <a:p>
            <a:endParaRPr lang="en-IN" dirty="0" smtClean="0">
              <a:latin typeface="Times New Roman" pitchFamily="18" charset="0"/>
              <a:cs typeface="Times New Roman" pitchFamily="18" charset="0"/>
              <a:sym typeface="Symbol"/>
            </a:endParaRPr>
          </a:p>
          <a:p>
            <a:r>
              <a:rPr lang="en-IN" u="sng" dirty="0" smtClean="0">
                <a:latin typeface="Times New Roman" pitchFamily="18" charset="0"/>
                <a:cs typeface="Times New Roman" pitchFamily="18" charset="0"/>
                <a:sym typeface="Symbol"/>
              </a:rPr>
              <a:t>Stack addressing</a:t>
            </a:r>
            <a:r>
              <a:rPr lang="en-IN" dirty="0" smtClean="0">
                <a:latin typeface="Times New Roman" pitchFamily="18" charset="0"/>
                <a:cs typeface="Times New Roman" pitchFamily="18" charset="0"/>
                <a:sym typeface="Symbol"/>
              </a:rPr>
              <a:t>: Part of main memory M used as a pushdown stack</a:t>
            </a:r>
          </a:p>
          <a:p>
            <a:r>
              <a:rPr lang="en-IN" dirty="0" smtClean="0">
                <a:latin typeface="Times New Roman" pitchFamily="18" charset="0"/>
                <a:cs typeface="Times New Roman" pitchFamily="18" charset="0"/>
                <a:sym typeface="Symbol"/>
              </a:rPr>
              <a:t>Logical sequence of items which are accessible from only one end referred to as the top of the stack</a:t>
            </a:r>
          </a:p>
          <a:p>
            <a:r>
              <a:rPr lang="en-IN" dirty="0" smtClean="0">
                <a:latin typeface="Times New Roman" pitchFamily="18" charset="0"/>
                <a:cs typeface="Times New Roman" pitchFamily="18" charset="0"/>
              </a:rPr>
              <a:t>PUSH operation: Write, stores item at the top of the stack </a:t>
            </a:r>
          </a:p>
          <a:p>
            <a:r>
              <a:rPr lang="en-IN" dirty="0" smtClean="0">
                <a:latin typeface="Times New Roman" pitchFamily="18" charset="0"/>
                <a:cs typeface="Times New Roman" pitchFamily="18" charset="0"/>
              </a:rPr>
              <a:t>POP operation: Read, removes item stored at the top of the stack</a:t>
            </a:r>
          </a:p>
          <a:p>
            <a:r>
              <a:rPr lang="en-IN" dirty="0" smtClean="0">
                <a:latin typeface="Times New Roman" pitchFamily="18" charset="0"/>
                <a:cs typeface="Times New Roman" pitchFamily="18" charset="0"/>
              </a:rPr>
              <a:t>Changes the position of the stack top by the length of the operand pushed or popped</a:t>
            </a:r>
          </a:p>
          <a:p>
            <a:r>
              <a:rPr lang="en-IN" dirty="0" smtClean="0">
                <a:latin typeface="Times New Roman" pitchFamily="18" charset="0"/>
                <a:cs typeface="Times New Roman" pitchFamily="18" charset="0"/>
              </a:rPr>
              <a:t>Stack pointer (SP): Address register</a:t>
            </a:r>
          </a:p>
          <a:p>
            <a:r>
              <a:rPr lang="en-IN" dirty="0" smtClean="0">
                <a:latin typeface="Times New Roman" pitchFamily="18" charset="0"/>
                <a:cs typeface="Times New Roman" pitchFamily="18" charset="0"/>
              </a:rPr>
              <a:t>Stores the address of the last operand placed in the stack</a:t>
            </a:r>
          </a:p>
          <a:p>
            <a:r>
              <a:rPr lang="en-IN" dirty="0" smtClean="0">
                <a:latin typeface="Times New Roman" pitchFamily="18" charset="0"/>
                <a:cs typeface="Times New Roman" pitchFamily="18" charset="0"/>
              </a:rPr>
              <a:t>Contains new stack top after PUSH/POP operation</a:t>
            </a:r>
            <a:endParaRPr lang="en-IN"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5944" y="169817"/>
            <a:ext cx="11821886" cy="2031325"/>
          </a:xfrm>
          <a:prstGeom prst="rect">
            <a:avLst/>
          </a:prstGeom>
          <a:noFill/>
        </p:spPr>
        <p:txBody>
          <a:bodyPr wrap="square" rtlCol="0">
            <a:spAutoFit/>
          </a:bodyPr>
          <a:lstStyle/>
          <a:p>
            <a:r>
              <a:rPr lang="en-IN" b="1" dirty="0" smtClean="0">
                <a:latin typeface="Times New Roman" pitchFamily="18" charset="0"/>
                <a:cs typeface="Times New Roman" pitchFamily="18" charset="0"/>
              </a:rPr>
              <a:t>Number of addresses</a:t>
            </a:r>
          </a:p>
          <a:p>
            <a:r>
              <a:rPr lang="en-IN" dirty="0" smtClean="0">
                <a:latin typeface="Times New Roman" pitchFamily="18" charset="0"/>
                <a:cs typeface="Times New Roman" pitchFamily="18" charset="0"/>
              </a:rPr>
              <a:t>Three address machine: ADD Z,X,Y; Z</a:t>
            </a:r>
            <a:r>
              <a:rPr lang="en-IN" dirty="0" smtClean="0">
                <a:latin typeface="Times New Roman" pitchFamily="18" charset="0"/>
                <a:cs typeface="Times New Roman" pitchFamily="18" charset="0"/>
                <a:sym typeface="Symbol"/>
              </a:rPr>
              <a:t>X+Y; add the contents of the memory location X and Y, place the result in location Z</a:t>
            </a:r>
          </a:p>
          <a:p>
            <a:r>
              <a:rPr lang="en-IN" dirty="0" smtClean="0">
                <a:latin typeface="Times New Roman" pitchFamily="18" charset="0"/>
                <a:cs typeface="Times New Roman" pitchFamily="18" charset="0"/>
                <a:sym typeface="Symbol"/>
              </a:rPr>
              <a:t>Two address machine: ADD X,Y; XX+Y; accumulator may be used to store the result, in that case ACX+Y; </a:t>
            </a:r>
          </a:p>
          <a:p>
            <a:r>
              <a:rPr lang="en-IN" dirty="0" smtClean="0">
                <a:latin typeface="Times New Roman" pitchFamily="18" charset="0"/>
                <a:cs typeface="Times New Roman" pitchFamily="18" charset="0"/>
                <a:sym typeface="Symbol"/>
              </a:rPr>
              <a:t>One address machine: ADD X; unspecified operands are assumed to be stored in fixed locations, commonly in a processor register AC; ACAC+X</a:t>
            </a:r>
          </a:p>
          <a:p>
            <a:r>
              <a:rPr lang="en-IN" dirty="0" smtClean="0">
                <a:latin typeface="Times New Roman" pitchFamily="18" charset="0"/>
                <a:cs typeface="Times New Roman" pitchFamily="18" charset="0"/>
                <a:sym typeface="Symbol"/>
              </a:rPr>
              <a:t>Zero address machine: ADD; causes the two top operands X and Y to be removed from the stack and added; store the result at the top of the stack</a:t>
            </a:r>
          </a:p>
        </p:txBody>
      </p:sp>
      <p:graphicFrame>
        <p:nvGraphicFramePr>
          <p:cNvPr id="4" name="Table 3"/>
          <p:cNvGraphicFramePr>
            <a:graphicFrameLocks noGrp="1"/>
          </p:cNvGraphicFramePr>
          <p:nvPr/>
        </p:nvGraphicFramePr>
        <p:xfrm>
          <a:off x="156756" y="2261083"/>
          <a:ext cx="3448594" cy="2415420"/>
        </p:xfrm>
        <a:graphic>
          <a:graphicData uri="http://schemas.openxmlformats.org/drawingml/2006/table">
            <a:tbl>
              <a:tblPr firstRow="1" bandRow="1">
                <a:tableStyleId>{5C22544A-7EE6-4342-B048-85BDC9FD1C3A}</a:tableStyleId>
              </a:tblPr>
              <a:tblGrid>
                <a:gridCol w="1712556"/>
                <a:gridCol w="1736038"/>
              </a:tblGrid>
              <a:tr h="375961">
                <a:tc gridSpan="2">
                  <a:txBody>
                    <a:bodyPr/>
                    <a:lstStyle/>
                    <a:p>
                      <a:r>
                        <a:rPr lang="en-IN" dirty="0" smtClean="0">
                          <a:latin typeface="Times New Roman" pitchFamily="18" charset="0"/>
                          <a:cs typeface="Times New Roman" pitchFamily="18" charset="0"/>
                        </a:rPr>
                        <a:t>One address machine</a:t>
                      </a:r>
                      <a:endParaRPr lang="en-IN" dirty="0">
                        <a:latin typeface="Times New Roman" pitchFamily="18" charset="0"/>
                        <a:cs typeface="Times New Roman" pitchFamily="18" charset="0"/>
                      </a:endParaRPr>
                    </a:p>
                  </a:txBody>
                  <a:tcPr/>
                </a:tc>
                <a:tc hMerge="1">
                  <a:txBody>
                    <a:bodyPr/>
                    <a:lstStyle/>
                    <a:p>
                      <a:endParaRPr lang="en-IN" dirty="0"/>
                    </a:p>
                  </a:txBody>
                  <a:tcPr/>
                </a:tc>
              </a:tr>
              <a:tr h="2039459">
                <a:tc>
                  <a:txBody>
                    <a:bodyPr/>
                    <a:lstStyle/>
                    <a:p>
                      <a:r>
                        <a:rPr lang="en-IN" dirty="0" smtClean="0">
                          <a:latin typeface="Times New Roman" pitchFamily="18" charset="0"/>
                          <a:cs typeface="Times New Roman" pitchFamily="18" charset="0"/>
                        </a:rPr>
                        <a:t>LOAD A</a:t>
                      </a:r>
                    </a:p>
                    <a:p>
                      <a:r>
                        <a:rPr lang="en-IN" dirty="0" smtClean="0">
                          <a:latin typeface="Times New Roman" pitchFamily="18" charset="0"/>
                          <a:cs typeface="Times New Roman" pitchFamily="18" charset="0"/>
                        </a:rPr>
                        <a:t>MULTIPLY B</a:t>
                      </a:r>
                    </a:p>
                    <a:p>
                      <a:r>
                        <a:rPr lang="en-IN" dirty="0" smtClean="0">
                          <a:latin typeface="Times New Roman" pitchFamily="18" charset="0"/>
                          <a:cs typeface="Times New Roman" pitchFamily="18" charset="0"/>
                        </a:rPr>
                        <a:t>STORE T</a:t>
                      </a:r>
                    </a:p>
                    <a:p>
                      <a:r>
                        <a:rPr lang="en-IN" dirty="0" smtClean="0">
                          <a:latin typeface="Times New Roman" pitchFamily="18" charset="0"/>
                          <a:cs typeface="Times New Roman" pitchFamily="18" charset="0"/>
                        </a:rPr>
                        <a:t>LOAD C</a:t>
                      </a:r>
                    </a:p>
                    <a:p>
                      <a:r>
                        <a:rPr lang="en-IN" dirty="0" smtClean="0">
                          <a:latin typeface="Times New Roman" pitchFamily="18" charset="0"/>
                          <a:cs typeface="Times New Roman" pitchFamily="18" charset="0"/>
                        </a:rPr>
                        <a:t>MULTIPLY C</a:t>
                      </a:r>
                    </a:p>
                    <a:p>
                      <a:r>
                        <a:rPr lang="en-IN" dirty="0" smtClean="0">
                          <a:latin typeface="Times New Roman" pitchFamily="18" charset="0"/>
                          <a:cs typeface="Times New Roman" pitchFamily="18" charset="0"/>
                        </a:rPr>
                        <a:t>ADD T</a:t>
                      </a:r>
                    </a:p>
                    <a:p>
                      <a:r>
                        <a:rPr lang="en-IN" dirty="0" smtClean="0">
                          <a:latin typeface="Times New Roman" pitchFamily="18" charset="0"/>
                          <a:cs typeface="Times New Roman" pitchFamily="18" charset="0"/>
                        </a:rPr>
                        <a:t>STORE X </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AC</a:t>
                      </a:r>
                      <a:r>
                        <a:rPr lang="en-IN" dirty="0" smtClean="0">
                          <a:latin typeface="Times New Roman" pitchFamily="18" charset="0"/>
                          <a:cs typeface="Times New Roman" pitchFamily="18" charset="0"/>
                          <a:sym typeface="Symbol"/>
                        </a:rPr>
                        <a:t>A</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rPr>
                        <a:t>AC</a:t>
                      </a:r>
                      <a:r>
                        <a:rPr lang="en-IN" dirty="0" smtClean="0">
                          <a:latin typeface="Times New Roman" pitchFamily="18" charset="0"/>
                          <a:cs typeface="Times New Roman" pitchFamily="18" charset="0"/>
                          <a:sym typeface="Symbol"/>
                        </a:rPr>
                        <a:t>AC x B</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sym typeface="Symbol"/>
                        </a:rPr>
                        <a:t>M(T)AC</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rPr>
                        <a:t>AC</a:t>
                      </a:r>
                      <a:r>
                        <a:rPr lang="en-IN" dirty="0" smtClean="0">
                          <a:latin typeface="Times New Roman" pitchFamily="18" charset="0"/>
                          <a:cs typeface="Times New Roman" pitchFamily="18" charset="0"/>
                          <a:sym typeface="Symbol"/>
                        </a:rPr>
                        <a:t>C</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rPr>
                        <a:t>AC</a:t>
                      </a:r>
                      <a:r>
                        <a:rPr lang="en-IN" dirty="0" smtClean="0">
                          <a:latin typeface="Times New Roman" pitchFamily="18" charset="0"/>
                          <a:cs typeface="Times New Roman" pitchFamily="18" charset="0"/>
                          <a:sym typeface="Symbol"/>
                        </a:rPr>
                        <a:t>AC x C</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rPr>
                        <a:t>AC</a:t>
                      </a:r>
                      <a:r>
                        <a:rPr lang="en-IN" dirty="0" smtClean="0">
                          <a:latin typeface="Times New Roman" pitchFamily="18" charset="0"/>
                          <a:cs typeface="Times New Roman" pitchFamily="18" charset="0"/>
                          <a:sym typeface="Symbol"/>
                        </a:rPr>
                        <a:t>AC +T</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sym typeface="Symbol"/>
                        </a:rPr>
                        <a:t>M(X)AC</a:t>
                      </a:r>
                      <a:endParaRPr lang="en-IN" dirty="0">
                        <a:latin typeface="Times New Roman" pitchFamily="18" charset="0"/>
                        <a:cs typeface="Times New Roman" pitchFamily="18" charset="0"/>
                      </a:endParaRPr>
                    </a:p>
                  </a:txBody>
                  <a:tcPr/>
                </a:tc>
              </a:tr>
            </a:tbl>
          </a:graphicData>
        </a:graphic>
      </p:graphicFrame>
      <p:graphicFrame>
        <p:nvGraphicFramePr>
          <p:cNvPr id="5" name="Table 4"/>
          <p:cNvGraphicFramePr>
            <a:graphicFrameLocks noGrp="1"/>
          </p:cNvGraphicFramePr>
          <p:nvPr/>
        </p:nvGraphicFramePr>
        <p:xfrm>
          <a:off x="191590" y="4777861"/>
          <a:ext cx="3113313" cy="1874535"/>
        </p:xfrm>
        <a:graphic>
          <a:graphicData uri="http://schemas.openxmlformats.org/drawingml/2006/table">
            <a:tbl>
              <a:tblPr firstRow="1" bandRow="1">
                <a:tableStyleId>{5C22544A-7EE6-4342-B048-85BDC9FD1C3A}</a:tableStyleId>
              </a:tblPr>
              <a:tblGrid>
                <a:gridCol w="1937656"/>
                <a:gridCol w="1175657"/>
              </a:tblGrid>
              <a:tr h="349296">
                <a:tc gridSpan="2">
                  <a:txBody>
                    <a:bodyPr/>
                    <a:lstStyle/>
                    <a:p>
                      <a:r>
                        <a:rPr lang="en-IN" dirty="0" smtClean="0">
                          <a:latin typeface="Times New Roman" pitchFamily="18" charset="0"/>
                          <a:cs typeface="Times New Roman" pitchFamily="18" charset="0"/>
                        </a:rPr>
                        <a:t>Two address machine</a:t>
                      </a:r>
                      <a:endParaRPr lang="en-IN" dirty="0">
                        <a:latin typeface="Times New Roman" pitchFamily="18" charset="0"/>
                        <a:cs typeface="Times New Roman" pitchFamily="18" charset="0"/>
                      </a:endParaRPr>
                    </a:p>
                  </a:txBody>
                  <a:tcPr/>
                </a:tc>
                <a:tc hMerge="1">
                  <a:txBody>
                    <a:bodyPr/>
                    <a:lstStyle/>
                    <a:p>
                      <a:endParaRPr lang="en-IN" dirty="0"/>
                    </a:p>
                  </a:txBody>
                  <a:tcPr/>
                </a:tc>
              </a:tr>
              <a:tr h="1508775">
                <a:tc>
                  <a:txBody>
                    <a:bodyPr/>
                    <a:lstStyle/>
                    <a:p>
                      <a:r>
                        <a:rPr lang="en-IN" dirty="0" smtClean="0">
                          <a:latin typeface="Times New Roman" pitchFamily="18" charset="0"/>
                          <a:cs typeface="Times New Roman" pitchFamily="18" charset="0"/>
                        </a:rPr>
                        <a:t>MOVE T,A</a:t>
                      </a:r>
                    </a:p>
                    <a:p>
                      <a:r>
                        <a:rPr lang="en-IN" dirty="0" smtClean="0">
                          <a:latin typeface="Times New Roman" pitchFamily="18" charset="0"/>
                          <a:cs typeface="Times New Roman" pitchFamily="18" charset="0"/>
                        </a:rPr>
                        <a:t>MULTIPLY T,B</a:t>
                      </a:r>
                    </a:p>
                    <a:p>
                      <a:r>
                        <a:rPr lang="en-IN" dirty="0" smtClean="0">
                          <a:latin typeface="Times New Roman" pitchFamily="18" charset="0"/>
                          <a:cs typeface="Times New Roman" pitchFamily="18" charset="0"/>
                        </a:rPr>
                        <a:t>MOVE X,C</a:t>
                      </a:r>
                    </a:p>
                    <a:p>
                      <a:r>
                        <a:rPr lang="en-IN" dirty="0" smtClean="0">
                          <a:latin typeface="Times New Roman" pitchFamily="18" charset="0"/>
                          <a:cs typeface="Times New Roman" pitchFamily="18" charset="0"/>
                        </a:rPr>
                        <a:t>MULTIPLY X,C</a:t>
                      </a:r>
                    </a:p>
                    <a:p>
                      <a:r>
                        <a:rPr lang="en-IN" dirty="0" smtClean="0">
                          <a:latin typeface="Times New Roman" pitchFamily="18" charset="0"/>
                          <a:cs typeface="Times New Roman" pitchFamily="18" charset="0"/>
                        </a:rPr>
                        <a:t>ADD X,T</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sym typeface="Symbol"/>
                        </a:rPr>
                        <a:t>T A</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sym typeface="Symbol"/>
                        </a:rPr>
                        <a:t>TT x B</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sym typeface="Symbol"/>
                        </a:rPr>
                        <a:t>XC</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sym typeface="Symbol"/>
                        </a:rPr>
                        <a:t>XX</a:t>
                      </a:r>
                      <a:r>
                        <a:rPr lang="en-IN" baseline="0" dirty="0" smtClean="0">
                          <a:latin typeface="Times New Roman" pitchFamily="18" charset="0"/>
                          <a:cs typeface="Times New Roman" pitchFamily="18" charset="0"/>
                          <a:sym typeface="Symbol"/>
                        </a:rPr>
                        <a:t> x </a:t>
                      </a:r>
                      <a:r>
                        <a:rPr lang="en-IN" dirty="0" smtClean="0">
                          <a:latin typeface="Times New Roman" pitchFamily="18" charset="0"/>
                          <a:cs typeface="Times New Roman" pitchFamily="18" charset="0"/>
                          <a:sym typeface="Symbol"/>
                        </a:rPr>
                        <a:t>C</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sym typeface="Symbol"/>
                        </a:rPr>
                        <a:t>XX+T</a:t>
                      </a:r>
                    </a:p>
                  </a:txBody>
                  <a:tcPr/>
                </a:tc>
              </a:tr>
            </a:tbl>
          </a:graphicData>
        </a:graphic>
      </p:graphicFrame>
      <p:graphicFrame>
        <p:nvGraphicFramePr>
          <p:cNvPr id="6" name="Table 5"/>
          <p:cNvGraphicFramePr>
            <a:graphicFrameLocks noGrp="1"/>
          </p:cNvGraphicFramePr>
          <p:nvPr/>
        </p:nvGraphicFramePr>
        <p:xfrm>
          <a:off x="3766457" y="2304629"/>
          <a:ext cx="3117669" cy="1288563"/>
        </p:xfrm>
        <a:graphic>
          <a:graphicData uri="http://schemas.openxmlformats.org/drawingml/2006/table">
            <a:tbl>
              <a:tblPr firstRow="1" bandRow="1">
                <a:tableStyleId>{5C22544A-7EE6-4342-B048-85BDC9FD1C3A}</a:tableStyleId>
              </a:tblPr>
              <a:tblGrid>
                <a:gridCol w="1942012"/>
                <a:gridCol w="1175657"/>
              </a:tblGrid>
              <a:tr h="325667">
                <a:tc gridSpan="2">
                  <a:txBody>
                    <a:bodyPr/>
                    <a:lstStyle/>
                    <a:p>
                      <a:r>
                        <a:rPr lang="en-IN" dirty="0" smtClean="0">
                          <a:latin typeface="Times New Roman" pitchFamily="18" charset="0"/>
                          <a:cs typeface="Times New Roman" pitchFamily="18" charset="0"/>
                        </a:rPr>
                        <a:t>Three address machine</a:t>
                      </a:r>
                      <a:endParaRPr lang="en-IN" dirty="0">
                        <a:latin typeface="Times New Roman" pitchFamily="18" charset="0"/>
                        <a:cs typeface="Times New Roman" pitchFamily="18" charset="0"/>
                      </a:endParaRPr>
                    </a:p>
                  </a:txBody>
                  <a:tcPr/>
                </a:tc>
                <a:tc hMerge="1">
                  <a:txBody>
                    <a:bodyPr/>
                    <a:lstStyle/>
                    <a:p>
                      <a:endParaRPr lang="en-IN" dirty="0"/>
                    </a:p>
                  </a:txBody>
                  <a:tcPr/>
                </a:tc>
              </a:tr>
              <a:tr h="922803">
                <a:tc>
                  <a:txBody>
                    <a:bodyPr/>
                    <a:lstStyle/>
                    <a:p>
                      <a:r>
                        <a:rPr lang="en-IN" dirty="0" smtClean="0">
                          <a:latin typeface="Times New Roman" pitchFamily="18" charset="0"/>
                          <a:cs typeface="Times New Roman" pitchFamily="18" charset="0"/>
                        </a:rPr>
                        <a:t>MULTIPLY T,A,B</a:t>
                      </a:r>
                    </a:p>
                    <a:p>
                      <a:r>
                        <a:rPr lang="en-IN" dirty="0" smtClean="0">
                          <a:latin typeface="Times New Roman" pitchFamily="18" charset="0"/>
                          <a:cs typeface="Times New Roman" pitchFamily="18" charset="0"/>
                        </a:rPr>
                        <a:t>MULTIPLY</a:t>
                      </a:r>
                      <a:r>
                        <a:rPr lang="en-IN" baseline="0" dirty="0" smtClean="0">
                          <a:latin typeface="Times New Roman" pitchFamily="18" charset="0"/>
                          <a:cs typeface="Times New Roman" pitchFamily="18" charset="0"/>
                        </a:rPr>
                        <a:t> X,C,C</a:t>
                      </a:r>
                    </a:p>
                    <a:p>
                      <a:r>
                        <a:rPr lang="en-IN" baseline="0" dirty="0" smtClean="0">
                          <a:latin typeface="Times New Roman" pitchFamily="18" charset="0"/>
                          <a:cs typeface="Times New Roman" pitchFamily="18" charset="0"/>
                        </a:rPr>
                        <a:t>ADD X,X,T</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sym typeface="Symbol"/>
                        </a:rPr>
                        <a:t>T A x B</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sym typeface="Symbol"/>
                        </a:rPr>
                        <a:t>XC x C</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sym typeface="Symbol"/>
                        </a:rPr>
                        <a:t>XX+T</a:t>
                      </a:r>
                    </a:p>
                  </a:txBody>
                  <a:tcPr/>
                </a:tc>
              </a:tr>
            </a:tbl>
          </a:graphicData>
        </a:graphic>
      </p:graphicFrame>
      <p:graphicFrame>
        <p:nvGraphicFramePr>
          <p:cNvPr id="8" name="Table 7"/>
          <p:cNvGraphicFramePr>
            <a:graphicFrameLocks noGrp="1"/>
          </p:cNvGraphicFramePr>
          <p:nvPr/>
        </p:nvGraphicFramePr>
        <p:xfrm>
          <a:off x="3705498" y="4033276"/>
          <a:ext cx="7371805" cy="2661961"/>
        </p:xfrm>
        <a:graphic>
          <a:graphicData uri="http://schemas.openxmlformats.org/drawingml/2006/table">
            <a:tbl>
              <a:tblPr firstRow="1" bandRow="1">
                <a:tableStyleId>{5C22544A-7EE6-4342-B048-85BDC9FD1C3A}</a:tableStyleId>
              </a:tblPr>
              <a:tblGrid>
                <a:gridCol w="1321126"/>
                <a:gridCol w="6050679"/>
              </a:tblGrid>
              <a:tr h="375961">
                <a:tc gridSpan="2">
                  <a:txBody>
                    <a:bodyPr/>
                    <a:lstStyle/>
                    <a:p>
                      <a:r>
                        <a:rPr lang="en-IN" dirty="0" smtClean="0">
                          <a:latin typeface="Times New Roman" pitchFamily="18" charset="0"/>
                          <a:cs typeface="Times New Roman" pitchFamily="18" charset="0"/>
                        </a:rPr>
                        <a:t>Zero address machine</a:t>
                      </a:r>
                    </a:p>
                  </a:txBody>
                  <a:tcPr/>
                </a:tc>
                <a:tc hMerge="1">
                  <a:txBody>
                    <a:bodyPr/>
                    <a:lstStyle/>
                    <a:p>
                      <a:endParaRPr lang="en-IN" dirty="0"/>
                    </a:p>
                  </a:txBody>
                  <a:tcPr/>
                </a:tc>
              </a:tr>
              <a:tr h="2039459">
                <a:tc>
                  <a:txBody>
                    <a:bodyPr/>
                    <a:lstStyle/>
                    <a:p>
                      <a:r>
                        <a:rPr lang="en-IN" dirty="0" smtClean="0">
                          <a:latin typeface="Times New Roman" pitchFamily="18" charset="0"/>
                          <a:cs typeface="Times New Roman" pitchFamily="18" charset="0"/>
                        </a:rPr>
                        <a:t>PUSH A</a:t>
                      </a:r>
                    </a:p>
                    <a:p>
                      <a:r>
                        <a:rPr lang="en-IN" dirty="0" smtClean="0">
                          <a:latin typeface="Times New Roman" pitchFamily="18" charset="0"/>
                          <a:cs typeface="Times New Roman" pitchFamily="18" charset="0"/>
                        </a:rPr>
                        <a:t>PUSH</a:t>
                      </a:r>
                      <a:r>
                        <a:rPr lang="en-IN" baseline="0" dirty="0" smtClean="0">
                          <a:latin typeface="Times New Roman" pitchFamily="18" charset="0"/>
                          <a:cs typeface="Times New Roman" pitchFamily="18" charset="0"/>
                        </a:rPr>
                        <a:t> B</a:t>
                      </a:r>
                    </a:p>
                    <a:p>
                      <a:r>
                        <a:rPr lang="en-IN" baseline="0" dirty="0" smtClean="0">
                          <a:latin typeface="Times New Roman" pitchFamily="18" charset="0"/>
                          <a:cs typeface="Times New Roman" pitchFamily="18" charset="0"/>
                        </a:rPr>
                        <a:t>MULTIPLY</a:t>
                      </a:r>
                    </a:p>
                    <a:p>
                      <a:r>
                        <a:rPr lang="en-IN" baseline="0" dirty="0" smtClean="0">
                          <a:latin typeface="Times New Roman" pitchFamily="18" charset="0"/>
                          <a:cs typeface="Times New Roman" pitchFamily="18" charset="0"/>
                        </a:rPr>
                        <a:t>PUSH C</a:t>
                      </a:r>
                    </a:p>
                    <a:p>
                      <a:r>
                        <a:rPr lang="en-IN" baseline="0" dirty="0" smtClean="0">
                          <a:latin typeface="Times New Roman" pitchFamily="18" charset="0"/>
                          <a:cs typeface="Times New Roman" pitchFamily="18" charset="0"/>
                        </a:rPr>
                        <a:t>PUSH C</a:t>
                      </a:r>
                    </a:p>
                    <a:p>
                      <a:r>
                        <a:rPr lang="en-IN" baseline="0" dirty="0" smtClean="0">
                          <a:latin typeface="Times New Roman" pitchFamily="18" charset="0"/>
                          <a:cs typeface="Times New Roman" pitchFamily="18" charset="0"/>
                        </a:rPr>
                        <a:t>MULTIPLY</a:t>
                      </a:r>
                    </a:p>
                    <a:p>
                      <a:r>
                        <a:rPr lang="en-IN" baseline="0" dirty="0" smtClean="0">
                          <a:latin typeface="Times New Roman" pitchFamily="18" charset="0"/>
                          <a:cs typeface="Times New Roman" pitchFamily="18" charset="0"/>
                        </a:rPr>
                        <a:t>ADD</a:t>
                      </a:r>
                    </a:p>
                    <a:p>
                      <a:r>
                        <a:rPr lang="en-IN" baseline="0" dirty="0" smtClean="0">
                          <a:latin typeface="Times New Roman" pitchFamily="18" charset="0"/>
                          <a:cs typeface="Times New Roman" pitchFamily="18" charset="0"/>
                        </a:rPr>
                        <a:t>POP X</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Transfer A to top of stack</a:t>
                      </a:r>
                    </a:p>
                    <a:p>
                      <a:r>
                        <a:rPr lang="en-IN" dirty="0" smtClean="0">
                          <a:latin typeface="Times New Roman" pitchFamily="18" charset="0"/>
                          <a:cs typeface="Times New Roman" pitchFamily="18" charset="0"/>
                        </a:rPr>
                        <a:t>Transfer B to top of stack</a:t>
                      </a:r>
                    </a:p>
                    <a:p>
                      <a:r>
                        <a:rPr lang="en-IN" dirty="0" smtClean="0">
                          <a:latin typeface="Times New Roman" pitchFamily="18" charset="0"/>
                          <a:cs typeface="Times New Roman" pitchFamily="18" charset="0"/>
                        </a:rPr>
                        <a:t>Remove A, B from top of the stack and replace by A x B</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rPr>
                        <a:t>Transfer C to top of stack</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rPr>
                        <a:t>Transfer  second copy of C to top of stack</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rPr>
                        <a:t>Remove C, C from top of the stack and replace by C x C</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rPr>
                        <a:t>Remove</a:t>
                      </a:r>
                      <a:r>
                        <a:rPr lang="en-IN" baseline="0" dirty="0" smtClean="0">
                          <a:latin typeface="Times New Roman" pitchFamily="18" charset="0"/>
                          <a:cs typeface="Times New Roman" pitchFamily="18" charset="0"/>
                        </a:rPr>
                        <a:t>  C x C and A x B from stack and replace by their sum</a:t>
                      </a:r>
                    </a:p>
                    <a:p>
                      <a:pPr marL="0" marR="0" indent="0" algn="l" defTabSz="914400" rtl="0" eaLnBrk="1" fontAlgn="auto" latinLnBrk="0" hangingPunct="1">
                        <a:lnSpc>
                          <a:spcPct val="100000"/>
                        </a:lnSpc>
                        <a:spcBef>
                          <a:spcPts val="0"/>
                        </a:spcBef>
                        <a:spcAft>
                          <a:spcPts val="0"/>
                        </a:spcAft>
                        <a:buClrTx/>
                        <a:buSzTx/>
                        <a:buFontTx/>
                        <a:buNone/>
                        <a:tabLst/>
                        <a:defRPr/>
                      </a:pPr>
                      <a:r>
                        <a:rPr lang="en-IN" baseline="0" dirty="0" smtClean="0">
                          <a:latin typeface="Times New Roman" pitchFamily="18" charset="0"/>
                          <a:cs typeface="Times New Roman" pitchFamily="18" charset="0"/>
                        </a:rPr>
                        <a:t>Transfer result from top of stack to X</a:t>
                      </a:r>
                      <a:endParaRPr lang="en-IN" dirty="0">
                        <a:latin typeface="Times New Roman" pitchFamily="18" charset="0"/>
                        <a:cs typeface="Times New Roman" pitchFamily="18" charset="0"/>
                      </a:endParaRPr>
                    </a:p>
                  </a:txBody>
                  <a:tcPr/>
                </a:tc>
              </a:tr>
            </a:tbl>
          </a:graphicData>
        </a:graphic>
      </p:graphicFrame>
      <p:cxnSp>
        <p:nvCxnSpPr>
          <p:cNvPr id="9" name="Straight Connector 8"/>
          <p:cNvCxnSpPr/>
          <p:nvPr/>
        </p:nvCxnSpPr>
        <p:spPr>
          <a:xfrm rot="5400000">
            <a:off x="6368142" y="3180805"/>
            <a:ext cx="1463040"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a:off x="6912427" y="3189513"/>
            <a:ext cx="1463040"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7093131" y="3918856"/>
            <a:ext cx="54864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7088777" y="3561805"/>
            <a:ext cx="548640" cy="1588"/>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7197634" y="3592285"/>
            <a:ext cx="352697"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A </a:t>
            </a:r>
            <a:endParaRPr lang="en-IN" sz="1400" dirty="0">
              <a:latin typeface="Times New Roman" pitchFamily="18" charset="0"/>
              <a:cs typeface="Times New Roman" pitchFamily="18" charset="0"/>
            </a:endParaRPr>
          </a:p>
        </p:txBody>
      </p:sp>
      <p:cxnSp>
        <p:nvCxnSpPr>
          <p:cNvPr id="14" name="Straight Connector 13"/>
          <p:cNvCxnSpPr/>
          <p:nvPr/>
        </p:nvCxnSpPr>
        <p:spPr>
          <a:xfrm rot="5400000">
            <a:off x="7043056" y="3163387"/>
            <a:ext cx="1463040"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5400000">
            <a:off x="7587341" y="3172095"/>
            <a:ext cx="1463040"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7768045" y="3901438"/>
            <a:ext cx="54864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7763691" y="3544387"/>
            <a:ext cx="548640" cy="1588"/>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7872548" y="3574867"/>
            <a:ext cx="352697"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A</a:t>
            </a:r>
            <a:endParaRPr lang="en-IN" sz="1400" dirty="0">
              <a:latin typeface="Times New Roman" pitchFamily="18" charset="0"/>
              <a:cs typeface="Times New Roman" pitchFamily="18" charset="0"/>
            </a:endParaRPr>
          </a:p>
        </p:txBody>
      </p:sp>
      <p:cxnSp>
        <p:nvCxnSpPr>
          <p:cNvPr id="19" name="Straight Connector 18"/>
          <p:cNvCxnSpPr/>
          <p:nvPr/>
        </p:nvCxnSpPr>
        <p:spPr>
          <a:xfrm>
            <a:off x="7772400" y="3213461"/>
            <a:ext cx="548640" cy="1588"/>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7859485" y="3222171"/>
            <a:ext cx="352697"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B </a:t>
            </a:r>
            <a:endParaRPr lang="en-IN" sz="1400" dirty="0">
              <a:latin typeface="Times New Roman" pitchFamily="18" charset="0"/>
              <a:cs typeface="Times New Roman" pitchFamily="18" charset="0"/>
            </a:endParaRPr>
          </a:p>
        </p:txBody>
      </p:sp>
      <p:cxnSp>
        <p:nvCxnSpPr>
          <p:cNvPr id="21" name="Straight Connector 20"/>
          <p:cNvCxnSpPr/>
          <p:nvPr/>
        </p:nvCxnSpPr>
        <p:spPr>
          <a:xfrm rot="5400000">
            <a:off x="7696198" y="3176450"/>
            <a:ext cx="1463040"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5400000">
            <a:off x="8240483" y="3185158"/>
            <a:ext cx="1463040"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8421187" y="3914501"/>
            <a:ext cx="54864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8416833" y="3557450"/>
            <a:ext cx="548640" cy="1588"/>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8460376" y="3600993"/>
            <a:ext cx="539931" cy="307777"/>
          </a:xfrm>
          <a:prstGeom prst="rect">
            <a:avLst/>
          </a:prstGeom>
          <a:noFill/>
        </p:spPr>
        <p:txBody>
          <a:bodyPr wrap="square" rtlCol="0">
            <a:spAutoFit/>
          </a:bodyPr>
          <a:lstStyle/>
          <a:p>
            <a:r>
              <a:rPr lang="en-IN" sz="1400" dirty="0" err="1" smtClean="0">
                <a:latin typeface="Times New Roman" pitchFamily="18" charset="0"/>
                <a:cs typeface="Times New Roman" pitchFamily="18" charset="0"/>
              </a:rPr>
              <a:t>AxB</a:t>
            </a:r>
            <a:r>
              <a:rPr lang="en-IN" sz="1400" dirty="0" smtClean="0">
                <a:latin typeface="Times New Roman" pitchFamily="18" charset="0"/>
                <a:cs typeface="Times New Roman" pitchFamily="18" charset="0"/>
              </a:rPr>
              <a:t> </a:t>
            </a:r>
            <a:endParaRPr lang="en-IN" sz="1400" dirty="0">
              <a:latin typeface="Times New Roman" pitchFamily="18" charset="0"/>
              <a:cs typeface="Times New Roman" pitchFamily="18" charset="0"/>
            </a:endParaRPr>
          </a:p>
        </p:txBody>
      </p:sp>
      <p:cxnSp>
        <p:nvCxnSpPr>
          <p:cNvPr id="26" name="Straight Connector 25"/>
          <p:cNvCxnSpPr/>
          <p:nvPr/>
        </p:nvCxnSpPr>
        <p:spPr>
          <a:xfrm rot="5400000">
            <a:off x="8371113" y="3185159"/>
            <a:ext cx="1463040"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5400000">
            <a:off x="8915398" y="3193867"/>
            <a:ext cx="1463040"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9096102" y="3923210"/>
            <a:ext cx="54864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9091748" y="3566159"/>
            <a:ext cx="548640" cy="1588"/>
          </a:xfrm>
          <a:prstGeom prst="line">
            <a:avLst/>
          </a:prstGeom>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9135291" y="3609702"/>
            <a:ext cx="539931" cy="307777"/>
          </a:xfrm>
          <a:prstGeom prst="rect">
            <a:avLst/>
          </a:prstGeom>
          <a:noFill/>
        </p:spPr>
        <p:txBody>
          <a:bodyPr wrap="square" rtlCol="0">
            <a:spAutoFit/>
          </a:bodyPr>
          <a:lstStyle/>
          <a:p>
            <a:r>
              <a:rPr lang="en-IN" sz="1400" dirty="0" err="1" smtClean="0">
                <a:latin typeface="Times New Roman" pitchFamily="18" charset="0"/>
                <a:cs typeface="Times New Roman" pitchFamily="18" charset="0"/>
              </a:rPr>
              <a:t>AxB</a:t>
            </a:r>
            <a:r>
              <a:rPr lang="en-IN" sz="1400" dirty="0" smtClean="0">
                <a:latin typeface="Times New Roman" pitchFamily="18" charset="0"/>
                <a:cs typeface="Times New Roman" pitchFamily="18" charset="0"/>
              </a:rPr>
              <a:t> </a:t>
            </a:r>
            <a:endParaRPr lang="en-IN" sz="1400" dirty="0">
              <a:latin typeface="Times New Roman" pitchFamily="18" charset="0"/>
              <a:cs typeface="Times New Roman" pitchFamily="18" charset="0"/>
            </a:endParaRPr>
          </a:p>
        </p:txBody>
      </p:sp>
      <p:cxnSp>
        <p:nvCxnSpPr>
          <p:cNvPr id="31" name="Straight Connector 30"/>
          <p:cNvCxnSpPr/>
          <p:nvPr/>
        </p:nvCxnSpPr>
        <p:spPr>
          <a:xfrm>
            <a:off x="9078685" y="3265713"/>
            <a:ext cx="548640" cy="1588"/>
          </a:xfrm>
          <a:prstGeom prst="line">
            <a:avLst/>
          </a:prstGeom>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9213667" y="3243942"/>
            <a:ext cx="352697"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C</a:t>
            </a:r>
            <a:endParaRPr lang="en-IN" sz="1400" dirty="0">
              <a:latin typeface="Times New Roman" pitchFamily="18" charset="0"/>
              <a:cs typeface="Times New Roman" pitchFamily="18" charset="0"/>
            </a:endParaRPr>
          </a:p>
        </p:txBody>
      </p:sp>
      <p:cxnSp>
        <p:nvCxnSpPr>
          <p:cNvPr id="33" name="Straight Connector 32"/>
          <p:cNvCxnSpPr/>
          <p:nvPr/>
        </p:nvCxnSpPr>
        <p:spPr>
          <a:xfrm rot="5400000">
            <a:off x="9032965" y="3193868"/>
            <a:ext cx="1463040"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5400000">
            <a:off x="9577250" y="3202576"/>
            <a:ext cx="1463040"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9757954" y="3931919"/>
            <a:ext cx="54864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9753600" y="3574868"/>
            <a:ext cx="548640" cy="1588"/>
          </a:xfrm>
          <a:prstGeom prst="line">
            <a:avLst/>
          </a:prstGeom>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9797143" y="3618411"/>
            <a:ext cx="539931" cy="307777"/>
          </a:xfrm>
          <a:prstGeom prst="rect">
            <a:avLst/>
          </a:prstGeom>
          <a:noFill/>
        </p:spPr>
        <p:txBody>
          <a:bodyPr wrap="square" rtlCol="0">
            <a:spAutoFit/>
          </a:bodyPr>
          <a:lstStyle/>
          <a:p>
            <a:r>
              <a:rPr lang="en-IN" sz="1400" dirty="0" err="1" smtClean="0">
                <a:latin typeface="Times New Roman" pitchFamily="18" charset="0"/>
                <a:cs typeface="Times New Roman" pitchFamily="18" charset="0"/>
              </a:rPr>
              <a:t>AxB</a:t>
            </a:r>
            <a:r>
              <a:rPr lang="en-IN" sz="1400" dirty="0" smtClean="0">
                <a:latin typeface="Times New Roman" pitchFamily="18" charset="0"/>
                <a:cs typeface="Times New Roman" pitchFamily="18" charset="0"/>
              </a:rPr>
              <a:t> </a:t>
            </a:r>
            <a:endParaRPr lang="en-IN" sz="1400" dirty="0">
              <a:latin typeface="Times New Roman" pitchFamily="18" charset="0"/>
              <a:cs typeface="Times New Roman" pitchFamily="18" charset="0"/>
            </a:endParaRPr>
          </a:p>
        </p:txBody>
      </p:sp>
      <p:cxnSp>
        <p:nvCxnSpPr>
          <p:cNvPr id="38" name="Straight Connector 37"/>
          <p:cNvCxnSpPr/>
          <p:nvPr/>
        </p:nvCxnSpPr>
        <p:spPr>
          <a:xfrm>
            <a:off x="9740537" y="3274422"/>
            <a:ext cx="548640" cy="1588"/>
          </a:xfrm>
          <a:prstGeom prst="line">
            <a:avLst/>
          </a:prstGeom>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9875519" y="3252651"/>
            <a:ext cx="352697"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C</a:t>
            </a:r>
            <a:endParaRPr lang="en-IN" sz="1400" dirty="0">
              <a:latin typeface="Times New Roman" pitchFamily="18" charset="0"/>
              <a:cs typeface="Times New Roman" pitchFamily="18" charset="0"/>
            </a:endParaRPr>
          </a:p>
        </p:txBody>
      </p:sp>
      <p:sp>
        <p:nvSpPr>
          <p:cNvPr id="40" name="TextBox 39"/>
          <p:cNvSpPr txBox="1"/>
          <p:nvPr/>
        </p:nvSpPr>
        <p:spPr>
          <a:xfrm>
            <a:off x="9858102" y="2947851"/>
            <a:ext cx="352697"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C</a:t>
            </a:r>
            <a:endParaRPr lang="en-IN" sz="1400" dirty="0">
              <a:latin typeface="Times New Roman" pitchFamily="18" charset="0"/>
              <a:cs typeface="Times New Roman" pitchFamily="18" charset="0"/>
            </a:endParaRPr>
          </a:p>
        </p:txBody>
      </p:sp>
      <p:cxnSp>
        <p:nvCxnSpPr>
          <p:cNvPr id="41" name="Straight Connector 40"/>
          <p:cNvCxnSpPr/>
          <p:nvPr/>
        </p:nvCxnSpPr>
        <p:spPr>
          <a:xfrm>
            <a:off x="9771016" y="2939141"/>
            <a:ext cx="54864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rot="5400000">
            <a:off x="9712234" y="3193869"/>
            <a:ext cx="1463040"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rot="5400000">
            <a:off x="10256519" y="3202577"/>
            <a:ext cx="1463040"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10437223" y="3931920"/>
            <a:ext cx="54864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10432869" y="3574869"/>
            <a:ext cx="548640" cy="1588"/>
          </a:xfrm>
          <a:prstGeom prst="line">
            <a:avLst/>
          </a:prstGeom>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10476412" y="3618412"/>
            <a:ext cx="539931" cy="307777"/>
          </a:xfrm>
          <a:prstGeom prst="rect">
            <a:avLst/>
          </a:prstGeom>
          <a:noFill/>
        </p:spPr>
        <p:txBody>
          <a:bodyPr wrap="square" rtlCol="0">
            <a:spAutoFit/>
          </a:bodyPr>
          <a:lstStyle/>
          <a:p>
            <a:r>
              <a:rPr lang="en-IN" sz="1400" dirty="0" err="1" smtClean="0">
                <a:latin typeface="Times New Roman" pitchFamily="18" charset="0"/>
                <a:cs typeface="Times New Roman" pitchFamily="18" charset="0"/>
              </a:rPr>
              <a:t>AxB</a:t>
            </a:r>
            <a:r>
              <a:rPr lang="en-IN" sz="1400" dirty="0" smtClean="0">
                <a:latin typeface="Times New Roman" pitchFamily="18" charset="0"/>
                <a:cs typeface="Times New Roman" pitchFamily="18" charset="0"/>
              </a:rPr>
              <a:t> </a:t>
            </a:r>
            <a:endParaRPr lang="en-IN" sz="1400" dirty="0">
              <a:latin typeface="Times New Roman" pitchFamily="18" charset="0"/>
              <a:cs typeface="Times New Roman" pitchFamily="18" charset="0"/>
            </a:endParaRPr>
          </a:p>
        </p:txBody>
      </p:sp>
      <p:cxnSp>
        <p:nvCxnSpPr>
          <p:cNvPr id="47" name="Straight Connector 46"/>
          <p:cNvCxnSpPr/>
          <p:nvPr/>
        </p:nvCxnSpPr>
        <p:spPr>
          <a:xfrm>
            <a:off x="10419806" y="3274423"/>
            <a:ext cx="548640" cy="1588"/>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10445932" y="3261360"/>
            <a:ext cx="539931" cy="307777"/>
          </a:xfrm>
          <a:prstGeom prst="rect">
            <a:avLst/>
          </a:prstGeom>
          <a:noFill/>
        </p:spPr>
        <p:txBody>
          <a:bodyPr wrap="square" rtlCol="0">
            <a:spAutoFit/>
          </a:bodyPr>
          <a:lstStyle/>
          <a:p>
            <a:r>
              <a:rPr lang="en-IN" sz="1400" dirty="0" err="1" smtClean="0">
                <a:latin typeface="Times New Roman" pitchFamily="18" charset="0"/>
                <a:cs typeface="Times New Roman" pitchFamily="18" charset="0"/>
              </a:rPr>
              <a:t>CxC</a:t>
            </a:r>
            <a:r>
              <a:rPr lang="en-IN" sz="1400" dirty="0" smtClean="0">
                <a:latin typeface="Times New Roman" pitchFamily="18" charset="0"/>
                <a:cs typeface="Times New Roman" pitchFamily="18" charset="0"/>
              </a:rPr>
              <a:t> </a:t>
            </a:r>
            <a:endParaRPr lang="en-IN" sz="1400" dirty="0">
              <a:latin typeface="Times New Roman" pitchFamily="18" charset="0"/>
              <a:cs typeface="Times New Roman" pitchFamily="18" charset="0"/>
            </a:endParaRPr>
          </a:p>
        </p:txBody>
      </p:sp>
      <p:cxnSp>
        <p:nvCxnSpPr>
          <p:cNvPr id="49" name="Straight Connector 48"/>
          <p:cNvCxnSpPr/>
          <p:nvPr/>
        </p:nvCxnSpPr>
        <p:spPr>
          <a:xfrm rot="5400000">
            <a:off x="10374086" y="3176452"/>
            <a:ext cx="1463040"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5400000">
            <a:off x="11192692" y="3211285"/>
            <a:ext cx="1463040" cy="13062"/>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11099075" y="3914503"/>
            <a:ext cx="814250" cy="17416"/>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V="1">
            <a:off x="11094721" y="3553096"/>
            <a:ext cx="818604" cy="4356"/>
          </a:xfrm>
          <a:prstGeom prst="line">
            <a:avLst/>
          </a:prstGeom>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11020696" y="3587932"/>
            <a:ext cx="971006" cy="307777"/>
          </a:xfrm>
          <a:prstGeom prst="rect">
            <a:avLst/>
          </a:prstGeom>
          <a:noFill/>
        </p:spPr>
        <p:txBody>
          <a:bodyPr wrap="square" rtlCol="0">
            <a:spAutoFit/>
          </a:bodyPr>
          <a:lstStyle/>
          <a:p>
            <a:r>
              <a:rPr lang="en-IN" sz="1400" dirty="0" err="1" smtClean="0">
                <a:latin typeface="Times New Roman" pitchFamily="18" charset="0"/>
                <a:cs typeface="Times New Roman" pitchFamily="18" charset="0"/>
              </a:rPr>
              <a:t>AxB+CxC</a:t>
            </a:r>
            <a:r>
              <a:rPr lang="en-IN" sz="1400" dirty="0" smtClean="0">
                <a:latin typeface="Times New Roman" pitchFamily="18" charset="0"/>
                <a:cs typeface="Times New Roman" pitchFamily="18" charset="0"/>
              </a:rPr>
              <a:t> </a:t>
            </a:r>
            <a:endParaRPr lang="en-IN" sz="14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6754" y="182879"/>
            <a:ext cx="11861075" cy="3970318"/>
          </a:xfrm>
          <a:prstGeom prst="rect">
            <a:avLst/>
          </a:prstGeom>
          <a:noFill/>
        </p:spPr>
        <p:txBody>
          <a:bodyPr wrap="square" rtlCol="0">
            <a:spAutoFit/>
          </a:bodyPr>
          <a:lstStyle/>
          <a:p>
            <a:r>
              <a:rPr lang="en-IN" b="1" dirty="0" err="1" smtClean="0">
                <a:latin typeface="Times New Roman" pitchFamily="18" charset="0"/>
                <a:cs typeface="Times New Roman" pitchFamily="18" charset="0"/>
              </a:rPr>
              <a:t>Opcodes</a:t>
            </a:r>
            <a:endParaRPr lang="en-IN" b="1"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In most computers, the </a:t>
            </a:r>
            <a:r>
              <a:rPr lang="en-IN" dirty="0" err="1" smtClean="0">
                <a:latin typeface="Times New Roman" pitchFamily="18" charset="0"/>
                <a:cs typeface="Times New Roman" pitchFamily="18" charset="0"/>
              </a:rPr>
              <a:t>opcode</a:t>
            </a:r>
            <a:r>
              <a:rPr lang="en-IN" dirty="0" smtClean="0">
                <a:latin typeface="Times New Roman" pitchFamily="18" charset="0"/>
                <a:cs typeface="Times New Roman" pitchFamily="18" charset="0"/>
              </a:rPr>
              <a:t> field is a fixed length field of k-bit within each instruction</a:t>
            </a:r>
          </a:p>
          <a:p>
            <a:r>
              <a:rPr lang="en-IN" dirty="0" smtClean="0">
                <a:latin typeface="Times New Roman" pitchFamily="18" charset="0"/>
                <a:cs typeface="Times New Roman" pitchFamily="18" charset="0"/>
              </a:rPr>
              <a:t>Permits up to 2</a:t>
            </a:r>
            <a:r>
              <a:rPr lang="en-IN" baseline="30000" dirty="0" smtClean="0">
                <a:latin typeface="Times New Roman" pitchFamily="18" charset="0"/>
                <a:cs typeface="Times New Roman" pitchFamily="18" charset="0"/>
              </a:rPr>
              <a:t>k</a:t>
            </a:r>
            <a:r>
              <a:rPr lang="en-IN" dirty="0" smtClean="0">
                <a:latin typeface="Times New Roman" pitchFamily="18" charset="0"/>
                <a:cs typeface="Times New Roman" pitchFamily="18" charset="0"/>
              </a:rPr>
              <a:t> distinct operations</a:t>
            </a:r>
          </a:p>
          <a:p>
            <a:r>
              <a:rPr lang="en-IN" dirty="0" smtClean="0">
                <a:latin typeface="Times New Roman" pitchFamily="18" charset="0"/>
                <a:cs typeface="Times New Roman" pitchFamily="18" charset="0"/>
              </a:rPr>
              <a:t>Some addressing information may also be included in the </a:t>
            </a:r>
            <a:r>
              <a:rPr lang="en-IN" dirty="0" err="1" smtClean="0">
                <a:latin typeface="Times New Roman" pitchFamily="18" charset="0"/>
                <a:cs typeface="Times New Roman" pitchFamily="18" charset="0"/>
              </a:rPr>
              <a:t>opcode</a:t>
            </a:r>
            <a:r>
              <a:rPr lang="en-IN" dirty="0" smtClean="0">
                <a:latin typeface="Times New Roman" pitchFamily="18" charset="0"/>
                <a:cs typeface="Times New Roman" pitchFamily="18" charset="0"/>
              </a:rPr>
              <a:t> field, for example, the addresses of processor registers used to store operands</a:t>
            </a:r>
          </a:p>
          <a:p>
            <a:r>
              <a:rPr lang="en-IN" dirty="0" smtClean="0">
                <a:latin typeface="Times New Roman" pitchFamily="18" charset="0"/>
                <a:cs typeface="Times New Roman" pitchFamily="18" charset="0"/>
              </a:rPr>
              <a:t>Programs occupy a considerable amount of  valuable storage space, so objective is to reduce their length as much as possible</a:t>
            </a:r>
          </a:p>
          <a:p>
            <a:r>
              <a:rPr lang="en-IN" dirty="0" smtClean="0">
                <a:latin typeface="Times New Roman" pitchFamily="18" charset="0"/>
                <a:cs typeface="Times New Roman" pitchFamily="18" charset="0"/>
              </a:rPr>
              <a:t>   Frequency with which operand addresses occur can not be reasonably determined; all may be assumed to have equal </a:t>
            </a:r>
          </a:p>
          <a:p>
            <a:r>
              <a:rPr lang="en-IN" dirty="0" smtClean="0">
                <a:latin typeface="Times New Roman" pitchFamily="18" charset="0"/>
                <a:cs typeface="Times New Roman" pitchFamily="18" charset="0"/>
              </a:rPr>
              <a:t>   probability</a:t>
            </a:r>
          </a:p>
          <a:p>
            <a:r>
              <a:rPr lang="en-IN" dirty="0" smtClean="0">
                <a:latin typeface="Times New Roman" pitchFamily="18" charset="0"/>
                <a:cs typeface="Times New Roman" pitchFamily="18" charset="0"/>
              </a:rPr>
              <a:t>   Frequency with which specific instruction types occur can be determined but it depends on the instruction mixes</a:t>
            </a:r>
          </a:p>
          <a:p>
            <a:r>
              <a:rPr lang="en-IN" dirty="0" smtClean="0">
                <a:latin typeface="Times New Roman" pitchFamily="18" charset="0"/>
                <a:cs typeface="Times New Roman" pitchFamily="18" charset="0"/>
              </a:rPr>
              <a:t>   Attempt can be made to control the </a:t>
            </a:r>
            <a:r>
              <a:rPr lang="en-IN" dirty="0" err="1" smtClean="0">
                <a:latin typeface="Times New Roman" pitchFamily="18" charset="0"/>
                <a:cs typeface="Times New Roman" pitchFamily="18" charset="0"/>
              </a:rPr>
              <a:t>opcode</a:t>
            </a:r>
            <a:r>
              <a:rPr lang="en-IN" dirty="0" smtClean="0">
                <a:latin typeface="Times New Roman" pitchFamily="18" charset="0"/>
                <a:cs typeface="Times New Roman" pitchFamily="18" charset="0"/>
              </a:rPr>
              <a:t> length depending upon their probability of occurrence</a:t>
            </a:r>
          </a:p>
          <a:p>
            <a:endParaRPr lang="en-IN" dirty="0" smtClean="0">
              <a:latin typeface="Times New Roman" pitchFamily="18" charset="0"/>
              <a:cs typeface="Times New Roman" pitchFamily="18" charset="0"/>
            </a:endParaRPr>
          </a:p>
          <a:p>
            <a:r>
              <a:rPr lang="en-IN" u="sng" dirty="0" smtClean="0">
                <a:latin typeface="Times New Roman" pitchFamily="18" charset="0"/>
                <a:cs typeface="Times New Roman" pitchFamily="18" charset="0"/>
              </a:rPr>
              <a:t>Fixed </a:t>
            </a:r>
            <a:r>
              <a:rPr lang="en-IN" u="sng" dirty="0" err="1" smtClean="0">
                <a:latin typeface="Times New Roman" pitchFamily="18" charset="0"/>
                <a:cs typeface="Times New Roman" pitchFamily="18" charset="0"/>
              </a:rPr>
              <a:t>opcode</a:t>
            </a:r>
            <a:r>
              <a:rPr lang="en-IN" u="sng" dirty="0" smtClean="0">
                <a:latin typeface="Times New Roman" pitchFamily="18" charset="0"/>
                <a:cs typeface="Times New Roman" pitchFamily="18" charset="0"/>
              </a:rPr>
              <a:t> length</a:t>
            </a:r>
            <a:r>
              <a:rPr lang="en-IN" dirty="0" smtClean="0">
                <a:latin typeface="Times New Roman" pitchFamily="18" charset="0"/>
                <a:cs typeface="Times New Roman" pitchFamily="18" charset="0"/>
              </a:rPr>
              <a:t>: Easy to decode and store</a:t>
            </a:r>
          </a:p>
          <a:p>
            <a:r>
              <a:rPr lang="en-IN" u="sng" dirty="0" smtClean="0">
                <a:latin typeface="Times New Roman" pitchFamily="18" charset="0"/>
                <a:cs typeface="Times New Roman" pitchFamily="18" charset="0"/>
              </a:rPr>
              <a:t>Variable </a:t>
            </a:r>
            <a:r>
              <a:rPr lang="en-IN" u="sng" dirty="0" err="1" smtClean="0">
                <a:latin typeface="Times New Roman" pitchFamily="18" charset="0"/>
                <a:cs typeface="Times New Roman" pitchFamily="18" charset="0"/>
              </a:rPr>
              <a:t>opcode</a:t>
            </a:r>
            <a:r>
              <a:rPr lang="en-IN" u="sng" dirty="0" smtClean="0">
                <a:latin typeface="Times New Roman" pitchFamily="18" charset="0"/>
                <a:cs typeface="Times New Roman" pitchFamily="18" charset="0"/>
              </a:rPr>
              <a:t> length</a:t>
            </a:r>
            <a:r>
              <a:rPr lang="en-IN" dirty="0" smtClean="0">
                <a:latin typeface="Times New Roman" pitchFamily="18" charset="0"/>
                <a:cs typeface="Times New Roman" pitchFamily="18" charset="0"/>
              </a:rPr>
              <a:t>: Significant storage saving can result</a:t>
            </a:r>
          </a:p>
          <a:p>
            <a:r>
              <a:rPr lang="en-IN" dirty="0" err="1" smtClean="0">
                <a:latin typeface="Times New Roman" pitchFamily="18" charset="0"/>
                <a:cs typeface="Times New Roman" pitchFamily="18" charset="0"/>
              </a:rPr>
              <a:t>Opcode</a:t>
            </a:r>
            <a:r>
              <a:rPr lang="en-IN" dirty="0" smtClean="0">
                <a:latin typeface="Times New Roman" pitchFamily="18" charset="0"/>
                <a:cs typeface="Times New Roman" pitchFamily="18" charset="0"/>
              </a:rPr>
              <a:t> having higher probability of occurrence in average application programs are encoded with fewer bits</a:t>
            </a:r>
            <a:endParaRPr lang="en-IN" dirty="0">
              <a:latin typeface="Times New Roman" pitchFamily="18" charset="0"/>
              <a:cs typeface="Times New Roman" pitchFamily="18" charset="0"/>
            </a:endParaRPr>
          </a:p>
        </p:txBody>
      </p:sp>
      <p:graphicFrame>
        <p:nvGraphicFramePr>
          <p:cNvPr id="57" name="Table 56"/>
          <p:cNvGraphicFramePr>
            <a:graphicFrameLocks noGrp="1"/>
          </p:cNvGraphicFramePr>
          <p:nvPr/>
        </p:nvGraphicFramePr>
        <p:xfrm>
          <a:off x="281577" y="4220512"/>
          <a:ext cx="5191760" cy="2473960"/>
        </p:xfrm>
        <a:graphic>
          <a:graphicData uri="http://schemas.openxmlformats.org/drawingml/2006/table">
            <a:tbl>
              <a:tblPr firstRow="1" bandRow="1">
                <a:tableStyleId>{5C22544A-7EE6-4342-B048-85BDC9FD1C3A}</a:tableStyleId>
              </a:tblPr>
              <a:tblGrid>
                <a:gridCol w="1302586"/>
                <a:gridCol w="2609014"/>
                <a:gridCol w="1280160"/>
              </a:tblGrid>
              <a:tr h="370840">
                <a:tc gridSpan="3">
                  <a:txBody>
                    <a:bodyPr/>
                    <a:lstStyle/>
                    <a:p>
                      <a:r>
                        <a:rPr lang="en-IN" dirty="0" smtClean="0">
                          <a:latin typeface="Times New Roman" pitchFamily="18" charset="0"/>
                          <a:cs typeface="Times New Roman" pitchFamily="18" charset="0"/>
                        </a:rPr>
                        <a:t>Variable length </a:t>
                      </a:r>
                      <a:r>
                        <a:rPr lang="en-IN" dirty="0" err="1" smtClean="0">
                          <a:latin typeface="Times New Roman" pitchFamily="18" charset="0"/>
                          <a:cs typeface="Times New Roman" pitchFamily="18" charset="0"/>
                        </a:rPr>
                        <a:t>opcode</a:t>
                      </a:r>
                      <a:r>
                        <a:rPr lang="en-IN" dirty="0" smtClean="0">
                          <a:latin typeface="Times New Roman" pitchFamily="18" charset="0"/>
                          <a:cs typeface="Times New Roman" pitchFamily="18" charset="0"/>
                        </a:rPr>
                        <a:t> based on instruction occurrence probabilities</a:t>
                      </a:r>
                      <a:endParaRPr lang="en-IN" dirty="0">
                        <a:latin typeface="Times New Roman" pitchFamily="18" charset="0"/>
                        <a:cs typeface="Times New Roman" pitchFamily="18" charset="0"/>
                      </a:endParaRPr>
                    </a:p>
                  </a:txBody>
                  <a:tcPr/>
                </a:tc>
                <a:tc hMerge="1">
                  <a:txBody>
                    <a:bodyPr/>
                    <a:lstStyle/>
                    <a:p>
                      <a:endParaRPr lang="en-IN" dirty="0"/>
                    </a:p>
                  </a:txBody>
                  <a:tcPr/>
                </a:tc>
                <a:tc hMerge="1">
                  <a:txBody>
                    <a:bodyPr/>
                    <a:lstStyle/>
                    <a:p>
                      <a:endParaRPr lang="en-IN" dirty="0"/>
                    </a:p>
                  </a:txBody>
                  <a:tcPr/>
                </a:tc>
              </a:tr>
              <a:tr h="370840">
                <a:tc>
                  <a:txBody>
                    <a:bodyPr/>
                    <a:lstStyle/>
                    <a:p>
                      <a:r>
                        <a:rPr lang="en-IN" dirty="0" smtClean="0">
                          <a:latin typeface="Times New Roman" pitchFamily="18" charset="0"/>
                          <a:cs typeface="Times New Roman" pitchFamily="18" charset="0"/>
                        </a:rPr>
                        <a:t>Instruction</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Probability of occurrence</a:t>
                      </a:r>
                      <a:endParaRPr lang="en-IN" dirty="0">
                        <a:latin typeface="Times New Roman" pitchFamily="18" charset="0"/>
                        <a:cs typeface="Times New Roman" pitchFamily="18" charset="0"/>
                      </a:endParaRPr>
                    </a:p>
                  </a:txBody>
                  <a:tcPr/>
                </a:tc>
                <a:tc>
                  <a:txBody>
                    <a:bodyPr/>
                    <a:lstStyle/>
                    <a:p>
                      <a:r>
                        <a:rPr lang="en-IN" dirty="0" err="1" smtClean="0">
                          <a:latin typeface="Times New Roman" pitchFamily="18" charset="0"/>
                          <a:cs typeface="Times New Roman" pitchFamily="18" charset="0"/>
                        </a:rPr>
                        <a:t>Opcode</a:t>
                      </a: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C</a:t>
                      </a:r>
                      <a:r>
                        <a:rPr lang="en-IN" baseline="-25000" dirty="0" err="1" smtClean="0">
                          <a:latin typeface="Times New Roman" pitchFamily="18" charset="0"/>
                          <a:cs typeface="Times New Roman" pitchFamily="18" charset="0"/>
                        </a:rPr>
                        <a:t>i</a:t>
                      </a:r>
                      <a:endParaRPr lang="en-IN" baseline="-25000"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I1</a:t>
                      </a:r>
                    </a:p>
                    <a:p>
                      <a:r>
                        <a:rPr lang="en-IN" dirty="0" smtClean="0">
                          <a:latin typeface="Times New Roman" pitchFamily="18" charset="0"/>
                          <a:cs typeface="Times New Roman" pitchFamily="18" charset="0"/>
                        </a:rPr>
                        <a:t>I2</a:t>
                      </a:r>
                    </a:p>
                    <a:p>
                      <a:r>
                        <a:rPr lang="en-IN" dirty="0" smtClean="0">
                          <a:latin typeface="Times New Roman" pitchFamily="18" charset="0"/>
                          <a:cs typeface="Times New Roman" pitchFamily="18" charset="0"/>
                        </a:rPr>
                        <a:t>I3</a:t>
                      </a:r>
                    </a:p>
                    <a:p>
                      <a:r>
                        <a:rPr lang="en-IN" dirty="0" smtClean="0">
                          <a:latin typeface="Times New Roman" pitchFamily="18" charset="0"/>
                          <a:cs typeface="Times New Roman" pitchFamily="18" charset="0"/>
                        </a:rPr>
                        <a:t>I4</a:t>
                      </a:r>
                    </a:p>
                    <a:p>
                      <a:r>
                        <a:rPr lang="en-IN" dirty="0" smtClean="0">
                          <a:latin typeface="Times New Roman" pitchFamily="18" charset="0"/>
                          <a:cs typeface="Times New Roman" pitchFamily="18" charset="0"/>
                        </a:rPr>
                        <a:t>I5</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0.5</a:t>
                      </a:r>
                    </a:p>
                    <a:p>
                      <a:r>
                        <a:rPr lang="en-IN" dirty="0" smtClean="0">
                          <a:latin typeface="Times New Roman" pitchFamily="18" charset="0"/>
                          <a:cs typeface="Times New Roman" pitchFamily="18" charset="0"/>
                        </a:rPr>
                        <a:t>0.3</a:t>
                      </a:r>
                    </a:p>
                    <a:p>
                      <a:r>
                        <a:rPr lang="en-IN" dirty="0" smtClean="0">
                          <a:latin typeface="Times New Roman" pitchFamily="18" charset="0"/>
                          <a:cs typeface="Times New Roman" pitchFamily="18" charset="0"/>
                        </a:rPr>
                        <a:t>0.08</a:t>
                      </a:r>
                    </a:p>
                    <a:p>
                      <a:r>
                        <a:rPr lang="en-IN" dirty="0" smtClean="0">
                          <a:latin typeface="Times New Roman" pitchFamily="18" charset="0"/>
                          <a:cs typeface="Times New Roman" pitchFamily="18" charset="0"/>
                        </a:rPr>
                        <a:t>0.06</a:t>
                      </a:r>
                    </a:p>
                    <a:p>
                      <a:r>
                        <a:rPr lang="en-IN" dirty="0" smtClean="0">
                          <a:latin typeface="Times New Roman" pitchFamily="18" charset="0"/>
                          <a:cs typeface="Times New Roman" pitchFamily="18" charset="0"/>
                        </a:rPr>
                        <a:t>0.06</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a:t>
                      </a:r>
                    </a:p>
                    <a:p>
                      <a:r>
                        <a:rPr lang="en-IN" dirty="0" smtClean="0">
                          <a:latin typeface="Times New Roman" pitchFamily="18" charset="0"/>
                          <a:cs typeface="Times New Roman" pitchFamily="18" charset="0"/>
                        </a:rPr>
                        <a:t>01</a:t>
                      </a:r>
                    </a:p>
                    <a:p>
                      <a:r>
                        <a:rPr lang="en-IN" dirty="0" smtClean="0">
                          <a:latin typeface="Times New Roman" pitchFamily="18" charset="0"/>
                          <a:cs typeface="Times New Roman" pitchFamily="18" charset="0"/>
                        </a:rPr>
                        <a:t>000</a:t>
                      </a:r>
                    </a:p>
                    <a:p>
                      <a:r>
                        <a:rPr lang="en-IN" dirty="0" smtClean="0">
                          <a:latin typeface="Times New Roman" pitchFamily="18" charset="0"/>
                          <a:cs typeface="Times New Roman" pitchFamily="18" charset="0"/>
                        </a:rPr>
                        <a:t>0011</a:t>
                      </a:r>
                    </a:p>
                    <a:p>
                      <a:r>
                        <a:rPr lang="en-IN" dirty="0" smtClean="0">
                          <a:latin typeface="Times New Roman" pitchFamily="18" charset="0"/>
                          <a:cs typeface="Times New Roman" pitchFamily="18" charset="0"/>
                        </a:rPr>
                        <a:t>0010</a:t>
                      </a:r>
                      <a:endParaRPr lang="en-IN" dirty="0">
                        <a:latin typeface="Times New Roman" pitchFamily="18" charset="0"/>
                        <a:cs typeface="Times New Roman" pitchFamily="18" charset="0"/>
                      </a:endParaRPr>
                    </a:p>
                  </a:txBody>
                  <a:tcPr/>
                </a:tc>
              </a:tr>
            </a:tbl>
          </a:graphicData>
        </a:graphic>
      </p:graphicFrame>
      <p:sp>
        <p:nvSpPr>
          <p:cNvPr id="58" name="TextBox 57"/>
          <p:cNvSpPr txBox="1"/>
          <p:nvPr/>
        </p:nvSpPr>
        <p:spPr>
          <a:xfrm>
            <a:off x="5773783" y="4310743"/>
            <a:ext cx="6100354" cy="1754326"/>
          </a:xfrm>
          <a:prstGeom prst="rect">
            <a:avLst/>
          </a:prstGeom>
          <a:noFill/>
        </p:spPr>
        <p:txBody>
          <a:bodyPr wrap="square" rtlCol="0">
            <a:spAutoFit/>
          </a:bodyPr>
          <a:lstStyle/>
          <a:p>
            <a:r>
              <a:rPr lang="en-IN" dirty="0" smtClean="0">
                <a:latin typeface="Times New Roman" pitchFamily="18" charset="0"/>
                <a:cs typeface="Times New Roman" pitchFamily="18" charset="0"/>
              </a:rPr>
              <a:t>Fixed length </a:t>
            </a:r>
            <a:r>
              <a:rPr lang="en-IN" dirty="0" err="1" smtClean="0">
                <a:latin typeface="Times New Roman" pitchFamily="18" charset="0"/>
                <a:cs typeface="Times New Roman" pitchFamily="18" charset="0"/>
              </a:rPr>
              <a:t>opcode</a:t>
            </a:r>
            <a:r>
              <a:rPr lang="en-IN" dirty="0" smtClean="0">
                <a:latin typeface="Times New Roman" pitchFamily="18" charset="0"/>
                <a:cs typeface="Times New Roman" pitchFamily="18" charset="0"/>
              </a:rPr>
              <a:t> needs 3-bit per </a:t>
            </a:r>
            <a:r>
              <a:rPr lang="en-IN" dirty="0" err="1" smtClean="0">
                <a:latin typeface="Times New Roman" pitchFamily="18" charset="0"/>
                <a:cs typeface="Times New Roman" pitchFamily="18" charset="0"/>
              </a:rPr>
              <a:t>opcode</a:t>
            </a:r>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Variable length </a:t>
            </a:r>
            <a:r>
              <a:rPr lang="en-IN" dirty="0" err="1" smtClean="0">
                <a:latin typeface="Times New Roman" pitchFamily="18" charset="0"/>
                <a:cs typeface="Times New Roman" pitchFamily="18" charset="0"/>
              </a:rPr>
              <a:t>opcode</a:t>
            </a:r>
            <a:r>
              <a:rPr lang="en-IN" dirty="0" smtClean="0">
                <a:latin typeface="Times New Roman" pitchFamily="18" charset="0"/>
                <a:cs typeface="Times New Roman" pitchFamily="18" charset="0"/>
              </a:rPr>
              <a:t> needs average number of bits per instruction =</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Choose each </a:t>
            </a:r>
            <a:r>
              <a:rPr lang="en-IN" dirty="0" err="1" smtClean="0">
                <a:latin typeface="Times New Roman" pitchFamily="18" charset="0"/>
                <a:cs typeface="Times New Roman" pitchFamily="18" charset="0"/>
              </a:rPr>
              <a:t>opcode</a:t>
            </a:r>
            <a:r>
              <a:rPr lang="en-IN" dirty="0" smtClean="0">
                <a:latin typeface="Times New Roman" pitchFamily="18" charset="0"/>
                <a:cs typeface="Times New Roman" pitchFamily="18" charset="0"/>
              </a:rPr>
              <a:t> carefully for unique decoding</a:t>
            </a:r>
          </a:p>
          <a:p>
            <a:r>
              <a:rPr lang="en-IN" dirty="0" smtClean="0">
                <a:latin typeface="Times New Roman" pitchFamily="18" charset="0"/>
                <a:cs typeface="Times New Roman" pitchFamily="18" charset="0"/>
              </a:rPr>
              <a:t>% of saving = </a:t>
            </a:r>
            <a:endParaRPr lang="en-IN" dirty="0">
              <a:latin typeface="Times New Roman" pitchFamily="18" charset="0"/>
              <a:cs typeface="Times New Roman" pitchFamily="18" charset="0"/>
            </a:endParaRPr>
          </a:p>
        </p:txBody>
      </p:sp>
      <p:sp>
        <p:nvSpPr>
          <p:cNvPr id="1026"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pic>
        <p:nvPicPr>
          <p:cNvPr id="1025"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7093132" y="4872446"/>
            <a:ext cx="533400" cy="485775"/>
          </a:xfrm>
          <a:prstGeom prst="rect">
            <a:avLst/>
          </a:prstGeom>
          <a:noFill/>
        </p:spPr>
      </p:pic>
      <p:sp>
        <p:nvSpPr>
          <p:cNvPr id="1028" name="Rectangle 4"/>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pic>
        <p:nvPicPr>
          <p:cNvPr id="1027" name="Picture 3"/>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7223760" y="5773783"/>
            <a:ext cx="838200" cy="323850"/>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294640" y="223277"/>
          <a:ext cx="5113381" cy="2204720"/>
        </p:xfrm>
        <a:graphic>
          <a:graphicData uri="http://schemas.openxmlformats.org/drawingml/2006/table">
            <a:tbl>
              <a:tblPr firstRow="1" bandRow="1">
                <a:tableStyleId>{5C22544A-7EE6-4342-B048-85BDC9FD1C3A}</a:tableStyleId>
              </a:tblPr>
              <a:tblGrid>
                <a:gridCol w="619760"/>
                <a:gridCol w="757646"/>
                <a:gridCol w="666205"/>
                <a:gridCol w="640080"/>
                <a:gridCol w="561703"/>
                <a:gridCol w="561703"/>
                <a:gridCol w="431074"/>
                <a:gridCol w="522515"/>
                <a:gridCol w="352695"/>
              </a:tblGrid>
              <a:tr h="370840">
                <a:tc gridSpan="9">
                  <a:txBody>
                    <a:bodyPr/>
                    <a:lstStyle/>
                    <a:p>
                      <a:r>
                        <a:rPr lang="en-IN" dirty="0" smtClean="0">
                          <a:latin typeface="Times New Roman" pitchFamily="18" charset="0"/>
                          <a:cs typeface="Times New Roman" pitchFamily="18" charset="0"/>
                        </a:rPr>
                        <a:t>Huffman’s method of optimal coding scheme</a:t>
                      </a:r>
                      <a:endParaRPr lang="en-IN" dirty="0">
                        <a:latin typeface="Times New Roman" pitchFamily="18" charset="0"/>
                        <a:cs typeface="Times New Roman" pitchFamily="18" charset="0"/>
                      </a:endParaRPr>
                    </a:p>
                  </a:txBody>
                  <a:tcPr/>
                </a:tc>
                <a:tc hMerge="1">
                  <a:txBody>
                    <a:bodyPr/>
                    <a:lstStyle/>
                    <a:p>
                      <a:endParaRPr lang="en-IN" dirty="0"/>
                    </a:p>
                  </a:txBody>
                  <a:tcPr/>
                </a:tc>
                <a:tc hMerge="1">
                  <a:txBody>
                    <a:bodyPr/>
                    <a:lstStyle/>
                    <a:p>
                      <a:endParaRPr lang="en-IN"/>
                    </a:p>
                  </a:txBody>
                  <a:tcPr/>
                </a:tc>
                <a:tc hMerge="1">
                  <a:txBody>
                    <a:bodyPr/>
                    <a:lstStyle/>
                    <a:p>
                      <a:endParaRPr lang="en-IN" dirty="0"/>
                    </a:p>
                  </a:txBody>
                  <a:tcPr/>
                </a:tc>
                <a:tc hMerge="1">
                  <a:txBody>
                    <a:bodyPr/>
                    <a:lstStyle/>
                    <a:p>
                      <a:endParaRPr lang="en-IN"/>
                    </a:p>
                  </a:txBody>
                  <a:tcPr/>
                </a:tc>
                <a:tc hMerge="1">
                  <a:txBody>
                    <a:bodyPr/>
                    <a:lstStyle/>
                    <a:p>
                      <a:endParaRPr lang="en-IN" dirty="0"/>
                    </a:p>
                  </a:txBody>
                  <a:tcPr/>
                </a:tc>
                <a:tc hMerge="1">
                  <a:txBody>
                    <a:bodyPr/>
                    <a:lstStyle/>
                    <a:p>
                      <a:endParaRPr lang="en-IN"/>
                    </a:p>
                  </a:txBody>
                  <a:tcPr/>
                </a:tc>
                <a:tc hMerge="1">
                  <a:txBody>
                    <a:bodyPr/>
                    <a:lstStyle/>
                    <a:p>
                      <a:endParaRPr lang="en-IN" dirty="0"/>
                    </a:p>
                  </a:txBody>
                  <a:tcPr/>
                </a:tc>
                <a:tc hMerge="1">
                  <a:txBody>
                    <a:bodyPr/>
                    <a:lstStyle/>
                    <a:p>
                      <a:endParaRPr lang="en-IN"/>
                    </a:p>
                  </a:txBody>
                  <a:tcPr/>
                </a:tc>
              </a:tr>
              <a:tr h="370840">
                <a:tc>
                  <a:txBody>
                    <a:bodyPr/>
                    <a:lstStyle/>
                    <a:p>
                      <a:endParaRPr lang="en-IN">
                        <a:latin typeface="Times New Roman" pitchFamily="18" charset="0"/>
                        <a:cs typeface="Times New Roman" pitchFamily="18" charset="0"/>
                      </a:endParaRPr>
                    </a:p>
                  </a:txBody>
                  <a:tcPr/>
                </a:tc>
                <a:tc gridSpan="2">
                  <a:txBody>
                    <a:bodyPr/>
                    <a:lstStyle/>
                    <a:p>
                      <a:r>
                        <a:rPr lang="en-IN" dirty="0" smtClean="0">
                          <a:latin typeface="Times New Roman" pitchFamily="18" charset="0"/>
                          <a:cs typeface="Times New Roman" pitchFamily="18" charset="0"/>
                        </a:rPr>
                        <a:t>L1</a:t>
                      </a:r>
                      <a:endParaRPr lang="en-IN" dirty="0">
                        <a:latin typeface="Times New Roman" pitchFamily="18" charset="0"/>
                        <a:cs typeface="Times New Roman" pitchFamily="18" charset="0"/>
                      </a:endParaRPr>
                    </a:p>
                  </a:txBody>
                  <a:tcPr/>
                </a:tc>
                <a:tc hMerge="1">
                  <a:txBody>
                    <a:bodyPr/>
                    <a:lstStyle/>
                    <a:p>
                      <a:endParaRPr lang="en-IN"/>
                    </a:p>
                  </a:txBody>
                  <a:tcPr/>
                </a:tc>
                <a:tc gridSpan="2">
                  <a:txBody>
                    <a:bodyPr/>
                    <a:lstStyle/>
                    <a:p>
                      <a:r>
                        <a:rPr lang="en-IN" dirty="0" smtClean="0">
                          <a:latin typeface="Times New Roman" pitchFamily="18" charset="0"/>
                          <a:cs typeface="Times New Roman" pitchFamily="18" charset="0"/>
                        </a:rPr>
                        <a:t>L2</a:t>
                      </a:r>
                      <a:endParaRPr lang="en-IN" dirty="0">
                        <a:latin typeface="Times New Roman" pitchFamily="18" charset="0"/>
                        <a:cs typeface="Times New Roman" pitchFamily="18" charset="0"/>
                      </a:endParaRPr>
                    </a:p>
                  </a:txBody>
                  <a:tcPr/>
                </a:tc>
                <a:tc hMerge="1">
                  <a:txBody>
                    <a:bodyPr/>
                    <a:lstStyle/>
                    <a:p>
                      <a:endParaRPr lang="en-IN"/>
                    </a:p>
                  </a:txBody>
                  <a:tcPr/>
                </a:tc>
                <a:tc gridSpan="2">
                  <a:txBody>
                    <a:bodyPr/>
                    <a:lstStyle/>
                    <a:p>
                      <a:r>
                        <a:rPr lang="en-IN" dirty="0" smtClean="0">
                          <a:latin typeface="Times New Roman" pitchFamily="18" charset="0"/>
                          <a:cs typeface="Times New Roman" pitchFamily="18" charset="0"/>
                        </a:rPr>
                        <a:t>L3</a:t>
                      </a:r>
                      <a:endParaRPr lang="en-IN" dirty="0">
                        <a:latin typeface="Times New Roman" pitchFamily="18" charset="0"/>
                        <a:cs typeface="Times New Roman" pitchFamily="18" charset="0"/>
                      </a:endParaRPr>
                    </a:p>
                  </a:txBody>
                  <a:tcPr/>
                </a:tc>
                <a:tc hMerge="1">
                  <a:txBody>
                    <a:bodyPr/>
                    <a:lstStyle/>
                    <a:p>
                      <a:endParaRPr lang="en-IN"/>
                    </a:p>
                  </a:txBody>
                  <a:tcPr/>
                </a:tc>
                <a:tc gridSpan="2">
                  <a:txBody>
                    <a:bodyPr/>
                    <a:lstStyle/>
                    <a:p>
                      <a:r>
                        <a:rPr lang="en-IN" dirty="0" smtClean="0">
                          <a:latin typeface="Times New Roman" pitchFamily="18" charset="0"/>
                          <a:cs typeface="Times New Roman" pitchFamily="18" charset="0"/>
                        </a:rPr>
                        <a:t>L4</a:t>
                      </a:r>
                      <a:endParaRPr lang="en-IN" dirty="0">
                        <a:latin typeface="Times New Roman" pitchFamily="18" charset="0"/>
                        <a:cs typeface="Times New Roman" pitchFamily="18" charset="0"/>
                      </a:endParaRPr>
                    </a:p>
                  </a:txBody>
                  <a:tcPr/>
                </a:tc>
                <a:tc hMerge="1">
                  <a:txBody>
                    <a:bodyPr/>
                    <a:lstStyle/>
                    <a:p>
                      <a:endParaRPr lang="en-IN"/>
                    </a:p>
                  </a:txBody>
                  <a:tcPr/>
                </a:tc>
              </a:tr>
              <a:tr h="370840">
                <a:tc>
                  <a:txBody>
                    <a:bodyPr/>
                    <a:lstStyle/>
                    <a:p>
                      <a:r>
                        <a:rPr lang="en-IN" dirty="0" smtClean="0">
                          <a:latin typeface="Times New Roman" pitchFamily="18" charset="0"/>
                          <a:cs typeface="Times New Roman" pitchFamily="18" charset="0"/>
                        </a:rPr>
                        <a:t>pi,1</a:t>
                      </a:r>
                    </a:p>
                    <a:p>
                      <a:r>
                        <a:rPr lang="en-IN" dirty="0" smtClean="0">
                          <a:latin typeface="Times New Roman" pitchFamily="18" charset="0"/>
                          <a:cs typeface="Times New Roman" pitchFamily="18" charset="0"/>
                        </a:rPr>
                        <a:t>pi,2</a:t>
                      </a:r>
                    </a:p>
                    <a:p>
                      <a:r>
                        <a:rPr lang="en-IN" dirty="0" smtClean="0">
                          <a:latin typeface="Times New Roman" pitchFamily="18" charset="0"/>
                          <a:cs typeface="Times New Roman" pitchFamily="18" charset="0"/>
                        </a:rPr>
                        <a:t>pi,3</a:t>
                      </a:r>
                    </a:p>
                    <a:p>
                      <a:r>
                        <a:rPr lang="en-IN" dirty="0" smtClean="0">
                          <a:latin typeface="Times New Roman" pitchFamily="18" charset="0"/>
                          <a:cs typeface="Times New Roman" pitchFamily="18" charset="0"/>
                        </a:rPr>
                        <a:t>pi,4</a:t>
                      </a:r>
                    </a:p>
                    <a:p>
                      <a:r>
                        <a:rPr lang="en-IN" dirty="0" smtClean="0">
                          <a:latin typeface="Times New Roman" pitchFamily="18" charset="0"/>
                          <a:cs typeface="Times New Roman" pitchFamily="18" charset="0"/>
                        </a:rPr>
                        <a:t>pi,5</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0.5</a:t>
                      </a:r>
                    </a:p>
                    <a:p>
                      <a:r>
                        <a:rPr lang="en-IN" dirty="0" smtClean="0">
                          <a:latin typeface="Times New Roman" pitchFamily="18" charset="0"/>
                          <a:cs typeface="Times New Roman" pitchFamily="18" charset="0"/>
                        </a:rPr>
                        <a:t>0.3</a:t>
                      </a:r>
                    </a:p>
                    <a:p>
                      <a:r>
                        <a:rPr lang="en-IN" dirty="0" smtClean="0">
                          <a:latin typeface="Times New Roman" pitchFamily="18" charset="0"/>
                          <a:cs typeface="Times New Roman" pitchFamily="18" charset="0"/>
                        </a:rPr>
                        <a:t>0.08 </a:t>
                      </a:r>
                    </a:p>
                    <a:p>
                      <a:r>
                        <a:rPr lang="en-IN" dirty="0" smtClean="0">
                          <a:latin typeface="Times New Roman" pitchFamily="18" charset="0"/>
                          <a:cs typeface="Times New Roman" pitchFamily="18" charset="0"/>
                        </a:rPr>
                        <a:t>0.06</a:t>
                      </a:r>
                    </a:p>
                    <a:p>
                      <a:r>
                        <a:rPr lang="en-IN" dirty="0" smtClean="0">
                          <a:latin typeface="Times New Roman" pitchFamily="18" charset="0"/>
                          <a:cs typeface="Times New Roman" pitchFamily="18" charset="0"/>
                        </a:rPr>
                        <a:t>0.06</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a:t>
                      </a:r>
                    </a:p>
                    <a:p>
                      <a:r>
                        <a:rPr lang="en-IN" dirty="0" smtClean="0">
                          <a:latin typeface="Times New Roman" pitchFamily="18" charset="0"/>
                          <a:cs typeface="Times New Roman" pitchFamily="18" charset="0"/>
                        </a:rPr>
                        <a:t>01</a:t>
                      </a:r>
                    </a:p>
                    <a:p>
                      <a:r>
                        <a:rPr lang="en-IN" dirty="0" smtClean="0">
                          <a:latin typeface="Times New Roman" pitchFamily="18" charset="0"/>
                          <a:cs typeface="Times New Roman" pitchFamily="18" charset="0"/>
                        </a:rPr>
                        <a:t>000</a:t>
                      </a:r>
                    </a:p>
                    <a:p>
                      <a:r>
                        <a:rPr lang="en-IN" dirty="0" smtClean="0">
                          <a:latin typeface="Times New Roman" pitchFamily="18" charset="0"/>
                          <a:cs typeface="Times New Roman" pitchFamily="18" charset="0"/>
                        </a:rPr>
                        <a:t>0011</a:t>
                      </a:r>
                    </a:p>
                    <a:p>
                      <a:r>
                        <a:rPr lang="en-IN" dirty="0" smtClean="0">
                          <a:latin typeface="Times New Roman" pitchFamily="18" charset="0"/>
                          <a:cs typeface="Times New Roman" pitchFamily="18" charset="0"/>
                        </a:rPr>
                        <a:t>0010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0.5</a:t>
                      </a:r>
                    </a:p>
                    <a:p>
                      <a:r>
                        <a:rPr lang="en-IN" dirty="0" smtClean="0">
                          <a:latin typeface="Times New Roman" pitchFamily="18" charset="0"/>
                          <a:cs typeface="Times New Roman" pitchFamily="18" charset="0"/>
                        </a:rPr>
                        <a:t>0.3</a:t>
                      </a:r>
                    </a:p>
                    <a:p>
                      <a:r>
                        <a:rPr lang="en-IN" dirty="0" smtClean="0">
                          <a:latin typeface="Times New Roman" pitchFamily="18" charset="0"/>
                          <a:cs typeface="Times New Roman" pitchFamily="18" charset="0"/>
                        </a:rPr>
                        <a:t>0.12</a:t>
                      </a:r>
                    </a:p>
                    <a:p>
                      <a:r>
                        <a:rPr lang="en-IN" dirty="0" smtClean="0">
                          <a:latin typeface="Times New Roman" pitchFamily="18" charset="0"/>
                          <a:cs typeface="Times New Roman" pitchFamily="18" charset="0"/>
                        </a:rPr>
                        <a:t>0.08</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a:t>
                      </a:r>
                    </a:p>
                    <a:p>
                      <a:r>
                        <a:rPr lang="en-IN" dirty="0" smtClean="0">
                          <a:latin typeface="Times New Roman" pitchFamily="18" charset="0"/>
                          <a:cs typeface="Times New Roman" pitchFamily="18" charset="0"/>
                        </a:rPr>
                        <a:t>01</a:t>
                      </a:r>
                    </a:p>
                    <a:p>
                      <a:r>
                        <a:rPr lang="en-IN" dirty="0" smtClean="0">
                          <a:latin typeface="Times New Roman" pitchFamily="18" charset="0"/>
                          <a:cs typeface="Times New Roman" pitchFamily="18" charset="0"/>
                        </a:rPr>
                        <a:t>001</a:t>
                      </a:r>
                    </a:p>
                    <a:p>
                      <a:r>
                        <a:rPr lang="en-IN" dirty="0" smtClean="0">
                          <a:latin typeface="Times New Roman" pitchFamily="18" charset="0"/>
                          <a:cs typeface="Times New Roman" pitchFamily="18" charset="0"/>
                        </a:rPr>
                        <a:t>000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0.5</a:t>
                      </a:r>
                    </a:p>
                    <a:p>
                      <a:r>
                        <a:rPr lang="en-IN" dirty="0" smtClean="0">
                          <a:latin typeface="Times New Roman" pitchFamily="18" charset="0"/>
                          <a:cs typeface="Times New Roman" pitchFamily="18" charset="0"/>
                        </a:rPr>
                        <a:t>0.3</a:t>
                      </a:r>
                    </a:p>
                    <a:p>
                      <a:r>
                        <a:rPr lang="en-IN" dirty="0" smtClean="0">
                          <a:latin typeface="Times New Roman" pitchFamily="18" charset="0"/>
                          <a:cs typeface="Times New Roman" pitchFamily="18" charset="0"/>
                        </a:rPr>
                        <a:t>0.2</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a:t>
                      </a:r>
                    </a:p>
                    <a:p>
                      <a:r>
                        <a:rPr lang="en-IN" dirty="0" smtClean="0">
                          <a:latin typeface="Times New Roman" pitchFamily="18" charset="0"/>
                          <a:cs typeface="Times New Roman" pitchFamily="18" charset="0"/>
                        </a:rPr>
                        <a:t>01</a:t>
                      </a:r>
                    </a:p>
                    <a:p>
                      <a:r>
                        <a:rPr lang="en-IN" dirty="0" smtClean="0">
                          <a:latin typeface="Times New Roman" pitchFamily="18" charset="0"/>
                          <a:cs typeface="Times New Roman" pitchFamily="18" charset="0"/>
                        </a:rPr>
                        <a:t>00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0.5</a:t>
                      </a:r>
                    </a:p>
                    <a:p>
                      <a:r>
                        <a:rPr lang="en-IN" dirty="0" smtClean="0">
                          <a:latin typeface="Times New Roman" pitchFamily="18" charset="0"/>
                          <a:cs typeface="Times New Roman" pitchFamily="18" charset="0"/>
                        </a:rPr>
                        <a:t>0.5</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a:t>
                      </a:r>
                    </a:p>
                    <a:p>
                      <a:r>
                        <a:rPr lang="en-IN" dirty="0" smtClean="0">
                          <a:latin typeface="Times New Roman" pitchFamily="18" charset="0"/>
                          <a:cs typeface="Times New Roman" pitchFamily="18" charset="0"/>
                        </a:rPr>
                        <a:t>0</a:t>
                      </a:r>
                      <a:endParaRPr lang="en-IN" dirty="0">
                        <a:latin typeface="Times New Roman" pitchFamily="18" charset="0"/>
                        <a:cs typeface="Times New Roman" pitchFamily="18" charset="0"/>
                      </a:endParaRPr>
                    </a:p>
                  </a:txBody>
                  <a:tcPr/>
                </a:tc>
              </a:tr>
            </a:tbl>
          </a:graphicData>
        </a:graphic>
      </p:graphicFrame>
      <p:sp>
        <p:nvSpPr>
          <p:cNvPr id="6" name="Right Brace 5"/>
          <p:cNvSpPr/>
          <p:nvPr/>
        </p:nvSpPr>
        <p:spPr>
          <a:xfrm>
            <a:off x="1463040" y="1920241"/>
            <a:ext cx="45719" cy="36576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IN" dirty="0" smtClean="0"/>
              <a:t> </a:t>
            </a:r>
            <a:endParaRPr lang="en-IN" dirty="0"/>
          </a:p>
        </p:txBody>
      </p:sp>
      <p:cxnSp>
        <p:nvCxnSpPr>
          <p:cNvPr id="8" name="Straight Arrow Connector 7"/>
          <p:cNvCxnSpPr>
            <a:stCxn id="6" idx="1"/>
          </p:cNvCxnSpPr>
          <p:nvPr/>
        </p:nvCxnSpPr>
        <p:spPr>
          <a:xfrm rot="10800000" flipH="1">
            <a:off x="1508759" y="1698173"/>
            <a:ext cx="881744" cy="404949"/>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9" name="Right Brace 8"/>
          <p:cNvSpPr/>
          <p:nvPr/>
        </p:nvSpPr>
        <p:spPr>
          <a:xfrm>
            <a:off x="2869474" y="1615440"/>
            <a:ext cx="45719" cy="36576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10" name="Straight Arrow Connector 9"/>
          <p:cNvCxnSpPr/>
          <p:nvPr/>
        </p:nvCxnSpPr>
        <p:spPr>
          <a:xfrm flipV="1">
            <a:off x="2902130" y="1672045"/>
            <a:ext cx="755470" cy="16546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2" name="Right Brace 11"/>
          <p:cNvSpPr/>
          <p:nvPr/>
        </p:nvSpPr>
        <p:spPr>
          <a:xfrm>
            <a:off x="3953691" y="1393371"/>
            <a:ext cx="45719" cy="36576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13" name="Straight Arrow Connector 12"/>
          <p:cNvCxnSpPr/>
          <p:nvPr/>
        </p:nvCxnSpPr>
        <p:spPr>
          <a:xfrm flipV="1">
            <a:off x="3995055" y="1436914"/>
            <a:ext cx="642259" cy="14804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564777" y="182880"/>
            <a:ext cx="6466114" cy="1477328"/>
          </a:xfrm>
          <a:prstGeom prst="rect">
            <a:avLst/>
          </a:prstGeom>
          <a:noFill/>
        </p:spPr>
        <p:txBody>
          <a:bodyPr wrap="square" rtlCol="0">
            <a:spAutoFit/>
          </a:bodyPr>
          <a:lstStyle/>
          <a:p>
            <a:r>
              <a:rPr lang="en-IN" dirty="0" smtClean="0">
                <a:latin typeface="Times New Roman" pitchFamily="18" charset="0"/>
                <a:cs typeface="Times New Roman" pitchFamily="18" charset="0"/>
              </a:rPr>
              <a:t>A systematic method of constructing codes to minimize average </a:t>
            </a:r>
            <a:r>
              <a:rPr lang="en-IN" dirty="0" err="1" smtClean="0">
                <a:latin typeface="Times New Roman" pitchFamily="18" charset="0"/>
                <a:cs typeface="Times New Roman" pitchFamily="18" charset="0"/>
              </a:rPr>
              <a:t>opcode</a:t>
            </a:r>
            <a:r>
              <a:rPr lang="en-IN" dirty="0" smtClean="0">
                <a:latin typeface="Times New Roman" pitchFamily="18" charset="0"/>
                <a:cs typeface="Times New Roman" pitchFamily="18" charset="0"/>
              </a:rPr>
              <a:t> length</a:t>
            </a:r>
          </a:p>
          <a:p>
            <a:endParaRPr lang="en-IN" dirty="0" smtClean="0">
              <a:latin typeface="Times New Roman" pitchFamily="18" charset="0"/>
              <a:cs typeface="Times New Roman" pitchFamily="18" charset="0"/>
            </a:endParaRPr>
          </a:p>
          <a:p>
            <a:r>
              <a:rPr lang="en-IN" dirty="0" err="1" smtClean="0">
                <a:latin typeface="Times New Roman" pitchFamily="18" charset="0"/>
                <a:cs typeface="Times New Roman" pitchFamily="18" charset="0"/>
              </a:rPr>
              <a:t>Opcode</a:t>
            </a:r>
            <a:r>
              <a:rPr lang="en-IN" dirty="0" smtClean="0">
                <a:latin typeface="Times New Roman" pitchFamily="18" charset="0"/>
                <a:cs typeface="Times New Roman" pitchFamily="18" charset="0"/>
              </a:rPr>
              <a:t> decoding: Scan any given instruction from left to right</a:t>
            </a:r>
          </a:p>
          <a:p>
            <a:r>
              <a:rPr lang="en-IN" dirty="0" smtClean="0">
                <a:latin typeface="Times New Roman" pitchFamily="18" charset="0"/>
                <a:cs typeface="Times New Roman" pitchFamily="18" charset="0"/>
              </a:rPr>
              <a:t>An instruction beginning with 0100… must be of type I2</a:t>
            </a:r>
            <a:endParaRPr lang="en-IN" dirty="0">
              <a:latin typeface="Times New Roman" pitchFamily="18" charset="0"/>
              <a:cs typeface="Times New Roman" pitchFamily="18" charset="0"/>
            </a:endParaRPr>
          </a:p>
        </p:txBody>
      </p:sp>
      <p:sp>
        <p:nvSpPr>
          <p:cNvPr id="16" name="TextBox 15"/>
          <p:cNvSpPr txBox="1"/>
          <p:nvPr/>
        </p:nvSpPr>
        <p:spPr>
          <a:xfrm>
            <a:off x="195943" y="2730137"/>
            <a:ext cx="11717383" cy="3416320"/>
          </a:xfrm>
          <a:prstGeom prst="rect">
            <a:avLst/>
          </a:prstGeom>
          <a:noFill/>
        </p:spPr>
        <p:txBody>
          <a:bodyPr wrap="square" rtlCol="0">
            <a:spAutoFit/>
          </a:bodyPr>
          <a:lstStyle/>
          <a:p>
            <a:r>
              <a:rPr lang="en-IN" b="1" dirty="0" smtClean="0">
                <a:latin typeface="Times New Roman" pitchFamily="18" charset="0"/>
                <a:cs typeface="Times New Roman" pitchFamily="18" charset="0"/>
              </a:rPr>
              <a:t>Instruction types</a:t>
            </a:r>
            <a:r>
              <a:rPr lang="en-IN" dirty="0" smtClean="0">
                <a:latin typeface="Times New Roman" pitchFamily="18" charset="0"/>
                <a:cs typeface="Times New Roman" pitchFamily="18" charset="0"/>
              </a:rPr>
              <a:t>: What type of instructions should be included in a general purpose processor’s instruction set</a:t>
            </a:r>
          </a:p>
          <a:p>
            <a:r>
              <a:rPr lang="en-IN" dirty="0" smtClean="0">
                <a:latin typeface="Times New Roman" pitchFamily="18" charset="0"/>
                <a:cs typeface="Times New Roman" pitchFamily="18" charset="0"/>
              </a:rPr>
              <a:t>Requirement to be satisfied by an instruction set</a:t>
            </a:r>
          </a:p>
          <a:p>
            <a:r>
              <a:rPr lang="en-IN" dirty="0" smtClean="0">
                <a:latin typeface="Times New Roman" pitchFamily="18" charset="0"/>
                <a:cs typeface="Times New Roman" pitchFamily="18" charset="0"/>
              </a:rPr>
              <a:t>It should be complete in the sense that one should be able to construct a machine language program to evaluate any function that is computable using a reasonable amount of memory space</a:t>
            </a:r>
          </a:p>
          <a:p>
            <a:r>
              <a:rPr lang="en-IN" dirty="0" smtClean="0">
                <a:latin typeface="Times New Roman" pitchFamily="18" charset="0"/>
                <a:cs typeface="Times New Roman" pitchFamily="18" charset="0"/>
              </a:rPr>
              <a:t>Instruction set should be efficient in that frequently required functions can be performed rapidly using relatively few instructions</a:t>
            </a:r>
          </a:p>
          <a:p>
            <a:r>
              <a:rPr lang="en-IN" dirty="0" smtClean="0">
                <a:latin typeface="Times New Roman" pitchFamily="18" charset="0"/>
                <a:cs typeface="Times New Roman" pitchFamily="18" charset="0"/>
              </a:rPr>
              <a:t>It should be regular i.e. it should contain expected </a:t>
            </a:r>
            <a:r>
              <a:rPr lang="en-IN" dirty="0" err="1" smtClean="0">
                <a:latin typeface="Times New Roman" pitchFamily="18" charset="0"/>
                <a:cs typeface="Times New Roman" pitchFamily="18" charset="0"/>
              </a:rPr>
              <a:t>opcodes</a:t>
            </a:r>
            <a:r>
              <a:rPr lang="en-IN" dirty="0" smtClean="0">
                <a:latin typeface="Times New Roman" pitchFamily="18" charset="0"/>
                <a:cs typeface="Times New Roman" pitchFamily="18" charset="0"/>
              </a:rPr>
              <a:t> and addressing modes, e.g. if there is left shift, there should be a right shift</a:t>
            </a:r>
          </a:p>
          <a:p>
            <a:r>
              <a:rPr lang="en-IN" dirty="0" smtClean="0">
                <a:latin typeface="Times New Roman" pitchFamily="18" charset="0"/>
                <a:cs typeface="Times New Roman" pitchFamily="18" charset="0"/>
              </a:rPr>
              <a:t>To reduce both hardware and software design cost, the instructions may be required  to be compatible with those of existing machines, e.g., previous members of the same computer family</a:t>
            </a:r>
          </a:p>
          <a:p>
            <a:r>
              <a:rPr lang="en-IN" dirty="0" smtClean="0">
                <a:latin typeface="Times New Roman" pitchFamily="18" charset="0"/>
                <a:cs typeface="Times New Roman" pitchFamily="18" charset="0"/>
              </a:rPr>
              <a:t>     A "computer family" refers to a group of computers sharing similar architecture, design, and core components, allowing </a:t>
            </a:r>
          </a:p>
          <a:p>
            <a:r>
              <a:rPr lang="en-IN" dirty="0" smtClean="0">
                <a:latin typeface="Times New Roman" pitchFamily="18" charset="0"/>
                <a:cs typeface="Times New Roman" pitchFamily="18" charset="0"/>
              </a:rPr>
              <a:t>     them to run the same software, like the IBM PC family</a:t>
            </a:r>
            <a:endParaRPr lang="en-IN"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2880" y="182880"/>
            <a:ext cx="11678194" cy="5909310"/>
          </a:xfrm>
          <a:prstGeom prst="rect">
            <a:avLst/>
          </a:prstGeom>
          <a:noFill/>
        </p:spPr>
        <p:txBody>
          <a:bodyPr wrap="square" rtlCol="0">
            <a:spAutoFit/>
          </a:bodyPr>
          <a:lstStyle/>
          <a:p>
            <a:r>
              <a:rPr lang="en-IN" dirty="0" smtClean="0">
                <a:latin typeface="Times New Roman" pitchFamily="18" charset="0"/>
                <a:cs typeface="Times New Roman" pitchFamily="18" charset="0"/>
              </a:rPr>
              <a:t>Instructions are conveniently divided into 5 major groups</a:t>
            </a:r>
          </a:p>
          <a:p>
            <a:r>
              <a:rPr lang="en-IN" dirty="0" smtClean="0">
                <a:latin typeface="Times New Roman" pitchFamily="18" charset="0"/>
                <a:cs typeface="Times New Roman" pitchFamily="18" charset="0"/>
              </a:rPr>
              <a:t>1) Arithmetic instruction: Perform operations on numerical data</a:t>
            </a:r>
          </a:p>
          <a:p>
            <a:r>
              <a:rPr lang="en-IN" dirty="0" smtClean="0">
                <a:latin typeface="Times New Roman" pitchFamily="18" charset="0"/>
                <a:cs typeface="Times New Roman" pitchFamily="18" charset="0"/>
              </a:rPr>
              <a:t>Example: Add, Subtract, Multiply, Divide, Absolute (replace operand by its absolute value), Negate (change sign of operand), increment, decrement</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2) Logical instruction: Include Boolean or other </a:t>
            </a:r>
            <a:r>
              <a:rPr lang="en-IN" dirty="0" err="1" smtClean="0">
                <a:latin typeface="Times New Roman" pitchFamily="18" charset="0"/>
                <a:cs typeface="Times New Roman" pitchFamily="18" charset="0"/>
              </a:rPr>
              <a:t>nonnumerical</a:t>
            </a:r>
            <a:r>
              <a:rPr lang="en-IN" dirty="0" smtClean="0">
                <a:latin typeface="Times New Roman" pitchFamily="18" charset="0"/>
                <a:cs typeface="Times New Roman" pitchFamily="18" charset="0"/>
              </a:rPr>
              <a:t> operations</a:t>
            </a:r>
          </a:p>
          <a:p>
            <a:r>
              <a:rPr lang="en-IN" dirty="0" smtClean="0">
                <a:latin typeface="Times New Roman" pitchFamily="18" charset="0"/>
                <a:cs typeface="Times New Roman" pitchFamily="18" charset="0"/>
              </a:rPr>
              <a:t>Example: AND, OR, NOT, EX-OR, Shift, Rotate, Convert (change data format from binary to decimal)</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3) Data transfer instruction: Cause information to be copied from one location to another</a:t>
            </a:r>
          </a:p>
          <a:p>
            <a:r>
              <a:rPr lang="en-IN" dirty="0" smtClean="0">
                <a:latin typeface="Times New Roman" pitchFamily="18" charset="0"/>
                <a:cs typeface="Times New Roman" pitchFamily="18" charset="0"/>
              </a:rPr>
              <a:t>Example: Move, Store, Load, Exchange (swap source and destination content), Clear (transfer word of 0’s to destination), Set (transfer word of 1’s to destination), Push, Pop</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4) Program control instruction: Change the sequence in which programs are executed</a:t>
            </a:r>
          </a:p>
          <a:p>
            <a:r>
              <a:rPr lang="en-IN" dirty="0" smtClean="0">
                <a:latin typeface="Times New Roman" pitchFamily="18" charset="0"/>
                <a:cs typeface="Times New Roman" pitchFamily="18" charset="0"/>
              </a:rPr>
              <a:t>Example: Jump, </a:t>
            </a:r>
            <a:r>
              <a:rPr lang="en-IN" dirty="0" err="1" smtClean="0">
                <a:latin typeface="Times New Roman" pitchFamily="18" charset="0"/>
                <a:cs typeface="Times New Roman" pitchFamily="18" charset="0"/>
              </a:rPr>
              <a:t>Jumpconditional</a:t>
            </a:r>
            <a:r>
              <a:rPr lang="en-IN" dirty="0" smtClean="0">
                <a:latin typeface="Times New Roman" pitchFamily="18" charset="0"/>
                <a:cs typeface="Times New Roman" pitchFamily="18" charset="0"/>
              </a:rPr>
              <a:t>,  Jump to subroutine, Return, Execute (fetch operand from a specified location and execute instruction), Skip (increment PC to skip next instruction), Test (test specified condition based on outcome), Compare</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5) I-O instruction: Cause information to be transferred between the processor or its main memory and external IO devices</a:t>
            </a:r>
          </a:p>
          <a:p>
            <a:r>
              <a:rPr lang="en-IN" dirty="0" smtClean="0">
                <a:latin typeface="Times New Roman" pitchFamily="18" charset="0"/>
                <a:cs typeface="Times New Roman" pitchFamily="18" charset="0"/>
              </a:rPr>
              <a:t>Example: Input, Output, Start IO (transfer instruction to IOP to initiate IO operation), Test IO (transfer status information from IO system to specified destination), Halt IO (transfer instruction to IOP  to terminate IO operation)</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Note: A function returns a value to the calling code, while a subroutine performs a task without returning a specific value. </a:t>
            </a:r>
            <a:endParaRPr lang="en-IN"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9817" y="182880"/>
            <a:ext cx="11861074" cy="5355312"/>
          </a:xfrm>
          <a:prstGeom prst="rect">
            <a:avLst/>
          </a:prstGeom>
          <a:noFill/>
        </p:spPr>
        <p:txBody>
          <a:bodyPr wrap="square" rtlCol="0">
            <a:spAutoFit/>
          </a:bodyPr>
          <a:lstStyle/>
          <a:p>
            <a:r>
              <a:rPr lang="en-IN" b="1" dirty="0" smtClean="0">
                <a:latin typeface="Times New Roman" pitchFamily="18" charset="0"/>
                <a:cs typeface="Times New Roman" pitchFamily="18" charset="0"/>
              </a:rPr>
              <a:t>Reduced instruction set computer (RISC)</a:t>
            </a:r>
          </a:p>
          <a:p>
            <a:r>
              <a:rPr lang="en-IN" dirty="0" smtClean="0">
                <a:latin typeface="Times New Roman" pitchFamily="18" charset="0"/>
                <a:cs typeface="Times New Roman" pitchFamily="18" charset="0"/>
              </a:rPr>
              <a:t>Developed at IBM in the mid 1970s</a:t>
            </a:r>
          </a:p>
          <a:p>
            <a:r>
              <a:rPr lang="en-IN" dirty="0" smtClean="0">
                <a:latin typeface="Times New Roman" pitchFamily="18" charset="0"/>
                <a:cs typeface="Times New Roman" pitchFamily="18" charset="0"/>
              </a:rPr>
              <a:t>Relatively few instruction types and addressing modes</a:t>
            </a:r>
          </a:p>
          <a:p>
            <a:r>
              <a:rPr lang="en-IN" dirty="0" smtClean="0">
                <a:latin typeface="Times New Roman" pitchFamily="18" charset="0"/>
                <a:cs typeface="Times New Roman" pitchFamily="18" charset="0"/>
              </a:rPr>
              <a:t>Fixed and easily decoded instruction format</a:t>
            </a:r>
          </a:p>
          <a:p>
            <a:r>
              <a:rPr lang="en-IN" dirty="0" smtClean="0">
                <a:latin typeface="Times New Roman" pitchFamily="18" charset="0"/>
                <a:cs typeface="Times New Roman" pitchFamily="18" charset="0"/>
              </a:rPr>
              <a:t>Fast single cycle instruction execution</a:t>
            </a:r>
          </a:p>
          <a:p>
            <a:r>
              <a:rPr lang="en-IN" dirty="0" smtClean="0">
                <a:latin typeface="Times New Roman" pitchFamily="18" charset="0"/>
                <a:cs typeface="Times New Roman" pitchFamily="18" charset="0"/>
              </a:rPr>
              <a:t>Hardware rather than micro program control  </a:t>
            </a:r>
          </a:p>
          <a:p>
            <a:r>
              <a:rPr lang="en-IN" dirty="0" smtClean="0">
                <a:latin typeface="Times New Roman" pitchFamily="18" charset="0"/>
                <a:cs typeface="Times New Roman" pitchFamily="18" charset="0"/>
              </a:rPr>
              <a:t>Memory access limited mainly to load and store instructions</a:t>
            </a:r>
          </a:p>
          <a:p>
            <a:r>
              <a:rPr lang="en-IN" dirty="0" smtClean="0">
                <a:latin typeface="Times New Roman" pitchFamily="18" charset="0"/>
                <a:cs typeface="Times New Roman" pitchFamily="18" charset="0"/>
              </a:rPr>
              <a:t>Use of compilers to optimize object code performance</a:t>
            </a:r>
          </a:p>
          <a:p>
            <a:r>
              <a:rPr lang="en-IN" dirty="0" smtClean="0">
                <a:latin typeface="Times New Roman" pitchFamily="18" charset="0"/>
                <a:cs typeface="Times New Roman" pitchFamily="18" charset="0"/>
              </a:rPr>
              <a:t>Most RISC instructions involve only register-to-register operations that are internal to the CPU</a:t>
            </a:r>
          </a:p>
          <a:p>
            <a:r>
              <a:rPr lang="en-IN" dirty="0" smtClean="0">
                <a:latin typeface="Times New Roman" pitchFamily="18" charset="0"/>
                <a:cs typeface="Times New Roman" pitchFamily="18" charset="0"/>
              </a:rPr>
              <a:t>    Reduces execution time to single cycle</a:t>
            </a:r>
          </a:p>
          <a:p>
            <a:r>
              <a:rPr lang="en-IN" dirty="0" smtClean="0">
                <a:latin typeface="Times New Roman" pitchFamily="18" charset="0"/>
                <a:cs typeface="Times New Roman" pitchFamily="18" charset="0"/>
              </a:rPr>
              <a:t>    Allows CPU cycle time and hardware complexity to be minimized</a:t>
            </a:r>
          </a:p>
          <a:p>
            <a:r>
              <a:rPr lang="en-IN" dirty="0" smtClean="0">
                <a:latin typeface="Times New Roman" pitchFamily="18" charset="0"/>
                <a:cs typeface="Times New Roman" pitchFamily="18" charset="0"/>
              </a:rPr>
              <a:t>Complex instructions are implemented by routines due to the unavailability of the complex instructions in the instruction set</a:t>
            </a:r>
          </a:p>
          <a:p>
            <a:endParaRPr lang="en-IN" dirty="0" smtClean="0">
              <a:latin typeface="Times New Roman" pitchFamily="18" charset="0"/>
              <a:cs typeface="Times New Roman" pitchFamily="18" charset="0"/>
            </a:endParaRPr>
          </a:p>
          <a:p>
            <a:r>
              <a:rPr lang="en-IN" b="1" dirty="0" smtClean="0">
                <a:latin typeface="Times New Roman" pitchFamily="18" charset="0"/>
                <a:cs typeface="Times New Roman" pitchFamily="18" charset="0"/>
              </a:rPr>
              <a:t>Complex instruction set computer (CISC)</a:t>
            </a:r>
          </a:p>
          <a:p>
            <a:r>
              <a:rPr lang="en-IN" dirty="0" smtClean="0">
                <a:latin typeface="Times New Roman" pitchFamily="18" charset="0"/>
                <a:cs typeface="Times New Roman" pitchFamily="18" charset="0"/>
              </a:rPr>
              <a:t>A large number of instructions typically from 100 to 250 instructions</a:t>
            </a:r>
          </a:p>
          <a:p>
            <a:r>
              <a:rPr lang="en-IN" dirty="0" smtClean="0">
                <a:latin typeface="Times New Roman" pitchFamily="18" charset="0"/>
                <a:cs typeface="Times New Roman" pitchFamily="18" charset="0"/>
              </a:rPr>
              <a:t>Some instructions that perform specialized task are used infrequently</a:t>
            </a:r>
          </a:p>
          <a:p>
            <a:r>
              <a:rPr lang="en-IN" dirty="0" smtClean="0">
                <a:latin typeface="Times New Roman" pitchFamily="18" charset="0"/>
                <a:cs typeface="Times New Roman" pitchFamily="18" charset="0"/>
              </a:rPr>
              <a:t>A large variety of addressing modes from 5 to 20</a:t>
            </a:r>
          </a:p>
          <a:p>
            <a:r>
              <a:rPr lang="en-IN" dirty="0" smtClean="0">
                <a:latin typeface="Times New Roman" pitchFamily="18" charset="0"/>
                <a:cs typeface="Times New Roman" pitchFamily="18" charset="0"/>
              </a:rPr>
              <a:t>Variable length instruction format</a:t>
            </a:r>
          </a:p>
          <a:p>
            <a:endParaRPr lang="en-IN"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2881" y="195943"/>
            <a:ext cx="7027817" cy="1200329"/>
          </a:xfrm>
          <a:prstGeom prst="rect">
            <a:avLst/>
          </a:prstGeom>
          <a:noFill/>
        </p:spPr>
        <p:txBody>
          <a:bodyPr wrap="square" rtlCol="0">
            <a:spAutoFit/>
          </a:bodyPr>
          <a:lstStyle/>
          <a:p>
            <a:r>
              <a:rPr lang="en-IN" b="1" dirty="0" smtClean="0">
                <a:latin typeface="Times New Roman" pitchFamily="18" charset="0"/>
                <a:cs typeface="Times New Roman" pitchFamily="18" charset="0"/>
              </a:rPr>
              <a:t>Execution of instructions</a:t>
            </a:r>
          </a:p>
          <a:p>
            <a:r>
              <a:rPr lang="en-IN" dirty="0" smtClean="0">
                <a:latin typeface="Times New Roman" pitchFamily="18" charset="0"/>
                <a:cs typeface="Times New Roman" pitchFamily="18" charset="0"/>
              </a:rPr>
              <a:t>Instructions are executed in instruction cycle</a:t>
            </a:r>
          </a:p>
          <a:p>
            <a:r>
              <a:rPr lang="en-IN" dirty="0" smtClean="0">
                <a:latin typeface="Times New Roman" pitchFamily="18" charset="0"/>
                <a:cs typeface="Times New Roman" pitchFamily="18" charset="0"/>
              </a:rPr>
              <a:t>Instruction cycle has two parts, fetch and execute</a:t>
            </a:r>
          </a:p>
          <a:p>
            <a:r>
              <a:rPr lang="en-IN" u="sng" dirty="0" smtClean="0">
                <a:latin typeface="Times New Roman" pitchFamily="18" charset="0"/>
                <a:cs typeface="Times New Roman" pitchFamily="18" charset="0"/>
              </a:rPr>
              <a:t>Fetch cycle</a:t>
            </a:r>
            <a:r>
              <a:rPr lang="en-IN" dirty="0" smtClean="0">
                <a:latin typeface="Times New Roman" pitchFamily="18" charset="0"/>
                <a:cs typeface="Times New Roman" pitchFamily="18" charset="0"/>
              </a:rPr>
              <a:t>: PC contains the address of the next instruction to be executed  </a:t>
            </a:r>
            <a:endParaRPr lang="en-IN" dirty="0">
              <a:latin typeface="Times New Roman" pitchFamily="18" charset="0"/>
              <a:cs typeface="Times New Roman" pitchFamily="18" charset="0"/>
            </a:endParaRPr>
          </a:p>
        </p:txBody>
      </p:sp>
      <p:sp>
        <p:nvSpPr>
          <p:cNvPr id="5" name="Rectangle 4"/>
          <p:cNvSpPr/>
          <p:nvPr/>
        </p:nvSpPr>
        <p:spPr>
          <a:xfrm>
            <a:off x="1593668" y="1476102"/>
            <a:ext cx="901337" cy="13324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6" name="TextBox 5"/>
          <p:cNvSpPr txBox="1"/>
          <p:nvPr/>
        </p:nvSpPr>
        <p:spPr>
          <a:xfrm>
            <a:off x="1789611" y="2364377"/>
            <a:ext cx="613954" cy="313508"/>
          </a:xfrm>
          <a:prstGeom prst="rect">
            <a:avLst/>
          </a:prstGeom>
          <a:noFill/>
        </p:spPr>
        <p:txBody>
          <a:bodyPr wrap="square" rtlCol="0">
            <a:spAutoFit/>
          </a:bodyPr>
          <a:lstStyle/>
          <a:p>
            <a:r>
              <a:rPr lang="en-IN" sz="1400" dirty="0" smtClean="0">
                <a:latin typeface="Times New Roman" pitchFamily="18" charset="0"/>
                <a:cs typeface="Times New Roman" pitchFamily="18" charset="0"/>
              </a:rPr>
              <a:t>MDR </a:t>
            </a:r>
            <a:endParaRPr lang="en-IN" sz="1400" dirty="0">
              <a:latin typeface="Times New Roman" pitchFamily="18" charset="0"/>
              <a:cs typeface="Times New Roman" pitchFamily="18" charset="0"/>
            </a:endParaRPr>
          </a:p>
        </p:txBody>
      </p:sp>
      <p:sp>
        <p:nvSpPr>
          <p:cNvPr id="7" name="TextBox 6"/>
          <p:cNvSpPr txBox="1"/>
          <p:nvPr/>
        </p:nvSpPr>
        <p:spPr>
          <a:xfrm>
            <a:off x="256904" y="2451461"/>
            <a:ext cx="613954" cy="313508"/>
          </a:xfrm>
          <a:prstGeom prst="rect">
            <a:avLst/>
          </a:prstGeom>
          <a:noFill/>
        </p:spPr>
        <p:txBody>
          <a:bodyPr wrap="square" rtlCol="0">
            <a:spAutoFit/>
          </a:bodyPr>
          <a:lstStyle/>
          <a:p>
            <a:r>
              <a:rPr lang="en-IN" sz="1400" dirty="0" smtClean="0">
                <a:latin typeface="Times New Roman" pitchFamily="18" charset="0"/>
                <a:cs typeface="Times New Roman" pitchFamily="18" charset="0"/>
              </a:rPr>
              <a:t>MAR </a:t>
            </a:r>
            <a:endParaRPr lang="en-IN" sz="1400" dirty="0">
              <a:latin typeface="Times New Roman" pitchFamily="18" charset="0"/>
              <a:cs typeface="Times New Roman" pitchFamily="18" charset="0"/>
            </a:endParaRPr>
          </a:p>
        </p:txBody>
      </p:sp>
      <p:sp>
        <p:nvSpPr>
          <p:cNvPr id="8" name="TextBox 7"/>
          <p:cNvSpPr txBox="1"/>
          <p:nvPr/>
        </p:nvSpPr>
        <p:spPr>
          <a:xfrm>
            <a:off x="204652" y="1484810"/>
            <a:ext cx="422365" cy="317863"/>
          </a:xfrm>
          <a:prstGeom prst="rect">
            <a:avLst/>
          </a:prstGeom>
          <a:noFill/>
        </p:spPr>
        <p:txBody>
          <a:bodyPr wrap="square" rtlCol="0">
            <a:spAutoFit/>
          </a:bodyPr>
          <a:lstStyle/>
          <a:p>
            <a:r>
              <a:rPr lang="en-IN" sz="1400" dirty="0" smtClean="0">
                <a:latin typeface="Times New Roman" pitchFamily="18" charset="0"/>
                <a:cs typeface="Times New Roman" pitchFamily="18" charset="0"/>
              </a:rPr>
              <a:t>PC </a:t>
            </a:r>
            <a:endParaRPr lang="en-IN" sz="1400" dirty="0">
              <a:latin typeface="Times New Roman" pitchFamily="18" charset="0"/>
              <a:cs typeface="Times New Roman" pitchFamily="18" charset="0"/>
            </a:endParaRPr>
          </a:p>
        </p:txBody>
      </p:sp>
      <p:sp>
        <p:nvSpPr>
          <p:cNvPr id="9" name="TextBox 8"/>
          <p:cNvSpPr txBox="1"/>
          <p:nvPr/>
        </p:nvSpPr>
        <p:spPr>
          <a:xfrm>
            <a:off x="1075509" y="2447108"/>
            <a:ext cx="422365" cy="317863"/>
          </a:xfrm>
          <a:prstGeom prst="rect">
            <a:avLst/>
          </a:prstGeom>
          <a:noFill/>
        </p:spPr>
        <p:txBody>
          <a:bodyPr wrap="square" rtlCol="0">
            <a:spAutoFit/>
          </a:bodyPr>
          <a:lstStyle/>
          <a:p>
            <a:r>
              <a:rPr lang="en-IN" sz="1400" dirty="0" smtClean="0">
                <a:latin typeface="Times New Roman" pitchFamily="18" charset="0"/>
                <a:cs typeface="Times New Roman" pitchFamily="18" charset="0"/>
              </a:rPr>
              <a:t>IR</a:t>
            </a:r>
            <a:endParaRPr lang="en-IN" sz="1400" dirty="0">
              <a:latin typeface="Times New Roman" pitchFamily="18" charset="0"/>
              <a:cs typeface="Times New Roman" pitchFamily="18" charset="0"/>
            </a:endParaRPr>
          </a:p>
        </p:txBody>
      </p:sp>
      <p:sp>
        <p:nvSpPr>
          <p:cNvPr id="10" name="TextBox 9"/>
          <p:cNvSpPr txBox="1"/>
          <p:nvPr/>
        </p:nvSpPr>
        <p:spPr>
          <a:xfrm>
            <a:off x="304800" y="1859279"/>
            <a:ext cx="1210491"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Control block</a:t>
            </a:r>
            <a:endParaRPr lang="en-IN" sz="1400" dirty="0">
              <a:latin typeface="Times New Roman" pitchFamily="18" charset="0"/>
              <a:cs typeface="Times New Roman" pitchFamily="18" charset="0"/>
            </a:endParaRPr>
          </a:p>
        </p:txBody>
      </p:sp>
      <p:sp>
        <p:nvSpPr>
          <p:cNvPr id="11" name="TextBox 10"/>
          <p:cNvSpPr txBox="1"/>
          <p:nvPr/>
        </p:nvSpPr>
        <p:spPr>
          <a:xfrm>
            <a:off x="984068" y="1493519"/>
            <a:ext cx="613954" cy="313508"/>
          </a:xfrm>
          <a:prstGeom prst="rect">
            <a:avLst/>
          </a:prstGeom>
          <a:noFill/>
        </p:spPr>
        <p:txBody>
          <a:bodyPr wrap="square" rtlCol="0">
            <a:spAutoFit/>
          </a:bodyPr>
          <a:lstStyle/>
          <a:p>
            <a:r>
              <a:rPr lang="en-IN" sz="1400" dirty="0" smtClean="0">
                <a:latin typeface="Times New Roman" pitchFamily="18" charset="0"/>
                <a:cs typeface="Times New Roman" pitchFamily="18" charset="0"/>
              </a:rPr>
              <a:t>MAR</a:t>
            </a:r>
            <a:endParaRPr lang="en-IN" sz="1400" dirty="0">
              <a:latin typeface="Times New Roman" pitchFamily="18" charset="0"/>
              <a:cs typeface="Times New Roman" pitchFamily="18" charset="0"/>
            </a:endParaRPr>
          </a:p>
        </p:txBody>
      </p:sp>
      <p:cxnSp>
        <p:nvCxnSpPr>
          <p:cNvPr id="13" name="Straight Connector 12"/>
          <p:cNvCxnSpPr/>
          <p:nvPr/>
        </p:nvCxnSpPr>
        <p:spPr>
          <a:xfrm>
            <a:off x="1593668" y="2377439"/>
            <a:ext cx="901337" cy="1588"/>
          </a:xfrm>
          <a:prstGeom prst="line">
            <a:avLst/>
          </a:prstGeom>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949234" y="1471747"/>
            <a:ext cx="657497" cy="2786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16" name="Rectangle 15"/>
          <p:cNvSpPr/>
          <p:nvPr/>
        </p:nvSpPr>
        <p:spPr>
          <a:xfrm>
            <a:off x="278675" y="1532706"/>
            <a:ext cx="361406" cy="2046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17" name="Rectangle 16"/>
          <p:cNvSpPr/>
          <p:nvPr/>
        </p:nvSpPr>
        <p:spPr>
          <a:xfrm>
            <a:off x="1058090" y="2429689"/>
            <a:ext cx="404949" cy="3788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7" name="Straight Arrow Connector 26"/>
          <p:cNvCxnSpPr/>
          <p:nvPr/>
        </p:nvCxnSpPr>
        <p:spPr>
          <a:xfrm>
            <a:off x="640079" y="1606731"/>
            <a:ext cx="326571"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rot="10800000">
            <a:off x="1423851" y="2612571"/>
            <a:ext cx="18288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1" name="Rectangle 30"/>
          <p:cNvSpPr/>
          <p:nvPr/>
        </p:nvSpPr>
        <p:spPr>
          <a:xfrm>
            <a:off x="383177" y="1911530"/>
            <a:ext cx="1040674" cy="2307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32" name="Rectangle 31"/>
          <p:cNvSpPr/>
          <p:nvPr/>
        </p:nvSpPr>
        <p:spPr>
          <a:xfrm>
            <a:off x="300447" y="2508067"/>
            <a:ext cx="522514" cy="2090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cxnSp>
        <p:nvCxnSpPr>
          <p:cNvPr id="40" name="Straight Arrow Connector 39"/>
          <p:cNvCxnSpPr>
            <a:stCxn id="17" idx="1"/>
          </p:cNvCxnSpPr>
          <p:nvPr/>
        </p:nvCxnSpPr>
        <p:spPr>
          <a:xfrm rot="10800000" flipV="1">
            <a:off x="796834" y="2619101"/>
            <a:ext cx="261257" cy="653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17" idx="0"/>
          </p:cNvCxnSpPr>
          <p:nvPr/>
        </p:nvCxnSpPr>
        <p:spPr>
          <a:xfrm rot="16200000" flipV="1">
            <a:off x="1107078" y="2276201"/>
            <a:ext cx="300444" cy="653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378822" y="2116182"/>
            <a:ext cx="796835" cy="307777"/>
          </a:xfrm>
          <a:prstGeom prst="rect">
            <a:avLst/>
          </a:prstGeom>
          <a:noFill/>
        </p:spPr>
        <p:txBody>
          <a:bodyPr wrap="square" rtlCol="0">
            <a:spAutoFit/>
          </a:bodyPr>
          <a:lstStyle/>
          <a:p>
            <a:r>
              <a:rPr lang="en-IN" sz="1400" dirty="0" err="1" smtClean="0">
                <a:latin typeface="Times New Roman" pitchFamily="18" charset="0"/>
                <a:cs typeface="Times New Roman" pitchFamily="18" charset="0"/>
              </a:rPr>
              <a:t>Opcode</a:t>
            </a:r>
            <a:r>
              <a:rPr lang="en-IN" sz="1400" dirty="0" smtClean="0">
                <a:latin typeface="Times New Roman" pitchFamily="18" charset="0"/>
                <a:cs typeface="Times New Roman" pitchFamily="18" charset="0"/>
              </a:rPr>
              <a:t> </a:t>
            </a:r>
            <a:endParaRPr lang="en-IN" sz="1400" dirty="0">
              <a:latin typeface="Times New Roman" pitchFamily="18" charset="0"/>
              <a:cs typeface="Times New Roman" pitchFamily="18" charset="0"/>
            </a:endParaRPr>
          </a:p>
        </p:txBody>
      </p:sp>
      <p:sp>
        <p:nvSpPr>
          <p:cNvPr id="45" name="TextBox 44"/>
          <p:cNvSpPr txBox="1"/>
          <p:nvPr/>
        </p:nvSpPr>
        <p:spPr>
          <a:xfrm>
            <a:off x="387530" y="2830284"/>
            <a:ext cx="796835"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Operand </a:t>
            </a:r>
            <a:endParaRPr lang="en-IN" sz="1400" dirty="0">
              <a:latin typeface="Times New Roman" pitchFamily="18" charset="0"/>
              <a:cs typeface="Times New Roman" pitchFamily="18" charset="0"/>
            </a:endParaRPr>
          </a:p>
        </p:txBody>
      </p:sp>
      <p:cxnSp>
        <p:nvCxnSpPr>
          <p:cNvPr id="47" name="Straight Arrow Connector 46"/>
          <p:cNvCxnSpPr/>
          <p:nvPr/>
        </p:nvCxnSpPr>
        <p:spPr>
          <a:xfrm rot="10800000">
            <a:off x="992778" y="2272937"/>
            <a:ext cx="261257" cy="9144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rot="5400000">
            <a:off x="751114" y="2762794"/>
            <a:ext cx="339634" cy="391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1428205" y="2786742"/>
            <a:ext cx="1197429"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Main memory</a:t>
            </a:r>
            <a:endParaRPr lang="en-IN" sz="1400" dirty="0">
              <a:latin typeface="Times New Roman" pitchFamily="18" charset="0"/>
              <a:cs typeface="Times New Roman" pitchFamily="18" charset="0"/>
            </a:endParaRPr>
          </a:p>
        </p:txBody>
      </p:sp>
      <p:sp>
        <p:nvSpPr>
          <p:cNvPr id="51" name="TextBox 50"/>
          <p:cNvSpPr txBox="1"/>
          <p:nvPr/>
        </p:nvSpPr>
        <p:spPr>
          <a:xfrm>
            <a:off x="2555968" y="1432561"/>
            <a:ext cx="4876798" cy="1200329"/>
          </a:xfrm>
          <a:prstGeom prst="rect">
            <a:avLst/>
          </a:prstGeom>
          <a:noFill/>
        </p:spPr>
        <p:txBody>
          <a:bodyPr wrap="square" rtlCol="0">
            <a:spAutoFit/>
          </a:bodyPr>
          <a:lstStyle/>
          <a:p>
            <a:r>
              <a:rPr lang="en-IN" dirty="0" smtClean="0">
                <a:latin typeface="Times New Roman" pitchFamily="18" charset="0"/>
                <a:cs typeface="Times New Roman" pitchFamily="18" charset="0"/>
              </a:rPr>
              <a:t>MAR </a:t>
            </a:r>
            <a:r>
              <a:rPr lang="en-IN" dirty="0" smtClean="0">
                <a:latin typeface="Times New Roman" pitchFamily="18" charset="0"/>
                <a:cs typeface="Times New Roman" pitchFamily="18" charset="0"/>
                <a:sym typeface="Symbol"/>
              </a:rPr>
              <a:t> PC</a:t>
            </a:r>
          </a:p>
          <a:p>
            <a:r>
              <a:rPr lang="en-IN" dirty="0" smtClean="0">
                <a:latin typeface="Times New Roman" pitchFamily="18" charset="0"/>
                <a:cs typeface="Times New Roman" pitchFamily="18" charset="0"/>
                <a:sym typeface="Symbol"/>
              </a:rPr>
              <a:t>MDR  (M(MAR))</a:t>
            </a:r>
          </a:p>
          <a:p>
            <a:r>
              <a:rPr lang="en-IN" dirty="0" smtClean="0">
                <a:latin typeface="Times New Roman" pitchFamily="18" charset="0"/>
                <a:cs typeface="Times New Roman" pitchFamily="18" charset="0"/>
                <a:sym typeface="Symbol"/>
              </a:rPr>
              <a:t>IRMDR</a:t>
            </a:r>
          </a:p>
          <a:p>
            <a:r>
              <a:rPr lang="en-IN" dirty="0" smtClean="0">
                <a:latin typeface="Times New Roman" pitchFamily="18" charset="0"/>
                <a:cs typeface="Times New Roman" pitchFamily="18" charset="0"/>
                <a:sym typeface="Symbol"/>
              </a:rPr>
              <a:t>MARIR(operand), control block  IR(</a:t>
            </a:r>
            <a:r>
              <a:rPr lang="en-IN" dirty="0" err="1" smtClean="0">
                <a:latin typeface="Times New Roman" pitchFamily="18" charset="0"/>
                <a:cs typeface="Times New Roman" pitchFamily="18" charset="0"/>
                <a:sym typeface="Symbol"/>
              </a:rPr>
              <a:t>opcode</a:t>
            </a:r>
            <a:r>
              <a:rPr lang="en-IN" dirty="0" smtClean="0">
                <a:latin typeface="Times New Roman" pitchFamily="18" charset="0"/>
                <a:cs typeface="Times New Roman" pitchFamily="18" charset="0"/>
                <a:sym typeface="Symbol"/>
              </a:rPr>
              <a:t>)</a:t>
            </a:r>
            <a:endParaRPr lang="en-IN" dirty="0">
              <a:latin typeface="Times New Roman" pitchFamily="18" charset="0"/>
              <a:cs typeface="Times New Roman" pitchFamily="18" charset="0"/>
            </a:endParaRPr>
          </a:p>
        </p:txBody>
      </p:sp>
      <p:sp>
        <p:nvSpPr>
          <p:cNvPr id="52" name="TextBox 51"/>
          <p:cNvSpPr txBox="1"/>
          <p:nvPr/>
        </p:nvSpPr>
        <p:spPr>
          <a:xfrm>
            <a:off x="7630161" y="298994"/>
            <a:ext cx="4354285" cy="646331"/>
          </a:xfrm>
          <a:prstGeom prst="rect">
            <a:avLst/>
          </a:prstGeom>
          <a:noFill/>
        </p:spPr>
        <p:txBody>
          <a:bodyPr wrap="square" rtlCol="0">
            <a:spAutoFit/>
          </a:bodyPr>
          <a:lstStyle/>
          <a:p>
            <a:r>
              <a:rPr lang="en-IN" dirty="0" smtClean="0">
                <a:latin typeface="Times New Roman" pitchFamily="18" charset="0"/>
                <a:cs typeface="Times New Roman" pitchFamily="18" charset="0"/>
              </a:rPr>
              <a:t>Control block starts to decode the instruction</a:t>
            </a:r>
          </a:p>
          <a:p>
            <a:r>
              <a:rPr lang="en-IN" dirty="0" smtClean="0">
                <a:latin typeface="Times New Roman" pitchFamily="18" charset="0"/>
                <a:cs typeface="Times New Roman" pitchFamily="18" charset="0"/>
              </a:rPr>
              <a:t>CPU switches from fetch to execute cycle</a:t>
            </a:r>
            <a:endParaRPr lang="en-IN" dirty="0">
              <a:latin typeface="Times New Roman" pitchFamily="18" charset="0"/>
              <a:cs typeface="Times New Roman" pitchFamily="18" charset="0"/>
            </a:endParaRPr>
          </a:p>
        </p:txBody>
      </p:sp>
      <p:cxnSp>
        <p:nvCxnSpPr>
          <p:cNvPr id="54" name="Straight Arrow Connector 53"/>
          <p:cNvCxnSpPr/>
          <p:nvPr/>
        </p:nvCxnSpPr>
        <p:spPr>
          <a:xfrm flipV="1">
            <a:off x="5434149" y="836023"/>
            <a:ext cx="2416628" cy="152835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156755" y="3169920"/>
            <a:ext cx="11861074" cy="1200329"/>
          </a:xfrm>
          <a:prstGeom prst="rect">
            <a:avLst/>
          </a:prstGeom>
          <a:noFill/>
        </p:spPr>
        <p:txBody>
          <a:bodyPr wrap="square" rtlCol="0">
            <a:spAutoFit/>
          </a:bodyPr>
          <a:lstStyle/>
          <a:p>
            <a:r>
              <a:rPr lang="en-IN" u="sng" dirty="0" smtClean="0">
                <a:latin typeface="Times New Roman" pitchFamily="18" charset="0"/>
                <a:cs typeface="Times New Roman" pitchFamily="18" charset="0"/>
              </a:rPr>
              <a:t>Execution cycle</a:t>
            </a:r>
          </a:p>
          <a:p>
            <a:r>
              <a:rPr lang="en-IN" dirty="0" smtClean="0">
                <a:latin typeface="Times New Roman" pitchFamily="18" charset="0"/>
                <a:cs typeface="Times New Roman" pitchFamily="18" charset="0"/>
              </a:rPr>
              <a:t>Execution of an instruction involves execution of a set of micro operations</a:t>
            </a:r>
          </a:p>
          <a:p>
            <a:r>
              <a:rPr lang="en-IN" dirty="0" smtClean="0">
                <a:latin typeface="Times New Roman" pitchFamily="18" charset="0"/>
                <a:cs typeface="Times New Roman" pitchFamily="18" charset="0"/>
              </a:rPr>
              <a:t>Set of micro operations and their sequencing depends on the </a:t>
            </a:r>
            <a:r>
              <a:rPr lang="en-IN" dirty="0" err="1" smtClean="0">
                <a:latin typeface="Times New Roman" pitchFamily="18" charset="0"/>
                <a:cs typeface="Times New Roman" pitchFamily="18" charset="0"/>
              </a:rPr>
              <a:t>opcode</a:t>
            </a:r>
            <a:r>
              <a:rPr lang="en-IN" dirty="0" smtClean="0">
                <a:latin typeface="Times New Roman" pitchFamily="18" charset="0"/>
                <a:cs typeface="Times New Roman" pitchFamily="18" charset="0"/>
              </a:rPr>
              <a:t> and operand data type</a:t>
            </a:r>
          </a:p>
          <a:p>
            <a:r>
              <a:rPr lang="en-IN" dirty="0" smtClean="0">
                <a:latin typeface="Times New Roman" pitchFamily="18" charset="0"/>
                <a:cs typeface="Times New Roman" pitchFamily="18" charset="0"/>
              </a:rPr>
              <a:t>Control block generates the sequence of control  signals necessary to execute each of the micro operations during decoding</a:t>
            </a:r>
          </a:p>
        </p:txBody>
      </p:sp>
      <p:graphicFrame>
        <p:nvGraphicFramePr>
          <p:cNvPr id="56" name="Table 55"/>
          <p:cNvGraphicFramePr>
            <a:graphicFrameLocks noGrp="1"/>
          </p:cNvGraphicFramePr>
          <p:nvPr/>
        </p:nvGraphicFramePr>
        <p:xfrm>
          <a:off x="412204" y="4638522"/>
          <a:ext cx="9228183" cy="1656080"/>
        </p:xfrm>
        <a:graphic>
          <a:graphicData uri="http://schemas.openxmlformats.org/drawingml/2006/table">
            <a:tbl>
              <a:tblPr firstRow="1" bandRow="1">
                <a:tableStyleId>{5C22544A-7EE6-4342-B048-85BDC9FD1C3A}</a:tableStyleId>
              </a:tblPr>
              <a:tblGrid>
                <a:gridCol w="1364344"/>
                <a:gridCol w="1724297"/>
                <a:gridCol w="6139542"/>
              </a:tblGrid>
              <a:tr h="370840">
                <a:tc gridSpan="3">
                  <a:txBody>
                    <a:bodyPr/>
                    <a:lstStyle/>
                    <a:p>
                      <a:r>
                        <a:rPr lang="en-IN" dirty="0" smtClean="0">
                          <a:latin typeface="Times New Roman" pitchFamily="18" charset="0"/>
                          <a:cs typeface="Times New Roman" pitchFamily="18" charset="0"/>
                        </a:rPr>
                        <a:t>Example</a:t>
                      </a:r>
                      <a:endParaRPr lang="en-IN" dirty="0">
                        <a:latin typeface="Times New Roman" pitchFamily="18" charset="0"/>
                        <a:cs typeface="Times New Roman" pitchFamily="18" charset="0"/>
                      </a:endParaRPr>
                    </a:p>
                  </a:txBody>
                  <a:tcPr/>
                </a:tc>
                <a:tc hMerge="1">
                  <a:txBody>
                    <a:bodyPr/>
                    <a:lstStyle/>
                    <a:p>
                      <a:endParaRPr lang="en-IN" dirty="0"/>
                    </a:p>
                  </a:txBody>
                  <a:tcPr/>
                </a:tc>
                <a:tc hMerge="1">
                  <a:txBody>
                    <a:bodyPr/>
                    <a:lstStyle/>
                    <a:p>
                      <a:endParaRPr lang="en-IN"/>
                    </a:p>
                  </a:txBody>
                  <a:tcPr/>
                </a:tc>
              </a:tr>
              <a:tr h="370840">
                <a:tc>
                  <a:txBody>
                    <a:bodyPr/>
                    <a:lstStyle/>
                    <a:p>
                      <a:r>
                        <a:rPr lang="en-IN" dirty="0" smtClean="0">
                          <a:latin typeface="Times New Roman" pitchFamily="18" charset="0"/>
                          <a:cs typeface="Times New Roman" pitchFamily="18" charset="0"/>
                        </a:rPr>
                        <a:t>Instruction</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Operation</a:t>
                      </a:r>
                      <a:endParaRPr lang="en-IN"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rPr>
                        <a:t>Micro operations</a:t>
                      </a:r>
                    </a:p>
                  </a:txBody>
                  <a:tcPr/>
                </a:tc>
              </a:tr>
              <a:tr h="370840">
                <a:tc>
                  <a:txBody>
                    <a:bodyPr/>
                    <a:lstStyle/>
                    <a:p>
                      <a:r>
                        <a:rPr lang="en-IN" dirty="0" smtClean="0">
                          <a:latin typeface="Times New Roman" pitchFamily="18" charset="0"/>
                          <a:cs typeface="Times New Roman" pitchFamily="18" charset="0"/>
                        </a:rPr>
                        <a:t>MOVE R1</a:t>
                      </a:r>
                    </a:p>
                    <a:p>
                      <a:r>
                        <a:rPr lang="en-IN" dirty="0" smtClean="0">
                          <a:latin typeface="Times New Roman" pitchFamily="18" charset="0"/>
                          <a:cs typeface="Times New Roman" pitchFamily="18" charset="0"/>
                        </a:rPr>
                        <a:t>LOAD X</a:t>
                      </a:r>
                    </a:p>
                    <a:p>
                      <a:r>
                        <a:rPr lang="en-IN" dirty="0" smtClean="0">
                          <a:latin typeface="Times New Roman" pitchFamily="18" charset="0"/>
                          <a:cs typeface="Times New Roman" pitchFamily="18" charset="0"/>
                        </a:rPr>
                        <a:t>ADD X</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AC</a:t>
                      </a:r>
                      <a:r>
                        <a:rPr lang="en-IN" dirty="0" smtClean="0">
                          <a:latin typeface="Times New Roman" pitchFamily="18" charset="0"/>
                          <a:cs typeface="Times New Roman" pitchFamily="18" charset="0"/>
                          <a:sym typeface="Symbol"/>
                        </a:rPr>
                        <a:t>R1</a:t>
                      </a:r>
                    </a:p>
                    <a:p>
                      <a:r>
                        <a:rPr lang="en-IN" dirty="0" smtClean="0">
                          <a:latin typeface="Times New Roman" pitchFamily="18" charset="0"/>
                          <a:cs typeface="Times New Roman" pitchFamily="18" charset="0"/>
                          <a:sym typeface="Symbol"/>
                        </a:rPr>
                        <a:t>ACM(X)</a:t>
                      </a:r>
                    </a:p>
                    <a:p>
                      <a:r>
                        <a:rPr lang="en-IN" dirty="0" smtClean="0">
                          <a:latin typeface="Times New Roman" pitchFamily="18" charset="0"/>
                          <a:cs typeface="Times New Roman" pitchFamily="18" charset="0"/>
                          <a:sym typeface="Symbol"/>
                        </a:rPr>
                        <a:t>ACAC+M(X)</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DR</a:t>
                      </a:r>
                      <a:r>
                        <a:rPr lang="en-IN" dirty="0" smtClean="0">
                          <a:latin typeface="Times New Roman" pitchFamily="18" charset="0"/>
                          <a:cs typeface="Times New Roman" pitchFamily="18" charset="0"/>
                          <a:sym typeface="Symbol"/>
                        </a:rPr>
                        <a:t>R1, ACDR</a:t>
                      </a:r>
                    </a:p>
                    <a:p>
                      <a:r>
                        <a:rPr lang="en-IN" dirty="0" smtClean="0">
                          <a:latin typeface="Times New Roman" pitchFamily="18" charset="0"/>
                          <a:cs typeface="Times New Roman" pitchFamily="18" charset="0"/>
                          <a:sym typeface="Symbol"/>
                        </a:rPr>
                        <a:t>ARDR (operand part), Read M, DRMDR, AC  DR</a:t>
                      </a:r>
                    </a:p>
                    <a:p>
                      <a:r>
                        <a:rPr lang="en-IN" dirty="0" smtClean="0">
                          <a:latin typeface="Times New Roman" pitchFamily="18" charset="0"/>
                          <a:cs typeface="Times New Roman" pitchFamily="18" charset="0"/>
                          <a:sym typeface="Symbol"/>
                        </a:rPr>
                        <a:t>ARDR(operand),</a:t>
                      </a:r>
                      <a:r>
                        <a:rPr lang="en-IN" baseline="0" dirty="0" smtClean="0">
                          <a:latin typeface="Times New Roman" pitchFamily="18" charset="0"/>
                          <a:cs typeface="Times New Roman" pitchFamily="18" charset="0"/>
                          <a:sym typeface="Symbol"/>
                        </a:rPr>
                        <a:t> Read M, DR</a:t>
                      </a:r>
                      <a:r>
                        <a:rPr lang="en-IN" dirty="0" smtClean="0">
                          <a:latin typeface="Times New Roman" pitchFamily="18" charset="0"/>
                          <a:cs typeface="Times New Roman" pitchFamily="18" charset="0"/>
                          <a:sym typeface="Symbol"/>
                        </a:rPr>
                        <a:t>MDR, ACAC+DR</a:t>
                      </a:r>
                      <a:endParaRPr lang="en-IN" dirty="0">
                        <a:latin typeface="Times New Roman" pitchFamily="18" charset="0"/>
                        <a:cs typeface="Times New Roman" pitchFamily="18" charset="0"/>
                      </a:endParaRPr>
                    </a:p>
                  </a:txBody>
                  <a:tcPr/>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2881" y="182880"/>
            <a:ext cx="4113348" cy="369332"/>
          </a:xfrm>
          <a:prstGeom prst="rect">
            <a:avLst/>
          </a:prstGeom>
          <a:noFill/>
        </p:spPr>
        <p:txBody>
          <a:bodyPr wrap="square" rtlCol="0">
            <a:spAutoFit/>
          </a:bodyPr>
          <a:lstStyle/>
          <a:p>
            <a:r>
              <a:rPr lang="en-IN" b="1" dirty="0" smtClean="0">
                <a:latin typeface="Times New Roman" pitchFamily="18" charset="0"/>
                <a:cs typeface="Times New Roman" pitchFamily="18" charset="0"/>
              </a:rPr>
              <a:t>Arithmetic instruction implementation  </a:t>
            </a:r>
            <a:endParaRPr lang="en-IN" b="1" dirty="0">
              <a:latin typeface="Times New Roman" pitchFamily="18" charset="0"/>
              <a:cs typeface="Times New Roman" pitchFamily="18" charset="0"/>
            </a:endParaRPr>
          </a:p>
        </p:txBody>
      </p:sp>
      <p:graphicFrame>
        <p:nvGraphicFramePr>
          <p:cNvPr id="8" name="Table 7"/>
          <p:cNvGraphicFramePr>
            <a:graphicFrameLocks noGrp="1"/>
          </p:cNvGraphicFramePr>
          <p:nvPr/>
        </p:nvGraphicFramePr>
        <p:xfrm>
          <a:off x="164012" y="706603"/>
          <a:ext cx="6498044" cy="4069080"/>
        </p:xfrm>
        <a:graphic>
          <a:graphicData uri="http://schemas.openxmlformats.org/drawingml/2006/table">
            <a:tbl>
              <a:tblPr firstRow="1" bandRow="1">
                <a:tableStyleId>{5C22544A-7EE6-4342-B048-85BDC9FD1C3A}</a:tableStyleId>
              </a:tblPr>
              <a:tblGrid>
                <a:gridCol w="1214675"/>
                <a:gridCol w="1364513"/>
                <a:gridCol w="1240972"/>
                <a:gridCol w="1230578"/>
                <a:gridCol w="1447306"/>
              </a:tblGrid>
              <a:tr h="370840">
                <a:tc gridSpan="5">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rPr>
                        <a:t>Addition and subtraction</a:t>
                      </a:r>
                      <a:r>
                        <a:rPr lang="en-IN" baseline="0" dirty="0" smtClean="0">
                          <a:latin typeface="Times New Roman" pitchFamily="18" charset="0"/>
                          <a:cs typeface="Times New Roman" pitchFamily="18" charset="0"/>
                        </a:rPr>
                        <a:t> with signed-magnitude data</a:t>
                      </a:r>
                      <a:endParaRPr lang="en-IN" dirty="0" smtClean="0">
                        <a:latin typeface="Times New Roman" pitchFamily="18" charset="0"/>
                        <a:cs typeface="Times New Roman" pitchFamily="18" charset="0"/>
                      </a:endParaRPr>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r>
              <a:tr h="320040">
                <a:tc rowSpan="2">
                  <a:txBody>
                    <a:bodyPr/>
                    <a:lstStyle/>
                    <a:p>
                      <a:r>
                        <a:rPr lang="en-IN" dirty="0" smtClean="0">
                          <a:latin typeface="Times New Roman" pitchFamily="18" charset="0"/>
                          <a:cs typeface="Times New Roman" pitchFamily="18" charset="0"/>
                        </a:rPr>
                        <a:t>Operations</a:t>
                      </a:r>
                      <a:endParaRPr lang="en-IN" dirty="0">
                        <a:latin typeface="Times New Roman" pitchFamily="18" charset="0"/>
                        <a:cs typeface="Times New Roman" pitchFamily="18" charset="0"/>
                      </a:endParaRPr>
                    </a:p>
                  </a:txBody>
                  <a:tcPr/>
                </a:tc>
                <a:tc rowSpan="2">
                  <a:txBody>
                    <a:bodyPr/>
                    <a:lstStyle/>
                    <a:p>
                      <a:r>
                        <a:rPr lang="en-IN" dirty="0" smtClean="0">
                          <a:latin typeface="Times New Roman" pitchFamily="18" charset="0"/>
                          <a:cs typeface="Times New Roman" pitchFamily="18" charset="0"/>
                        </a:rPr>
                        <a:t>Add magnitudes</a:t>
                      </a:r>
                      <a:endParaRPr lang="en-IN" dirty="0">
                        <a:latin typeface="Times New Roman" pitchFamily="18" charset="0"/>
                        <a:cs typeface="Times New Roman" pitchFamily="18" charset="0"/>
                      </a:endParaRPr>
                    </a:p>
                  </a:txBody>
                  <a:tcPr/>
                </a:tc>
                <a:tc gridSpan="3">
                  <a:txBody>
                    <a:bodyPr/>
                    <a:lstStyle/>
                    <a:p>
                      <a:r>
                        <a:rPr lang="en-IN" dirty="0" smtClean="0">
                          <a:latin typeface="Times New Roman" pitchFamily="18" charset="0"/>
                          <a:cs typeface="Times New Roman" pitchFamily="18" charset="0"/>
                        </a:rPr>
                        <a:t>Subtract magnitude</a:t>
                      </a:r>
                      <a:endParaRPr lang="en-IN" dirty="0">
                        <a:latin typeface="Times New Roman" pitchFamily="18" charset="0"/>
                        <a:cs typeface="Times New Roman" pitchFamily="18" charset="0"/>
                      </a:endParaRPr>
                    </a:p>
                  </a:txBody>
                  <a:tcPr/>
                </a:tc>
                <a:tc hMerge="1">
                  <a:txBody>
                    <a:bodyPr/>
                    <a:lstStyle/>
                    <a:p>
                      <a:endParaRPr lang="en-IN" dirty="0"/>
                    </a:p>
                  </a:txBody>
                  <a:tcPr/>
                </a:tc>
                <a:tc hMerge="1">
                  <a:txBody>
                    <a:bodyPr/>
                    <a:lstStyle/>
                    <a:p>
                      <a:endParaRPr lang="en-IN" dirty="0"/>
                    </a:p>
                  </a:txBody>
                  <a:tcPr/>
                </a:tc>
              </a:tr>
              <a:tr h="320040">
                <a:tc vMerge="1">
                  <a:txBody>
                    <a:bodyPr/>
                    <a:lstStyle/>
                    <a:p>
                      <a:endParaRPr lang="en-IN"/>
                    </a:p>
                  </a:txBody>
                  <a:tcPr/>
                </a:tc>
                <a:tc vMerge="1">
                  <a:txBody>
                    <a:bodyPr/>
                    <a:lstStyle/>
                    <a:p>
                      <a:endParaRPr lang="en-IN"/>
                    </a:p>
                  </a:txBody>
                  <a:tcPr/>
                </a:tc>
                <a:tc>
                  <a:txBody>
                    <a:bodyPr/>
                    <a:lstStyle/>
                    <a:p>
                      <a:r>
                        <a:rPr lang="en-IN" dirty="0" smtClean="0">
                          <a:latin typeface="Times New Roman" pitchFamily="18" charset="0"/>
                          <a:cs typeface="Times New Roman" pitchFamily="18" charset="0"/>
                        </a:rPr>
                        <a:t>When A&gt;B</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When A&lt;B</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When A=B</a:t>
                      </a:r>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(+A)+(+B)</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+(A+B)</a:t>
                      </a:r>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(+A)+(-B)</a:t>
                      </a:r>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+(A-B)</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-(B-A)</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+(A-B)</a:t>
                      </a:r>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(-A)+(+B)</a:t>
                      </a:r>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-(A-B)</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+(B-A)</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+(A-B)</a:t>
                      </a:r>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(-A)+(-B)</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-(A+B)</a:t>
                      </a:r>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(+A)-(+B)</a:t>
                      </a:r>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+(A-B)</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-(B-A)</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+(A-B)</a:t>
                      </a:r>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(+A)-(-B)</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+(A+B)</a:t>
                      </a:r>
                      <a:endParaRPr lang="en-IN" dirty="0">
                        <a:latin typeface="Times New Roman" pitchFamily="18" charset="0"/>
                        <a:cs typeface="Times New Roman" pitchFamily="18" charset="0"/>
                      </a:endParaRPr>
                    </a:p>
                  </a:txBody>
                  <a:tcPr/>
                </a:tc>
                <a:tc>
                  <a:txBody>
                    <a:bodyPr/>
                    <a:lstStyle/>
                    <a:p>
                      <a:endParaRPr lang="en-IN" dirty="0">
                        <a:latin typeface="Times New Roman" pitchFamily="18" charset="0"/>
                        <a:cs typeface="Times New Roman" pitchFamily="18" charset="0"/>
                      </a:endParaRPr>
                    </a:p>
                  </a:txBody>
                  <a:tcPr/>
                </a:tc>
                <a:tc>
                  <a:txBody>
                    <a:bodyPr/>
                    <a:lstStyle/>
                    <a:p>
                      <a:endParaRPr lang="en-IN" dirty="0">
                        <a:latin typeface="Times New Roman" pitchFamily="18" charset="0"/>
                        <a:cs typeface="Times New Roman" pitchFamily="18" charset="0"/>
                      </a:endParaRPr>
                    </a:p>
                  </a:txBody>
                  <a:tcPr/>
                </a:tc>
                <a:tc>
                  <a:txBody>
                    <a:bodyPr/>
                    <a:lstStyle/>
                    <a:p>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(-A)-(+B)</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-(A+B)</a:t>
                      </a:r>
                      <a:endParaRPr lang="en-IN" dirty="0">
                        <a:latin typeface="Times New Roman" pitchFamily="18" charset="0"/>
                        <a:cs typeface="Times New Roman" pitchFamily="18" charset="0"/>
                      </a:endParaRPr>
                    </a:p>
                  </a:txBody>
                  <a:tcPr/>
                </a:tc>
                <a:tc>
                  <a:txBody>
                    <a:bodyPr/>
                    <a:lstStyle/>
                    <a:p>
                      <a:endParaRPr lang="en-IN" dirty="0">
                        <a:latin typeface="Times New Roman" pitchFamily="18" charset="0"/>
                        <a:cs typeface="Times New Roman" pitchFamily="18" charset="0"/>
                      </a:endParaRPr>
                    </a:p>
                  </a:txBody>
                  <a:tcPr/>
                </a:tc>
                <a:tc>
                  <a:txBody>
                    <a:bodyPr/>
                    <a:lstStyle/>
                    <a:p>
                      <a:endParaRPr lang="en-IN" dirty="0">
                        <a:latin typeface="Times New Roman" pitchFamily="18" charset="0"/>
                        <a:cs typeface="Times New Roman" pitchFamily="18" charset="0"/>
                      </a:endParaRPr>
                    </a:p>
                  </a:txBody>
                  <a:tcPr/>
                </a:tc>
                <a:tc>
                  <a:txBody>
                    <a:bodyPr/>
                    <a:lstStyle/>
                    <a:p>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(-A)-(-B)</a:t>
                      </a:r>
                      <a:endParaRPr lang="en-IN" dirty="0">
                        <a:latin typeface="Times New Roman" pitchFamily="18" charset="0"/>
                        <a:cs typeface="Times New Roman" pitchFamily="18" charset="0"/>
                      </a:endParaRPr>
                    </a:p>
                  </a:txBody>
                  <a:tcPr/>
                </a:tc>
                <a:tc>
                  <a:txBody>
                    <a:bodyPr/>
                    <a:lstStyle/>
                    <a:p>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-(A-B)</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+(B-A)</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+(A-B)</a:t>
                      </a:r>
                      <a:endParaRPr lang="en-IN" dirty="0">
                        <a:latin typeface="Times New Roman" pitchFamily="18" charset="0"/>
                        <a:cs typeface="Times New Roman" pitchFamily="18" charset="0"/>
                      </a:endParaRPr>
                    </a:p>
                  </a:txBody>
                  <a:tcPr/>
                </a:tc>
              </a:tr>
            </a:tbl>
          </a:graphicData>
        </a:graphic>
      </p:graphicFrame>
      <p:sp>
        <p:nvSpPr>
          <p:cNvPr id="9" name="TextBox 8"/>
          <p:cNvSpPr txBox="1"/>
          <p:nvPr/>
        </p:nvSpPr>
        <p:spPr>
          <a:xfrm>
            <a:off x="1423852" y="4767944"/>
            <a:ext cx="1188720" cy="954107"/>
          </a:xfrm>
          <a:prstGeom prst="rect">
            <a:avLst/>
          </a:prstGeom>
          <a:noFill/>
        </p:spPr>
        <p:txBody>
          <a:bodyPr wrap="square" rtlCol="0">
            <a:spAutoFit/>
          </a:bodyPr>
          <a:lstStyle/>
          <a:p>
            <a:r>
              <a:rPr lang="en-IN" sz="1400" dirty="0" smtClean="0">
                <a:latin typeface="Times New Roman" pitchFamily="18" charset="0"/>
                <a:cs typeface="Times New Roman" pitchFamily="18" charset="0"/>
              </a:rPr>
              <a:t>Add the two integer </a:t>
            </a:r>
          </a:p>
          <a:p>
            <a:r>
              <a:rPr lang="en-IN" sz="1400" dirty="0" smtClean="0">
                <a:latin typeface="Times New Roman" pitchFamily="18" charset="0"/>
                <a:cs typeface="Times New Roman" pitchFamily="18" charset="0"/>
              </a:rPr>
              <a:t>and attach the sign of A</a:t>
            </a:r>
            <a:endParaRPr lang="en-IN" sz="1400" dirty="0">
              <a:latin typeface="Times New Roman" pitchFamily="18" charset="0"/>
              <a:cs typeface="Times New Roman" pitchFamily="18" charset="0"/>
            </a:endParaRPr>
          </a:p>
        </p:txBody>
      </p:sp>
      <p:sp>
        <p:nvSpPr>
          <p:cNvPr id="10" name="TextBox 9"/>
          <p:cNvSpPr txBox="1"/>
          <p:nvPr/>
        </p:nvSpPr>
        <p:spPr>
          <a:xfrm>
            <a:off x="2830287" y="4763590"/>
            <a:ext cx="1188720" cy="954107"/>
          </a:xfrm>
          <a:prstGeom prst="rect">
            <a:avLst/>
          </a:prstGeom>
          <a:noFill/>
        </p:spPr>
        <p:txBody>
          <a:bodyPr wrap="square" rtlCol="0">
            <a:spAutoFit/>
          </a:bodyPr>
          <a:lstStyle/>
          <a:p>
            <a:r>
              <a:rPr lang="en-IN" sz="1400" dirty="0" smtClean="0">
                <a:latin typeface="Times New Roman" pitchFamily="18" charset="0"/>
                <a:cs typeface="Times New Roman" pitchFamily="18" charset="0"/>
              </a:rPr>
              <a:t>Subtract B from A</a:t>
            </a:r>
          </a:p>
          <a:p>
            <a:r>
              <a:rPr lang="en-IN" sz="1400" dirty="0" smtClean="0">
                <a:latin typeface="Times New Roman" pitchFamily="18" charset="0"/>
                <a:cs typeface="Times New Roman" pitchFamily="18" charset="0"/>
              </a:rPr>
              <a:t>and attach the sign of A </a:t>
            </a:r>
            <a:endParaRPr lang="en-IN" sz="1400" dirty="0">
              <a:latin typeface="Times New Roman" pitchFamily="18" charset="0"/>
              <a:cs typeface="Times New Roman" pitchFamily="18" charset="0"/>
            </a:endParaRPr>
          </a:p>
        </p:txBody>
      </p:sp>
      <p:sp>
        <p:nvSpPr>
          <p:cNvPr id="11" name="TextBox 10"/>
          <p:cNvSpPr txBox="1"/>
          <p:nvPr/>
        </p:nvSpPr>
        <p:spPr>
          <a:xfrm>
            <a:off x="4014652" y="4746173"/>
            <a:ext cx="1188720" cy="954107"/>
          </a:xfrm>
          <a:prstGeom prst="rect">
            <a:avLst/>
          </a:prstGeom>
          <a:noFill/>
        </p:spPr>
        <p:txBody>
          <a:bodyPr wrap="square" rtlCol="0">
            <a:spAutoFit/>
          </a:bodyPr>
          <a:lstStyle/>
          <a:p>
            <a:r>
              <a:rPr lang="en-IN" sz="1400" dirty="0" smtClean="0">
                <a:latin typeface="Times New Roman" pitchFamily="18" charset="0"/>
                <a:cs typeface="Times New Roman" pitchFamily="18" charset="0"/>
              </a:rPr>
              <a:t>Subtract A from B</a:t>
            </a:r>
          </a:p>
          <a:p>
            <a:r>
              <a:rPr lang="en-IN" sz="1400" dirty="0" smtClean="0">
                <a:latin typeface="Times New Roman" pitchFamily="18" charset="0"/>
                <a:cs typeface="Times New Roman" pitchFamily="18" charset="0"/>
              </a:rPr>
              <a:t>and attach the sign of B</a:t>
            </a:r>
            <a:endParaRPr lang="en-IN" sz="1400" dirty="0">
              <a:latin typeface="Times New Roman" pitchFamily="18" charset="0"/>
              <a:cs typeface="Times New Roman" pitchFamily="18" charset="0"/>
            </a:endParaRPr>
          </a:p>
        </p:txBody>
      </p:sp>
      <p:sp>
        <p:nvSpPr>
          <p:cNvPr id="12" name="TextBox 11"/>
          <p:cNvSpPr txBox="1"/>
          <p:nvPr/>
        </p:nvSpPr>
        <p:spPr>
          <a:xfrm>
            <a:off x="5281750" y="4759237"/>
            <a:ext cx="1275804" cy="954107"/>
          </a:xfrm>
          <a:prstGeom prst="rect">
            <a:avLst/>
          </a:prstGeom>
          <a:noFill/>
        </p:spPr>
        <p:txBody>
          <a:bodyPr wrap="square" rtlCol="0">
            <a:spAutoFit/>
          </a:bodyPr>
          <a:lstStyle/>
          <a:p>
            <a:r>
              <a:rPr lang="en-IN" sz="1400" dirty="0" smtClean="0">
                <a:latin typeface="Times New Roman" pitchFamily="18" charset="0"/>
                <a:cs typeface="Times New Roman" pitchFamily="18" charset="0"/>
              </a:rPr>
              <a:t>Two equal numbers are subtracted, result +0 not -0</a:t>
            </a:r>
            <a:endParaRPr lang="en-IN" sz="1400" dirty="0">
              <a:latin typeface="Times New Roman" pitchFamily="18" charset="0"/>
              <a:cs typeface="Times New Roman" pitchFamily="18" charset="0"/>
            </a:endParaRPr>
          </a:p>
        </p:txBody>
      </p:sp>
      <p:cxnSp>
        <p:nvCxnSpPr>
          <p:cNvPr id="14" name="Straight Arrow Connector 13"/>
          <p:cNvCxnSpPr/>
          <p:nvPr/>
        </p:nvCxnSpPr>
        <p:spPr>
          <a:xfrm rot="5400000">
            <a:off x="2214155" y="4578534"/>
            <a:ext cx="587829"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5400000">
            <a:off x="3607526" y="4626431"/>
            <a:ext cx="587829"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5400000">
            <a:off x="4752705" y="4609014"/>
            <a:ext cx="587829"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rot="5400000">
            <a:off x="5950134" y="4460970"/>
            <a:ext cx="587829"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6779623" y="178525"/>
            <a:ext cx="5190309" cy="3693319"/>
          </a:xfrm>
          <a:prstGeom prst="rect">
            <a:avLst/>
          </a:prstGeom>
          <a:noFill/>
        </p:spPr>
        <p:txBody>
          <a:bodyPr wrap="square" rtlCol="0">
            <a:spAutoFit/>
          </a:bodyPr>
          <a:lstStyle/>
          <a:p>
            <a:r>
              <a:rPr lang="en-IN" u="sng" dirty="0" smtClean="0">
                <a:latin typeface="Times New Roman" pitchFamily="18" charset="0"/>
                <a:cs typeface="Times New Roman" pitchFamily="18" charset="0"/>
              </a:rPr>
              <a:t>Hardware implementation</a:t>
            </a:r>
          </a:p>
          <a:p>
            <a:r>
              <a:rPr lang="en-IN" dirty="0" smtClean="0">
                <a:latin typeface="Times New Roman" pitchFamily="18" charset="0"/>
                <a:cs typeface="Times New Roman" pitchFamily="18" charset="0"/>
              </a:rPr>
              <a:t>A and B be two registers to hold the magnitude of the numbers</a:t>
            </a:r>
          </a:p>
          <a:p>
            <a:r>
              <a:rPr lang="en-IN" dirty="0" smtClean="0">
                <a:latin typeface="Times New Roman" pitchFamily="18" charset="0"/>
                <a:cs typeface="Times New Roman" pitchFamily="18" charset="0"/>
              </a:rPr>
              <a:t>As and Bs are two flip-flops to hold the sign of A and B</a:t>
            </a:r>
          </a:p>
          <a:p>
            <a:r>
              <a:rPr lang="en-IN" dirty="0" smtClean="0">
                <a:latin typeface="Times New Roman" pitchFamily="18" charset="0"/>
                <a:cs typeface="Times New Roman" pitchFamily="18" charset="0"/>
              </a:rPr>
              <a:t>Result of the operation may be transferred to a third register or into A and As</a:t>
            </a:r>
          </a:p>
          <a:p>
            <a:r>
              <a:rPr lang="en-IN" dirty="0" smtClean="0">
                <a:latin typeface="Times New Roman" pitchFamily="18" charset="0"/>
                <a:cs typeface="Times New Roman" pitchFamily="18" charset="0"/>
              </a:rPr>
              <a:t>A and As together form an accumulator register</a:t>
            </a:r>
          </a:p>
          <a:p>
            <a:r>
              <a:rPr lang="en-IN" dirty="0" smtClean="0">
                <a:latin typeface="Times New Roman" pitchFamily="18" charset="0"/>
                <a:cs typeface="Times New Roman" pitchFamily="18" charset="0"/>
              </a:rPr>
              <a:t>Parallel adder performs A+B</a:t>
            </a:r>
          </a:p>
          <a:p>
            <a:r>
              <a:rPr lang="en-IN" dirty="0" smtClean="0">
                <a:latin typeface="Times New Roman" pitchFamily="18" charset="0"/>
                <a:cs typeface="Times New Roman" pitchFamily="18" charset="0"/>
              </a:rPr>
              <a:t>Comparator to compare the magnitudes of A and B</a:t>
            </a:r>
          </a:p>
          <a:p>
            <a:r>
              <a:rPr lang="en-IN" dirty="0" smtClean="0">
                <a:latin typeface="Times New Roman" pitchFamily="18" charset="0"/>
                <a:cs typeface="Times New Roman" pitchFamily="18" charset="0"/>
              </a:rPr>
              <a:t>Two parallel </a:t>
            </a:r>
            <a:r>
              <a:rPr lang="en-IN" dirty="0" err="1" smtClean="0">
                <a:latin typeface="Times New Roman" pitchFamily="18" charset="0"/>
                <a:cs typeface="Times New Roman" pitchFamily="18" charset="0"/>
              </a:rPr>
              <a:t>subtractor</a:t>
            </a:r>
            <a:r>
              <a:rPr lang="en-IN" dirty="0" smtClean="0">
                <a:latin typeface="Times New Roman" pitchFamily="18" charset="0"/>
                <a:cs typeface="Times New Roman" pitchFamily="18" charset="0"/>
              </a:rPr>
              <a:t> circuit to compute A-B and B-A</a:t>
            </a:r>
          </a:p>
          <a:p>
            <a:r>
              <a:rPr lang="en-IN" dirty="0" smtClean="0">
                <a:latin typeface="Times New Roman" pitchFamily="18" charset="0"/>
                <a:cs typeface="Times New Roman" pitchFamily="18" charset="0"/>
              </a:rPr>
              <a:t>XOR gate to find sign relationship with As and Bs</a:t>
            </a:r>
            <a:endParaRPr lang="en-IN" dirty="0">
              <a:latin typeface="Times New Roman" pitchFamily="18" charset="0"/>
              <a:cs typeface="Times New Roman" pitchFamily="18" charset="0"/>
            </a:endParaRPr>
          </a:p>
        </p:txBody>
      </p:sp>
      <p:sp>
        <p:nvSpPr>
          <p:cNvPr id="13" name="TextBox 12"/>
          <p:cNvSpPr txBox="1"/>
          <p:nvPr/>
        </p:nvSpPr>
        <p:spPr>
          <a:xfrm>
            <a:off x="6850743" y="4209143"/>
            <a:ext cx="4934857" cy="1477328"/>
          </a:xfrm>
          <a:prstGeom prst="rect">
            <a:avLst/>
          </a:prstGeom>
          <a:noFill/>
        </p:spPr>
        <p:txBody>
          <a:bodyPr wrap="square" rtlCol="0">
            <a:spAutoFit/>
          </a:bodyPr>
          <a:lstStyle/>
          <a:p>
            <a:r>
              <a:rPr lang="en-IN" dirty="0" smtClean="0">
                <a:latin typeface="Times New Roman" pitchFamily="18" charset="0"/>
                <a:cs typeface="Times New Roman" pitchFamily="18" charset="0"/>
              </a:rPr>
              <a:t>Addition</a:t>
            </a:r>
          </a:p>
          <a:p>
            <a:r>
              <a:rPr lang="en-IN" dirty="0" smtClean="0">
                <a:latin typeface="Times New Roman" pitchFamily="18" charset="0"/>
                <a:cs typeface="Times New Roman" pitchFamily="18" charset="0"/>
              </a:rPr>
              <a:t>As=Bs, Addition and As</a:t>
            </a:r>
            <a:r>
              <a:rPr lang="en-IN" dirty="0" smtClean="0">
                <a:solidFill>
                  <a:srgbClr val="C00000"/>
                </a:solidFill>
                <a:latin typeface="Times New Roman" pitchFamily="18" charset="0"/>
                <a:cs typeface="Times New Roman" pitchFamily="18" charset="0"/>
              </a:rPr>
              <a:t> </a:t>
            </a:r>
            <a:r>
              <a:rPr lang="en-IN" dirty="0" smtClean="0">
                <a:latin typeface="Times New Roman" pitchFamily="18" charset="0"/>
                <a:cs typeface="Times New Roman" pitchFamily="18" charset="0"/>
              </a:rPr>
              <a:t>≠ Bs, Subtraction</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Subtraction</a:t>
            </a:r>
          </a:p>
          <a:p>
            <a:r>
              <a:rPr lang="en-IN" dirty="0" smtClean="0">
                <a:latin typeface="Times New Roman" pitchFamily="18" charset="0"/>
                <a:cs typeface="Times New Roman" pitchFamily="18" charset="0"/>
              </a:rPr>
              <a:t>As=Bs, Subtraction and As</a:t>
            </a:r>
            <a:r>
              <a:rPr lang="en-IN" dirty="0" smtClean="0">
                <a:solidFill>
                  <a:srgbClr val="C00000"/>
                </a:solidFill>
                <a:latin typeface="Times New Roman" pitchFamily="18" charset="0"/>
                <a:cs typeface="Times New Roman" pitchFamily="18" charset="0"/>
              </a:rPr>
              <a:t> </a:t>
            </a:r>
            <a:r>
              <a:rPr lang="en-IN" dirty="0" smtClean="0">
                <a:latin typeface="Times New Roman" pitchFamily="18" charset="0"/>
                <a:cs typeface="Times New Roman" pitchFamily="18" charset="0"/>
              </a:rPr>
              <a:t>≠ Bs, Addition</a:t>
            </a:r>
            <a:endParaRPr lang="en-IN"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49976" y="4310743"/>
            <a:ext cx="1123406" cy="369332"/>
          </a:xfrm>
          <a:prstGeom prst="rect">
            <a:avLst/>
          </a:prstGeom>
          <a:noFill/>
        </p:spPr>
        <p:txBody>
          <a:bodyPr wrap="square" rtlCol="0">
            <a:spAutoFit/>
          </a:bodyPr>
          <a:lstStyle/>
          <a:p>
            <a:r>
              <a:rPr lang="en-IN" dirty="0" smtClean="0">
                <a:latin typeface="Times New Roman" pitchFamily="18" charset="0"/>
                <a:cs typeface="Times New Roman" pitchFamily="18" charset="0"/>
              </a:rPr>
              <a:t>B register </a:t>
            </a:r>
            <a:endParaRPr lang="en-IN" dirty="0">
              <a:latin typeface="Times New Roman" pitchFamily="18" charset="0"/>
              <a:cs typeface="Times New Roman" pitchFamily="18" charset="0"/>
            </a:endParaRPr>
          </a:p>
        </p:txBody>
      </p:sp>
      <p:sp>
        <p:nvSpPr>
          <p:cNvPr id="4" name="TextBox 3"/>
          <p:cNvSpPr txBox="1"/>
          <p:nvPr/>
        </p:nvSpPr>
        <p:spPr>
          <a:xfrm>
            <a:off x="1589313" y="6265818"/>
            <a:ext cx="1123406" cy="369332"/>
          </a:xfrm>
          <a:prstGeom prst="rect">
            <a:avLst/>
          </a:prstGeom>
          <a:noFill/>
        </p:spPr>
        <p:txBody>
          <a:bodyPr wrap="square" rtlCol="0">
            <a:spAutoFit/>
          </a:bodyPr>
          <a:lstStyle/>
          <a:p>
            <a:r>
              <a:rPr lang="en-IN" dirty="0" smtClean="0">
                <a:latin typeface="Times New Roman" pitchFamily="18" charset="0"/>
                <a:cs typeface="Times New Roman" pitchFamily="18" charset="0"/>
              </a:rPr>
              <a:t>A register </a:t>
            </a:r>
            <a:endParaRPr lang="en-IN" dirty="0">
              <a:latin typeface="Times New Roman" pitchFamily="18" charset="0"/>
              <a:cs typeface="Times New Roman" pitchFamily="18" charset="0"/>
            </a:endParaRPr>
          </a:p>
        </p:txBody>
      </p:sp>
      <p:sp>
        <p:nvSpPr>
          <p:cNvPr id="5" name="TextBox 4"/>
          <p:cNvSpPr txBox="1"/>
          <p:nvPr/>
        </p:nvSpPr>
        <p:spPr>
          <a:xfrm>
            <a:off x="1245323" y="4968241"/>
            <a:ext cx="1602379" cy="369332"/>
          </a:xfrm>
          <a:prstGeom prst="rect">
            <a:avLst/>
          </a:prstGeom>
          <a:noFill/>
        </p:spPr>
        <p:txBody>
          <a:bodyPr wrap="square" rtlCol="0">
            <a:spAutoFit/>
          </a:bodyPr>
          <a:lstStyle/>
          <a:p>
            <a:r>
              <a:rPr lang="en-IN" dirty="0" err="1" smtClean="0">
                <a:latin typeface="Times New Roman" pitchFamily="18" charset="0"/>
                <a:cs typeface="Times New Roman" pitchFamily="18" charset="0"/>
              </a:rPr>
              <a:t>Complementer</a:t>
            </a:r>
            <a:r>
              <a:rPr lang="en-IN" dirty="0" smtClean="0">
                <a:latin typeface="Times New Roman" pitchFamily="18" charset="0"/>
                <a:cs typeface="Times New Roman" pitchFamily="18" charset="0"/>
              </a:rPr>
              <a:t> </a:t>
            </a:r>
            <a:endParaRPr lang="en-IN" dirty="0">
              <a:latin typeface="Times New Roman" pitchFamily="18" charset="0"/>
              <a:cs typeface="Times New Roman" pitchFamily="18" charset="0"/>
            </a:endParaRPr>
          </a:p>
        </p:txBody>
      </p:sp>
      <p:sp>
        <p:nvSpPr>
          <p:cNvPr id="6" name="TextBox 5"/>
          <p:cNvSpPr txBox="1"/>
          <p:nvPr/>
        </p:nvSpPr>
        <p:spPr>
          <a:xfrm>
            <a:off x="1306283" y="5590905"/>
            <a:ext cx="1602379" cy="369332"/>
          </a:xfrm>
          <a:prstGeom prst="rect">
            <a:avLst/>
          </a:prstGeom>
          <a:noFill/>
        </p:spPr>
        <p:txBody>
          <a:bodyPr wrap="square" rtlCol="0">
            <a:spAutoFit/>
          </a:bodyPr>
          <a:lstStyle/>
          <a:p>
            <a:r>
              <a:rPr lang="en-IN" dirty="0" smtClean="0">
                <a:latin typeface="Times New Roman" pitchFamily="18" charset="0"/>
                <a:cs typeface="Times New Roman" pitchFamily="18" charset="0"/>
              </a:rPr>
              <a:t>Parallel adder</a:t>
            </a:r>
            <a:endParaRPr lang="en-IN" dirty="0">
              <a:latin typeface="Times New Roman" pitchFamily="18" charset="0"/>
              <a:cs typeface="Times New Roman" pitchFamily="18" charset="0"/>
            </a:endParaRPr>
          </a:p>
        </p:txBody>
      </p:sp>
      <p:sp>
        <p:nvSpPr>
          <p:cNvPr id="7" name="TextBox 6"/>
          <p:cNvSpPr txBox="1"/>
          <p:nvPr/>
        </p:nvSpPr>
        <p:spPr>
          <a:xfrm>
            <a:off x="627014" y="4323807"/>
            <a:ext cx="444139" cy="369332"/>
          </a:xfrm>
          <a:prstGeom prst="rect">
            <a:avLst/>
          </a:prstGeom>
          <a:noFill/>
        </p:spPr>
        <p:txBody>
          <a:bodyPr wrap="square" rtlCol="0">
            <a:spAutoFit/>
          </a:bodyPr>
          <a:lstStyle/>
          <a:p>
            <a:r>
              <a:rPr lang="en-IN" dirty="0" smtClean="0">
                <a:latin typeface="Times New Roman" pitchFamily="18" charset="0"/>
                <a:cs typeface="Times New Roman" pitchFamily="18" charset="0"/>
              </a:rPr>
              <a:t>Bs </a:t>
            </a:r>
            <a:endParaRPr lang="en-IN" dirty="0">
              <a:latin typeface="Times New Roman" pitchFamily="18" charset="0"/>
              <a:cs typeface="Times New Roman" pitchFamily="18" charset="0"/>
            </a:endParaRPr>
          </a:p>
        </p:txBody>
      </p:sp>
      <p:sp>
        <p:nvSpPr>
          <p:cNvPr id="8" name="TextBox 7"/>
          <p:cNvSpPr txBox="1"/>
          <p:nvPr/>
        </p:nvSpPr>
        <p:spPr>
          <a:xfrm>
            <a:off x="727163" y="6331132"/>
            <a:ext cx="444139" cy="369332"/>
          </a:xfrm>
          <a:prstGeom prst="rect">
            <a:avLst/>
          </a:prstGeom>
          <a:noFill/>
        </p:spPr>
        <p:txBody>
          <a:bodyPr wrap="square" rtlCol="0">
            <a:spAutoFit/>
          </a:bodyPr>
          <a:lstStyle/>
          <a:p>
            <a:r>
              <a:rPr lang="en-IN" dirty="0" smtClean="0">
                <a:latin typeface="Times New Roman" pitchFamily="18" charset="0"/>
                <a:cs typeface="Times New Roman" pitchFamily="18" charset="0"/>
              </a:rPr>
              <a:t>As</a:t>
            </a:r>
            <a:endParaRPr lang="en-IN" dirty="0">
              <a:latin typeface="Times New Roman" pitchFamily="18" charset="0"/>
              <a:cs typeface="Times New Roman" pitchFamily="18" charset="0"/>
            </a:endParaRPr>
          </a:p>
        </p:txBody>
      </p:sp>
      <p:sp>
        <p:nvSpPr>
          <p:cNvPr id="9" name="TextBox 8"/>
          <p:cNvSpPr txBox="1"/>
          <p:nvPr/>
        </p:nvSpPr>
        <p:spPr>
          <a:xfrm>
            <a:off x="492031" y="4972596"/>
            <a:ext cx="644438" cy="369332"/>
          </a:xfrm>
          <a:prstGeom prst="rect">
            <a:avLst/>
          </a:prstGeom>
          <a:noFill/>
        </p:spPr>
        <p:txBody>
          <a:bodyPr wrap="square" rtlCol="0">
            <a:spAutoFit/>
          </a:bodyPr>
          <a:lstStyle/>
          <a:p>
            <a:r>
              <a:rPr lang="en-IN" dirty="0" smtClean="0">
                <a:latin typeface="Times New Roman" pitchFamily="18" charset="0"/>
                <a:cs typeface="Times New Roman" pitchFamily="18" charset="0"/>
              </a:rPr>
              <a:t>AVF </a:t>
            </a:r>
            <a:endParaRPr lang="en-IN" dirty="0">
              <a:latin typeface="Times New Roman" pitchFamily="18" charset="0"/>
              <a:cs typeface="Times New Roman" pitchFamily="18" charset="0"/>
            </a:endParaRPr>
          </a:p>
        </p:txBody>
      </p:sp>
      <p:sp>
        <p:nvSpPr>
          <p:cNvPr id="10" name="TextBox 9"/>
          <p:cNvSpPr txBox="1"/>
          <p:nvPr/>
        </p:nvSpPr>
        <p:spPr>
          <a:xfrm>
            <a:off x="191586" y="5024847"/>
            <a:ext cx="422368"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=E</a:t>
            </a:r>
            <a:endParaRPr lang="en-IN" sz="1400" dirty="0">
              <a:latin typeface="Times New Roman" pitchFamily="18" charset="0"/>
              <a:cs typeface="Times New Roman" pitchFamily="18" charset="0"/>
            </a:endParaRPr>
          </a:p>
        </p:txBody>
      </p:sp>
      <p:sp>
        <p:nvSpPr>
          <p:cNvPr id="11" name="Rectangle 10"/>
          <p:cNvSpPr/>
          <p:nvPr/>
        </p:nvSpPr>
        <p:spPr>
          <a:xfrm>
            <a:off x="1515289" y="4376056"/>
            <a:ext cx="992779" cy="24819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12" name="Rectangle 11"/>
          <p:cNvSpPr/>
          <p:nvPr/>
        </p:nvSpPr>
        <p:spPr>
          <a:xfrm>
            <a:off x="1667689" y="6344195"/>
            <a:ext cx="992779" cy="24819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p:cNvSpPr/>
          <p:nvPr/>
        </p:nvSpPr>
        <p:spPr>
          <a:xfrm>
            <a:off x="1314991" y="5037908"/>
            <a:ext cx="1454334" cy="2264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p:cNvSpPr/>
          <p:nvPr/>
        </p:nvSpPr>
        <p:spPr>
          <a:xfrm>
            <a:off x="1341117" y="5651862"/>
            <a:ext cx="1389020" cy="25254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p:cNvSpPr/>
          <p:nvPr/>
        </p:nvSpPr>
        <p:spPr>
          <a:xfrm>
            <a:off x="648786" y="4371703"/>
            <a:ext cx="357054" cy="2656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16" name="Rectangle 15"/>
          <p:cNvSpPr/>
          <p:nvPr/>
        </p:nvSpPr>
        <p:spPr>
          <a:xfrm>
            <a:off x="788124" y="6379028"/>
            <a:ext cx="357054" cy="2656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p:cNvSpPr/>
          <p:nvPr/>
        </p:nvSpPr>
        <p:spPr>
          <a:xfrm>
            <a:off x="409301" y="5660573"/>
            <a:ext cx="243841" cy="23077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p:cNvSpPr/>
          <p:nvPr/>
        </p:nvSpPr>
        <p:spPr>
          <a:xfrm>
            <a:off x="579116" y="5033555"/>
            <a:ext cx="505099" cy="2699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2" name="Straight Arrow Connector 21"/>
          <p:cNvCxnSpPr/>
          <p:nvPr/>
        </p:nvCxnSpPr>
        <p:spPr>
          <a:xfrm rot="5400000">
            <a:off x="1815739" y="4807131"/>
            <a:ext cx="444137"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5400000">
            <a:off x="1811385" y="5468983"/>
            <a:ext cx="444137"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rot="5400000">
            <a:off x="1628504" y="6109063"/>
            <a:ext cx="444137"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rot="16200000" flipV="1">
            <a:off x="2227218" y="6119949"/>
            <a:ext cx="444137" cy="130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2656111" y="4602480"/>
            <a:ext cx="1184369" cy="523220"/>
          </a:xfrm>
          <a:prstGeom prst="rect">
            <a:avLst/>
          </a:prstGeom>
          <a:noFill/>
        </p:spPr>
        <p:txBody>
          <a:bodyPr wrap="square" rtlCol="0">
            <a:spAutoFit/>
          </a:bodyPr>
          <a:lstStyle/>
          <a:p>
            <a:r>
              <a:rPr lang="en-IN" sz="1400" dirty="0" smtClean="0">
                <a:latin typeface="Times New Roman" pitchFamily="18" charset="0"/>
                <a:cs typeface="Times New Roman" pitchFamily="18" charset="0"/>
              </a:rPr>
              <a:t>Mode control</a:t>
            </a:r>
          </a:p>
          <a:p>
            <a:r>
              <a:rPr lang="en-IN" sz="1400" dirty="0" smtClean="0">
                <a:latin typeface="Times New Roman" pitchFamily="18" charset="0"/>
                <a:cs typeface="Times New Roman" pitchFamily="18" charset="0"/>
              </a:rPr>
              <a:t>M, 0(1)</a:t>
            </a:r>
            <a:endParaRPr lang="en-IN" sz="1400" dirty="0">
              <a:latin typeface="Times New Roman" pitchFamily="18" charset="0"/>
              <a:cs typeface="Times New Roman" pitchFamily="18" charset="0"/>
            </a:endParaRPr>
          </a:p>
        </p:txBody>
      </p:sp>
      <p:sp>
        <p:nvSpPr>
          <p:cNvPr id="28" name="TextBox 27"/>
          <p:cNvSpPr txBox="1"/>
          <p:nvPr/>
        </p:nvSpPr>
        <p:spPr>
          <a:xfrm>
            <a:off x="2682238" y="5752013"/>
            <a:ext cx="1328059" cy="309153"/>
          </a:xfrm>
          <a:prstGeom prst="rect">
            <a:avLst/>
          </a:prstGeom>
          <a:noFill/>
        </p:spPr>
        <p:txBody>
          <a:bodyPr wrap="square" rtlCol="0">
            <a:spAutoFit/>
          </a:bodyPr>
          <a:lstStyle/>
          <a:p>
            <a:r>
              <a:rPr lang="en-IN" sz="1400" dirty="0" smtClean="0">
                <a:latin typeface="Times New Roman" pitchFamily="18" charset="0"/>
                <a:cs typeface="Times New Roman" pitchFamily="18" charset="0"/>
              </a:rPr>
              <a:t>Input carry 0(1) </a:t>
            </a:r>
            <a:endParaRPr lang="en-IN" sz="1400" dirty="0">
              <a:latin typeface="Times New Roman" pitchFamily="18" charset="0"/>
              <a:cs typeface="Times New Roman" pitchFamily="18" charset="0"/>
            </a:endParaRPr>
          </a:p>
        </p:txBody>
      </p:sp>
      <p:sp>
        <p:nvSpPr>
          <p:cNvPr id="29" name="TextBox 28"/>
          <p:cNvSpPr txBox="1"/>
          <p:nvPr/>
        </p:nvSpPr>
        <p:spPr>
          <a:xfrm>
            <a:off x="640079" y="5290461"/>
            <a:ext cx="744584" cy="523220"/>
          </a:xfrm>
          <a:prstGeom prst="rect">
            <a:avLst/>
          </a:prstGeom>
          <a:noFill/>
        </p:spPr>
        <p:txBody>
          <a:bodyPr wrap="square" rtlCol="0">
            <a:spAutoFit/>
          </a:bodyPr>
          <a:lstStyle/>
          <a:p>
            <a:r>
              <a:rPr lang="en-IN" sz="1400" dirty="0" smtClean="0">
                <a:latin typeface="Times New Roman" pitchFamily="18" charset="0"/>
                <a:cs typeface="Times New Roman" pitchFamily="18" charset="0"/>
              </a:rPr>
              <a:t>Output </a:t>
            </a:r>
          </a:p>
          <a:p>
            <a:r>
              <a:rPr lang="en-IN" sz="1400" dirty="0" smtClean="0">
                <a:latin typeface="Times New Roman" pitchFamily="18" charset="0"/>
                <a:cs typeface="Times New Roman" pitchFamily="18" charset="0"/>
              </a:rPr>
              <a:t>carry </a:t>
            </a:r>
            <a:endParaRPr lang="en-IN" sz="1400" dirty="0">
              <a:latin typeface="Times New Roman" pitchFamily="18" charset="0"/>
              <a:cs typeface="Times New Roman" pitchFamily="18" charset="0"/>
            </a:endParaRPr>
          </a:p>
        </p:txBody>
      </p:sp>
      <p:sp>
        <p:nvSpPr>
          <p:cNvPr id="30" name="TextBox 29"/>
          <p:cNvSpPr txBox="1"/>
          <p:nvPr/>
        </p:nvSpPr>
        <p:spPr>
          <a:xfrm>
            <a:off x="2020387" y="4659087"/>
            <a:ext cx="317866"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B</a:t>
            </a:r>
            <a:endParaRPr lang="en-IN" sz="1400" dirty="0">
              <a:latin typeface="Times New Roman" pitchFamily="18" charset="0"/>
              <a:cs typeface="Times New Roman" pitchFamily="18" charset="0"/>
            </a:endParaRPr>
          </a:p>
        </p:txBody>
      </p:sp>
      <p:sp>
        <p:nvSpPr>
          <p:cNvPr id="31" name="TextBox 30"/>
          <p:cNvSpPr txBox="1"/>
          <p:nvPr/>
        </p:nvSpPr>
        <p:spPr>
          <a:xfrm>
            <a:off x="335277" y="5599613"/>
            <a:ext cx="317866" cy="369332"/>
          </a:xfrm>
          <a:prstGeom prst="rect">
            <a:avLst/>
          </a:prstGeom>
          <a:noFill/>
        </p:spPr>
        <p:txBody>
          <a:bodyPr wrap="square" rtlCol="0">
            <a:spAutoFit/>
          </a:bodyPr>
          <a:lstStyle/>
          <a:p>
            <a:r>
              <a:rPr lang="en-IN" dirty="0" smtClean="0">
                <a:latin typeface="Times New Roman" pitchFamily="18" charset="0"/>
                <a:cs typeface="Times New Roman" pitchFamily="18" charset="0"/>
              </a:rPr>
              <a:t>E</a:t>
            </a:r>
            <a:endParaRPr lang="en-IN" dirty="0">
              <a:latin typeface="Times New Roman" pitchFamily="18" charset="0"/>
              <a:cs typeface="Times New Roman" pitchFamily="18" charset="0"/>
            </a:endParaRPr>
          </a:p>
        </p:txBody>
      </p:sp>
      <p:sp>
        <p:nvSpPr>
          <p:cNvPr id="32" name="TextBox 31"/>
          <p:cNvSpPr txBox="1"/>
          <p:nvPr/>
        </p:nvSpPr>
        <p:spPr>
          <a:xfrm>
            <a:off x="2029095" y="5294812"/>
            <a:ext cx="609601"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B(B′)</a:t>
            </a:r>
            <a:endParaRPr lang="en-IN" sz="1400" dirty="0">
              <a:latin typeface="Times New Roman" pitchFamily="18" charset="0"/>
              <a:cs typeface="Times New Roman" pitchFamily="18" charset="0"/>
            </a:endParaRPr>
          </a:p>
        </p:txBody>
      </p:sp>
      <p:sp>
        <p:nvSpPr>
          <p:cNvPr id="33" name="TextBox 32"/>
          <p:cNvSpPr txBox="1"/>
          <p:nvPr/>
        </p:nvSpPr>
        <p:spPr>
          <a:xfrm>
            <a:off x="744580" y="5956664"/>
            <a:ext cx="1227910" cy="523220"/>
          </a:xfrm>
          <a:prstGeom prst="rect">
            <a:avLst/>
          </a:prstGeom>
          <a:noFill/>
        </p:spPr>
        <p:txBody>
          <a:bodyPr wrap="square" rtlCol="0">
            <a:spAutoFit/>
          </a:bodyPr>
          <a:lstStyle/>
          <a:p>
            <a:r>
              <a:rPr lang="en-IN" sz="1400" dirty="0" smtClean="0">
                <a:latin typeface="Times New Roman" pitchFamily="18" charset="0"/>
                <a:cs typeface="Times New Roman" pitchFamily="18" charset="0"/>
              </a:rPr>
              <a:t>A+B/(A+B′+1)</a:t>
            </a:r>
            <a:endParaRPr lang="en-IN" sz="1400" dirty="0">
              <a:latin typeface="Times New Roman" pitchFamily="18" charset="0"/>
              <a:cs typeface="Times New Roman" pitchFamily="18" charset="0"/>
            </a:endParaRPr>
          </a:p>
        </p:txBody>
      </p:sp>
      <p:sp>
        <p:nvSpPr>
          <p:cNvPr id="34" name="TextBox 33"/>
          <p:cNvSpPr txBox="1"/>
          <p:nvPr/>
        </p:nvSpPr>
        <p:spPr>
          <a:xfrm>
            <a:off x="2434044" y="5987144"/>
            <a:ext cx="317866"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A</a:t>
            </a:r>
            <a:endParaRPr lang="en-IN" sz="1400" dirty="0">
              <a:latin typeface="Times New Roman" pitchFamily="18" charset="0"/>
              <a:cs typeface="Times New Roman" pitchFamily="18" charset="0"/>
            </a:endParaRPr>
          </a:p>
        </p:txBody>
      </p:sp>
      <p:sp>
        <p:nvSpPr>
          <p:cNvPr id="35" name="TextBox 34"/>
          <p:cNvSpPr txBox="1"/>
          <p:nvPr/>
        </p:nvSpPr>
        <p:spPr>
          <a:xfrm>
            <a:off x="2804157" y="6213568"/>
            <a:ext cx="892631"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Load sum</a:t>
            </a:r>
            <a:endParaRPr lang="en-IN" sz="1400" dirty="0">
              <a:latin typeface="Times New Roman" pitchFamily="18" charset="0"/>
              <a:cs typeface="Times New Roman" pitchFamily="18" charset="0"/>
            </a:endParaRPr>
          </a:p>
        </p:txBody>
      </p:sp>
      <p:cxnSp>
        <p:nvCxnSpPr>
          <p:cNvPr id="37" name="Straight Arrow Connector 36"/>
          <p:cNvCxnSpPr/>
          <p:nvPr/>
        </p:nvCxnSpPr>
        <p:spPr>
          <a:xfrm rot="10800000" flipV="1">
            <a:off x="2769326" y="5107576"/>
            <a:ext cx="836023" cy="130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rot="10800000" flipV="1">
            <a:off x="2712721" y="5773782"/>
            <a:ext cx="631370" cy="870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rot="16200000" flipV="1">
            <a:off x="2991394" y="5434148"/>
            <a:ext cx="666206" cy="13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rot="10800000">
            <a:off x="2651760" y="6466115"/>
            <a:ext cx="418011"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14" idx="1"/>
            <a:endCxn id="31" idx="3"/>
          </p:cNvCxnSpPr>
          <p:nvPr/>
        </p:nvCxnSpPr>
        <p:spPr>
          <a:xfrm rot="10800000" flipV="1">
            <a:off x="653143" y="5778137"/>
            <a:ext cx="687974" cy="61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169818" y="178525"/>
            <a:ext cx="6766559" cy="3970318"/>
          </a:xfrm>
          <a:prstGeom prst="rect">
            <a:avLst/>
          </a:prstGeom>
          <a:noFill/>
        </p:spPr>
        <p:txBody>
          <a:bodyPr wrap="square" rtlCol="0">
            <a:spAutoFit/>
          </a:bodyPr>
          <a:lstStyle/>
          <a:p>
            <a:r>
              <a:rPr lang="en-IN" u="sng" dirty="0" smtClean="0">
                <a:latin typeface="Times New Roman" pitchFamily="18" charset="0"/>
                <a:cs typeface="Times New Roman" pitchFamily="18" charset="0"/>
              </a:rPr>
              <a:t>Procedure to minimize hardware equipment</a:t>
            </a:r>
          </a:p>
          <a:p>
            <a:r>
              <a:rPr lang="en-IN" dirty="0" smtClean="0">
                <a:latin typeface="Times New Roman" pitchFamily="18" charset="0"/>
                <a:cs typeface="Times New Roman" pitchFamily="18" charset="0"/>
              </a:rPr>
              <a:t>Subtraction can be done using complement and addition</a:t>
            </a:r>
          </a:p>
          <a:p>
            <a:r>
              <a:rPr lang="en-IN" dirty="0" smtClean="0">
                <a:latin typeface="Times New Roman" pitchFamily="18" charset="0"/>
                <a:cs typeface="Times New Roman" pitchFamily="18" charset="0"/>
              </a:rPr>
              <a:t>Result of comparison can be determined from the end carry after the subtraction</a:t>
            </a:r>
          </a:p>
          <a:p>
            <a:r>
              <a:rPr lang="en-IN" dirty="0" smtClean="0">
                <a:latin typeface="Times New Roman" pitchFamily="18" charset="0"/>
                <a:cs typeface="Times New Roman" pitchFamily="18" charset="0"/>
              </a:rPr>
              <a:t>Use of 2’s complement for subtraction and comparison is an efficient procedure as it requires only one adder and one </a:t>
            </a:r>
            <a:r>
              <a:rPr lang="en-IN" dirty="0" err="1" smtClean="0">
                <a:latin typeface="Times New Roman" pitchFamily="18" charset="0"/>
                <a:cs typeface="Times New Roman" pitchFamily="18" charset="0"/>
              </a:rPr>
              <a:t>complementer</a:t>
            </a:r>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Subtraction can be done by adding A with 2’s complement of B</a:t>
            </a:r>
          </a:p>
          <a:p>
            <a:r>
              <a:rPr lang="en-IN" dirty="0" smtClean="0">
                <a:latin typeface="Times New Roman" pitchFamily="18" charset="0"/>
                <a:cs typeface="Times New Roman" pitchFamily="18" charset="0"/>
              </a:rPr>
              <a:t>Output carry is transferred to E for comparison (A&gt;B, A&lt;B, A=B)</a:t>
            </a:r>
          </a:p>
          <a:p>
            <a:r>
              <a:rPr lang="en-IN" dirty="0" smtClean="0">
                <a:latin typeface="Times New Roman" pitchFamily="18" charset="0"/>
                <a:cs typeface="Times New Roman" pitchFamily="18" charset="0"/>
              </a:rPr>
              <a:t>AVF holds overflow bit when A and B are added</a:t>
            </a:r>
          </a:p>
          <a:p>
            <a:r>
              <a:rPr lang="en-IN" dirty="0" err="1" smtClean="0">
                <a:latin typeface="Times New Roman" pitchFamily="18" charset="0"/>
                <a:cs typeface="Times New Roman" pitchFamily="18" charset="0"/>
              </a:rPr>
              <a:t>Complementer</a:t>
            </a:r>
            <a:r>
              <a:rPr lang="en-IN" dirty="0" smtClean="0">
                <a:latin typeface="Times New Roman" pitchFamily="18" charset="0"/>
                <a:cs typeface="Times New Roman" pitchFamily="18" charset="0"/>
              </a:rPr>
              <a:t> consists of XOR gates</a:t>
            </a:r>
          </a:p>
          <a:p>
            <a:r>
              <a:rPr lang="en-IN" dirty="0" smtClean="0">
                <a:latin typeface="Times New Roman" pitchFamily="18" charset="0"/>
                <a:cs typeface="Times New Roman" pitchFamily="18" charset="0"/>
              </a:rPr>
              <a:t>Parallel adder consists of full adder</a:t>
            </a:r>
          </a:p>
          <a:p>
            <a:r>
              <a:rPr lang="en-IN" dirty="0" smtClean="0">
                <a:latin typeface="Times New Roman" pitchFamily="18" charset="0"/>
                <a:cs typeface="Times New Roman" pitchFamily="18" charset="0"/>
              </a:rPr>
              <a:t>Addition </a:t>
            </a:r>
            <a:r>
              <a:rPr lang="en-IN" dirty="0" smtClean="0">
                <a:latin typeface="Times New Roman" pitchFamily="18" charset="0"/>
                <a:cs typeface="Times New Roman" pitchFamily="18" charset="0"/>
                <a:sym typeface="Symbol"/>
              </a:rPr>
              <a:t>M=0, input carry = 0, adder output = A+B</a:t>
            </a:r>
          </a:p>
          <a:p>
            <a:r>
              <a:rPr lang="en-IN" dirty="0" smtClean="0">
                <a:latin typeface="Times New Roman" pitchFamily="18" charset="0"/>
                <a:cs typeface="Times New Roman" pitchFamily="18" charset="0"/>
                <a:sym typeface="Symbol"/>
              </a:rPr>
              <a:t>Subtraction M=1, 1’s complement of B is applied to the adder, input carry = 1, output = </a:t>
            </a:r>
            <a:r>
              <a:rPr lang="en-IN" dirty="0" smtClean="0">
                <a:latin typeface="Times New Roman" pitchFamily="18" charset="0"/>
                <a:cs typeface="Times New Roman" pitchFamily="18" charset="0"/>
              </a:rPr>
              <a:t>A+B′+1=A-B</a:t>
            </a:r>
            <a:endParaRPr lang="en-IN" dirty="0">
              <a:latin typeface="Times New Roman" pitchFamily="18" charset="0"/>
              <a:cs typeface="Times New Roman" pitchFamily="18" charset="0"/>
            </a:endParaRPr>
          </a:p>
        </p:txBody>
      </p:sp>
      <p:sp>
        <p:nvSpPr>
          <p:cNvPr id="51" name="Flowchart: Alternate Process 50"/>
          <p:cNvSpPr/>
          <p:nvPr/>
        </p:nvSpPr>
        <p:spPr>
          <a:xfrm>
            <a:off x="7615646" y="836022"/>
            <a:ext cx="1423851" cy="418012"/>
          </a:xfrm>
          <a:prstGeom prst="flowChartAlternate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52" name="TextBox 51"/>
          <p:cNvSpPr txBox="1"/>
          <p:nvPr/>
        </p:nvSpPr>
        <p:spPr>
          <a:xfrm>
            <a:off x="7641772" y="757645"/>
            <a:ext cx="1384662" cy="523220"/>
          </a:xfrm>
          <a:prstGeom prst="rect">
            <a:avLst/>
          </a:prstGeom>
          <a:noFill/>
        </p:spPr>
        <p:txBody>
          <a:bodyPr wrap="square" rtlCol="0">
            <a:spAutoFit/>
          </a:bodyPr>
          <a:lstStyle/>
          <a:p>
            <a:r>
              <a:rPr lang="en-IN" sz="1400" dirty="0" smtClean="0">
                <a:latin typeface="Times New Roman" pitchFamily="18" charset="0"/>
                <a:cs typeface="Times New Roman" pitchFamily="18" charset="0"/>
              </a:rPr>
              <a:t>Minuend in A</a:t>
            </a:r>
          </a:p>
          <a:p>
            <a:r>
              <a:rPr lang="en-IN" sz="1400" dirty="0" smtClean="0">
                <a:latin typeface="Times New Roman" pitchFamily="18" charset="0"/>
                <a:cs typeface="Times New Roman" pitchFamily="18" charset="0"/>
              </a:rPr>
              <a:t>Subtrahend in B  </a:t>
            </a:r>
            <a:endParaRPr lang="en-IN" sz="1400" dirty="0">
              <a:latin typeface="Times New Roman" pitchFamily="18" charset="0"/>
              <a:cs typeface="Times New Roman" pitchFamily="18" charset="0"/>
            </a:endParaRPr>
          </a:p>
        </p:txBody>
      </p:sp>
      <p:cxnSp>
        <p:nvCxnSpPr>
          <p:cNvPr id="53" name="Straight Connector 52"/>
          <p:cNvCxnSpPr/>
          <p:nvPr/>
        </p:nvCxnSpPr>
        <p:spPr>
          <a:xfrm>
            <a:off x="8007532" y="1502228"/>
            <a:ext cx="613954"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8016240" y="1798319"/>
            <a:ext cx="613954"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rot="10800000" flipV="1">
            <a:off x="7837716" y="1502227"/>
            <a:ext cx="169817" cy="143691"/>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7811589" y="1658982"/>
            <a:ext cx="235131" cy="156754"/>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8595360" y="1489165"/>
            <a:ext cx="195943" cy="156754"/>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V="1">
            <a:off x="8608423" y="1658982"/>
            <a:ext cx="156755" cy="156754"/>
          </a:xfrm>
          <a:prstGeom prst="line">
            <a:avLst/>
          </a:prstGeom>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7924801" y="1497873"/>
            <a:ext cx="735874" cy="317863"/>
          </a:xfrm>
          <a:prstGeom prst="rect">
            <a:avLst/>
          </a:prstGeom>
          <a:noFill/>
        </p:spPr>
        <p:txBody>
          <a:bodyPr wrap="square" rtlCol="0">
            <a:spAutoFit/>
          </a:bodyPr>
          <a:lstStyle/>
          <a:p>
            <a:r>
              <a:rPr lang="en-IN" sz="1400" dirty="0" err="1" smtClean="0">
                <a:latin typeface="Times New Roman" pitchFamily="18" charset="0"/>
                <a:cs typeface="Times New Roman" pitchFamily="18" charset="0"/>
              </a:rPr>
              <a:t>As</a:t>
            </a:r>
            <a:r>
              <a:rPr lang="en-IN" sz="1400" dirty="0" err="1" smtClean="0">
                <a:latin typeface="Times New Roman" pitchFamily="18" charset="0"/>
                <a:cs typeface="Times New Roman" pitchFamily="18" charset="0"/>
                <a:sym typeface="Symbol"/>
              </a:rPr>
              <a:t>Bs</a:t>
            </a:r>
            <a:endParaRPr lang="en-IN" sz="1400" dirty="0">
              <a:latin typeface="Times New Roman" pitchFamily="18" charset="0"/>
              <a:cs typeface="Times New Roman" pitchFamily="18" charset="0"/>
            </a:endParaRPr>
          </a:p>
        </p:txBody>
      </p:sp>
      <p:sp>
        <p:nvSpPr>
          <p:cNvPr id="60" name="TextBox 59"/>
          <p:cNvSpPr txBox="1"/>
          <p:nvPr/>
        </p:nvSpPr>
        <p:spPr>
          <a:xfrm>
            <a:off x="7737568" y="2081348"/>
            <a:ext cx="1184364" cy="523220"/>
          </a:xfrm>
          <a:prstGeom prst="rect">
            <a:avLst/>
          </a:prstGeom>
          <a:noFill/>
        </p:spPr>
        <p:txBody>
          <a:bodyPr wrap="square" rtlCol="0">
            <a:spAutoFit/>
          </a:bodyPr>
          <a:lstStyle/>
          <a:p>
            <a:r>
              <a:rPr lang="en-IN" sz="1400" dirty="0" smtClean="0">
                <a:latin typeface="Times New Roman" pitchFamily="18" charset="0"/>
                <a:cs typeface="Times New Roman" pitchFamily="18" charset="0"/>
              </a:rPr>
              <a:t>EA</a:t>
            </a:r>
            <a:r>
              <a:rPr lang="en-IN" sz="1400" dirty="0" smtClean="0">
                <a:latin typeface="Times New Roman" pitchFamily="18" charset="0"/>
                <a:cs typeface="Times New Roman" pitchFamily="18" charset="0"/>
                <a:sym typeface="Symbol"/>
              </a:rPr>
              <a:t>A+B′+1</a:t>
            </a:r>
          </a:p>
          <a:p>
            <a:r>
              <a:rPr lang="en-IN" sz="1400" dirty="0" smtClean="0">
                <a:latin typeface="Times New Roman" pitchFamily="18" charset="0"/>
                <a:cs typeface="Times New Roman" pitchFamily="18" charset="0"/>
                <a:sym typeface="Symbol"/>
              </a:rPr>
              <a:t>AVF0 </a:t>
            </a:r>
            <a:endParaRPr lang="en-IN" sz="1400" dirty="0">
              <a:latin typeface="Times New Roman" pitchFamily="18" charset="0"/>
              <a:cs typeface="Times New Roman" pitchFamily="18" charset="0"/>
            </a:endParaRPr>
          </a:p>
        </p:txBody>
      </p:sp>
      <p:sp>
        <p:nvSpPr>
          <p:cNvPr id="61" name="Rectangle 60"/>
          <p:cNvSpPr/>
          <p:nvPr/>
        </p:nvSpPr>
        <p:spPr>
          <a:xfrm>
            <a:off x="7785464" y="2116181"/>
            <a:ext cx="1123406" cy="4441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62" name="Diamond 61"/>
          <p:cNvSpPr/>
          <p:nvPr/>
        </p:nvSpPr>
        <p:spPr>
          <a:xfrm>
            <a:off x="8007532" y="2782388"/>
            <a:ext cx="653142" cy="444137"/>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TextBox 62"/>
          <p:cNvSpPr txBox="1"/>
          <p:nvPr/>
        </p:nvSpPr>
        <p:spPr>
          <a:xfrm>
            <a:off x="8181703" y="2825929"/>
            <a:ext cx="335279"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E </a:t>
            </a:r>
            <a:endParaRPr lang="en-IN" sz="1400" dirty="0">
              <a:latin typeface="Times New Roman" pitchFamily="18" charset="0"/>
              <a:cs typeface="Times New Roman" pitchFamily="18" charset="0"/>
            </a:endParaRPr>
          </a:p>
        </p:txBody>
      </p:sp>
      <p:sp>
        <p:nvSpPr>
          <p:cNvPr id="64" name="TextBox 63"/>
          <p:cNvSpPr txBox="1"/>
          <p:nvPr/>
        </p:nvSpPr>
        <p:spPr>
          <a:xfrm>
            <a:off x="6966859" y="3165563"/>
            <a:ext cx="661850" cy="309156"/>
          </a:xfrm>
          <a:prstGeom prst="rect">
            <a:avLst/>
          </a:prstGeom>
          <a:noFill/>
        </p:spPr>
        <p:txBody>
          <a:bodyPr wrap="square" rtlCol="0">
            <a:spAutoFit/>
          </a:bodyPr>
          <a:lstStyle/>
          <a:p>
            <a:r>
              <a:rPr lang="en-IN" sz="1400" dirty="0" smtClean="0">
                <a:latin typeface="Times New Roman" pitchFamily="18" charset="0"/>
                <a:cs typeface="Times New Roman" pitchFamily="18" charset="0"/>
              </a:rPr>
              <a:t>A</a:t>
            </a:r>
            <a:r>
              <a:rPr lang="en-IN" sz="1400" dirty="0" smtClean="0">
                <a:latin typeface="Times New Roman" pitchFamily="18" charset="0"/>
                <a:cs typeface="Times New Roman" pitchFamily="18" charset="0"/>
                <a:sym typeface="Symbol"/>
              </a:rPr>
              <a:t>A′</a:t>
            </a:r>
            <a:endParaRPr lang="en-IN" sz="1400" dirty="0">
              <a:latin typeface="Times New Roman" pitchFamily="18" charset="0"/>
              <a:cs typeface="Times New Roman" pitchFamily="18" charset="0"/>
            </a:endParaRPr>
          </a:p>
        </p:txBody>
      </p:sp>
      <p:sp>
        <p:nvSpPr>
          <p:cNvPr id="65" name="Rectangle 64"/>
          <p:cNvSpPr/>
          <p:nvPr/>
        </p:nvSpPr>
        <p:spPr>
          <a:xfrm>
            <a:off x="7010401" y="3209107"/>
            <a:ext cx="631371" cy="23948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66" name="TextBox 65"/>
          <p:cNvSpPr txBox="1"/>
          <p:nvPr/>
        </p:nvSpPr>
        <p:spPr>
          <a:xfrm>
            <a:off x="6949442" y="3644537"/>
            <a:ext cx="836021" cy="523220"/>
          </a:xfrm>
          <a:prstGeom prst="rect">
            <a:avLst/>
          </a:prstGeom>
          <a:noFill/>
        </p:spPr>
        <p:txBody>
          <a:bodyPr wrap="square" rtlCol="0">
            <a:spAutoFit/>
          </a:bodyPr>
          <a:lstStyle/>
          <a:p>
            <a:r>
              <a:rPr lang="en-IN" sz="1400" dirty="0" smtClean="0">
                <a:latin typeface="Times New Roman" pitchFamily="18" charset="0"/>
                <a:cs typeface="Times New Roman" pitchFamily="18" charset="0"/>
              </a:rPr>
              <a:t>A</a:t>
            </a:r>
            <a:r>
              <a:rPr lang="en-IN" sz="1400" dirty="0" smtClean="0">
                <a:latin typeface="Times New Roman" pitchFamily="18" charset="0"/>
                <a:cs typeface="Times New Roman" pitchFamily="18" charset="0"/>
                <a:sym typeface="Symbol"/>
              </a:rPr>
              <a:t>A+1</a:t>
            </a:r>
          </a:p>
          <a:p>
            <a:r>
              <a:rPr lang="en-IN" sz="1400" dirty="0" err="1" smtClean="0">
                <a:latin typeface="Times New Roman" pitchFamily="18" charset="0"/>
                <a:cs typeface="Times New Roman" pitchFamily="18" charset="0"/>
                <a:sym typeface="Symbol"/>
              </a:rPr>
              <a:t>AsAs</a:t>
            </a:r>
            <a:r>
              <a:rPr lang="en-IN" sz="1400" dirty="0" smtClean="0">
                <a:latin typeface="Times New Roman" pitchFamily="18" charset="0"/>
                <a:cs typeface="Times New Roman" pitchFamily="18" charset="0"/>
                <a:sym typeface="Symbol"/>
              </a:rPr>
              <a:t>′</a:t>
            </a:r>
            <a:endParaRPr lang="en-IN" sz="1400" dirty="0">
              <a:latin typeface="Times New Roman" pitchFamily="18" charset="0"/>
              <a:cs typeface="Times New Roman" pitchFamily="18" charset="0"/>
            </a:endParaRPr>
          </a:p>
        </p:txBody>
      </p:sp>
      <p:sp>
        <p:nvSpPr>
          <p:cNvPr id="67" name="Rectangle 66"/>
          <p:cNvSpPr/>
          <p:nvPr/>
        </p:nvSpPr>
        <p:spPr>
          <a:xfrm>
            <a:off x="6975567" y="3709850"/>
            <a:ext cx="783770" cy="4441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8" name="TextBox 67"/>
          <p:cNvSpPr txBox="1"/>
          <p:nvPr/>
        </p:nvSpPr>
        <p:spPr>
          <a:xfrm>
            <a:off x="9588139" y="3605345"/>
            <a:ext cx="661850"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As</a:t>
            </a:r>
            <a:r>
              <a:rPr lang="en-IN" sz="1400" dirty="0" smtClean="0">
                <a:latin typeface="Times New Roman" pitchFamily="18" charset="0"/>
                <a:cs typeface="Times New Roman" pitchFamily="18" charset="0"/>
                <a:sym typeface="Symbol"/>
              </a:rPr>
              <a:t>0</a:t>
            </a:r>
            <a:endParaRPr lang="en-IN" sz="1400" dirty="0">
              <a:latin typeface="Times New Roman" pitchFamily="18" charset="0"/>
              <a:cs typeface="Times New Roman" pitchFamily="18" charset="0"/>
            </a:endParaRPr>
          </a:p>
        </p:txBody>
      </p:sp>
      <p:sp>
        <p:nvSpPr>
          <p:cNvPr id="69" name="Rectangle 68"/>
          <p:cNvSpPr/>
          <p:nvPr/>
        </p:nvSpPr>
        <p:spPr>
          <a:xfrm>
            <a:off x="9631681" y="3648889"/>
            <a:ext cx="631371" cy="23948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70" name="Diamond 69"/>
          <p:cNvSpPr/>
          <p:nvPr/>
        </p:nvSpPr>
        <p:spPr>
          <a:xfrm>
            <a:off x="8943703" y="3078480"/>
            <a:ext cx="653142" cy="444137"/>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1" name="TextBox 70"/>
          <p:cNvSpPr txBox="1"/>
          <p:nvPr/>
        </p:nvSpPr>
        <p:spPr>
          <a:xfrm>
            <a:off x="9117874" y="3122021"/>
            <a:ext cx="335279"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A </a:t>
            </a:r>
            <a:endParaRPr lang="en-IN" sz="1400" dirty="0">
              <a:latin typeface="Times New Roman" pitchFamily="18" charset="0"/>
              <a:cs typeface="Times New Roman" pitchFamily="18" charset="0"/>
            </a:endParaRPr>
          </a:p>
        </p:txBody>
      </p:sp>
      <p:sp>
        <p:nvSpPr>
          <p:cNvPr id="72" name="Flowchart: Alternate Process 71"/>
          <p:cNvSpPr/>
          <p:nvPr/>
        </p:nvSpPr>
        <p:spPr>
          <a:xfrm>
            <a:off x="8055428" y="4336867"/>
            <a:ext cx="1193074" cy="744584"/>
          </a:xfrm>
          <a:prstGeom prst="flowChartAlternate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3" name="TextBox 72"/>
          <p:cNvSpPr txBox="1"/>
          <p:nvPr/>
        </p:nvSpPr>
        <p:spPr>
          <a:xfrm>
            <a:off x="8098972" y="4341220"/>
            <a:ext cx="1162593" cy="738664"/>
          </a:xfrm>
          <a:prstGeom prst="rect">
            <a:avLst/>
          </a:prstGeom>
          <a:noFill/>
        </p:spPr>
        <p:txBody>
          <a:bodyPr wrap="square" rtlCol="0">
            <a:spAutoFit/>
          </a:bodyPr>
          <a:lstStyle/>
          <a:p>
            <a:r>
              <a:rPr lang="en-IN" sz="1400" dirty="0" smtClean="0">
                <a:latin typeface="Times New Roman" pitchFamily="18" charset="0"/>
                <a:cs typeface="Times New Roman" pitchFamily="18" charset="0"/>
              </a:rPr>
              <a:t>END</a:t>
            </a:r>
          </a:p>
          <a:p>
            <a:r>
              <a:rPr lang="en-IN" sz="1400" dirty="0" smtClean="0">
                <a:latin typeface="Times New Roman" pitchFamily="18" charset="0"/>
                <a:cs typeface="Times New Roman" pitchFamily="18" charset="0"/>
              </a:rPr>
              <a:t>Result is in A </a:t>
            </a:r>
          </a:p>
          <a:p>
            <a:r>
              <a:rPr lang="en-IN" sz="1400" dirty="0" smtClean="0">
                <a:latin typeface="Times New Roman" pitchFamily="18" charset="0"/>
                <a:cs typeface="Times New Roman" pitchFamily="18" charset="0"/>
              </a:rPr>
              <a:t>and As</a:t>
            </a:r>
            <a:endParaRPr lang="en-IN" sz="1400" dirty="0">
              <a:latin typeface="Times New Roman" pitchFamily="18" charset="0"/>
              <a:cs typeface="Times New Roman" pitchFamily="18" charset="0"/>
            </a:endParaRPr>
          </a:p>
        </p:txBody>
      </p:sp>
      <p:sp>
        <p:nvSpPr>
          <p:cNvPr id="74" name="Flowchart: Alternate Process 73"/>
          <p:cNvSpPr/>
          <p:nvPr/>
        </p:nvSpPr>
        <p:spPr>
          <a:xfrm>
            <a:off x="10267405" y="818605"/>
            <a:ext cx="1123405" cy="418012"/>
          </a:xfrm>
          <a:prstGeom prst="flowChartAlternate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75" name="TextBox 74"/>
          <p:cNvSpPr txBox="1"/>
          <p:nvPr/>
        </p:nvSpPr>
        <p:spPr>
          <a:xfrm>
            <a:off x="10249989" y="740228"/>
            <a:ext cx="1114697" cy="523220"/>
          </a:xfrm>
          <a:prstGeom prst="rect">
            <a:avLst/>
          </a:prstGeom>
          <a:noFill/>
        </p:spPr>
        <p:txBody>
          <a:bodyPr wrap="square" rtlCol="0">
            <a:spAutoFit/>
          </a:bodyPr>
          <a:lstStyle/>
          <a:p>
            <a:r>
              <a:rPr lang="en-IN" sz="1400" dirty="0" err="1" smtClean="0">
                <a:latin typeface="Times New Roman" pitchFamily="18" charset="0"/>
                <a:cs typeface="Times New Roman" pitchFamily="18" charset="0"/>
              </a:rPr>
              <a:t>Augend</a:t>
            </a:r>
            <a:r>
              <a:rPr lang="en-IN" sz="1400" dirty="0" smtClean="0">
                <a:latin typeface="Times New Roman" pitchFamily="18" charset="0"/>
                <a:cs typeface="Times New Roman" pitchFamily="18" charset="0"/>
              </a:rPr>
              <a:t> in A</a:t>
            </a:r>
          </a:p>
          <a:p>
            <a:r>
              <a:rPr lang="en-IN" sz="1400" dirty="0" smtClean="0">
                <a:latin typeface="Times New Roman" pitchFamily="18" charset="0"/>
                <a:cs typeface="Times New Roman" pitchFamily="18" charset="0"/>
              </a:rPr>
              <a:t>Addend in B  </a:t>
            </a:r>
            <a:endParaRPr lang="en-IN" sz="1400" dirty="0">
              <a:latin typeface="Times New Roman" pitchFamily="18" charset="0"/>
              <a:cs typeface="Times New Roman" pitchFamily="18" charset="0"/>
            </a:endParaRPr>
          </a:p>
        </p:txBody>
      </p:sp>
      <p:cxnSp>
        <p:nvCxnSpPr>
          <p:cNvPr id="76" name="Straight Connector 75"/>
          <p:cNvCxnSpPr/>
          <p:nvPr/>
        </p:nvCxnSpPr>
        <p:spPr>
          <a:xfrm>
            <a:off x="10615749" y="1484811"/>
            <a:ext cx="613954"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10624457" y="1780902"/>
            <a:ext cx="613954"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rot="10800000" flipV="1">
            <a:off x="10445933" y="1484810"/>
            <a:ext cx="169817" cy="143691"/>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0419806" y="1641565"/>
            <a:ext cx="235131" cy="156754"/>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1203577" y="1471748"/>
            <a:ext cx="195943" cy="156754"/>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flipV="1">
            <a:off x="11216640" y="1641565"/>
            <a:ext cx="156755" cy="156754"/>
          </a:xfrm>
          <a:prstGeom prst="line">
            <a:avLst/>
          </a:prstGeom>
        </p:spPr>
        <p:style>
          <a:lnRef idx="1">
            <a:schemeClr val="accent1"/>
          </a:lnRef>
          <a:fillRef idx="0">
            <a:schemeClr val="accent1"/>
          </a:fillRef>
          <a:effectRef idx="0">
            <a:schemeClr val="accent1"/>
          </a:effectRef>
          <a:fontRef idx="minor">
            <a:schemeClr val="tx1"/>
          </a:fontRef>
        </p:style>
      </p:cxnSp>
      <p:sp>
        <p:nvSpPr>
          <p:cNvPr id="82" name="TextBox 81"/>
          <p:cNvSpPr txBox="1"/>
          <p:nvPr/>
        </p:nvSpPr>
        <p:spPr>
          <a:xfrm>
            <a:off x="10533018" y="1480456"/>
            <a:ext cx="735874" cy="317863"/>
          </a:xfrm>
          <a:prstGeom prst="rect">
            <a:avLst/>
          </a:prstGeom>
          <a:noFill/>
        </p:spPr>
        <p:txBody>
          <a:bodyPr wrap="square" rtlCol="0">
            <a:spAutoFit/>
          </a:bodyPr>
          <a:lstStyle/>
          <a:p>
            <a:r>
              <a:rPr lang="en-IN" sz="1400" dirty="0" err="1" smtClean="0">
                <a:latin typeface="Times New Roman" pitchFamily="18" charset="0"/>
                <a:cs typeface="Times New Roman" pitchFamily="18" charset="0"/>
              </a:rPr>
              <a:t>As</a:t>
            </a:r>
            <a:r>
              <a:rPr lang="en-IN" sz="1400" dirty="0" err="1" smtClean="0">
                <a:latin typeface="Times New Roman" pitchFamily="18" charset="0"/>
                <a:cs typeface="Times New Roman" pitchFamily="18" charset="0"/>
                <a:sym typeface="Symbol"/>
              </a:rPr>
              <a:t>Bs</a:t>
            </a:r>
            <a:endParaRPr lang="en-IN" sz="1400" dirty="0">
              <a:latin typeface="Times New Roman" pitchFamily="18" charset="0"/>
              <a:cs typeface="Times New Roman" pitchFamily="18" charset="0"/>
            </a:endParaRPr>
          </a:p>
        </p:txBody>
      </p:sp>
      <p:sp>
        <p:nvSpPr>
          <p:cNvPr id="83" name="TextBox 82"/>
          <p:cNvSpPr txBox="1"/>
          <p:nvPr/>
        </p:nvSpPr>
        <p:spPr>
          <a:xfrm>
            <a:off x="10345785" y="2063931"/>
            <a:ext cx="953586" cy="313508"/>
          </a:xfrm>
          <a:prstGeom prst="rect">
            <a:avLst/>
          </a:prstGeom>
          <a:noFill/>
        </p:spPr>
        <p:txBody>
          <a:bodyPr wrap="square" rtlCol="0">
            <a:spAutoFit/>
          </a:bodyPr>
          <a:lstStyle/>
          <a:p>
            <a:r>
              <a:rPr lang="en-IN" sz="1400" dirty="0" smtClean="0">
                <a:latin typeface="Times New Roman" pitchFamily="18" charset="0"/>
                <a:cs typeface="Times New Roman" pitchFamily="18" charset="0"/>
              </a:rPr>
              <a:t>EA</a:t>
            </a:r>
            <a:r>
              <a:rPr lang="en-IN" sz="1400" dirty="0" smtClean="0">
                <a:latin typeface="Times New Roman" pitchFamily="18" charset="0"/>
                <a:cs typeface="Times New Roman" pitchFamily="18" charset="0"/>
                <a:sym typeface="Symbol"/>
              </a:rPr>
              <a:t>A+B</a:t>
            </a:r>
          </a:p>
        </p:txBody>
      </p:sp>
      <p:sp>
        <p:nvSpPr>
          <p:cNvPr id="84" name="Rectangle 83"/>
          <p:cNvSpPr/>
          <p:nvPr/>
        </p:nvSpPr>
        <p:spPr>
          <a:xfrm>
            <a:off x="10393681" y="2098764"/>
            <a:ext cx="892628" cy="23948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85" name="TextBox 84"/>
          <p:cNvSpPr txBox="1"/>
          <p:nvPr/>
        </p:nvSpPr>
        <p:spPr>
          <a:xfrm>
            <a:off x="10432870" y="2608217"/>
            <a:ext cx="801187"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AVFE</a:t>
            </a:r>
          </a:p>
        </p:txBody>
      </p:sp>
      <p:sp>
        <p:nvSpPr>
          <p:cNvPr id="86" name="Rectangle 85"/>
          <p:cNvSpPr/>
          <p:nvPr/>
        </p:nvSpPr>
        <p:spPr>
          <a:xfrm>
            <a:off x="10480766" y="2643049"/>
            <a:ext cx="714102" cy="2438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cxnSp>
        <p:nvCxnSpPr>
          <p:cNvPr id="87" name="Straight Arrow Connector 86"/>
          <p:cNvCxnSpPr/>
          <p:nvPr/>
        </p:nvCxnSpPr>
        <p:spPr>
          <a:xfrm rot="5400000">
            <a:off x="8177349" y="2664824"/>
            <a:ext cx="287383"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p:nvPr/>
        </p:nvCxnSpPr>
        <p:spPr>
          <a:xfrm rot="16200000" flipH="1">
            <a:off x="7209904" y="3096690"/>
            <a:ext cx="218508" cy="791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p:nvPr/>
        </p:nvCxnSpPr>
        <p:spPr>
          <a:xfrm rot="5400000">
            <a:off x="7175863" y="3596639"/>
            <a:ext cx="287383"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p:nvPr/>
        </p:nvCxnSpPr>
        <p:spPr>
          <a:xfrm rot="5400000">
            <a:off x="10711543" y="1384661"/>
            <a:ext cx="287383"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1" name="Straight Arrow Connector 90"/>
          <p:cNvCxnSpPr/>
          <p:nvPr/>
        </p:nvCxnSpPr>
        <p:spPr>
          <a:xfrm rot="5400000">
            <a:off x="8133807" y="1393370"/>
            <a:ext cx="287383"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rot="10800000">
            <a:off x="7602583" y="1645919"/>
            <a:ext cx="222069"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rot="16200000" flipH="1">
            <a:off x="7302137" y="1946364"/>
            <a:ext cx="613955" cy="13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Straight Arrow Connector 93"/>
          <p:cNvCxnSpPr>
            <a:endCxn id="61" idx="1"/>
          </p:cNvCxnSpPr>
          <p:nvPr/>
        </p:nvCxnSpPr>
        <p:spPr>
          <a:xfrm>
            <a:off x="7602583" y="2259874"/>
            <a:ext cx="182881" cy="783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62" idx="1"/>
          </p:cNvCxnSpPr>
          <p:nvPr/>
        </p:nvCxnSpPr>
        <p:spPr>
          <a:xfrm rot="10800000">
            <a:off x="7302138" y="3004457"/>
            <a:ext cx="705395"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Straight Arrow Connector 95"/>
          <p:cNvCxnSpPr/>
          <p:nvPr/>
        </p:nvCxnSpPr>
        <p:spPr>
          <a:xfrm rot="5400000">
            <a:off x="10913226" y="2000795"/>
            <a:ext cx="179316" cy="182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p:nvPr/>
        </p:nvCxnSpPr>
        <p:spPr>
          <a:xfrm rot="5400000">
            <a:off x="8312332" y="670558"/>
            <a:ext cx="287383"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p:nvPr/>
        </p:nvCxnSpPr>
        <p:spPr>
          <a:xfrm rot="5400000">
            <a:off x="10685417" y="2495006"/>
            <a:ext cx="287383"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a:stCxn id="67" idx="2"/>
          </p:cNvCxnSpPr>
          <p:nvPr/>
        </p:nvCxnSpPr>
        <p:spPr>
          <a:xfrm rot="16200000" flipH="1">
            <a:off x="7034349" y="4487091"/>
            <a:ext cx="666209" cy="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0" name="Straight Arrow Connector 99"/>
          <p:cNvCxnSpPr/>
          <p:nvPr/>
        </p:nvCxnSpPr>
        <p:spPr>
          <a:xfrm>
            <a:off x="7367451" y="4833256"/>
            <a:ext cx="731520" cy="130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62" idx="3"/>
          </p:cNvCxnSpPr>
          <p:nvPr/>
        </p:nvCxnSpPr>
        <p:spPr>
          <a:xfrm flipV="1">
            <a:off x="8660674" y="2991394"/>
            <a:ext cx="600892" cy="13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Straight Arrow Connector 101"/>
          <p:cNvCxnSpPr>
            <a:endCxn id="71" idx="0"/>
          </p:cNvCxnSpPr>
          <p:nvPr/>
        </p:nvCxnSpPr>
        <p:spPr>
          <a:xfrm rot="16200000" flipH="1">
            <a:off x="9214758" y="3051264"/>
            <a:ext cx="130627" cy="108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a:stCxn id="70" idx="3"/>
          </p:cNvCxnSpPr>
          <p:nvPr/>
        </p:nvCxnSpPr>
        <p:spPr>
          <a:xfrm>
            <a:off x="9596845" y="3300549"/>
            <a:ext cx="357052" cy="4353"/>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a:stCxn id="127" idx="3"/>
          </p:cNvCxnSpPr>
          <p:nvPr/>
        </p:nvCxnSpPr>
        <p:spPr>
          <a:xfrm>
            <a:off x="9940834" y="3210596"/>
            <a:ext cx="6537" cy="43829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a:stCxn id="70" idx="1"/>
          </p:cNvCxnSpPr>
          <p:nvPr/>
        </p:nvCxnSpPr>
        <p:spPr>
          <a:xfrm rot="10800000" flipV="1">
            <a:off x="8778241" y="3300548"/>
            <a:ext cx="165463" cy="4353"/>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Straight Arrow Connector 105"/>
          <p:cNvCxnSpPr/>
          <p:nvPr/>
        </p:nvCxnSpPr>
        <p:spPr>
          <a:xfrm rot="5400000">
            <a:off x="8288384" y="3833947"/>
            <a:ext cx="1031965"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a:stCxn id="69" idx="1"/>
          </p:cNvCxnSpPr>
          <p:nvPr/>
        </p:nvCxnSpPr>
        <p:spPr>
          <a:xfrm rot="10800000">
            <a:off x="8908869" y="3762102"/>
            <a:ext cx="722812" cy="65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Straight Arrow Connector 107"/>
          <p:cNvCxnSpPr/>
          <p:nvPr/>
        </p:nvCxnSpPr>
        <p:spPr>
          <a:xfrm rot="5400000">
            <a:off x="8601892" y="4056016"/>
            <a:ext cx="613955"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rot="10800000" flipV="1">
            <a:off x="9653452" y="1652449"/>
            <a:ext cx="788129" cy="195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rot="16200000" flipH="1">
            <a:off x="9308081" y="1966755"/>
            <a:ext cx="678479" cy="122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Straight Arrow Connector 110"/>
          <p:cNvCxnSpPr/>
          <p:nvPr/>
        </p:nvCxnSpPr>
        <p:spPr>
          <a:xfrm rot="10800000">
            <a:off x="8895809" y="2299063"/>
            <a:ext cx="757642" cy="130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a:off x="11377749" y="1632856"/>
            <a:ext cx="209005" cy="13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Straight Connector 112"/>
          <p:cNvCxnSpPr/>
          <p:nvPr/>
        </p:nvCxnSpPr>
        <p:spPr>
          <a:xfrm rot="5400000">
            <a:off x="11430000" y="1776549"/>
            <a:ext cx="287383"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rot="10800000">
            <a:off x="10998927" y="1920240"/>
            <a:ext cx="574765" cy="13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p:nvCxnSpPr>
        <p:spPr>
          <a:xfrm>
            <a:off x="8791303" y="1658982"/>
            <a:ext cx="313508"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a:xfrm rot="16200000" flipH="1">
            <a:off x="8826932" y="1929743"/>
            <a:ext cx="591394" cy="166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7" name="Straight Arrow Connector 116"/>
          <p:cNvCxnSpPr/>
          <p:nvPr/>
        </p:nvCxnSpPr>
        <p:spPr>
          <a:xfrm flipV="1">
            <a:off x="9117874" y="2207622"/>
            <a:ext cx="1306286" cy="2612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a:stCxn id="86" idx="2"/>
          </p:cNvCxnSpPr>
          <p:nvPr/>
        </p:nvCxnSpPr>
        <p:spPr>
          <a:xfrm rot="16200000" flipH="1">
            <a:off x="9945188" y="3779518"/>
            <a:ext cx="1789615" cy="435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9" name="Straight Arrow Connector 118"/>
          <p:cNvCxnSpPr>
            <a:endCxn id="73" idx="3"/>
          </p:cNvCxnSpPr>
          <p:nvPr/>
        </p:nvCxnSpPr>
        <p:spPr>
          <a:xfrm rot="10800000" flipV="1">
            <a:off x="9261565" y="4676502"/>
            <a:ext cx="1580606" cy="340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0" name="TextBox 119"/>
          <p:cNvSpPr txBox="1"/>
          <p:nvPr/>
        </p:nvSpPr>
        <p:spPr>
          <a:xfrm>
            <a:off x="10075818" y="226421"/>
            <a:ext cx="1210491" cy="309155"/>
          </a:xfrm>
          <a:prstGeom prst="rect">
            <a:avLst/>
          </a:prstGeom>
          <a:noFill/>
        </p:spPr>
        <p:txBody>
          <a:bodyPr wrap="square" rtlCol="0">
            <a:spAutoFit/>
          </a:bodyPr>
          <a:lstStyle/>
          <a:p>
            <a:r>
              <a:rPr lang="en-IN" sz="1400" dirty="0" smtClean="0">
                <a:latin typeface="Times New Roman" pitchFamily="18" charset="0"/>
                <a:cs typeface="Times New Roman" pitchFamily="18" charset="0"/>
              </a:rPr>
              <a:t>Add operation </a:t>
            </a:r>
            <a:endParaRPr lang="en-IN" sz="1400" dirty="0">
              <a:latin typeface="Times New Roman" pitchFamily="18" charset="0"/>
              <a:cs typeface="Times New Roman" pitchFamily="18" charset="0"/>
            </a:endParaRPr>
          </a:p>
        </p:txBody>
      </p:sp>
      <p:sp>
        <p:nvSpPr>
          <p:cNvPr id="121" name="TextBox 120"/>
          <p:cNvSpPr txBox="1"/>
          <p:nvPr/>
        </p:nvSpPr>
        <p:spPr>
          <a:xfrm>
            <a:off x="7654835" y="235129"/>
            <a:ext cx="888273" cy="523220"/>
          </a:xfrm>
          <a:prstGeom prst="rect">
            <a:avLst/>
          </a:prstGeom>
          <a:noFill/>
        </p:spPr>
        <p:txBody>
          <a:bodyPr wrap="square" rtlCol="0">
            <a:spAutoFit/>
          </a:bodyPr>
          <a:lstStyle/>
          <a:p>
            <a:r>
              <a:rPr lang="en-IN" sz="1400" dirty="0" smtClean="0">
                <a:latin typeface="Times New Roman" pitchFamily="18" charset="0"/>
                <a:cs typeface="Times New Roman" pitchFamily="18" charset="0"/>
              </a:rPr>
              <a:t>Subtract operation</a:t>
            </a:r>
            <a:endParaRPr lang="en-IN" sz="1400" dirty="0">
              <a:latin typeface="Times New Roman" pitchFamily="18" charset="0"/>
              <a:cs typeface="Times New Roman" pitchFamily="18" charset="0"/>
            </a:endParaRPr>
          </a:p>
        </p:txBody>
      </p:sp>
      <p:cxnSp>
        <p:nvCxnSpPr>
          <p:cNvPr id="122" name="Straight Arrow Connector 121"/>
          <p:cNvCxnSpPr/>
          <p:nvPr/>
        </p:nvCxnSpPr>
        <p:spPr>
          <a:xfrm rot="5400000">
            <a:off x="10685418" y="679267"/>
            <a:ext cx="287383"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3" name="TextBox 122"/>
          <p:cNvSpPr txBox="1"/>
          <p:nvPr/>
        </p:nvSpPr>
        <p:spPr>
          <a:xfrm>
            <a:off x="8739054" y="1201781"/>
            <a:ext cx="1084216" cy="523220"/>
          </a:xfrm>
          <a:prstGeom prst="rect">
            <a:avLst/>
          </a:prstGeom>
          <a:noFill/>
        </p:spPr>
        <p:txBody>
          <a:bodyPr wrap="square" rtlCol="0">
            <a:spAutoFit/>
          </a:bodyPr>
          <a:lstStyle/>
          <a:p>
            <a:r>
              <a:rPr lang="en-IN" sz="1400" dirty="0" smtClean="0">
                <a:solidFill>
                  <a:srgbClr val="C00000"/>
                </a:solidFill>
                <a:latin typeface="Times New Roman" pitchFamily="18" charset="0"/>
                <a:cs typeface="Times New Roman" pitchFamily="18" charset="0"/>
              </a:rPr>
              <a:t>=1, addition</a:t>
            </a:r>
          </a:p>
          <a:p>
            <a:r>
              <a:rPr lang="en-IN" sz="1400" dirty="0" err="1" smtClean="0">
                <a:solidFill>
                  <a:srgbClr val="C00000"/>
                </a:solidFill>
                <a:latin typeface="Times New Roman" pitchFamily="18" charset="0"/>
                <a:cs typeface="Times New Roman" pitchFamily="18" charset="0"/>
              </a:rPr>
              <a:t>As≠Bs</a:t>
            </a:r>
            <a:endParaRPr lang="en-IN" sz="1400" dirty="0">
              <a:solidFill>
                <a:srgbClr val="C00000"/>
              </a:solidFill>
              <a:latin typeface="Times New Roman" pitchFamily="18" charset="0"/>
              <a:cs typeface="Times New Roman" pitchFamily="18" charset="0"/>
            </a:endParaRPr>
          </a:p>
        </p:txBody>
      </p:sp>
      <p:sp>
        <p:nvSpPr>
          <p:cNvPr id="124" name="TextBox 123"/>
          <p:cNvSpPr txBox="1"/>
          <p:nvPr/>
        </p:nvSpPr>
        <p:spPr>
          <a:xfrm>
            <a:off x="11342915" y="1389017"/>
            <a:ext cx="674913" cy="523220"/>
          </a:xfrm>
          <a:prstGeom prst="rect">
            <a:avLst/>
          </a:prstGeom>
          <a:noFill/>
        </p:spPr>
        <p:txBody>
          <a:bodyPr wrap="square" rtlCol="0">
            <a:spAutoFit/>
          </a:bodyPr>
          <a:lstStyle/>
          <a:p>
            <a:r>
              <a:rPr lang="en-IN" sz="1400" dirty="0" smtClean="0">
                <a:solidFill>
                  <a:srgbClr val="C00000"/>
                </a:solidFill>
                <a:latin typeface="Times New Roman" pitchFamily="18" charset="0"/>
                <a:cs typeface="Times New Roman" pitchFamily="18" charset="0"/>
              </a:rPr>
              <a:t>=0,</a:t>
            </a:r>
          </a:p>
          <a:p>
            <a:r>
              <a:rPr lang="en-IN" sz="1400" dirty="0" smtClean="0">
                <a:solidFill>
                  <a:srgbClr val="C00000"/>
                </a:solidFill>
                <a:latin typeface="Times New Roman" pitchFamily="18" charset="0"/>
                <a:cs typeface="Times New Roman" pitchFamily="18" charset="0"/>
              </a:rPr>
              <a:t>As=Bs     </a:t>
            </a:r>
            <a:endParaRPr lang="en-IN" sz="1400" dirty="0">
              <a:solidFill>
                <a:srgbClr val="C00000"/>
              </a:solidFill>
              <a:latin typeface="Times New Roman" pitchFamily="18" charset="0"/>
              <a:cs typeface="Times New Roman" pitchFamily="18" charset="0"/>
            </a:endParaRPr>
          </a:p>
        </p:txBody>
      </p:sp>
      <p:sp>
        <p:nvSpPr>
          <p:cNvPr id="125" name="TextBox 124"/>
          <p:cNvSpPr txBox="1"/>
          <p:nvPr/>
        </p:nvSpPr>
        <p:spPr>
          <a:xfrm>
            <a:off x="7319554" y="2734489"/>
            <a:ext cx="727165"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0,A&lt;B </a:t>
            </a:r>
            <a:endParaRPr lang="en-IN" sz="1400" dirty="0">
              <a:latin typeface="Times New Roman" pitchFamily="18" charset="0"/>
              <a:cs typeface="Times New Roman" pitchFamily="18" charset="0"/>
            </a:endParaRPr>
          </a:p>
        </p:txBody>
      </p:sp>
      <p:sp>
        <p:nvSpPr>
          <p:cNvPr id="126" name="TextBox 125"/>
          <p:cNvSpPr txBox="1"/>
          <p:nvPr/>
        </p:nvSpPr>
        <p:spPr>
          <a:xfrm>
            <a:off x="8699863" y="2717072"/>
            <a:ext cx="727165"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1,A≥B</a:t>
            </a:r>
            <a:endParaRPr lang="en-IN" sz="1400" dirty="0">
              <a:latin typeface="Times New Roman" pitchFamily="18" charset="0"/>
              <a:cs typeface="Times New Roman" pitchFamily="18" charset="0"/>
            </a:endParaRPr>
          </a:p>
        </p:txBody>
      </p:sp>
      <p:sp>
        <p:nvSpPr>
          <p:cNvPr id="127" name="TextBox 126"/>
          <p:cNvSpPr txBox="1"/>
          <p:nvPr/>
        </p:nvSpPr>
        <p:spPr>
          <a:xfrm>
            <a:off x="9496697" y="3056707"/>
            <a:ext cx="444137"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=0 </a:t>
            </a:r>
            <a:endParaRPr lang="en-IN" sz="1400" dirty="0">
              <a:latin typeface="Times New Roman" pitchFamily="18" charset="0"/>
              <a:cs typeface="Times New Roman" pitchFamily="18" charset="0"/>
            </a:endParaRPr>
          </a:p>
        </p:txBody>
      </p:sp>
      <p:sp>
        <p:nvSpPr>
          <p:cNvPr id="128" name="TextBox 127"/>
          <p:cNvSpPr txBox="1"/>
          <p:nvPr/>
        </p:nvSpPr>
        <p:spPr>
          <a:xfrm>
            <a:off x="8473442" y="3365862"/>
            <a:ext cx="383176"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≠0</a:t>
            </a:r>
            <a:endParaRPr lang="en-IN" sz="1400" dirty="0">
              <a:latin typeface="Times New Roman" pitchFamily="18" charset="0"/>
              <a:cs typeface="Times New Roman" pitchFamily="18" charset="0"/>
            </a:endParaRPr>
          </a:p>
        </p:txBody>
      </p:sp>
      <p:sp>
        <p:nvSpPr>
          <p:cNvPr id="129" name="TextBox 128"/>
          <p:cNvSpPr txBox="1"/>
          <p:nvPr/>
        </p:nvSpPr>
        <p:spPr>
          <a:xfrm>
            <a:off x="9810205" y="2124890"/>
            <a:ext cx="705394" cy="307777"/>
          </a:xfrm>
          <a:prstGeom prst="rect">
            <a:avLst/>
          </a:prstGeom>
          <a:noFill/>
        </p:spPr>
        <p:txBody>
          <a:bodyPr wrap="square" rtlCol="0">
            <a:spAutoFit/>
          </a:bodyPr>
          <a:lstStyle/>
          <a:p>
            <a:r>
              <a:rPr lang="en-IN" sz="1400" dirty="0" err="1" smtClean="0">
                <a:solidFill>
                  <a:srgbClr val="C00000"/>
                </a:solidFill>
                <a:latin typeface="Times New Roman" pitchFamily="18" charset="0"/>
                <a:cs typeface="Times New Roman" pitchFamily="18" charset="0"/>
              </a:rPr>
              <a:t>As≠Bs</a:t>
            </a:r>
            <a:r>
              <a:rPr lang="en-IN" sz="1400" dirty="0" smtClean="0">
                <a:solidFill>
                  <a:srgbClr val="C00000"/>
                </a:solidFill>
                <a:latin typeface="Times New Roman" pitchFamily="18" charset="0"/>
                <a:cs typeface="Times New Roman" pitchFamily="18" charset="0"/>
              </a:rPr>
              <a:t>    </a:t>
            </a:r>
            <a:endParaRPr lang="en-IN" sz="1400" dirty="0">
              <a:solidFill>
                <a:srgbClr val="C00000"/>
              </a:solidFill>
              <a:latin typeface="Times New Roman" pitchFamily="18" charset="0"/>
              <a:cs typeface="Times New Roman" pitchFamily="18" charset="0"/>
            </a:endParaRPr>
          </a:p>
        </p:txBody>
      </p:sp>
      <p:sp>
        <p:nvSpPr>
          <p:cNvPr id="130" name="TextBox 129"/>
          <p:cNvSpPr txBox="1"/>
          <p:nvPr/>
        </p:nvSpPr>
        <p:spPr>
          <a:xfrm>
            <a:off x="9888584" y="1332411"/>
            <a:ext cx="674913" cy="523220"/>
          </a:xfrm>
          <a:prstGeom prst="rect">
            <a:avLst/>
          </a:prstGeom>
          <a:noFill/>
        </p:spPr>
        <p:txBody>
          <a:bodyPr wrap="square" rtlCol="0">
            <a:spAutoFit/>
          </a:bodyPr>
          <a:lstStyle/>
          <a:p>
            <a:r>
              <a:rPr lang="en-IN" sz="1400" dirty="0" smtClean="0">
                <a:solidFill>
                  <a:srgbClr val="C00000"/>
                </a:solidFill>
                <a:latin typeface="Times New Roman" pitchFamily="18" charset="0"/>
                <a:cs typeface="Times New Roman" pitchFamily="18" charset="0"/>
              </a:rPr>
              <a:t>=1,</a:t>
            </a:r>
          </a:p>
          <a:p>
            <a:r>
              <a:rPr lang="en-IN" sz="1400" dirty="0" err="1" smtClean="0">
                <a:solidFill>
                  <a:srgbClr val="C00000"/>
                </a:solidFill>
                <a:latin typeface="Times New Roman" pitchFamily="18" charset="0"/>
                <a:cs typeface="Times New Roman" pitchFamily="18" charset="0"/>
              </a:rPr>
              <a:t>As≠Bs</a:t>
            </a:r>
            <a:r>
              <a:rPr lang="en-IN" sz="1400" dirty="0" smtClean="0">
                <a:solidFill>
                  <a:srgbClr val="C00000"/>
                </a:solidFill>
                <a:latin typeface="Times New Roman" pitchFamily="18" charset="0"/>
                <a:cs typeface="Times New Roman" pitchFamily="18" charset="0"/>
              </a:rPr>
              <a:t>    </a:t>
            </a:r>
            <a:endParaRPr lang="en-IN" sz="1400" dirty="0">
              <a:solidFill>
                <a:srgbClr val="C00000"/>
              </a:solidFill>
              <a:latin typeface="Times New Roman" pitchFamily="18" charset="0"/>
              <a:cs typeface="Times New Roman" pitchFamily="18" charset="0"/>
            </a:endParaRPr>
          </a:p>
        </p:txBody>
      </p:sp>
      <p:sp>
        <p:nvSpPr>
          <p:cNvPr id="131" name="TextBox 130"/>
          <p:cNvSpPr txBox="1"/>
          <p:nvPr/>
        </p:nvSpPr>
        <p:spPr>
          <a:xfrm>
            <a:off x="6962502" y="1232262"/>
            <a:ext cx="1288868" cy="523220"/>
          </a:xfrm>
          <a:prstGeom prst="rect">
            <a:avLst/>
          </a:prstGeom>
          <a:noFill/>
        </p:spPr>
        <p:txBody>
          <a:bodyPr wrap="square" rtlCol="0">
            <a:spAutoFit/>
          </a:bodyPr>
          <a:lstStyle/>
          <a:p>
            <a:r>
              <a:rPr lang="en-IN" sz="1400" dirty="0" smtClean="0">
                <a:solidFill>
                  <a:srgbClr val="C00000"/>
                </a:solidFill>
                <a:latin typeface="Times New Roman" pitchFamily="18" charset="0"/>
                <a:cs typeface="Times New Roman" pitchFamily="18" charset="0"/>
              </a:rPr>
              <a:t>=0, subtraction</a:t>
            </a:r>
          </a:p>
          <a:p>
            <a:r>
              <a:rPr lang="en-IN" sz="1400" dirty="0" smtClean="0">
                <a:solidFill>
                  <a:srgbClr val="C00000"/>
                </a:solidFill>
                <a:latin typeface="Times New Roman" pitchFamily="18" charset="0"/>
                <a:cs typeface="Times New Roman" pitchFamily="18" charset="0"/>
              </a:rPr>
              <a:t>As=Bs </a:t>
            </a:r>
            <a:endParaRPr lang="en-IN" sz="1400" dirty="0">
              <a:solidFill>
                <a:srgbClr val="C000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9817" y="169817"/>
            <a:ext cx="6178732" cy="1754326"/>
          </a:xfrm>
          <a:prstGeom prst="rect">
            <a:avLst/>
          </a:prstGeom>
          <a:noFill/>
        </p:spPr>
        <p:txBody>
          <a:bodyPr wrap="square" rtlCol="0">
            <a:spAutoFit/>
          </a:bodyPr>
          <a:lstStyle/>
          <a:p>
            <a:r>
              <a:rPr lang="en-IN" u="sng" dirty="0" smtClean="0">
                <a:latin typeface="Times New Roman" pitchFamily="18" charset="0"/>
                <a:cs typeface="Times New Roman" pitchFamily="18" charset="0"/>
              </a:rPr>
              <a:t>Addition and subtraction with signed 2’s complement</a:t>
            </a:r>
          </a:p>
          <a:p>
            <a:r>
              <a:rPr lang="en-IN" dirty="0" smtClean="0">
                <a:latin typeface="Times New Roman" pitchFamily="18" charset="0"/>
                <a:cs typeface="Times New Roman" pitchFamily="18" charset="0"/>
              </a:rPr>
              <a:t>Left most bit of a number represent the sign bit</a:t>
            </a:r>
          </a:p>
          <a:p>
            <a:r>
              <a:rPr lang="en-IN" dirty="0" smtClean="0">
                <a:latin typeface="Times New Roman" pitchFamily="18" charset="0"/>
                <a:cs typeface="Times New Roman" pitchFamily="18" charset="0"/>
              </a:rPr>
              <a:t>Negative number is represented in 2’s complement form</a:t>
            </a:r>
          </a:p>
          <a:p>
            <a:r>
              <a:rPr lang="en-IN" dirty="0" smtClean="0">
                <a:latin typeface="Times New Roman" pitchFamily="18" charset="0"/>
                <a:cs typeface="Times New Roman" pitchFamily="18" charset="0"/>
              </a:rPr>
              <a:t>Overflow</a:t>
            </a:r>
          </a:p>
          <a:p>
            <a:r>
              <a:rPr lang="en-IN" dirty="0" smtClean="0">
                <a:latin typeface="Times New Roman" pitchFamily="18" charset="0"/>
                <a:cs typeface="Times New Roman" pitchFamily="18" charset="0"/>
              </a:rPr>
              <a:t>   Result of addition of two n-bit number has n+1 number of bits</a:t>
            </a:r>
          </a:p>
          <a:p>
            <a:r>
              <a:rPr lang="en-IN" dirty="0" smtClean="0">
                <a:latin typeface="Times New Roman" pitchFamily="18" charset="0"/>
                <a:cs typeface="Times New Roman" pitchFamily="18" charset="0"/>
              </a:rPr>
              <a:t>   Can be detected by the last two carry out of the addition </a:t>
            </a:r>
            <a:endParaRPr lang="en-IN" dirty="0">
              <a:latin typeface="Times New Roman" pitchFamily="18" charset="0"/>
              <a:cs typeface="Times New Roman" pitchFamily="18" charset="0"/>
            </a:endParaRPr>
          </a:p>
        </p:txBody>
      </p:sp>
      <p:sp>
        <p:nvSpPr>
          <p:cNvPr id="3" name="TextBox 2"/>
          <p:cNvSpPr txBox="1"/>
          <p:nvPr/>
        </p:nvSpPr>
        <p:spPr>
          <a:xfrm>
            <a:off x="1345472" y="2037807"/>
            <a:ext cx="1267099" cy="369332"/>
          </a:xfrm>
          <a:prstGeom prst="rect">
            <a:avLst/>
          </a:prstGeom>
          <a:noFill/>
        </p:spPr>
        <p:txBody>
          <a:bodyPr wrap="square" rtlCol="0">
            <a:spAutoFit/>
          </a:bodyPr>
          <a:lstStyle/>
          <a:p>
            <a:r>
              <a:rPr lang="en-IN" dirty="0" smtClean="0">
                <a:latin typeface="Times New Roman" pitchFamily="18" charset="0"/>
                <a:cs typeface="Times New Roman" pitchFamily="18" charset="0"/>
              </a:rPr>
              <a:t>BR register  </a:t>
            </a:r>
            <a:endParaRPr lang="en-IN" dirty="0">
              <a:latin typeface="Times New Roman" pitchFamily="18" charset="0"/>
              <a:cs typeface="Times New Roman" pitchFamily="18" charset="0"/>
            </a:endParaRPr>
          </a:p>
        </p:txBody>
      </p:sp>
      <p:sp>
        <p:nvSpPr>
          <p:cNvPr id="5" name="TextBox 4"/>
          <p:cNvSpPr txBox="1"/>
          <p:nvPr/>
        </p:nvSpPr>
        <p:spPr>
          <a:xfrm>
            <a:off x="1062444" y="2669178"/>
            <a:ext cx="1928951" cy="646331"/>
          </a:xfrm>
          <a:prstGeom prst="rect">
            <a:avLst/>
          </a:prstGeom>
          <a:noFill/>
        </p:spPr>
        <p:txBody>
          <a:bodyPr wrap="square" rtlCol="0">
            <a:spAutoFit/>
          </a:bodyPr>
          <a:lstStyle/>
          <a:p>
            <a:r>
              <a:rPr lang="en-IN" dirty="0" err="1" smtClean="0">
                <a:latin typeface="Times New Roman" pitchFamily="18" charset="0"/>
                <a:cs typeface="Times New Roman" pitchFamily="18" charset="0"/>
              </a:rPr>
              <a:t>Complementer</a:t>
            </a:r>
            <a:r>
              <a:rPr lang="en-IN" dirty="0" smtClean="0">
                <a:latin typeface="Times New Roman" pitchFamily="18" charset="0"/>
                <a:cs typeface="Times New Roman" pitchFamily="18" charset="0"/>
              </a:rPr>
              <a:t> and parallel adder</a:t>
            </a:r>
            <a:endParaRPr lang="en-IN" dirty="0">
              <a:latin typeface="Times New Roman" pitchFamily="18" charset="0"/>
              <a:cs typeface="Times New Roman" pitchFamily="18" charset="0"/>
            </a:endParaRPr>
          </a:p>
        </p:txBody>
      </p:sp>
      <p:sp>
        <p:nvSpPr>
          <p:cNvPr id="11" name="Rectangle 10"/>
          <p:cNvSpPr/>
          <p:nvPr/>
        </p:nvSpPr>
        <p:spPr>
          <a:xfrm>
            <a:off x="1410786" y="2103120"/>
            <a:ext cx="1175660" cy="2351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13" name="Rectangle 12"/>
          <p:cNvSpPr/>
          <p:nvPr/>
        </p:nvSpPr>
        <p:spPr>
          <a:xfrm>
            <a:off x="1119049" y="2738845"/>
            <a:ext cx="1780906" cy="5399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p:cNvSpPr/>
          <p:nvPr/>
        </p:nvSpPr>
        <p:spPr>
          <a:xfrm>
            <a:off x="579118" y="2904311"/>
            <a:ext cx="243841" cy="23077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p:cNvSpPr txBox="1"/>
          <p:nvPr/>
        </p:nvSpPr>
        <p:spPr>
          <a:xfrm>
            <a:off x="505094" y="2843351"/>
            <a:ext cx="317866" cy="369332"/>
          </a:xfrm>
          <a:prstGeom prst="rect">
            <a:avLst/>
          </a:prstGeom>
          <a:noFill/>
        </p:spPr>
        <p:txBody>
          <a:bodyPr wrap="square" rtlCol="0">
            <a:spAutoFit/>
          </a:bodyPr>
          <a:lstStyle/>
          <a:p>
            <a:r>
              <a:rPr lang="en-IN" dirty="0" smtClean="0">
                <a:latin typeface="Times New Roman" pitchFamily="18" charset="0"/>
                <a:cs typeface="Times New Roman" pitchFamily="18" charset="0"/>
              </a:rPr>
              <a:t>V</a:t>
            </a:r>
            <a:endParaRPr lang="en-IN" dirty="0">
              <a:latin typeface="Times New Roman" pitchFamily="18" charset="0"/>
              <a:cs typeface="Times New Roman" pitchFamily="18" charset="0"/>
            </a:endParaRPr>
          </a:p>
        </p:txBody>
      </p:sp>
      <p:sp>
        <p:nvSpPr>
          <p:cNvPr id="37" name="TextBox 36"/>
          <p:cNvSpPr txBox="1"/>
          <p:nvPr/>
        </p:nvSpPr>
        <p:spPr>
          <a:xfrm>
            <a:off x="1367243" y="3587932"/>
            <a:ext cx="1267099" cy="369332"/>
          </a:xfrm>
          <a:prstGeom prst="rect">
            <a:avLst/>
          </a:prstGeom>
          <a:noFill/>
        </p:spPr>
        <p:txBody>
          <a:bodyPr wrap="square" rtlCol="0">
            <a:spAutoFit/>
          </a:bodyPr>
          <a:lstStyle/>
          <a:p>
            <a:r>
              <a:rPr lang="en-IN" dirty="0" smtClean="0">
                <a:latin typeface="Times New Roman" pitchFamily="18" charset="0"/>
                <a:cs typeface="Times New Roman" pitchFamily="18" charset="0"/>
              </a:rPr>
              <a:t>AC register </a:t>
            </a:r>
            <a:endParaRPr lang="en-IN" dirty="0">
              <a:latin typeface="Times New Roman" pitchFamily="18" charset="0"/>
              <a:cs typeface="Times New Roman" pitchFamily="18" charset="0"/>
            </a:endParaRPr>
          </a:p>
        </p:txBody>
      </p:sp>
      <p:sp>
        <p:nvSpPr>
          <p:cNvPr id="38" name="Rectangle 37"/>
          <p:cNvSpPr/>
          <p:nvPr/>
        </p:nvSpPr>
        <p:spPr>
          <a:xfrm>
            <a:off x="1393368" y="3640182"/>
            <a:ext cx="1175660" cy="2351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cxnSp>
        <p:nvCxnSpPr>
          <p:cNvPr id="41" name="Straight Arrow Connector 40"/>
          <p:cNvCxnSpPr>
            <a:stCxn id="11" idx="2"/>
            <a:endCxn id="13" idx="0"/>
          </p:cNvCxnSpPr>
          <p:nvPr/>
        </p:nvCxnSpPr>
        <p:spPr>
          <a:xfrm rot="16200000" flipH="1">
            <a:off x="1803763" y="2533105"/>
            <a:ext cx="400593" cy="1088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rot="16200000" flipH="1">
            <a:off x="1525090" y="3456214"/>
            <a:ext cx="400593" cy="1088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rot="16200000" flipV="1">
            <a:off x="2096589" y="3442063"/>
            <a:ext cx="365760" cy="130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209007" y="3182986"/>
            <a:ext cx="914400"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Overflow</a:t>
            </a:r>
            <a:endParaRPr lang="en-IN" sz="1400" dirty="0">
              <a:latin typeface="Times New Roman" pitchFamily="18" charset="0"/>
              <a:cs typeface="Times New Roman" pitchFamily="18" charset="0"/>
            </a:endParaRPr>
          </a:p>
        </p:txBody>
      </p:sp>
      <p:sp>
        <p:nvSpPr>
          <p:cNvPr id="46" name="TextBox 45"/>
          <p:cNvSpPr txBox="1"/>
          <p:nvPr/>
        </p:nvSpPr>
        <p:spPr>
          <a:xfrm>
            <a:off x="169817" y="3995678"/>
            <a:ext cx="6453051" cy="2862322"/>
          </a:xfrm>
          <a:prstGeom prst="rect">
            <a:avLst/>
          </a:prstGeom>
          <a:noFill/>
        </p:spPr>
        <p:txBody>
          <a:bodyPr wrap="square" rtlCol="0">
            <a:spAutoFit/>
          </a:bodyPr>
          <a:lstStyle/>
          <a:p>
            <a:r>
              <a:rPr lang="en-IN" dirty="0" smtClean="0">
                <a:latin typeface="Times New Roman" pitchFamily="18" charset="0"/>
                <a:cs typeface="Times New Roman" pitchFamily="18" charset="0"/>
              </a:rPr>
              <a:t>AC: A register</a:t>
            </a:r>
          </a:p>
          <a:p>
            <a:r>
              <a:rPr lang="en-IN" dirty="0" smtClean="0">
                <a:latin typeface="Times New Roman" pitchFamily="18" charset="0"/>
                <a:cs typeface="Times New Roman" pitchFamily="18" charset="0"/>
              </a:rPr>
              <a:t>BR: B register</a:t>
            </a:r>
          </a:p>
          <a:p>
            <a:r>
              <a:rPr lang="en-IN" dirty="0" smtClean="0">
                <a:latin typeface="Times New Roman" pitchFamily="18" charset="0"/>
                <a:cs typeface="Times New Roman" pitchFamily="18" charset="0"/>
              </a:rPr>
              <a:t>Left most bit in AC and BR represent the sign of the numbers</a:t>
            </a:r>
          </a:p>
          <a:p>
            <a:r>
              <a:rPr lang="en-IN" dirty="0" smtClean="0">
                <a:latin typeface="Times New Roman" pitchFamily="18" charset="0"/>
                <a:cs typeface="Times New Roman" pitchFamily="18" charset="0"/>
              </a:rPr>
              <a:t>Two sign bits are added or subtracted together with the other bits in the </a:t>
            </a:r>
            <a:r>
              <a:rPr lang="en-IN" dirty="0" err="1" smtClean="0">
                <a:latin typeface="Times New Roman" pitchFamily="18" charset="0"/>
                <a:cs typeface="Times New Roman" pitchFamily="18" charset="0"/>
              </a:rPr>
              <a:t>complementer</a:t>
            </a:r>
            <a:r>
              <a:rPr lang="en-IN" dirty="0" smtClean="0">
                <a:latin typeface="Times New Roman" pitchFamily="18" charset="0"/>
                <a:cs typeface="Times New Roman" pitchFamily="18" charset="0"/>
              </a:rPr>
              <a:t> and parallel adder</a:t>
            </a:r>
          </a:p>
          <a:p>
            <a:r>
              <a:rPr lang="en-IN" dirty="0" smtClean="0">
                <a:latin typeface="Times New Roman" pitchFamily="18" charset="0"/>
                <a:cs typeface="Times New Roman" pitchFamily="18" charset="0"/>
              </a:rPr>
              <a:t>Overflow flip-flop V is set to 1 if there is an overflow, output carry is discarded in this case</a:t>
            </a:r>
          </a:p>
          <a:p>
            <a:r>
              <a:rPr lang="en-IN" dirty="0" smtClean="0">
                <a:latin typeface="Times New Roman" pitchFamily="18" charset="0"/>
                <a:cs typeface="Times New Roman" pitchFamily="18" charset="0"/>
              </a:rPr>
              <a:t>In the addition of two unsigned number an overflow is detected from the end carry. In case of signed number sign bit is treated as part of number and so end carry does not indicate overflow</a:t>
            </a:r>
            <a:endParaRPr lang="en-IN" dirty="0">
              <a:latin typeface="Times New Roman" pitchFamily="18" charset="0"/>
              <a:cs typeface="Times New Roman" pitchFamily="18" charset="0"/>
            </a:endParaRPr>
          </a:p>
        </p:txBody>
      </p:sp>
      <p:sp>
        <p:nvSpPr>
          <p:cNvPr id="47" name="Flowchart: Alternate Process 46"/>
          <p:cNvSpPr/>
          <p:nvPr/>
        </p:nvSpPr>
        <p:spPr>
          <a:xfrm>
            <a:off x="7615646" y="836022"/>
            <a:ext cx="1489165" cy="418012"/>
          </a:xfrm>
          <a:prstGeom prst="flowChartAlternate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48" name="TextBox 47"/>
          <p:cNvSpPr txBox="1"/>
          <p:nvPr/>
        </p:nvSpPr>
        <p:spPr>
          <a:xfrm>
            <a:off x="7628709" y="757646"/>
            <a:ext cx="1463039" cy="523220"/>
          </a:xfrm>
          <a:prstGeom prst="rect">
            <a:avLst/>
          </a:prstGeom>
          <a:noFill/>
        </p:spPr>
        <p:txBody>
          <a:bodyPr wrap="square" rtlCol="0">
            <a:spAutoFit/>
          </a:bodyPr>
          <a:lstStyle/>
          <a:p>
            <a:r>
              <a:rPr lang="en-IN" sz="1400" dirty="0" smtClean="0">
                <a:latin typeface="Times New Roman" pitchFamily="18" charset="0"/>
                <a:cs typeface="Times New Roman" pitchFamily="18" charset="0"/>
              </a:rPr>
              <a:t>Minuend in AC</a:t>
            </a:r>
          </a:p>
          <a:p>
            <a:r>
              <a:rPr lang="en-IN" sz="1400" dirty="0" smtClean="0">
                <a:latin typeface="Times New Roman" pitchFamily="18" charset="0"/>
                <a:cs typeface="Times New Roman" pitchFamily="18" charset="0"/>
              </a:rPr>
              <a:t>Subtrahend in BR  </a:t>
            </a:r>
            <a:endParaRPr lang="en-IN" sz="1400" dirty="0">
              <a:latin typeface="Times New Roman" pitchFamily="18" charset="0"/>
              <a:cs typeface="Times New Roman" pitchFamily="18" charset="0"/>
            </a:endParaRPr>
          </a:p>
        </p:txBody>
      </p:sp>
      <p:sp>
        <p:nvSpPr>
          <p:cNvPr id="56" name="TextBox 55"/>
          <p:cNvSpPr txBox="1"/>
          <p:nvPr/>
        </p:nvSpPr>
        <p:spPr>
          <a:xfrm>
            <a:off x="7537270" y="1519645"/>
            <a:ext cx="1436914" cy="523220"/>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ACAC+BR′+1</a:t>
            </a:r>
          </a:p>
          <a:p>
            <a:r>
              <a:rPr lang="en-IN" sz="1400" dirty="0" smtClean="0">
                <a:latin typeface="Times New Roman" pitchFamily="18" charset="0"/>
                <a:cs typeface="Times New Roman" pitchFamily="18" charset="0"/>
                <a:sym typeface="Symbol"/>
              </a:rPr>
              <a:t>V  Overflow</a:t>
            </a:r>
            <a:endParaRPr lang="en-IN" sz="1400" dirty="0">
              <a:latin typeface="Times New Roman" pitchFamily="18" charset="0"/>
              <a:cs typeface="Times New Roman" pitchFamily="18" charset="0"/>
            </a:endParaRPr>
          </a:p>
        </p:txBody>
      </p:sp>
      <p:sp>
        <p:nvSpPr>
          <p:cNvPr id="57" name="Rectangle 56"/>
          <p:cNvSpPr/>
          <p:nvPr/>
        </p:nvSpPr>
        <p:spPr>
          <a:xfrm>
            <a:off x="7628707" y="1567541"/>
            <a:ext cx="1319349" cy="4441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68" name="Flowchart: Alternate Process 67"/>
          <p:cNvSpPr/>
          <p:nvPr/>
        </p:nvSpPr>
        <p:spPr>
          <a:xfrm>
            <a:off x="8016240" y="2259873"/>
            <a:ext cx="631372" cy="300448"/>
          </a:xfrm>
          <a:prstGeom prst="flowChartAlternate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9" name="TextBox 68"/>
          <p:cNvSpPr txBox="1"/>
          <p:nvPr/>
        </p:nvSpPr>
        <p:spPr>
          <a:xfrm>
            <a:off x="8059785" y="2264226"/>
            <a:ext cx="548640"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END</a:t>
            </a:r>
          </a:p>
        </p:txBody>
      </p:sp>
      <p:sp>
        <p:nvSpPr>
          <p:cNvPr id="70" name="Flowchart: Alternate Process 69"/>
          <p:cNvSpPr/>
          <p:nvPr/>
        </p:nvSpPr>
        <p:spPr>
          <a:xfrm>
            <a:off x="9235439" y="805543"/>
            <a:ext cx="1301932" cy="418012"/>
          </a:xfrm>
          <a:prstGeom prst="flowChartAlternate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71" name="TextBox 70"/>
          <p:cNvSpPr txBox="1"/>
          <p:nvPr/>
        </p:nvSpPr>
        <p:spPr>
          <a:xfrm>
            <a:off x="9247051" y="754743"/>
            <a:ext cx="1290320" cy="523220"/>
          </a:xfrm>
          <a:prstGeom prst="rect">
            <a:avLst/>
          </a:prstGeom>
          <a:noFill/>
        </p:spPr>
        <p:txBody>
          <a:bodyPr wrap="square" rtlCol="0">
            <a:spAutoFit/>
          </a:bodyPr>
          <a:lstStyle/>
          <a:p>
            <a:r>
              <a:rPr lang="en-IN" sz="1400" dirty="0" err="1" smtClean="0">
                <a:latin typeface="Times New Roman" pitchFamily="18" charset="0"/>
                <a:cs typeface="Times New Roman" pitchFamily="18" charset="0"/>
              </a:rPr>
              <a:t>Augend</a:t>
            </a:r>
            <a:r>
              <a:rPr lang="en-IN" sz="1400" dirty="0" smtClean="0">
                <a:latin typeface="Times New Roman" pitchFamily="18" charset="0"/>
                <a:cs typeface="Times New Roman" pitchFamily="18" charset="0"/>
              </a:rPr>
              <a:t> in AC</a:t>
            </a:r>
          </a:p>
          <a:p>
            <a:r>
              <a:rPr lang="en-IN" sz="1400" dirty="0" smtClean="0">
                <a:latin typeface="Times New Roman" pitchFamily="18" charset="0"/>
                <a:cs typeface="Times New Roman" pitchFamily="18" charset="0"/>
              </a:rPr>
              <a:t>Addend in BR  </a:t>
            </a:r>
            <a:endParaRPr lang="en-IN" sz="1400" dirty="0">
              <a:latin typeface="Times New Roman" pitchFamily="18" charset="0"/>
              <a:cs typeface="Times New Roman" pitchFamily="18" charset="0"/>
            </a:endParaRPr>
          </a:p>
        </p:txBody>
      </p:sp>
      <p:cxnSp>
        <p:nvCxnSpPr>
          <p:cNvPr id="86" name="Straight Arrow Connector 85"/>
          <p:cNvCxnSpPr/>
          <p:nvPr/>
        </p:nvCxnSpPr>
        <p:spPr>
          <a:xfrm rot="5400000">
            <a:off x="9679577" y="1371599"/>
            <a:ext cx="287383"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p:nvPr/>
        </p:nvCxnSpPr>
        <p:spPr>
          <a:xfrm rot="5400000">
            <a:off x="8133807" y="1393370"/>
            <a:ext cx="287383"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3" name="Straight Arrow Connector 92"/>
          <p:cNvCxnSpPr/>
          <p:nvPr/>
        </p:nvCxnSpPr>
        <p:spPr>
          <a:xfrm rot="5400000">
            <a:off x="8312332" y="670558"/>
            <a:ext cx="287383"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6" name="TextBox 115"/>
          <p:cNvSpPr txBox="1"/>
          <p:nvPr/>
        </p:nvSpPr>
        <p:spPr>
          <a:xfrm>
            <a:off x="9109167" y="265610"/>
            <a:ext cx="1210491" cy="309155"/>
          </a:xfrm>
          <a:prstGeom prst="rect">
            <a:avLst/>
          </a:prstGeom>
          <a:noFill/>
        </p:spPr>
        <p:txBody>
          <a:bodyPr wrap="square" rtlCol="0">
            <a:spAutoFit/>
          </a:bodyPr>
          <a:lstStyle/>
          <a:p>
            <a:r>
              <a:rPr lang="en-IN" sz="1400" dirty="0" smtClean="0">
                <a:latin typeface="Times New Roman" pitchFamily="18" charset="0"/>
                <a:cs typeface="Times New Roman" pitchFamily="18" charset="0"/>
              </a:rPr>
              <a:t>Add operation </a:t>
            </a:r>
            <a:endParaRPr lang="en-IN" sz="1400" dirty="0">
              <a:latin typeface="Times New Roman" pitchFamily="18" charset="0"/>
              <a:cs typeface="Times New Roman" pitchFamily="18" charset="0"/>
            </a:endParaRPr>
          </a:p>
        </p:txBody>
      </p:sp>
      <p:sp>
        <p:nvSpPr>
          <p:cNvPr id="117" name="TextBox 116"/>
          <p:cNvSpPr txBox="1"/>
          <p:nvPr/>
        </p:nvSpPr>
        <p:spPr>
          <a:xfrm>
            <a:off x="7654835" y="235129"/>
            <a:ext cx="888273" cy="523220"/>
          </a:xfrm>
          <a:prstGeom prst="rect">
            <a:avLst/>
          </a:prstGeom>
          <a:noFill/>
        </p:spPr>
        <p:txBody>
          <a:bodyPr wrap="square" rtlCol="0">
            <a:spAutoFit/>
          </a:bodyPr>
          <a:lstStyle/>
          <a:p>
            <a:r>
              <a:rPr lang="en-IN" sz="1400" dirty="0" smtClean="0">
                <a:latin typeface="Times New Roman" pitchFamily="18" charset="0"/>
                <a:cs typeface="Times New Roman" pitchFamily="18" charset="0"/>
              </a:rPr>
              <a:t>Subtract operation</a:t>
            </a:r>
            <a:endParaRPr lang="en-IN" sz="1400" dirty="0">
              <a:latin typeface="Times New Roman" pitchFamily="18" charset="0"/>
              <a:cs typeface="Times New Roman" pitchFamily="18" charset="0"/>
            </a:endParaRPr>
          </a:p>
        </p:txBody>
      </p:sp>
      <p:cxnSp>
        <p:nvCxnSpPr>
          <p:cNvPr id="118" name="Straight Arrow Connector 117"/>
          <p:cNvCxnSpPr/>
          <p:nvPr/>
        </p:nvCxnSpPr>
        <p:spPr>
          <a:xfrm rot="5400000">
            <a:off x="9653452" y="666205"/>
            <a:ext cx="287383"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8" name="Straight Arrow Connector 127"/>
          <p:cNvCxnSpPr/>
          <p:nvPr/>
        </p:nvCxnSpPr>
        <p:spPr>
          <a:xfrm rot="5400000">
            <a:off x="8207830" y="2120536"/>
            <a:ext cx="287383"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9" name="TextBox 128"/>
          <p:cNvSpPr txBox="1"/>
          <p:nvPr/>
        </p:nvSpPr>
        <p:spPr>
          <a:xfrm>
            <a:off x="9165773" y="1502228"/>
            <a:ext cx="1271450" cy="523220"/>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ACAC+BR</a:t>
            </a:r>
          </a:p>
          <a:p>
            <a:r>
              <a:rPr lang="en-IN" sz="1400" dirty="0" smtClean="0">
                <a:latin typeface="Times New Roman" pitchFamily="18" charset="0"/>
                <a:cs typeface="Times New Roman" pitchFamily="18" charset="0"/>
                <a:sym typeface="Symbol"/>
              </a:rPr>
              <a:t>V  Overflow</a:t>
            </a:r>
            <a:endParaRPr lang="en-IN" sz="1400" dirty="0">
              <a:latin typeface="Times New Roman" pitchFamily="18" charset="0"/>
              <a:cs typeface="Times New Roman" pitchFamily="18" charset="0"/>
            </a:endParaRPr>
          </a:p>
        </p:txBody>
      </p:sp>
      <p:sp>
        <p:nvSpPr>
          <p:cNvPr id="130" name="Rectangle 129"/>
          <p:cNvSpPr/>
          <p:nvPr/>
        </p:nvSpPr>
        <p:spPr>
          <a:xfrm>
            <a:off x="9231086" y="1497873"/>
            <a:ext cx="1206138" cy="4441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131" name="Flowchart: Alternate Process 130"/>
          <p:cNvSpPr/>
          <p:nvPr/>
        </p:nvSpPr>
        <p:spPr>
          <a:xfrm>
            <a:off x="9618618" y="2190205"/>
            <a:ext cx="631372" cy="300448"/>
          </a:xfrm>
          <a:prstGeom prst="flowChartAlternate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2" name="TextBox 131"/>
          <p:cNvSpPr txBox="1"/>
          <p:nvPr/>
        </p:nvSpPr>
        <p:spPr>
          <a:xfrm>
            <a:off x="9662163" y="2194558"/>
            <a:ext cx="548640"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END</a:t>
            </a:r>
          </a:p>
        </p:txBody>
      </p:sp>
      <p:cxnSp>
        <p:nvCxnSpPr>
          <p:cNvPr id="133" name="Straight Arrow Connector 132"/>
          <p:cNvCxnSpPr/>
          <p:nvPr/>
        </p:nvCxnSpPr>
        <p:spPr>
          <a:xfrm rot="5400000">
            <a:off x="9810208" y="2050868"/>
            <a:ext cx="287383"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5" name="TextBox 134"/>
          <p:cNvSpPr txBox="1"/>
          <p:nvPr/>
        </p:nvSpPr>
        <p:spPr>
          <a:xfrm>
            <a:off x="3505201" y="2867917"/>
            <a:ext cx="6017622" cy="738664"/>
          </a:xfrm>
          <a:prstGeom prst="rect">
            <a:avLst/>
          </a:prstGeom>
          <a:noFill/>
        </p:spPr>
        <p:txBody>
          <a:bodyPr wrap="square" rtlCol="0">
            <a:spAutoFit/>
          </a:bodyPr>
          <a:lstStyle/>
          <a:p>
            <a:r>
              <a:rPr lang="en-IN" sz="1400" dirty="0" smtClean="0">
                <a:latin typeface="Times New Roman" pitchFamily="18" charset="0"/>
                <a:cs typeface="Times New Roman" pitchFamily="18" charset="0"/>
              </a:rPr>
              <a:t>Adds AC and 2’s complement of BR</a:t>
            </a:r>
          </a:p>
          <a:p>
            <a:r>
              <a:rPr lang="en-IN" sz="1400" dirty="0" smtClean="0">
                <a:latin typeface="Times New Roman" pitchFamily="18" charset="0"/>
                <a:cs typeface="Times New Roman" pitchFamily="18" charset="0"/>
              </a:rPr>
              <a:t>Overflow must be checked because two numbers added could have the same sign</a:t>
            </a:r>
          </a:p>
          <a:p>
            <a:r>
              <a:rPr lang="en-IN" sz="1400" dirty="0" smtClean="0">
                <a:latin typeface="Times New Roman" pitchFamily="18" charset="0"/>
                <a:cs typeface="Times New Roman" pitchFamily="18" charset="0"/>
              </a:rPr>
              <a:t>In case of overflow there is an erroneous result in AC  </a:t>
            </a:r>
            <a:endParaRPr lang="en-IN" sz="1400" dirty="0">
              <a:latin typeface="Times New Roman" pitchFamily="18" charset="0"/>
              <a:cs typeface="Times New Roman" pitchFamily="18" charset="0"/>
            </a:endParaRPr>
          </a:p>
        </p:txBody>
      </p:sp>
      <p:cxnSp>
        <p:nvCxnSpPr>
          <p:cNvPr id="137" name="Straight Arrow Connector 136"/>
          <p:cNvCxnSpPr>
            <a:stCxn id="57" idx="1"/>
          </p:cNvCxnSpPr>
          <p:nvPr/>
        </p:nvCxnSpPr>
        <p:spPr>
          <a:xfrm rot="10800000" flipV="1">
            <a:off x="5826035" y="1789609"/>
            <a:ext cx="1802673" cy="1084219"/>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38" name="TextBox 137"/>
          <p:cNvSpPr txBox="1"/>
          <p:nvPr/>
        </p:nvSpPr>
        <p:spPr>
          <a:xfrm>
            <a:off x="6518367" y="3608146"/>
            <a:ext cx="5512524" cy="1169551"/>
          </a:xfrm>
          <a:prstGeom prst="rect">
            <a:avLst/>
          </a:prstGeom>
          <a:noFill/>
        </p:spPr>
        <p:txBody>
          <a:bodyPr wrap="square" rtlCol="0">
            <a:spAutoFit/>
          </a:bodyPr>
          <a:lstStyle/>
          <a:p>
            <a:r>
              <a:rPr lang="en-IN" sz="1400" dirty="0" smtClean="0">
                <a:latin typeface="Times New Roman" pitchFamily="18" charset="0"/>
                <a:cs typeface="Times New Roman" pitchFamily="18" charset="0"/>
              </a:rPr>
              <a:t>Sum = AC+BR including their sign bits</a:t>
            </a:r>
          </a:p>
          <a:p>
            <a:r>
              <a:rPr lang="en-IN" sz="1400" dirty="0" smtClean="0">
                <a:latin typeface="Times New Roman" pitchFamily="18" charset="0"/>
                <a:cs typeface="Times New Roman" pitchFamily="18" charset="0"/>
              </a:rPr>
              <a:t>V=1 if XOR of the last two carries is 1 otherwise it is cleared to 0</a:t>
            </a:r>
          </a:p>
          <a:p>
            <a:r>
              <a:rPr lang="en-IN" sz="1400" dirty="0" smtClean="0">
                <a:latin typeface="Times New Roman" pitchFamily="18" charset="0"/>
                <a:cs typeface="Times New Roman" pitchFamily="18" charset="0"/>
              </a:rPr>
              <a:t>Two sign bits (As, Bs) are added/subtracted together with the other bits</a:t>
            </a:r>
          </a:p>
          <a:p>
            <a:r>
              <a:rPr lang="en-IN" sz="1400" dirty="0" smtClean="0">
                <a:latin typeface="Times New Roman" pitchFamily="18" charset="0"/>
                <a:cs typeface="Times New Roman" pitchFamily="18" charset="0"/>
              </a:rPr>
              <a:t>2’s complement of BR change its sign and so there is a chance of overflow</a:t>
            </a:r>
          </a:p>
          <a:p>
            <a:r>
              <a:rPr lang="en-IN" sz="1400" dirty="0" smtClean="0">
                <a:latin typeface="Times New Roman" pitchFamily="18" charset="0"/>
                <a:cs typeface="Times New Roman" pitchFamily="18" charset="0"/>
              </a:rPr>
              <a:t>during subtraction and AC contains wrong result </a:t>
            </a:r>
            <a:endParaRPr lang="en-IN" sz="1400" dirty="0">
              <a:latin typeface="Times New Roman" pitchFamily="18" charset="0"/>
              <a:cs typeface="Times New Roman" pitchFamily="18" charset="0"/>
            </a:endParaRPr>
          </a:p>
        </p:txBody>
      </p:sp>
      <p:cxnSp>
        <p:nvCxnSpPr>
          <p:cNvPr id="142" name="Straight Arrow Connector 141"/>
          <p:cNvCxnSpPr/>
          <p:nvPr/>
        </p:nvCxnSpPr>
        <p:spPr>
          <a:xfrm rot="16200000" flipH="1">
            <a:off x="8608423" y="2860765"/>
            <a:ext cx="1881051" cy="52251"/>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3" name="Rectangle 142"/>
          <p:cNvSpPr/>
          <p:nvPr/>
        </p:nvSpPr>
        <p:spPr>
          <a:xfrm>
            <a:off x="3570512" y="2878182"/>
            <a:ext cx="5873934" cy="71410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4" name="Rectangle 143"/>
          <p:cNvSpPr/>
          <p:nvPr/>
        </p:nvSpPr>
        <p:spPr>
          <a:xfrm>
            <a:off x="6531427" y="3644536"/>
            <a:ext cx="5447213" cy="111034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5199018" y="169816"/>
            <a:ext cx="6805748" cy="3693319"/>
          </a:xfrm>
          <a:prstGeom prst="rect">
            <a:avLst/>
          </a:prstGeom>
          <a:noFill/>
        </p:spPr>
        <p:txBody>
          <a:bodyPr wrap="square" rtlCol="0">
            <a:spAutoFit/>
          </a:bodyPr>
          <a:lstStyle/>
          <a:p>
            <a:r>
              <a:rPr lang="en-IN" dirty="0" smtClean="0">
                <a:latin typeface="Times New Roman" pitchFamily="18" charset="0"/>
                <a:cs typeface="Times New Roman" pitchFamily="18" charset="0"/>
              </a:rPr>
              <a:t>If multiplier bit is 1, copy multiplicand after shifting one bit left</a:t>
            </a:r>
          </a:p>
          <a:p>
            <a:r>
              <a:rPr lang="en-IN" dirty="0" smtClean="0">
                <a:latin typeface="Times New Roman" pitchFamily="18" charset="0"/>
                <a:cs typeface="Times New Roman" pitchFamily="18" charset="0"/>
              </a:rPr>
              <a:t>Else copy 0 after 1 bit left shifting</a:t>
            </a:r>
          </a:p>
          <a:p>
            <a:r>
              <a:rPr lang="en-IN" dirty="0" smtClean="0">
                <a:latin typeface="Times New Roman" pitchFamily="18" charset="0"/>
                <a:cs typeface="Times New Roman" pitchFamily="18" charset="0"/>
              </a:rPr>
              <a:t>Add the partial products</a:t>
            </a:r>
          </a:p>
          <a:p>
            <a:endParaRPr lang="en-IN" dirty="0" smtClean="0">
              <a:latin typeface="Times New Roman" pitchFamily="18" charset="0"/>
              <a:cs typeface="Times New Roman" pitchFamily="18" charset="0"/>
            </a:endParaRPr>
          </a:p>
          <a:p>
            <a:r>
              <a:rPr lang="en-IN" u="sng" dirty="0" smtClean="0">
                <a:latin typeface="Times New Roman" pitchFamily="18" charset="0"/>
                <a:cs typeface="Times New Roman" pitchFamily="18" charset="0"/>
              </a:rPr>
              <a:t>Hardware implementation for sign magnitude data</a:t>
            </a:r>
          </a:p>
          <a:p>
            <a:r>
              <a:rPr lang="en-IN" dirty="0" smtClean="0">
                <a:latin typeface="Times New Roman" pitchFamily="18" charset="0"/>
                <a:cs typeface="Times New Roman" pitchFamily="18" charset="0"/>
              </a:rPr>
              <a:t>Adder for adding the partial products and store the result of multiplication in a register</a:t>
            </a:r>
          </a:p>
          <a:p>
            <a:r>
              <a:rPr lang="en-IN" dirty="0" smtClean="0">
                <a:latin typeface="Times New Roman" pitchFamily="18" charset="0"/>
                <a:cs typeface="Times New Roman" pitchFamily="18" charset="0"/>
              </a:rPr>
              <a:t>Instead of shifting multiplicand towards left, partial product can be shifted towards right </a:t>
            </a:r>
          </a:p>
          <a:p>
            <a:r>
              <a:rPr lang="en-IN" dirty="0" smtClean="0">
                <a:latin typeface="Times New Roman" pitchFamily="18" charset="0"/>
                <a:cs typeface="Times New Roman" pitchFamily="18" charset="0"/>
              </a:rPr>
              <a:t>Store multiplier in Q register and sign of multiplier in Qs</a:t>
            </a:r>
          </a:p>
          <a:p>
            <a:r>
              <a:rPr lang="en-IN" dirty="0" smtClean="0">
                <a:latin typeface="Times New Roman" pitchFamily="18" charset="0"/>
                <a:cs typeface="Times New Roman" pitchFamily="18" charset="0"/>
              </a:rPr>
              <a:t>Store multiplicand in B register and sign of multiplier in Bs</a:t>
            </a:r>
          </a:p>
          <a:p>
            <a:r>
              <a:rPr lang="en-IN" dirty="0" smtClean="0">
                <a:latin typeface="Times New Roman" pitchFamily="18" charset="0"/>
                <a:cs typeface="Times New Roman" pitchFamily="18" charset="0"/>
              </a:rPr>
              <a:t>SC = number of bits in multiplier initially, decrement by 1 after forming each partial product, process stops when SC is 0</a:t>
            </a:r>
          </a:p>
        </p:txBody>
      </p:sp>
      <p:graphicFrame>
        <p:nvGraphicFramePr>
          <p:cNvPr id="28" name="Table 27"/>
          <p:cNvGraphicFramePr>
            <a:graphicFrameLocks noGrp="1"/>
          </p:cNvGraphicFramePr>
          <p:nvPr/>
        </p:nvGraphicFramePr>
        <p:xfrm>
          <a:off x="223522" y="510660"/>
          <a:ext cx="4862430" cy="2966720"/>
        </p:xfrm>
        <a:graphic>
          <a:graphicData uri="http://schemas.openxmlformats.org/drawingml/2006/table">
            <a:tbl>
              <a:tblPr firstRow="1" bandRow="1">
                <a:tableStyleId>{5C22544A-7EE6-4342-B048-85BDC9FD1C3A}</a:tableStyleId>
              </a:tblPr>
              <a:tblGrid>
                <a:gridCol w="259804"/>
                <a:gridCol w="313508"/>
                <a:gridCol w="326572"/>
                <a:gridCol w="339634"/>
                <a:gridCol w="352697"/>
                <a:gridCol w="339634"/>
                <a:gridCol w="365760"/>
                <a:gridCol w="365760"/>
                <a:gridCol w="365760"/>
                <a:gridCol w="1833301"/>
              </a:tblGrid>
              <a:tr h="370840">
                <a:tc>
                  <a:txBody>
                    <a:bodyPr/>
                    <a:lstStyle/>
                    <a:p>
                      <a:endParaRPr lang="en-IN" dirty="0">
                        <a:latin typeface="Times New Roman" pitchFamily="18" charset="0"/>
                        <a:cs typeface="Times New Roman" pitchFamily="18" charset="0"/>
                      </a:endParaRPr>
                    </a:p>
                  </a:txBody>
                  <a:tcPr/>
                </a:tc>
                <a:tc>
                  <a:txBody>
                    <a:bodyPr/>
                    <a:lstStyle/>
                    <a:p>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a:t>
                      </a:r>
                      <a:endParaRPr lang="en-IN" dirty="0">
                        <a:latin typeface="Times New Roman" pitchFamily="18" charset="0"/>
                        <a:cs typeface="Times New Roman" pitchFamily="18" charset="0"/>
                      </a:endParaRPr>
                    </a:p>
                  </a:txBody>
                  <a:tcPr/>
                </a:tc>
                <a:tc>
                  <a:txBody>
                    <a:bodyPr/>
                    <a:lstStyle/>
                    <a:p>
                      <a:r>
                        <a:rPr lang="en-IN" sz="1400" dirty="0" smtClean="0">
                          <a:latin typeface="Times New Roman" pitchFamily="18" charset="0"/>
                          <a:cs typeface="Times New Roman" pitchFamily="18" charset="0"/>
                        </a:rPr>
                        <a:t>Multiplicand</a:t>
                      </a:r>
                      <a:endParaRPr lang="en-IN" sz="1400" dirty="0">
                        <a:latin typeface="Times New Roman" pitchFamily="18" charset="0"/>
                        <a:cs typeface="Times New Roman" pitchFamily="18" charset="0"/>
                      </a:endParaRPr>
                    </a:p>
                  </a:txBody>
                  <a:tcPr/>
                </a:tc>
              </a:tr>
              <a:tr h="370840">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a:t>
                      </a:r>
                      <a:endParaRPr lang="en-IN" dirty="0">
                        <a:latin typeface="Times New Roman" pitchFamily="18" charset="0"/>
                        <a:cs typeface="Times New Roman" pitchFamily="18" charset="0"/>
                      </a:endParaRPr>
                    </a:p>
                  </a:txBody>
                  <a:tcPr/>
                </a:tc>
                <a:tc>
                  <a:txBody>
                    <a:bodyPr/>
                    <a:lstStyle/>
                    <a:p>
                      <a:r>
                        <a:rPr lang="en-IN" sz="1400" dirty="0" smtClean="0">
                          <a:latin typeface="Times New Roman" pitchFamily="18" charset="0"/>
                          <a:cs typeface="Times New Roman" pitchFamily="18" charset="0"/>
                        </a:rPr>
                        <a:t>Multiplier</a:t>
                      </a:r>
                      <a:endParaRPr lang="en-IN" sz="1400" dirty="0">
                        <a:latin typeface="Times New Roman" pitchFamily="18" charset="0"/>
                        <a:cs typeface="Times New Roman" pitchFamily="18" charset="0"/>
                      </a:endParaRPr>
                    </a:p>
                  </a:txBody>
                  <a:tcPr/>
                </a:tc>
              </a:tr>
              <a:tr h="370840">
                <a:tc>
                  <a:txBody>
                    <a:bodyPr/>
                    <a:lstStyle/>
                    <a:p>
                      <a:endParaRPr lang="en-IN">
                        <a:latin typeface="Times New Roman" pitchFamily="18" charset="0"/>
                        <a:cs typeface="Times New Roman" pitchFamily="18" charset="0"/>
                      </a:endParaRPr>
                    </a:p>
                  </a:txBody>
                  <a:tcPr/>
                </a:tc>
                <a:tc>
                  <a:txBody>
                    <a:bodyPr/>
                    <a:lstStyle/>
                    <a:p>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a:t>
                      </a:r>
                      <a:endParaRPr lang="en-IN" dirty="0">
                        <a:latin typeface="Times New Roman" pitchFamily="18" charset="0"/>
                        <a:cs typeface="Times New Roman" pitchFamily="18" charset="0"/>
                      </a:endParaRPr>
                    </a:p>
                  </a:txBody>
                  <a:tcPr/>
                </a:tc>
                <a:tc>
                  <a:txBody>
                    <a:bodyPr/>
                    <a:lstStyle/>
                    <a:p>
                      <a:r>
                        <a:rPr lang="en-IN" sz="1400" dirty="0" smtClean="0">
                          <a:latin typeface="Times New Roman" pitchFamily="18" charset="0"/>
                          <a:cs typeface="Times New Roman" pitchFamily="18" charset="0"/>
                        </a:rPr>
                        <a:t>Partial product</a:t>
                      </a:r>
                      <a:endParaRPr lang="en-IN" sz="1400" dirty="0">
                        <a:latin typeface="Times New Roman" pitchFamily="18" charset="0"/>
                        <a:cs typeface="Times New Roman" pitchFamily="18" charset="0"/>
                      </a:endParaRPr>
                    </a:p>
                  </a:txBody>
                  <a:tcPr/>
                </a:tc>
              </a:tr>
              <a:tr h="370840">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a:t>
                      </a:r>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r>
                        <a:rPr lang="en-IN" sz="1400" dirty="0" smtClean="0">
                          <a:latin typeface="Times New Roman" pitchFamily="18" charset="0"/>
                          <a:cs typeface="Times New Roman" pitchFamily="18" charset="0"/>
                        </a:rPr>
                        <a:t>Partial product</a:t>
                      </a:r>
                      <a:endParaRPr lang="en-IN" sz="1400" dirty="0">
                        <a:latin typeface="Times New Roman" pitchFamily="18" charset="0"/>
                        <a:cs typeface="Times New Roman" pitchFamily="18" charset="0"/>
                      </a:endParaRPr>
                    </a:p>
                  </a:txBody>
                  <a:tcPr/>
                </a:tc>
              </a:tr>
              <a:tr h="370840">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a:t>
                      </a:r>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dirty="0">
                        <a:latin typeface="Times New Roman" pitchFamily="18" charset="0"/>
                        <a:cs typeface="Times New Roman" pitchFamily="18" charset="0"/>
                      </a:endParaRPr>
                    </a:p>
                  </a:txBody>
                  <a:tcPr/>
                </a:tc>
                <a:tc>
                  <a:txBody>
                    <a:bodyPr/>
                    <a:lstStyle/>
                    <a:p>
                      <a:r>
                        <a:rPr lang="en-IN" sz="1400" dirty="0" smtClean="0">
                          <a:latin typeface="Times New Roman" pitchFamily="18" charset="0"/>
                          <a:cs typeface="Times New Roman" pitchFamily="18" charset="0"/>
                        </a:rPr>
                        <a:t>Partial product</a:t>
                      </a:r>
                      <a:endParaRPr lang="en-IN" sz="1400" dirty="0">
                        <a:latin typeface="Times New Roman" pitchFamily="18" charset="0"/>
                        <a:cs typeface="Times New Roman" pitchFamily="18" charset="0"/>
                      </a:endParaRPr>
                    </a:p>
                  </a:txBody>
                  <a:tcPr/>
                </a:tc>
              </a:tr>
              <a:tr h="370840">
                <a:tc>
                  <a:txBody>
                    <a:bodyPr/>
                    <a:lstStyle/>
                    <a:p>
                      <a:endParaRPr lang="en-IN">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a:t>
                      </a:r>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r>
                        <a:rPr lang="en-IN" sz="1400" dirty="0" smtClean="0">
                          <a:latin typeface="Times New Roman" pitchFamily="18" charset="0"/>
                          <a:cs typeface="Times New Roman" pitchFamily="18" charset="0"/>
                        </a:rPr>
                        <a:t>Partial product</a:t>
                      </a:r>
                      <a:endParaRPr lang="en-IN" sz="1400"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a:t>
                      </a:r>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c>
                  <a:txBody>
                    <a:bodyPr/>
                    <a:lstStyle/>
                    <a:p>
                      <a:r>
                        <a:rPr lang="en-IN" sz="1400" dirty="0" smtClean="0">
                          <a:latin typeface="Times New Roman" pitchFamily="18" charset="0"/>
                          <a:cs typeface="Times New Roman" pitchFamily="18" charset="0"/>
                        </a:rPr>
                        <a:t>Partial product</a:t>
                      </a:r>
                      <a:endParaRPr lang="en-IN" sz="1400"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a:t>
                      </a:r>
                      <a:endParaRPr lang="en-IN" dirty="0">
                        <a:latin typeface="Times New Roman" pitchFamily="18" charset="0"/>
                        <a:cs typeface="Times New Roman" pitchFamily="18" charset="0"/>
                      </a:endParaRPr>
                    </a:p>
                  </a:txBody>
                  <a:tcPr/>
                </a:tc>
                <a:tc>
                  <a:txBody>
                    <a:bodyPr/>
                    <a:lstStyle/>
                    <a:p>
                      <a:r>
                        <a:rPr lang="en-IN" sz="1400" dirty="0" smtClean="0">
                          <a:latin typeface="Times New Roman" pitchFamily="18" charset="0"/>
                          <a:cs typeface="Times New Roman" pitchFamily="18" charset="0"/>
                        </a:rPr>
                        <a:t>Sum of partial product</a:t>
                      </a:r>
                      <a:endParaRPr lang="en-IN" sz="1400" dirty="0">
                        <a:latin typeface="Times New Roman" pitchFamily="18" charset="0"/>
                        <a:cs typeface="Times New Roman" pitchFamily="18" charset="0"/>
                      </a:endParaRPr>
                    </a:p>
                  </a:txBody>
                  <a:tcPr/>
                </a:tc>
              </a:tr>
            </a:tbl>
          </a:graphicData>
        </a:graphic>
      </p:graphicFrame>
      <p:sp>
        <p:nvSpPr>
          <p:cNvPr id="29" name="TextBox 28"/>
          <p:cNvSpPr txBox="1"/>
          <p:nvPr/>
        </p:nvSpPr>
        <p:spPr>
          <a:xfrm>
            <a:off x="207555" y="0"/>
            <a:ext cx="4001588" cy="369332"/>
          </a:xfrm>
          <a:prstGeom prst="rect">
            <a:avLst/>
          </a:prstGeom>
          <a:noFill/>
        </p:spPr>
        <p:txBody>
          <a:bodyPr wrap="square" rtlCol="0">
            <a:spAutoFit/>
          </a:bodyPr>
          <a:lstStyle/>
          <a:p>
            <a:r>
              <a:rPr lang="en-IN" b="1" dirty="0" smtClean="0">
                <a:latin typeface="Times New Roman" pitchFamily="18" charset="0"/>
                <a:cs typeface="Times New Roman" pitchFamily="18" charset="0"/>
              </a:rPr>
              <a:t>Multiplication algorithm</a:t>
            </a:r>
            <a:endParaRPr lang="en-IN" b="1" dirty="0">
              <a:latin typeface="Times New Roman" pitchFamily="18" charset="0"/>
              <a:cs typeface="Times New Roman" pitchFamily="18" charset="0"/>
            </a:endParaRPr>
          </a:p>
        </p:txBody>
      </p:sp>
      <p:sp>
        <p:nvSpPr>
          <p:cNvPr id="30" name="TextBox 29"/>
          <p:cNvSpPr txBox="1"/>
          <p:nvPr/>
        </p:nvSpPr>
        <p:spPr>
          <a:xfrm>
            <a:off x="1449976" y="4310743"/>
            <a:ext cx="1123406" cy="369332"/>
          </a:xfrm>
          <a:prstGeom prst="rect">
            <a:avLst/>
          </a:prstGeom>
          <a:noFill/>
        </p:spPr>
        <p:txBody>
          <a:bodyPr wrap="square" rtlCol="0">
            <a:spAutoFit/>
          </a:bodyPr>
          <a:lstStyle/>
          <a:p>
            <a:r>
              <a:rPr lang="en-IN" dirty="0" smtClean="0">
                <a:latin typeface="Times New Roman" pitchFamily="18" charset="0"/>
                <a:cs typeface="Times New Roman" pitchFamily="18" charset="0"/>
              </a:rPr>
              <a:t>B register </a:t>
            </a:r>
            <a:endParaRPr lang="en-IN" dirty="0">
              <a:latin typeface="Times New Roman" pitchFamily="18" charset="0"/>
              <a:cs typeface="Times New Roman" pitchFamily="18" charset="0"/>
            </a:endParaRPr>
          </a:p>
        </p:txBody>
      </p:sp>
      <p:sp>
        <p:nvSpPr>
          <p:cNvPr id="31" name="TextBox 30"/>
          <p:cNvSpPr txBox="1"/>
          <p:nvPr/>
        </p:nvSpPr>
        <p:spPr>
          <a:xfrm>
            <a:off x="1733004" y="6030686"/>
            <a:ext cx="1123406" cy="369332"/>
          </a:xfrm>
          <a:prstGeom prst="rect">
            <a:avLst/>
          </a:prstGeom>
          <a:noFill/>
        </p:spPr>
        <p:txBody>
          <a:bodyPr wrap="square" rtlCol="0">
            <a:spAutoFit/>
          </a:bodyPr>
          <a:lstStyle/>
          <a:p>
            <a:r>
              <a:rPr lang="en-IN" dirty="0" smtClean="0">
                <a:latin typeface="Times New Roman" pitchFamily="18" charset="0"/>
                <a:cs typeface="Times New Roman" pitchFamily="18" charset="0"/>
              </a:rPr>
              <a:t>A register </a:t>
            </a:r>
            <a:endParaRPr lang="en-IN" dirty="0">
              <a:latin typeface="Times New Roman" pitchFamily="18" charset="0"/>
              <a:cs typeface="Times New Roman" pitchFamily="18" charset="0"/>
            </a:endParaRPr>
          </a:p>
        </p:txBody>
      </p:sp>
      <p:sp>
        <p:nvSpPr>
          <p:cNvPr id="32" name="TextBox 31"/>
          <p:cNvSpPr txBox="1"/>
          <p:nvPr/>
        </p:nvSpPr>
        <p:spPr>
          <a:xfrm>
            <a:off x="1245323" y="5033555"/>
            <a:ext cx="1942014" cy="646331"/>
          </a:xfrm>
          <a:prstGeom prst="rect">
            <a:avLst/>
          </a:prstGeom>
          <a:noFill/>
        </p:spPr>
        <p:txBody>
          <a:bodyPr wrap="square" rtlCol="0">
            <a:spAutoFit/>
          </a:bodyPr>
          <a:lstStyle/>
          <a:p>
            <a:r>
              <a:rPr lang="en-IN" dirty="0" err="1" smtClean="0">
                <a:latin typeface="Times New Roman" pitchFamily="18" charset="0"/>
                <a:cs typeface="Times New Roman" pitchFamily="18" charset="0"/>
              </a:rPr>
              <a:t>Complementer</a:t>
            </a:r>
            <a:r>
              <a:rPr lang="en-IN" dirty="0" smtClean="0">
                <a:latin typeface="Times New Roman" pitchFamily="18" charset="0"/>
                <a:cs typeface="Times New Roman" pitchFamily="18" charset="0"/>
              </a:rPr>
              <a:t> and parallel adder </a:t>
            </a:r>
            <a:endParaRPr lang="en-IN" dirty="0">
              <a:latin typeface="Times New Roman" pitchFamily="18" charset="0"/>
              <a:cs typeface="Times New Roman" pitchFamily="18" charset="0"/>
            </a:endParaRPr>
          </a:p>
        </p:txBody>
      </p:sp>
      <p:sp>
        <p:nvSpPr>
          <p:cNvPr id="33" name="TextBox 32"/>
          <p:cNvSpPr txBox="1"/>
          <p:nvPr/>
        </p:nvSpPr>
        <p:spPr>
          <a:xfrm>
            <a:off x="3263534" y="4369891"/>
            <a:ext cx="2299066" cy="369332"/>
          </a:xfrm>
          <a:prstGeom prst="rect">
            <a:avLst/>
          </a:prstGeom>
          <a:noFill/>
        </p:spPr>
        <p:txBody>
          <a:bodyPr wrap="square" rtlCol="0">
            <a:spAutoFit/>
          </a:bodyPr>
          <a:lstStyle/>
          <a:p>
            <a:r>
              <a:rPr lang="en-IN" dirty="0" smtClean="0">
                <a:latin typeface="Times New Roman" pitchFamily="18" charset="0"/>
                <a:cs typeface="Times New Roman" pitchFamily="18" charset="0"/>
              </a:rPr>
              <a:t>Sequence counter (SC)</a:t>
            </a:r>
            <a:endParaRPr lang="en-IN" dirty="0">
              <a:latin typeface="Times New Roman" pitchFamily="18" charset="0"/>
              <a:cs typeface="Times New Roman" pitchFamily="18" charset="0"/>
            </a:endParaRPr>
          </a:p>
        </p:txBody>
      </p:sp>
      <p:sp>
        <p:nvSpPr>
          <p:cNvPr id="34" name="TextBox 33"/>
          <p:cNvSpPr txBox="1"/>
          <p:nvPr/>
        </p:nvSpPr>
        <p:spPr>
          <a:xfrm>
            <a:off x="627014" y="4323807"/>
            <a:ext cx="444139" cy="369332"/>
          </a:xfrm>
          <a:prstGeom prst="rect">
            <a:avLst/>
          </a:prstGeom>
          <a:noFill/>
        </p:spPr>
        <p:txBody>
          <a:bodyPr wrap="square" rtlCol="0">
            <a:spAutoFit/>
          </a:bodyPr>
          <a:lstStyle/>
          <a:p>
            <a:r>
              <a:rPr lang="en-IN" dirty="0" smtClean="0">
                <a:latin typeface="Times New Roman" pitchFamily="18" charset="0"/>
                <a:cs typeface="Times New Roman" pitchFamily="18" charset="0"/>
              </a:rPr>
              <a:t>Bs </a:t>
            </a:r>
            <a:endParaRPr lang="en-IN" dirty="0">
              <a:latin typeface="Times New Roman" pitchFamily="18" charset="0"/>
              <a:cs typeface="Times New Roman" pitchFamily="18" charset="0"/>
            </a:endParaRPr>
          </a:p>
        </p:txBody>
      </p:sp>
      <p:sp>
        <p:nvSpPr>
          <p:cNvPr id="35" name="TextBox 34"/>
          <p:cNvSpPr txBox="1"/>
          <p:nvPr/>
        </p:nvSpPr>
        <p:spPr>
          <a:xfrm>
            <a:off x="1445620" y="5730240"/>
            <a:ext cx="444139" cy="369332"/>
          </a:xfrm>
          <a:prstGeom prst="rect">
            <a:avLst/>
          </a:prstGeom>
          <a:noFill/>
        </p:spPr>
        <p:txBody>
          <a:bodyPr wrap="square" rtlCol="0">
            <a:spAutoFit/>
          </a:bodyPr>
          <a:lstStyle/>
          <a:p>
            <a:r>
              <a:rPr lang="en-IN" dirty="0" smtClean="0">
                <a:latin typeface="Times New Roman" pitchFamily="18" charset="0"/>
                <a:cs typeface="Times New Roman" pitchFamily="18" charset="0"/>
              </a:rPr>
              <a:t>As</a:t>
            </a:r>
            <a:endParaRPr lang="en-IN" dirty="0">
              <a:latin typeface="Times New Roman" pitchFamily="18" charset="0"/>
              <a:cs typeface="Times New Roman" pitchFamily="18" charset="0"/>
            </a:endParaRPr>
          </a:p>
        </p:txBody>
      </p:sp>
      <p:sp>
        <p:nvSpPr>
          <p:cNvPr id="38" name="Rectangle 37"/>
          <p:cNvSpPr/>
          <p:nvPr/>
        </p:nvSpPr>
        <p:spPr>
          <a:xfrm>
            <a:off x="1515289" y="4376056"/>
            <a:ext cx="992779" cy="24819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39" name="Rectangle 38"/>
          <p:cNvSpPr/>
          <p:nvPr/>
        </p:nvSpPr>
        <p:spPr>
          <a:xfrm>
            <a:off x="1811380" y="6109063"/>
            <a:ext cx="992779" cy="24819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Rectangle 39"/>
          <p:cNvSpPr/>
          <p:nvPr/>
        </p:nvSpPr>
        <p:spPr>
          <a:xfrm>
            <a:off x="1314991" y="5037908"/>
            <a:ext cx="1846220" cy="69668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Rectangle 40"/>
          <p:cNvSpPr/>
          <p:nvPr/>
        </p:nvSpPr>
        <p:spPr>
          <a:xfrm>
            <a:off x="3314700" y="4439194"/>
            <a:ext cx="2209800" cy="25980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Rectangle 41"/>
          <p:cNvSpPr/>
          <p:nvPr/>
        </p:nvSpPr>
        <p:spPr>
          <a:xfrm>
            <a:off x="648786" y="4371703"/>
            <a:ext cx="357054" cy="2656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43" name="Rectangle 42"/>
          <p:cNvSpPr/>
          <p:nvPr/>
        </p:nvSpPr>
        <p:spPr>
          <a:xfrm>
            <a:off x="1480455" y="5817324"/>
            <a:ext cx="357054" cy="2656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Rectangle 43"/>
          <p:cNvSpPr/>
          <p:nvPr/>
        </p:nvSpPr>
        <p:spPr>
          <a:xfrm>
            <a:off x="511627" y="6143899"/>
            <a:ext cx="243841" cy="23077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6" name="Straight Arrow Connector 45"/>
          <p:cNvCxnSpPr/>
          <p:nvPr/>
        </p:nvCxnSpPr>
        <p:spPr>
          <a:xfrm rot="5400000">
            <a:off x="1815739" y="4807131"/>
            <a:ext cx="444137"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rot="5400000">
            <a:off x="1798322" y="5939248"/>
            <a:ext cx="444137"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rot="16200000" flipV="1">
            <a:off x="2240281" y="5924006"/>
            <a:ext cx="444137" cy="130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193401" y="6014721"/>
            <a:ext cx="251099"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0</a:t>
            </a:r>
            <a:endParaRPr lang="en-IN" sz="1400" dirty="0">
              <a:latin typeface="Times New Roman" pitchFamily="18" charset="0"/>
              <a:cs typeface="Times New Roman" pitchFamily="18" charset="0"/>
            </a:endParaRPr>
          </a:p>
        </p:txBody>
      </p:sp>
      <p:sp>
        <p:nvSpPr>
          <p:cNvPr id="54" name="TextBox 53"/>
          <p:cNvSpPr txBox="1"/>
          <p:nvPr/>
        </p:nvSpPr>
        <p:spPr>
          <a:xfrm>
            <a:off x="426717" y="6082939"/>
            <a:ext cx="317866" cy="369332"/>
          </a:xfrm>
          <a:prstGeom prst="rect">
            <a:avLst/>
          </a:prstGeom>
          <a:noFill/>
        </p:spPr>
        <p:txBody>
          <a:bodyPr wrap="square" rtlCol="0">
            <a:spAutoFit/>
          </a:bodyPr>
          <a:lstStyle/>
          <a:p>
            <a:r>
              <a:rPr lang="en-IN" dirty="0" smtClean="0">
                <a:latin typeface="Times New Roman" pitchFamily="18" charset="0"/>
                <a:cs typeface="Times New Roman" pitchFamily="18" charset="0"/>
              </a:rPr>
              <a:t>E</a:t>
            </a:r>
            <a:endParaRPr lang="en-IN" dirty="0">
              <a:latin typeface="Times New Roman" pitchFamily="18" charset="0"/>
              <a:cs typeface="Times New Roman" pitchFamily="18" charset="0"/>
            </a:endParaRPr>
          </a:p>
        </p:txBody>
      </p:sp>
      <p:sp>
        <p:nvSpPr>
          <p:cNvPr id="57" name="TextBox 56"/>
          <p:cNvSpPr txBox="1"/>
          <p:nvPr/>
        </p:nvSpPr>
        <p:spPr>
          <a:xfrm>
            <a:off x="4658358" y="5469710"/>
            <a:ext cx="434342" cy="307777"/>
          </a:xfrm>
          <a:prstGeom prst="rect">
            <a:avLst/>
          </a:prstGeom>
          <a:noFill/>
        </p:spPr>
        <p:txBody>
          <a:bodyPr wrap="square" rtlCol="0">
            <a:spAutoFit/>
          </a:bodyPr>
          <a:lstStyle/>
          <a:p>
            <a:r>
              <a:rPr lang="en-IN" sz="1400" dirty="0" err="1" smtClean="0">
                <a:latin typeface="Times New Roman" pitchFamily="18" charset="0"/>
                <a:cs typeface="Times New Roman" pitchFamily="18" charset="0"/>
              </a:rPr>
              <a:t>Qn</a:t>
            </a:r>
            <a:endParaRPr lang="en-IN" sz="1400" dirty="0">
              <a:latin typeface="Times New Roman" pitchFamily="18" charset="0"/>
              <a:cs typeface="Times New Roman" pitchFamily="18" charset="0"/>
            </a:endParaRPr>
          </a:p>
        </p:txBody>
      </p:sp>
      <p:cxnSp>
        <p:nvCxnSpPr>
          <p:cNvPr id="65" name="Straight Arrow Connector 64"/>
          <p:cNvCxnSpPr/>
          <p:nvPr/>
        </p:nvCxnSpPr>
        <p:spPr>
          <a:xfrm>
            <a:off x="241300" y="6261100"/>
            <a:ext cx="261617" cy="65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stCxn id="54" idx="3"/>
          </p:cNvCxnSpPr>
          <p:nvPr/>
        </p:nvCxnSpPr>
        <p:spPr>
          <a:xfrm flipV="1">
            <a:off x="744583" y="6235701"/>
            <a:ext cx="1084217" cy="319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a:xfrm>
            <a:off x="3888376" y="5987143"/>
            <a:ext cx="1123406" cy="369332"/>
          </a:xfrm>
          <a:prstGeom prst="rect">
            <a:avLst/>
          </a:prstGeom>
          <a:noFill/>
        </p:spPr>
        <p:txBody>
          <a:bodyPr wrap="square" rtlCol="0">
            <a:spAutoFit/>
          </a:bodyPr>
          <a:lstStyle/>
          <a:p>
            <a:r>
              <a:rPr lang="en-IN" dirty="0" smtClean="0">
                <a:latin typeface="Times New Roman" pitchFamily="18" charset="0"/>
                <a:cs typeface="Times New Roman" pitchFamily="18" charset="0"/>
              </a:rPr>
              <a:t>Q register </a:t>
            </a:r>
            <a:endParaRPr lang="en-IN" dirty="0">
              <a:latin typeface="Times New Roman" pitchFamily="18" charset="0"/>
              <a:cs typeface="Times New Roman" pitchFamily="18" charset="0"/>
            </a:endParaRPr>
          </a:p>
        </p:txBody>
      </p:sp>
      <p:sp>
        <p:nvSpPr>
          <p:cNvPr id="78" name="TextBox 77"/>
          <p:cNvSpPr txBox="1"/>
          <p:nvPr/>
        </p:nvSpPr>
        <p:spPr>
          <a:xfrm>
            <a:off x="3649614" y="5657307"/>
            <a:ext cx="444139" cy="369332"/>
          </a:xfrm>
          <a:prstGeom prst="rect">
            <a:avLst/>
          </a:prstGeom>
          <a:noFill/>
        </p:spPr>
        <p:txBody>
          <a:bodyPr wrap="square" rtlCol="0">
            <a:spAutoFit/>
          </a:bodyPr>
          <a:lstStyle/>
          <a:p>
            <a:r>
              <a:rPr lang="en-IN" dirty="0" smtClean="0">
                <a:latin typeface="Times New Roman" pitchFamily="18" charset="0"/>
                <a:cs typeface="Times New Roman" pitchFamily="18" charset="0"/>
              </a:rPr>
              <a:t>Qs </a:t>
            </a:r>
            <a:endParaRPr lang="en-IN" dirty="0">
              <a:latin typeface="Times New Roman" pitchFamily="18" charset="0"/>
              <a:cs typeface="Times New Roman" pitchFamily="18" charset="0"/>
            </a:endParaRPr>
          </a:p>
        </p:txBody>
      </p:sp>
      <p:sp>
        <p:nvSpPr>
          <p:cNvPr id="79" name="Rectangle 78"/>
          <p:cNvSpPr/>
          <p:nvPr/>
        </p:nvSpPr>
        <p:spPr>
          <a:xfrm>
            <a:off x="3953689" y="6052456"/>
            <a:ext cx="992779" cy="24819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80" name="Rectangle 79"/>
          <p:cNvSpPr/>
          <p:nvPr/>
        </p:nvSpPr>
        <p:spPr>
          <a:xfrm>
            <a:off x="3671386" y="5705203"/>
            <a:ext cx="357054" cy="2656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cxnSp>
        <p:nvCxnSpPr>
          <p:cNvPr id="83" name="Straight Arrow Connector 82"/>
          <p:cNvCxnSpPr>
            <a:stCxn id="39" idx="3"/>
          </p:cNvCxnSpPr>
          <p:nvPr/>
        </p:nvCxnSpPr>
        <p:spPr>
          <a:xfrm flipV="1">
            <a:off x="2804159" y="6210300"/>
            <a:ext cx="1183641" cy="2286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p:nvPr/>
        </p:nvCxnSpPr>
        <p:spPr>
          <a:xfrm rot="16200000" flipV="1">
            <a:off x="4711700" y="5892800"/>
            <a:ext cx="317500" cy="12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232229" y="1233715"/>
            <a:ext cx="4847771" cy="1451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232229" y="3106057"/>
            <a:ext cx="4811486" cy="2177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Alternate Process 1"/>
          <p:cNvSpPr/>
          <p:nvPr/>
        </p:nvSpPr>
        <p:spPr>
          <a:xfrm>
            <a:off x="1084217" y="269964"/>
            <a:ext cx="1423851" cy="418012"/>
          </a:xfrm>
          <a:prstGeom prst="flowChartAlternate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3" name="TextBox 2"/>
          <p:cNvSpPr txBox="1"/>
          <p:nvPr/>
        </p:nvSpPr>
        <p:spPr>
          <a:xfrm>
            <a:off x="1066801" y="235130"/>
            <a:ext cx="1531256" cy="523220"/>
          </a:xfrm>
          <a:prstGeom prst="rect">
            <a:avLst/>
          </a:prstGeom>
          <a:noFill/>
        </p:spPr>
        <p:txBody>
          <a:bodyPr wrap="square" rtlCol="0">
            <a:spAutoFit/>
          </a:bodyPr>
          <a:lstStyle/>
          <a:p>
            <a:r>
              <a:rPr lang="en-IN" sz="1400" dirty="0" smtClean="0">
                <a:latin typeface="Times New Roman" pitchFamily="18" charset="0"/>
                <a:cs typeface="Times New Roman" pitchFamily="18" charset="0"/>
              </a:rPr>
              <a:t>Multiplicand in B</a:t>
            </a:r>
          </a:p>
          <a:p>
            <a:r>
              <a:rPr lang="en-IN" sz="1400" dirty="0" smtClean="0">
                <a:latin typeface="Times New Roman" pitchFamily="18" charset="0"/>
                <a:cs typeface="Times New Roman" pitchFamily="18" charset="0"/>
              </a:rPr>
              <a:t>Multiplier in Q</a:t>
            </a:r>
            <a:endParaRPr lang="en-IN" sz="1400" dirty="0">
              <a:latin typeface="Times New Roman" pitchFamily="18" charset="0"/>
              <a:cs typeface="Times New Roman" pitchFamily="18" charset="0"/>
            </a:endParaRPr>
          </a:p>
        </p:txBody>
      </p:sp>
      <p:sp>
        <p:nvSpPr>
          <p:cNvPr id="78" name="TextBox 77"/>
          <p:cNvSpPr txBox="1"/>
          <p:nvPr/>
        </p:nvSpPr>
        <p:spPr>
          <a:xfrm>
            <a:off x="962297" y="2330992"/>
            <a:ext cx="444137"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=0   </a:t>
            </a:r>
            <a:endParaRPr lang="en-IN" sz="1400" dirty="0">
              <a:latin typeface="Times New Roman" pitchFamily="18" charset="0"/>
              <a:cs typeface="Times New Roman" pitchFamily="18" charset="0"/>
            </a:endParaRPr>
          </a:p>
        </p:txBody>
      </p:sp>
      <p:sp>
        <p:nvSpPr>
          <p:cNvPr id="79" name="TextBox 78"/>
          <p:cNvSpPr txBox="1"/>
          <p:nvPr/>
        </p:nvSpPr>
        <p:spPr>
          <a:xfrm>
            <a:off x="185785" y="3569060"/>
            <a:ext cx="383176"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≠0</a:t>
            </a:r>
            <a:endParaRPr lang="en-IN" sz="1400" dirty="0">
              <a:latin typeface="Times New Roman" pitchFamily="18" charset="0"/>
              <a:cs typeface="Times New Roman" pitchFamily="18" charset="0"/>
            </a:endParaRPr>
          </a:p>
        </p:txBody>
      </p:sp>
      <p:sp>
        <p:nvSpPr>
          <p:cNvPr id="83" name="TextBox 82"/>
          <p:cNvSpPr txBox="1"/>
          <p:nvPr/>
        </p:nvSpPr>
        <p:spPr>
          <a:xfrm>
            <a:off x="1240973" y="1010191"/>
            <a:ext cx="1240971" cy="954107"/>
          </a:xfrm>
          <a:prstGeom prst="rect">
            <a:avLst/>
          </a:prstGeom>
          <a:noFill/>
        </p:spPr>
        <p:txBody>
          <a:bodyPr wrap="square" rtlCol="0">
            <a:spAutoFit/>
          </a:bodyPr>
          <a:lstStyle/>
          <a:p>
            <a:r>
              <a:rPr lang="en-IN" sz="1400" dirty="0" smtClean="0">
                <a:latin typeface="Times New Roman" pitchFamily="18" charset="0"/>
                <a:cs typeface="Times New Roman" pitchFamily="18" charset="0"/>
              </a:rPr>
              <a:t>As </a:t>
            </a:r>
            <a:r>
              <a:rPr lang="en-IN" sz="1400" dirty="0" smtClean="0">
                <a:latin typeface="Times New Roman" pitchFamily="18" charset="0"/>
                <a:cs typeface="Times New Roman" pitchFamily="18" charset="0"/>
                <a:sym typeface="Symbol"/>
              </a:rPr>
              <a:t> </a:t>
            </a:r>
            <a:r>
              <a:rPr lang="en-IN" sz="1400" dirty="0" err="1" smtClean="0">
                <a:latin typeface="Times New Roman" pitchFamily="18" charset="0"/>
                <a:cs typeface="Times New Roman" pitchFamily="18" charset="0"/>
                <a:sym typeface="Symbol"/>
              </a:rPr>
              <a:t>QsBs</a:t>
            </a:r>
            <a:endParaRPr lang="en-IN" sz="1400" dirty="0" smtClean="0">
              <a:latin typeface="Times New Roman" pitchFamily="18" charset="0"/>
              <a:cs typeface="Times New Roman" pitchFamily="18" charset="0"/>
              <a:sym typeface="Symbol"/>
            </a:endParaRPr>
          </a:p>
          <a:p>
            <a:r>
              <a:rPr lang="en-IN" sz="1400" dirty="0" smtClean="0">
                <a:latin typeface="Times New Roman" pitchFamily="18" charset="0"/>
                <a:cs typeface="Times New Roman" pitchFamily="18" charset="0"/>
              </a:rPr>
              <a:t>Qs </a:t>
            </a:r>
            <a:r>
              <a:rPr lang="en-IN" sz="1400" dirty="0" smtClean="0">
                <a:latin typeface="Times New Roman" pitchFamily="18" charset="0"/>
                <a:cs typeface="Times New Roman" pitchFamily="18" charset="0"/>
                <a:sym typeface="Symbol"/>
              </a:rPr>
              <a:t> </a:t>
            </a:r>
            <a:r>
              <a:rPr lang="en-IN" sz="1400" dirty="0" err="1" smtClean="0">
                <a:latin typeface="Times New Roman" pitchFamily="18" charset="0"/>
                <a:cs typeface="Times New Roman" pitchFamily="18" charset="0"/>
                <a:sym typeface="Symbol"/>
              </a:rPr>
              <a:t>QsBs</a:t>
            </a:r>
            <a:endParaRPr lang="en-IN" sz="1400" dirty="0" smtClean="0">
              <a:latin typeface="Times New Roman" pitchFamily="18" charset="0"/>
              <a:cs typeface="Times New Roman" pitchFamily="18" charset="0"/>
              <a:sym typeface="Symbol"/>
            </a:endParaRPr>
          </a:p>
          <a:p>
            <a:r>
              <a:rPr lang="en-IN" sz="1400" dirty="0" smtClean="0">
                <a:latin typeface="Times New Roman" pitchFamily="18" charset="0"/>
                <a:cs typeface="Times New Roman" pitchFamily="18" charset="0"/>
                <a:sym typeface="Symbol"/>
              </a:rPr>
              <a:t>A  0, E  0 </a:t>
            </a:r>
          </a:p>
          <a:p>
            <a:r>
              <a:rPr lang="en-IN" sz="1400" dirty="0" smtClean="0">
                <a:latin typeface="Times New Roman" pitchFamily="18" charset="0"/>
                <a:cs typeface="Times New Roman" pitchFamily="18" charset="0"/>
                <a:sym typeface="Symbol"/>
              </a:rPr>
              <a:t>SC  n</a:t>
            </a:r>
            <a:endParaRPr lang="en-IN" sz="1400" dirty="0">
              <a:latin typeface="Times New Roman" pitchFamily="18" charset="0"/>
              <a:cs typeface="Times New Roman" pitchFamily="18" charset="0"/>
            </a:endParaRPr>
          </a:p>
        </p:txBody>
      </p:sp>
      <p:sp>
        <p:nvSpPr>
          <p:cNvPr id="84" name="Rectangle 83"/>
          <p:cNvSpPr/>
          <p:nvPr/>
        </p:nvSpPr>
        <p:spPr>
          <a:xfrm>
            <a:off x="1261294" y="1063895"/>
            <a:ext cx="1123406" cy="92456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86" name="Diamond 85"/>
          <p:cNvSpPr/>
          <p:nvPr/>
        </p:nvSpPr>
        <p:spPr>
          <a:xfrm>
            <a:off x="1454332" y="2325187"/>
            <a:ext cx="653142" cy="444137"/>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7" name="TextBox 86"/>
          <p:cNvSpPr txBox="1"/>
          <p:nvPr/>
        </p:nvSpPr>
        <p:spPr>
          <a:xfrm>
            <a:off x="1628503" y="2368728"/>
            <a:ext cx="461554" cy="307777"/>
          </a:xfrm>
          <a:prstGeom prst="rect">
            <a:avLst/>
          </a:prstGeom>
          <a:noFill/>
        </p:spPr>
        <p:txBody>
          <a:bodyPr wrap="square" rtlCol="0">
            <a:spAutoFit/>
          </a:bodyPr>
          <a:lstStyle/>
          <a:p>
            <a:r>
              <a:rPr lang="en-IN" sz="1400" dirty="0" err="1" smtClean="0">
                <a:latin typeface="Times New Roman" pitchFamily="18" charset="0"/>
                <a:cs typeface="Times New Roman" pitchFamily="18" charset="0"/>
              </a:rPr>
              <a:t>Qn</a:t>
            </a:r>
            <a:r>
              <a:rPr lang="en-IN" sz="1400" dirty="0" smtClean="0">
                <a:latin typeface="Times New Roman" pitchFamily="18" charset="0"/>
                <a:cs typeface="Times New Roman" pitchFamily="18" charset="0"/>
              </a:rPr>
              <a:t> </a:t>
            </a:r>
            <a:endParaRPr lang="en-IN" sz="1400" dirty="0">
              <a:latin typeface="Times New Roman" pitchFamily="18" charset="0"/>
              <a:cs typeface="Times New Roman" pitchFamily="18" charset="0"/>
            </a:endParaRPr>
          </a:p>
        </p:txBody>
      </p:sp>
      <p:sp>
        <p:nvSpPr>
          <p:cNvPr id="88" name="Rectangle 87"/>
          <p:cNvSpPr/>
          <p:nvPr/>
        </p:nvSpPr>
        <p:spPr>
          <a:xfrm>
            <a:off x="2185853" y="2802705"/>
            <a:ext cx="892628" cy="23948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89" name="TextBox 88"/>
          <p:cNvSpPr txBox="1"/>
          <p:nvPr/>
        </p:nvSpPr>
        <p:spPr>
          <a:xfrm>
            <a:off x="2177143" y="2772228"/>
            <a:ext cx="972458"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EA</a:t>
            </a:r>
            <a:r>
              <a:rPr lang="en-IN" sz="1400" dirty="0" smtClean="0">
                <a:latin typeface="Times New Roman" pitchFamily="18" charset="0"/>
                <a:cs typeface="Times New Roman" pitchFamily="18" charset="0"/>
                <a:sym typeface="Symbol"/>
              </a:rPr>
              <a:t>A+B</a:t>
            </a:r>
          </a:p>
        </p:txBody>
      </p:sp>
      <p:sp>
        <p:nvSpPr>
          <p:cNvPr id="91" name="TextBox 90"/>
          <p:cNvSpPr txBox="1"/>
          <p:nvPr/>
        </p:nvSpPr>
        <p:spPr>
          <a:xfrm>
            <a:off x="413659" y="2808515"/>
            <a:ext cx="1066800" cy="523220"/>
          </a:xfrm>
          <a:prstGeom prst="rect">
            <a:avLst/>
          </a:prstGeom>
          <a:noFill/>
        </p:spPr>
        <p:txBody>
          <a:bodyPr wrap="square" rtlCol="0">
            <a:spAutoFit/>
          </a:bodyPr>
          <a:lstStyle/>
          <a:p>
            <a:r>
              <a:rPr lang="en-IN" sz="1400" dirty="0" err="1" smtClean="0">
                <a:latin typeface="Times New Roman" pitchFamily="18" charset="0"/>
                <a:cs typeface="Times New Roman" pitchFamily="18" charset="0"/>
              </a:rPr>
              <a:t>Shr</a:t>
            </a:r>
            <a:r>
              <a:rPr lang="en-IN" sz="1400" dirty="0" smtClean="0">
                <a:latin typeface="Times New Roman" pitchFamily="18" charset="0"/>
                <a:cs typeface="Times New Roman" pitchFamily="18" charset="0"/>
              </a:rPr>
              <a:t> EAQ</a:t>
            </a:r>
          </a:p>
          <a:p>
            <a:r>
              <a:rPr lang="en-IN" sz="1400" dirty="0" smtClean="0">
                <a:latin typeface="Times New Roman" pitchFamily="18" charset="0"/>
                <a:cs typeface="Times New Roman" pitchFamily="18" charset="0"/>
                <a:sym typeface="Symbol"/>
              </a:rPr>
              <a:t>SC SC-1</a:t>
            </a:r>
          </a:p>
        </p:txBody>
      </p:sp>
      <p:sp>
        <p:nvSpPr>
          <p:cNvPr id="92" name="Rectangle 91"/>
          <p:cNvSpPr/>
          <p:nvPr/>
        </p:nvSpPr>
        <p:spPr>
          <a:xfrm>
            <a:off x="455752" y="2841895"/>
            <a:ext cx="937621" cy="43833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93" name="Diamond 92"/>
          <p:cNvSpPr/>
          <p:nvPr/>
        </p:nvSpPr>
        <p:spPr>
          <a:xfrm>
            <a:off x="576217" y="3624216"/>
            <a:ext cx="653142" cy="444137"/>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4" name="TextBox 93"/>
          <p:cNvSpPr txBox="1"/>
          <p:nvPr/>
        </p:nvSpPr>
        <p:spPr>
          <a:xfrm>
            <a:off x="750388" y="3667757"/>
            <a:ext cx="461554"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SC </a:t>
            </a:r>
            <a:endParaRPr lang="en-IN" sz="1400" dirty="0">
              <a:latin typeface="Times New Roman" pitchFamily="18" charset="0"/>
              <a:cs typeface="Times New Roman" pitchFamily="18" charset="0"/>
            </a:endParaRPr>
          </a:p>
        </p:txBody>
      </p:sp>
      <p:sp>
        <p:nvSpPr>
          <p:cNvPr id="95" name="TextBox 94"/>
          <p:cNvSpPr txBox="1"/>
          <p:nvPr/>
        </p:nvSpPr>
        <p:spPr>
          <a:xfrm>
            <a:off x="1676402" y="3274420"/>
            <a:ext cx="907142" cy="738664"/>
          </a:xfrm>
          <a:prstGeom prst="rect">
            <a:avLst/>
          </a:prstGeom>
          <a:noFill/>
        </p:spPr>
        <p:txBody>
          <a:bodyPr wrap="square" rtlCol="0">
            <a:spAutoFit/>
          </a:bodyPr>
          <a:lstStyle/>
          <a:p>
            <a:r>
              <a:rPr lang="en-IN" sz="1400" dirty="0" smtClean="0">
                <a:latin typeface="Times New Roman" pitchFamily="18" charset="0"/>
                <a:cs typeface="Times New Roman" pitchFamily="18" charset="0"/>
              </a:rPr>
              <a:t>END</a:t>
            </a:r>
          </a:p>
          <a:p>
            <a:r>
              <a:rPr lang="en-IN" sz="1400" dirty="0" smtClean="0">
                <a:latin typeface="Times New Roman" pitchFamily="18" charset="0"/>
                <a:cs typeface="Times New Roman" pitchFamily="18" charset="0"/>
              </a:rPr>
              <a:t>Product is in AQ </a:t>
            </a:r>
            <a:endParaRPr lang="en-IN" sz="1400" dirty="0">
              <a:latin typeface="Times New Roman" pitchFamily="18" charset="0"/>
              <a:cs typeface="Times New Roman" pitchFamily="18" charset="0"/>
            </a:endParaRPr>
          </a:p>
        </p:txBody>
      </p:sp>
      <p:sp>
        <p:nvSpPr>
          <p:cNvPr id="97" name="Flowchart: Alternate Process 96"/>
          <p:cNvSpPr/>
          <p:nvPr/>
        </p:nvSpPr>
        <p:spPr>
          <a:xfrm>
            <a:off x="1657532" y="3310706"/>
            <a:ext cx="926012" cy="753293"/>
          </a:xfrm>
          <a:prstGeom prst="flowChartAlternate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cxnSp>
        <p:nvCxnSpPr>
          <p:cNvPr id="99" name="Straight Arrow Connector 98"/>
          <p:cNvCxnSpPr>
            <a:endCxn id="84" idx="0"/>
          </p:cNvCxnSpPr>
          <p:nvPr/>
        </p:nvCxnSpPr>
        <p:spPr>
          <a:xfrm rot="16200000" flipH="1">
            <a:off x="1635830" y="876728"/>
            <a:ext cx="366416" cy="79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a:stCxn id="84" idx="2"/>
          </p:cNvCxnSpPr>
          <p:nvPr/>
        </p:nvCxnSpPr>
        <p:spPr>
          <a:xfrm rot="5400000">
            <a:off x="1629163" y="2129245"/>
            <a:ext cx="334622" cy="5304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a:stCxn id="87" idx="3"/>
          </p:cNvCxnSpPr>
          <p:nvPr/>
        </p:nvCxnSpPr>
        <p:spPr>
          <a:xfrm>
            <a:off x="2090057" y="2522617"/>
            <a:ext cx="624115" cy="28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Straight Arrow Connector 107"/>
          <p:cNvCxnSpPr/>
          <p:nvPr/>
        </p:nvCxnSpPr>
        <p:spPr>
          <a:xfrm rot="5400000">
            <a:off x="2583543" y="2656114"/>
            <a:ext cx="261259"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a:off x="820057" y="2544388"/>
            <a:ext cx="624115" cy="28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Straight Arrow Connector 111"/>
          <p:cNvCxnSpPr/>
          <p:nvPr/>
        </p:nvCxnSpPr>
        <p:spPr>
          <a:xfrm rot="5400000">
            <a:off x="674915" y="2677888"/>
            <a:ext cx="261259"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4" name="Straight Arrow Connector 113"/>
          <p:cNvCxnSpPr/>
          <p:nvPr/>
        </p:nvCxnSpPr>
        <p:spPr>
          <a:xfrm rot="5400000">
            <a:off x="711201" y="3468914"/>
            <a:ext cx="348343"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8" name="Straight Arrow Connector 117"/>
          <p:cNvCxnSpPr>
            <a:stCxn id="94" idx="3"/>
          </p:cNvCxnSpPr>
          <p:nvPr/>
        </p:nvCxnSpPr>
        <p:spPr>
          <a:xfrm>
            <a:off x="1211942" y="3821646"/>
            <a:ext cx="486230" cy="101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a:stCxn id="93" idx="1"/>
          </p:cNvCxnSpPr>
          <p:nvPr/>
        </p:nvCxnSpPr>
        <p:spPr>
          <a:xfrm rot="10800000">
            <a:off x="188687" y="3846285"/>
            <a:ext cx="387531"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rot="5400000" flipH="1" flipV="1">
            <a:off x="-638628" y="3018971"/>
            <a:ext cx="1640114" cy="145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25" name="Straight Arrow Connector 124"/>
          <p:cNvCxnSpPr/>
          <p:nvPr/>
        </p:nvCxnSpPr>
        <p:spPr>
          <a:xfrm flipV="1">
            <a:off x="174172" y="2162628"/>
            <a:ext cx="1669142" cy="145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6" name="TextBox 125"/>
          <p:cNvSpPr txBox="1"/>
          <p:nvPr/>
        </p:nvSpPr>
        <p:spPr>
          <a:xfrm>
            <a:off x="1216297" y="3586478"/>
            <a:ext cx="444137"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=0   </a:t>
            </a:r>
            <a:endParaRPr lang="en-IN" sz="1400" dirty="0">
              <a:latin typeface="Times New Roman" pitchFamily="18" charset="0"/>
              <a:cs typeface="Times New Roman" pitchFamily="18" charset="0"/>
            </a:endParaRPr>
          </a:p>
        </p:txBody>
      </p:sp>
      <p:sp>
        <p:nvSpPr>
          <p:cNvPr id="127" name="TextBox 126"/>
          <p:cNvSpPr txBox="1"/>
          <p:nvPr/>
        </p:nvSpPr>
        <p:spPr>
          <a:xfrm>
            <a:off x="2166982" y="2272936"/>
            <a:ext cx="444137"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=1  </a:t>
            </a:r>
            <a:endParaRPr lang="en-IN" sz="1400" dirty="0">
              <a:latin typeface="Times New Roman" pitchFamily="18" charset="0"/>
              <a:cs typeface="Times New Roman" pitchFamily="18" charset="0"/>
            </a:endParaRPr>
          </a:p>
        </p:txBody>
      </p:sp>
      <p:graphicFrame>
        <p:nvGraphicFramePr>
          <p:cNvPr id="128" name="Table 127"/>
          <p:cNvGraphicFramePr>
            <a:graphicFrameLocks noGrp="1"/>
          </p:cNvGraphicFramePr>
          <p:nvPr/>
        </p:nvGraphicFramePr>
        <p:xfrm>
          <a:off x="3396343" y="217714"/>
          <a:ext cx="4862287" cy="6451600"/>
        </p:xfrm>
        <a:graphic>
          <a:graphicData uri="http://schemas.openxmlformats.org/drawingml/2006/table">
            <a:tbl>
              <a:tblPr firstRow="1" bandRow="1">
                <a:tableStyleId>{5C22544A-7EE6-4342-B048-85BDC9FD1C3A}</a:tableStyleId>
              </a:tblPr>
              <a:tblGrid>
                <a:gridCol w="1930400"/>
                <a:gridCol w="464457"/>
                <a:gridCol w="812800"/>
                <a:gridCol w="914400"/>
                <a:gridCol w="740230"/>
              </a:tblGrid>
              <a:tr h="370840">
                <a:tc gridSpan="5">
                  <a:txBody>
                    <a:bodyPr/>
                    <a:lstStyle/>
                    <a:p>
                      <a:r>
                        <a:rPr lang="en-IN" dirty="0" smtClean="0">
                          <a:latin typeface="Times New Roman" pitchFamily="18" charset="0"/>
                          <a:cs typeface="Times New Roman" pitchFamily="18" charset="0"/>
                        </a:rPr>
                        <a:t>Multiplicand B = 10111, Multiplier Q = 10011</a:t>
                      </a:r>
                      <a:endParaRPr lang="en-IN" dirty="0">
                        <a:latin typeface="Times New Roman" pitchFamily="18" charset="0"/>
                        <a:cs typeface="Times New Roman" pitchFamily="18" charset="0"/>
                      </a:endParaRPr>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r>
              <a:tr h="370840">
                <a:tc>
                  <a:txBody>
                    <a:bodyPr/>
                    <a:lstStyle/>
                    <a:p>
                      <a:r>
                        <a:rPr lang="en-IN" dirty="0" smtClean="0">
                          <a:latin typeface="Times New Roman" pitchFamily="18" charset="0"/>
                          <a:cs typeface="Times New Roman" pitchFamily="18" charset="0"/>
                        </a:rPr>
                        <a:t>Operation</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E</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A</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Q</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SC</a:t>
                      </a:r>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Initialization</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00000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10011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101</a:t>
                      </a:r>
                      <a:endParaRPr lang="en-IN" dirty="0">
                        <a:latin typeface="Times New Roman" pitchFamily="18" charset="0"/>
                        <a:cs typeface="Times New Roman" pitchFamily="18" charset="0"/>
                      </a:endParaRPr>
                    </a:p>
                  </a:txBody>
                  <a:tcPr/>
                </a:tc>
              </a:tr>
              <a:tr h="370840">
                <a:tc>
                  <a:txBody>
                    <a:bodyPr/>
                    <a:lstStyle/>
                    <a:p>
                      <a:r>
                        <a:rPr lang="en-IN" dirty="0" err="1" smtClean="0">
                          <a:latin typeface="Times New Roman" pitchFamily="18" charset="0"/>
                          <a:cs typeface="Times New Roman" pitchFamily="18" charset="0"/>
                        </a:rPr>
                        <a:t>Qn</a:t>
                      </a:r>
                      <a:r>
                        <a:rPr lang="en-IN" dirty="0" smtClean="0">
                          <a:latin typeface="Times New Roman" pitchFamily="18" charset="0"/>
                          <a:cs typeface="Times New Roman" pitchFamily="18" charset="0"/>
                        </a:rPr>
                        <a:t> = 1, add B</a:t>
                      </a:r>
                      <a:endParaRPr lang="en-IN" dirty="0">
                        <a:latin typeface="Times New Roman" pitchFamily="18" charset="0"/>
                        <a:cs typeface="Times New Roman" pitchFamily="18" charset="0"/>
                      </a:endParaRPr>
                    </a:p>
                  </a:txBody>
                  <a:tcPr/>
                </a:tc>
                <a:tc>
                  <a:txBody>
                    <a:bodyPr/>
                    <a:lstStyle/>
                    <a:p>
                      <a:endParaRPr lang="en-IN" dirty="0" smtClean="0">
                        <a:latin typeface="Times New Roman" pitchFamily="18" charset="0"/>
                        <a:cs typeface="Times New Roman" pitchFamily="18" charset="0"/>
                      </a:endParaRP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00000</a:t>
                      </a:r>
                    </a:p>
                    <a:p>
                      <a:r>
                        <a:rPr lang="en-IN" dirty="0" smtClean="0">
                          <a:latin typeface="Times New Roman" pitchFamily="18" charset="0"/>
                          <a:cs typeface="Times New Roman" pitchFamily="18" charset="0"/>
                        </a:rPr>
                        <a:t>10111</a:t>
                      </a:r>
                    </a:p>
                    <a:p>
                      <a:r>
                        <a:rPr lang="en-IN" dirty="0" smtClean="0">
                          <a:latin typeface="Times New Roman" pitchFamily="18" charset="0"/>
                          <a:cs typeface="Times New Roman" pitchFamily="18" charset="0"/>
                        </a:rPr>
                        <a:t>10111</a:t>
                      </a:r>
                      <a:endParaRPr lang="en-IN" dirty="0">
                        <a:latin typeface="Times New Roman" pitchFamily="18" charset="0"/>
                        <a:cs typeface="Times New Roman" pitchFamily="18" charset="0"/>
                      </a:endParaRPr>
                    </a:p>
                  </a:txBody>
                  <a:tcPr/>
                </a:tc>
                <a:tc>
                  <a:txBody>
                    <a:bodyPr/>
                    <a:lstStyle/>
                    <a:p>
                      <a:endParaRPr lang="en-IN" dirty="0" smtClean="0">
                        <a:latin typeface="Times New Roman" pitchFamily="18" charset="0"/>
                        <a:cs typeface="Times New Roman" pitchFamily="18" charset="0"/>
                      </a:endParaRP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10011</a:t>
                      </a:r>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1</a:t>
                      </a:r>
                      <a:r>
                        <a:rPr lang="en-IN" baseline="30000" dirty="0" smtClean="0">
                          <a:latin typeface="Times New Roman" pitchFamily="18" charset="0"/>
                          <a:cs typeface="Times New Roman" pitchFamily="18" charset="0"/>
                        </a:rPr>
                        <a:t>st</a:t>
                      </a:r>
                      <a:r>
                        <a:rPr lang="en-IN" dirty="0" smtClean="0">
                          <a:latin typeface="Times New Roman" pitchFamily="18" charset="0"/>
                          <a:cs typeface="Times New Roman" pitchFamily="18" charset="0"/>
                        </a:rPr>
                        <a:t> partial</a:t>
                      </a:r>
                      <a:r>
                        <a:rPr lang="en-IN" baseline="0" dirty="0" smtClean="0">
                          <a:latin typeface="Times New Roman" pitchFamily="18" charset="0"/>
                          <a:cs typeface="Times New Roman" pitchFamily="18" charset="0"/>
                        </a:rPr>
                        <a:t> product</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10111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10011</a:t>
                      </a:r>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r>
              <a:tr h="370840">
                <a:tc>
                  <a:txBody>
                    <a:bodyPr/>
                    <a:lstStyle/>
                    <a:p>
                      <a:r>
                        <a:rPr lang="en-IN" dirty="0" err="1" smtClean="0">
                          <a:latin typeface="Times New Roman" pitchFamily="18" charset="0"/>
                          <a:cs typeface="Times New Roman" pitchFamily="18" charset="0"/>
                        </a:rPr>
                        <a:t>Shr</a:t>
                      </a:r>
                      <a:r>
                        <a:rPr lang="en-IN" dirty="0" smtClean="0">
                          <a:latin typeface="Times New Roman" pitchFamily="18" charset="0"/>
                          <a:cs typeface="Times New Roman" pitchFamily="18" charset="0"/>
                        </a:rPr>
                        <a:t> EAQ</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01011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11001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100</a:t>
                      </a:r>
                      <a:endParaRPr lang="en-IN" dirty="0">
                        <a:latin typeface="Times New Roman" pitchFamily="18" charset="0"/>
                        <a:cs typeface="Times New Roman" pitchFamily="18" charset="0"/>
                      </a:endParaRPr>
                    </a:p>
                  </a:txBody>
                  <a:tcPr/>
                </a:tc>
              </a:tr>
              <a:tr h="370840">
                <a:tc>
                  <a:txBody>
                    <a:bodyPr/>
                    <a:lstStyle/>
                    <a:p>
                      <a:r>
                        <a:rPr lang="en-IN" dirty="0" err="1" smtClean="0">
                          <a:latin typeface="Times New Roman" pitchFamily="18" charset="0"/>
                          <a:cs typeface="Times New Roman" pitchFamily="18" charset="0"/>
                        </a:rPr>
                        <a:t>Qn</a:t>
                      </a:r>
                      <a:r>
                        <a:rPr lang="en-IN" dirty="0" smtClean="0">
                          <a:latin typeface="Times New Roman" pitchFamily="18" charset="0"/>
                          <a:cs typeface="Times New Roman" pitchFamily="18" charset="0"/>
                        </a:rPr>
                        <a:t>=1, add B</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a:t>
                      </a:r>
                    </a:p>
                    <a:p>
                      <a:r>
                        <a:rPr lang="en-IN" dirty="0" smtClean="0">
                          <a:latin typeface="Times New Roman" pitchFamily="18" charset="0"/>
                          <a:cs typeface="Times New Roman" pitchFamily="18" charset="0"/>
                        </a:rPr>
                        <a:t>0</a:t>
                      </a:r>
                    </a:p>
                    <a:p>
                      <a:r>
                        <a:rPr lang="en-IN" dirty="0" smtClean="0">
                          <a:latin typeface="Times New Roman" pitchFamily="18" charset="0"/>
                          <a:cs typeface="Times New Roman" pitchFamily="18" charset="0"/>
                        </a:rPr>
                        <a:t>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01011</a:t>
                      </a:r>
                    </a:p>
                    <a:p>
                      <a:r>
                        <a:rPr lang="en-IN" dirty="0" smtClean="0">
                          <a:latin typeface="Times New Roman" pitchFamily="18" charset="0"/>
                          <a:cs typeface="Times New Roman" pitchFamily="18" charset="0"/>
                        </a:rPr>
                        <a:t>10111</a:t>
                      </a:r>
                    </a:p>
                    <a:p>
                      <a:r>
                        <a:rPr lang="en-IN" dirty="0" smtClean="0">
                          <a:latin typeface="Times New Roman" pitchFamily="18" charset="0"/>
                          <a:cs typeface="Times New Roman" pitchFamily="18" charset="0"/>
                        </a:rPr>
                        <a:t>00010</a:t>
                      </a:r>
                      <a:endParaRPr lang="en-IN" dirty="0">
                        <a:latin typeface="Times New Roman" pitchFamily="18" charset="0"/>
                        <a:cs typeface="Times New Roman" pitchFamily="18" charset="0"/>
                      </a:endParaRPr>
                    </a:p>
                  </a:txBody>
                  <a:tcPr/>
                </a:tc>
                <a:tc>
                  <a:txBody>
                    <a:bodyPr/>
                    <a:lstStyle/>
                    <a:p>
                      <a:endParaRPr lang="en-IN" dirty="0" smtClean="0">
                        <a:latin typeface="Times New Roman" pitchFamily="18" charset="0"/>
                        <a:cs typeface="Times New Roman" pitchFamily="18" charset="0"/>
                      </a:endParaRP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11001</a:t>
                      </a:r>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2</a:t>
                      </a:r>
                      <a:r>
                        <a:rPr lang="en-IN" baseline="30000" dirty="0" smtClean="0">
                          <a:latin typeface="Times New Roman" pitchFamily="18" charset="0"/>
                          <a:cs typeface="Times New Roman" pitchFamily="18" charset="0"/>
                        </a:rPr>
                        <a:t>nd</a:t>
                      </a:r>
                      <a:r>
                        <a:rPr lang="en-IN" dirty="0" smtClean="0">
                          <a:latin typeface="Times New Roman" pitchFamily="18" charset="0"/>
                          <a:cs typeface="Times New Roman" pitchFamily="18" charset="0"/>
                        </a:rPr>
                        <a:t> partial product</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00010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11001</a:t>
                      </a:r>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r>
              <a:tr h="370840">
                <a:tc>
                  <a:txBody>
                    <a:bodyPr/>
                    <a:lstStyle/>
                    <a:p>
                      <a:r>
                        <a:rPr lang="en-IN" dirty="0" err="1" smtClean="0">
                          <a:latin typeface="Times New Roman" pitchFamily="18" charset="0"/>
                          <a:cs typeface="Times New Roman" pitchFamily="18" charset="0"/>
                        </a:rPr>
                        <a:t>Shr</a:t>
                      </a:r>
                      <a:r>
                        <a:rPr lang="en-IN" dirty="0" smtClean="0">
                          <a:latin typeface="Times New Roman" pitchFamily="18" charset="0"/>
                          <a:cs typeface="Times New Roman" pitchFamily="18" charset="0"/>
                        </a:rPr>
                        <a:t> EAQ</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10001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01100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011</a:t>
                      </a:r>
                      <a:endParaRPr lang="en-IN" dirty="0">
                        <a:latin typeface="Times New Roman" pitchFamily="18" charset="0"/>
                        <a:cs typeface="Times New Roman" pitchFamily="18" charset="0"/>
                      </a:endParaRPr>
                    </a:p>
                  </a:txBody>
                  <a:tcPr/>
                </a:tc>
              </a:tr>
              <a:tr h="370840">
                <a:tc>
                  <a:txBody>
                    <a:bodyPr/>
                    <a:lstStyle/>
                    <a:p>
                      <a:r>
                        <a:rPr lang="en-IN" dirty="0" err="1" smtClean="0">
                          <a:latin typeface="Times New Roman" pitchFamily="18" charset="0"/>
                          <a:cs typeface="Times New Roman" pitchFamily="18" charset="0"/>
                        </a:rPr>
                        <a:t>Qn</a:t>
                      </a:r>
                      <a:r>
                        <a:rPr lang="en-IN" dirty="0" smtClean="0">
                          <a:latin typeface="Times New Roman" pitchFamily="18" charset="0"/>
                          <a:cs typeface="Times New Roman" pitchFamily="18" charset="0"/>
                        </a:rPr>
                        <a:t>=0, </a:t>
                      </a:r>
                      <a:r>
                        <a:rPr lang="en-IN" dirty="0" err="1" smtClean="0">
                          <a:latin typeface="Times New Roman" pitchFamily="18" charset="0"/>
                          <a:cs typeface="Times New Roman" pitchFamily="18" charset="0"/>
                        </a:rPr>
                        <a:t>shr</a:t>
                      </a:r>
                      <a:r>
                        <a:rPr lang="en-IN" dirty="0" smtClean="0">
                          <a:latin typeface="Times New Roman" pitchFamily="18" charset="0"/>
                          <a:cs typeface="Times New Roman" pitchFamily="18" charset="0"/>
                        </a:rPr>
                        <a:t> EAQ</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01000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10110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010</a:t>
                      </a:r>
                      <a:endParaRPr lang="en-IN" dirty="0">
                        <a:latin typeface="Times New Roman" pitchFamily="18" charset="0"/>
                        <a:cs typeface="Times New Roman" pitchFamily="18" charset="0"/>
                      </a:endParaRPr>
                    </a:p>
                  </a:txBody>
                  <a:tcPr/>
                </a:tc>
              </a:tr>
              <a:tr h="370840">
                <a:tc>
                  <a:txBody>
                    <a:bodyPr/>
                    <a:lstStyle/>
                    <a:p>
                      <a:r>
                        <a:rPr lang="en-IN" dirty="0" err="1" smtClean="0">
                          <a:latin typeface="Times New Roman" pitchFamily="18" charset="0"/>
                          <a:cs typeface="Times New Roman" pitchFamily="18" charset="0"/>
                        </a:rPr>
                        <a:t>Qn</a:t>
                      </a:r>
                      <a:r>
                        <a:rPr lang="en-IN" dirty="0" smtClean="0">
                          <a:latin typeface="Times New Roman" pitchFamily="18" charset="0"/>
                          <a:cs typeface="Times New Roman" pitchFamily="18" charset="0"/>
                        </a:rPr>
                        <a:t>=0, </a:t>
                      </a:r>
                      <a:r>
                        <a:rPr lang="en-IN" dirty="0" err="1" smtClean="0">
                          <a:latin typeface="Times New Roman" pitchFamily="18" charset="0"/>
                          <a:cs typeface="Times New Roman" pitchFamily="18" charset="0"/>
                        </a:rPr>
                        <a:t>shr</a:t>
                      </a:r>
                      <a:r>
                        <a:rPr lang="en-IN" dirty="0" smtClean="0">
                          <a:latin typeface="Times New Roman" pitchFamily="18" charset="0"/>
                          <a:cs typeface="Times New Roman" pitchFamily="18" charset="0"/>
                        </a:rPr>
                        <a:t> EAQ</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00100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01011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001</a:t>
                      </a:r>
                      <a:endParaRPr lang="en-IN" dirty="0">
                        <a:latin typeface="Times New Roman" pitchFamily="18" charset="0"/>
                        <a:cs typeface="Times New Roman" pitchFamily="18" charset="0"/>
                      </a:endParaRPr>
                    </a:p>
                  </a:txBody>
                  <a:tcPr/>
                </a:tc>
              </a:tr>
              <a:tr h="370840">
                <a:tc>
                  <a:txBody>
                    <a:bodyPr/>
                    <a:lstStyle/>
                    <a:p>
                      <a:r>
                        <a:rPr lang="en-IN" dirty="0" err="1" smtClean="0">
                          <a:latin typeface="Times New Roman" pitchFamily="18" charset="0"/>
                          <a:cs typeface="Times New Roman" pitchFamily="18" charset="0"/>
                        </a:rPr>
                        <a:t>Qn</a:t>
                      </a:r>
                      <a:r>
                        <a:rPr lang="en-IN" dirty="0" smtClean="0">
                          <a:latin typeface="Times New Roman" pitchFamily="18" charset="0"/>
                          <a:cs typeface="Times New Roman" pitchFamily="18" charset="0"/>
                        </a:rPr>
                        <a:t>=1, add B</a:t>
                      </a:r>
                      <a:endParaRPr lang="en-IN" dirty="0">
                        <a:latin typeface="Times New Roman" pitchFamily="18" charset="0"/>
                        <a:cs typeface="Times New Roman" pitchFamily="18" charset="0"/>
                      </a:endParaRPr>
                    </a:p>
                  </a:txBody>
                  <a:tcPr/>
                </a:tc>
                <a:tc>
                  <a:txBody>
                    <a:bodyPr/>
                    <a:lstStyle/>
                    <a:p>
                      <a:endParaRPr lang="en-IN" dirty="0" smtClean="0">
                        <a:latin typeface="Times New Roman" pitchFamily="18" charset="0"/>
                        <a:cs typeface="Times New Roman" pitchFamily="18" charset="0"/>
                      </a:endParaRP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00100</a:t>
                      </a:r>
                    </a:p>
                    <a:p>
                      <a:r>
                        <a:rPr lang="en-IN" dirty="0" smtClean="0">
                          <a:latin typeface="Times New Roman" pitchFamily="18" charset="0"/>
                          <a:cs typeface="Times New Roman" pitchFamily="18" charset="0"/>
                        </a:rPr>
                        <a:t>10111</a:t>
                      </a:r>
                    </a:p>
                    <a:p>
                      <a:r>
                        <a:rPr lang="en-IN" dirty="0" smtClean="0">
                          <a:latin typeface="Times New Roman" pitchFamily="18" charset="0"/>
                          <a:cs typeface="Times New Roman" pitchFamily="18" charset="0"/>
                        </a:rPr>
                        <a:t>11011</a:t>
                      </a:r>
                      <a:endParaRPr lang="en-IN" dirty="0">
                        <a:latin typeface="Times New Roman" pitchFamily="18" charset="0"/>
                        <a:cs typeface="Times New Roman" pitchFamily="18" charset="0"/>
                      </a:endParaRPr>
                    </a:p>
                  </a:txBody>
                  <a:tcPr/>
                </a:tc>
                <a:tc>
                  <a:txBody>
                    <a:bodyPr/>
                    <a:lstStyle/>
                    <a:p>
                      <a:endParaRPr lang="en-IN" dirty="0" smtClean="0">
                        <a:latin typeface="Times New Roman" pitchFamily="18" charset="0"/>
                        <a:cs typeface="Times New Roman" pitchFamily="18" charset="0"/>
                      </a:endParaRP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01011</a:t>
                      </a:r>
                      <a:endParaRPr lang="en-IN" dirty="0">
                        <a:latin typeface="Times New Roman" pitchFamily="18" charset="0"/>
                        <a:cs typeface="Times New Roman" pitchFamily="18" charset="0"/>
                      </a:endParaRPr>
                    </a:p>
                  </a:txBody>
                  <a:tcPr/>
                </a:tc>
                <a:tc>
                  <a:txBody>
                    <a:bodyPr/>
                    <a:lstStyle/>
                    <a:p>
                      <a:endParaRPr lang="en-IN" dirty="0">
                        <a:latin typeface="Times New Roman" pitchFamily="18" charset="0"/>
                        <a:cs typeface="Times New Roman" pitchFamily="18" charset="0"/>
                      </a:endParaRPr>
                    </a:p>
                  </a:txBody>
                  <a:tcPr/>
                </a:tc>
              </a:tr>
              <a:tr h="370840">
                <a:tc>
                  <a:txBody>
                    <a:bodyPr/>
                    <a:lstStyle/>
                    <a:p>
                      <a:r>
                        <a:rPr lang="en-IN" dirty="0" err="1" smtClean="0">
                          <a:latin typeface="Times New Roman" pitchFamily="18" charset="0"/>
                          <a:cs typeface="Times New Roman" pitchFamily="18" charset="0"/>
                        </a:rPr>
                        <a:t>Shr</a:t>
                      </a:r>
                      <a:r>
                        <a:rPr lang="en-IN" dirty="0" smtClean="0">
                          <a:latin typeface="Times New Roman" pitchFamily="18" charset="0"/>
                          <a:cs typeface="Times New Roman" pitchFamily="18" charset="0"/>
                        </a:rPr>
                        <a:t> EAQ</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a:t>
                      </a:r>
                      <a:endParaRPr lang="en-IN" dirty="0">
                        <a:latin typeface="Times New Roman" pitchFamily="18" charset="0"/>
                        <a:cs typeface="Times New Roman" pitchFamily="18" charset="0"/>
                      </a:endParaRPr>
                    </a:p>
                  </a:txBody>
                  <a:tcPr/>
                </a:tc>
                <a:tc>
                  <a:txBody>
                    <a:bodyPr/>
                    <a:lstStyle/>
                    <a:p>
                      <a:r>
                        <a:rPr lang="en-IN" dirty="0" smtClean="0">
                          <a:solidFill>
                            <a:srgbClr val="FF0000"/>
                          </a:solidFill>
                          <a:latin typeface="Times New Roman" pitchFamily="18" charset="0"/>
                          <a:cs typeface="Times New Roman" pitchFamily="18" charset="0"/>
                        </a:rPr>
                        <a:t>01101</a:t>
                      </a:r>
                      <a:endParaRPr lang="en-IN" dirty="0">
                        <a:solidFill>
                          <a:srgbClr val="FF0000"/>
                        </a:solidFill>
                        <a:latin typeface="Times New Roman" pitchFamily="18" charset="0"/>
                        <a:cs typeface="Times New Roman" pitchFamily="18" charset="0"/>
                      </a:endParaRPr>
                    </a:p>
                  </a:txBody>
                  <a:tcPr/>
                </a:tc>
                <a:tc>
                  <a:txBody>
                    <a:bodyPr/>
                    <a:lstStyle/>
                    <a:p>
                      <a:r>
                        <a:rPr lang="en-IN" dirty="0" smtClean="0">
                          <a:solidFill>
                            <a:srgbClr val="FF0000"/>
                          </a:solidFill>
                          <a:latin typeface="Times New Roman" pitchFamily="18" charset="0"/>
                          <a:cs typeface="Times New Roman" pitchFamily="18" charset="0"/>
                        </a:rPr>
                        <a:t>10101</a:t>
                      </a:r>
                      <a:endParaRPr lang="en-IN" dirty="0">
                        <a:solidFill>
                          <a:srgbClr val="FF0000"/>
                        </a:solidFill>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000</a:t>
                      </a:r>
                      <a:endParaRPr lang="en-IN" dirty="0">
                        <a:latin typeface="Times New Roman" pitchFamily="18" charset="0"/>
                        <a:cs typeface="Times New Roman" pitchFamily="18" charset="0"/>
                      </a:endParaRPr>
                    </a:p>
                  </a:txBody>
                  <a:tcPr/>
                </a:tc>
              </a:tr>
            </a:tbl>
          </a:graphicData>
        </a:graphic>
      </p:graphicFrame>
      <p:cxnSp>
        <p:nvCxnSpPr>
          <p:cNvPr id="130" name="Straight Arrow Connector 129"/>
          <p:cNvCxnSpPr/>
          <p:nvPr/>
        </p:nvCxnSpPr>
        <p:spPr>
          <a:xfrm rot="5400000" flipH="1" flipV="1">
            <a:off x="7010400" y="1407886"/>
            <a:ext cx="377372"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1" name="Straight Arrow Connector 130"/>
          <p:cNvCxnSpPr/>
          <p:nvPr/>
        </p:nvCxnSpPr>
        <p:spPr>
          <a:xfrm rot="5400000" flipH="1" flipV="1">
            <a:off x="7003143" y="3055258"/>
            <a:ext cx="377372"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2" name="Straight Arrow Connector 131"/>
          <p:cNvCxnSpPr/>
          <p:nvPr/>
        </p:nvCxnSpPr>
        <p:spPr>
          <a:xfrm rot="16200000" flipV="1">
            <a:off x="7091023" y="4623594"/>
            <a:ext cx="231434" cy="1372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4" name="Straight Arrow Connector 133"/>
          <p:cNvCxnSpPr/>
          <p:nvPr/>
        </p:nvCxnSpPr>
        <p:spPr>
          <a:xfrm rot="16200000" flipV="1">
            <a:off x="7083766" y="4993709"/>
            <a:ext cx="231434" cy="1372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5" name="Straight Arrow Connector 134"/>
          <p:cNvCxnSpPr/>
          <p:nvPr/>
        </p:nvCxnSpPr>
        <p:spPr>
          <a:xfrm rot="16200000" flipV="1">
            <a:off x="7083765" y="5400108"/>
            <a:ext cx="231434" cy="1372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5268686" y="1915885"/>
            <a:ext cx="1349829" cy="15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5290458" y="3563256"/>
            <a:ext cx="1349829" cy="15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5275943" y="5958113"/>
            <a:ext cx="1349829" cy="15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rot="10800000" flipV="1">
            <a:off x="1378858" y="2960912"/>
            <a:ext cx="798285"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203204" y="1162592"/>
            <a:ext cx="957939" cy="954107"/>
          </a:xfrm>
          <a:prstGeom prst="rect">
            <a:avLst/>
          </a:prstGeom>
          <a:noFill/>
        </p:spPr>
        <p:txBody>
          <a:bodyPr wrap="square" rtlCol="0">
            <a:spAutoFit/>
          </a:bodyPr>
          <a:lstStyle/>
          <a:p>
            <a:r>
              <a:rPr lang="en-IN" sz="1400" dirty="0" smtClean="0">
                <a:latin typeface="Times New Roman" pitchFamily="18" charset="0"/>
                <a:cs typeface="Times New Roman" pitchFamily="18" charset="0"/>
              </a:rPr>
              <a:t>Right shift to place Qn-1 to </a:t>
            </a:r>
            <a:r>
              <a:rPr lang="en-IN" sz="1400" dirty="0" err="1" smtClean="0">
                <a:latin typeface="Times New Roman" pitchFamily="18" charset="0"/>
                <a:cs typeface="Times New Roman" pitchFamily="18" charset="0"/>
              </a:rPr>
              <a:t>Qn</a:t>
            </a:r>
            <a:endParaRPr lang="en-IN" sz="1400" dirty="0">
              <a:latin typeface="Times New Roman" pitchFamily="18" charset="0"/>
              <a:cs typeface="Times New Roman" pitchFamily="18" charset="0"/>
            </a:endParaRPr>
          </a:p>
        </p:txBody>
      </p:sp>
      <p:cxnSp>
        <p:nvCxnSpPr>
          <p:cNvPr id="54" name="Straight Arrow Connector 53"/>
          <p:cNvCxnSpPr/>
          <p:nvPr/>
        </p:nvCxnSpPr>
        <p:spPr>
          <a:xfrm rot="16200000" flipV="1">
            <a:off x="101600" y="2322286"/>
            <a:ext cx="1059543" cy="1016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5773" y="188685"/>
            <a:ext cx="7924798" cy="3970318"/>
          </a:xfrm>
          <a:prstGeom prst="rect">
            <a:avLst/>
          </a:prstGeom>
          <a:noFill/>
        </p:spPr>
        <p:txBody>
          <a:bodyPr wrap="square" rtlCol="0">
            <a:spAutoFit/>
          </a:bodyPr>
          <a:lstStyle/>
          <a:p>
            <a:r>
              <a:rPr lang="en-IN" b="1" dirty="0" smtClean="0">
                <a:latin typeface="Times New Roman" pitchFamily="18" charset="0"/>
                <a:cs typeface="Times New Roman" pitchFamily="18" charset="0"/>
              </a:rPr>
              <a:t>Booth’s multiplication algorithm</a:t>
            </a:r>
          </a:p>
          <a:p>
            <a:r>
              <a:rPr lang="en-IN" dirty="0" smtClean="0">
                <a:latin typeface="Times New Roman" pitchFamily="18" charset="0"/>
                <a:cs typeface="Times New Roman" pitchFamily="18" charset="0"/>
              </a:rPr>
              <a:t>Speed up the multiplication process</a:t>
            </a:r>
          </a:p>
          <a:p>
            <a:r>
              <a:rPr lang="en-IN" dirty="0" smtClean="0">
                <a:latin typeface="Times New Roman" pitchFamily="18" charset="0"/>
                <a:cs typeface="Times New Roman" pitchFamily="18" charset="0"/>
              </a:rPr>
              <a:t>Multiply binary integers in signed 2’s complement representation</a:t>
            </a:r>
          </a:p>
          <a:p>
            <a:r>
              <a:rPr lang="en-IN" dirty="0" smtClean="0">
                <a:latin typeface="Times New Roman" pitchFamily="18" charset="0"/>
                <a:cs typeface="Times New Roman" pitchFamily="18" charset="0"/>
              </a:rPr>
              <a:t>String of 0’s in the multiplier require no addition but just shifting</a:t>
            </a:r>
          </a:p>
          <a:p>
            <a:r>
              <a:rPr lang="en-IN" dirty="0" smtClean="0">
                <a:latin typeface="Times New Roman" pitchFamily="18" charset="0"/>
                <a:cs typeface="Times New Roman" pitchFamily="18" charset="0"/>
              </a:rPr>
              <a:t>A string of 1’s in the multiplier from bit weight 2</a:t>
            </a:r>
            <a:r>
              <a:rPr lang="en-IN" baseline="30000" dirty="0" smtClean="0">
                <a:latin typeface="Times New Roman" pitchFamily="18" charset="0"/>
                <a:cs typeface="Times New Roman" pitchFamily="18" charset="0"/>
              </a:rPr>
              <a:t>k</a:t>
            </a:r>
            <a:r>
              <a:rPr lang="en-IN" dirty="0" smtClean="0">
                <a:latin typeface="Times New Roman" pitchFamily="18" charset="0"/>
                <a:cs typeface="Times New Roman" pitchFamily="18" charset="0"/>
              </a:rPr>
              <a:t> to weight 2</a:t>
            </a:r>
            <a:r>
              <a:rPr lang="en-IN" baseline="30000" dirty="0" smtClean="0">
                <a:latin typeface="Times New Roman" pitchFamily="18" charset="0"/>
                <a:cs typeface="Times New Roman" pitchFamily="18" charset="0"/>
              </a:rPr>
              <a:t>m </a:t>
            </a:r>
            <a:r>
              <a:rPr lang="en-IN" dirty="0" smtClean="0">
                <a:latin typeface="Times New Roman" pitchFamily="18" charset="0"/>
                <a:cs typeface="Times New Roman" pitchFamily="18" charset="0"/>
              </a:rPr>
              <a:t>can be treated as 2</a:t>
            </a:r>
            <a:r>
              <a:rPr lang="en-IN" baseline="30000" dirty="0" smtClean="0">
                <a:latin typeface="Times New Roman" pitchFamily="18" charset="0"/>
                <a:cs typeface="Times New Roman" pitchFamily="18" charset="0"/>
              </a:rPr>
              <a:t>k+1</a:t>
            </a:r>
            <a:r>
              <a:rPr lang="en-IN" dirty="0" smtClean="0">
                <a:latin typeface="Times New Roman" pitchFamily="18" charset="0"/>
                <a:cs typeface="Times New Roman" pitchFamily="18" charset="0"/>
              </a:rPr>
              <a:t>-2</a:t>
            </a:r>
            <a:r>
              <a:rPr lang="en-IN" baseline="30000" dirty="0" smtClean="0">
                <a:latin typeface="Times New Roman" pitchFamily="18" charset="0"/>
                <a:cs typeface="Times New Roman" pitchFamily="18" charset="0"/>
              </a:rPr>
              <a:t>m</a:t>
            </a:r>
          </a:p>
          <a:p>
            <a:r>
              <a:rPr lang="en-IN" dirty="0" smtClean="0">
                <a:latin typeface="Times New Roman" pitchFamily="18" charset="0"/>
                <a:cs typeface="Times New Roman" pitchFamily="18" charset="0"/>
              </a:rPr>
              <a:t>Example: 001110 = +14 has a string of 1’s from 2</a:t>
            </a:r>
            <a:r>
              <a:rPr lang="en-IN" baseline="30000" dirty="0" smtClean="0">
                <a:latin typeface="Times New Roman" pitchFamily="18" charset="0"/>
                <a:cs typeface="Times New Roman" pitchFamily="18" charset="0"/>
              </a:rPr>
              <a:t>3</a:t>
            </a:r>
            <a:r>
              <a:rPr lang="en-IN" dirty="0" smtClean="0">
                <a:latin typeface="Times New Roman" pitchFamily="18" charset="0"/>
                <a:cs typeface="Times New Roman" pitchFamily="18" charset="0"/>
              </a:rPr>
              <a:t> to 2</a:t>
            </a:r>
            <a:r>
              <a:rPr lang="en-IN" baseline="30000" dirty="0" smtClean="0">
                <a:latin typeface="Times New Roman" pitchFamily="18" charset="0"/>
                <a:cs typeface="Times New Roman" pitchFamily="18" charset="0"/>
              </a:rPr>
              <a:t>1</a:t>
            </a:r>
            <a:r>
              <a:rPr lang="en-IN" dirty="0" smtClean="0">
                <a:latin typeface="Times New Roman" pitchFamily="18" charset="0"/>
                <a:cs typeface="Times New Roman" pitchFamily="18" charset="0"/>
              </a:rPr>
              <a:t>, k=3 and m=1. So +14 can be represented as 2</a:t>
            </a:r>
            <a:r>
              <a:rPr lang="en-IN" baseline="30000" dirty="0" smtClean="0">
                <a:latin typeface="Times New Roman" pitchFamily="18" charset="0"/>
                <a:cs typeface="Times New Roman" pitchFamily="18" charset="0"/>
              </a:rPr>
              <a:t>k+1</a:t>
            </a:r>
            <a:r>
              <a:rPr lang="en-IN" dirty="0" smtClean="0">
                <a:latin typeface="Times New Roman" pitchFamily="18" charset="0"/>
                <a:cs typeface="Times New Roman" pitchFamily="18" charset="0"/>
              </a:rPr>
              <a:t>-2</a:t>
            </a:r>
            <a:r>
              <a:rPr lang="en-IN" baseline="30000" dirty="0" smtClean="0">
                <a:latin typeface="Times New Roman" pitchFamily="18" charset="0"/>
                <a:cs typeface="Times New Roman" pitchFamily="18" charset="0"/>
              </a:rPr>
              <a:t>m</a:t>
            </a:r>
            <a:r>
              <a:rPr lang="en-IN" dirty="0" smtClean="0">
                <a:latin typeface="Times New Roman" pitchFamily="18" charset="0"/>
                <a:cs typeface="Times New Roman" pitchFamily="18" charset="0"/>
              </a:rPr>
              <a:t> = 2</a:t>
            </a:r>
            <a:r>
              <a:rPr lang="en-IN" baseline="30000" dirty="0" smtClean="0">
                <a:latin typeface="Times New Roman" pitchFamily="18" charset="0"/>
                <a:cs typeface="Times New Roman" pitchFamily="18" charset="0"/>
              </a:rPr>
              <a:t>4</a:t>
            </a:r>
            <a:r>
              <a:rPr lang="en-IN" dirty="0" smtClean="0">
                <a:latin typeface="Times New Roman" pitchFamily="18" charset="0"/>
                <a:cs typeface="Times New Roman" pitchFamily="18" charset="0"/>
              </a:rPr>
              <a:t>-2</a:t>
            </a:r>
            <a:r>
              <a:rPr lang="en-IN" baseline="30000" dirty="0" smtClean="0">
                <a:latin typeface="Times New Roman" pitchFamily="18" charset="0"/>
                <a:cs typeface="Times New Roman" pitchFamily="18" charset="0"/>
              </a:rPr>
              <a:t>1</a:t>
            </a:r>
            <a:r>
              <a:rPr lang="en-IN" dirty="0" smtClean="0">
                <a:latin typeface="Times New Roman" pitchFamily="18" charset="0"/>
                <a:cs typeface="Times New Roman" pitchFamily="18" charset="0"/>
              </a:rPr>
              <a:t> = 14</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Multiplication</a:t>
            </a:r>
          </a:p>
          <a:p>
            <a:r>
              <a:rPr lang="en-IN" dirty="0" smtClean="0">
                <a:latin typeface="Times New Roman" pitchFamily="18" charset="0"/>
                <a:cs typeface="Times New Roman" pitchFamily="18" charset="0"/>
              </a:rPr>
              <a:t>M=multiplicand and +14 = Multiplier</a:t>
            </a:r>
          </a:p>
          <a:p>
            <a:r>
              <a:rPr lang="en-IN" dirty="0" smtClean="0">
                <a:latin typeface="Times New Roman" pitchFamily="18" charset="0"/>
                <a:cs typeface="Times New Roman" pitchFamily="18" charset="0"/>
              </a:rPr>
              <a:t>M x 14 can be done as M x 2</a:t>
            </a:r>
            <a:r>
              <a:rPr lang="en-IN" baseline="30000" dirty="0" smtClean="0">
                <a:latin typeface="Times New Roman" pitchFamily="18" charset="0"/>
                <a:cs typeface="Times New Roman" pitchFamily="18" charset="0"/>
              </a:rPr>
              <a:t>4</a:t>
            </a:r>
            <a:r>
              <a:rPr lang="en-IN" dirty="0" smtClean="0">
                <a:latin typeface="Times New Roman" pitchFamily="18" charset="0"/>
                <a:cs typeface="Times New Roman" pitchFamily="18" charset="0"/>
              </a:rPr>
              <a:t> – M x 2</a:t>
            </a:r>
            <a:r>
              <a:rPr lang="en-IN" baseline="30000" dirty="0" smtClean="0">
                <a:latin typeface="Times New Roman" pitchFamily="18" charset="0"/>
                <a:cs typeface="Times New Roman" pitchFamily="18" charset="0"/>
              </a:rPr>
              <a:t>1</a:t>
            </a:r>
          </a:p>
          <a:p>
            <a:r>
              <a:rPr lang="en-IN" dirty="0" smtClean="0">
                <a:latin typeface="Times New Roman" pitchFamily="18" charset="0"/>
                <a:cs typeface="Times New Roman" pitchFamily="18" charset="0"/>
              </a:rPr>
              <a:t>Product can be obtained by shifting the binary multiplicand M four times towards left and subtracting M after shifting left by 1 bit</a:t>
            </a:r>
            <a:endParaRPr lang="en-IN" dirty="0">
              <a:latin typeface="Times New Roman" pitchFamily="18" charset="0"/>
              <a:cs typeface="Times New Roman" pitchFamily="18" charset="0"/>
            </a:endParaRPr>
          </a:p>
        </p:txBody>
      </p:sp>
      <p:sp>
        <p:nvSpPr>
          <p:cNvPr id="3" name="TextBox 2"/>
          <p:cNvSpPr txBox="1"/>
          <p:nvPr/>
        </p:nvSpPr>
        <p:spPr>
          <a:xfrm>
            <a:off x="346889" y="4557486"/>
            <a:ext cx="1264195" cy="369332"/>
          </a:xfrm>
          <a:prstGeom prst="rect">
            <a:avLst/>
          </a:prstGeom>
          <a:noFill/>
        </p:spPr>
        <p:txBody>
          <a:bodyPr wrap="square" rtlCol="0">
            <a:spAutoFit/>
          </a:bodyPr>
          <a:lstStyle/>
          <a:p>
            <a:r>
              <a:rPr lang="en-IN" dirty="0" smtClean="0">
                <a:latin typeface="Times New Roman" pitchFamily="18" charset="0"/>
                <a:cs typeface="Times New Roman" pitchFamily="18" charset="0"/>
              </a:rPr>
              <a:t>BR register </a:t>
            </a:r>
            <a:endParaRPr lang="en-IN" dirty="0">
              <a:latin typeface="Times New Roman" pitchFamily="18" charset="0"/>
              <a:cs typeface="Times New Roman" pitchFamily="18" charset="0"/>
            </a:endParaRPr>
          </a:p>
        </p:txBody>
      </p:sp>
      <p:sp>
        <p:nvSpPr>
          <p:cNvPr id="4" name="TextBox 3"/>
          <p:cNvSpPr txBox="1"/>
          <p:nvPr/>
        </p:nvSpPr>
        <p:spPr>
          <a:xfrm>
            <a:off x="406400" y="6277429"/>
            <a:ext cx="1274354" cy="369332"/>
          </a:xfrm>
          <a:prstGeom prst="rect">
            <a:avLst/>
          </a:prstGeom>
          <a:noFill/>
        </p:spPr>
        <p:txBody>
          <a:bodyPr wrap="square" rtlCol="0">
            <a:spAutoFit/>
          </a:bodyPr>
          <a:lstStyle/>
          <a:p>
            <a:r>
              <a:rPr lang="en-IN" dirty="0" smtClean="0">
                <a:latin typeface="Times New Roman" pitchFamily="18" charset="0"/>
                <a:cs typeface="Times New Roman" pitchFamily="18" charset="0"/>
              </a:rPr>
              <a:t>AC register </a:t>
            </a:r>
            <a:endParaRPr lang="en-IN" dirty="0">
              <a:latin typeface="Times New Roman" pitchFamily="18" charset="0"/>
              <a:cs typeface="Times New Roman" pitchFamily="18" charset="0"/>
            </a:endParaRPr>
          </a:p>
        </p:txBody>
      </p:sp>
      <p:sp>
        <p:nvSpPr>
          <p:cNvPr id="5" name="TextBox 4"/>
          <p:cNvSpPr txBox="1"/>
          <p:nvPr/>
        </p:nvSpPr>
        <p:spPr>
          <a:xfrm>
            <a:off x="200295" y="5323841"/>
            <a:ext cx="1942014" cy="646331"/>
          </a:xfrm>
          <a:prstGeom prst="rect">
            <a:avLst/>
          </a:prstGeom>
          <a:noFill/>
        </p:spPr>
        <p:txBody>
          <a:bodyPr wrap="square" rtlCol="0">
            <a:spAutoFit/>
          </a:bodyPr>
          <a:lstStyle/>
          <a:p>
            <a:r>
              <a:rPr lang="en-IN" dirty="0" err="1" smtClean="0">
                <a:latin typeface="Times New Roman" pitchFamily="18" charset="0"/>
                <a:cs typeface="Times New Roman" pitchFamily="18" charset="0"/>
              </a:rPr>
              <a:t>Complementer</a:t>
            </a:r>
            <a:r>
              <a:rPr lang="en-IN" dirty="0" smtClean="0">
                <a:latin typeface="Times New Roman" pitchFamily="18" charset="0"/>
                <a:cs typeface="Times New Roman" pitchFamily="18" charset="0"/>
              </a:rPr>
              <a:t> and parallel adder </a:t>
            </a:r>
            <a:endParaRPr lang="en-IN" dirty="0">
              <a:latin typeface="Times New Roman" pitchFamily="18" charset="0"/>
              <a:cs typeface="Times New Roman" pitchFamily="18" charset="0"/>
            </a:endParaRPr>
          </a:p>
        </p:txBody>
      </p:sp>
      <p:sp>
        <p:nvSpPr>
          <p:cNvPr id="6" name="TextBox 5"/>
          <p:cNvSpPr txBox="1"/>
          <p:nvPr/>
        </p:nvSpPr>
        <p:spPr>
          <a:xfrm>
            <a:off x="2160448" y="4616634"/>
            <a:ext cx="2299066" cy="369332"/>
          </a:xfrm>
          <a:prstGeom prst="rect">
            <a:avLst/>
          </a:prstGeom>
          <a:noFill/>
        </p:spPr>
        <p:txBody>
          <a:bodyPr wrap="square" rtlCol="0">
            <a:spAutoFit/>
          </a:bodyPr>
          <a:lstStyle/>
          <a:p>
            <a:r>
              <a:rPr lang="en-IN" dirty="0" smtClean="0">
                <a:latin typeface="Times New Roman" pitchFamily="18" charset="0"/>
                <a:cs typeface="Times New Roman" pitchFamily="18" charset="0"/>
              </a:rPr>
              <a:t>Sequence counter (SC)</a:t>
            </a:r>
            <a:endParaRPr lang="en-IN" dirty="0">
              <a:latin typeface="Times New Roman" pitchFamily="18" charset="0"/>
              <a:cs typeface="Times New Roman" pitchFamily="18" charset="0"/>
            </a:endParaRPr>
          </a:p>
        </p:txBody>
      </p:sp>
      <p:sp>
        <p:nvSpPr>
          <p:cNvPr id="9" name="Rectangle 8"/>
          <p:cNvSpPr/>
          <p:nvPr/>
        </p:nvSpPr>
        <p:spPr>
          <a:xfrm>
            <a:off x="412203" y="4622798"/>
            <a:ext cx="1140824" cy="29920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10" name="Rectangle 9"/>
          <p:cNvSpPr/>
          <p:nvPr/>
        </p:nvSpPr>
        <p:spPr>
          <a:xfrm>
            <a:off x="476066" y="6355805"/>
            <a:ext cx="1135019" cy="2765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211905" y="5284650"/>
            <a:ext cx="1846220" cy="77630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2211614" y="4685936"/>
            <a:ext cx="2209800" cy="28949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Arrow Connector 15"/>
          <p:cNvCxnSpPr/>
          <p:nvPr/>
        </p:nvCxnSpPr>
        <p:spPr>
          <a:xfrm rot="5400000">
            <a:off x="712654" y="5053873"/>
            <a:ext cx="444137"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rot="16200000" flipH="1">
            <a:off x="744517" y="6236857"/>
            <a:ext cx="341878" cy="211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rot="16200000" flipV="1">
            <a:off x="1184367" y="6217919"/>
            <a:ext cx="346894" cy="1596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2771500" y="5672910"/>
            <a:ext cx="434342" cy="307777"/>
          </a:xfrm>
          <a:prstGeom prst="rect">
            <a:avLst/>
          </a:prstGeom>
          <a:noFill/>
        </p:spPr>
        <p:txBody>
          <a:bodyPr wrap="square" rtlCol="0">
            <a:spAutoFit/>
          </a:bodyPr>
          <a:lstStyle/>
          <a:p>
            <a:r>
              <a:rPr lang="en-IN" sz="1400" dirty="0" err="1" smtClean="0">
                <a:latin typeface="Times New Roman" pitchFamily="18" charset="0"/>
                <a:cs typeface="Times New Roman" pitchFamily="18" charset="0"/>
              </a:rPr>
              <a:t>Qn</a:t>
            </a:r>
            <a:r>
              <a:rPr lang="en-IN" sz="1400" dirty="0" smtClean="0">
                <a:latin typeface="Times New Roman" pitchFamily="18" charset="0"/>
                <a:cs typeface="Times New Roman" pitchFamily="18" charset="0"/>
              </a:rPr>
              <a:t> </a:t>
            </a:r>
            <a:endParaRPr lang="en-IN" sz="1400" dirty="0">
              <a:latin typeface="Times New Roman" pitchFamily="18" charset="0"/>
              <a:cs typeface="Times New Roman" pitchFamily="18" charset="0"/>
            </a:endParaRPr>
          </a:p>
        </p:txBody>
      </p:sp>
      <p:sp>
        <p:nvSpPr>
          <p:cNvPr id="24" name="TextBox 23"/>
          <p:cNvSpPr txBox="1"/>
          <p:nvPr/>
        </p:nvSpPr>
        <p:spPr>
          <a:xfrm>
            <a:off x="1885404" y="6291943"/>
            <a:ext cx="1264195" cy="369332"/>
          </a:xfrm>
          <a:prstGeom prst="rect">
            <a:avLst/>
          </a:prstGeom>
          <a:noFill/>
        </p:spPr>
        <p:txBody>
          <a:bodyPr wrap="square" rtlCol="0">
            <a:spAutoFit/>
          </a:bodyPr>
          <a:lstStyle/>
          <a:p>
            <a:r>
              <a:rPr lang="en-IN" dirty="0" smtClean="0">
                <a:latin typeface="Times New Roman" pitchFamily="18" charset="0"/>
                <a:cs typeface="Times New Roman" pitchFamily="18" charset="0"/>
              </a:rPr>
              <a:t>QR register </a:t>
            </a:r>
            <a:endParaRPr lang="en-IN" dirty="0">
              <a:latin typeface="Times New Roman" pitchFamily="18" charset="0"/>
              <a:cs typeface="Times New Roman" pitchFamily="18" charset="0"/>
            </a:endParaRPr>
          </a:p>
        </p:txBody>
      </p:sp>
      <p:sp>
        <p:nvSpPr>
          <p:cNvPr id="26" name="Rectangle 25"/>
          <p:cNvSpPr/>
          <p:nvPr/>
        </p:nvSpPr>
        <p:spPr>
          <a:xfrm>
            <a:off x="1950717" y="6328227"/>
            <a:ext cx="1155339" cy="3072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cxnSp>
        <p:nvCxnSpPr>
          <p:cNvPr id="29" name="Straight Arrow Connector 28"/>
          <p:cNvCxnSpPr/>
          <p:nvPr/>
        </p:nvCxnSpPr>
        <p:spPr>
          <a:xfrm rot="16200000" flipV="1">
            <a:off x="2794001" y="6132290"/>
            <a:ext cx="406401" cy="145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1611084" y="6458858"/>
            <a:ext cx="391886" cy="145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3336832" y="6320971"/>
            <a:ext cx="509453" cy="2830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cxnSp>
        <p:nvCxnSpPr>
          <p:cNvPr id="34" name="Straight Arrow Connector 33"/>
          <p:cNvCxnSpPr>
            <a:stCxn id="26" idx="3"/>
            <a:endCxn id="32" idx="1"/>
          </p:cNvCxnSpPr>
          <p:nvPr/>
        </p:nvCxnSpPr>
        <p:spPr>
          <a:xfrm flipV="1">
            <a:off x="3106056" y="6462486"/>
            <a:ext cx="230776" cy="1938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rot="16200000" flipV="1">
            <a:off x="3381830" y="6096005"/>
            <a:ext cx="406401" cy="145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3388356" y="5593082"/>
            <a:ext cx="646613"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Qn+1</a:t>
            </a:r>
            <a:endParaRPr lang="en-IN" sz="1400" dirty="0">
              <a:latin typeface="Times New Roman" pitchFamily="18" charset="0"/>
              <a:cs typeface="Times New Roman" pitchFamily="18" charset="0"/>
            </a:endParaRPr>
          </a:p>
        </p:txBody>
      </p:sp>
      <p:sp>
        <p:nvSpPr>
          <p:cNvPr id="45" name="TextBox 44"/>
          <p:cNvSpPr txBox="1"/>
          <p:nvPr/>
        </p:nvSpPr>
        <p:spPr>
          <a:xfrm>
            <a:off x="4963886" y="5341258"/>
            <a:ext cx="2859314" cy="923330"/>
          </a:xfrm>
          <a:prstGeom prst="rect">
            <a:avLst/>
          </a:prstGeom>
          <a:noFill/>
        </p:spPr>
        <p:txBody>
          <a:bodyPr wrap="square" rtlCol="0">
            <a:spAutoFit/>
          </a:bodyPr>
          <a:lstStyle/>
          <a:p>
            <a:r>
              <a:rPr lang="en-IN" dirty="0" smtClean="0">
                <a:latin typeface="Times New Roman" pitchFamily="18" charset="0"/>
                <a:cs typeface="Times New Roman" pitchFamily="18" charset="0"/>
              </a:rPr>
              <a:t>Hardware implementation</a:t>
            </a:r>
          </a:p>
          <a:p>
            <a:r>
              <a:rPr lang="en-IN" dirty="0" err="1" smtClean="0">
                <a:latin typeface="Times New Roman" pitchFamily="18" charset="0"/>
                <a:cs typeface="Times New Roman" pitchFamily="18" charset="0"/>
              </a:rPr>
              <a:t>Qn</a:t>
            </a:r>
            <a:r>
              <a:rPr lang="en-IN" dirty="0" smtClean="0">
                <a:latin typeface="Times New Roman" pitchFamily="18" charset="0"/>
                <a:cs typeface="Times New Roman" pitchFamily="18" charset="0"/>
              </a:rPr>
              <a:t>: LSB of multiplier in QR</a:t>
            </a:r>
          </a:p>
          <a:p>
            <a:r>
              <a:rPr lang="en-IN" dirty="0" smtClean="0">
                <a:latin typeface="Times New Roman" pitchFamily="18" charset="0"/>
                <a:cs typeface="Times New Roman" pitchFamily="18" charset="0"/>
              </a:rPr>
              <a:t>Qn+1: extra FF</a:t>
            </a:r>
            <a:endParaRPr lang="en-IN" dirty="0">
              <a:latin typeface="Times New Roman" pitchFamily="18" charset="0"/>
              <a:cs typeface="Times New Roman" pitchFamily="18" charset="0"/>
            </a:endParaRPr>
          </a:p>
        </p:txBody>
      </p:sp>
      <p:sp>
        <p:nvSpPr>
          <p:cNvPr id="46" name="Flowchart: Alternate Process 45"/>
          <p:cNvSpPr/>
          <p:nvPr/>
        </p:nvSpPr>
        <p:spPr>
          <a:xfrm>
            <a:off x="9546047" y="734422"/>
            <a:ext cx="1499325" cy="484778"/>
          </a:xfrm>
          <a:prstGeom prst="flowChartAlternate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47" name="TextBox 46"/>
          <p:cNvSpPr txBox="1"/>
          <p:nvPr/>
        </p:nvSpPr>
        <p:spPr>
          <a:xfrm>
            <a:off x="9514115" y="728615"/>
            <a:ext cx="1603827" cy="523220"/>
          </a:xfrm>
          <a:prstGeom prst="rect">
            <a:avLst/>
          </a:prstGeom>
          <a:noFill/>
        </p:spPr>
        <p:txBody>
          <a:bodyPr wrap="square" rtlCol="0">
            <a:spAutoFit/>
          </a:bodyPr>
          <a:lstStyle/>
          <a:p>
            <a:r>
              <a:rPr lang="en-IN" sz="1400" dirty="0" smtClean="0">
                <a:latin typeface="Times New Roman" pitchFamily="18" charset="0"/>
                <a:cs typeface="Times New Roman" pitchFamily="18" charset="0"/>
              </a:rPr>
              <a:t>Multiplicand in BR</a:t>
            </a:r>
          </a:p>
          <a:p>
            <a:r>
              <a:rPr lang="en-IN" sz="1400" dirty="0" smtClean="0">
                <a:latin typeface="Times New Roman" pitchFamily="18" charset="0"/>
                <a:cs typeface="Times New Roman" pitchFamily="18" charset="0"/>
              </a:rPr>
              <a:t>Multiplier in QR</a:t>
            </a:r>
            <a:endParaRPr lang="en-IN" sz="1400" dirty="0">
              <a:latin typeface="Times New Roman" pitchFamily="18" charset="0"/>
              <a:cs typeface="Times New Roman" pitchFamily="18" charset="0"/>
            </a:endParaRPr>
          </a:p>
        </p:txBody>
      </p:sp>
      <p:sp>
        <p:nvSpPr>
          <p:cNvPr id="48" name="TextBox 47"/>
          <p:cNvSpPr txBox="1"/>
          <p:nvPr/>
        </p:nvSpPr>
        <p:spPr>
          <a:xfrm>
            <a:off x="9917612" y="3201849"/>
            <a:ext cx="444137"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00    </a:t>
            </a:r>
            <a:endParaRPr lang="en-IN" sz="1400" dirty="0">
              <a:latin typeface="Times New Roman" pitchFamily="18" charset="0"/>
              <a:cs typeface="Times New Roman" pitchFamily="18" charset="0"/>
            </a:endParaRPr>
          </a:p>
        </p:txBody>
      </p:sp>
      <p:sp>
        <p:nvSpPr>
          <p:cNvPr id="49" name="TextBox 48"/>
          <p:cNvSpPr txBox="1"/>
          <p:nvPr/>
        </p:nvSpPr>
        <p:spPr>
          <a:xfrm>
            <a:off x="9532986" y="4352830"/>
            <a:ext cx="383176"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≠0</a:t>
            </a:r>
            <a:endParaRPr lang="en-IN" sz="1400" dirty="0">
              <a:latin typeface="Times New Roman" pitchFamily="18" charset="0"/>
              <a:cs typeface="Times New Roman" pitchFamily="18" charset="0"/>
            </a:endParaRPr>
          </a:p>
        </p:txBody>
      </p:sp>
      <p:sp>
        <p:nvSpPr>
          <p:cNvPr id="50" name="TextBox 49"/>
          <p:cNvSpPr txBox="1"/>
          <p:nvPr/>
        </p:nvSpPr>
        <p:spPr>
          <a:xfrm>
            <a:off x="9688289" y="1503676"/>
            <a:ext cx="994226" cy="738664"/>
          </a:xfrm>
          <a:prstGeom prst="rect">
            <a:avLst/>
          </a:prstGeom>
          <a:noFill/>
        </p:spPr>
        <p:txBody>
          <a:bodyPr wrap="square" rtlCol="0">
            <a:spAutoFit/>
          </a:bodyPr>
          <a:lstStyle/>
          <a:p>
            <a:r>
              <a:rPr lang="en-IN" sz="1400" dirty="0" smtClean="0">
                <a:latin typeface="Times New Roman" pitchFamily="18" charset="0"/>
                <a:cs typeface="Times New Roman" pitchFamily="18" charset="0"/>
              </a:rPr>
              <a:t>AC </a:t>
            </a:r>
            <a:r>
              <a:rPr lang="en-IN" sz="1400" dirty="0" smtClean="0">
                <a:latin typeface="Times New Roman" pitchFamily="18" charset="0"/>
                <a:cs typeface="Times New Roman" pitchFamily="18" charset="0"/>
                <a:sym typeface="Symbol"/>
              </a:rPr>
              <a:t> 0 Qn+1  0 SC  n</a:t>
            </a:r>
          </a:p>
        </p:txBody>
      </p:sp>
      <p:sp>
        <p:nvSpPr>
          <p:cNvPr id="51" name="Rectangle 50"/>
          <p:cNvSpPr/>
          <p:nvPr/>
        </p:nvSpPr>
        <p:spPr>
          <a:xfrm>
            <a:off x="9708609" y="1557380"/>
            <a:ext cx="944877" cy="7068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52" name="Diamond 51"/>
          <p:cNvSpPr/>
          <p:nvPr/>
        </p:nvSpPr>
        <p:spPr>
          <a:xfrm>
            <a:off x="9741989" y="2542900"/>
            <a:ext cx="969553" cy="444137"/>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TextBox 52"/>
          <p:cNvSpPr txBox="1"/>
          <p:nvPr/>
        </p:nvSpPr>
        <p:spPr>
          <a:xfrm>
            <a:off x="9800046" y="2629984"/>
            <a:ext cx="853439"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QnQn+1 </a:t>
            </a:r>
            <a:endParaRPr lang="en-IN" sz="1400" dirty="0">
              <a:latin typeface="Times New Roman" pitchFamily="18" charset="0"/>
              <a:cs typeface="Times New Roman" pitchFamily="18" charset="0"/>
            </a:endParaRPr>
          </a:p>
        </p:txBody>
      </p:sp>
      <p:sp>
        <p:nvSpPr>
          <p:cNvPr id="54" name="Rectangle 53"/>
          <p:cNvSpPr/>
          <p:nvPr/>
        </p:nvSpPr>
        <p:spPr>
          <a:xfrm>
            <a:off x="10778310" y="2976876"/>
            <a:ext cx="1108889" cy="2452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55" name="TextBox 54"/>
          <p:cNvSpPr txBox="1"/>
          <p:nvPr/>
        </p:nvSpPr>
        <p:spPr>
          <a:xfrm>
            <a:off x="10755084" y="2946399"/>
            <a:ext cx="1262743"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ACAC+BR </a:t>
            </a:r>
          </a:p>
        </p:txBody>
      </p:sp>
      <p:sp>
        <p:nvSpPr>
          <p:cNvPr id="56" name="TextBox 55"/>
          <p:cNvSpPr txBox="1"/>
          <p:nvPr/>
        </p:nvSpPr>
        <p:spPr>
          <a:xfrm>
            <a:off x="9499601" y="3563257"/>
            <a:ext cx="1545769" cy="523220"/>
          </a:xfrm>
          <a:prstGeom prst="rect">
            <a:avLst/>
          </a:prstGeom>
          <a:noFill/>
        </p:spPr>
        <p:txBody>
          <a:bodyPr wrap="square" rtlCol="0">
            <a:spAutoFit/>
          </a:bodyPr>
          <a:lstStyle/>
          <a:p>
            <a:r>
              <a:rPr lang="en-IN" sz="1400" dirty="0" err="1" smtClean="0">
                <a:latin typeface="Times New Roman" pitchFamily="18" charset="0"/>
                <a:cs typeface="Times New Roman" pitchFamily="18" charset="0"/>
              </a:rPr>
              <a:t>ashr</a:t>
            </a:r>
            <a:r>
              <a:rPr lang="en-IN" sz="1400" dirty="0" smtClean="0">
                <a:latin typeface="Times New Roman" pitchFamily="18" charset="0"/>
                <a:cs typeface="Times New Roman" pitchFamily="18" charset="0"/>
              </a:rPr>
              <a:t> (AC and QR)</a:t>
            </a:r>
          </a:p>
          <a:p>
            <a:r>
              <a:rPr lang="en-IN" sz="1400" dirty="0" smtClean="0">
                <a:latin typeface="Times New Roman" pitchFamily="18" charset="0"/>
                <a:cs typeface="Times New Roman" pitchFamily="18" charset="0"/>
                <a:sym typeface="Symbol"/>
              </a:rPr>
              <a:t>SC SC-1</a:t>
            </a:r>
          </a:p>
        </p:txBody>
      </p:sp>
      <p:sp>
        <p:nvSpPr>
          <p:cNvPr id="57" name="Rectangle 56"/>
          <p:cNvSpPr/>
          <p:nvPr/>
        </p:nvSpPr>
        <p:spPr>
          <a:xfrm>
            <a:off x="9556208" y="3611152"/>
            <a:ext cx="1373048" cy="43833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58" name="Diamond 57"/>
          <p:cNvSpPr/>
          <p:nvPr/>
        </p:nvSpPr>
        <p:spPr>
          <a:xfrm>
            <a:off x="9923418" y="4335416"/>
            <a:ext cx="653142" cy="444137"/>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TextBox 58"/>
          <p:cNvSpPr txBox="1"/>
          <p:nvPr/>
        </p:nvSpPr>
        <p:spPr>
          <a:xfrm>
            <a:off x="10097589" y="4378957"/>
            <a:ext cx="461554"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SC </a:t>
            </a:r>
            <a:endParaRPr lang="en-IN" sz="1400" dirty="0">
              <a:latin typeface="Times New Roman" pitchFamily="18" charset="0"/>
              <a:cs typeface="Times New Roman" pitchFamily="18" charset="0"/>
            </a:endParaRPr>
          </a:p>
        </p:txBody>
      </p:sp>
      <p:sp>
        <p:nvSpPr>
          <p:cNvPr id="60" name="TextBox 59"/>
          <p:cNvSpPr txBox="1"/>
          <p:nvPr/>
        </p:nvSpPr>
        <p:spPr>
          <a:xfrm>
            <a:off x="10849430" y="4348478"/>
            <a:ext cx="602341"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END </a:t>
            </a:r>
          </a:p>
        </p:txBody>
      </p:sp>
      <p:sp>
        <p:nvSpPr>
          <p:cNvPr id="61" name="Flowchart: Alternate Process 60"/>
          <p:cNvSpPr/>
          <p:nvPr/>
        </p:nvSpPr>
        <p:spPr>
          <a:xfrm>
            <a:off x="10830560" y="4384764"/>
            <a:ext cx="592183" cy="259808"/>
          </a:xfrm>
          <a:prstGeom prst="flowChartAlternate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cxnSp>
        <p:nvCxnSpPr>
          <p:cNvPr id="62" name="Straight Arrow Connector 61"/>
          <p:cNvCxnSpPr/>
          <p:nvPr/>
        </p:nvCxnSpPr>
        <p:spPr>
          <a:xfrm rot="16200000" flipH="1">
            <a:off x="10054117" y="1384728"/>
            <a:ext cx="366416" cy="79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rot="5400000">
            <a:off x="9020632" y="2895600"/>
            <a:ext cx="246741" cy="2903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9129486" y="2769359"/>
            <a:ext cx="624115" cy="2868"/>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rot="5400000">
            <a:off x="10218058" y="580572"/>
            <a:ext cx="261259"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10704286" y="2762101"/>
            <a:ext cx="624115" cy="2868"/>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endCxn id="52" idx="0"/>
          </p:cNvCxnSpPr>
          <p:nvPr/>
        </p:nvCxnSpPr>
        <p:spPr>
          <a:xfrm rot="16200000" flipH="1">
            <a:off x="10062102" y="2378235"/>
            <a:ext cx="314161" cy="1516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p:nvPr/>
        </p:nvCxnSpPr>
        <p:spPr>
          <a:xfrm rot="16200000" flipH="1">
            <a:off x="11233266" y="2874621"/>
            <a:ext cx="218507" cy="137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rot="10800000" flipV="1">
            <a:off x="8345714" y="4573586"/>
            <a:ext cx="1606734" cy="12928"/>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rot="16200000" flipV="1">
            <a:off x="7206345" y="3476169"/>
            <a:ext cx="2235200" cy="14517"/>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flipV="1">
            <a:off x="8302172" y="2380341"/>
            <a:ext cx="1915886" cy="1451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2" name="TextBox 71"/>
          <p:cNvSpPr txBox="1"/>
          <p:nvPr/>
        </p:nvSpPr>
        <p:spPr>
          <a:xfrm>
            <a:off x="10447384" y="4268648"/>
            <a:ext cx="444137"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=0   </a:t>
            </a:r>
            <a:endParaRPr lang="en-IN" sz="1400" dirty="0">
              <a:latin typeface="Times New Roman" pitchFamily="18" charset="0"/>
              <a:cs typeface="Times New Roman" pitchFamily="18" charset="0"/>
            </a:endParaRPr>
          </a:p>
        </p:txBody>
      </p:sp>
      <p:sp>
        <p:nvSpPr>
          <p:cNvPr id="73" name="TextBox 72"/>
          <p:cNvSpPr txBox="1"/>
          <p:nvPr/>
        </p:nvSpPr>
        <p:spPr>
          <a:xfrm>
            <a:off x="8367485" y="3011714"/>
            <a:ext cx="1429658" cy="312057"/>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ACAC+BR′+1</a:t>
            </a:r>
          </a:p>
        </p:txBody>
      </p:sp>
      <p:sp>
        <p:nvSpPr>
          <p:cNvPr id="74" name="Rectangle 73"/>
          <p:cNvSpPr/>
          <p:nvPr/>
        </p:nvSpPr>
        <p:spPr>
          <a:xfrm>
            <a:off x="8431353" y="3037837"/>
            <a:ext cx="1278704" cy="28593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75" name="TextBox 74"/>
          <p:cNvSpPr txBox="1"/>
          <p:nvPr/>
        </p:nvSpPr>
        <p:spPr>
          <a:xfrm>
            <a:off x="9695545" y="204651"/>
            <a:ext cx="827313"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Multiply</a:t>
            </a:r>
          </a:p>
        </p:txBody>
      </p:sp>
      <p:cxnSp>
        <p:nvCxnSpPr>
          <p:cNvPr id="76" name="Straight Arrow Connector 75"/>
          <p:cNvCxnSpPr/>
          <p:nvPr/>
        </p:nvCxnSpPr>
        <p:spPr>
          <a:xfrm rot="5400000">
            <a:off x="9869717" y="3309258"/>
            <a:ext cx="682171" cy="145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a:stCxn id="74" idx="2"/>
          </p:cNvCxnSpPr>
          <p:nvPr/>
        </p:nvCxnSpPr>
        <p:spPr>
          <a:xfrm rot="16200000" flipH="1">
            <a:off x="8817067" y="3577409"/>
            <a:ext cx="522514" cy="15238"/>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rot="16200000" flipH="1">
            <a:off x="10965182" y="3519352"/>
            <a:ext cx="631371" cy="22494"/>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endCxn id="57" idx="1"/>
          </p:cNvCxnSpPr>
          <p:nvPr/>
        </p:nvCxnSpPr>
        <p:spPr>
          <a:xfrm flipV="1">
            <a:off x="9071429" y="3830319"/>
            <a:ext cx="484779" cy="14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endCxn id="57" idx="3"/>
          </p:cNvCxnSpPr>
          <p:nvPr/>
        </p:nvCxnSpPr>
        <p:spPr>
          <a:xfrm rot="10800000">
            <a:off x="10929257" y="3830319"/>
            <a:ext cx="391887" cy="14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57" idx="2"/>
            <a:endCxn id="58" idx="0"/>
          </p:cNvCxnSpPr>
          <p:nvPr/>
        </p:nvCxnSpPr>
        <p:spPr>
          <a:xfrm rot="16200000" flipH="1">
            <a:off x="10103395" y="4188822"/>
            <a:ext cx="285930" cy="725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59" idx="3"/>
            <a:endCxn id="61" idx="1"/>
          </p:cNvCxnSpPr>
          <p:nvPr/>
        </p:nvCxnSpPr>
        <p:spPr>
          <a:xfrm flipV="1">
            <a:off x="10559143" y="4514668"/>
            <a:ext cx="271417" cy="1817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3" name="TextBox 82"/>
          <p:cNvSpPr txBox="1"/>
          <p:nvPr/>
        </p:nvSpPr>
        <p:spPr>
          <a:xfrm>
            <a:off x="10113554" y="3049449"/>
            <a:ext cx="444137"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11   </a:t>
            </a:r>
            <a:endParaRPr lang="en-IN" sz="1400" dirty="0">
              <a:latin typeface="Times New Roman" pitchFamily="18" charset="0"/>
              <a:cs typeface="Times New Roman" pitchFamily="18" charset="0"/>
            </a:endParaRPr>
          </a:p>
        </p:txBody>
      </p:sp>
      <p:sp>
        <p:nvSpPr>
          <p:cNvPr id="84" name="TextBox 83"/>
          <p:cNvSpPr txBox="1"/>
          <p:nvPr/>
        </p:nvSpPr>
        <p:spPr>
          <a:xfrm>
            <a:off x="9264470" y="2519677"/>
            <a:ext cx="444137"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10    </a:t>
            </a:r>
            <a:endParaRPr lang="en-IN" sz="1400" dirty="0">
              <a:latin typeface="Times New Roman" pitchFamily="18" charset="0"/>
              <a:cs typeface="Times New Roman" pitchFamily="18" charset="0"/>
            </a:endParaRPr>
          </a:p>
        </p:txBody>
      </p:sp>
      <p:sp>
        <p:nvSpPr>
          <p:cNvPr id="85" name="TextBox 84"/>
          <p:cNvSpPr txBox="1"/>
          <p:nvPr/>
        </p:nvSpPr>
        <p:spPr>
          <a:xfrm>
            <a:off x="10824755" y="2483391"/>
            <a:ext cx="409302"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01   </a:t>
            </a:r>
            <a:endParaRPr lang="en-IN" sz="1400" dirty="0">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Alternate Process 1"/>
          <p:cNvSpPr/>
          <p:nvPr/>
        </p:nvSpPr>
        <p:spPr>
          <a:xfrm>
            <a:off x="1447075" y="734423"/>
            <a:ext cx="1499325" cy="484778"/>
          </a:xfrm>
          <a:prstGeom prst="flowChartAlternate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3" name="TextBox 2"/>
          <p:cNvSpPr txBox="1"/>
          <p:nvPr/>
        </p:nvSpPr>
        <p:spPr>
          <a:xfrm>
            <a:off x="1415143" y="728616"/>
            <a:ext cx="1603827" cy="523220"/>
          </a:xfrm>
          <a:prstGeom prst="rect">
            <a:avLst/>
          </a:prstGeom>
          <a:noFill/>
        </p:spPr>
        <p:txBody>
          <a:bodyPr wrap="square" rtlCol="0">
            <a:spAutoFit/>
          </a:bodyPr>
          <a:lstStyle/>
          <a:p>
            <a:r>
              <a:rPr lang="en-IN" sz="1400" dirty="0" smtClean="0">
                <a:latin typeface="Times New Roman" pitchFamily="18" charset="0"/>
                <a:cs typeface="Times New Roman" pitchFamily="18" charset="0"/>
              </a:rPr>
              <a:t>Multiplicand in BR</a:t>
            </a:r>
          </a:p>
          <a:p>
            <a:r>
              <a:rPr lang="en-IN" sz="1400" dirty="0" smtClean="0">
                <a:latin typeface="Times New Roman" pitchFamily="18" charset="0"/>
                <a:cs typeface="Times New Roman" pitchFamily="18" charset="0"/>
              </a:rPr>
              <a:t>Multiplier in QR</a:t>
            </a:r>
            <a:endParaRPr lang="en-IN" sz="1400" dirty="0">
              <a:latin typeface="Times New Roman" pitchFamily="18" charset="0"/>
              <a:cs typeface="Times New Roman" pitchFamily="18" charset="0"/>
            </a:endParaRPr>
          </a:p>
        </p:txBody>
      </p:sp>
      <p:sp>
        <p:nvSpPr>
          <p:cNvPr id="4" name="TextBox 3"/>
          <p:cNvSpPr txBox="1"/>
          <p:nvPr/>
        </p:nvSpPr>
        <p:spPr>
          <a:xfrm>
            <a:off x="1818640" y="3201850"/>
            <a:ext cx="444137"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00    </a:t>
            </a:r>
            <a:endParaRPr lang="en-IN" sz="1400" dirty="0">
              <a:latin typeface="Times New Roman" pitchFamily="18" charset="0"/>
              <a:cs typeface="Times New Roman" pitchFamily="18" charset="0"/>
            </a:endParaRPr>
          </a:p>
        </p:txBody>
      </p:sp>
      <p:sp>
        <p:nvSpPr>
          <p:cNvPr id="5" name="TextBox 4"/>
          <p:cNvSpPr txBox="1"/>
          <p:nvPr/>
        </p:nvSpPr>
        <p:spPr>
          <a:xfrm>
            <a:off x="1434014" y="4352831"/>
            <a:ext cx="383176"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≠0</a:t>
            </a:r>
            <a:endParaRPr lang="en-IN" sz="1400" dirty="0">
              <a:latin typeface="Times New Roman" pitchFamily="18" charset="0"/>
              <a:cs typeface="Times New Roman" pitchFamily="18" charset="0"/>
            </a:endParaRPr>
          </a:p>
        </p:txBody>
      </p:sp>
      <p:sp>
        <p:nvSpPr>
          <p:cNvPr id="6" name="TextBox 5"/>
          <p:cNvSpPr txBox="1"/>
          <p:nvPr/>
        </p:nvSpPr>
        <p:spPr>
          <a:xfrm>
            <a:off x="1589317" y="1503677"/>
            <a:ext cx="994226" cy="738664"/>
          </a:xfrm>
          <a:prstGeom prst="rect">
            <a:avLst/>
          </a:prstGeom>
          <a:noFill/>
        </p:spPr>
        <p:txBody>
          <a:bodyPr wrap="square" rtlCol="0">
            <a:spAutoFit/>
          </a:bodyPr>
          <a:lstStyle/>
          <a:p>
            <a:r>
              <a:rPr lang="en-IN" sz="1400" dirty="0" smtClean="0">
                <a:latin typeface="Times New Roman" pitchFamily="18" charset="0"/>
                <a:cs typeface="Times New Roman" pitchFamily="18" charset="0"/>
              </a:rPr>
              <a:t>AC </a:t>
            </a:r>
            <a:r>
              <a:rPr lang="en-IN" sz="1400" dirty="0" smtClean="0">
                <a:latin typeface="Times New Roman" pitchFamily="18" charset="0"/>
                <a:cs typeface="Times New Roman" pitchFamily="18" charset="0"/>
                <a:sym typeface="Symbol"/>
              </a:rPr>
              <a:t> 0 Qn+1  0 SC  n</a:t>
            </a:r>
          </a:p>
        </p:txBody>
      </p:sp>
      <p:sp>
        <p:nvSpPr>
          <p:cNvPr id="7" name="Rectangle 6"/>
          <p:cNvSpPr/>
          <p:nvPr/>
        </p:nvSpPr>
        <p:spPr>
          <a:xfrm>
            <a:off x="1609637" y="1557381"/>
            <a:ext cx="944877" cy="7068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8" name="Diamond 7"/>
          <p:cNvSpPr/>
          <p:nvPr/>
        </p:nvSpPr>
        <p:spPr>
          <a:xfrm>
            <a:off x="1643017" y="2542901"/>
            <a:ext cx="969553" cy="444137"/>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1701074" y="2629985"/>
            <a:ext cx="853439"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QnQn+1 </a:t>
            </a:r>
            <a:endParaRPr lang="en-IN" sz="1400" dirty="0">
              <a:latin typeface="Times New Roman" pitchFamily="18" charset="0"/>
              <a:cs typeface="Times New Roman" pitchFamily="18" charset="0"/>
            </a:endParaRPr>
          </a:p>
        </p:txBody>
      </p:sp>
      <p:sp>
        <p:nvSpPr>
          <p:cNvPr id="10" name="Rectangle 9"/>
          <p:cNvSpPr/>
          <p:nvPr/>
        </p:nvSpPr>
        <p:spPr>
          <a:xfrm>
            <a:off x="2679338" y="2976877"/>
            <a:ext cx="1108889" cy="2452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11" name="TextBox 10"/>
          <p:cNvSpPr txBox="1"/>
          <p:nvPr/>
        </p:nvSpPr>
        <p:spPr>
          <a:xfrm>
            <a:off x="2612570" y="2960914"/>
            <a:ext cx="1262743"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ACAC+BR </a:t>
            </a:r>
          </a:p>
        </p:txBody>
      </p:sp>
      <p:sp>
        <p:nvSpPr>
          <p:cNvPr id="12" name="TextBox 11"/>
          <p:cNvSpPr txBox="1"/>
          <p:nvPr/>
        </p:nvSpPr>
        <p:spPr>
          <a:xfrm>
            <a:off x="1400629" y="3563258"/>
            <a:ext cx="1545769" cy="523220"/>
          </a:xfrm>
          <a:prstGeom prst="rect">
            <a:avLst/>
          </a:prstGeom>
          <a:noFill/>
        </p:spPr>
        <p:txBody>
          <a:bodyPr wrap="square" rtlCol="0">
            <a:spAutoFit/>
          </a:bodyPr>
          <a:lstStyle/>
          <a:p>
            <a:r>
              <a:rPr lang="en-IN" sz="1400" dirty="0" err="1" smtClean="0">
                <a:latin typeface="Times New Roman" pitchFamily="18" charset="0"/>
                <a:cs typeface="Times New Roman" pitchFamily="18" charset="0"/>
              </a:rPr>
              <a:t>ashr</a:t>
            </a:r>
            <a:r>
              <a:rPr lang="en-IN" sz="1400" dirty="0" smtClean="0">
                <a:latin typeface="Times New Roman" pitchFamily="18" charset="0"/>
                <a:cs typeface="Times New Roman" pitchFamily="18" charset="0"/>
              </a:rPr>
              <a:t> (AC and QR)</a:t>
            </a:r>
          </a:p>
          <a:p>
            <a:r>
              <a:rPr lang="en-IN" sz="1400" dirty="0" smtClean="0">
                <a:latin typeface="Times New Roman" pitchFamily="18" charset="0"/>
                <a:cs typeface="Times New Roman" pitchFamily="18" charset="0"/>
                <a:sym typeface="Symbol"/>
              </a:rPr>
              <a:t>SC SC-1</a:t>
            </a:r>
          </a:p>
        </p:txBody>
      </p:sp>
      <p:sp>
        <p:nvSpPr>
          <p:cNvPr id="13" name="Rectangle 12"/>
          <p:cNvSpPr/>
          <p:nvPr/>
        </p:nvSpPr>
        <p:spPr>
          <a:xfrm>
            <a:off x="1457236" y="3611153"/>
            <a:ext cx="1373048" cy="43833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14" name="Diamond 13"/>
          <p:cNvSpPr/>
          <p:nvPr/>
        </p:nvSpPr>
        <p:spPr>
          <a:xfrm>
            <a:off x="1824446" y="4335417"/>
            <a:ext cx="653142" cy="444137"/>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p:cNvSpPr txBox="1"/>
          <p:nvPr/>
        </p:nvSpPr>
        <p:spPr>
          <a:xfrm>
            <a:off x="1998617" y="4378958"/>
            <a:ext cx="461554"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SC </a:t>
            </a:r>
            <a:endParaRPr lang="en-IN" sz="1400" dirty="0">
              <a:latin typeface="Times New Roman" pitchFamily="18" charset="0"/>
              <a:cs typeface="Times New Roman" pitchFamily="18" charset="0"/>
            </a:endParaRPr>
          </a:p>
        </p:txBody>
      </p:sp>
      <p:sp>
        <p:nvSpPr>
          <p:cNvPr id="16" name="TextBox 15"/>
          <p:cNvSpPr txBox="1"/>
          <p:nvPr/>
        </p:nvSpPr>
        <p:spPr>
          <a:xfrm>
            <a:off x="2750458" y="4348479"/>
            <a:ext cx="602341"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END </a:t>
            </a:r>
          </a:p>
        </p:txBody>
      </p:sp>
      <p:sp>
        <p:nvSpPr>
          <p:cNvPr id="17" name="Flowchart: Alternate Process 16"/>
          <p:cNvSpPr/>
          <p:nvPr/>
        </p:nvSpPr>
        <p:spPr>
          <a:xfrm>
            <a:off x="2731588" y="4384765"/>
            <a:ext cx="592183" cy="259808"/>
          </a:xfrm>
          <a:prstGeom prst="flowChartAlternate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cxnSp>
        <p:nvCxnSpPr>
          <p:cNvPr id="18" name="Straight Arrow Connector 17"/>
          <p:cNvCxnSpPr/>
          <p:nvPr/>
        </p:nvCxnSpPr>
        <p:spPr>
          <a:xfrm rot="16200000" flipH="1">
            <a:off x="1955145" y="1384729"/>
            <a:ext cx="366416" cy="791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5400000">
            <a:off x="921660" y="2895601"/>
            <a:ext cx="246741" cy="2903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030514" y="2769360"/>
            <a:ext cx="624115" cy="2868"/>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5400000">
            <a:off x="2119086" y="580573"/>
            <a:ext cx="261259"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2605314" y="2762102"/>
            <a:ext cx="624115" cy="2868"/>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endCxn id="8" idx="0"/>
          </p:cNvCxnSpPr>
          <p:nvPr/>
        </p:nvCxnSpPr>
        <p:spPr>
          <a:xfrm rot="16200000" flipH="1">
            <a:off x="1963130" y="2378236"/>
            <a:ext cx="314161" cy="1516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rot="16200000" flipH="1">
            <a:off x="3134294" y="2874622"/>
            <a:ext cx="218507" cy="137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10800000" flipV="1">
            <a:off x="246742" y="4573587"/>
            <a:ext cx="1606734" cy="1292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16200000" flipV="1">
            <a:off x="-892627" y="3476170"/>
            <a:ext cx="2235200" cy="14517"/>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203200" y="2380342"/>
            <a:ext cx="1915886" cy="1451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333898" y="4254135"/>
            <a:ext cx="444137"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=0   </a:t>
            </a:r>
            <a:endParaRPr lang="en-IN" sz="1400" dirty="0">
              <a:latin typeface="Times New Roman" pitchFamily="18" charset="0"/>
              <a:cs typeface="Times New Roman" pitchFamily="18" charset="0"/>
            </a:endParaRPr>
          </a:p>
        </p:txBody>
      </p:sp>
      <p:sp>
        <p:nvSpPr>
          <p:cNvPr id="31" name="TextBox 30"/>
          <p:cNvSpPr txBox="1"/>
          <p:nvPr/>
        </p:nvSpPr>
        <p:spPr>
          <a:xfrm>
            <a:off x="268513" y="3011715"/>
            <a:ext cx="1429658" cy="312057"/>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ACAC+BR′+1</a:t>
            </a:r>
          </a:p>
        </p:txBody>
      </p:sp>
      <p:sp>
        <p:nvSpPr>
          <p:cNvPr id="32" name="Rectangle 31"/>
          <p:cNvSpPr/>
          <p:nvPr/>
        </p:nvSpPr>
        <p:spPr>
          <a:xfrm>
            <a:off x="332381" y="3037838"/>
            <a:ext cx="1278704" cy="28593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33" name="TextBox 32"/>
          <p:cNvSpPr txBox="1"/>
          <p:nvPr/>
        </p:nvSpPr>
        <p:spPr>
          <a:xfrm>
            <a:off x="1596573" y="204652"/>
            <a:ext cx="827313"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Multiply</a:t>
            </a:r>
          </a:p>
        </p:txBody>
      </p:sp>
      <p:cxnSp>
        <p:nvCxnSpPr>
          <p:cNvPr id="39" name="Straight Arrow Connector 38"/>
          <p:cNvCxnSpPr/>
          <p:nvPr/>
        </p:nvCxnSpPr>
        <p:spPr>
          <a:xfrm rot="5400000">
            <a:off x="1770745" y="3309259"/>
            <a:ext cx="682171" cy="145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32" idx="2"/>
          </p:cNvCxnSpPr>
          <p:nvPr/>
        </p:nvCxnSpPr>
        <p:spPr>
          <a:xfrm rot="16200000" flipH="1">
            <a:off x="718095" y="3577410"/>
            <a:ext cx="522514" cy="15238"/>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rot="16200000" flipH="1">
            <a:off x="2866210" y="3519353"/>
            <a:ext cx="631371" cy="22494"/>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endCxn id="13" idx="1"/>
          </p:cNvCxnSpPr>
          <p:nvPr/>
        </p:nvCxnSpPr>
        <p:spPr>
          <a:xfrm flipV="1">
            <a:off x="972457" y="3830320"/>
            <a:ext cx="484779" cy="14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endCxn id="13" idx="3"/>
          </p:cNvCxnSpPr>
          <p:nvPr/>
        </p:nvCxnSpPr>
        <p:spPr>
          <a:xfrm rot="10800000">
            <a:off x="2830285" y="3830320"/>
            <a:ext cx="391887" cy="14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3" idx="2"/>
            <a:endCxn id="14" idx="0"/>
          </p:cNvCxnSpPr>
          <p:nvPr/>
        </p:nvCxnSpPr>
        <p:spPr>
          <a:xfrm rot="16200000" flipH="1">
            <a:off x="2004423" y="4188823"/>
            <a:ext cx="285930" cy="725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5" idx="3"/>
            <a:endCxn id="17" idx="1"/>
          </p:cNvCxnSpPr>
          <p:nvPr/>
        </p:nvCxnSpPr>
        <p:spPr>
          <a:xfrm flipV="1">
            <a:off x="2460171" y="4514669"/>
            <a:ext cx="271417" cy="1817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2014582" y="3049450"/>
            <a:ext cx="444137"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11   </a:t>
            </a:r>
            <a:endParaRPr lang="en-IN" sz="1400" dirty="0">
              <a:latin typeface="Times New Roman" pitchFamily="18" charset="0"/>
              <a:cs typeface="Times New Roman" pitchFamily="18" charset="0"/>
            </a:endParaRPr>
          </a:p>
        </p:txBody>
      </p:sp>
      <p:sp>
        <p:nvSpPr>
          <p:cNvPr id="62" name="TextBox 61"/>
          <p:cNvSpPr txBox="1"/>
          <p:nvPr/>
        </p:nvSpPr>
        <p:spPr>
          <a:xfrm>
            <a:off x="1165498" y="2519678"/>
            <a:ext cx="444137"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10    </a:t>
            </a:r>
            <a:endParaRPr lang="en-IN" sz="1400" dirty="0">
              <a:latin typeface="Times New Roman" pitchFamily="18" charset="0"/>
              <a:cs typeface="Times New Roman" pitchFamily="18" charset="0"/>
            </a:endParaRPr>
          </a:p>
        </p:txBody>
      </p:sp>
      <p:sp>
        <p:nvSpPr>
          <p:cNvPr id="63" name="TextBox 62"/>
          <p:cNvSpPr txBox="1"/>
          <p:nvPr/>
        </p:nvSpPr>
        <p:spPr>
          <a:xfrm>
            <a:off x="2725783" y="2483392"/>
            <a:ext cx="409302"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01   </a:t>
            </a:r>
            <a:endParaRPr lang="en-IN" sz="1400" dirty="0">
              <a:latin typeface="Times New Roman" pitchFamily="18" charset="0"/>
              <a:cs typeface="Times New Roman" pitchFamily="18" charset="0"/>
            </a:endParaRPr>
          </a:p>
        </p:txBody>
      </p:sp>
      <p:graphicFrame>
        <p:nvGraphicFramePr>
          <p:cNvPr id="64" name="Table 63"/>
          <p:cNvGraphicFramePr>
            <a:graphicFrameLocks noGrp="1"/>
          </p:cNvGraphicFramePr>
          <p:nvPr/>
        </p:nvGraphicFramePr>
        <p:xfrm>
          <a:off x="5254172" y="137160"/>
          <a:ext cx="6589485" cy="5709920"/>
        </p:xfrm>
        <a:graphic>
          <a:graphicData uri="http://schemas.openxmlformats.org/drawingml/2006/table">
            <a:tbl>
              <a:tblPr firstRow="1" bandRow="1">
                <a:tableStyleId>{5C22544A-7EE6-4342-B048-85BDC9FD1C3A}</a:tableStyleId>
              </a:tblPr>
              <a:tblGrid>
                <a:gridCol w="1032920"/>
                <a:gridCol w="1783827"/>
                <a:gridCol w="955987"/>
                <a:gridCol w="1075485"/>
                <a:gridCol w="870633"/>
                <a:gridCol w="870633"/>
              </a:tblGrid>
              <a:tr h="370840">
                <a:tc gridSpan="5">
                  <a:txBody>
                    <a:bodyPr/>
                    <a:lstStyle/>
                    <a:p>
                      <a:r>
                        <a:rPr lang="en-IN" dirty="0" smtClean="0">
                          <a:latin typeface="Times New Roman" pitchFamily="18" charset="0"/>
                          <a:cs typeface="Times New Roman" pitchFamily="18" charset="0"/>
                        </a:rPr>
                        <a:t>BR=10111</a:t>
                      </a:r>
                      <a:endParaRPr lang="en-IN" dirty="0">
                        <a:latin typeface="Times New Roman" pitchFamily="18" charset="0"/>
                        <a:cs typeface="Times New Roman" pitchFamily="18" charset="0"/>
                      </a:endParaRPr>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a:txBody>
                    <a:bodyPr/>
                    <a:lstStyle/>
                    <a:p>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QnQn+1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BR′+1=01001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AC</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QR</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Qn+1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SC</a:t>
                      </a:r>
                      <a:endParaRPr lang="en-IN" dirty="0">
                        <a:latin typeface="Times New Roman" pitchFamily="18" charset="0"/>
                        <a:cs typeface="Times New Roman" pitchFamily="18" charset="0"/>
                      </a:endParaRPr>
                    </a:p>
                  </a:txBody>
                  <a:tcPr/>
                </a:tc>
              </a:tr>
              <a:tr h="370840">
                <a:tc>
                  <a:txBody>
                    <a:bodyPr/>
                    <a:lstStyle/>
                    <a:p>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Initialization</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00000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10011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101</a:t>
                      </a:r>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10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Subtract BR</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00000</a:t>
                      </a:r>
                    </a:p>
                    <a:p>
                      <a:r>
                        <a:rPr lang="en-IN" dirty="0" smtClean="0">
                          <a:latin typeface="Times New Roman" pitchFamily="18" charset="0"/>
                          <a:cs typeface="Times New Roman" pitchFamily="18" charset="0"/>
                        </a:rPr>
                        <a:t>01001</a:t>
                      </a:r>
                    </a:p>
                    <a:p>
                      <a:r>
                        <a:rPr lang="en-IN" dirty="0" smtClean="0">
                          <a:latin typeface="Times New Roman" pitchFamily="18" charset="0"/>
                          <a:cs typeface="Times New Roman" pitchFamily="18" charset="0"/>
                        </a:rPr>
                        <a:t>01001</a:t>
                      </a:r>
                      <a:endParaRPr lang="en-IN" dirty="0">
                        <a:latin typeface="Times New Roman" pitchFamily="18" charset="0"/>
                        <a:cs typeface="Times New Roman" pitchFamily="18" charset="0"/>
                      </a:endParaRPr>
                    </a:p>
                  </a:txBody>
                  <a:tcPr/>
                </a:tc>
                <a:tc>
                  <a:txBody>
                    <a:bodyPr/>
                    <a:lstStyle/>
                    <a:p>
                      <a:endParaRPr lang="en-IN" dirty="0">
                        <a:latin typeface="Times New Roman" pitchFamily="18" charset="0"/>
                        <a:cs typeface="Times New Roman" pitchFamily="18" charset="0"/>
                      </a:endParaRPr>
                    </a:p>
                  </a:txBody>
                  <a:tcPr/>
                </a:tc>
                <a:tc>
                  <a:txBody>
                    <a:bodyPr/>
                    <a:lstStyle/>
                    <a:p>
                      <a:endParaRPr lang="en-IN" dirty="0">
                        <a:latin typeface="Times New Roman" pitchFamily="18" charset="0"/>
                        <a:cs typeface="Times New Roman" pitchFamily="18" charset="0"/>
                      </a:endParaRPr>
                    </a:p>
                  </a:txBody>
                  <a:tcPr/>
                </a:tc>
                <a:tc>
                  <a:txBody>
                    <a:bodyPr/>
                    <a:lstStyle/>
                    <a:p>
                      <a:endParaRPr lang="en-IN">
                        <a:latin typeface="Times New Roman" pitchFamily="18" charset="0"/>
                        <a:cs typeface="Times New Roman" pitchFamily="18" charset="0"/>
                      </a:endParaRPr>
                    </a:p>
                  </a:txBody>
                  <a:tcPr/>
                </a:tc>
              </a:tr>
              <a:tr h="370840">
                <a:tc>
                  <a:txBody>
                    <a:bodyPr/>
                    <a:lstStyle/>
                    <a:p>
                      <a:endParaRPr lang="en-IN" dirty="0">
                        <a:latin typeface="Times New Roman" pitchFamily="18" charset="0"/>
                        <a:cs typeface="Times New Roman" pitchFamily="18" charset="0"/>
                      </a:endParaRPr>
                    </a:p>
                  </a:txBody>
                  <a:tcPr/>
                </a:tc>
                <a:tc>
                  <a:txBody>
                    <a:bodyPr/>
                    <a:lstStyle/>
                    <a:p>
                      <a:r>
                        <a:rPr lang="en-IN" dirty="0" err="1" smtClean="0">
                          <a:latin typeface="Times New Roman" pitchFamily="18" charset="0"/>
                          <a:cs typeface="Times New Roman" pitchFamily="18" charset="0"/>
                        </a:rPr>
                        <a:t>ashr</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00100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11001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100</a:t>
                      </a:r>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11</a:t>
                      </a:r>
                      <a:endParaRPr lang="en-IN" dirty="0">
                        <a:latin typeface="Times New Roman" pitchFamily="18" charset="0"/>
                        <a:cs typeface="Times New Roman" pitchFamily="18" charset="0"/>
                      </a:endParaRPr>
                    </a:p>
                  </a:txBody>
                  <a:tcPr/>
                </a:tc>
                <a:tc>
                  <a:txBody>
                    <a:bodyPr/>
                    <a:lstStyle/>
                    <a:p>
                      <a:r>
                        <a:rPr lang="en-IN" dirty="0" err="1" smtClean="0">
                          <a:latin typeface="Times New Roman" pitchFamily="18" charset="0"/>
                          <a:cs typeface="Times New Roman" pitchFamily="18" charset="0"/>
                        </a:rPr>
                        <a:t>ashr</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00010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01100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011</a:t>
                      </a:r>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01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Add BR</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00010</a:t>
                      </a:r>
                    </a:p>
                    <a:p>
                      <a:r>
                        <a:rPr lang="en-IN" dirty="0" smtClean="0">
                          <a:latin typeface="Times New Roman" pitchFamily="18" charset="0"/>
                          <a:cs typeface="Times New Roman" pitchFamily="18" charset="0"/>
                        </a:rPr>
                        <a:t>10111</a:t>
                      </a:r>
                    </a:p>
                    <a:p>
                      <a:r>
                        <a:rPr lang="en-IN" dirty="0" smtClean="0">
                          <a:latin typeface="Times New Roman" pitchFamily="18" charset="0"/>
                          <a:cs typeface="Times New Roman" pitchFamily="18" charset="0"/>
                        </a:rPr>
                        <a:t>11001</a:t>
                      </a:r>
                      <a:endParaRPr lang="en-IN" dirty="0">
                        <a:latin typeface="Times New Roman" pitchFamily="18" charset="0"/>
                        <a:cs typeface="Times New Roman" pitchFamily="18" charset="0"/>
                      </a:endParaRPr>
                    </a:p>
                  </a:txBody>
                  <a:tcPr/>
                </a:tc>
                <a:tc>
                  <a:txBody>
                    <a:bodyPr/>
                    <a:lstStyle/>
                    <a:p>
                      <a:endParaRPr lang="en-IN" dirty="0">
                        <a:latin typeface="Times New Roman" pitchFamily="18" charset="0"/>
                        <a:cs typeface="Times New Roman" pitchFamily="18" charset="0"/>
                      </a:endParaRPr>
                    </a:p>
                  </a:txBody>
                  <a:tcPr/>
                </a:tc>
                <a:tc>
                  <a:txBody>
                    <a:bodyPr/>
                    <a:lstStyle/>
                    <a:p>
                      <a:endParaRPr lang="en-IN" dirty="0">
                        <a:latin typeface="Times New Roman" pitchFamily="18" charset="0"/>
                        <a:cs typeface="Times New Roman" pitchFamily="18" charset="0"/>
                      </a:endParaRPr>
                    </a:p>
                  </a:txBody>
                  <a:tcPr/>
                </a:tc>
                <a:tc>
                  <a:txBody>
                    <a:bodyPr/>
                    <a:lstStyle/>
                    <a:p>
                      <a:endParaRPr lang="en-IN" dirty="0">
                        <a:latin typeface="Times New Roman" pitchFamily="18" charset="0"/>
                        <a:cs typeface="Times New Roman" pitchFamily="18" charset="0"/>
                      </a:endParaRPr>
                    </a:p>
                  </a:txBody>
                  <a:tcPr/>
                </a:tc>
              </a:tr>
              <a:tr h="370840">
                <a:tc>
                  <a:txBody>
                    <a:bodyPr/>
                    <a:lstStyle/>
                    <a:p>
                      <a:endParaRPr lang="en-IN" dirty="0">
                        <a:latin typeface="Times New Roman" pitchFamily="18" charset="0"/>
                        <a:cs typeface="Times New Roman" pitchFamily="18" charset="0"/>
                      </a:endParaRPr>
                    </a:p>
                  </a:txBody>
                  <a:tcPr/>
                </a:tc>
                <a:tc>
                  <a:txBody>
                    <a:bodyPr/>
                    <a:lstStyle/>
                    <a:p>
                      <a:r>
                        <a:rPr lang="en-IN" dirty="0" err="1" smtClean="0">
                          <a:latin typeface="Times New Roman" pitchFamily="18" charset="0"/>
                          <a:cs typeface="Times New Roman" pitchFamily="18" charset="0"/>
                        </a:rPr>
                        <a:t>ashr</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11100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10110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010</a:t>
                      </a:r>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00</a:t>
                      </a:r>
                      <a:endParaRPr lang="en-IN" dirty="0">
                        <a:latin typeface="Times New Roman" pitchFamily="18" charset="0"/>
                        <a:cs typeface="Times New Roman" pitchFamily="18" charset="0"/>
                      </a:endParaRPr>
                    </a:p>
                  </a:txBody>
                  <a:tcPr/>
                </a:tc>
                <a:tc>
                  <a:txBody>
                    <a:bodyPr/>
                    <a:lstStyle/>
                    <a:p>
                      <a:r>
                        <a:rPr lang="en-IN" dirty="0" err="1" smtClean="0">
                          <a:latin typeface="Times New Roman" pitchFamily="18" charset="0"/>
                          <a:cs typeface="Times New Roman" pitchFamily="18" charset="0"/>
                        </a:rPr>
                        <a:t>ashr</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11110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01011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001</a:t>
                      </a:r>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10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Subtract BR</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11110</a:t>
                      </a:r>
                    </a:p>
                    <a:p>
                      <a:r>
                        <a:rPr lang="en-IN" dirty="0" smtClean="0">
                          <a:latin typeface="Times New Roman" pitchFamily="18" charset="0"/>
                          <a:cs typeface="Times New Roman" pitchFamily="18" charset="0"/>
                        </a:rPr>
                        <a:t>01001</a:t>
                      </a:r>
                    </a:p>
                    <a:p>
                      <a:r>
                        <a:rPr lang="en-IN" dirty="0" smtClean="0">
                          <a:latin typeface="Times New Roman" pitchFamily="18" charset="0"/>
                          <a:cs typeface="Times New Roman" pitchFamily="18" charset="0"/>
                        </a:rPr>
                        <a:t>00111</a:t>
                      </a:r>
                      <a:endParaRPr lang="en-IN" dirty="0">
                        <a:latin typeface="Times New Roman" pitchFamily="18" charset="0"/>
                        <a:cs typeface="Times New Roman" pitchFamily="18" charset="0"/>
                      </a:endParaRPr>
                    </a:p>
                  </a:txBody>
                  <a:tcPr/>
                </a:tc>
                <a:tc>
                  <a:txBody>
                    <a:bodyPr/>
                    <a:lstStyle/>
                    <a:p>
                      <a:endParaRPr lang="en-IN" dirty="0">
                        <a:latin typeface="Times New Roman" pitchFamily="18" charset="0"/>
                        <a:cs typeface="Times New Roman" pitchFamily="18" charset="0"/>
                      </a:endParaRPr>
                    </a:p>
                  </a:txBody>
                  <a:tcPr/>
                </a:tc>
                <a:tc>
                  <a:txBody>
                    <a:bodyPr/>
                    <a:lstStyle/>
                    <a:p>
                      <a:endParaRPr lang="en-IN" dirty="0">
                        <a:latin typeface="Times New Roman" pitchFamily="18" charset="0"/>
                        <a:cs typeface="Times New Roman" pitchFamily="18" charset="0"/>
                      </a:endParaRPr>
                    </a:p>
                  </a:txBody>
                  <a:tcPr/>
                </a:tc>
                <a:tc>
                  <a:txBody>
                    <a:bodyPr/>
                    <a:lstStyle/>
                    <a:p>
                      <a:endParaRPr lang="en-IN" dirty="0">
                        <a:latin typeface="Times New Roman" pitchFamily="18" charset="0"/>
                        <a:cs typeface="Times New Roman" pitchFamily="18" charset="0"/>
                      </a:endParaRPr>
                    </a:p>
                  </a:txBody>
                  <a:tcPr/>
                </a:tc>
              </a:tr>
              <a:tr h="370840">
                <a:tc>
                  <a:txBody>
                    <a:bodyPr/>
                    <a:lstStyle/>
                    <a:p>
                      <a:endParaRPr lang="en-IN" dirty="0">
                        <a:latin typeface="Times New Roman" pitchFamily="18" charset="0"/>
                        <a:cs typeface="Times New Roman" pitchFamily="18" charset="0"/>
                      </a:endParaRPr>
                    </a:p>
                  </a:txBody>
                  <a:tcPr/>
                </a:tc>
                <a:tc>
                  <a:txBody>
                    <a:bodyPr/>
                    <a:lstStyle/>
                    <a:p>
                      <a:r>
                        <a:rPr lang="en-IN" dirty="0" err="1" smtClean="0">
                          <a:latin typeface="Times New Roman" pitchFamily="18" charset="0"/>
                          <a:cs typeface="Times New Roman" pitchFamily="18" charset="0"/>
                        </a:rPr>
                        <a:t>ashr</a:t>
                      </a:r>
                      <a:endParaRPr lang="en-IN" dirty="0">
                        <a:latin typeface="Times New Roman" pitchFamily="18" charset="0"/>
                        <a:cs typeface="Times New Roman" pitchFamily="18" charset="0"/>
                      </a:endParaRPr>
                    </a:p>
                  </a:txBody>
                  <a:tcPr/>
                </a:tc>
                <a:tc>
                  <a:txBody>
                    <a:bodyPr/>
                    <a:lstStyle/>
                    <a:p>
                      <a:r>
                        <a:rPr lang="en-IN" dirty="0" smtClean="0">
                          <a:solidFill>
                            <a:srgbClr val="FF0000"/>
                          </a:solidFill>
                          <a:latin typeface="Times New Roman" pitchFamily="18" charset="0"/>
                          <a:cs typeface="Times New Roman" pitchFamily="18" charset="0"/>
                        </a:rPr>
                        <a:t>00011</a:t>
                      </a:r>
                      <a:endParaRPr lang="en-IN" dirty="0">
                        <a:solidFill>
                          <a:srgbClr val="FF0000"/>
                        </a:solidFill>
                        <a:latin typeface="Times New Roman" pitchFamily="18" charset="0"/>
                        <a:cs typeface="Times New Roman" pitchFamily="18" charset="0"/>
                      </a:endParaRPr>
                    </a:p>
                  </a:txBody>
                  <a:tcPr/>
                </a:tc>
                <a:tc>
                  <a:txBody>
                    <a:bodyPr/>
                    <a:lstStyle/>
                    <a:p>
                      <a:r>
                        <a:rPr lang="en-IN" dirty="0" smtClean="0">
                          <a:solidFill>
                            <a:srgbClr val="FF0000"/>
                          </a:solidFill>
                          <a:latin typeface="Times New Roman" pitchFamily="18" charset="0"/>
                          <a:cs typeface="Times New Roman" pitchFamily="18" charset="0"/>
                        </a:rPr>
                        <a:t>10101</a:t>
                      </a:r>
                      <a:endParaRPr lang="en-IN" dirty="0">
                        <a:solidFill>
                          <a:srgbClr val="FF0000"/>
                        </a:solidFill>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000</a:t>
                      </a:r>
                      <a:endParaRPr lang="en-IN" dirty="0">
                        <a:latin typeface="Times New Roman" pitchFamily="18" charset="0"/>
                        <a:cs typeface="Times New Roman" pitchFamily="18" charset="0"/>
                      </a:endParaRPr>
                    </a:p>
                  </a:txBody>
                  <a:tcPr/>
                </a:tc>
              </a:tr>
            </a:tbl>
          </a:graphicData>
        </a:graphic>
      </p:graphicFrame>
      <p:sp>
        <p:nvSpPr>
          <p:cNvPr id="65" name="TextBox 64"/>
          <p:cNvSpPr txBox="1"/>
          <p:nvPr/>
        </p:nvSpPr>
        <p:spPr>
          <a:xfrm>
            <a:off x="188686" y="5007429"/>
            <a:ext cx="5021943" cy="1477328"/>
          </a:xfrm>
          <a:prstGeom prst="rect">
            <a:avLst/>
          </a:prstGeom>
          <a:noFill/>
        </p:spPr>
        <p:txBody>
          <a:bodyPr wrap="square" rtlCol="0">
            <a:spAutoFit/>
          </a:bodyPr>
          <a:lstStyle/>
          <a:p>
            <a:r>
              <a:rPr lang="en-IN" dirty="0" smtClean="0">
                <a:latin typeface="Times New Roman" pitchFamily="18" charset="0"/>
                <a:cs typeface="Times New Roman" pitchFamily="18" charset="0"/>
              </a:rPr>
              <a:t>Example: (-9) x (-13) = +117</a:t>
            </a:r>
          </a:p>
          <a:p>
            <a:r>
              <a:rPr lang="en-IN" dirty="0" smtClean="0">
                <a:latin typeface="Times New Roman" pitchFamily="18" charset="0"/>
                <a:cs typeface="Times New Roman" pitchFamily="18" charset="0"/>
              </a:rPr>
              <a:t>Multiplicand in BR = -9 = 11001, 2’s complement of 11001 is 10111</a:t>
            </a:r>
          </a:p>
          <a:p>
            <a:r>
              <a:rPr lang="en-IN" dirty="0" smtClean="0">
                <a:latin typeface="Times New Roman" pitchFamily="18" charset="0"/>
                <a:cs typeface="Times New Roman" pitchFamily="18" charset="0"/>
              </a:rPr>
              <a:t>Multiplier in QR = -13 = 11101, 2’s complement of 11101 is 10011</a:t>
            </a:r>
            <a:endParaRPr lang="en-IN" dirty="0">
              <a:latin typeface="Times New Roman" pitchFamily="18" charset="0"/>
              <a:cs typeface="Times New Roman" pitchFamily="18" charset="0"/>
            </a:endParaRPr>
          </a:p>
        </p:txBody>
      </p:sp>
      <p:sp>
        <p:nvSpPr>
          <p:cNvPr id="50" name="Rectangle 49"/>
          <p:cNvSpPr/>
          <p:nvPr/>
        </p:nvSpPr>
        <p:spPr>
          <a:xfrm>
            <a:off x="9564914" y="928914"/>
            <a:ext cx="783772" cy="24674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 </a:t>
            </a:r>
            <a:endParaRPr lang="en-IN" b="1" dirty="0"/>
          </a:p>
        </p:txBody>
      </p:sp>
      <p:sp>
        <p:nvSpPr>
          <p:cNvPr id="51" name="Rectangle 50"/>
          <p:cNvSpPr/>
          <p:nvPr/>
        </p:nvSpPr>
        <p:spPr>
          <a:xfrm>
            <a:off x="9557656" y="2213428"/>
            <a:ext cx="783772" cy="24674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52" name="Rectangle 51"/>
          <p:cNvSpPr/>
          <p:nvPr/>
        </p:nvSpPr>
        <p:spPr>
          <a:xfrm>
            <a:off x="9564915" y="3860799"/>
            <a:ext cx="783772" cy="24674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54" name="Rectangle 53"/>
          <p:cNvSpPr/>
          <p:nvPr/>
        </p:nvSpPr>
        <p:spPr>
          <a:xfrm>
            <a:off x="9557656" y="2576285"/>
            <a:ext cx="783772" cy="24674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Rectangle 55"/>
          <p:cNvSpPr/>
          <p:nvPr/>
        </p:nvSpPr>
        <p:spPr>
          <a:xfrm>
            <a:off x="9557657" y="4259942"/>
            <a:ext cx="783772" cy="24674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7" name="Straight Connector 56"/>
          <p:cNvCxnSpPr/>
          <p:nvPr/>
        </p:nvCxnSpPr>
        <p:spPr>
          <a:xfrm>
            <a:off x="7997372" y="5109029"/>
            <a:ext cx="1001485" cy="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8033658" y="1850570"/>
            <a:ext cx="1001485" cy="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8019144" y="3490684"/>
            <a:ext cx="1001485" cy="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7714" y="174172"/>
            <a:ext cx="11974286" cy="1477328"/>
          </a:xfrm>
          <a:prstGeom prst="rect">
            <a:avLst/>
          </a:prstGeom>
          <a:noFill/>
        </p:spPr>
        <p:txBody>
          <a:bodyPr wrap="square" rtlCol="0">
            <a:spAutoFit/>
          </a:bodyPr>
          <a:lstStyle/>
          <a:p>
            <a:r>
              <a:rPr lang="en-IN" b="1" dirty="0" smtClean="0">
                <a:latin typeface="Times New Roman" pitchFamily="18" charset="0"/>
                <a:cs typeface="Times New Roman" pitchFamily="18" charset="0"/>
              </a:rPr>
              <a:t>Division algorithm</a:t>
            </a:r>
            <a:r>
              <a:rPr lang="en-IN" dirty="0" smtClean="0">
                <a:latin typeface="Times New Roman" pitchFamily="18" charset="0"/>
                <a:cs typeface="Times New Roman" pitchFamily="18" charset="0"/>
              </a:rPr>
              <a:t>: Division of two fixed-point binary numbers in signed magnitude representation is done</a:t>
            </a:r>
          </a:p>
          <a:p>
            <a:r>
              <a:rPr lang="en-IN" dirty="0" smtClean="0">
                <a:latin typeface="Times New Roman" pitchFamily="18" charset="0"/>
                <a:cs typeface="Times New Roman" pitchFamily="18" charset="0"/>
              </a:rPr>
              <a:t>Divisor B consists of 5 bits, dividend A consists of 10 bits, five most significant bits (MSBs) of dividend are compared with the divisor</a:t>
            </a:r>
          </a:p>
          <a:p>
            <a:r>
              <a:rPr lang="en-IN" dirty="0" smtClean="0">
                <a:latin typeface="Times New Roman" pitchFamily="18" charset="0"/>
                <a:cs typeface="Times New Roman" pitchFamily="18" charset="0"/>
              </a:rPr>
              <a:t>B = 10001, A = 01110 00000</a:t>
            </a:r>
          </a:p>
          <a:p>
            <a:r>
              <a:rPr lang="en-IN" dirty="0" smtClean="0">
                <a:latin typeface="Times New Roman" pitchFamily="18" charset="0"/>
                <a:cs typeface="Times New Roman" pitchFamily="18" charset="0"/>
              </a:rPr>
              <a:t>Most significant 5 bits of A = 01110, less than divisor; so compare B and 6 MSBs of A</a:t>
            </a:r>
            <a:endParaRPr lang="en-IN" dirty="0">
              <a:latin typeface="Times New Roman" pitchFamily="18" charset="0"/>
              <a:cs typeface="Times New Roman" pitchFamily="18" charset="0"/>
            </a:endParaRPr>
          </a:p>
        </p:txBody>
      </p:sp>
      <p:graphicFrame>
        <p:nvGraphicFramePr>
          <p:cNvPr id="3" name="Table 2"/>
          <p:cNvGraphicFramePr>
            <a:graphicFrameLocks noGrp="1"/>
          </p:cNvGraphicFramePr>
          <p:nvPr/>
        </p:nvGraphicFramePr>
        <p:xfrm>
          <a:off x="203200" y="1793723"/>
          <a:ext cx="6458857" cy="4216400"/>
        </p:xfrm>
        <a:graphic>
          <a:graphicData uri="http://schemas.openxmlformats.org/drawingml/2006/table">
            <a:tbl>
              <a:tblPr firstRow="1" bandRow="1">
                <a:tableStyleId>{5C22544A-7EE6-4342-B048-85BDC9FD1C3A}</a:tableStyleId>
              </a:tblPr>
              <a:tblGrid>
                <a:gridCol w="2229843"/>
                <a:gridCol w="4229014"/>
              </a:tblGrid>
              <a:tr h="370840">
                <a:tc>
                  <a:txBody>
                    <a:bodyPr/>
                    <a:lstStyle/>
                    <a:p>
                      <a:r>
                        <a:rPr lang="en-IN" dirty="0" smtClean="0">
                          <a:latin typeface="Times New Roman" pitchFamily="18" charset="0"/>
                          <a:cs typeface="Times New Roman" pitchFamily="18" charset="0"/>
                        </a:rPr>
                        <a:t>                    11010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Quotient</a:t>
                      </a:r>
                      <a:r>
                        <a:rPr lang="en-IN" baseline="0" dirty="0" smtClean="0">
                          <a:latin typeface="Times New Roman" pitchFamily="18" charset="0"/>
                          <a:cs typeface="Times New Roman" pitchFamily="18" charset="0"/>
                        </a:rPr>
                        <a:t> Q</a:t>
                      </a:r>
                      <a:endParaRPr lang="en-IN" dirty="0">
                        <a:latin typeface="Times New Roman" pitchFamily="18" charset="0"/>
                        <a:cs typeface="Times New Roman" pitchFamily="18" charset="0"/>
                      </a:endParaRPr>
                    </a:p>
                  </a:txBody>
                  <a:tcPr/>
                </a:tc>
              </a:tr>
              <a:tr h="914400">
                <a:tc>
                  <a:txBody>
                    <a:bodyPr/>
                    <a:lstStyle/>
                    <a:p>
                      <a:r>
                        <a:rPr lang="en-IN" dirty="0" smtClean="0">
                          <a:latin typeface="Times New Roman" pitchFamily="18" charset="0"/>
                          <a:cs typeface="Times New Roman" pitchFamily="18" charset="0"/>
                        </a:rPr>
                        <a:t>10001)0111000000</a:t>
                      </a:r>
                    </a:p>
                    <a:p>
                      <a:r>
                        <a:rPr lang="en-IN" dirty="0" smtClean="0">
                          <a:latin typeface="Times New Roman" pitchFamily="18" charset="0"/>
                          <a:cs typeface="Times New Roman" pitchFamily="18" charset="0"/>
                        </a:rPr>
                        <a:t>            011100</a:t>
                      </a:r>
                    </a:p>
                    <a:p>
                      <a:r>
                        <a:rPr lang="en-IN" dirty="0" smtClean="0">
                          <a:latin typeface="Times New Roman" pitchFamily="18" charset="0"/>
                          <a:cs typeface="Times New Roman" pitchFamily="18" charset="0"/>
                        </a:rPr>
                        <a:t>              10001</a:t>
                      </a:r>
                      <a:endParaRPr lang="en-IN"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latin typeface="Times New Roman" pitchFamily="18" charset="0"/>
                          <a:cs typeface="Times New Roman" pitchFamily="18" charset="0"/>
                        </a:rPr>
                        <a:t>Dividend A</a:t>
                      </a:r>
                    </a:p>
                    <a:p>
                      <a:r>
                        <a:rPr lang="en-IN" dirty="0" smtClean="0">
                          <a:latin typeface="Times New Roman" pitchFamily="18" charset="0"/>
                          <a:cs typeface="Times New Roman" pitchFamily="18" charset="0"/>
                        </a:rPr>
                        <a:t>5 bits of A &lt; B, so consider 6 bits of A</a:t>
                      </a:r>
                    </a:p>
                    <a:p>
                      <a:r>
                        <a:rPr lang="en-IN" dirty="0" smtClean="0">
                          <a:latin typeface="Times New Roman" pitchFamily="18" charset="0"/>
                          <a:cs typeface="Times New Roman" pitchFamily="18" charset="0"/>
                        </a:rPr>
                        <a:t>Shift right B and subtract, enter 1 in Q</a:t>
                      </a:r>
                    </a:p>
                  </a:txBody>
                  <a:tcPr/>
                </a:tc>
              </a:tr>
              <a:tr h="640080">
                <a:tc>
                  <a:txBody>
                    <a:bodyPr/>
                    <a:lstStyle/>
                    <a:p>
                      <a:r>
                        <a:rPr lang="en-IN" dirty="0" smtClean="0">
                          <a:latin typeface="Times New Roman" pitchFamily="18" charset="0"/>
                          <a:cs typeface="Times New Roman" pitchFamily="18" charset="0"/>
                        </a:rPr>
                        <a:t>              010110</a:t>
                      </a:r>
                    </a:p>
                    <a:p>
                      <a:r>
                        <a:rPr lang="en-IN" dirty="0" smtClean="0">
                          <a:latin typeface="Times New Roman" pitchFamily="18" charset="0"/>
                          <a:cs typeface="Times New Roman" pitchFamily="18" charset="0"/>
                        </a:rPr>
                        <a:t>                10001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6 bits remainder </a:t>
                      </a:r>
                      <a:r>
                        <a:rPr lang="en-IN" dirty="0" smtClean="0">
                          <a:latin typeface="Times New Roman" pitchFamily="18" charset="0"/>
                          <a:cs typeface="Times New Roman" pitchFamily="18" charset="0"/>
                        </a:rPr>
                        <a:t>&gt; </a:t>
                      </a:r>
                      <a:r>
                        <a:rPr lang="en-IN" dirty="0" smtClean="0">
                          <a:latin typeface="Times New Roman" pitchFamily="18" charset="0"/>
                          <a:cs typeface="Times New Roman" pitchFamily="18" charset="0"/>
                        </a:rPr>
                        <a:t>B</a:t>
                      </a:r>
                    </a:p>
                    <a:p>
                      <a:r>
                        <a:rPr lang="en-IN" dirty="0" smtClean="0">
                          <a:latin typeface="Times New Roman" pitchFamily="18" charset="0"/>
                          <a:cs typeface="Times New Roman" pitchFamily="18" charset="0"/>
                        </a:rPr>
                        <a:t>Shift right B and subtract, enter 1 in Q</a:t>
                      </a:r>
                      <a:endParaRPr lang="en-IN" dirty="0">
                        <a:latin typeface="Times New Roman" pitchFamily="18" charset="0"/>
                        <a:cs typeface="Times New Roman" pitchFamily="18" charset="0"/>
                      </a:endParaRPr>
                    </a:p>
                  </a:txBody>
                  <a:tcPr/>
                </a:tc>
              </a:tr>
              <a:tr h="640080">
                <a:tc>
                  <a:txBody>
                    <a:bodyPr/>
                    <a:lstStyle/>
                    <a:p>
                      <a:r>
                        <a:rPr lang="en-IN" dirty="0" smtClean="0">
                          <a:latin typeface="Times New Roman" pitchFamily="18" charset="0"/>
                          <a:cs typeface="Times New Roman" pitchFamily="18" charset="0"/>
                        </a:rPr>
                        <a:t>                001010</a:t>
                      </a:r>
                    </a:p>
                    <a:p>
                      <a:r>
                        <a:rPr lang="en-IN" dirty="0" smtClean="0">
                          <a:latin typeface="Times New Roman" pitchFamily="18" charset="0"/>
                          <a:cs typeface="Times New Roman" pitchFamily="18" charset="0"/>
                        </a:rPr>
                        <a:t>                  00000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Remainder &lt; B, enter 0 in Q, shift right B</a:t>
                      </a:r>
                      <a:endParaRPr lang="en-IN" dirty="0">
                        <a:latin typeface="Times New Roman" pitchFamily="18" charset="0"/>
                        <a:cs typeface="Times New Roman" pitchFamily="18" charset="0"/>
                      </a:endParaRPr>
                    </a:p>
                  </a:txBody>
                  <a:tcPr/>
                </a:tc>
              </a:tr>
              <a:tr h="640080">
                <a:tc>
                  <a:txBody>
                    <a:bodyPr/>
                    <a:lstStyle/>
                    <a:p>
                      <a:r>
                        <a:rPr lang="en-IN" dirty="0" smtClean="0">
                          <a:latin typeface="Times New Roman" pitchFamily="18" charset="0"/>
                          <a:cs typeface="Times New Roman" pitchFamily="18" charset="0"/>
                        </a:rPr>
                        <a:t>                  010100</a:t>
                      </a:r>
                    </a:p>
                    <a:p>
                      <a:r>
                        <a:rPr lang="en-IN" dirty="0" smtClean="0">
                          <a:latin typeface="Times New Roman" pitchFamily="18" charset="0"/>
                          <a:cs typeface="Times New Roman" pitchFamily="18" charset="0"/>
                        </a:rPr>
                        <a:t>                    10001</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Remainder &gt;B</a:t>
                      </a:r>
                    </a:p>
                    <a:p>
                      <a:r>
                        <a:rPr lang="en-IN" dirty="0" smtClean="0">
                          <a:latin typeface="Times New Roman" pitchFamily="18" charset="0"/>
                          <a:cs typeface="Times New Roman" pitchFamily="18" charset="0"/>
                        </a:rPr>
                        <a:t>Shift right B and subtract,</a:t>
                      </a:r>
                      <a:r>
                        <a:rPr lang="en-IN" baseline="0" dirty="0" smtClean="0">
                          <a:latin typeface="Times New Roman" pitchFamily="18" charset="0"/>
                          <a:cs typeface="Times New Roman" pitchFamily="18" charset="0"/>
                        </a:rPr>
                        <a:t> enter 1 in Q</a:t>
                      </a:r>
                      <a:endParaRPr lang="en-IN" dirty="0">
                        <a:latin typeface="Times New Roman" pitchFamily="18" charset="0"/>
                        <a:cs typeface="Times New Roman" pitchFamily="18" charset="0"/>
                      </a:endParaRPr>
                    </a:p>
                  </a:txBody>
                  <a:tcPr/>
                </a:tc>
              </a:tr>
              <a:tr h="640080">
                <a:tc>
                  <a:txBody>
                    <a:bodyPr/>
                    <a:lstStyle/>
                    <a:p>
                      <a:r>
                        <a:rPr lang="en-IN" dirty="0" smtClean="0">
                          <a:latin typeface="Times New Roman" pitchFamily="18" charset="0"/>
                          <a:cs typeface="Times New Roman" pitchFamily="18" charset="0"/>
                        </a:rPr>
                        <a:t>                    000110</a:t>
                      </a:r>
                    </a:p>
                    <a:p>
                      <a:r>
                        <a:rPr lang="en-IN" dirty="0" smtClean="0">
                          <a:latin typeface="Times New Roman" pitchFamily="18" charset="0"/>
                          <a:cs typeface="Times New Roman" pitchFamily="18" charset="0"/>
                        </a:rPr>
                        <a:t>                      00000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Remainder</a:t>
                      </a:r>
                      <a:r>
                        <a:rPr lang="en-IN" baseline="0" dirty="0" smtClean="0">
                          <a:latin typeface="Times New Roman" pitchFamily="18" charset="0"/>
                          <a:cs typeface="Times New Roman" pitchFamily="18" charset="0"/>
                        </a:rPr>
                        <a:t> &lt;B, enter 0 in Q</a:t>
                      </a:r>
                      <a:endParaRPr lang="en-IN" dirty="0">
                        <a:latin typeface="Times New Roman" pitchFamily="18" charset="0"/>
                        <a:cs typeface="Times New Roman" pitchFamily="18" charset="0"/>
                      </a:endParaRPr>
                    </a:p>
                  </a:txBody>
                  <a:tcPr/>
                </a:tc>
              </a:tr>
              <a:tr h="370840">
                <a:tc>
                  <a:txBody>
                    <a:bodyPr/>
                    <a:lstStyle/>
                    <a:p>
                      <a:r>
                        <a:rPr lang="en-IN" dirty="0" smtClean="0">
                          <a:latin typeface="Times New Roman" pitchFamily="18" charset="0"/>
                          <a:cs typeface="Times New Roman" pitchFamily="18" charset="0"/>
                        </a:rPr>
                        <a:t>                           110</a:t>
                      </a:r>
                      <a:endParaRPr lang="en-IN" dirty="0">
                        <a:latin typeface="Times New Roman" pitchFamily="18" charset="0"/>
                        <a:cs typeface="Times New Roman" pitchFamily="18" charset="0"/>
                      </a:endParaRPr>
                    </a:p>
                  </a:txBody>
                  <a:tcPr/>
                </a:tc>
                <a:tc>
                  <a:txBody>
                    <a:bodyPr/>
                    <a:lstStyle/>
                    <a:p>
                      <a:r>
                        <a:rPr lang="en-IN" dirty="0" smtClean="0">
                          <a:latin typeface="Times New Roman" pitchFamily="18" charset="0"/>
                          <a:cs typeface="Times New Roman" pitchFamily="18" charset="0"/>
                        </a:rPr>
                        <a:t>Final remainder</a:t>
                      </a:r>
                      <a:endParaRPr lang="en-IN" dirty="0">
                        <a:latin typeface="Times New Roman" pitchFamily="18" charset="0"/>
                        <a:cs typeface="Times New Roman" pitchFamily="18" charset="0"/>
                      </a:endParaRPr>
                    </a:p>
                  </a:txBody>
                  <a:tcPr/>
                </a:tc>
              </a:tr>
            </a:tbl>
          </a:graphicData>
        </a:graphic>
      </p:graphicFrame>
      <p:cxnSp>
        <p:nvCxnSpPr>
          <p:cNvPr id="8" name="Straight Arrow Connector 7"/>
          <p:cNvCxnSpPr/>
          <p:nvPr/>
        </p:nvCxnSpPr>
        <p:spPr>
          <a:xfrm rot="5400000">
            <a:off x="1465943" y="2438401"/>
            <a:ext cx="145142"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rot="16200000" flipH="1">
            <a:off x="1306288" y="2757714"/>
            <a:ext cx="740229" cy="1451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16200000" flipH="1">
            <a:off x="1103088" y="3077030"/>
            <a:ext cx="1364343" cy="2902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16200000" flipH="1">
            <a:off x="907147" y="3389087"/>
            <a:ext cx="2039259" cy="3628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rot="16200000" flipH="1">
            <a:off x="660405" y="3780973"/>
            <a:ext cx="2728688" cy="14511"/>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6763657" y="1727200"/>
            <a:ext cx="5210629" cy="1477328"/>
          </a:xfrm>
          <a:prstGeom prst="rect">
            <a:avLst/>
          </a:prstGeom>
          <a:noFill/>
        </p:spPr>
        <p:txBody>
          <a:bodyPr wrap="square" rtlCol="0">
            <a:spAutoFit/>
          </a:bodyPr>
          <a:lstStyle/>
          <a:p>
            <a:r>
              <a:rPr lang="en-IN" u="sng" dirty="0" smtClean="0">
                <a:latin typeface="Times New Roman" pitchFamily="18" charset="0"/>
                <a:cs typeface="Times New Roman" pitchFamily="18" charset="0"/>
              </a:rPr>
              <a:t>Sign of the result</a:t>
            </a:r>
            <a:r>
              <a:rPr lang="en-IN" dirty="0" smtClean="0">
                <a:latin typeface="Times New Roman" pitchFamily="18" charset="0"/>
                <a:cs typeface="Times New Roman" pitchFamily="18" charset="0"/>
              </a:rPr>
              <a:t>: Sign of quotient is determined from the sign of the dividend and the divisor. If the two signs are alike, sign of the quotient is plus. If they are unalike, sign is minus. The sign of the remainder is the same as the sign of the dividend.</a:t>
            </a:r>
            <a:endParaRPr lang="en-IN" dirty="0">
              <a:latin typeface="Times New Roman" pitchFamily="18" charset="0"/>
              <a:cs typeface="Times New Roman" pitchFamily="18" charset="0"/>
            </a:endParaRPr>
          </a:p>
        </p:txBody>
      </p:sp>
      <p:sp>
        <p:nvSpPr>
          <p:cNvPr id="21" name="TextBox 20"/>
          <p:cNvSpPr txBox="1"/>
          <p:nvPr/>
        </p:nvSpPr>
        <p:spPr>
          <a:xfrm>
            <a:off x="9804400" y="3425295"/>
            <a:ext cx="892629"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Shift left</a:t>
            </a:r>
            <a:endParaRPr lang="en-IN" sz="1400" dirty="0">
              <a:latin typeface="Times New Roman" pitchFamily="18" charset="0"/>
              <a:cs typeface="Times New Roman" pitchFamily="18" charset="0"/>
            </a:endParaRPr>
          </a:p>
        </p:txBody>
      </p:sp>
      <p:cxnSp>
        <p:nvCxnSpPr>
          <p:cNvPr id="22" name="Straight Arrow Connector 21"/>
          <p:cNvCxnSpPr/>
          <p:nvPr/>
        </p:nvCxnSpPr>
        <p:spPr>
          <a:xfrm rot="5400000">
            <a:off x="10072916" y="3378852"/>
            <a:ext cx="261259"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rot="10800000" flipV="1">
            <a:off x="8287657" y="3249807"/>
            <a:ext cx="1911534" cy="27443"/>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16200000" flipV="1">
            <a:off x="9085946" y="5381825"/>
            <a:ext cx="217713" cy="145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5400000">
            <a:off x="6887033" y="4648852"/>
            <a:ext cx="2801254" cy="6"/>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9187543" y="5452944"/>
            <a:ext cx="2153922" cy="3047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rot="10800000">
            <a:off x="10624459" y="6033515"/>
            <a:ext cx="711199" cy="145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rot="16200000" flipH="1">
            <a:off x="10117912" y="6493618"/>
            <a:ext cx="285930" cy="725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9842140" y="3460127"/>
            <a:ext cx="767804" cy="2380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30" name="Rectangle 29"/>
          <p:cNvSpPr/>
          <p:nvPr/>
        </p:nvSpPr>
        <p:spPr>
          <a:xfrm>
            <a:off x="9776824" y="4018928"/>
            <a:ext cx="833120" cy="4484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31" name="TextBox 30"/>
          <p:cNvSpPr txBox="1"/>
          <p:nvPr/>
        </p:nvSpPr>
        <p:spPr>
          <a:xfrm>
            <a:off x="9753603" y="3975386"/>
            <a:ext cx="943426" cy="523220"/>
          </a:xfrm>
          <a:prstGeom prst="rect">
            <a:avLst/>
          </a:prstGeom>
          <a:noFill/>
        </p:spPr>
        <p:txBody>
          <a:bodyPr wrap="square" rtlCol="0">
            <a:spAutoFit/>
          </a:bodyPr>
          <a:lstStyle/>
          <a:p>
            <a:r>
              <a:rPr lang="en-IN" sz="1400" dirty="0" smtClean="0">
                <a:latin typeface="Times New Roman" pitchFamily="18" charset="0"/>
                <a:cs typeface="Times New Roman" pitchFamily="18" charset="0"/>
              </a:rPr>
              <a:t>Add B′+1 to A </a:t>
            </a:r>
            <a:endParaRPr lang="en-IN" sz="1400" dirty="0" smtClean="0">
              <a:latin typeface="Times New Roman" pitchFamily="18" charset="0"/>
              <a:cs typeface="Times New Roman" pitchFamily="18" charset="0"/>
              <a:sym typeface="Symbol"/>
            </a:endParaRPr>
          </a:p>
        </p:txBody>
      </p:sp>
      <p:sp>
        <p:nvSpPr>
          <p:cNvPr id="32" name="Diamond 31"/>
          <p:cNvSpPr/>
          <p:nvPr/>
        </p:nvSpPr>
        <p:spPr>
          <a:xfrm>
            <a:off x="9821818" y="4782380"/>
            <a:ext cx="744584" cy="444137"/>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33" name="TextBox 32"/>
          <p:cNvSpPr txBox="1"/>
          <p:nvPr/>
        </p:nvSpPr>
        <p:spPr>
          <a:xfrm>
            <a:off x="9879875" y="4854950"/>
            <a:ext cx="672012" cy="309158"/>
          </a:xfrm>
          <a:prstGeom prst="rect">
            <a:avLst/>
          </a:prstGeom>
          <a:noFill/>
        </p:spPr>
        <p:txBody>
          <a:bodyPr wrap="square" rtlCol="0">
            <a:spAutoFit/>
          </a:bodyPr>
          <a:lstStyle/>
          <a:p>
            <a:r>
              <a:rPr lang="en-IN" sz="1400" dirty="0" smtClean="0">
                <a:latin typeface="Times New Roman" pitchFamily="18" charset="0"/>
                <a:cs typeface="Times New Roman" pitchFamily="18" charset="0"/>
              </a:rPr>
              <a:t>Is E=1  </a:t>
            </a:r>
            <a:endParaRPr lang="en-IN" sz="1400" dirty="0">
              <a:latin typeface="Times New Roman" pitchFamily="18" charset="0"/>
              <a:cs typeface="Times New Roman" pitchFamily="18" charset="0"/>
            </a:endParaRPr>
          </a:p>
        </p:txBody>
      </p:sp>
      <p:sp>
        <p:nvSpPr>
          <p:cNvPr id="34" name="TextBox 33"/>
          <p:cNvSpPr txBox="1"/>
          <p:nvPr/>
        </p:nvSpPr>
        <p:spPr>
          <a:xfrm>
            <a:off x="8367488" y="4737385"/>
            <a:ext cx="1081311" cy="523220"/>
          </a:xfrm>
          <a:prstGeom prst="rect">
            <a:avLst/>
          </a:prstGeom>
          <a:noFill/>
        </p:spPr>
        <p:txBody>
          <a:bodyPr wrap="square" rtlCol="0">
            <a:spAutoFit/>
          </a:bodyPr>
          <a:lstStyle/>
          <a:p>
            <a:r>
              <a:rPr lang="en-IN" sz="1400" dirty="0" err="1" smtClean="0">
                <a:latin typeface="Times New Roman" pitchFamily="18" charset="0"/>
                <a:cs typeface="Times New Roman" pitchFamily="18" charset="0"/>
              </a:rPr>
              <a:t>Qn</a:t>
            </a:r>
            <a:r>
              <a:rPr lang="en-IN" sz="1400" dirty="0" smtClean="0">
                <a:latin typeface="Times New Roman" pitchFamily="18" charset="0"/>
                <a:cs typeface="Times New Roman" pitchFamily="18" charset="0"/>
                <a:sym typeface="Symbol"/>
              </a:rPr>
              <a:t>  </a:t>
            </a:r>
            <a:r>
              <a:rPr lang="en-IN" sz="1400" dirty="0" smtClean="0">
                <a:latin typeface="Times New Roman" pitchFamily="18" charset="0"/>
                <a:cs typeface="Times New Roman" pitchFamily="18" charset="0"/>
              </a:rPr>
              <a:t>1</a:t>
            </a:r>
          </a:p>
          <a:p>
            <a:r>
              <a:rPr lang="en-IN" sz="1400" dirty="0" smtClean="0">
                <a:latin typeface="Times New Roman" pitchFamily="18" charset="0"/>
                <a:cs typeface="Times New Roman" pitchFamily="18" charset="0"/>
                <a:sym typeface="Symbol"/>
              </a:rPr>
              <a:t>SC  SC-1</a:t>
            </a:r>
          </a:p>
        </p:txBody>
      </p:sp>
      <p:sp>
        <p:nvSpPr>
          <p:cNvPr id="35" name="Rectangle 34"/>
          <p:cNvSpPr/>
          <p:nvPr/>
        </p:nvSpPr>
        <p:spPr>
          <a:xfrm>
            <a:off x="8368939" y="4817213"/>
            <a:ext cx="992776" cy="44849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36" name="TextBox 35"/>
          <p:cNvSpPr txBox="1"/>
          <p:nvPr/>
        </p:nvSpPr>
        <p:spPr>
          <a:xfrm>
            <a:off x="10914745" y="4657557"/>
            <a:ext cx="1081311" cy="738664"/>
          </a:xfrm>
          <a:prstGeom prst="rect">
            <a:avLst/>
          </a:prstGeom>
          <a:noFill/>
        </p:spPr>
        <p:txBody>
          <a:bodyPr wrap="square" rtlCol="0">
            <a:spAutoFit/>
          </a:bodyPr>
          <a:lstStyle/>
          <a:p>
            <a:r>
              <a:rPr lang="en-IN" sz="1400" dirty="0" err="1" smtClean="0">
                <a:latin typeface="Times New Roman" pitchFamily="18" charset="0"/>
                <a:cs typeface="Times New Roman" pitchFamily="18" charset="0"/>
              </a:rPr>
              <a:t>Qn</a:t>
            </a:r>
            <a:r>
              <a:rPr lang="en-IN" sz="1400" dirty="0" smtClean="0">
                <a:latin typeface="Times New Roman" pitchFamily="18" charset="0"/>
                <a:cs typeface="Times New Roman" pitchFamily="18" charset="0"/>
                <a:sym typeface="Symbol"/>
              </a:rPr>
              <a:t>  0</a:t>
            </a:r>
          </a:p>
          <a:p>
            <a:r>
              <a:rPr lang="en-IN" sz="1400" dirty="0" smtClean="0">
                <a:latin typeface="Times New Roman" pitchFamily="18" charset="0"/>
                <a:cs typeface="Times New Roman" pitchFamily="18" charset="0"/>
                <a:sym typeface="Symbol"/>
              </a:rPr>
              <a:t>A  A+B</a:t>
            </a:r>
            <a:endParaRPr lang="en-IN" sz="1400" dirty="0" smtClean="0">
              <a:latin typeface="Times New Roman" pitchFamily="18" charset="0"/>
              <a:cs typeface="Times New Roman" pitchFamily="18" charset="0"/>
            </a:endParaRPr>
          </a:p>
          <a:p>
            <a:r>
              <a:rPr lang="en-IN" sz="1400" dirty="0" smtClean="0">
                <a:latin typeface="Times New Roman" pitchFamily="18" charset="0"/>
                <a:cs typeface="Times New Roman" pitchFamily="18" charset="0"/>
                <a:sym typeface="Symbol"/>
              </a:rPr>
              <a:t>SC  SC-1</a:t>
            </a:r>
          </a:p>
        </p:txBody>
      </p:sp>
      <p:sp>
        <p:nvSpPr>
          <p:cNvPr id="37" name="Rectangle 36"/>
          <p:cNvSpPr/>
          <p:nvPr/>
        </p:nvSpPr>
        <p:spPr>
          <a:xfrm>
            <a:off x="10930711" y="4708355"/>
            <a:ext cx="992776" cy="6154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38" name="TextBox 37"/>
          <p:cNvSpPr txBox="1"/>
          <p:nvPr/>
        </p:nvSpPr>
        <p:spPr>
          <a:xfrm>
            <a:off x="9376228" y="4670623"/>
            <a:ext cx="537030" cy="304800"/>
          </a:xfrm>
          <a:prstGeom prst="rect">
            <a:avLst/>
          </a:prstGeom>
          <a:noFill/>
        </p:spPr>
        <p:txBody>
          <a:bodyPr wrap="square" rtlCol="0">
            <a:spAutoFit/>
          </a:bodyPr>
          <a:lstStyle/>
          <a:p>
            <a:r>
              <a:rPr lang="en-IN" sz="1400" dirty="0" smtClean="0">
                <a:latin typeface="Times New Roman" pitchFamily="18" charset="0"/>
                <a:cs typeface="Times New Roman" pitchFamily="18" charset="0"/>
              </a:rPr>
              <a:t>A≥B  </a:t>
            </a:r>
            <a:endParaRPr lang="en-IN" sz="1400" dirty="0">
              <a:latin typeface="Times New Roman" pitchFamily="18" charset="0"/>
              <a:cs typeface="Times New Roman" pitchFamily="18" charset="0"/>
            </a:endParaRPr>
          </a:p>
        </p:txBody>
      </p:sp>
      <p:sp>
        <p:nvSpPr>
          <p:cNvPr id="39" name="TextBox 38"/>
          <p:cNvSpPr txBox="1"/>
          <p:nvPr/>
        </p:nvSpPr>
        <p:spPr>
          <a:xfrm>
            <a:off x="9427026" y="4968167"/>
            <a:ext cx="442688"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yes   </a:t>
            </a:r>
            <a:endParaRPr lang="en-IN" sz="1400" dirty="0">
              <a:latin typeface="Times New Roman" pitchFamily="18" charset="0"/>
              <a:cs typeface="Times New Roman" pitchFamily="18" charset="0"/>
            </a:endParaRPr>
          </a:p>
        </p:txBody>
      </p:sp>
      <p:sp>
        <p:nvSpPr>
          <p:cNvPr id="40" name="TextBox 39"/>
          <p:cNvSpPr txBox="1"/>
          <p:nvPr/>
        </p:nvSpPr>
        <p:spPr>
          <a:xfrm>
            <a:off x="10493828" y="4946395"/>
            <a:ext cx="391888"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no </a:t>
            </a:r>
            <a:endParaRPr lang="en-IN" sz="1400" dirty="0">
              <a:latin typeface="Times New Roman" pitchFamily="18" charset="0"/>
              <a:cs typeface="Times New Roman" pitchFamily="18" charset="0"/>
            </a:endParaRPr>
          </a:p>
        </p:txBody>
      </p:sp>
      <p:sp>
        <p:nvSpPr>
          <p:cNvPr id="41" name="TextBox 40"/>
          <p:cNvSpPr txBox="1"/>
          <p:nvPr/>
        </p:nvSpPr>
        <p:spPr>
          <a:xfrm>
            <a:off x="10457540" y="4706908"/>
            <a:ext cx="544287"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A&lt;B </a:t>
            </a:r>
            <a:endParaRPr lang="en-IN" sz="1400" dirty="0">
              <a:latin typeface="Times New Roman" pitchFamily="18" charset="0"/>
              <a:cs typeface="Times New Roman" pitchFamily="18" charset="0"/>
            </a:endParaRPr>
          </a:p>
        </p:txBody>
      </p:sp>
      <p:sp>
        <p:nvSpPr>
          <p:cNvPr id="42" name="Diamond 41"/>
          <p:cNvSpPr/>
          <p:nvPr/>
        </p:nvSpPr>
        <p:spPr>
          <a:xfrm>
            <a:off x="9887133" y="5689523"/>
            <a:ext cx="744584" cy="679270"/>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TextBox 42"/>
          <p:cNvSpPr txBox="1"/>
          <p:nvPr/>
        </p:nvSpPr>
        <p:spPr>
          <a:xfrm>
            <a:off x="9959704" y="5762092"/>
            <a:ext cx="672012" cy="523220"/>
          </a:xfrm>
          <a:prstGeom prst="rect">
            <a:avLst/>
          </a:prstGeom>
          <a:noFill/>
        </p:spPr>
        <p:txBody>
          <a:bodyPr wrap="square" rtlCol="0">
            <a:spAutoFit/>
          </a:bodyPr>
          <a:lstStyle/>
          <a:p>
            <a:r>
              <a:rPr lang="en-IN" sz="1400" dirty="0" smtClean="0">
                <a:latin typeface="Times New Roman" pitchFamily="18" charset="0"/>
                <a:cs typeface="Times New Roman" pitchFamily="18" charset="0"/>
              </a:rPr>
              <a:t>Is SC=0 </a:t>
            </a:r>
            <a:endParaRPr lang="en-IN" sz="1400" dirty="0">
              <a:latin typeface="Times New Roman" pitchFamily="18" charset="0"/>
              <a:cs typeface="Times New Roman" pitchFamily="18" charset="0"/>
            </a:endParaRPr>
          </a:p>
        </p:txBody>
      </p:sp>
      <p:cxnSp>
        <p:nvCxnSpPr>
          <p:cNvPr id="44" name="Straight Arrow Connector 43"/>
          <p:cNvCxnSpPr/>
          <p:nvPr/>
        </p:nvCxnSpPr>
        <p:spPr>
          <a:xfrm rot="16200000" flipH="1">
            <a:off x="10018849" y="3861814"/>
            <a:ext cx="420916" cy="65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30" idx="2"/>
            <a:endCxn id="32" idx="0"/>
          </p:cNvCxnSpPr>
          <p:nvPr/>
        </p:nvCxnSpPr>
        <p:spPr>
          <a:xfrm rot="16200000" flipH="1">
            <a:off x="10036269" y="4624538"/>
            <a:ext cx="314957" cy="72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32" idx="1"/>
            <a:endCxn id="35" idx="3"/>
          </p:cNvCxnSpPr>
          <p:nvPr/>
        </p:nvCxnSpPr>
        <p:spPr>
          <a:xfrm rot="10800000" flipV="1">
            <a:off x="9361716" y="5004448"/>
            <a:ext cx="460103" cy="3701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endCxn id="37" idx="1"/>
          </p:cNvCxnSpPr>
          <p:nvPr/>
        </p:nvCxnSpPr>
        <p:spPr>
          <a:xfrm>
            <a:off x="10551886" y="5004451"/>
            <a:ext cx="378825" cy="1160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rot="16200000" flipV="1">
            <a:off x="10965547" y="5679369"/>
            <a:ext cx="718455" cy="21766"/>
          </a:xfrm>
          <a:prstGeom prst="line">
            <a:avLst/>
          </a:prstGeom>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10247083" y="6296224"/>
            <a:ext cx="442688"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yes  </a:t>
            </a:r>
            <a:endParaRPr lang="en-IN" sz="1400" dirty="0">
              <a:latin typeface="Times New Roman" pitchFamily="18" charset="0"/>
              <a:cs typeface="Times New Roman" pitchFamily="18" charset="0"/>
            </a:endParaRPr>
          </a:p>
        </p:txBody>
      </p:sp>
      <p:sp>
        <p:nvSpPr>
          <p:cNvPr id="50" name="TextBox 49"/>
          <p:cNvSpPr txBox="1"/>
          <p:nvPr/>
        </p:nvSpPr>
        <p:spPr>
          <a:xfrm>
            <a:off x="9964055" y="6550223"/>
            <a:ext cx="558802"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END </a:t>
            </a:r>
            <a:endParaRPr lang="en-IN" sz="1400" dirty="0">
              <a:latin typeface="Times New Roman" pitchFamily="18" charset="0"/>
              <a:cs typeface="Times New Roman" pitchFamily="18" charset="0"/>
            </a:endParaRPr>
          </a:p>
        </p:txBody>
      </p:sp>
      <p:cxnSp>
        <p:nvCxnSpPr>
          <p:cNvPr id="51" name="Straight Connector 50"/>
          <p:cNvCxnSpPr>
            <a:stCxn id="42" idx="1"/>
          </p:cNvCxnSpPr>
          <p:nvPr/>
        </p:nvCxnSpPr>
        <p:spPr>
          <a:xfrm rot="10800000" flipV="1">
            <a:off x="8287657" y="6029157"/>
            <a:ext cx="1599476" cy="5807"/>
          </a:xfrm>
          <a:prstGeom prst="line">
            <a:avLst/>
          </a:prstGeom>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9463313" y="5788224"/>
            <a:ext cx="391888"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no </a:t>
            </a:r>
            <a:endParaRPr lang="en-IN" sz="1400" dirty="0">
              <a:latin typeface="Times New Roman" pitchFamily="18" charset="0"/>
              <a:cs typeface="Times New Roman" pitchFamily="18" charset="0"/>
            </a:endParaRPr>
          </a:p>
        </p:txBody>
      </p:sp>
      <p:sp>
        <p:nvSpPr>
          <p:cNvPr id="53" name="TextBox 52"/>
          <p:cNvSpPr txBox="1"/>
          <p:nvPr/>
        </p:nvSpPr>
        <p:spPr>
          <a:xfrm>
            <a:off x="10769600" y="3436911"/>
            <a:ext cx="1088572" cy="738664"/>
          </a:xfrm>
          <a:prstGeom prst="rect">
            <a:avLst/>
          </a:prstGeom>
          <a:noFill/>
        </p:spPr>
        <p:txBody>
          <a:bodyPr wrap="square" rtlCol="0">
            <a:spAutoFit/>
          </a:bodyPr>
          <a:lstStyle/>
          <a:p>
            <a:r>
              <a:rPr lang="en-IN" sz="1400" dirty="0" smtClean="0">
                <a:latin typeface="Times New Roman" pitchFamily="18" charset="0"/>
                <a:cs typeface="Times New Roman" pitchFamily="18" charset="0"/>
              </a:rPr>
              <a:t>No change in dividend</a:t>
            </a:r>
          </a:p>
          <a:p>
            <a:r>
              <a:rPr lang="en-IN" sz="1400" dirty="0" smtClean="0">
                <a:latin typeface="Times New Roman" pitchFamily="18" charset="0"/>
                <a:cs typeface="Times New Roman" pitchFamily="18" charset="0"/>
              </a:rPr>
              <a:t>as </a:t>
            </a:r>
            <a:r>
              <a:rPr lang="en-IN" sz="1400" dirty="0" err="1" smtClean="0">
                <a:latin typeface="Times New Roman" pitchFamily="18" charset="0"/>
                <a:cs typeface="Times New Roman" pitchFamily="18" charset="0"/>
              </a:rPr>
              <a:t>Qn</a:t>
            </a:r>
            <a:r>
              <a:rPr lang="en-IN" sz="1400" dirty="0" smtClean="0">
                <a:latin typeface="Times New Roman" pitchFamily="18" charset="0"/>
                <a:cs typeface="Times New Roman" pitchFamily="18" charset="0"/>
              </a:rPr>
              <a:t> = 0</a:t>
            </a:r>
            <a:endParaRPr lang="en-IN" sz="1400" dirty="0">
              <a:latin typeface="Times New Roman" pitchFamily="18" charset="0"/>
              <a:cs typeface="Times New Roman" pitchFamily="18" charset="0"/>
            </a:endParaRPr>
          </a:p>
        </p:txBody>
      </p:sp>
      <p:cxnSp>
        <p:nvCxnSpPr>
          <p:cNvPr id="54" name="Straight Arrow Connector 53"/>
          <p:cNvCxnSpPr/>
          <p:nvPr/>
        </p:nvCxnSpPr>
        <p:spPr>
          <a:xfrm rot="5400000" flipH="1" flipV="1">
            <a:off x="10842171" y="4438395"/>
            <a:ext cx="957945" cy="23222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V="1">
            <a:off x="682171" y="3018971"/>
            <a:ext cx="957943" cy="1451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flipV="1">
            <a:off x="791028" y="3737428"/>
            <a:ext cx="957943" cy="1451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V="1">
            <a:off x="899885" y="4354285"/>
            <a:ext cx="957943" cy="1451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flipV="1">
            <a:off x="1081313" y="5007428"/>
            <a:ext cx="957943" cy="1451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flipV="1">
            <a:off x="1219199" y="5638799"/>
            <a:ext cx="957943" cy="1451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6" name="Table 105"/>
          <p:cNvGraphicFramePr>
            <a:graphicFrameLocks noGrp="1"/>
          </p:cNvGraphicFramePr>
          <p:nvPr/>
        </p:nvGraphicFramePr>
        <p:xfrm>
          <a:off x="232226" y="245292"/>
          <a:ext cx="4321414" cy="6075680"/>
        </p:xfrm>
        <a:graphic>
          <a:graphicData uri="http://schemas.openxmlformats.org/drawingml/2006/table">
            <a:tbl>
              <a:tblPr firstRow="1" bandRow="1">
                <a:tableStyleId>{5C22544A-7EE6-4342-B048-85BDC9FD1C3A}</a:tableStyleId>
              </a:tblPr>
              <a:tblGrid>
                <a:gridCol w="1799773"/>
                <a:gridCol w="362857"/>
                <a:gridCol w="827315"/>
                <a:gridCol w="711200"/>
                <a:gridCol w="620269"/>
              </a:tblGrid>
              <a:tr h="370840">
                <a:tc gridSpan="5">
                  <a:txBody>
                    <a:bodyPr/>
                    <a:lstStyle/>
                    <a:p>
                      <a:r>
                        <a:rPr lang="en-IN" sz="1600" dirty="0" smtClean="0">
                          <a:latin typeface="Times New Roman" pitchFamily="18" charset="0"/>
                          <a:cs typeface="Times New Roman" pitchFamily="18" charset="0"/>
                        </a:rPr>
                        <a:t>Example: Divisor B = 10001, B′+1 = 01111</a:t>
                      </a:r>
                      <a:endParaRPr lang="en-IN" sz="1600" dirty="0">
                        <a:latin typeface="Times New Roman" pitchFamily="18" charset="0"/>
                        <a:cs typeface="Times New Roman" pitchFamily="18" charset="0"/>
                      </a:endParaRPr>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r>
              <a:tr h="370840">
                <a:tc>
                  <a:txBody>
                    <a:bodyPr/>
                    <a:lstStyle/>
                    <a:p>
                      <a:r>
                        <a:rPr lang="en-IN" sz="1600" dirty="0" smtClean="0">
                          <a:latin typeface="Times New Roman" pitchFamily="18" charset="0"/>
                          <a:cs typeface="Times New Roman" pitchFamily="18" charset="0"/>
                        </a:rPr>
                        <a:t>Operation</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E</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A</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Q</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SC</a:t>
                      </a:r>
                      <a:endParaRPr lang="en-IN" sz="1600" dirty="0">
                        <a:latin typeface="Times New Roman" pitchFamily="18" charset="0"/>
                        <a:cs typeface="Times New Roman" pitchFamily="18" charset="0"/>
                      </a:endParaRPr>
                    </a:p>
                  </a:txBody>
                  <a:tcPr/>
                </a:tc>
              </a:tr>
              <a:tr h="370840">
                <a:tc>
                  <a:txBody>
                    <a:bodyPr/>
                    <a:lstStyle/>
                    <a:p>
                      <a:r>
                        <a:rPr lang="en-IN" sz="1600" dirty="0" smtClean="0">
                          <a:latin typeface="Times New Roman" pitchFamily="18" charset="0"/>
                          <a:cs typeface="Times New Roman" pitchFamily="18" charset="0"/>
                        </a:rPr>
                        <a:t>Dividend</a:t>
                      </a:r>
                    </a:p>
                    <a:p>
                      <a:r>
                        <a:rPr lang="en-IN" sz="1600" dirty="0" err="1" smtClean="0">
                          <a:latin typeface="Times New Roman" pitchFamily="18" charset="0"/>
                          <a:cs typeface="Times New Roman" pitchFamily="18" charset="0"/>
                        </a:rPr>
                        <a:t>Shl</a:t>
                      </a:r>
                      <a:r>
                        <a:rPr lang="en-IN" sz="1600" dirty="0" smtClean="0">
                          <a:latin typeface="Times New Roman" pitchFamily="18" charset="0"/>
                          <a:cs typeface="Times New Roman" pitchFamily="18" charset="0"/>
                        </a:rPr>
                        <a:t> EAQ</a:t>
                      </a:r>
                    </a:p>
                    <a:p>
                      <a:r>
                        <a:rPr lang="en-IN" sz="1600" dirty="0" smtClean="0">
                          <a:latin typeface="Times New Roman" pitchFamily="18" charset="0"/>
                          <a:cs typeface="Times New Roman" pitchFamily="18" charset="0"/>
                        </a:rPr>
                        <a:t>Add B′+1</a:t>
                      </a:r>
                    </a:p>
                    <a:p>
                      <a:r>
                        <a:rPr lang="en-IN" sz="1600" dirty="0" smtClean="0">
                          <a:latin typeface="Times New Roman" pitchFamily="18" charset="0"/>
                          <a:cs typeface="Times New Roman" pitchFamily="18" charset="0"/>
                        </a:rPr>
                        <a:t>Set </a:t>
                      </a:r>
                      <a:r>
                        <a:rPr lang="en-IN" sz="1600" dirty="0" err="1" smtClean="0">
                          <a:latin typeface="Times New Roman" pitchFamily="18" charset="0"/>
                          <a:cs typeface="Times New Roman" pitchFamily="18" charset="0"/>
                        </a:rPr>
                        <a:t>Qn</a:t>
                      </a:r>
                      <a:r>
                        <a:rPr lang="en-IN" sz="1600" dirty="0" smtClean="0">
                          <a:latin typeface="Times New Roman" pitchFamily="18" charset="0"/>
                          <a:cs typeface="Times New Roman" pitchFamily="18" charset="0"/>
                        </a:rPr>
                        <a:t> = 1 as E=1</a:t>
                      </a:r>
                      <a:endParaRPr lang="en-IN" sz="1600" dirty="0">
                        <a:latin typeface="Times New Roman" pitchFamily="18" charset="0"/>
                        <a:cs typeface="Times New Roman" pitchFamily="18" charset="0"/>
                      </a:endParaRPr>
                    </a:p>
                  </a:txBody>
                  <a:tcPr/>
                </a:tc>
                <a:tc>
                  <a:txBody>
                    <a:bodyPr/>
                    <a:lstStyle/>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0</a:t>
                      </a: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1</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01110</a:t>
                      </a:r>
                    </a:p>
                    <a:p>
                      <a:r>
                        <a:rPr lang="en-IN" sz="1600" dirty="0" smtClean="0">
                          <a:latin typeface="Times New Roman" pitchFamily="18" charset="0"/>
                          <a:cs typeface="Times New Roman" pitchFamily="18" charset="0"/>
                        </a:rPr>
                        <a:t>11100</a:t>
                      </a:r>
                    </a:p>
                    <a:p>
                      <a:r>
                        <a:rPr lang="en-IN" sz="1600" dirty="0" smtClean="0">
                          <a:latin typeface="Times New Roman" pitchFamily="18" charset="0"/>
                          <a:cs typeface="Times New Roman" pitchFamily="18" charset="0"/>
                        </a:rPr>
                        <a:t>01111</a:t>
                      </a:r>
                    </a:p>
                    <a:p>
                      <a:r>
                        <a:rPr lang="en-IN" sz="1600" dirty="0" smtClean="0">
                          <a:latin typeface="Times New Roman" pitchFamily="18" charset="0"/>
                          <a:cs typeface="Times New Roman" pitchFamily="18" charset="0"/>
                        </a:rPr>
                        <a:t>01011</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00000</a:t>
                      </a:r>
                    </a:p>
                    <a:p>
                      <a:r>
                        <a:rPr lang="en-IN" sz="1600" dirty="0" smtClean="0">
                          <a:latin typeface="Times New Roman" pitchFamily="18" charset="0"/>
                          <a:cs typeface="Times New Roman" pitchFamily="18" charset="0"/>
                        </a:rPr>
                        <a:t>00000</a:t>
                      </a: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00001</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101</a:t>
                      </a:r>
                    </a:p>
                    <a:p>
                      <a:endParaRPr lang="en-IN" sz="1600" dirty="0" smtClean="0">
                        <a:latin typeface="Times New Roman" pitchFamily="18" charset="0"/>
                        <a:cs typeface="Times New Roman" pitchFamily="18" charset="0"/>
                      </a:endParaRP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100</a:t>
                      </a:r>
                      <a:endParaRPr lang="en-IN" sz="1600" dirty="0">
                        <a:latin typeface="Times New Roman" pitchFamily="18" charset="0"/>
                        <a:cs typeface="Times New Roman" pitchFamily="18" charset="0"/>
                      </a:endParaRPr>
                    </a:p>
                  </a:txBody>
                  <a:tcPr/>
                </a:tc>
              </a:tr>
              <a:tr h="370840">
                <a:tc>
                  <a:txBody>
                    <a:bodyPr/>
                    <a:lstStyle/>
                    <a:p>
                      <a:r>
                        <a:rPr lang="en-IN" sz="1600" dirty="0" err="1" smtClean="0">
                          <a:latin typeface="Times New Roman" pitchFamily="18" charset="0"/>
                          <a:cs typeface="Times New Roman" pitchFamily="18" charset="0"/>
                        </a:rPr>
                        <a:t>Shl</a:t>
                      </a:r>
                      <a:r>
                        <a:rPr lang="en-IN" sz="1600" dirty="0" smtClean="0">
                          <a:latin typeface="Times New Roman" pitchFamily="18" charset="0"/>
                          <a:cs typeface="Times New Roman" pitchFamily="18" charset="0"/>
                        </a:rPr>
                        <a:t> EAQ</a:t>
                      </a:r>
                    </a:p>
                    <a:p>
                      <a:pPr marL="0" marR="0" indent="0" algn="l" defTabSz="914400" rtl="0" eaLnBrk="1" fontAlgn="auto" latinLnBrk="0" hangingPunct="1">
                        <a:lnSpc>
                          <a:spcPct val="100000"/>
                        </a:lnSpc>
                        <a:spcBef>
                          <a:spcPts val="0"/>
                        </a:spcBef>
                        <a:spcAft>
                          <a:spcPts val="0"/>
                        </a:spcAft>
                        <a:buClrTx/>
                        <a:buSzTx/>
                        <a:buFontTx/>
                        <a:buNone/>
                        <a:tabLst/>
                        <a:defRPr/>
                      </a:pPr>
                      <a:r>
                        <a:rPr lang="en-IN" sz="1600" dirty="0" smtClean="0">
                          <a:latin typeface="Times New Roman" pitchFamily="18" charset="0"/>
                          <a:cs typeface="Times New Roman" pitchFamily="18" charset="0"/>
                        </a:rPr>
                        <a:t>Add B′+1</a:t>
                      </a:r>
                    </a:p>
                    <a:p>
                      <a:pPr marL="0" marR="0" indent="0" algn="l" defTabSz="914400" rtl="0" eaLnBrk="1" fontAlgn="auto" latinLnBrk="0" hangingPunct="1">
                        <a:lnSpc>
                          <a:spcPct val="100000"/>
                        </a:lnSpc>
                        <a:spcBef>
                          <a:spcPts val="0"/>
                        </a:spcBef>
                        <a:spcAft>
                          <a:spcPts val="0"/>
                        </a:spcAft>
                        <a:buClrTx/>
                        <a:buSzTx/>
                        <a:buFontTx/>
                        <a:buNone/>
                        <a:tabLst/>
                        <a:defRPr/>
                      </a:pPr>
                      <a:r>
                        <a:rPr lang="en-IN" sz="1600" dirty="0" smtClean="0">
                          <a:latin typeface="Times New Roman" pitchFamily="18" charset="0"/>
                          <a:cs typeface="Times New Roman" pitchFamily="18" charset="0"/>
                        </a:rPr>
                        <a:t>Set </a:t>
                      </a:r>
                      <a:r>
                        <a:rPr lang="en-IN" sz="1600" dirty="0" err="1" smtClean="0">
                          <a:latin typeface="Times New Roman" pitchFamily="18" charset="0"/>
                          <a:cs typeface="Times New Roman" pitchFamily="18" charset="0"/>
                        </a:rPr>
                        <a:t>Qn</a:t>
                      </a:r>
                      <a:r>
                        <a:rPr lang="en-IN" sz="1600" dirty="0" smtClean="0">
                          <a:latin typeface="Times New Roman" pitchFamily="18" charset="0"/>
                          <a:cs typeface="Times New Roman" pitchFamily="18" charset="0"/>
                        </a:rPr>
                        <a:t> = 1 as E=1</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0</a:t>
                      </a: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1</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10110</a:t>
                      </a:r>
                    </a:p>
                    <a:p>
                      <a:r>
                        <a:rPr lang="en-IN" sz="1600" dirty="0" smtClean="0">
                          <a:latin typeface="Times New Roman" pitchFamily="18" charset="0"/>
                          <a:cs typeface="Times New Roman" pitchFamily="18" charset="0"/>
                        </a:rPr>
                        <a:t>01111</a:t>
                      </a:r>
                    </a:p>
                    <a:p>
                      <a:r>
                        <a:rPr lang="en-IN" sz="1600" dirty="0" smtClean="0">
                          <a:latin typeface="Times New Roman" pitchFamily="18" charset="0"/>
                          <a:cs typeface="Times New Roman" pitchFamily="18" charset="0"/>
                        </a:rPr>
                        <a:t>00101</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00010</a:t>
                      </a: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00011</a:t>
                      </a:r>
                      <a:endParaRPr lang="en-IN" sz="1600" dirty="0">
                        <a:latin typeface="Times New Roman" pitchFamily="18" charset="0"/>
                        <a:cs typeface="Times New Roman" pitchFamily="18" charset="0"/>
                      </a:endParaRPr>
                    </a:p>
                  </a:txBody>
                  <a:tcPr/>
                </a:tc>
                <a:tc>
                  <a:txBody>
                    <a:bodyPr/>
                    <a:lstStyle/>
                    <a:p>
                      <a:endParaRPr lang="en-IN" sz="1600" dirty="0" smtClean="0">
                        <a:latin typeface="Times New Roman" pitchFamily="18" charset="0"/>
                        <a:cs typeface="Times New Roman" pitchFamily="18" charset="0"/>
                      </a:endParaRP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011</a:t>
                      </a:r>
                      <a:endParaRPr lang="en-IN" sz="1600" dirty="0">
                        <a:latin typeface="Times New Roman" pitchFamily="18" charset="0"/>
                        <a:cs typeface="Times New Roman" pitchFamily="18" charset="0"/>
                      </a:endParaRPr>
                    </a:p>
                  </a:txBody>
                  <a:tcPr/>
                </a:tc>
              </a:tr>
              <a:tr h="370840">
                <a:tc>
                  <a:txBody>
                    <a:bodyPr/>
                    <a:lstStyle/>
                    <a:p>
                      <a:r>
                        <a:rPr lang="en-IN" sz="1600" dirty="0" err="1" smtClean="0">
                          <a:latin typeface="Times New Roman" pitchFamily="18" charset="0"/>
                          <a:cs typeface="Times New Roman" pitchFamily="18" charset="0"/>
                        </a:rPr>
                        <a:t>Shl</a:t>
                      </a:r>
                      <a:r>
                        <a:rPr lang="en-IN" sz="1600" dirty="0" smtClean="0">
                          <a:latin typeface="Times New Roman" pitchFamily="18" charset="0"/>
                          <a:cs typeface="Times New Roman" pitchFamily="18" charset="0"/>
                        </a:rPr>
                        <a:t> EAQ</a:t>
                      </a:r>
                    </a:p>
                    <a:p>
                      <a:pPr marL="0" marR="0" indent="0" algn="l" defTabSz="914400" rtl="0" eaLnBrk="1" fontAlgn="auto" latinLnBrk="0" hangingPunct="1">
                        <a:lnSpc>
                          <a:spcPct val="100000"/>
                        </a:lnSpc>
                        <a:spcBef>
                          <a:spcPts val="0"/>
                        </a:spcBef>
                        <a:spcAft>
                          <a:spcPts val="0"/>
                        </a:spcAft>
                        <a:buClrTx/>
                        <a:buSzTx/>
                        <a:buFontTx/>
                        <a:buNone/>
                        <a:tabLst/>
                        <a:defRPr/>
                      </a:pPr>
                      <a:r>
                        <a:rPr lang="en-IN" sz="1600" dirty="0" smtClean="0">
                          <a:latin typeface="Times New Roman" pitchFamily="18" charset="0"/>
                          <a:cs typeface="Times New Roman" pitchFamily="18" charset="0"/>
                        </a:rPr>
                        <a:t>Add B′+1</a:t>
                      </a:r>
                    </a:p>
                    <a:p>
                      <a:r>
                        <a:rPr lang="en-IN" sz="1600" dirty="0" smtClean="0">
                          <a:latin typeface="Times New Roman" pitchFamily="18" charset="0"/>
                          <a:cs typeface="Times New Roman" pitchFamily="18" charset="0"/>
                        </a:rPr>
                        <a:t>E = 0, </a:t>
                      </a:r>
                      <a:r>
                        <a:rPr lang="en-IN" sz="1600" dirty="0" err="1" smtClean="0">
                          <a:latin typeface="Times New Roman" pitchFamily="18" charset="0"/>
                          <a:cs typeface="Times New Roman" pitchFamily="18" charset="0"/>
                        </a:rPr>
                        <a:t>Qn</a:t>
                      </a:r>
                      <a:r>
                        <a:rPr lang="en-IN" sz="1600" dirty="0" smtClean="0">
                          <a:latin typeface="Times New Roman" pitchFamily="18" charset="0"/>
                          <a:cs typeface="Times New Roman" pitchFamily="18" charset="0"/>
                        </a:rPr>
                        <a:t> = 0</a:t>
                      </a:r>
                    </a:p>
                    <a:p>
                      <a:r>
                        <a:rPr lang="en-IN" sz="1600" dirty="0" smtClean="0">
                          <a:latin typeface="Times New Roman" pitchFamily="18" charset="0"/>
                          <a:cs typeface="Times New Roman" pitchFamily="18" charset="0"/>
                        </a:rPr>
                        <a:t>Add B</a:t>
                      </a:r>
                    </a:p>
                    <a:p>
                      <a:r>
                        <a:rPr lang="en-IN" sz="1600" dirty="0" smtClean="0">
                          <a:latin typeface="Times New Roman" pitchFamily="18" charset="0"/>
                          <a:cs typeface="Times New Roman" pitchFamily="18" charset="0"/>
                        </a:rPr>
                        <a:t>Restore remainder</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0</a:t>
                      </a: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0</a:t>
                      </a: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1</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01010</a:t>
                      </a:r>
                    </a:p>
                    <a:p>
                      <a:r>
                        <a:rPr lang="en-IN" sz="1600" dirty="0" smtClean="0">
                          <a:latin typeface="Times New Roman" pitchFamily="18" charset="0"/>
                          <a:cs typeface="Times New Roman" pitchFamily="18" charset="0"/>
                        </a:rPr>
                        <a:t>01111</a:t>
                      </a:r>
                    </a:p>
                    <a:p>
                      <a:r>
                        <a:rPr lang="en-IN" sz="1600" dirty="0" smtClean="0">
                          <a:latin typeface="Times New Roman" pitchFamily="18" charset="0"/>
                          <a:cs typeface="Times New Roman" pitchFamily="18" charset="0"/>
                        </a:rPr>
                        <a:t>11001</a:t>
                      </a:r>
                    </a:p>
                    <a:p>
                      <a:r>
                        <a:rPr lang="en-IN" sz="1600" dirty="0" smtClean="0">
                          <a:latin typeface="Times New Roman" pitchFamily="18" charset="0"/>
                          <a:cs typeface="Times New Roman" pitchFamily="18" charset="0"/>
                        </a:rPr>
                        <a:t>10001</a:t>
                      </a:r>
                    </a:p>
                    <a:p>
                      <a:r>
                        <a:rPr lang="en-IN" sz="1600" dirty="0" smtClean="0">
                          <a:latin typeface="Times New Roman" pitchFamily="18" charset="0"/>
                          <a:cs typeface="Times New Roman" pitchFamily="18" charset="0"/>
                        </a:rPr>
                        <a:t>01010</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00110</a:t>
                      </a: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00110</a:t>
                      </a: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00110</a:t>
                      </a:r>
                      <a:endParaRPr lang="en-IN" sz="1600" dirty="0">
                        <a:latin typeface="Times New Roman" pitchFamily="18" charset="0"/>
                        <a:cs typeface="Times New Roman" pitchFamily="18" charset="0"/>
                      </a:endParaRPr>
                    </a:p>
                  </a:txBody>
                  <a:tcPr/>
                </a:tc>
                <a:tc>
                  <a:txBody>
                    <a:bodyPr/>
                    <a:lstStyle/>
                    <a:p>
                      <a:endParaRPr lang="en-IN" sz="1600" dirty="0" smtClean="0">
                        <a:latin typeface="Times New Roman" pitchFamily="18" charset="0"/>
                        <a:cs typeface="Times New Roman" pitchFamily="18" charset="0"/>
                      </a:endParaRPr>
                    </a:p>
                    <a:p>
                      <a:endParaRPr lang="en-IN" sz="1600" dirty="0" smtClean="0">
                        <a:latin typeface="Times New Roman" pitchFamily="18" charset="0"/>
                        <a:cs typeface="Times New Roman" pitchFamily="18" charset="0"/>
                      </a:endParaRPr>
                    </a:p>
                    <a:p>
                      <a:endParaRPr lang="en-IN" sz="1600" dirty="0" smtClean="0">
                        <a:latin typeface="Times New Roman" pitchFamily="18" charset="0"/>
                        <a:cs typeface="Times New Roman" pitchFamily="18" charset="0"/>
                      </a:endParaRP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010</a:t>
                      </a:r>
                      <a:endParaRPr lang="en-IN" sz="1600" dirty="0">
                        <a:latin typeface="Times New Roman" pitchFamily="18" charset="0"/>
                        <a:cs typeface="Times New Roman" pitchFamily="18" charset="0"/>
                      </a:endParaRP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600" dirty="0" err="1" smtClean="0">
                          <a:latin typeface="Times New Roman" pitchFamily="18" charset="0"/>
                          <a:cs typeface="Times New Roman" pitchFamily="18" charset="0"/>
                        </a:rPr>
                        <a:t>Shl</a:t>
                      </a:r>
                      <a:r>
                        <a:rPr lang="en-IN" sz="1600" dirty="0" smtClean="0">
                          <a:latin typeface="Times New Roman" pitchFamily="18" charset="0"/>
                          <a:cs typeface="Times New Roman" pitchFamily="18" charset="0"/>
                        </a:rPr>
                        <a:t> EAQ</a:t>
                      </a:r>
                    </a:p>
                    <a:p>
                      <a:pPr marL="0" marR="0" indent="0" algn="l" defTabSz="914400" rtl="0" eaLnBrk="1" fontAlgn="auto" latinLnBrk="0" hangingPunct="1">
                        <a:lnSpc>
                          <a:spcPct val="100000"/>
                        </a:lnSpc>
                        <a:spcBef>
                          <a:spcPts val="0"/>
                        </a:spcBef>
                        <a:spcAft>
                          <a:spcPts val="0"/>
                        </a:spcAft>
                        <a:buClrTx/>
                        <a:buSzTx/>
                        <a:buFontTx/>
                        <a:buNone/>
                        <a:tabLst/>
                        <a:defRPr/>
                      </a:pPr>
                      <a:r>
                        <a:rPr lang="en-IN" sz="1600" dirty="0" smtClean="0">
                          <a:latin typeface="Times New Roman" pitchFamily="18" charset="0"/>
                          <a:cs typeface="Times New Roman" pitchFamily="18" charset="0"/>
                        </a:rPr>
                        <a:t>Add B′+1</a:t>
                      </a:r>
                    </a:p>
                    <a:p>
                      <a:pPr marL="0" marR="0" indent="0" algn="l" defTabSz="914400" rtl="0" eaLnBrk="1" fontAlgn="auto" latinLnBrk="0" hangingPunct="1">
                        <a:lnSpc>
                          <a:spcPct val="100000"/>
                        </a:lnSpc>
                        <a:spcBef>
                          <a:spcPts val="0"/>
                        </a:spcBef>
                        <a:spcAft>
                          <a:spcPts val="0"/>
                        </a:spcAft>
                        <a:buClrTx/>
                        <a:buSzTx/>
                        <a:buFontTx/>
                        <a:buNone/>
                        <a:tabLst/>
                        <a:defRPr/>
                      </a:pPr>
                      <a:r>
                        <a:rPr lang="en-IN" sz="1600" dirty="0" smtClean="0">
                          <a:latin typeface="Times New Roman" pitchFamily="18" charset="0"/>
                          <a:cs typeface="Times New Roman" pitchFamily="18" charset="0"/>
                        </a:rPr>
                        <a:t>Set</a:t>
                      </a:r>
                      <a:r>
                        <a:rPr lang="en-IN" sz="1600" baseline="0" dirty="0" smtClean="0">
                          <a:latin typeface="Times New Roman" pitchFamily="18" charset="0"/>
                          <a:cs typeface="Times New Roman" pitchFamily="18" charset="0"/>
                        </a:rPr>
                        <a:t> </a:t>
                      </a:r>
                      <a:r>
                        <a:rPr lang="en-IN" sz="1600" baseline="0" dirty="0" err="1" smtClean="0">
                          <a:latin typeface="Times New Roman" pitchFamily="18" charset="0"/>
                          <a:cs typeface="Times New Roman" pitchFamily="18" charset="0"/>
                        </a:rPr>
                        <a:t>Qn</a:t>
                      </a:r>
                      <a:r>
                        <a:rPr lang="en-IN" sz="1600" baseline="0" dirty="0" smtClean="0">
                          <a:latin typeface="Times New Roman" pitchFamily="18" charset="0"/>
                          <a:cs typeface="Times New Roman" pitchFamily="18" charset="0"/>
                        </a:rPr>
                        <a:t> = 1 as E =1</a:t>
                      </a:r>
                      <a:endParaRPr lang="en-IN" sz="1600" dirty="0" smtClean="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0</a:t>
                      </a: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1</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10100</a:t>
                      </a:r>
                    </a:p>
                    <a:p>
                      <a:r>
                        <a:rPr lang="en-IN" sz="1600" dirty="0" smtClean="0">
                          <a:latin typeface="Times New Roman" pitchFamily="18" charset="0"/>
                          <a:cs typeface="Times New Roman" pitchFamily="18" charset="0"/>
                        </a:rPr>
                        <a:t>01111</a:t>
                      </a:r>
                    </a:p>
                    <a:p>
                      <a:r>
                        <a:rPr lang="en-IN" sz="1600" dirty="0" smtClean="0">
                          <a:latin typeface="Times New Roman" pitchFamily="18" charset="0"/>
                          <a:cs typeface="Times New Roman" pitchFamily="18" charset="0"/>
                        </a:rPr>
                        <a:t>00011</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01100</a:t>
                      </a: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01101</a:t>
                      </a:r>
                      <a:endParaRPr lang="en-IN" sz="1600" dirty="0">
                        <a:latin typeface="Times New Roman" pitchFamily="18" charset="0"/>
                        <a:cs typeface="Times New Roman" pitchFamily="18" charset="0"/>
                      </a:endParaRPr>
                    </a:p>
                  </a:txBody>
                  <a:tcPr/>
                </a:tc>
                <a:tc>
                  <a:txBody>
                    <a:bodyPr/>
                    <a:lstStyle/>
                    <a:p>
                      <a:endParaRPr lang="en-IN" sz="1600" dirty="0" smtClean="0">
                        <a:latin typeface="Times New Roman" pitchFamily="18" charset="0"/>
                        <a:cs typeface="Times New Roman" pitchFamily="18" charset="0"/>
                      </a:endParaRP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001</a:t>
                      </a:r>
                      <a:endParaRPr lang="en-IN" sz="1600" dirty="0">
                        <a:latin typeface="Times New Roman" pitchFamily="18" charset="0"/>
                        <a:cs typeface="Times New Roman" pitchFamily="18" charset="0"/>
                      </a:endParaRPr>
                    </a:p>
                  </a:txBody>
                  <a:tcPr/>
                </a:tc>
              </a:tr>
              <a:tr h="370840">
                <a:tc>
                  <a:txBody>
                    <a:bodyPr/>
                    <a:lstStyle/>
                    <a:p>
                      <a:r>
                        <a:rPr lang="en-IN" sz="1600" dirty="0" err="1" smtClean="0">
                          <a:latin typeface="Times New Roman" pitchFamily="18" charset="0"/>
                          <a:cs typeface="Times New Roman" pitchFamily="18" charset="0"/>
                        </a:rPr>
                        <a:t>Shl</a:t>
                      </a:r>
                      <a:r>
                        <a:rPr lang="en-IN" sz="1600" dirty="0" smtClean="0">
                          <a:latin typeface="Times New Roman" pitchFamily="18" charset="0"/>
                          <a:cs typeface="Times New Roman" pitchFamily="18" charset="0"/>
                        </a:rPr>
                        <a:t> EAQ</a:t>
                      </a:r>
                    </a:p>
                    <a:p>
                      <a:pPr marL="0" marR="0" indent="0" algn="l" defTabSz="914400" rtl="0" eaLnBrk="1" fontAlgn="auto" latinLnBrk="0" hangingPunct="1">
                        <a:lnSpc>
                          <a:spcPct val="100000"/>
                        </a:lnSpc>
                        <a:spcBef>
                          <a:spcPts val="0"/>
                        </a:spcBef>
                        <a:spcAft>
                          <a:spcPts val="0"/>
                        </a:spcAft>
                        <a:buClrTx/>
                        <a:buSzTx/>
                        <a:buFontTx/>
                        <a:buNone/>
                        <a:tabLst/>
                        <a:defRPr/>
                      </a:pPr>
                      <a:r>
                        <a:rPr lang="en-IN" sz="1600" dirty="0" smtClean="0">
                          <a:latin typeface="Times New Roman" pitchFamily="18" charset="0"/>
                          <a:cs typeface="Times New Roman" pitchFamily="18" charset="0"/>
                        </a:rPr>
                        <a:t>Add B′+1</a:t>
                      </a:r>
                    </a:p>
                    <a:p>
                      <a:r>
                        <a:rPr lang="en-IN" sz="1600" dirty="0" smtClean="0">
                          <a:latin typeface="Times New Roman" pitchFamily="18" charset="0"/>
                          <a:cs typeface="Times New Roman" pitchFamily="18" charset="0"/>
                        </a:rPr>
                        <a:t>E=0, </a:t>
                      </a:r>
                      <a:r>
                        <a:rPr lang="en-IN" sz="1600" dirty="0" err="1" smtClean="0">
                          <a:latin typeface="Times New Roman" pitchFamily="18" charset="0"/>
                          <a:cs typeface="Times New Roman" pitchFamily="18" charset="0"/>
                        </a:rPr>
                        <a:t>Qn</a:t>
                      </a:r>
                      <a:r>
                        <a:rPr lang="en-IN" sz="1600" dirty="0" smtClean="0">
                          <a:latin typeface="Times New Roman" pitchFamily="18" charset="0"/>
                          <a:cs typeface="Times New Roman" pitchFamily="18" charset="0"/>
                        </a:rPr>
                        <a:t>=0</a:t>
                      </a:r>
                    </a:p>
                    <a:p>
                      <a:r>
                        <a:rPr lang="en-IN" sz="1600" dirty="0" smtClean="0">
                          <a:latin typeface="Times New Roman" pitchFamily="18" charset="0"/>
                          <a:cs typeface="Times New Roman" pitchFamily="18" charset="0"/>
                        </a:rPr>
                        <a:t>Add B</a:t>
                      </a:r>
                    </a:p>
                    <a:p>
                      <a:r>
                        <a:rPr lang="en-IN" sz="1600" dirty="0" smtClean="0">
                          <a:latin typeface="Times New Roman" pitchFamily="18" charset="0"/>
                          <a:cs typeface="Times New Roman" pitchFamily="18" charset="0"/>
                        </a:rPr>
                        <a:t>Restore remainder</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0</a:t>
                      </a: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0</a:t>
                      </a: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1</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00110</a:t>
                      </a:r>
                    </a:p>
                    <a:p>
                      <a:r>
                        <a:rPr lang="en-IN" sz="1600" dirty="0" smtClean="0">
                          <a:latin typeface="Times New Roman" pitchFamily="18" charset="0"/>
                          <a:cs typeface="Times New Roman" pitchFamily="18" charset="0"/>
                        </a:rPr>
                        <a:t>01111</a:t>
                      </a:r>
                    </a:p>
                    <a:p>
                      <a:r>
                        <a:rPr lang="en-IN" sz="1600" dirty="0" smtClean="0">
                          <a:latin typeface="Times New Roman" pitchFamily="18" charset="0"/>
                          <a:cs typeface="Times New Roman" pitchFamily="18" charset="0"/>
                        </a:rPr>
                        <a:t>10101</a:t>
                      </a:r>
                    </a:p>
                    <a:p>
                      <a:r>
                        <a:rPr lang="en-IN" sz="1600" dirty="0" smtClean="0">
                          <a:latin typeface="Times New Roman" pitchFamily="18" charset="0"/>
                          <a:cs typeface="Times New Roman" pitchFamily="18" charset="0"/>
                        </a:rPr>
                        <a:t>10001</a:t>
                      </a:r>
                    </a:p>
                    <a:p>
                      <a:r>
                        <a:rPr lang="en-IN" sz="1600" dirty="0" smtClean="0">
                          <a:solidFill>
                            <a:srgbClr val="FF0000"/>
                          </a:solidFill>
                          <a:latin typeface="Times New Roman" pitchFamily="18" charset="0"/>
                          <a:cs typeface="Times New Roman" pitchFamily="18" charset="0"/>
                        </a:rPr>
                        <a:t>00110</a:t>
                      </a:r>
                      <a:endParaRPr lang="en-IN" sz="1600" dirty="0">
                        <a:solidFill>
                          <a:srgbClr val="FF0000"/>
                        </a:solidFill>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11010</a:t>
                      </a: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11010</a:t>
                      </a:r>
                    </a:p>
                    <a:p>
                      <a:endParaRPr lang="en-IN" sz="1600" dirty="0" smtClean="0">
                        <a:latin typeface="Times New Roman" pitchFamily="18" charset="0"/>
                        <a:cs typeface="Times New Roman" pitchFamily="18" charset="0"/>
                      </a:endParaRPr>
                    </a:p>
                    <a:p>
                      <a:r>
                        <a:rPr lang="en-IN" sz="1600" dirty="0" smtClean="0">
                          <a:solidFill>
                            <a:srgbClr val="FF0000"/>
                          </a:solidFill>
                          <a:latin typeface="Times New Roman" pitchFamily="18" charset="0"/>
                          <a:cs typeface="Times New Roman" pitchFamily="18" charset="0"/>
                        </a:rPr>
                        <a:t>11010</a:t>
                      </a:r>
                      <a:endParaRPr lang="en-IN" sz="1600" dirty="0">
                        <a:solidFill>
                          <a:srgbClr val="FF0000"/>
                        </a:solidFill>
                        <a:latin typeface="Times New Roman" pitchFamily="18" charset="0"/>
                        <a:cs typeface="Times New Roman" pitchFamily="18" charset="0"/>
                      </a:endParaRPr>
                    </a:p>
                  </a:txBody>
                  <a:tcPr/>
                </a:tc>
                <a:tc>
                  <a:txBody>
                    <a:bodyPr/>
                    <a:lstStyle/>
                    <a:p>
                      <a:endParaRPr lang="en-IN" sz="1600" dirty="0" smtClean="0">
                        <a:latin typeface="Times New Roman" pitchFamily="18" charset="0"/>
                        <a:cs typeface="Times New Roman" pitchFamily="18" charset="0"/>
                      </a:endParaRPr>
                    </a:p>
                    <a:p>
                      <a:endParaRPr lang="en-IN" sz="1600" dirty="0" smtClean="0">
                        <a:latin typeface="Times New Roman" pitchFamily="18" charset="0"/>
                        <a:cs typeface="Times New Roman" pitchFamily="18" charset="0"/>
                      </a:endParaRPr>
                    </a:p>
                    <a:p>
                      <a:endParaRPr lang="en-IN" sz="1600" dirty="0" smtClean="0">
                        <a:latin typeface="Times New Roman" pitchFamily="18" charset="0"/>
                        <a:cs typeface="Times New Roman" pitchFamily="18" charset="0"/>
                      </a:endParaRP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000</a:t>
                      </a:r>
                      <a:endParaRPr lang="en-IN" sz="1600" dirty="0">
                        <a:latin typeface="Times New Roman" pitchFamily="18" charset="0"/>
                        <a:cs typeface="Times New Roman" pitchFamily="18" charset="0"/>
                      </a:endParaRPr>
                    </a:p>
                  </a:txBody>
                  <a:tcPr/>
                </a:tc>
              </a:tr>
            </a:tbl>
          </a:graphicData>
        </a:graphic>
      </p:graphicFrame>
      <p:sp>
        <p:nvSpPr>
          <p:cNvPr id="107" name="TextBox 106"/>
          <p:cNvSpPr txBox="1"/>
          <p:nvPr/>
        </p:nvSpPr>
        <p:spPr>
          <a:xfrm>
            <a:off x="4673599" y="0"/>
            <a:ext cx="7344229" cy="3416320"/>
          </a:xfrm>
          <a:prstGeom prst="rect">
            <a:avLst/>
          </a:prstGeom>
          <a:noFill/>
        </p:spPr>
        <p:txBody>
          <a:bodyPr wrap="square" rtlCol="0">
            <a:spAutoFit/>
          </a:bodyPr>
          <a:lstStyle/>
          <a:p>
            <a:r>
              <a:rPr lang="en-IN" dirty="0" smtClean="0">
                <a:latin typeface="Times New Roman" pitchFamily="18" charset="0"/>
                <a:cs typeface="Times New Roman" pitchFamily="18" charset="0"/>
              </a:rPr>
              <a:t>E = end carry information about the relative magnitude of A and B</a:t>
            </a:r>
          </a:p>
          <a:p>
            <a:r>
              <a:rPr lang="en-IN" dirty="0" smtClean="0">
                <a:latin typeface="Times New Roman" pitchFamily="18" charset="0"/>
                <a:cs typeface="Times New Roman" pitchFamily="18" charset="0"/>
              </a:rPr>
              <a:t>   = 1 if A≥B and quotient, </a:t>
            </a:r>
            <a:r>
              <a:rPr lang="en-IN" dirty="0" err="1" smtClean="0">
                <a:latin typeface="Times New Roman" pitchFamily="18" charset="0"/>
                <a:cs typeface="Times New Roman" pitchFamily="18" charset="0"/>
              </a:rPr>
              <a:t>Qn</a:t>
            </a:r>
            <a:r>
              <a:rPr lang="en-IN" dirty="0" smtClean="0">
                <a:latin typeface="Times New Roman" pitchFamily="18" charset="0"/>
                <a:cs typeface="Times New Roman" pitchFamily="18" charset="0"/>
              </a:rPr>
              <a:t> = 1</a:t>
            </a:r>
          </a:p>
          <a:p>
            <a:r>
              <a:rPr lang="en-IN" dirty="0" smtClean="0">
                <a:latin typeface="Times New Roman" pitchFamily="18" charset="0"/>
                <a:cs typeface="Times New Roman" pitchFamily="18" charset="0"/>
              </a:rPr>
              <a:t>   = 0 if A&lt;B and quotient </a:t>
            </a:r>
            <a:r>
              <a:rPr lang="en-IN" dirty="0" err="1" smtClean="0">
                <a:latin typeface="Times New Roman" pitchFamily="18" charset="0"/>
                <a:cs typeface="Times New Roman" pitchFamily="18" charset="0"/>
              </a:rPr>
              <a:t>Qn</a:t>
            </a:r>
            <a:r>
              <a:rPr lang="en-IN" dirty="0" smtClean="0">
                <a:latin typeface="Times New Roman" pitchFamily="18" charset="0"/>
                <a:cs typeface="Times New Roman" pitchFamily="18" charset="0"/>
              </a:rPr>
              <a:t> = 0, value of B is added to restore the partial</a:t>
            </a:r>
          </a:p>
          <a:p>
            <a:r>
              <a:rPr lang="en-IN" dirty="0" smtClean="0">
                <a:latin typeface="Times New Roman" pitchFamily="18" charset="0"/>
                <a:cs typeface="Times New Roman" pitchFamily="18" charset="0"/>
              </a:rPr>
              <a:t>      remainder in A to its previous value</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Left shifting: Partial remainder is shifted towards left, quotient bits are also shifted, after 5 shifts quotient is in Q, remainder is in A</a:t>
            </a:r>
          </a:p>
          <a:p>
            <a:endParaRPr lang="en-IN" dirty="0" smtClean="0">
              <a:latin typeface="Times New Roman" pitchFamily="18" charset="0"/>
              <a:cs typeface="Times New Roman" pitchFamily="18" charset="0"/>
            </a:endParaRPr>
          </a:p>
          <a:p>
            <a:r>
              <a:rPr lang="en-IN" dirty="0" smtClean="0">
                <a:latin typeface="Times New Roman" pitchFamily="18" charset="0"/>
                <a:cs typeface="Times New Roman" pitchFamily="18" charset="0"/>
              </a:rPr>
              <a:t>Divide overflow: Division operation may result in a quotient with an overflow</a:t>
            </a:r>
          </a:p>
          <a:p>
            <a:r>
              <a:rPr lang="en-IN" dirty="0" smtClean="0">
                <a:latin typeface="Times New Roman" pitchFamily="18" charset="0"/>
                <a:cs typeface="Times New Roman" pitchFamily="18" charset="0"/>
              </a:rPr>
              <a:t>Consider a system with 5 bits registers. If 5 MSBs of A &gt; B, size of the quotient becomes 6 bits, causes overflow, divide overflow flag (DVF) is set</a:t>
            </a:r>
          </a:p>
        </p:txBody>
      </p:sp>
      <p:sp>
        <p:nvSpPr>
          <p:cNvPr id="4" name="TextBox 3"/>
          <p:cNvSpPr txBox="1"/>
          <p:nvPr/>
        </p:nvSpPr>
        <p:spPr>
          <a:xfrm>
            <a:off x="1074058" y="6371772"/>
            <a:ext cx="1001484"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Remainder </a:t>
            </a:r>
            <a:endParaRPr lang="en-IN" sz="1400" dirty="0">
              <a:latin typeface="Times New Roman" pitchFamily="18" charset="0"/>
              <a:cs typeface="Times New Roman" pitchFamily="18" charset="0"/>
            </a:endParaRPr>
          </a:p>
        </p:txBody>
      </p:sp>
      <p:sp>
        <p:nvSpPr>
          <p:cNvPr id="5" name="TextBox 4"/>
          <p:cNvSpPr txBox="1"/>
          <p:nvPr/>
        </p:nvSpPr>
        <p:spPr>
          <a:xfrm>
            <a:off x="3635830" y="6350000"/>
            <a:ext cx="849084"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Quotient</a:t>
            </a:r>
            <a:endParaRPr lang="en-IN" sz="1400" dirty="0">
              <a:latin typeface="Times New Roman" pitchFamily="18" charset="0"/>
              <a:cs typeface="Times New Roman" pitchFamily="18" charset="0"/>
            </a:endParaRPr>
          </a:p>
        </p:txBody>
      </p:sp>
      <p:cxnSp>
        <p:nvCxnSpPr>
          <p:cNvPr id="7" name="Straight Arrow Connector 6"/>
          <p:cNvCxnSpPr/>
          <p:nvPr/>
        </p:nvCxnSpPr>
        <p:spPr>
          <a:xfrm rot="10800000" flipV="1">
            <a:off x="1756229" y="6212114"/>
            <a:ext cx="841828" cy="29028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3526971" y="6255657"/>
            <a:ext cx="377372" cy="21771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2373085" y="1741714"/>
            <a:ext cx="863601" cy="725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V="1">
            <a:off x="2380341" y="3418114"/>
            <a:ext cx="863601" cy="725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2387599" y="3875315"/>
            <a:ext cx="863601" cy="725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2380341" y="5522686"/>
            <a:ext cx="863601" cy="725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2373085" y="4702629"/>
            <a:ext cx="863601" cy="725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V="1">
            <a:off x="2380341" y="2561772"/>
            <a:ext cx="863601" cy="725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2373085" y="6008914"/>
            <a:ext cx="863601" cy="725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a:off x="3577771" y="4651828"/>
            <a:ext cx="30480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rot="5400000">
            <a:off x="3592285" y="2503714"/>
            <a:ext cx="30480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rot="5400000">
            <a:off x="3599542" y="1683658"/>
            <a:ext cx="30480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9804400" y="3701067"/>
            <a:ext cx="892629"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Shift left</a:t>
            </a:r>
            <a:endParaRPr lang="en-IN" sz="1400" dirty="0">
              <a:latin typeface="Times New Roman" pitchFamily="18" charset="0"/>
              <a:cs typeface="Times New Roman" pitchFamily="18" charset="0"/>
            </a:endParaRPr>
          </a:p>
        </p:txBody>
      </p:sp>
      <p:cxnSp>
        <p:nvCxnSpPr>
          <p:cNvPr id="27" name="Straight Arrow Connector 26"/>
          <p:cNvCxnSpPr/>
          <p:nvPr/>
        </p:nvCxnSpPr>
        <p:spPr>
          <a:xfrm rot="5400000">
            <a:off x="10072916" y="3654624"/>
            <a:ext cx="261259"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10800000" flipV="1">
            <a:off x="8287657" y="3525579"/>
            <a:ext cx="1911534" cy="2744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16200000" flipV="1">
            <a:off x="9085946" y="5657597"/>
            <a:ext cx="217713" cy="1451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5400000">
            <a:off x="6887033" y="4924624"/>
            <a:ext cx="2801254" cy="6"/>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9187543" y="5728716"/>
            <a:ext cx="2153922" cy="3047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rot="10800000">
            <a:off x="10624459" y="6309287"/>
            <a:ext cx="711199" cy="145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4" name="Rectangle 33"/>
          <p:cNvSpPr/>
          <p:nvPr/>
        </p:nvSpPr>
        <p:spPr>
          <a:xfrm>
            <a:off x="9842140" y="3735899"/>
            <a:ext cx="767804" cy="2380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35" name="Rectangle 34"/>
          <p:cNvSpPr/>
          <p:nvPr/>
        </p:nvSpPr>
        <p:spPr>
          <a:xfrm>
            <a:off x="9776824" y="4294700"/>
            <a:ext cx="833120" cy="4484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36" name="TextBox 35"/>
          <p:cNvSpPr txBox="1"/>
          <p:nvPr/>
        </p:nvSpPr>
        <p:spPr>
          <a:xfrm>
            <a:off x="9753603" y="4251158"/>
            <a:ext cx="943426" cy="523220"/>
          </a:xfrm>
          <a:prstGeom prst="rect">
            <a:avLst/>
          </a:prstGeom>
          <a:noFill/>
        </p:spPr>
        <p:txBody>
          <a:bodyPr wrap="square" rtlCol="0">
            <a:spAutoFit/>
          </a:bodyPr>
          <a:lstStyle/>
          <a:p>
            <a:r>
              <a:rPr lang="en-IN" sz="1400" dirty="0" smtClean="0">
                <a:latin typeface="Times New Roman" pitchFamily="18" charset="0"/>
                <a:cs typeface="Times New Roman" pitchFamily="18" charset="0"/>
              </a:rPr>
              <a:t>Add B′+1 to A </a:t>
            </a:r>
            <a:endParaRPr lang="en-IN" sz="1400" dirty="0" smtClean="0">
              <a:latin typeface="Times New Roman" pitchFamily="18" charset="0"/>
              <a:cs typeface="Times New Roman" pitchFamily="18" charset="0"/>
              <a:sym typeface="Symbol"/>
            </a:endParaRPr>
          </a:p>
        </p:txBody>
      </p:sp>
      <p:sp>
        <p:nvSpPr>
          <p:cNvPr id="37" name="Diamond 36"/>
          <p:cNvSpPr/>
          <p:nvPr/>
        </p:nvSpPr>
        <p:spPr>
          <a:xfrm>
            <a:off x="9821818" y="5058152"/>
            <a:ext cx="744584" cy="444137"/>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38" name="TextBox 37"/>
          <p:cNvSpPr txBox="1"/>
          <p:nvPr/>
        </p:nvSpPr>
        <p:spPr>
          <a:xfrm>
            <a:off x="9879875" y="5130722"/>
            <a:ext cx="672012" cy="309158"/>
          </a:xfrm>
          <a:prstGeom prst="rect">
            <a:avLst/>
          </a:prstGeom>
          <a:noFill/>
        </p:spPr>
        <p:txBody>
          <a:bodyPr wrap="square" rtlCol="0">
            <a:spAutoFit/>
          </a:bodyPr>
          <a:lstStyle/>
          <a:p>
            <a:r>
              <a:rPr lang="en-IN" sz="1400" dirty="0" smtClean="0">
                <a:latin typeface="Times New Roman" pitchFamily="18" charset="0"/>
                <a:cs typeface="Times New Roman" pitchFamily="18" charset="0"/>
              </a:rPr>
              <a:t>Is E=1  </a:t>
            </a:r>
            <a:endParaRPr lang="en-IN" sz="1400" dirty="0">
              <a:latin typeface="Times New Roman" pitchFamily="18" charset="0"/>
              <a:cs typeface="Times New Roman" pitchFamily="18" charset="0"/>
            </a:endParaRPr>
          </a:p>
        </p:txBody>
      </p:sp>
      <p:sp>
        <p:nvSpPr>
          <p:cNvPr id="39" name="TextBox 38"/>
          <p:cNvSpPr txBox="1"/>
          <p:nvPr/>
        </p:nvSpPr>
        <p:spPr>
          <a:xfrm>
            <a:off x="8367488" y="5013157"/>
            <a:ext cx="1081311" cy="523220"/>
          </a:xfrm>
          <a:prstGeom prst="rect">
            <a:avLst/>
          </a:prstGeom>
          <a:noFill/>
        </p:spPr>
        <p:txBody>
          <a:bodyPr wrap="square" rtlCol="0">
            <a:spAutoFit/>
          </a:bodyPr>
          <a:lstStyle/>
          <a:p>
            <a:r>
              <a:rPr lang="en-IN" sz="1400" dirty="0" err="1" smtClean="0">
                <a:latin typeface="Times New Roman" pitchFamily="18" charset="0"/>
                <a:cs typeface="Times New Roman" pitchFamily="18" charset="0"/>
              </a:rPr>
              <a:t>Qn</a:t>
            </a:r>
            <a:r>
              <a:rPr lang="en-IN" sz="1400" dirty="0" smtClean="0">
                <a:latin typeface="Times New Roman" pitchFamily="18" charset="0"/>
                <a:cs typeface="Times New Roman" pitchFamily="18" charset="0"/>
                <a:sym typeface="Symbol"/>
              </a:rPr>
              <a:t>  </a:t>
            </a:r>
            <a:r>
              <a:rPr lang="en-IN" sz="1400" dirty="0" smtClean="0">
                <a:latin typeface="Times New Roman" pitchFamily="18" charset="0"/>
                <a:cs typeface="Times New Roman" pitchFamily="18" charset="0"/>
              </a:rPr>
              <a:t>1</a:t>
            </a:r>
          </a:p>
          <a:p>
            <a:r>
              <a:rPr lang="en-IN" sz="1400" dirty="0" smtClean="0">
                <a:latin typeface="Times New Roman" pitchFamily="18" charset="0"/>
                <a:cs typeface="Times New Roman" pitchFamily="18" charset="0"/>
                <a:sym typeface="Symbol"/>
              </a:rPr>
              <a:t>SC  SC-1</a:t>
            </a:r>
          </a:p>
        </p:txBody>
      </p:sp>
      <p:sp>
        <p:nvSpPr>
          <p:cNvPr id="40" name="Rectangle 39"/>
          <p:cNvSpPr/>
          <p:nvPr/>
        </p:nvSpPr>
        <p:spPr>
          <a:xfrm>
            <a:off x="8368939" y="5092985"/>
            <a:ext cx="992776" cy="44849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41" name="TextBox 40"/>
          <p:cNvSpPr txBox="1"/>
          <p:nvPr/>
        </p:nvSpPr>
        <p:spPr>
          <a:xfrm>
            <a:off x="10914745" y="4933329"/>
            <a:ext cx="1081311" cy="738664"/>
          </a:xfrm>
          <a:prstGeom prst="rect">
            <a:avLst/>
          </a:prstGeom>
          <a:noFill/>
        </p:spPr>
        <p:txBody>
          <a:bodyPr wrap="square" rtlCol="0">
            <a:spAutoFit/>
          </a:bodyPr>
          <a:lstStyle/>
          <a:p>
            <a:r>
              <a:rPr lang="en-IN" sz="1400" dirty="0" err="1" smtClean="0">
                <a:latin typeface="Times New Roman" pitchFamily="18" charset="0"/>
                <a:cs typeface="Times New Roman" pitchFamily="18" charset="0"/>
              </a:rPr>
              <a:t>Qn</a:t>
            </a:r>
            <a:r>
              <a:rPr lang="en-IN" sz="1400" dirty="0" smtClean="0">
                <a:latin typeface="Times New Roman" pitchFamily="18" charset="0"/>
                <a:cs typeface="Times New Roman" pitchFamily="18" charset="0"/>
                <a:sym typeface="Symbol"/>
              </a:rPr>
              <a:t>  0</a:t>
            </a:r>
          </a:p>
          <a:p>
            <a:r>
              <a:rPr lang="en-IN" sz="1400" dirty="0" smtClean="0">
                <a:latin typeface="Times New Roman" pitchFamily="18" charset="0"/>
                <a:cs typeface="Times New Roman" pitchFamily="18" charset="0"/>
                <a:sym typeface="Symbol"/>
              </a:rPr>
              <a:t>A  A+B</a:t>
            </a:r>
            <a:endParaRPr lang="en-IN" sz="1400" dirty="0" smtClean="0">
              <a:latin typeface="Times New Roman" pitchFamily="18" charset="0"/>
              <a:cs typeface="Times New Roman" pitchFamily="18" charset="0"/>
            </a:endParaRPr>
          </a:p>
          <a:p>
            <a:r>
              <a:rPr lang="en-IN" sz="1400" dirty="0" smtClean="0">
                <a:latin typeface="Times New Roman" pitchFamily="18" charset="0"/>
                <a:cs typeface="Times New Roman" pitchFamily="18" charset="0"/>
                <a:sym typeface="Symbol"/>
              </a:rPr>
              <a:t>SC  SC-1</a:t>
            </a:r>
          </a:p>
        </p:txBody>
      </p:sp>
      <p:sp>
        <p:nvSpPr>
          <p:cNvPr id="42" name="Rectangle 41"/>
          <p:cNvSpPr/>
          <p:nvPr/>
        </p:nvSpPr>
        <p:spPr>
          <a:xfrm>
            <a:off x="10930711" y="4984127"/>
            <a:ext cx="992776" cy="6154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43" name="TextBox 42"/>
          <p:cNvSpPr txBox="1"/>
          <p:nvPr/>
        </p:nvSpPr>
        <p:spPr>
          <a:xfrm>
            <a:off x="9376228" y="4946395"/>
            <a:ext cx="537030" cy="304800"/>
          </a:xfrm>
          <a:prstGeom prst="rect">
            <a:avLst/>
          </a:prstGeom>
          <a:noFill/>
        </p:spPr>
        <p:txBody>
          <a:bodyPr wrap="square" rtlCol="0">
            <a:spAutoFit/>
          </a:bodyPr>
          <a:lstStyle/>
          <a:p>
            <a:r>
              <a:rPr lang="en-IN" sz="1400" dirty="0" smtClean="0">
                <a:latin typeface="Times New Roman" pitchFamily="18" charset="0"/>
                <a:cs typeface="Times New Roman" pitchFamily="18" charset="0"/>
              </a:rPr>
              <a:t>A≥B  </a:t>
            </a:r>
            <a:endParaRPr lang="en-IN" sz="1400" dirty="0">
              <a:latin typeface="Times New Roman" pitchFamily="18" charset="0"/>
              <a:cs typeface="Times New Roman" pitchFamily="18" charset="0"/>
            </a:endParaRPr>
          </a:p>
        </p:txBody>
      </p:sp>
      <p:sp>
        <p:nvSpPr>
          <p:cNvPr id="44" name="TextBox 43"/>
          <p:cNvSpPr txBox="1"/>
          <p:nvPr/>
        </p:nvSpPr>
        <p:spPr>
          <a:xfrm>
            <a:off x="9427026" y="5243939"/>
            <a:ext cx="442688"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yes   </a:t>
            </a:r>
            <a:endParaRPr lang="en-IN" sz="1400" dirty="0">
              <a:latin typeface="Times New Roman" pitchFamily="18" charset="0"/>
              <a:cs typeface="Times New Roman" pitchFamily="18" charset="0"/>
            </a:endParaRPr>
          </a:p>
        </p:txBody>
      </p:sp>
      <p:sp>
        <p:nvSpPr>
          <p:cNvPr id="45" name="TextBox 44"/>
          <p:cNvSpPr txBox="1"/>
          <p:nvPr/>
        </p:nvSpPr>
        <p:spPr>
          <a:xfrm>
            <a:off x="10493828" y="5222167"/>
            <a:ext cx="391888"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no </a:t>
            </a:r>
            <a:endParaRPr lang="en-IN" sz="1400" dirty="0">
              <a:latin typeface="Times New Roman" pitchFamily="18" charset="0"/>
              <a:cs typeface="Times New Roman" pitchFamily="18" charset="0"/>
            </a:endParaRPr>
          </a:p>
        </p:txBody>
      </p:sp>
      <p:sp>
        <p:nvSpPr>
          <p:cNvPr id="46" name="TextBox 45"/>
          <p:cNvSpPr txBox="1"/>
          <p:nvPr/>
        </p:nvSpPr>
        <p:spPr>
          <a:xfrm>
            <a:off x="10457540" y="4982680"/>
            <a:ext cx="544287"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A&lt;B </a:t>
            </a:r>
            <a:endParaRPr lang="en-IN" sz="1400" dirty="0">
              <a:latin typeface="Times New Roman" pitchFamily="18" charset="0"/>
              <a:cs typeface="Times New Roman" pitchFamily="18" charset="0"/>
            </a:endParaRPr>
          </a:p>
        </p:txBody>
      </p:sp>
      <p:sp>
        <p:nvSpPr>
          <p:cNvPr id="47" name="Diamond 46"/>
          <p:cNvSpPr/>
          <p:nvPr/>
        </p:nvSpPr>
        <p:spPr>
          <a:xfrm>
            <a:off x="9887133" y="5965295"/>
            <a:ext cx="744584" cy="679270"/>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TextBox 47"/>
          <p:cNvSpPr txBox="1"/>
          <p:nvPr/>
        </p:nvSpPr>
        <p:spPr>
          <a:xfrm>
            <a:off x="9959704" y="6037864"/>
            <a:ext cx="672012" cy="523220"/>
          </a:xfrm>
          <a:prstGeom prst="rect">
            <a:avLst/>
          </a:prstGeom>
          <a:noFill/>
        </p:spPr>
        <p:txBody>
          <a:bodyPr wrap="square" rtlCol="0">
            <a:spAutoFit/>
          </a:bodyPr>
          <a:lstStyle/>
          <a:p>
            <a:r>
              <a:rPr lang="en-IN" sz="1400" dirty="0" smtClean="0">
                <a:latin typeface="Times New Roman" pitchFamily="18" charset="0"/>
                <a:cs typeface="Times New Roman" pitchFamily="18" charset="0"/>
              </a:rPr>
              <a:t>Is SC=0 </a:t>
            </a:r>
            <a:endParaRPr lang="en-IN" sz="1400" dirty="0">
              <a:latin typeface="Times New Roman" pitchFamily="18" charset="0"/>
              <a:cs typeface="Times New Roman" pitchFamily="18" charset="0"/>
            </a:endParaRPr>
          </a:p>
        </p:txBody>
      </p:sp>
      <p:cxnSp>
        <p:nvCxnSpPr>
          <p:cNvPr id="49" name="Straight Arrow Connector 48"/>
          <p:cNvCxnSpPr/>
          <p:nvPr/>
        </p:nvCxnSpPr>
        <p:spPr>
          <a:xfrm rot="16200000" flipH="1">
            <a:off x="10018849" y="4137586"/>
            <a:ext cx="420916" cy="65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35" idx="2"/>
            <a:endCxn id="37" idx="0"/>
          </p:cNvCxnSpPr>
          <p:nvPr/>
        </p:nvCxnSpPr>
        <p:spPr>
          <a:xfrm rot="16200000" flipH="1">
            <a:off x="10036269" y="4900310"/>
            <a:ext cx="314957" cy="72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37" idx="1"/>
            <a:endCxn id="40" idx="3"/>
          </p:cNvCxnSpPr>
          <p:nvPr/>
        </p:nvCxnSpPr>
        <p:spPr>
          <a:xfrm rot="10800000" flipV="1">
            <a:off x="9361716" y="5280220"/>
            <a:ext cx="460103" cy="3701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endCxn id="42" idx="1"/>
          </p:cNvCxnSpPr>
          <p:nvPr/>
        </p:nvCxnSpPr>
        <p:spPr>
          <a:xfrm>
            <a:off x="10551886" y="5280223"/>
            <a:ext cx="378825" cy="1160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rot="16200000" flipV="1">
            <a:off x="10965547" y="5955141"/>
            <a:ext cx="718455" cy="21766"/>
          </a:xfrm>
          <a:prstGeom prst="line">
            <a:avLst/>
          </a:prstGeom>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10827655" y="5976911"/>
            <a:ext cx="442688"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yes  </a:t>
            </a:r>
            <a:endParaRPr lang="en-IN" sz="1400" dirty="0">
              <a:latin typeface="Times New Roman" pitchFamily="18" charset="0"/>
              <a:cs typeface="Times New Roman" pitchFamily="18" charset="0"/>
            </a:endParaRPr>
          </a:p>
        </p:txBody>
      </p:sp>
      <p:cxnSp>
        <p:nvCxnSpPr>
          <p:cNvPr id="55" name="Straight Connector 54"/>
          <p:cNvCxnSpPr>
            <a:stCxn id="47" idx="1"/>
          </p:cNvCxnSpPr>
          <p:nvPr/>
        </p:nvCxnSpPr>
        <p:spPr>
          <a:xfrm rot="10800000" flipV="1">
            <a:off x="8287657" y="6304929"/>
            <a:ext cx="1599476" cy="5807"/>
          </a:xfrm>
          <a:prstGeom prst="line">
            <a:avLst/>
          </a:prstGeom>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9463313" y="6063996"/>
            <a:ext cx="391888"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no </a:t>
            </a:r>
            <a:endParaRPr lang="en-IN" sz="1400" dirty="0">
              <a:latin typeface="Times New Roman" pitchFamily="18" charset="0"/>
              <a:cs typeface="Times New Roman" pitchFamily="18" charset="0"/>
            </a:endParaRPr>
          </a:p>
        </p:txBody>
      </p:sp>
      <p:sp>
        <p:nvSpPr>
          <p:cNvPr id="57" name="TextBox 56"/>
          <p:cNvSpPr txBox="1"/>
          <p:nvPr/>
        </p:nvSpPr>
        <p:spPr>
          <a:xfrm>
            <a:off x="10769600" y="3712683"/>
            <a:ext cx="1088572" cy="738664"/>
          </a:xfrm>
          <a:prstGeom prst="rect">
            <a:avLst/>
          </a:prstGeom>
          <a:noFill/>
        </p:spPr>
        <p:txBody>
          <a:bodyPr wrap="square" rtlCol="0">
            <a:spAutoFit/>
          </a:bodyPr>
          <a:lstStyle/>
          <a:p>
            <a:r>
              <a:rPr lang="en-IN" sz="1400" dirty="0" smtClean="0">
                <a:latin typeface="Times New Roman" pitchFamily="18" charset="0"/>
                <a:cs typeface="Times New Roman" pitchFamily="18" charset="0"/>
              </a:rPr>
              <a:t>No change in dividend</a:t>
            </a:r>
          </a:p>
          <a:p>
            <a:r>
              <a:rPr lang="en-IN" sz="1400" dirty="0" smtClean="0">
                <a:latin typeface="Times New Roman" pitchFamily="18" charset="0"/>
                <a:cs typeface="Times New Roman" pitchFamily="18" charset="0"/>
              </a:rPr>
              <a:t>as </a:t>
            </a:r>
            <a:r>
              <a:rPr lang="en-IN" sz="1400" dirty="0" err="1" smtClean="0">
                <a:latin typeface="Times New Roman" pitchFamily="18" charset="0"/>
                <a:cs typeface="Times New Roman" pitchFamily="18" charset="0"/>
              </a:rPr>
              <a:t>Qn</a:t>
            </a:r>
            <a:r>
              <a:rPr lang="en-IN" sz="1400" dirty="0" smtClean="0">
                <a:latin typeface="Times New Roman" pitchFamily="18" charset="0"/>
                <a:cs typeface="Times New Roman" pitchFamily="18" charset="0"/>
              </a:rPr>
              <a:t> = 0</a:t>
            </a:r>
            <a:endParaRPr lang="en-IN" sz="1400" dirty="0">
              <a:latin typeface="Times New Roman" pitchFamily="18" charset="0"/>
              <a:cs typeface="Times New Roman" pitchFamily="18" charset="0"/>
            </a:endParaRPr>
          </a:p>
        </p:txBody>
      </p:sp>
      <p:cxnSp>
        <p:nvCxnSpPr>
          <p:cNvPr id="58" name="Straight Arrow Connector 57"/>
          <p:cNvCxnSpPr/>
          <p:nvPr/>
        </p:nvCxnSpPr>
        <p:spPr>
          <a:xfrm rot="5400000" flipH="1" flipV="1">
            <a:off x="10842171" y="4714167"/>
            <a:ext cx="957945" cy="23222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6727369" y="6129309"/>
            <a:ext cx="558802"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END </a:t>
            </a:r>
            <a:endParaRPr lang="en-IN" sz="1400" dirty="0">
              <a:latin typeface="Times New Roman" pitchFamily="18" charset="0"/>
              <a:cs typeface="Times New Roman" pitchFamily="18" charset="0"/>
            </a:endParaRPr>
          </a:p>
        </p:txBody>
      </p:sp>
      <p:cxnSp>
        <p:nvCxnSpPr>
          <p:cNvPr id="61" name="Straight Connector 60"/>
          <p:cNvCxnSpPr/>
          <p:nvPr/>
        </p:nvCxnSpPr>
        <p:spPr>
          <a:xfrm rot="10800000">
            <a:off x="6908800" y="6676571"/>
            <a:ext cx="3251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p:cNvCxnSpPr>
            <a:endCxn id="47" idx="2"/>
          </p:cNvCxnSpPr>
          <p:nvPr/>
        </p:nvCxnSpPr>
        <p:spPr>
          <a:xfrm flipV="1">
            <a:off x="10101943" y="6644565"/>
            <a:ext cx="157482" cy="32006"/>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rot="16200000" flipV="1">
            <a:off x="6734631" y="6516915"/>
            <a:ext cx="304799" cy="145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43429" y="1277256"/>
            <a:ext cx="1248229" cy="523220"/>
          </a:xfrm>
          <a:prstGeom prst="rect">
            <a:avLst/>
          </a:prstGeom>
          <a:noFill/>
        </p:spPr>
        <p:txBody>
          <a:bodyPr wrap="square" rtlCol="0">
            <a:spAutoFit/>
          </a:bodyPr>
          <a:lstStyle/>
          <a:p>
            <a:r>
              <a:rPr lang="en-IN" sz="1400" dirty="0" smtClean="0">
                <a:latin typeface="Times New Roman" pitchFamily="18" charset="0"/>
                <a:cs typeface="Times New Roman" pitchFamily="18" charset="0"/>
              </a:rPr>
              <a:t>Qs=</a:t>
            </a:r>
            <a:r>
              <a:rPr lang="en-IN" sz="1400" dirty="0" err="1" smtClean="0">
                <a:latin typeface="Times New Roman" pitchFamily="18" charset="0"/>
                <a:cs typeface="Times New Roman" pitchFamily="18" charset="0"/>
              </a:rPr>
              <a:t>As</a:t>
            </a:r>
            <a:r>
              <a:rPr lang="en-IN" sz="1400" dirty="0" err="1" smtClean="0">
                <a:latin typeface="Times New Roman" pitchFamily="18" charset="0"/>
                <a:cs typeface="Times New Roman" pitchFamily="18" charset="0"/>
                <a:sym typeface="Symbol"/>
              </a:rPr>
              <a:t>Bs</a:t>
            </a:r>
            <a:endParaRPr lang="en-IN" sz="1400" dirty="0" smtClean="0">
              <a:latin typeface="Times New Roman" pitchFamily="18" charset="0"/>
              <a:cs typeface="Times New Roman" pitchFamily="18" charset="0"/>
              <a:sym typeface="Symbol"/>
            </a:endParaRPr>
          </a:p>
          <a:p>
            <a:r>
              <a:rPr lang="en-IN" sz="1400" dirty="0" err="1" smtClean="0">
                <a:latin typeface="Times New Roman" pitchFamily="18" charset="0"/>
                <a:cs typeface="Times New Roman" pitchFamily="18" charset="0"/>
                <a:sym typeface="Symbol"/>
              </a:rPr>
              <a:t>SCn</a:t>
            </a:r>
            <a:endParaRPr lang="en-IN" sz="1400" dirty="0">
              <a:latin typeface="Times New Roman" pitchFamily="18" charset="0"/>
              <a:cs typeface="Times New Roman" pitchFamily="18" charset="0"/>
            </a:endParaRPr>
          </a:p>
        </p:txBody>
      </p:sp>
      <p:sp>
        <p:nvSpPr>
          <p:cNvPr id="3" name="Rectangle 2"/>
          <p:cNvSpPr/>
          <p:nvPr/>
        </p:nvSpPr>
        <p:spPr>
          <a:xfrm>
            <a:off x="986972" y="1335313"/>
            <a:ext cx="1001485" cy="42091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p:sp>
        <p:nvSpPr>
          <p:cNvPr id="4" name="TextBox 3"/>
          <p:cNvSpPr txBox="1"/>
          <p:nvPr/>
        </p:nvSpPr>
        <p:spPr>
          <a:xfrm>
            <a:off x="863601" y="2227943"/>
            <a:ext cx="1502230"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EA</a:t>
            </a:r>
            <a:r>
              <a:rPr lang="en-IN" sz="1400" dirty="0" smtClean="0">
                <a:latin typeface="Times New Roman" pitchFamily="18" charset="0"/>
                <a:cs typeface="Times New Roman" pitchFamily="18" charset="0"/>
                <a:sym typeface="Symbol"/>
              </a:rPr>
              <a:t> A+B′+1</a:t>
            </a:r>
            <a:endParaRPr lang="en-IN" sz="1400" dirty="0">
              <a:latin typeface="Times New Roman" pitchFamily="18" charset="0"/>
              <a:cs typeface="Times New Roman" pitchFamily="18" charset="0"/>
            </a:endParaRPr>
          </a:p>
        </p:txBody>
      </p:sp>
      <p:sp>
        <p:nvSpPr>
          <p:cNvPr id="5" name="Rectangle 4"/>
          <p:cNvSpPr/>
          <p:nvPr/>
        </p:nvSpPr>
        <p:spPr>
          <a:xfrm>
            <a:off x="907143" y="2286000"/>
            <a:ext cx="1429658" cy="31205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t> </a:t>
            </a:r>
            <a:endParaRPr lang="en-IN" sz="1400" dirty="0"/>
          </a:p>
        </p:txBody>
      </p:sp>
      <p:sp>
        <p:nvSpPr>
          <p:cNvPr id="6" name="TextBox 5"/>
          <p:cNvSpPr txBox="1"/>
          <p:nvPr/>
        </p:nvSpPr>
        <p:spPr>
          <a:xfrm>
            <a:off x="442686" y="217638"/>
            <a:ext cx="1415142"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Divide operation</a:t>
            </a:r>
            <a:endParaRPr lang="en-IN" sz="1400" dirty="0">
              <a:latin typeface="Times New Roman" pitchFamily="18" charset="0"/>
              <a:cs typeface="Times New Roman" pitchFamily="18" charset="0"/>
            </a:endParaRPr>
          </a:p>
        </p:txBody>
      </p:sp>
      <p:cxnSp>
        <p:nvCxnSpPr>
          <p:cNvPr id="7" name="Straight Arrow Connector 6"/>
          <p:cNvCxnSpPr/>
          <p:nvPr/>
        </p:nvCxnSpPr>
        <p:spPr>
          <a:xfrm rot="5400000">
            <a:off x="4252688" y="1288796"/>
            <a:ext cx="261259"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rot="10800000">
            <a:off x="4383316" y="1158164"/>
            <a:ext cx="1799771" cy="297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a:off x="3997203" y="3315025"/>
            <a:ext cx="4371772" cy="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4572001" y="5457371"/>
            <a:ext cx="1611085" cy="4056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16200000" flipH="1">
            <a:off x="1627055" y="441160"/>
            <a:ext cx="285930" cy="725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609600" y="2856337"/>
            <a:ext cx="537030" cy="304800"/>
          </a:xfrm>
          <a:prstGeom prst="rect">
            <a:avLst/>
          </a:prstGeom>
          <a:noFill/>
        </p:spPr>
        <p:txBody>
          <a:bodyPr wrap="square" rtlCol="0">
            <a:spAutoFit/>
          </a:bodyPr>
          <a:lstStyle/>
          <a:p>
            <a:r>
              <a:rPr lang="en-IN" sz="1400" dirty="0" smtClean="0">
                <a:latin typeface="Times New Roman" pitchFamily="18" charset="0"/>
                <a:cs typeface="Times New Roman" pitchFamily="18" charset="0"/>
              </a:rPr>
              <a:t>A≥B   </a:t>
            </a:r>
            <a:endParaRPr lang="en-IN" sz="1400" dirty="0">
              <a:latin typeface="Times New Roman" pitchFamily="18" charset="0"/>
              <a:cs typeface="Times New Roman" pitchFamily="18" charset="0"/>
            </a:endParaRPr>
          </a:p>
        </p:txBody>
      </p:sp>
      <p:cxnSp>
        <p:nvCxnSpPr>
          <p:cNvPr id="29" name="Straight Arrow Connector 28"/>
          <p:cNvCxnSpPr/>
          <p:nvPr/>
        </p:nvCxnSpPr>
        <p:spPr>
          <a:xfrm rot="5400000">
            <a:off x="1279761" y="2041033"/>
            <a:ext cx="583550" cy="79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33" idx="2"/>
            <a:endCxn id="3" idx="0"/>
          </p:cNvCxnSpPr>
          <p:nvPr/>
        </p:nvCxnSpPr>
        <p:spPr>
          <a:xfrm rot="5400000">
            <a:off x="1436905" y="1142989"/>
            <a:ext cx="243134" cy="1415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rot="10800000" flipV="1">
            <a:off x="2481943" y="1166870"/>
            <a:ext cx="1599476" cy="5807"/>
          </a:xfrm>
          <a:prstGeom prst="line">
            <a:avLst/>
          </a:prstGeom>
        </p:spPr>
        <p:style>
          <a:lnRef idx="1">
            <a:schemeClr val="accent1"/>
          </a:lnRef>
          <a:fillRef idx="0">
            <a:schemeClr val="accent1"/>
          </a:fillRef>
          <a:effectRef idx="0">
            <a:schemeClr val="accent1"/>
          </a:effectRef>
          <a:fontRef idx="minor">
            <a:schemeClr val="tx1"/>
          </a:fontRef>
        </p:style>
      </p:cxnSp>
      <p:sp>
        <p:nvSpPr>
          <p:cNvPr id="39" name="Diamond 38"/>
          <p:cNvSpPr/>
          <p:nvPr/>
        </p:nvSpPr>
        <p:spPr>
          <a:xfrm>
            <a:off x="1338219" y="2888265"/>
            <a:ext cx="505096" cy="444137"/>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t> </a:t>
            </a:r>
            <a:endParaRPr lang="en-IN" sz="1400" dirty="0"/>
          </a:p>
        </p:txBody>
      </p:sp>
      <p:sp>
        <p:nvSpPr>
          <p:cNvPr id="40" name="TextBox 39"/>
          <p:cNvSpPr txBox="1"/>
          <p:nvPr/>
        </p:nvSpPr>
        <p:spPr>
          <a:xfrm>
            <a:off x="1396276" y="2960835"/>
            <a:ext cx="374468"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 E  </a:t>
            </a:r>
            <a:endParaRPr lang="en-IN" sz="1400" dirty="0">
              <a:latin typeface="Times New Roman" pitchFamily="18" charset="0"/>
              <a:cs typeface="Times New Roman" pitchFamily="18" charset="0"/>
            </a:endParaRPr>
          </a:p>
        </p:txBody>
      </p:sp>
      <p:sp>
        <p:nvSpPr>
          <p:cNvPr id="41" name="TextBox 40"/>
          <p:cNvSpPr txBox="1"/>
          <p:nvPr/>
        </p:nvSpPr>
        <p:spPr>
          <a:xfrm>
            <a:off x="195943" y="3664856"/>
            <a:ext cx="1248229" cy="523220"/>
          </a:xfrm>
          <a:prstGeom prst="rect">
            <a:avLst/>
          </a:prstGeom>
          <a:noFill/>
        </p:spPr>
        <p:txBody>
          <a:bodyPr wrap="square" rtlCol="0">
            <a:spAutoFit/>
          </a:bodyPr>
          <a:lstStyle/>
          <a:p>
            <a:r>
              <a:rPr lang="en-IN" sz="1400" dirty="0" smtClean="0">
                <a:latin typeface="Times New Roman" pitchFamily="18" charset="0"/>
                <a:cs typeface="Times New Roman" pitchFamily="18" charset="0"/>
              </a:rPr>
              <a:t>EA</a:t>
            </a:r>
            <a:r>
              <a:rPr lang="en-IN" sz="1400" dirty="0" smtClean="0">
                <a:latin typeface="Times New Roman" pitchFamily="18" charset="0"/>
                <a:cs typeface="Times New Roman" pitchFamily="18" charset="0"/>
                <a:sym typeface="Symbol"/>
              </a:rPr>
              <a:t>A+B</a:t>
            </a:r>
          </a:p>
          <a:p>
            <a:r>
              <a:rPr lang="en-IN" sz="1400" dirty="0" smtClean="0">
                <a:latin typeface="Times New Roman" pitchFamily="18" charset="0"/>
                <a:cs typeface="Times New Roman" pitchFamily="18" charset="0"/>
                <a:sym typeface="Symbol"/>
              </a:rPr>
              <a:t>DVF1</a:t>
            </a:r>
            <a:endParaRPr lang="en-IN" sz="1400" dirty="0">
              <a:latin typeface="Times New Roman" pitchFamily="18" charset="0"/>
              <a:cs typeface="Times New Roman" pitchFamily="18" charset="0"/>
            </a:endParaRPr>
          </a:p>
        </p:txBody>
      </p:sp>
      <p:sp>
        <p:nvSpPr>
          <p:cNvPr id="42" name="Rectangle 41"/>
          <p:cNvSpPr/>
          <p:nvPr/>
        </p:nvSpPr>
        <p:spPr>
          <a:xfrm>
            <a:off x="217714" y="3701142"/>
            <a:ext cx="1161144" cy="58057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p:sp>
        <p:nvSpPr>
          <p:cNvPr id="43" name="TextBox 42"/>
          <p:cNvSpPr txBox="1"/>
          <p:nvPr/>
        </p:nvSpPr>
        <p:spPr>
          <a:xfrm>
            <a:off x="1785257" y="3628571"/>
            <a:ext cx="1248229" cy="523220"/>
          </a:xfrm>
          <a:prstGeom prst="rect">
            <a:avLst/>
          </a:prstGeom>
          <a:noFill/>
        </p:spPr>
        <p:txBody>
          <a:bodyPr wrap="square" rtlCol="0">
            <a:spAutoFit/>
          </a:bodyPr>
          <a:lstStyle/>
          <a:p>
            <a:r>
              <a:rPr lang="en-IN" sz="1400" dirty="0" smtClean="0">
                <a:latin typeface="Times New Roman" pitchFamily="18" charset="0"/>
                <a:cs typeface="Times New Roman" pitchFamily="18" charset="0"/>
              </a:rPr>
              <a:t>EA</a:t>
            </a:r>
            <a:r>
              <a:rPr lang="en-IN" sz="1400" dirty="0" smtClean="0">
                <a:latin typeface="Times New Roman" pitchFamily="18" charset="0"/>
                <a:cs typeface="Times New Roman" pitchFamily="18" charset="0"/>
                <a:sym typeface="Symbol"/>
              </a:rPr>
              <a:t>A+B</a:t>
            </a:r>
          </a:p>
          <a:p>
            <a:r>
              <a:rPr lang="en-IN" sz="1400" dirty="0" smtClean="0">
                <a:latin typeface="Times New Roman" pitchFamily="18" charset="0"/>
                <a:cs typeface="Times New Roman" pitchFamily="18" charset="0"/>
                <a:sym typeface="Symbol"/>
              </a:rPr>
              <a:t>DVF0 </a:t>
            </a:r>
            <a:endParaRPr lang="en-IN" sz="1400" dirty="0">
              <a:latin typeface="Times New Roman" pitchFamily="18" charset="0"/>
              <a:cs typeface="Times New Roman" pitchFamily="18" charset="0"/>
            </a:endParaRPr>
          </a:p>
        </p:txBody>
      </p:sp>
      <p:sp>
        <p:nvSpPr>
          <p:cNvPr id="44" name="Rectangle 43"/>
          <p:cNvSpPr/>
          <p:nvPr/>
        </p:nvSpPr>
        <p:spPr>
          <a:xfrm>
            <a:off x="1807028" y="3664857"/>
            <a:ext cx="1161144" cy="58057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p:sp>
        <p:nvSpPr>
          <p:cNvPr id="45" name="Flowchart: Alternate Process 44"/>
          <p:cNvSpPr/>
          <p:nvPr/>
        </p:nvSpPr>
        <p:spPr>
          <a:xfrm>
            <a:off x="177075" y="4573450"/>
            <a:ext cx="1274355" cy="637178"/>
          </a:xfrm>
          <a:prstGeom prst="flowChartAlternate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t> </a:t>
            </a:r>
            <a:endParaRPr lang="en-IN" sz="1400" dirty="0"/>
          </a:p>
        </p:txBody>
      </p:sp>
      <p:sp>
        <p:nvSpPr>
          <p:cNvPr id="46" name="TextBox 45"/>
          <p:cNvSpPr txBox="1"/>
          <p:nvPr/>
        </p:nvSpPr>
        <p:spPr>
          <a:xfrm>
            <a:off x="239486" y="4579258"/>
            <a:ext cx="1248229" cy="523220"/>
          </a:xfrm>
          <a:prstGeom prst="rect">
            <a:avLst/>
          </a:prstGeom>
          <a:noFill/>
        </p:spPr>
        <p:txBody>
          <a:bodyPr wrap="square" rtlCol="0">
            <a:spAutoFit/>
          </a:bodyPr>
          <a:lstStyle/>
          <a:p>
            <a:r>
              <a:rPr lang="en-IN" sz="1400" dirty="0" smtClean="0">
                <a:latin typeface="Times New Roman" pitchFamily="18" charset="0"/>
                <a:cs typeface="Times New Roman" pitchFamily="18" charset="0"/>
              </a:rPr>
              <a:t>End divide overflow</a:t>
            </a:r>
            <a:endParaRPr lang="en-IN" sz="1400" dirty="0">
              <a:latin typeface="Times New Roman" pitchFamily="18" charset="0"/>
              <a:cs typeface="Times New Roman" pitchFamily="18" charset="0"/>
            </a:endParaRPr>
          </a:p>
        </p:txBody>
      </p:sp>
      <p:cxnSp>
        <p:nvCxnSpPr>
          <p:cNvPr id="53" name="Straight Arrow Connector 52"/>
          <p:cNvCxnSpPr/>
          <p:nvPr/>
        </p:nvCxnSpPr>
        <p:spPr>
          <a:xfrm rot="16200000" flipH="1">
            <a:off x="2011718" y="3402110"/>
            <a:ext cx="563081"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rot="5400000">
            <a:off x="1414353" y="2750459"/>
            <a:ext cx="305590" cy="79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rot="16200000" flipH="1">
            <a:off x="436917" y="3394854"/>
            <a:ext cx="555824" cy="725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rot="16200000" flipH="1">
            <a:off x="4959132" y="3478674"/>
            <a:ext cx="1127836" cy="1378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a:stCxn id="39" idx="1"/>
          </p:cNvCxnSpPr>
          <p:nvPr/>
        </p:nvCxnSpPr>
        <p:spPr>
          <a:xfrm rot="10800000" flipV="1">
            <a:off x="725715" y="3110333"/>
            <a:ext cx="612504" cy="10237"/>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rot="10800000">
            <a:off x="1836058" y="3127827"/>
            <a:ext cx="457200" cy="7258"/>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rot="5400000">
            <a:off x="652353" y="4426860"/>
            <a:ext cx="305590" cy="79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a:off x="1840413" y="3049449"/>
            <a:ext cx="444137"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=0     </a:t>
            </a:r>
            <a:endParaRPr lang="en-IN" sz="1400" dirty="0">
              <a:latin typeface="Times New Roman" pitchFamily="18" charset="0"/>
              <a:cs typeface="Times New Roman" pitchFamily="18" charset="0"/>
            </a:endParaRPr>
          </a:p>
        </p:txBody>
      </p:sp>
      <p:sp>
        <p:nvSpPr>
          <p:cNvPr id="72" name="TextBox 71"/>
          <p:cNvSpPr txBox="1"/>
          <p:nvPr/>
        </p:nvSpPr>
        <p:spPr>
          <a:xfrm>
            <a:off x="788127" y="3056707"/>
            <a:ext cx="444137"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=1    </a:t>
            </a:r>
            <a:endParaRPr lang="en-IN" sz="1400" dirty="0">
              <a:latin typeface="Times New Roman" pitchFamily="18" charset="0"/>
              <a:cs typeface="Times New Roman" pitchFamily="18" charset="0"/>
            </a:endParaRPr>
          </a:p>
        </p:txBody>
      </p:sp>
      <p:sp>
        <p:nvSpPr>
          <p:cNvPr id="73" name="TextBox 72"/>
          <p:cNvSpPr txBox="1"/>
          <p:nvPr/>
        </p:nvSpPr>
        <p:spPr>
          <a:xfrm>
            <a:off x="3780971" y="1328056"/>
            <a:ext cx="1110343" cy="307777"/>
          </a:xfrm>
          <a:prstGeom prst="rect">
            <a:avLst/>
          </a:prstGeom>
          <a:noFill/>
        </p:spPr>
        <p:txBody>
          <a:bodyPr wrap="square" rtlCol="0">
            <a:spAutoFit/>
          </a:bodyPr>
          <a:lstStyle/>
          <a:p>
            <a:r>
              <a:rPr lang="en-IN" sz="1400" dirty="0" err="1" smtClean="0">
                <a:latin typeface="Times New Roman" pitchFamily="18" charset="0"/>
                <a:cs typeface="Times New Roman" pitchFamily="18" charset="0"/>
              </a:rPr>
              <a:t>Shl</a:t>
            </a:r>
            <a:r>
              <a:rPr lang="en-IN" sz="1400" dirty="0" smtClean="0">
                <a:latin typeface="Times New Roman" pitchFamily="18" charset="0"/>
                <a:cs typeface="Times New Roman" pitchFamily="18" charset="0"/>
              </a:rPr>
              <a:t> EAQ</a:t>
            </a:r>
            <a:endParaRPr lang="en-IN" sz="1400" dirty="0">
              <a:latin typeface="Times New Roman" pitchFamily="18" charset="0"/>
              <a:cs typeface="Times New Roman" pitchFamily="18" charset="0"/>
            </a:endParaRPr>
          </a:p>
        </p:txBody>
      </p:sp>
      <p:sp>
        <p:nvSpPr>
          <p:cNvPr id="74" name="Rectangle 73"/>
          <p:cNvSpPr/>
          <p:nvPr/>
        </p:nvSpPr>
        <p:spPr>
          <a:xfrm>
            <a:off x="3839029" y="1400627"/>
            <a:ext cx="979714" cy="2830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p:sp>
        <p:nvSpPr>
          <p:cNvPr id="75" name="Diamond 74"/>
          <p:cNvSpPr/>
          <p:nvPr/>
        </p:nvSpPr>
        <p:spPr>
          <a:xfrm>
            <a:off x="4074162" y="1981122"/>
            <a:ext cx="505096" cy="444137"/>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t> </a:t>
            </a:r>
            <a:endParaRPr lang="en-IN" sz="1400" dirty="0"/>
          </a:p>
        </p:txBody>
      </p:sp>
      <p:sp>
        <p:nvSpPr>
          <p:cNvPr id="76" name="TextBox 75"/>
          <p:cNvSpPr txBox="1"/>
          <p:nvPr/>
        </p:nvSpPr>
        <p:spPr>
          <a:xfrm>
            <a:off x="4132219" y="2053692"/>
            <a:ext cx="374468"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 E  </a:t>
            </a:r>
            <a:endParaRPr lang="en-IN" sz="1400" dirty="0">
              <a:latin typeface="Times New Roman" pitchFamily="18" charset="0"/>
              <a:cs typeface="Times New Roman" pitchFamily="18" charset="0"/>
            </a:endParaRPr>
          </a:p>
        </p:txBody>
      </p:sp>
      <p:sp>
        <p:nvSpPr>
          <p:cNvPr id="77" name="TextBox 76"/>
          <p:cNvSpPr txBox="1"/>
          <p:nvPr/>
        </p:nvSpPr>
        <p:spPr>
          <a:xfrm>
            <a:off x="3120573" y="2612571"/>
            <a:ext cx="1502230"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EA</a:t>
            </a:r>
            <a:r>
              <a:rPr lang="en-IN" sz="1400" dirty="0" smtClean="0">
                <a:latin typeface="Times New Roman" pitchFamily="18" charset="0"/>
                <a:cs typeface="Times New Roman" pitchFamily="18" charset="0"/>
                <a:sym typeface="Symbol"/>
              </a:rPr>
              <a:t> A+B′+1</a:t>
            </a:r>
            <a:endParaRPr lang="en-IN" sz="1400" dirty="0">
              <a:latin typeface="Times New Roman" pitchFamily="18" charset="0"/>
              <a:cs typeface="Times New Roman" pitchFamily="18" charset="0"/>
            </a:endParaRPr>
          </a:p>
        </p:txBody>
      </p:sp>
      <p:sp>
        <p:nvSpPr>
          <p:cNvPr id="78" name="Rectangle 77"/>
          <p:cNvSpPr/>
          <p:nvPr/>
        </p:nvSpPr>
        <p:spPr>
          <a:xfrm>
            <a:off x="3164115" y="2670628"/>
            <a:ext cx="1429658" cy="31205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t> </a:t>
            </a:r>
            <a:endParaRPr lang="en-IN" sz="1400" dirty="0"/>
          </a:p>
        </p:txBody>
      </p:sp>
      <p:sp>
        <p:nvSpPr>
          <p:cNvPr id="79" name="TextBox 78"/>
          <p:cNvSpPr txBox="1"/>
          <p:nvPr/>
        </p:nvSpPr>
        <p:spPr>
          <a:xfrm>
            <a:off x="4738916" y="2576286"/>
            <a:ext cx="1415142"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A</a:t>
            </a:r>
            <a:r>
              <a:rPr lang="en-IN" sz="1400" dirty="0" smtClean="0">
                <a:latin typeface="Times New Roman" pitchFamily="18" charset="0"/>
                <a:cs typeface="Times New Roman" pitchFamily="18" charset="0"/>
                <a:sym typeface="Symbol"/>
              </a:rPr>
              <a:t> A+B′+1</a:t>
            </a:r>
            <a:endParaRPr lang="en-IN" sz="1400" dirty="0">
              <a:latin typeface="Times New Roman" pitchFamily="18" charset="0"/>
              <a:cs typeface="Times New Roman" pitchFamily="18" charset="0"/>
            </a:endParaRPr>
          </a:p>
        </p:txBody>
      </p:sp>
      <p:sp>
        <p:nvSpPr>
          <p:cNvPr id="80" name="Rectangle 79"/>
          <p:cNvSpPr/>
          <p:nvPr/>
        </p:nvSpPr>
        <p:spPr>
          <a:xfrm>
            <a:off x="4782458" y="2634343"/>
            <a:ext cx="1328057" cy="31205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t> </a:t>
            </a:r>
            <a:endParaRPr lang="en-IN" sz="1400" dirty="0"/>
          </a:p>
        </p:txBody>
      </p:sp>
      <p:sp>
        <p:nvSpPr>
          <p:cNvPr id="81" name="Diamond 80"/>
          <p:cNvSpPr/>
          <p:nvPr/>
        </p:nvSpPr>
        <p:spPr>
          <a:xfrm>
            <a:off x="3413762" y="3251122"/>
            <a:ext cx="505096" cy="444137"/>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t> </a:t>
            </a:r>
            <a:endParaRPr lang="en-IN" sz="1400" dirty="0"/>
          </a:p>
        </p:txBody>
      </p:sp>
      <p:sp>
        <p:nvSpPr>
          <p:cNvPr id="82" name="TextBox 81"/>
          <p:cNvSpPr txBox="1"/>
          <p:nvPr/>
        </p:nvSpPr>
        <p:spPr>
          <a:xfrm>
            <a:off x="3471819" y="3323692"/>
            <a:ext cx="374468"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 E  </a:t>
            </a:r>
            <a:endParaRPr lang="en-IN" sz="1400" dirty="0">
              <a:latin typeface="Times New Roman" pitchFamily="18" charset="0"/>
              <a:cs typeface="Times New Roman" pitchFamily="18" charset="0"/>
            </a:endParaRPr>
          </a:p>
        </p:txBody>
      </p:sp>
      <p:sp>
        <p:nvSpPr>
          <p:cNvPr id="83" name="TextBox 82"/>
          <p:cNvSpPr txBox="1"/>
          <p:nvPr/>
        </p:nvSpPr>
        <p:spPr>
          <a:xfrm>
            <a:off x="3127830" y="3984171"/>
            <a:ext cx="1255485"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EA</a:t>
            </a:r>
            <a:r>
              <a:rPr lang="en-IN" sz="1400" dirty="0" smtClean="0">
                <a:latin typeface="Times New Roman" pitchFamily="18" charset="0"/>
                <a:cs typeface="Times New Roman" pitchFamily="18" charset="0"/>
                <a:sym typeface="Symbol"/>
              </a:rPr>
              <a:t> A+B</a:t>
            </a:r>
            <a:endParaRPr lang="en-IN" sz="1400" dirty="0">
              <a:latin typeface="Times New Roman" pitchFamily="18" charset="0"/>
              <a:cs typeface="Times New Roman" pitchFamily="18" charset="0"/>
            </a:endParaRPr>
          </a:p>
        </p:txBody>
      </p:sp>
      <p:sp>
        <p:nvSpPr>
          <p:cNvPr id="84" name="Rectangle 83"/>
          <p:cNvSpPr/>
          <p:nvPr/>
        </p:nvSpPr>
        <p:spPr>
          <a:xfrm>
            <a:off x="3171372" y="4042228"/>
            <a:ext cx="1168400" cy="32657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t> </a:t>
            </a:r>
            <a:endParaRPr lang="en-IN" sz="1400" dirty="0"/>
          </a:p>
        </p:txBody>
      </p:sp>
      <p:sp>
        <p:nvSpPr>
          <p:cNvPr id="85" name="TextBox 84"/>
          <p:cNvSpPr txBox="1"/>
          <p:nvPr/>
        </p:nvSpPr>
        <p:spPr>
          <a:xfrm>
            <a:off x="4833260" y="3976914"/>
            <a:ext cx="870856"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Qn1</a:t>
            </a:r>
            <a:endParaRPr lang="en-IN" sz="1400" dirty="0">
              <a:latin typeface="Times New Roman" pitchFamily="18" charset="0"/>
              <a:cs typeface="Times New Roman" pitchFamily="18" charset="0"/>
            </a:endParaRPr>
          </a:p>
        </p:txBody>
      </p:sp>
      <p:sp>
        <p:nvSpPr>
          <p:cNvPr id="86" name="Rectangle 85"/>
          <p:cNvSpPr/>
          <p:nvPr/>
        </p:nvSpPr>
        <p:spPr>
          <a:xfrm>
            <a:off x="4876801" y="4034971"/>
            <a:ext cx="769257" cy="3338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t> </a:t>
            </a:r>
            <a:endParaRPr lang="en-IN" sz="1400" dirty="0"/>
          </a:p>
        </p:txBody>
      </p:sp>
      <p:sp>
        <p:nvSpPr>
          <p:cNvPr id="87" name="TextBox 86"/>
          <p:cNvSpPr txBox="1"/>
          <p:nvPr/>
        </p:nvSpPr>
        <p:spPr>
          <a:xfrm>
            <a:off x="3831774" y="4615543"/>
            <a:ext cx="1255485"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sym typeface="Symbol"/>
              </a:rPr>
              <a:t>SC SC-1</a:t>
            </a:r>
            <a:endParaRPr lang="en-IN" sz="1400" dirty="0">
              <a:latin typeface="Times New Roman" pitchFamily="18" charset="0"/>
              <a:cs typeface="Times New Roman" pitchFamily="18" charset="0"/>
            </a:endParaRPr>
          </a:p>
        </p:txBody>
      </p:sp>
      <p:sp>
        <p:nvSpPr>
          <p:cNvPr id="88" name="Rectangle 87"/>
          <p:cNvSpPr/>
          <p:nvPr/>
        </p:nvSpPr>
        <p:spPr>
          <a:xfrm>
            <a:off x="3875316" y="4673600"/>
            <a:ext cx="1168400" cy="32657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t> </a:t>
            </a:r>
            <a:endParaRPr lang="en-IN" sz="1400" dirty="0"/>
          </a:p>
        </p:txBody>
      </p:sp>
      <p:sp>
        <p:nvSpPr>
          <p:cNvPr id="89" name="Diamond 88"/>
          <p:cNvSpPr/>
          <p:nvPr/>
        </p:nvSpPr>
        <p:spPr>
          <a:xfrm>
            <a:off x="4059648" y="5290379"/>
            <a:ext cx="505096" cy="444137"/>
          </a:xfrm>
          <a:prstGeom prst="diamon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90" name="TextBox 89"/>
          <p:cNvSpPr txBox="1"/>
          <p:nvPr/>
        </p:nvSpPr>
        <p:spPr>
          <a:xfrm>
            <a:off x="4088675" y="5348434"/>
            <a:ext cx="483325"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 SC  </a:t>
            </a:r>
            <a:endParaRPr lang="en-IN" sz="1400" dirty="0">
              <a:latin typeface="Times New Roman" pitchFamily="18" charset="0"/>
              <a:cs typeface="Times New Roman" pitchFamily="18" charset="0"/>
            </a:endParaRPr>
          </a:p>
        </p:txBody>
      </p:sp>
      <p:sp>
        <p:nvSpPr>
          <p:cNvPr id="91" name="Flowchart: Alternate Process 90"/>
          <p:cNvSpPr/>
          <p:nvPr/>
        </p:nvSpPr>
        <p:spPr>
          <a:xfrm>
            <a:off x="3116219" y="5335451"/>
            <a:ext cx="657498" cy="383178"/>
          </a:xfrm>
          <a:prstGeom prst="flowChartAlternate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 </a:t>
            </a:r>
            <a:endParaRPr lang="en-IN" dirty="0"/>
          </a:p>
        </p:txBody>
      </p:sp>
      <p:sp>
        <p:nvSpPr>
          <p:cNvPr id="92" name="TextBox 91"/>
          <p:cNvSpPr txBox="1"/>
          <p:nvPr/>
        </p:nvSpPr>
        <p:spPr>
          <a:xfrm>
            <a:off x="3178629" y="5341259"/>
            <a:ext cx="609601" cy="369332"/>
          </a:xfrm>
          <a:prstGeom prst="rect">
            <a:avLst/>
          </a:prstGeom>
          <a:noFill/>
        </p:spPr>
        <p:txBody>
          <a:bodyPr wrap="square" rtlCol="0">
            <a:spAutoFit/>
          </a:bodyPr>
          <a:lstStyle/>
          <a:p>
            <a:r>
              <a:rPr lang="en-IN" dirty="0" smtClean="0">
                <a:latin typeface="Times New Roman" pitchFamily="18" charset="0"/>
                <a:cs typeface="Times New Roman" pitchFamily="18" charset="0"/>
              </a:rPr>
              <a:t>End</a:t>
            </a:r>
            <a:endParaRPr lang="en-IN" dirty="0">
              <a:latin typeface="Times New Roman" pitchFamily="18" charset="0"/>
              <a:cs typeface="Times New Roman" pitchFamily="18" charset="0"/>
            </a:endParaRPr>
          </a:p>
        </p:txBody>
      </p:sp>
      <p:cxnSp>
        <p:nvCxnSpPr>
          <p:cNvPr id="94" name="Straight Arrow Connector 93"/>
          <p:cNvCxnSpPr/>
          <p:nvPr/>
        </p:nvCxnSpPr>
        <p:spPr>
          <a:xfrm rot="5400000">
            <a:off x="4142780" y="1838561"/>
            <a:ext cx="341009" cy="21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5" name="Straight Arrow Connector 94"/>
          <p:cNvCxnSpPr/>
          <p:nvPr/>
        </p:nvCxnSpPr>
        <p:spPr>
          <a:xfrm rot="16200000" flipH="1">
            <a:off x="5113424" y="2404978"/>
            <a:ext cx="464379" cy="871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6" name="Straight Arrow Connector 95"/>
          <p:cNvCxnSpPr/>
          <p:nvPr/>
        </p:nvCxnSpPr>
        <p:spPr>
          <a:xfrm rot="16200000" flipH="1">
            <a:off x="3393479" y="2441263"/>
            <a:ext cx="486153" cy="1596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rot="10800000" flipV="1">
            <a:off x="3643086" y="2203189"/>
            <a:ext cx="431076" cy="17495"/>
          </a:xfrm>
          <a:prstGeom prst="line">
            <a:avLst/>
          </a:prstGeom>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rot="10800000" flipV="1">
            <a:off x="4601031" y="2177142"/>
            <a:ext cx="783771" cy="29028"/>
          </a:xfrm>
          <a:prstGeom prst="line">
            <a:avLst/>
          </a:prstGeom>
        </p:spPr>
        <p:style>
          <a:lnRef idx="1">
            <a:schemeClr val="accent1"/>
          </a:lnRef>
          <a:fillRef idx="0">
            <a:schemeClr val="accent1"/>
          </a:fillRef>
          <a:effectRef idx="0">
            <a:schemeClr val="accent1"/>
          </a:effectRef>
          <a:fontRef idx="minor">
            <a:schemeClr val="tx1"/>
          </a:fontRef>
        </p:style>
      </p:cxnSp>
      <p:cxnSp>
        <p:nvCxnSpPr>
          <p:cNvPr id="99" name="Straight Connector 98"/>
          <p:cNvCxnSpPr>
            <a:endCxn id="81" idx="3"/>
          </p:cNvCxnSpPr>
          <p:nvPr/>
        </p:nvCxnSpPr>
        <p:spPr>
          <a:xfrm rot="10800000" flipV="1">
            <a:off x="3918859" y="3468913"/>
            <a:ext cx="1103085" cy="427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Straight Arrow Connector 111"/>
          <p:cNvCxnSpPr/>
          <p:nvPr/>
        </p:nvCxnSpPr>
        <p:spPr>
          <a:xfrm rot="5400000">
            <a:off x="3483430" y="3135086"/>
            <a:ext cx="319315"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3" name="Straight Arrow Connector 112"/>
          <p:cNvCxnSpPr/>
          <p:nvPr/>
        </p:nvCxnSpPr>
        <p:spPr>
          <a:xfrm rot="16200000" flipH="1">
            <a:off x="3462453" y="3883369"/>
            <a:ext cx="383833" cy="646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6" name="Straight Arrow Connector 115"/>
          <p:cNvCxnSpPr/>
          <p:nvPr/>
        </p:nvCxnSpPr>
        <p:spPr>
          <a:xfrm rot="16200000" flipH="1">
            <a:off x="4746170" y="3744686"/>
            <a:ext cx="529774" cy="725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0" name="Straight Arrow Connector 119"/>
          <p:cNvCxnSpPr/>
          <p:nvPr/>
        </p:nvCxnSpPr>
        <p:spPr>
          <a:xfrm rot="5400000">
            <a:off x="4788666" y="4516446"/>
            <a:ext cx="341009" cy="21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1" name="Straight Arrow Connector 120"/>
          <p:cNvCxnSpPr/>
          <p:nvPr/>
        </p:nvCxnSpPr>
        <p:spPr>
          <a:xfrm rot="5400000">
            <a:off x="3852494" y="4523703"/>
            <a:ext cx="341009" cy="21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2" name="Straight Arrow Connector 121"/>
          <p:cNvCxnSpPr/>
          <p:nvPr/>
        </p:nvCxnSpPr>
        <p:spPr>
          <a:xfrm rot="5400000">
            <a:off x="4150037" y="5126046"/>
            <a:ext cx="341009" cy="21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3" name="Straight Arrow Connector 122"/>
          <p:cNvCxnSpPr/>
          <p:nvPr/>
        </p:nvCxnSpPr>
        <p:spPr>
          <a:xfrm rot="5400000">
            <a:off x="3941399" y="1292463"/>
            <a:ext cx="268434" cy="579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a:xfrm rot="16200000" flipH="1">
            <a:off x="1246747" y="2407889"/>
            <a:ext cx="2492174" cy="36276"/>
          </a:xfrm>
          <a:prstGeom prst="line">
            <a:avLst/>
          </a:prstGeom>
        </p:spPr>
        <p:style>
          <a:lnRef idx="1">
            <a:schemeClr val="accent1"/>
          </a:lnRef>
          <a:fillRef idx="0">
            <a:schemeClr val="accent1"/>
          </a:fillRef>
          <a:effectRef idx="0">
            <a:schemeClr val="accent1"/>
          </a:effectRef>
          <a:fontRef idx="minor">
            <a:schemeClr val="tx1"/>
          </a:fontRef>
        </p:style>
      </p:cxnSp>
      <p:sp>
        <p:nvSpPr>
          <p:cNvPr id="132" name="Flowchart: Alternate Process 131"/>
          <p:cNvSpPr/>
          <p:nvPr/>
        </p:nvSpPr>
        <p:spPr>
          <a:xfrm>
            <a:off x="997133" y="574766"/>
            <a:ext cx="1325154" cy="484778"/>
          </a:xfrm>
          <a:prstGeom prst="flowChartAlternateProcess">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t> </a:t>
            </a:r>
            <a:endParaRPr lang="en-IN" sz="1400" dirty="0"/>
          </a:p>
        </p:txBody>
      </p:sp>
      <p:sp>
        <p:nvSpPr>
          <p:cNvPr id="133" name="TextBox 132"/>
          <p:cNvSpPr txBox="1"/>
          <p:nvPr/>
        </p:nvSpPr>
        <p:spPr>
          <a:xfrm>
            <a:off x="965201" y="568959"/>
            <a:ext cx="1328056" cy="523220"/>
          </a:xfrm>
          <a:prstGeom prst="rect">
            <a:avLst/>
          </a:prstGeom>
          <a:noFill/>
        </p:spPr>
        <p:txBody>
          <a:bodyPr wrap="square" rtlCol="0">
            <a:spAutoFit/>
          </a:bodyPr>
          <a:lstStyle/>
          <a:p>
            <a:r>
              <a:rPr lang="en-IN" sz="1400" dirty="0" smtClean="0">
                <a:latin typeface="Times New Roman" pitchFamily="18" charset="0"/>
                <a:cs typeface="Times New Roman" pitchFamily="18" charset="0"/>
              </a:rPr>
              <a:t>Dividend in AQ</a:t>
            </a:r>
          </a:p>
          <a:p>
            <a:r>
              <a:rPr lang="en-IN" sz="1400" dirty="0" smtClean="0">
                <a:latin typeface="Times New Roman" pitchFamily="18" charset="0"/>
                <a:cs typeface="Times New Roman" pitchFamily="18" charset="0"/>
              </a:rPr>
              <a:t>Divisor in B</a:t>
            </a:r>
            <a:endParaRPr lang="en-IN" sz="1400" dirty="0">
              <a:latin typeface="Times New Roman" pitchFamily="18" charset="0"/>
              <a:cs typeface="Times New Roman" pitchFamily="18" charset="0"/>
            </a:endParaRPr>
          </a:p>
        </p:txBody>
      </p:sp>
      <p:cxnSp>
        <p:nvCxnSpPr>
          <p:cNvPr id="138" name="Straight Arrow Connector 137"/>
          <p:cNvCxnSpPr/>
          <p:nvPr/>
        </p:nvCxnSpPr>
        <p:spPr>
          <a:xfrm rot="10800000">
            <a:off x="3744686" y="5515429"/>
            <a:ext cx="34834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9" name="TextBox 138"/>
          <p:cNvSpPr txBox="1"/>
          <p:nvPr/>
        </p:nvSpPr>
        <p:spPr>
          <a:xfrm>
            <a:off x="3770812" y="5473335"/>
            <a:ext cx="444137"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=0   </a:t>
            </a:r>
            <a:endParaRPr lang="en-IN" sz="1400" dirty="0">
              <a:latin typeface="Times New Roman" pitchFamily="18" charset="0"/>
              <a:cs typeface="Times New Roman" pitchFamily="18" charset="0"/>
            </a:endParaRPr>
          </a:p>
        </p:txBody>
      </p:sp>
      <p:sp>
        <p:nvSpPr>
          <p:cNvPr id="140" name="TextBox 139"/>
          <p:cNvSpPr txBox="1"/>
          <p:nvPr/>
        </p:nvSpPr>
        <p:spPr>
          <a:xfrm>
            <a:off x="4627157" y="5412374"/>
            <a:ext cx="383176"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≠0</a:t>
            </a:r>
            <a:endParaRPr lang="en-IN" sz="1400" dirty="0">
              <a:latin typeface="Times New Roman" pitchFamily="18" charset="0"/>
              <a:cs typeface="Times New Roman" pitchFamily="18" charset="0"/>
            </a:endParaRPr>
          </a:p>
        </p:txBody>
      </p:sp>
      <p:sp>
        <p:nvSpPr>
          <p:cNvPr id="141" name="TextBox 140"/>
          <p:cNvSpPr txBox="1"/>
          <p:nvPr/>
        </p:nvSpPr>
        <p:spPr>
          <a:xfrm>
            <a:off x="4003042" y="3209107"/>
            <a:ext cx="444137"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=1   </a:t>
            </a:r>
            <a:endParaRPr lang="en-IN" sz="1400" dirty="0">
              <a:latin typeface="Times New Roman" pitchFamily="18" charset="0"/>
              <a:cs typeface="Times New Roman" pitchFamily="18" charset="0"/>
            </a:endParaRPr>
          </a:p>
        </p:txBody>
      </p:sp>
      <p:sp>
        <p:nvSpPr>
          <p:cNvPr id="142" name="TextBox 141"/>
          <p:cNvSpPr txBox="1"/>
          <p:nvPr/>
        </p:nvSpPr>
        <p:spPr>
          <a:xfrm>
            <a:off x="4013199" y="3429652"/>
            <a:ext cx="537030" cy="304800"/>
          </a:xfrm>
          <a:prstGeom prst="rect">
            <a:avLst/>
          </a:prstGeom>
          <a:noFill/>
        </p:spPr>
        <p:txBody>
          <a:bodyPr wrap="square" rtlCol="0">
            <a:spAutoFit/>
          </a:bodyPr>
          <a:lstStyle/>
          <a:p>
            <a:r>
              <a:rPr lang="en-IN" sz="1400" dirty="0" smtClean="0">
                <a:latin typeface="Times New Roman" pitchFamily="18" charset="0"/>
                <a:cs typeface="Times New Roman" pitchFamily="18" charset="0"/>
              </a:rPr>
              <a:t>A≥B   </a:t>
            </a:r>
            <a:endParaRPr lang="en-IN" sz="1400" dirty="0">
              <a:latin typeface="Times New Roman" pitchFamily="18" charset="0"/>
              <a:cs typeface="Times New Roman" pitchFamily="18" charset="0"/>
            </a:endParaRPr>
          </a:p>
        </p:txBody>
      </p:sp>
      <p:sp>
        <p:nvSpPr>
          <p:cNvPr id="143" name="TextBox 142"/>
          <p:cNvSpPr txBox="1"/>
          <p:nvPr/>
        </p:nvSpPr>
        <p:spPr>
          <a:xfrm>
            <a:off x="3299099" y="3651792"/>
            <a:ext cx="444137"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=0    </a:t>
            </a:r>
            <a:endParaRPr lang="en-IN" sz="1400" dirty="0">
              <a:latin typeface="Times New Roman" pitchFamily="18" charset="0"/>
              <a:cs typeface="Times New Roman" pitchFamily="18" charset="0"/>
            </a:endParaRPr>
          </a:p>
        </p:txBody>
      </p:sp>
      <p:sp>
        <p:nvSpPr>
          <p:cNvPr id="144" name="TextBox 143"/>
          <p:cNvSpPr txBox="1"/>
          <p:nvPr/>
        </p:nvSpPr>
        <p:spPr>
          <a:xfrm>
            <a:off x="3643086" y="3669137"/>
            <a:ext cx="537030" cy="304800"/>
          </a:xfrm>
          <a:prstGeom prst="rect">
            <a:avLst/>
          </a:prstGeom>
          <a:noFill/>
        </p:spPr>
        <p:txBody>
          <a:bodyPr wrap="square" rtlCol="0">
            <a:spAutoFit/>
          </a:bodyPr>
          <a:lstStyle/>
          <a:p>
            <a:r>
              <a:rPr lang="en-IN" sz="1400" dirty="0" smtClean="0">
                <a:latin typeface="Times New Roman" pitchFamily="18" charset="0"/>
                <a:cs typeface="Times New Roman" pitchFamily="18" charset="0"/>
              </a:rPr>
              <a:t>A&lt;B  </a:t>
            </a:r>
            <a:endParaRPr lang="en-IN" sz="1400" dirty="0">
              <a:latin typeface="Times New Roman" pitchFamily="18" charset="0"/>
              <a:cs typeface="Times New Roman" pitchFamily="18" charset="0"/>
            </a:endParaRPr>
          </a:p>
        </p:txBody>
      </p:sp>
      <p:sp>
        <p:nvSpPr>
          <p:cNvPr id="146" name="TextBox 145"/>
          <p:cNvSpPr txBox="1"/>
          <p:nvPr/>
        </p:nvSpPr>
        <p:spPr>
          <a:xfrm>
            <a:off x="5442856" y="3436910"/>
            <a:ext cx="537030" cy="304800"/>
          </a:xfrm>
          <a:prstGeom prst="rect">
            <a:avLst/>
          </a:prstGeom>
          <a:noFill/>
        </p:spPr>
        <p:txBody>
          <a:bodyPr wrap="square" rtlCol="0">
            <a:spAutoFit/>
          </a:bodyPr>
          <a:lstStyle/>
          <a:p>
            <a:r>
              <a:rPr lang="en-IN" sz="1400" dirty="0" smtClean="0">
                <a:latin typeface="Times New Roman" pitchFamily="18" charset="0"/>
                <a:cs typeface="Times New Roman" pitchFamily="18" charset="0"/>
              </a:rPr>
              <a:t>A≥B   </a:t>
            </a:r>
            <a:endParaRPr lang="en-IN" sz="1400" dirty="0">
              <a:latin typeface="Times New Roman" pitchFamily="18" charset="0"/>
              <a:cs typeface="Times New Roman" pitchFamily="18" charset="0"/>
            </a:endParaRPr>
          </a:p>
        </p:txBody>
      </p:sp>
      <p:sp>
        <p:nvSpPr>
          <p:cNvPr id="147" name="TextBox 146"/>
          <p:cNvSpPr txBox="1"/>
          <p:nvPr/>
        </p:nvSpPr>
        <p:spPr>
          <a:xfrm>
            <a:off x="4728755" y="1960880"/>
            <a:ext cx="444137"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=1     </a:t>
            </a:r>
            <a:endParaRPr lang="en-IN" sz="1400" dirty="0">
              <a:latin typeface="Times New Roman" pitchFamily="18" charset="0"/>
              <a:cs typeface="Times New Roman" pitchFamily="18" charset="0"/>
            </a:endParaRPr>
          </a:p>
        </p:txBody>
      </p:sp>
      <p:sp>
        <p:nvSpPr>
          <p:cNvPr id="148" name="TextBox 147"/>
          <p:cNvSpPr txBox="1"/>
          <p:nvPr/>
        </p:nvSpPr>
        <p:spPr>
          <a:xfrm>
            <a:off x="3618411" y="1982651"/>
            <a:ext cx="444137"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=0    </a:t>
            </a:r>
            <a:endParaRPr lang="en-IN" sz="1400" dirty="0">
              <a:latin typeface="Times New Roman" pitchFamily="18" charset="0"/>
              <a:cs typeface="Times New Roman" pitchFamily="18" charset="0"/>
            </a:endParaRPr>
          </a:p>
        </p:txBody>
      </p:sp>
      <p:sp>
        <p:nvSpPr>
          <p:cNvPr id="149" name="TextBox 148"/>
          <p:cNvSpPr txBox="1"/>
          <p:nvPr/>
        </p:nvSpPr>
        <p:spPr>
          <a:xfrm>
            <a:off x="4542970" y="878039"/>
            <a:ext cx="1553029"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Divide magnitudes</a:t>
            </a:r>
            <a:endParaRPr lang="en-IN" sz="1400" dirty="0">
              <a:latin typeface="Times New Roman" pitchFamily="18" charset="0"/>
              <a:cs typeface="Times New Roman" pitchFamily="18" charset="0"/>
            </a:endParaRPr>
          </a:p>
        </p:txBody>
      </p:sp>
      <p:graphicFrame>
        <p:nvGraphicFramePr>
          <p:cNvPr id="150" name="Table 149"/>
          <p:cNvGraphicFramePr>
            <a:graphicFrameLocks noGrp="1"/>
          </p:cNvGraphicFramePr>
          <p:nvPr/>
        </p:nvGraphicFramePr>
        <p:xfrm>
          <a:off x="7561940" y="216264"/>
          <a:ext cx="4321414" cy="6202680"/>
        </p:xfrm>
        <a:graphic>
          <a:graphicData uri="http://schemas.openxmlformats.org/drawingml/2006/table">
            <a:tbl>
              <a:tblPr firstRow="1" bandRow="1">
                <a:tableStyleId>{5C22544A-7EE6-4342-B048-85BDC9FD1C3A}</a:tableStyleId>
              </a:tblPr>
              <a:tblGrid>
                <a:gridCol w="1799773"/>
                <a:gridCol w="362857"/>
                <a:gridCol w="827315"/>
                <a:gridCol w="711200"/>
                <a:gridCol w="620269"/>
              </a:tblGrid>
              <a:tr h="370840">
                <a:tc gridSpan="5">
                  <a:txBody>
                    <a:bodyPr/>
                    <a:lstStyle/>
                    <a:p>
                      <a:r>
                        <a:rPr lang="en-IN" sz="1600" dirty="0" smtClean="0">
                          <a:latin typeface="Times New Roman" pitchFamily="18" charset="0"/>
                          <a:cs typeface="Times New Roman" pitchFamily="18" charset="0"/>
                        </a:rPr>
                        <a:t>Example: Divisor B = 10001, B′+1 = 01111</a:t>
                      </a:r>
                      <a:endParaRPr lang="en-IN" sz="1600" dirty="0">
                        <a:latin typeface="Times New Roman" pitchFamily="18" charset="0"/>
                        <a:cs typeface="Times New Roman" pitchFamily="18" charset="0"/>
                      </a:endParaRPr>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r>
              <a:tr h="370840">
                <a:tc>
                  <a:txBody>
                    <a:bodyPr/>
                    <a:lstStyle/>
                    <a:p>
                      <a:r>
                        <a:rPr lang="en-IN" sz="1600" dirty="0" smtClean="0">
                          <a:latin typeface="Times New Roman" pitchFamily="18" charset="0"/>
                          <a:cs typeface="Times New Roman" pitchFamily="18" charset="0"/>
                        </a:rPr>
                        <a:t>Operation</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E</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A</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Q</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SC</a:t>
                      </a:r>
                      <a:endParaRPr lang="en-IN" sz="1600" dirty="0">
                        <a:latin typeface="Times New Roman" pitchFamily="18" charset="0"/>
                        <a:cs typeface="Times New Roman" pitchFamily="18" charset="0"/>
                      </a:endParaRPr>
                    </a:p>
                  </a:txBody>
                  <a:tcPr/>
                </a:tc>
              </a:tr>
              <a:tr h="370840">
                <a:tc>
                  <a:txBody>
                    <a:bodyPr/>
                    <a:lstStyle/>
                    <a:p>
                      <a:r>
                        <a:rPr lang="en-IN" sz="1600" dirty="0" smtClean="0">
                          <a:latin typeface="Times New Roman" pitchFamily="18" charset="0"/>
                          <a:cs typeface="Times New Roman" pitchFamily="18" charset="0"/>
                        </a:rPr>
                        <a:t>Initialization</a:t>
                      </a:r>
                      <a:endParaRPr lang="en-IN" sz="1600" dirty="0">
                        <a:latin typeface="Times New Roman" pitchFamily="18" charset="0"/>
                        <a:cs typeface="Times New Roman" pitchFamily="18" charset="0"/>
                      </a:endParaRPr>
                    </a:p>
                  </a:txBody>
                  <a:tcPr/>
                </a:tc>
                <a:tc>
                  <a:txBody>
                    <a:bodyPr/>
                    <a:lstStyle/>
                    <a:p>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01110</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00000</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101</a:t>
                      </a:r>
                      <a:endParaRPr lang="en-IN" sz="1600" dirty="0">
                        <a:latin typeface="Times New Roman" pitchFamily="18" charset="0"/>
                        <a:cs typeface="Times New Roman" pitchFamily="18" charset="0"/>
                      </a:endParaRPr>
                    </a:p>
                  </a:txBody>
                  <a:tcPr/>
                </a:tc>
              </a:tr>
              <a:tr h="790302">
                <a:tc>
                  <a:txBody>
                    <a:bodyPr/>
                    <a:lstStyle/>
                    <a:p>
                      <a:r>
                        <a:rPr lang="en-IN" sz="1600" dirty="0" err="1" smtClean="0">
                          <a:latin typeface="Times New Roman" pitchFamily="18" charset="0"/>
                          <a:cs typeface="Times New Roman" pitchFamily="18" charset="0"/>
                        </a:rPr>
                        <a:t>Shl</a:t>
                      </a:r>
                      <a:r>
                        <a:rPr lang="en-IN" sz="1600" dirty="0" smtClean="0">
                          <a:latin typeface="Times New Roman" pitchFamily="18" charset="0"/>
                          <a:cs typeface="Times New Roman" pitchFamily="18" charset="0"/>
                        </a:rPr>
                        <a:t> EAQ</a:t>
                      </a:r>
                    </a:p>
                    <a:p>
                      <a:r>
                        <a:rPr lang="en-IN" sz="1600" dirty="0" smtClean="0">
                          <a:latin typeface="Times New Roman" pitchFamily="18" charset="0"/>
                          <a:cs typeface="Times New Roman" pitchFamily="18" charset="0"/>
                        </a:rPr>
                        <a:t>E=0, add B′+1</a:t>
                      </a:r>
                    </a:p>
                    <a:p>
                      <a:r>
                        <a:rPr lang="en-IN" sz="1600" dirty="0" smtClean="0">
                          <a:latin typeface="Times New Roman" pitchFamily="18" charset="0"/>
                          <a:cs typeface="Times New Roman" pitchFamily="18" charset="0"/>
                        </a:rPr>
                        <a:t>E=1, </a:t>
                      </a:r>
                      <a:r>
                        <a:rPr lang="en-IN" sz="1600" dirty="0" err="1" smtClean="0">
                          <a:latin typeface="Times New Roman" pitchFamily="18" charset="0"/>
                          <a:cs typeface="Times New Roman" pitchFamily="18" charset="0"/>
                        </a:rPr>
                        <a:t>Qn</a:t>
                      </a:r>
                      <a:r>
                        <a:rPr lang="en-IN" sz="1600" dirty="0" smtClean="0">
                          <a:latin typeface="Times New Roman" pitchFamily="18" charset="0"/>
                          <a:cs typeface="Times New Roman" pitchFamily="18" charset="0"/>
                        </a:rPr>
                        <a:t>=1</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0</a:t>
                      </a: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1</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11100</a:t>
                      </a:r>
                    </a:p>
                    <a:p>
                      <a:r>
                        <a:rPr lang="en-IN" sz="1600" dirty="0" smtClean="0">
                          <a:latin typeface="Times New Roman" pitchFamily="18" charset="0"/>
                          <a:cs typeface="Times New Roman" pitchFamily="18" charset="0"/>
                        </a:rPr>
                        <a:t>01111</a:t>
                      </a:r>
                    </a:p>
                    <a:p>
                      <a:r>
                        <a:rPr lang="en-IN" sz="1600" dirty="0" smtClean="0">
                          <a:latin typeface="Times New Roman" pitchFamily="18" charset="0"/>
                          <a:cs typeface="Times New Roman" pitchFamily="18" charset="0"/>
                        </a:rPr>
                        <a:t>01011</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00000</a:t>
                      </a: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00001</a:t>
                      </a:r>
                      <a:endParaRPr lang="en-IN" sz="1600" dirty="0">
                        <a:latin typeface="Times New Roman" pitchFamily="18" charset="0"/>
                        <a:cs typeface="Times New Roman" pitchFamily="18" charset="0"/>
                      </a:endParaRPr>
                    </a:p>
                  </a:txBody>
                  <a:tcPr/>
                </a:tc>
                <a:tc>
                  <a:txBody>
                    <a:bodyPr/>
                    <a:lstStyle/>
                    <a:p>
                      <a:endParaRPr lang="en-IN" sz="1600" dirty="0" smtClean="0">
                        <a:latin typeface="Times New Roman" pitchFamily="18" charset="0"/>
                        <a:cs typeface="Times New Roman" pitchFamily="18" charset="0"/>
                      </a:endParaRP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100</a:t>
                      </a:r>
                      <a:endParaRPr lang="en-IN" sz="1600" dirty="0">
                        <a:latin typeface="Times New Roman" pitchFamily="18" charset="0"/>
                        <a:cs typeface="Times New Roman" pitchFamily="18" charset="0"/>
                      </a:endParaRPr>
                    </a:p>
                  </a:txBody>
                  <a:tcPr/>
                </a:tc>
              </a:tr>
              <a:tr h="370840">
                <a:tc>
                  <a:txBody>
                    <a:bodyPr/>
                    <a:lstStyle/>
                    <a:p>
                      <a:r>
                        <a:rPr lang="en-IN" sz="1600" dirty="0" err="1" smtClean="0">
                          <a:latin typeface="Times New Roman" pitchFamily="18" charset="0"/>
                          <a:cs typeface="Times New Roman" pitchFamily="18" charset="0"/>
                        </a:rPr>
                        <a:t>Shl</a:t>
                      </a:r>
                      <a:r>
                        <a:rPr lang="en-IN" sz="1600" baseline="0" dirty="0" smtClean="0">
                          <a:latin typeface="Times New Roman" pitchFamily="18" charset="0"/>
                          <a:cs typeface="Times New Roman" pitchFamily="18" charset="0"/>
                        </a:rPr>
                        <a:t> EAQ</a:t>
                      </a:r>
                    </a:p>
                    <a:p>
                      <a:r>
                        <a:rPr lang="en-IN" sz="1600" baseline="0" dirty="0" smtClean="0">
                          <a:latin typeface="Times New Roman" pitchFamily="18" charset="0"/>
                          <a:cs typeface="Times New Roman" pitchFamily="18" charset="0"/>
                        </a:rPr>
                        <a:t>E=0, add B′+1</a:t>
                      </a:r>
                    </a:p>
                    <a:p>
                      <a:r>
                        <a:rPr lang="en-IN" sz="1600" baseline="0" dirty="0" smtClean="0">
                          <a:latin typeface="Times New Roman" pitchFamily="18" charset="0"/>
                          <a:cs typeface="Times New Roman" pitchFamily="18" charset="0"/>
                        </a:rPr>
                        <a:t>E=1, </a:t>
                      </a:r>
                      <a:r>
                        <a:rPr lang="en-IN" sz="1600" baseline="0" dirty="0" err="1" smtClean="0">
                          <a:latin typeface="Times New Roman" pitchFamily="18" charset="0"/>
                          <a:cs typeface="Times New Roman" pitchFamily="18" charset="0"/>
                        </a:rPr>
                        <a:t>Qn</a:t>
                      </a:r>
                      <a:r>
                        <a:rPr lang="en-IN" sz="1600" baseline="0" dirty="0" smtClean="0">
                          <a:latin typeface="Times New Roman" pitchFamily="18" charset="0"/>
                          <a:cs typeface="Times New Roman" pitchFamily="18" charset="0"/>
                        </a:rPr>
                        <a:t>=1</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0</a:t>
                      </a: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1</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10110</a:t>
                      </a:r>
                    </a:p>
                    <a:p>
                      <a:r>
                        <a:rPr lang="en-IN" sz="1600" dirty="0" smtClean="0">
                          <a:latin typeface="Times New Roman" pitchFamily="18" charset="0"/>
                          <a:cs typeface="Times New Roman" pitchFamily="18" charset="0"/>
                        </a:rPr>
                        <a:t>01111</a:t>
                      </a:r>
                    </a:p>
                    <a:p>
                      <a:r>
                        <a:rPr lang="en-IN" sz="1600" dirty="0" smtClean="0">
                          <a:latin typeface="Times New Roman" pitchFamily="18" charset="0"/>
                          <a:cs typeface="Times New Roman" pitchFamily="18" charset="0"/>
                        </a:rPr>
                        <a:t>00101</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00010</a:t>
                      </a: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00011</a:t>
                      </a:r>
                      <a:endParaRPr lang="en-IN" sz="1600" dirty="0">
                        <a:latin typeface="Times New Roman" pitchFamily="18" charset="0"/>
                        <a:cs typeface="Times New Roman" pitchFamily="18" charset="0"/>
                      </a:endParaRPr>
                    </a:p>
                  </a:txBody>
                  <a:tcPr/>
                </a:tc>
                <a:tc>
                  <a:txBody>
                    <a:bodyPr/>
                    <a:lstStyle/>
                    <a:p>
                      <a:endParaRPr lang="en-IN" sz="1600" dirty="0" smtClean="0">
                        <a:latin typeface="Times New Roman" pitchFamily="18" charset="0"/>
                        <a:cs typeface="Times New Roman" pitchFamily="18" charset="0"/>
                      </a:endParaRP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011</a:t>
                      </a:r>
                      <a:endParaRPr lang="en-IN" sz="1600" dirty="0">
                        <a:latin typeface="Times New Roman" pitchFamily="18" charset="0"/>
                        <a:cs typeface="Times New Roman" pitchFamily="18" charset="0"/>
                      </a:endParaRPr>
                    </a:p>
                  </a:txBody>
                  <a:tcPr/>
                </a:tc>
              </a:tr>
              <a:tr h="370840">
                <a:tc>
                  <a:txBody>
                    <a:bodyPr/>
                    <a:lstStyle/>
                    <a:p>
                      <a:r>
                        <a:rPr lang="en-IN" sz="1600" dirty="0" err="1" smtClean="0">
                          <a:latin typeface="Times New Roman" pitchFamily="18" charset="0"/>
                          <a:cs typeface="Times New Roman" pitchFamily="18" charset="0"/>
                        </a:rPr>
                        <a:t>Shl</a:t>
                      </a:r>
                      <a:r>
                        <a:rPr lang="en-IN" sz="1600" dirty="0" smtClean="0">
                          <a:latin typeface="Times New Roman" pitchFamily="18" charset="0"/>
                          <a:cs typeface="Times New Roman" pitchFamily="18" charset="0"/>
                        </a:rPr>
                        <a:t> EAQ</a:t>
                      </a:r>
                    </a:p>
                    <a:p>
                      <a:r>
                        <a:rPr lang="en-IN" sz="1600" dirty="0" smtClean="0">
                          <a:latin typeface="Times New Roman" pitchFamily="18" charset="0"/>
                          <a:cs typeface="Times New Roman" pitchFamily="18" charset="0"/>
                        </a:rPr>
                        <a:t>E=0, add B′+1</a:t>
                      </a: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E=0, add B</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0</a:t>
                      </a: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0</a:t>
                      </a: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1</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01010</a:t>
                      </a:r>
                    </a:p>
                    <a:p>
                      <a:r>
                        <a:rPr lang="en-IN" sz="1600" dirty="0" smtClean="0">
                          <a:latin typeface="Times New Roman" pitchFamily="18" charset="0"/>
                          <a:cs typeface="Times New Roman" pitchFamily="18" charset="0"/>
                        </a:rPr>
                        <a:t>01111</a:t>
                      </a:r>
                    </a:p>
                    <a:p>
                      <a:r>
                        <a:rPr lang="en-IN" sz="1600" dirty="0" smtClean="0">
                          <a:latin typeface="Times New Roman" pitchFamily="18" charset="0"/>
                          <a:cs typeface="Times New Roman" pitchFamily="18" charset="0"/>
                        </a:rPr>
                        <a:t>11001</a:t>
                      </a:r>
                    </a:p>
                    <a:p>
                      <a:r>
                        <a:rPr lang="en-IN" sz="1600" dirty="0" smtClean="0">
                          <a:latin typeface="Times New Roman" pitchFamily="18" charset="0"/>
                          <a:cs typeface="Times New Roman" pitchFamily="18" charset="0"/>
                        </a:rPr>
                        <a:t>10001</a:t>
                      </a:r>
                    </a:p>
                    <a:p>
                      <a:r>
                        <a:rPr lang="en-IN" sz="1600" dirty="0" smtClean="0">
                          <a:latin typeface="Times New Roman" pitchFamily="18" charset="0"/>
                          <a:cs typeface="Times New Roman" pitchFamily="18" charset="0"/>
                        </a:rPr>
                        <a:t>01010</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00110</a:t>
                      </a:r>
                    </a:p>
                    <a:p>
                      <a:endParaRPr lang="en-IN" sz="1600" dirty="0" smtClean="0">
                        <a:latin typeface="Times New Roman" pitchFamily="18" charset="0"/>
                        <a:cs typeface="Times New Roman" pitchFamily="18" charset="0"/>
                      </a:endParaRPr>
                    </a:p>
                    <a:p>
                      <a:endParaRPr lang="en-IN" sz="1600" dirty="0" smtClean="0">
                        <a:latin typeface="Times New Roman" pitchFamily="18" charset="0"/>
                        <a:cs typeface="Times New Roman" pitchFamily="18" charset="0"/>
                      </a:endParaRP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00110</a:t>
                      </a:r>
                      <a:endParaRPr lang="en-IN" sz="1600" dirty="0">
                        <a:latin typeface="Times New Roman" pitchFamily="18" charset="0"/>
                        <a:cs typeface="Times New Roman" pitchFamily="18" charset="0"/>
                      </a:endParaRPr>
                    </a:p>
                  </a:txBody>
                  <a:tcPr/>
                </a:tc>
                <a:tc>
                  <a:txBody>
                    <a:bodyPr/>
                    <a:lstStyle/>
                    <a:p>
                      <a:endParaRPr lang="en-IN" sz="1600" dirty="0" smtClean="0">
                        <a:latin typeface="Times New Roman" pitchFamily="18" charset="0"/>
                        <a:cs typeface="Times New Roman" pitchFamily="18" charset="0"/>
                      </a:endParaRPr>
                    </a:p>
                    <a:p>
                      <a:endParaRPr lang="en-IN" sz="1600" dirty="0" smtClean="0">
                        <a:latin typeface="Times New Roman" pitchFamily="18" charset="0"/>
                        <a:cs typeface="Times New Roman" pitchFamily="18" charset="0"/>
                      </a:endParaRPr>
                    </a:p>
                    <a:p>
                      <a:endParaRPr lang="en-IN" sz="1600" dirty="0" smtClean="0">
                        <a:latin typeface="Times New Roman" pitchFamily="18" charset="0"/>
                        <a:cs typeface="Times New Roman" pitchFamily="18" charset="0"/>
                      </a:endParaRP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010</a:t>
                      </a:r>
                      <a:endParaRPr lang="en-IN" sz="1600" dirty="0">
                        <a:latin typeface="Times New Roman" pitchFamily="18" charset="0"/>
                        <a:cs typeface="Times New Roman" pitchFamily="18" charset="0"/>
                      </a:endParaRP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600" dirty="0" err="1" smtClean="0">
                          <a:latin typeface="Times New Roman" pitchFamily="18" charset="0"/>
                          <a:cs typeface="Times New Roman" pitchFamily="18" charset="0"/>
                        </a:rPr>
                        <a:t>Shl</a:t>
                      </a:r>
                      <a:r>
                        <a:rPr lang="en-IN" sz="1600" dirty="0" smtClean="0">
                          <a:latin typeface="Times New Roman" pitchFamily="18" charset="0"/>
                          <a:cs typeface="Times New Roman" pitchFamily="18" charset="0"/>
                        </a:rPr>
                        <a:t> EAQ</a:t>
                      </a:r>
                    </a:p>
                    <a:p>
                      <a:pPr marL="0" marR="0" indent="0" algn="l" defTabSz="914400" rtl="0" eaLnBrk="1" fontAlgn="auto" latinLnBrk="0" hangingPunct="1">
                        <a:lnSpc>
                          <a:spcPct val="100000"/>
                        </a:lnSpc>
                        <a:spcBef>
                          <a:spcPts val="0"/>
                        </a:spcBef>
                        <a:spcAft>
                          <a:spcPts val="0"/>
                        </a:spcAft>
                        <a:buClrTx/>
                        <a:buSzTx/>
                        <a:buFontTx/>
                        <a:buNone/>
                        <a:tabLst/>
                        <a:defRPr/>
                      </a:pPr>
                      <a:r>
                        <a:rPr lang="en-IN" sz="1600" dirty="0" smtClean="0">
                          <a:latin typeface="Times New Roman" pitchFamily="18" charset="0"/>
                          <a:cs typeface="Times New Roman" pitchFamily="18" charset="0"/>
                        </a:rPr>
                        <a:t>E=0, add B′+1</a:t>
                      </a:r>
                    </a:p>
                    <a:p>
                      <a:pPr marL="0" marR="0" indent="0" algn="l" defTabSz="914400" rtl="0" eaLnBrk="1" fontAlgn="auto" latinLnBrk="0" hangingPunct="1">
                        <a:lnSpc>
                          <a:spcPct val="100000"/>
                        </a:lnSpc>
                        <a:spcBef>
                          <a:spcPts val="0"/>
                        </a:spcBef>
                        <a:spcAft>
                          <a:spcPts val="0"/>
                        </a:spcAft>
                        <a:buClrTx/>
                        <a:buSzTx/>
                        <a:buFontTx/>
                        <a:buNone/>
                        <a:tabLst/>
                        <a:defRPr/>
                      </a:pPr>
                      <a:r>
                        <a:rPr lang="en-IN" sz="1600" dirty="0" smtClean="0">
                          <a:latin typeface="Times New Roman" pitchFamily="18" charset="0"/>
                          <a:cs typeface="Times New Roman" pitchFamily="18" charset="0"/>
                        </a:rPr>
                        <a:t>E=1,</a:t>
                      </a:r>
                      <a:r>
                        <a:rPr lang="en-IN" sz="1600" baseline="0" dirty="0" smtClean="0">
                          <a:latin typeface="Times New Roman" pitchFamily="18" charset="0"/>
                          <a:cs typeface="Times New Roman" pitchFamily="18" charset="0"/>
                        </a:rPr>
                        <a:t> </a:t>
                      </a:r>
                      <a:r>
                        <a:rPr lang="en-IN" sz="1600" baseline="0" dirty="0" err="1" smtClean="0">
                          <a:latin typeface="Times New Roman" pitchFamily="18" charset="0"/>
                          <a:cs typeface="Times New Roman" pitchFamily="18" charset="0"/>
                        </a:rPr>
                        <a:t>Qn</a:t>
                      </a:r>
                      <a:r>
                        <a:rPr lang="en-IN" sz="1600" baseline="0" dirty="0" smtClean="0">
                          <a:latin typeface="Times New Roman" pitchFamily="18" charset="0"/>
                          <a:cs typeface="Times New Roman" pitchFamily="18" charset="0"/>
                        </a:rPr>
                        <a:t>=1</a:t>
                      </a:r>
                      <a:endParaRPr lang="en-IN" sz="1600" dirty="0" smtClean="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0</a:t>
                      </a: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1</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10100</a:t>
                      </a:r>
                    </a:p>
                    <a:p>
                      <a:r>
                        <a:rPr lang="en-IN" sz="1600" dirty="0" smtClean="0">
                          <a:latin typeface="Times New Roman" pitchFamily="18" charset="0"/>
                          <a:cs typeface="Times New Roman" pitchFamily="18" charset="0"/>
                        </a:rPr>
                        <a:t>01111</a:t>
                      </a:r>
                    </a:p>
                    <a:p>
                      <a:r>
                        <a:rPr lang="en-IN" sz="1600" dirty="0" smtClean="0">
                          <a:latin typeface="Times New Roman" pitchFamily="18" charset="0"/>
                          <a:cs typeface="Times New Roman" pitchFamily="18" charset="0"/>
                        </a:rPr>
                        <a:t>00011</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01100</a:t>
                      </a: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01101</a:t>
                      </a:r>
                      <a:endParaRPr lang="en-IN" sz="1600" dirty="0">
                        <a:latin typeface="Times New Roman" pitchFamily="18" charset="0"/>
                        <a:cs typeface="Times New Roman" pitchFamily="18" charset="0"/>
                      </a:endParaRPr>
                    </a:p>
                  </a:txBody>
                  <a:tcPr/>
                </a:tc>
                <a:tc>
                  <a:txBody>
                    <a:bodyPr/>
                    <a:lstStyle/>
                    <a:p>
                      <a:endParaRPr lang="en-IN" sz="1600" dirty="0" smtClean="0">
                        <a:latin typeface="Times New Roman" pitchFamily="18" charset="0"/>
                        <a:cs typeface="Times New Roman" pitchFamily="18" charset="0"/>
                      </a:endParaRP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001</a:t>
                      </a:r>
                      <a:endParaRPr lang="en-IN" sz="1600" dirty="0">
                        <a:latin typeface="Times New Roman" pitchFamily="18" charset="0"/>
                        <a:cs typeface="Times New Roman" pitchFamily="18" charset="0"/>
                      </a:endParaRPr>
                    </a:p>
                  </a:txBody>
                  <a:tcPr/>
                </a:tc>
              </a:tr>
              <a:tr h="370840">
                <a:tc>
                  <a:txBody>
                    <a:bodyPr/>
                    <a:lstStyle/>
                    <a:p>
                      <a:r>
                        <a:rPr lang="en-IN" sz="1600" dirty="0" err="1" smtClean="0">
                          <a:latin typeface="Times New Roman" pitchFamily="18" charset="0"/>
                          <a:cs typeface="Times New Roman" pitchFamily="18" charset="0"/>
                        </a:rPr>
                        <a:t>Shl</a:t>
                      </a:r>
                      <a:r>
                        <a:rPr lang="en-IN" sz="1600" dirty="0" smtClean="0">
                          <a:latin typeface="Times New Roman" pitchFamily="18" charset="0"/>
                          <a:cs typeface="Times New Roman" pitchFamily="18" charset="0"/>
                        </a:rPr>
                        <a:t> EAQ</a:t>
                      </a:r>
                    </a:p>
                    <a:p>
                      <a:r>
                        <a:rPr lang="en-IN" sz="1600" dirty="0" smtClean="0">
                          <a:latin typeface="Times New Roman" pitchFamily="18" charset="0"/>
                          <a:cs typeface="Times New Roman" pitchFamily="18" charset="0"/>
                        </a:rPr>
                        <a:t>E=0, add B′+1</a:t>
                      </a: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E=0, add B</a:t>
                      </a:r>
                      <a:endParaRPr lang="en-IN" sz="1600" dirty="0">
                        <a:latin typeface="Times New Roman" pitchFamily="18" charset="0"/>
                        <a:cs typeface="Times New Roman" pitchFamily="18" charset="0"/>
                      </a:endParaRPr>
                    </a:p>
                  </a:txBody>
                  <a:tcPr/>
                </a:tc>
                <a:tc>
                  <a:txBody>
                    <a:bodyPr/>
                    <a:lstStyle/>
                    <a:p>
                      <a:r>
                        <a:rPr lang="en-IN" sz="1600" dirty="0" smtClean="0">
                          <a:latin typeface="Times New Roman" pitchFamily="18" charset="0"/>
                          <a:cs typeface="Times New Roman" pitchFamily="18" charset="0"/>
                        </a:rPr>
                        <a:t>0</a:t>
                      </a:r>
                    </a:p>
                    <a:p>
                      <a:endParaRPr lang="en-IN" sz="1600" dirty="0" smtClean="0">
                        <a:latin typeface="Times New Roman" pitchFamily="18" charset="0"/>
                        <a:cs typeface="Times New Roman" pitchFamily="18" charset="0"/>
                      </a:endParaRPr>
                    </a:p>
                    <a:p>
                      <a:endParaRPr lang="en-IN" sz="1600" dirty="0" smtClean="0">
                        <a:latin typeface="Times New Roman" pitchFamily="18" charset="0"/>
                        <a:cs typeface="Times New Roman" pitchFamily="18" charset="0"/>
                      </a:endParaRP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1</a:t>
                      </a:r>
                      <a:endParaRPr lang="en-IN" sz="1600" dirty="0">
                        <a:latin typeface="Times New Roman" pitchFamily="18" charset="0"/>
                        <a:cs typeface="Times New Roman" pitchFamily="18" charset="0"/>
                      </a:endParaRPr>
                    </a:p>
                  </a:txBody>
                  <a:tcPr/>
                </a:tc>
                <a:tc>
                  <a:txBody>
                    <a:bodyPr/>
                    <a:lstStyle/>
                    <a:p>
                      <a:r>
                        <a:rPr lang="en-IN" sz="1600" dirty="0" smtClean="0">
                          <a:solidFill>
                            <a:schemeClr val="tx1"/>
                          </a:solidFill>
                          <a:latin typeface="Times New Roman" pitchFamily="18" charset="0"/>
                          <a:cs typeface="Times New Roman" pitchFamily="18" charset="0"/>
                        </a:rPr>
                        <a:t>00110</a:t>
                      </a:r>
                    </a:p>
                    <a:p>
                      <a:r>
                        <a:rPr lang="en-IN" sz="1600" dirty="0" smtClean="0">
                          <a:solidFill>
                            <a:schemeClr val="tx1"/>
                          </a:solidFill>
                          <a:latin typeface="Times New Roman" pitchFamily="18" charset="0"/>
                          <a:cs typeface="Times New Roman" pitchFamily="18" charset="0"/>
                        </a:rPr>
                        <a:t>01111</a:t>
                      </a:r>
                    </a:p>
                    <a:p>
                      <a:r>
                        <a:rPr lang="en-IN" sz="1600" dirty="0" smtClean="0">
                          <a:solidFill>
                            <a:schemeClr val="tx1"/>
                          </a:solidFill>
                          <a:latin typeface="Times New Roman" pitchFamily="18" charset="0"/>
                          <a:cs typeface="Times New Roman" pitchFamily="18" charset="0"/>
                        </a:rPr>
                        <a:t>10101</a:t>
                      </a:r>
                    </a:p>
                    <a:p>
                      <a:r>
                        <a:rPr lang="en-IN" sz="1600" dirty="0" smtClean="0">
                          <a:solidFill>
                            <a:schemeClr val="tx1"/>
                          </a:solidFill>
                          <a:latin typeface="Times New Roman" pitchFamily="18" charset="0"/>
                          <a:cs typeface="Times New Roman" pitchFamily="18" charset="0"/>
                        </a:rPr>
                        <a:t>10001</a:t>
                      </a:r>
                    </a:p>
                    <a:p>
                      <a:r>
                        <a:rPr lang="en-IN" sz="1600" dirty="0" smtClean="0">
                          <a:solidFill>
                            <a:srgbClr val="FF0000"/>
                          </a:solidFill>
                          <a:latin typeface="Times New Roman" pitchFamily="18" charset="0"/>
                          <a:cs typeface="Times New Roman" pitchFamily="18" charset="0"/>
                        </a:rPr>
                        <a:t>00110</a:t>
                      </a:r>
                      <a:endParaRPr lang="en-IN" sz="1600" dirty="0">
                        <a:solidFill>
                          <a:srgbClr val="FF0000"/>
                        </a:solidFill>
                        <a:latin typeface="Times New Roman" pitchFamily="18" charset="0"/>
                        <a:cs typeface="Times New Roman" pitchFamily="18" charset="0"/>
                      </a:endParaRPr>
                    </a:p>
                  </a:txBody>
                  <a:tcPr/>
                </a:tc>
                <a:tc>
                  <a:txBody>
                    <a:bodyPr/>
                    <a:lstStyle/>
                    <a:p>
                      <a:r>
                        <a:rPr lang="en-IN" sz="1600" dirty="0" smtClean="0">
                          <a:solidFill>
                            <a:schemeClr val="tx1"/>
                          </a:solidFill>
                          <a:latin typeface="Times New Roman" pitchFamily="18" charset="0"/>
                          <a:cs typeface="Times New Roman" pitchFamily="18" charset="0"/>
                        </a:rPr>
                        <a:t>11010</a:t>
                      </a:r>
                    </a:p>
                    <a:p>
                      <a:endParaRPr lang="en-IN" sz="1600" dirty="0" smtClean="0">
                        <a:solidFill>
                          <a:schemeClr val="tx1"/>
                        </a:solidFill>
                        <a:latin typeface="Times New Roman" pitchFamily="18" charset="0"/>
                        <a:cs typeface="Times New Roman" pitchFamily="18" charset="0"/>
                      </a:endParaRPr>
                    </a:p>
                    <a:p>
                      <a:endParaRPr lang="en-IN" sz="1600" dirty="0" smtClean="0">
                        <a:solidFill>
                          <a:schemeClr val="tx1"/>
                        </a:solidFill>
                        <a:latin typeface="Times New Roman" pitchFamily="18" charset="0"/>
                        <a:cs typeface="Times New Roman" pitchFamily="18" charset="0"/>
                      </a:endParaRPr>
                    </a:p>
                    <a:p>
                      <a:endParaRPr lang="en-IN" sz="1600" dirty="0" smtClean="0">
                        <a:solidFill>
                          <a:schemeClr val="tx1"/>
                        </a:solidFill>
                        <a:latin typeface="Times New Roman" pitchFamily="18" charset="0"/>
                        <a:cs typeface="Times New Roman" pitchFamily="18" charset="0"/>
                      </a:endParaRPr>
                    </a:p>
                    <a:p>
                      <a:r>
                        <a:rPr lang="en-IN" sz="1600" dirty="0" smtClean="0">
                          <a:solidFill>
                            <a:srgbClr val="FF0000"/>
                          </a:solidFill>
                          <a:latin typeface="Times New Roman" pitchFamily="18" charset="0"/>
                          <a:cs typeface="Times New Roman" pitchFamily="18" charset="0"/>
                        </a:rPr>
                        <a:t>11010</a:t>
                      </a:r>
                      <a:endParaRPr lang="en-IN" sz="1600" dirty="0">
                        <a:solidFill>
                          <a:srgbClr val="FF0000"/>
                        </a:solidFill>
                        <a:latin typeface="Times New Roman" pitchFamily="18" charset="0"/>
                        <a:cs typeface="Times New Roman" pitchFamily="18" charset="0"/>
                      </a:endParaRPr>
                    </a:p>
                  </a:txBody>
                  <a:tcPr/>
                </a:tc>
                <a:tc>
                  <a:txBody>
                    <a:bodyPr/>
                    <a:lstStyle/>
                    <a:p>
                      <a:endParaRPr lang="en-IN" sz="1600" dirty="0" smtClean="0">
                        <a:latin typeface="Times New Roman" pitchFamily="18" charset="0"/>
                        <a:cs typeface="Times New Roman" pitchFamily="18" charset="0"/>
                      </a:endParaRPr>
                    </a:p>
                    <a:p>
                      <a:endParaRPr lang="en-IN" sz="1600" dirty="0" smtClean="0">
                        <a:latin typeface="Times New Roman" pitchFamily="18" charset="0"/>
                        <a:cs typeface="Times New Roman" pitchFamily="18" charset="0"/>
                      </a:endParaRPr>
                    </a:p>
                    <a:p>
                      <a:endParaRPr lang="en-IN" sz="1600" dirty="0" smtClean="0">
                        <a:latin typeface="Times New Roman" pitchFamily="18" charset="0"/>
                        <a:cs typeface="Times New Roman" pitchFamily="18" charset="0"/>
                      </a:endParaRPr>
                    </a:p>
                    <a:p>
                      <a:endParaRPr lang="en-IN" sz="1600" dirty="0" smtClean="0">
                        <a:latin typeface="Times New Roman" pitchFamily="18" charset="0"/>
                        <a:cs typeface="Times New Roman" pitchFamily="18" charset="0"/>
                      </a:endParaRPr>
                    </a:p>
                    <a:p>
                      <a:r>
                        <a:rPr lang="en-IN" sz="1600" dirty="0" smtClean="0">
                          <a:latin typeface="Times New Roman" pitchFamily="18" charset="0"/>
                          <a:cs typeface="Times New Roman" pitchFamily="18" charset="0"/>
                        </a:rPr>
                        <a:t>000</a:t>
                      </a:r>
                      <a:endParaRPr lang="en-IN" sz="1600" dirty="0">
                        <a:latin typeface="Times New Roman" pitchFamily="18" charset="0"/>
                        <a:cs typeface="Times New Roman" pitchFamily="18" charset="0"/>
                      </a:endParaRPr>
                    </a:p>
                  </a:txBody>
                  <a:tcPr/>
                </a:tc>
              </a:tr>
            </a:tbl>
          </a:graphicData>
        </a:graphic>
      </p:graphicFrame>
      <p:sp>
        <p:nvSpPr>
          <p:cNvPr id="151" name="TextBox 150"/>
          <p:cNvSpPr txBox="1"/>
          <p:nvPr/>
        </p:nvSpPr>
        <p:spPr>
          <a:xfrm>
            <a:off x="6328229" y="6262915"/>
            <a:ext cx="1001484"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Remainder </a:t>
            </a:r>
            <a:endParaRPr lang="en-IN" sz="1400" dirty="0">
              <a:latin typeface="Times New Roman" pitchFamily="18" charset="0"/>
              <a:cs typeface="Times New Roman" pitchFamily="18" charset="0"/>
            </a:endParaRPr>
          </a:p>
        </p:txBody>
      </p:sp>
      <p:sp>
        <p:nvSpPr>
          <p:cNvPr id="152" name="TextBox 151"/>
          <p:cNvSpPr txBox="1"/>
          <p:nvPr/>
        </p:nvSpPr>
        <p:spPr>
          <a:xfrm>
            <a:off x="6524173" y="4767943"/>
            <a:ext cx="849084" cy="307777"/>
          </a:xfrm>
          <a:prstGeom prst="rect">
            <a:avLst/>
          </a:prstGeom>
          <a:noFill/>
        </p:spPr>
        <p:txBody>
          <a:bodyPr wrap="square" rtlCol="0">
            <a:spAutoFit/>
          </a:bodyPr>
          <a:lstStyle/>
          <a:p>
            <a:r>
              <a:rPr lang="en-IN" sz="1400" dirty="0" smtClean="0">
                <a:latin typeface="Times New Roman" pitchFamily="18" charset="0"/>
                <a:cs typeface="Times New Roman" pitchFamily="18" charset="0"/>
              </a:rPr>
              <a:t>Quotient</a:t>
            </a:r>
            <a:endParaRPr lang="en-IN" sz="1400" dirty="0">
              <a:latin typeface="Times New Roman" pitchFamily="18" charset="0"/>
              <a:cs typeface="Times New Roman" pitchFamily="18" charset="0"/>
            </a:endParaRPr>
          </a:p>
        </p:txBody>
      </p:sp>
      <p:cxnSp>
        <p:nvCxnSpPr>
          <p:cNvPr id="154" name="Straight Arrow Connector 153"/>
          <p:cNvCxnSpPr>
            <a:endCxn id="151" idx="3"/>
          </p:cNvCxnSpPr>
          <p:nvPr/>
        </p:nvCxnSpPr>
        <p:spPr>
          <a:xfrm rot="10800000" flipV="1">
            <a:off x="7329713" y="6284686"/>
            <a:ext cx="2481944" cy="13211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p:cNvCxnSpPr>
            <a:endCxn id="152" idx="2"/>
          </p:cNvCxnSpPr>
          <p:nvPr/>
        </p:nvCxnSpPr>
        <p:spPr>
          <a:xfrm rot="10800000">
            <a:off x="6948716" y="5075721"/>
            <a:ext cx="3936999" cy="1092851"/>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p:cNvSpPr txBox="1"/>
          <p:nvPr/>
        </p:nvSpPr>
        <p:spPr>
          <a:xfrm>
            <a:off x="6183085" y="5283202"/>
            <a:ext cx="1349829" cy="954107"/>
          </a:xfrm>
          <a:prstGeom prst="rect">
            <a:avLst/>
          </a:prstGeom>
          <a:noFill/>
        </p:spPr>
        <p:txBody>
          <a:bodyPr wrap="square" rtlCol="0">
            <a:spAutoFit/>
          </a:bodyPr>
          <a:lstStyle/>
          <a:p>
            <a:r>
              <a:rPr lang="en-IN" sz="1400" dirty="0" smtClean="0">
                <a:latin typeface="Times New Roman" pitchFamily="18" charset="0"/>
                <a:cs typeface="Times New Roman" pitchFamily="18" charset="0"/>
              </a:rPr>
              <a:t>Dividend = 448</a:t>
            </a:r>
          </a:p>
          <a:p>
            <a:r>
              <a:rPr lang="en-IN" sz="1400" dirty="0" smtClean="0">
                <a:latin typeface="Times New Roman" pitchFamily="18" charset="0"/>
                <a:cs typeface="Times New Roman" pitchFamily="18" charset="0"/>
              </a:rPr>
              <a:t>Divisor = 17</a:t>
            </a:r>
          </a:p>
          <a:p>
            <a:r>
              <a:rPr lang="en-IN" sz="1400" dirty="0" smtClean="0">
                <a:latin typeface="Times New Roman" pitchFamily="18" charset="0"/>
                <a:cs typeface="Times New Roman" pitchFamily="18" charset="0"/>
              </a:rPr>
              <a:t>Quotient=26</a:t>
            </a:r>
          </a:p>
          <a:p>
            <a:r>
              <a:rPr lang="en-IN" sz="1400" dirty="0" smtClean="0">
                <a:latin typeface="Times New Roman" pitchFamily="18" charset="0"/>
                <a:cs typeface="Times New Roman" pitchFamily="18" charset="0"/>
              </a:rPr>
              <a:t>Remainder = 6 </a:t>
            </a:r>
            <a:endParaRPr lang="en-IN" sz="1400" dirty="0">
              <a:latin typeface="Times New Roman" pitchFamily="18" charset="0"/>
              <a:cs typeface="Times New Roman" pitchFamily="18" charset="0"/>
            </a:endParaRPr>
          </a:p>
        </p:txBody>
      </p:sp>
      <p:cxnSp>
        <p:nvCxnSpPr>
          <p:cNvPr id="102" name="Straight Connector 101"/>
          <p:cNvCxnSpPr/>
          <p:nvPr/>
        </p:nvCxnSpPr>
        <p:spPr>
          <a:xfrm flipV="1">
            <a:off x="9695541" y="1836057"/>
            <a:ext cx="863601" cy="725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flipV="1">
            <a:off x="9724570" y="6088743"/>
            <a:ext cx="863601" cy="725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flipV="1">
            <a:off x="9717313" y="3497943"/>
            <a:ext cx="863601" cy="725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flipV="1">
            <a:off x="9710056" y="2648858"/>
            <a:ext cx="863601" cy="725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a:xfrm flipV="1">
            <a:off x="9717312" y="3962401"/>
            <a:ext cx="863601" cy="725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flipV="1">
            <a:off x="9717313" y="4775200"/>
            <a:ext cx="863601" cy="725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flipV="1">
            <a:off x="9688284" y="5631543"/>
            <a:ext cx="863601" cy="725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1" name="Straight Arrow Connector 110"/>
          <p:cNvCxnSpPr/>
          <p:nvPr/>
        </p:nvCxnSpPr>
        <p:spPr>
          <a:xfrm rot="5400000">
            <a:off x="10950233" y="4753428"/>
            <a:ext cx="233024" cy="79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4" name="Straight Arrow Connector 113"/>
          <p:cNvCxnSpPr/>
          <p:nvPr/>
        </p:nvCxnSpPr>
        <p:spPr>
          <a:xfrm rot="5400000">
            <a:off x="10957490" y="2569028"/>
            <a:ext cx="233024" cy="79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5" name="Straight Arrow Connector 114"/>
          <p:cNvCxnSpPr/>
          <p:nvPr/>
        </p:nvCxnSpPr>
        <p:spPr>
          <a:xfrm rot="5400000">
            <a:off x="10964748" y="1741714"/>
            <a:ext cx="233024" cy="79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1381</TotalTime>
  <Words>4556</Words>
  <Application>Microsoft Office PowerPoint</Application>
  <PresentationFormat>Custom</PresentationFormat>
  <Paragraphs>1135</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cst_laptop5</dc:creator>
  <cp:lastModifiedBy>cst_laptop5</cp:lastModifiedBy>
  <cp:revision>136</cp:revision>
  <dcterms:created xsi:type="dcterms:W3CDTF">2025-07-29T09:22:26Z</dcterms:created>
  <dcterms:modified xsi:type="dcterms:W3CDTF">2026-01-22T08:25:54Z</dcterms:modified>
</cp:coreProperties>
</file>