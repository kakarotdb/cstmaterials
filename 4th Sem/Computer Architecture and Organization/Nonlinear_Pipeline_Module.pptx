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74" r:id="rId10"/>
    <p:sldId id="264" r:id="rId11"/>
    <p:sldId id="265" r:id="rId12"/>
    <p:sldId id="267"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p:scale>
          <a:sx n="75" d="100"/>
          <a:sy n="75" d="100"/>
        </p:scale>
        <p:origin x="-540" y="-3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2188124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3407126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3768534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3368401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1363847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2704749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2904110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1350072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215631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974204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3640D57-AED0-4DB5-88F5-B8C48C0EBC47}" type="datetimeFigureOut">
              <a:rPr lang="en-IN" smtClean="0"/>
              <a:pPr/>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2442867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640D57-AED0-4DB5-88F5-B8C48C0EBC47}" type="datetimeFigureOut">
              <a:rPr lang="en-IN" smtClean="0"/>
              <a:pPr/>
              <a:t>06-04-2026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09A911-0116-4544-B66E-00943A973BD0}" type="slidenum">
              <a:rPr lang="en-IN" smtClean="0"/>
              <a:pPr/>
              <a:t>‹#›</a:t>
            </a:fld>
            <a:endParaRPr lang="en-IN"/>
          </a:p>
        </p:txBody>
      </p:sp>
    </p:spTree>
    <p:extLst>
      <p:ext uri="{BB962C8B-B14F-4D97-AF65-F5344CB8AC3E}">
        <p14:creationId xmlns:p14="http://schemas.microsoft.com/office/powerpoint/2010/main" xmlns="" val="1950731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957" y="87590"/>
            <a:ext cx="11784170" cy="369331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Nonlinear pipeline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Nonlinear pipeline is a dynamic pipeline, reconfigure to evaluate multiple functions at different times and so has more than one reservation table as shown in Fig 2, one for one function evaluation.         </a:t>
            </a:r>
          </a:p>
          <a:p>
            <a:r>
              <a:rPr lang="en-IN" dirty="0">
                <a:latin typeface="Times New Roman" panose="02020603050405020304" pitchFamily="18" charset="0"/>
                <a:cs typeface="Times New Roman" panose="02020603050405020304" pitchFamily="18" charset="0"/>
              </a:rPr>
              <a:t>Linear pipeline is a static pipeline, reconfigure to evaluate a single function and so has a single reservation table as shown in Fig 1.</a:t>
            </a:r>
          </a:p>
          <a:p>
            <a:pPr lvl="0"/>
            <a:r>
              <a:rPr lang="en-IN" dirty="0">
                <a:latin typeface="Times New Roman" panose="02020603050405020304" pitchFamily="18" charset="0"/>
                <a:cs typeface="Times New Roman" panose="02020603050405020304" pitchFamily="18" charset="0"/>
              </a:rPr>
              <a:t>A dynamic pipeline allows feed-forward and feedback connection in addition to the streamline connection (Fig 2).</a:t>
            </a:r>
          </a:p>
          <a:p>
            <a:r>
              <a:rPr lang="en-IN" dirty="0">
                <a:latin typeface="Times New Roman" panose="02020603050405020304" pitchFamily="18" charset="0"/>
                <a:cs typeface="Times New Roman" panose="02020603050405020304" pitchFamily="18" charset="0"/>
              </a:rPr>
              <a:t>A static pipeline allows only streamline connection (Fig 1)</a:t>
            </a:r>
          </a:p>
          <a:p>
            <a:pPr lvl="0"/>
            <a:r>
              <a:rPr lang="en-IN" dirty="0">
                <a:latin typeface="Times New Roman" panose="02020603050405020304" pitchFamily="18" charset="0"/>
                <a:cs typeface="Times New Roman" panose="02020603050405020304" pitchFamily="18" charset="0"/>
              </a:rPr>
              <a:t>A static pipeline partitions a given function into a sequence of linearly ordered sub-functions as it has only streamline connection</a:t>
            </a:r>
            <a:r>
              <a:rPr lang="en-IN" dirty="0" smtClean="0">
                <a:latin typeface="Times New Roman" panose="02020603050405020304" pitchFamily="18" charset="0"/>
                <a:cs typeface="Times New Roman" panose="02020603050405020304" pitchFamily="18" charset="0"/>
              </a:rPr>
              <a:t>. In </a:t>
            </a:r>
            <a:r>
              <a:rPr lang="en-IN" dirty="0">
                <a:latin typeface="Times New Roman" panose="02020603050405020304" pitchFamily="18" charset="0"/>
                <a:cs typeface="Times New Roman" panose="02020603050405020304" pitchFamily="18" charset="0"/>
              </a:rPr>
              <a:t>dynamic pipeline it is difficult as the pipeline segments are interconnected with loops due to feedback connections in addition to streamline connections</a:t>
            </a:r>
          </a:p>
          <a:p>
            <a:pPr lvl="0"/>
            <a:r>
              <a:rPr lang="en-IN" dirty="0">
                <a:latin typeface="Times New Roman" panose="02020603050405020304" pitchFamily="18" charset="0"/>
                <a:cs typeface="Times New Roman" panose="02020603050405020304" pitchFamily="18" charset="0"/>
              </a:rPr>
              <a:t>All instructions to a static pipeline use the same reservation table whereas dynamic pipeline may allow different initiations to follow a mix of reservation </a:t>
            </a:r>
            <a:r>
              <a:rPr lang="en-IN" dirty="0" smtClean="0">
                <a:latin typeface="Times New Roman" panose="02020603050405020304" pitchFamily="18" charset="0"/>
                <a:cs typeface="Times New Roman" panose="02020603050405020304" pitchFamily="18" charset="0"/>
              </a:rPr>
              <a:t>tables</a:t>
            </a:r>
            <a:endParaRPr lang="en-IN"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15984" y="4060882"/>
            <a:ext cx="6460124" cy="2585323"/>
          </a:xfrm>
          <a:prstGeom prst="rect">
            <a:avLst/>
          </a:prstGeom>
          <a:noFill/>
        </p:spPr>
        <p:txBody>
          <a:bodyPr wrap="square" rtlCol="0">
            <a:spAutoFit/>
          </a:bodyPr>
          <a:lstStyle/>
          <a:p>
            <a:r>
              <a:rPr lang="en-IN" u="sng" dirty="0" smtClean="0">
                <a:latin typeface="Times New Roman" panose="02020603050405020304" pitchFamily="18" charset="0"/>
                <a:cs typeface="Times New Roman" panose="02020603050405020304" pitchFamily="18" charset="0"/>
              </a:rPr>
              <a:t>Example</a:t>
            </a:r>
            <a:r>
              <a:rPr lang="en-IN" dirty="0" smtClean="0">
                <a:latin typeface="Times New Roman" panose="02020603050405020304" pitchFamily="18" charset="0"/>
                <a:cs typeface="Times New Roman" panose="02020603050405020304" pitchFamily="18" charset="0"/>
              </a:rPr>
              <a:t>: Fig 1 shows a linear pipeline having 3 segments (S1, S2, S3). </a:t>
            </a:r>
          </a:p>
          <a:p>
            <a:r>
              <a:rPr lang="en-IN" dirty="0" smtClean="0">
                <a:latin typeface="Times New Roman" panose="02020603050405020304" pitchFamily="18" charset="0"/>
                <a:cs typeface="Times New Roman" panose="02020603050405020304" pitchFamily="18" charset="0"/>
              </a:rPr>
              <a:t>Segments are connected with each other using streamline connection.</a:t>
            </a:r>
          </a:p>
          <a:p>
            <a:r>
              <a:rPr lang="en-IN" dirty="0" smtClean="0">
                <a:latin typeface="Times New Roman" panose="02020603050405020304" pitchFamily="18" charset="0"/>
                <a:cs typeface="Times New Roman" panose="02020603050405020304" pitchFamily="18" charset="0"/>
              </a:rPr>
              <a:t>Evaluate a single function. </a:t>
            </a:r>
          </a:p>
          <a:p>
            <a:r>
              <a:rPr lang="en-IN" dirty="0" smtClean="0">
                <a:latin typeface="Times New Roman" panose="02020603050405020304" pitchFamily="18" charset="0"/>
                <a:cs typeface="Times New Roman" panose="02020603050405020304" pitchFamily="18" charset="0"/>
              </a:rPr>
              <a:t>Function enters into the segment S1 of the pipeline (shown as Input in Fig 1), output of the function is obtained from segment S3 of the pipeline.  </a:t>
            </a:r>
          </a:p>
          <a:p>
            <a:r>
              <a:rPr lang="en-IN" dirty="0" smtClean="0">
                <a:latin typeface="Times New Roman" panose="02020603050405020304" pitchFamily="18" charset="0"/>
                <a:cs typeface="Times New Roman" panose="02020603050405020304" pitchFamily="18" charset="0"/>
              </a:rPr>
              <a:t>Function takes 3 </a:t>
            </a:r>
            <a:r>
              <a:rPr lang="en-IN" dirty="0" smtClean="0">
                <a:latin typeface="Times New Roman" panose="02020603050405020304" pitchFamily="18" charset="0"/>
                <a:cs typeface="Times New Roman" panose="02020603050405020304" pitchFamily="18" charset="0"/>
              </a:rPr>
              <a:t>clock cycles for </a:t>
            </a:r>
            <a:r>
              <a:rPr lang="en-IN" dirty="0" smtClean="0">
                <a:latin typeface="Times New Roman" panose="02020603050405020304" pitchFamily="18" charset="0"/>
                <a:cs typeface="Times New Roman" panose="02020603050405020304" pitchFamily="18" charset="0"/>
              </a:rPr>
              <a:t>evaluation.</a:t>
            </a:r>
            <a:endParaRPr lang="en-IN" dirty="0"/>
          </a:p>
        </p:txBody>
      </p:sp>
      <p:sp>
        <p:nvSpPr>
          <p:cNvPr id="7" name="Text Box 1"/>
          <p:cNvSpPr txBox="1">
            <a:spLocks noChangeArrowheads="1"/>
          </p:cNvSpPr>
          <p:nvPr/>
        </p:nvSpPr>
        <p:spPr bwMode="auto">
          <a:xfrm>
            <a:off x="10138217" y="4466943"/>
            <a:ext cx="47648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S3</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pic>
        <p:nvPicPr>
          <p:cNvPr id="9" name="table"/>
          <p:cNvPicPr>
            <a:picLocks noChangeAspect="1"/>
          </p:cNvPicPr>
          <p:nvPr/>
        </p:nvPicPr>
        <p:blipFill>
          <a:blip r:embed="rId2"/>
          <a:stretch>
            <a:fillRect/>
          </a:stretch>
        </p:blipFill>
        <p:spPr>
          <a:xfrm>
            <a:off x="7042244" y="4430332"/>
            <a:ext cx="853514" cy="463336"/>
          </a:xfrm>
          <a:prstGeom prst="rect">
            <a:avLst/>
          </a:prstGeom>
        </p:spPr>
      </p:pic>
      <p:pic>
        <p:nvPicPr>
          <p:cNvPr id="11" name="table"/>
          <p:cNvPicPr>
            <a:picLocks noChangeAspect="1"/>
          </p:cNvPicPr>
          <p:nvPr/>
        </p:nvPicPr>
        <p:blipFill>
          <a:blip r:embed="rId3"/>
          <a:stretch>
            <a:fillRect/>
          </a:stretch>
        </p:blipFill>
        <p:spPr>
          <a:xfrm>
            <a:off x="10965404" y="4469074"/>
            <a:ext cx="1127858" cy="457240"/>
          </a:xfrm>
          <a:prstGeom prst="rect">
            <a:avLst/>
          </a:prstGeom>
        </p:spPr>
      </p:pic>
      <p:sp>
        <p:nvSpPr>
          <p:cNvPr id="12" name="Text Box 1"/>
          <p:cNvSpPr txBox="1">
            <a:spLocks noChangeArrowheads="1"/>
          </p:cNvSpPr>
          <p:nvPr/>
        </p:nvSpPr>
        <p:spPr bwMode="auto">
          <a:xfrm>
            <a:off x="9195596" y="4477334"/>
            <a:ext cx="47648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S2</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
        <p:nvSpPr>
          <p:cNvPr id="13" name="Text Box 1"/>
          <p:cNvSpPr txBox="1">
            <a:spLocks noChangeArrowheads="1"/>
          </p:cNvSpPr>
          <p:nvPr/>
        </p:nvSpPr>
        <p:spPr bwMode="auto">
          <a:xfrm>
            <a:off x="8258148" y="4466943"/>
            <a:ext cx="47648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S1</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cxnSp>
        <p:nvCxnSpPr>
          <p:cNvPr id="26" name="Straight Arrow Connector 25"/>
          <p:cNvCxnSpPr>
            <a:endCxn id="13" idx="1"/>
          </p:cNvCxnSpPr>
          <p:nvPr/>
        </p:nvCxnSpPr>
        <p:spPr>
          <a:xfrm>
            <a:off x="7802357" y="4651609"/>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0614701" y="4651609"/>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9682426" y="4662000"/>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8739805" y="4689055"/>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xmlns="" val="1105481243"/>
              </p:ext>
            </p:extLst>
          </p:nvPr>
        </p:nvGraphicFramePr>
        <p:xfrm>
          <a:off x="8851790" y="4030632"/>
          <a:ext cx="1210614" cy="290195"/>
        </p:xfrm>
        <a:graphic>
          <a:graphicData uri="http://schemas.openxmlformats.org/drawingml/2006/table">
            <a:tbl>
              <a:tblPr firstRow="1" firstCol="1" bandRow="1">
                <a:tableStyleId>{5C22544A-7EE6-4342-B048-85BDC9FD1C3A}</a:tableStyleId>
              </a:tblPr>
              <a:tblGrid>
                <a:gridCol w="1210614">
                  <a:extLst>
                    <a:ext uri="{9D8B030D-6E8A-4147-A177-3AD203B41FA5}">
                      <a16:colId xmlns:a16="http://schemas.microsoft.com/office/drawing/2014/main" xmlns="" val="2641324041"/>
                    </a:ext>
                  </a:extLst>
                </a:gridCol>
              </a:tblGrid>
              <a:tr h="0">
                <a:tc>
                  <a:txBody>
                    <a:bodyPr/>
                    <a:lstStyle/>
                    <a:p>
                      <a:pPr algn="l">
                        <a:lnSpc>
                          <a:spcPct val="115000"/>
                        </a:lnSpc>
                        <a:spcAft>
                          <a:spcPts val="0"/>
                        </a:spcAft>
                      </a:pPr>
                      <a:r>
                        <a:rPr lang="en-IN" sz="1800" dirty="0">
                          <a:effectLst/>
                          <a:latin typeface="Times New Roman" panose="02020603050405020304" pitchFamily="18" charset="0"/>
                          <a:cs typeface="Times New Roman" panose="02020603050405020304" pitchFamily="18" charset="0"/>
                        </a:rPr>
                        <a:t>Streamline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293491344"/>
                  </a:ext>
                </a:extLst>
              </a:tr>
            </a:tbl>
          </a:graphicData>
        </a:graphic>
      </p:graphicFrame>
      <p:cxnSp>
        <p:nvCxnSpPr>
          <p:cNvPr id="32" name="Straight Arrow Connector 31"/>
          <p:cNvCxnSpPr/>
          <p:nvPr/>
        </p:nvCxnSpPr>
        <p:spPr>
          <a:xfrm flipH="1">
            <a:off x="8851790" y="4320827"/>
            <a:ext cx="240695" cy="341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9787514" y="4268571"/>
            <a:ext cx="235269" cy="383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0769693" y="3951495"/>
            <a:ext cx="710578"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Fig.1</a:t>
            </a:r>
            <a:endParaRPr lang="en-IN" dirty="0">
              <a:latin typeface="Times New Roman" panose="02020603050405020304" pitchFamily="18" charset="0"/>
              <a:cs typeface="Times New Roman" panose="02020603050405020304" pitchFamily="18" charset="0"/>
            </a:endParaRPr>
          </a:p>
        </p:txBody>
      </p:sp>
      <p:graphicFrame>
        <p:nvGraphicFramePr>
          <p:cNvPr id="36" name="Table 35"/>
          <p:cNvGraphicFramePr>
            <a:graphicFrameLocks noGrp="1"/>
          </p:cNvGraphicFramePr>
          <p:nvPr>
            <p:extLst>
              <p:ext uri="{D42A27DB-BD31-4B8C-83A1-F6EECF244321}">
                <p14:modId xmlns:p14="http://schemas.microsoft.com/office/powerpoint/2010/main" xmlns="" val="2500457149"/>
              </p:ext>
            </p:extLst>
          </p:nvPr>
        </p:nvGraphicFramePr>
        <p:xfrm>
          <a:off x="8098390" y="5067943"/>
          <a:ext cx="2520315" cy="1160780"/>
        </p:xfrm>
        <a:graphic>
          <a:graphicData uri="http://schemas.openxmlformats.org/drawingml/2006/table">
            <a:tbl>
              <a:tblPr firstRow="1" firstCol="1" bandRow="1">
                <a:tableStyleId>{5C22544A-7EE6-4342-B048-85BDC9FD1C3A}</a:tableStyleId>
              </a:tblPr>
              <a:tblGrid>
                <a:gridCol w="564515">
                  <a:extLst>
                    <a:ext uri="{9D8B030D-6E8A-4147-A177-3AD203B41FA5}">
                      <a16:colId xmlns:a16="http://schemas.microsoft.com/office/drawing/2014/main" xmlns="" val="773889764"/>
                    </a:ext>
                  </a:extLst>
                </a:gridCol>
                <a:gridCol w="695325">
                  <a:extLst>
                    <a:ext uri="{9D8B030D-6E8A-4147-A177-3AD203B41FA5}">
                      <a16:colId xmlns:a16="http://schemas.microsoft.com/office/drawing/2014/main" xmlns="" val="2687500783"/>
                    </a:ext>
                  </a:extLst>
                </a:gridCol>
                <a:gridCol w="630555">
                  <a:extLst>
                    <a:ext uri="{9D8B030D-6E8A-4147-A177-3AD203B41FA5}">
                      <a16:colId xmlns:a16="http://schemas.microsoft.com/office/drawing/2014/main" xmlns="" val="1836450894"/>
                    </a:ext>
                  </a:extLst>
                </a:gridCol>
                <a:gridCol w="629920">
                  <a:extLst>
                    <a:ext uri="{9D8B030D-6E8A-4147-A177-3AD203B41FA5}">
                      <a16:colId xmlns:a16="http://schemas.microsoft.com/office/drawing/2014/main" xmlns="" val="1613530693"/>
                    </a:ext>
                  </a:extLst>
                </a:gridCol>
              </a:tblGrid>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31963446"/>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1609757"/>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497791388"/>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X</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752665171"/>
                  </a:ext>
                </a:extLst>
              </a:tr>
            </a:tbl>
          </a:graphicData>
        </a:graphic>
      </p:graphicFrame>
      <p:sp>
        <p:nvSpPr>
          <p:cNvPr id="37" name="TextBox 36"/>
          <p:cNvSpPr txBox="1"/>
          <p:nvPr/>
        </p:nvSpPr>
        <p:spPr>
          <a:xfrm>
            <a:off x="7099175" y="3940001"/>
            <a:ext cx="1649504"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Linear </a:t>
            </a:r>
            <a:r>
              <a:rPr lang="en-IN" dirty="0" smtClean="0">
                <a:latin typeface="Times New Roman" panose="02020603050405020304" pitchFamily="18" charset="0"/>
                <a:cs typeface="Times New Roman" panose="02020603050405020304" pitchFamily="18" charset="0"/>
              </a:rPr>
              <a:t>pipeline</a:t>
            </a:r>
            <a:endParaRPr lang="en-IN"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8533046" y="6265334"/>
            <a:ext cx="1848102"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Reservation table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372230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a:spLocks noChangeArrowheads="1"/>
          </p:cNvSpPr>
          <p:nvPr/>
        </p:nvSpPr>
        <p:spPr bwMode="auto">
          <a:xfrm>
            <a:off x="2874533" y="989647"/>
            <a:ext cx="47648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S3</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
        <p:nvSpPr>
          <p:cNvPr id="5" name="Text Box 1"/>
          <p:cNvSpPr txBox="1">
            <a:spLocks noChangeArrowheads="1"/>
          </p:cNvSpPr>
          <p:nvPr/>
        </p:nvSpPr>
        <p:spPr bwMode="auto">
          <a:xfrm>
            <a:off x="1931912" y="1000038"/>
            <a:ext cx="476484" cy="3693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S2</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
        <p:nvSpPr>
          <p:cNvPr id="6" name="Text Box 1"/>
          <p:cNvSpPr txBox="1">
            <a:spLocks noChangeArrowheads="1"/>
          </p:cNvSpPr>
          <p:nvPr/>
        </p:nvSpPr>
        <p:spPr bwMode="auto">
          <a:xfrm>
            <a:off x="1020330" y="989646"/>
            <a:ext cx="450618" cy="3797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b="0" i="0" u="none" strike="noStrike" cap="none" normalizeH="0" baseline="0" dirty="0" smtClean="0">
                <a:ln>
                  <a:noFill/>
                </a:ln>
                <a:solidFill>
                  <a:schemeClr val="tx1"/>
                </a:solidFill>
                <a:effectLst/>
                <a:latin typeface="Times New Roman" panose="02020603050405020304" pitchFamily="18" charset="0"/>
              </a:rPr>
              <a:t>S1</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cxnSp>
        <p:nvCxnSpPr>
          <p:cNvPr id="7" name="Straight Arrow Connector 6"/>
          <p:cNvCxnSpPr/>
          <p:nvPr/>
        </p:nvCxnSpPr>
        <p:spPr>
          <a:xfrm>
            <a:off x="578773" y="1297638"/>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3351017" y="1180282"/>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418742" y="1184704"/>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476121" y="1070723"/>
            <a:ext cx="4557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351017" y="1023038"/>
            <a:ext cx="4078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758875" y="727656"/>
            <a:ext cx="0" cy="2723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787075" y="727656"/>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87075" y="727656"/>
            <a:ext cx="0" cy="2953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87075" y="1023038"/>
            <a:ext cx="2332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351017" y="1297638"/>
            <a:ext cx="374073" cy="2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725090" y="1308029"/>
            <a:ext cx="0" cy="292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1704016" y="1608531"/>
            <a:ext cx="2021074" cy="2047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1704016" y="1369369"/>
            <a:ext cx="0" cy="251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1704016" y="1369369"/>
            <a:ext cx="2278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623017" y="1174313"/>
            <a:ext cx="0" cy="730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1470948" y="1184704"/>
            <a:ext cx="152069" cy="2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606665" y="1917416"/>
            <a:ext cx="11269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714553" y="1333776"/>
            <a:ext cx="0" cy="5810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2714553" y="1308029"/>
            <a:ext cx="1599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2359600" y="301336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470948" y="1297638"/>
            <a:ext cx="1166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1577453" y="1308029"/>
            <a:ext cx="0" cy="991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8" name="Table 57"/>
          <p:cNvGraphicFramePr>
            <a:graphicFrameLocks noGrp="1"/>
          </p:cNvGraphicFramePr>
          <p:nvPr>
            <p:extLst>
              <p:ext uri="{D42A27DB-BD31-4B8C-83A1-F6EECF244321}">
                <p14:modId xmlns:p14="http://schemas.microsoft.com/office/powerpoint/2010/main" xmlns="" val="642737677"/>
              </p:ext>
            </p:extLst>
          </p:nvPr>
        </p:nvGraphicFramePr>
        <p:xfrm>
          <a:off x="1026406" y="2316674"/>
          <a:ext cx="1008456" cy="315468"/>
        </p:xfrm>
        <a:graphic>
          <a:graphicData uri="http://schemas.openxmlformats.org/drawingml/2006/table">
            <a:tbl>
              <a:tblPr firstRow="1" firstCol="1" bandRow="1">
                <a:tableStyleId>{5C22544A-7EE6-4342-B048-85BDC9FD1C3A}</a:tableStyleId>
              </a:tblPr>
              <a:tblGrid>
                <a:gridCol w="1008456">
                  <a:extLst>
                    <a:ext uri="{9D8B030D-6E8A-4147-A177-3AD203B41FA5}">
                      <a16:colId xmlns:a16="http://schemas.microsoft.com/office/drawing/2014/main" xmlns="" val="918075174"/>
                    </a:ext>
                  </a:extLst>
                </a:gridCol>
              </a:tblGrid>
              <a:tr h="0">
                <a:tc>
                  <a:txBody>
                    <a:bodyPr/>
                    <a:lstStyle/>
                    <a:p>
                      <a:pPr algn="l">
                        <a:lnSpc>
                          <a:spcPct val="115000"/>
                        </a:lnSpc>
                        <a:spcAft>
                          <a:spcPts val="0"/>
                        </a:spcAft>
                      </a:pPr>
                      <a:r>
                        <a:rPr lang="en-IN" sz="1400" dirty="0">
                          <a:effectLst/>
                          <a:latin typeface="Times New Roman" panose="02020603050405020304" pitchFamily="18" charset="0"/>
                          <a:cs typeface="Times New Roman" panose="02020603050405020304" pitchFamily="18" charset="0"/>
                        </a:rPr>
                        <a:t>Output</a:t>
                      </a:r>
                      <a:r>
                        <a:rPr lang="en-IN" sz="1800" dirty="0">
                          <a:effectLst/>
                          <a:latin typeface="Times New Roman" panose="02020603050405020304" pitchFamily="18" charset="0"/>
                          <a:cs typeface="Times New Roman" panose="02020603050405020304" pitchFamily="18" charset="0"/>
                        </a:rPr>
                        <a:t> X</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17500549"/>
                  </a:ext>
                </a:extLst>
              </a:tr>
            </a:tbl>
          </a:graphicData>
        </a:graphic>
      </p:graphicFrame>
      <p:graphicFrame>
        <p:nvGraphicFramePr>
          <p:cNvPr id="60" name="Table 59"/>
          <p:cNvGraphicFramePr>
            <a:graphicFrameLocks noGrp="1"/>
          </p:cNvGraphicFramePr>
          <p:nvPr>
            <p:extLst>
              <p:ext uri="{D42A27DB-BD31-4B8C-83A1-F6EECF244321}">
                <p14:modId xmlns:p14="http://schemas.microsoft.com/office/powerpoint/2010/main" xmlns="" val="210419649"/>
              </p:ext>
            </p:extLst>
          </p:nvPr>
        </p:nvGraphicFramePr>
        <p:xfrm>
          <a:off x="1833765" y="1959311"/>
          <a:ext cx="1167014" cy="245364"/>
        </p:xfrm>
        <a:graphic>
          <a:graphicData uri="http://schemas.openxmlformats.org/drawingml/2006/table">
            <a:tbl>
              <a:tblPr firstRow="1" firstCol="1" bandRow="1">
                <a:tableStyleId>{5C22544A-7EE6-4342-B048-85BDC9FD1C3A}</a:tableStyleId>
              </a:tblPr>
              <a:tblGrid>
                <a:gridCol w="1167014">
                  <a:extLst>
                    <a:ext uri="{9D8B030D-6E8A-4147-A177-3AD203B41FA5}">
                      <a16:colId xmlns:a16="http://schemas.microsoft.com/office/drawing/2014/main" xmlns="" val="1335813599"/>
                    </a:ext>
                  </a:extLst>
                </a:gridCol>
              </a:tblGrid>
              <a:tr h="0">
                <a:tc>
                  <a:txBody>
                    <a:bodyPr/>
                    <a:lstStyle/>
                    <a:p>
                      <a:pPr algn="l">
                        <a:lnSpc>
                          <a:spcPct val="115000"/>
                        </a:lnSpc>
                        <a:spcAft>
                          <a:spcPts val="0"/>
                        </a:spcAft>
                      </a:pPr>
                      <a:r>
                        <a:rPr lang="en-IN" sz="1400" dirty="0">
                          <a:effectLst/>
                          <a:latin typeface="Times New Roman" panose="02020603050405020304" pitchFamily="18" charset="0"/>
                          <a:cs typeface="Times New Roman" panose="02020603050405020304" pitchFamily="18" charset="0"/>
                        </a:rPr>
                        <a:t>Feedforward</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283896553"/>
                  </a:ext>
                </a:extLst>
              </a:tr>
            </a:tbl>
          </a:graphicData>
        </a:graphic>
      </p:graphicFrame>
      <p:graphicFrame>
        <p:nvGraphicFramePr>
          <p:cNvPr id="61" name="Table 60"/>
          <p:cNvGraphicFramePr>
            <a:graphicFrameLocks noGrp="1"/>
          </p:cNvGraphicFramePr>
          <p:nvPr>
            <p:extLst>
              <p:ext uri="{D42A27DB-BD31-4B8C-83A1-F6EECF244321}">
                <p14:modId xmlns:p14="http://schemas.microsoft.com/office/powerpoint/2010/main" xmlns="" val="2332223816"/>
              </p:ext>
            </p:extLst>
          </p:nvPr>
        </p:nvGraphicFramePr>
        <p:xfrm>
          <a:off x="3000779" y="1660123"/>
          <a:ext cx="877418" cy="245364"/>
        </p:xfrm>
        <a:graphic>
          <a:graphicData uri="http://schemas.openxmlformats.org/drawingml/2006/table">
            <a:tbl>
              <a:tblPr firstRow="1" firstCol="1" bandRow="1">
                <a:tableStyleId>{5C22544A-7EE6-4342-B048-85BDC9FD1C3A}</a:tableStyleId>
              </a:tblPr>
              <a:tblGrid>
                <a:gridCol w="877418">
                  <a:extLst>
                    <a:ext uri="{9D8B030D-6E8A-4147-A177-3AD203B41FA5}">
                      <a16:colId xmlns:a16="http://schemas.microsoft.com/office/drawing/2014/main" xmlns="" val="3932713824"/>
                    </a:ext>
                  </a:extLst>
                </a:gridCol>
              </a:tblGrid>
              <a:tr h="0">
                <a:tc>
                  <a:txBody>
                    <a:bodyPr/>
                    <a:lstStyle/>
                    <a:p>
                      <a:pPr algn="l">
                        <a:lnSpc>
                          <a:spcPct val="115000"/>
                        </a:lnSpc>
                        <a:spcAft>
                          <a:spcPts val="0"/>
                        </a:spcAft>
                      </a:pPr>
                      <a:r>
                        <a:rPr lang="en-IN" sz="1400" dirty="0">
                          <a:effectLst/>
                          <a:latin typeface="Times New Roman" panose="02020603050405020304" pitchFamily="18" charset="0"/>
                          <a:cs typeface="Times New Roman" panose="02020603050405020304" pitchFamily="18" charset="0"/>
                        </a:rPr>
                        <a:t>Feedback</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011539216"/>
                  </a:ext>
                </a:extLst>
              </a:tr>
            </a:tbl>
          </a:graphicData>
        </a:graphic>
      </p:graphicFrame>
      <p:graphicFrame>
        <p:nvGraphicFramePr>
          <p:cNvPr id="62" name="Table 61"/>
          <p:cNvGraphicFramePr>
            <a:graphicFrameLocks noGrp="1"/>
          </p:cNvGraphicFramePr>
          <p:nvPr>
            <p:extLst>
              <p:ext uri="{D42A27DB-BD31-4B8C-83A1-F6EECF244321}">
                <p14:modId xmlns:p14="http://schemas.microsoft.com/office/powerpoint/2010/main" xmlns="" val="1626546868"/>
              </p:ext>
            </p:extLst>
          </p:nvPr>
        </p:nvGraphicFramePr>
        <p:xfrm>
          <a:off x="2435824" y="447929"/>
          <a:ext cx="877418" cy="245364"/>
        </p:xfrm>
        <a:graphic>
          <a:graphicData uri="http://schemas.openxmlformats.org/drawingml/2006/table">
            <a:tbl>
              <a:tblPr firstRow="1" firstCol="1" bandRow="1">
                <a:tableStyleId>{5C22544A-7EE6-4342-B048-85BDC9FD1C3A}</a:tableStyleId>
              </a:tblPr>
              <a:tblGrid>
                <a:gridCol w="877418">
                  <a:extLst>
                    <a:ext uri="{9D8B030D-6E8A-4147-A177-3AD203B41FA5}">
                      <a16:colId xmlns:a16="http://schemas.microsoft.com/office/drawing/2014/main" xmlns="" val="3932713824"/>
                    </a:ext>
                  </a:extLst>
                </a:gridCol>
              </a:tblGrid>
              <a:tr h="0">
                <a:tc>
                  <a:txBody>
                    <a:bodyPr/>
                    <a:lstStyle/>
                    <a:p>
                      <a:pPr algn="l">
                        <a:lnSpc>
                          <a:spcPct val="115000"/>
                        </a:lnSpc>
                        <a:spcAft>
                          <a:spcPts val="0"/>
                        </a:spcAft>
                      </a:pPr>
                      <a:r>
                        <a:rPr lang="en-IN" sz="1400" dirty="0">
                          <a:effectLst/>
                          <a:latin typeface="Times New Roman" panose="02020603050405020304" pitchFamily="18" charset="0"/>
                          <a:cs typeface="Times New Roman" panose="02020603050405020304" pitchFamily="18" charset="0"/>
                        </a:rPr>
                        <a:t>Feedback</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011539216"/>
                  </a:ext>
                </a:extLst>
              </a:tr>
            </a:tbl>
          </a:graphicData>
        </a:graphic>
      </p:graphicFrame>
      <p:graphicFrame>
        <p:nvGraphicFramePr>
          <p:cNvPr id="63" name="Table 62"/>
          <p:cNvGraphicFramePr>
            <a:graphicFrameLocks noGrp="1"/>
          </p:cNvGraphicFramePr>
          <p:nvPr>
            <p:extLst>
              <p:ext uri="{D42A27DB-BD31-4B8C-83A1-F6EECF244321}">
                <p14:modId xmlns:p14="http://schemas.microsoft.com/office/powerpoint/2010/main" xmlns="" val="3359271063"/>
              </p:ext>
            </p:extLst>
          </p:nvPr>
        </p:nvGraphicFramePr>
        <p:xfrm>
          <a:off x="355606" y="1369369"/>
          <a:ext cx="583726" cy="245364"/>
        </p:xfrm>
        <a:graphic>
          <a:graphicData uri="http://schemas.openxmlformats.org/drawingml/2006/table">
            <a:tbl>
              <a:tblPr firstRow="1" firstCol="1" bandRow="1">
                <a:tableStyleId>{5C22544A-7EE6-4342-B048-85BDC9FD1C3A}</a:tableStyleId>
              </a:tblPr>
              <a:tblGrid>
                <a:gridCol w="583726">
                  <a:extLst>
                    <a:ext uri="{9D8B030D-6E8A-4147-A177-3AD203B41FA5}">
                      <a16:colId xmlns:a16="http://schemas.microsoft.com/office/drawing/2014/main" xmlns="" val="1666051704"/>
                    </a:ext>
                  </a:extLst>
                </a:gridCol>
              </a:tblGrid>
              <a:tr h="0">
                <a:tc>
                  <a:txBody>
                    <a:bodyPr/>
                    <a:lstStyle/>
                    <a:p>
                      <a:pPr algn="l">
                        <a:lnSpc>
                          <a:spcPct val="115000"/>
                        </a:lnSpc>
                        <a:spcAft>
                          <a:spcPts val="0"/>
                        </a:spcAft>
                      </a:pPr>
                      <a:r>
                        <a:rPr lang="en-IN" sz="1400" dirty="0">
                          <a:effectLst/>
                          <a:latin typeface="Times New Roman" panose="02020603050405020304" pitchFamily="18" charset="0"/>
                          <a:cs typeface="Times New Roman" panose="02020603050405020304" pitchFamily="18" charset="0"/>
                        </a:rPr>
                        <a:t>Input</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590513872"/>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xmlns="" val="2809194219"/>
              </p:ext>
            </p:extLst>
          </p:nvPr>
        </p:nvGraphicFramePr>
        <p:xfrm>
          <a:off x="3817154" y="1039606"/>
          <a:ext cx="1008456" cy="315468"/>
        </p:xfrm>
        <a:graphic>
          <a:graphicData uri="http://schemas.openxmlformats.org/drawingml/2006/table">
            <a:tbl>
              <a:tblPr firstRow="1" firstCol="1" bandRow="1">
                <a:tableStyleId>{5C22544A-7EE6-4342-B048-85BDC9FD1C3A}</a:tableStyleId>
              </a:tblPr>
              <a:tblGrid>
                <a:gridCol w="1008456">
                  <a:extLst>
                    <a:ext uri="{9D8B030D-6E8A-4147-A177-3AD203B41FA5}">
                      <a16:colId xmlns:a16="http://schemas.microsoft.com/office/drawing/2014/main" xmlns="" val="918075174"/>
                    </a:ext>
                  </a:extLst>
                </a:gridCol>
              </a:tblGrid>
              <a:tr h="0">
                <a:tc>
                  <a:txBody>
                    <a:bodyPr/>
                    <a:lstStyle/>
                    <a:p>
                      <a:pPr algn="l">
                        <a:lnSpc>
                          <a:spcPct val="115000"/>
                        </a:lnSpc>
                        <a:spcAft>
                          <a:spcPts val="0"/>
                        </a:spcAft>
                      </a:pPr>
                      <a:r>
                        <a:rPr lang="en-IN" sz="1400" dirty="0">
                          <a:effectLst/>
                          <a:latin typeface="Times New Roman" panose="02020603050405020304" pitchFamily="18" charset="0"/>
                          <a:cs typeface="Times New Roman" panose="02020603050405020304" pitchFamily="18" charset="0"/>
                        </a:rPr>
                        <a:t>Output</a:t>
                      </a:r>
                      <a:r>
                        <a:rPr lang="en-IN" sz="1800" dirty="0">
                          <a:effectLst/>
                          <a:latin typeface="Times New Roman" panose="02020603050405020304" pitchFamily="18" charset="0"/>
                          <a:cs typeface="Times New Roman" panose="02020603050405020304" pitchFamily="18" charset="0"/>
                        </a:rPr>
                        <a:t> </a:t>
                      </a:r>
                      <a:r>
                        <a:rPr lang="en-IN" sz="1800" dirty="0" smtClean="0">
                          <a:effectLst/>
                          <a:latin typeface="Times New Roman" panose="02020603050405020304" pitchFamily="18" charset="0"/>
                          <a:cs typeface="Times New Roman" panose="02020603050405020304" pitchFamily="18" charset="0"/>
                        </a:rPr>
                        <a:t>Y</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17500549"/>
                  </a:ext>
                </a:extLst>
              </a:tr>
            </a:tbl>
          </a:graphicData>
        </a:graphic>
      </p:graphicFrame>
      <p:graphicFrame>
        <p:nvGraphicFramePr>
          <p:cNvPr id="65" name="Table 64"/>
          <p:cNvGraphicFramePr>
            <a:graphicFrameLocks noGrp="1"/>
          </p:cNvGraphicFramePr>
          <p:nvPr>
            <p:extLst>
              <p:ext uri="{D42A27DB-BD31-4B8C-83A1-F6EECF244321}">
                <p14:modId xmlns:p14="http://schemas.microsoft.com/office/powerpoint/2010/main" xmlns="" val="2754494112"/>
              </p:ext>
            </p:extLst>
          </p:nvPr>
        </p:nvGraphicFramePr>
        <p:xfrm>
          <a:off x="822314" y="364806"/>
          <a:ext cx="995650" cy="245364"/>
        </p:xfrm>
        <a:graphic>
          <a:graphicData uri="http://schemas.openxmlformats.org/drawingml/2006/table">
            <a:tbl>
              <a:tblPr firstRow="1" firstCol="1" bandRow="1">
                <a:tableStyleId>{5C22544A-7EE6-4342-B048-85BDC9FD1C3A}</a:tableStyleId>
              </a:tblPr>
              <a:tblGrid>
                <a:gridCol w="995650">
                  <a:extLst>
                    <a:ext uri="{9D8B030D-6E8A-4147-A177-3AD203B41FA5}">
                      <a16:colId xmlns:a16="http://schemas.microsoft.com/office/drawing/2014/main" xmlns="" val="1022273418"/>
                    </a:ext>
                  </a:extLst>
                </a:gridCol>
              </a:tblGrid>
              <a:tr h="0">
                <a:tc>
                  <a:txBody>
                    <a:bodyPr/>
                    <a:lstStyle/>
                    <a:p>
                      <a:pPr algn="l">
                        <a:lnSpc>
                          <a:spcPct val="115000"/>
                        </a:lnSpc>
                        <a:spcAft>
                          <a:spcPts val="0"/>
                        </a:spcAft>
                      </a:pPr>
                      <a:r>
                        <a:rPr lang="en-IN" sz="1400" dirty="0">
                          <a:effectLst/>
                        </a:rPr>
                        <a:t>Streamline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84843768"/>
                  </a:ext>
                </a:extLst>
              </a:tr>
            </a:tbl>
          </a:graphicData>
        </a:graphic>
      </p:graphicFrame>
      <p:cxnSp>
        <p:nvCxnSpPr>
          <p:cNvPr id="67" name="Straight Arrow Connector 66"/>
          <p:cNvCxnSpPr/>
          <p:nvPr/>
        </p:nvCxnSpPr>
        <p:spPr>
          <a:xfrm>
            <a:off x="1623017" y="577979"/>
            <a:ext cx="0" cy="425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1606665" y="570611"/>
            <a:ext cx="1126978" cy="6037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357703" y="2698959"/>
            <a:ext cx="375065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Nonlinear </a:t>
            </a:r>
            <a:r>
              <a:rPr lang="en-IN" dirty="0" smtClean="0">
                <a:latin typeface="Times New Roman" panose="02020603050405020304" pitchFamily="18" charset="0"/>
                <a:cs typeface="Times New Roman" panose="02020603050405020304" pitchFamily="18" charset="0"/>
              </a:rPr>
              <a:t>pipeline having 3 segments</a:t>
            </a:r>
            <a:endParaRPr lang="en-IN" dirty="0">
              <a:latin typeface="Times New Roman" panose="02020603050405020304" pitchFamily="18" charset="0"/>
              <a:cs typeface="Times New Roman" panose="02020603050405020304" pitchFamily="18" charset="0"/>
            </a:endParaRPr>
          </a:p>
        </p:txBody>
      </p:sp>
      <p:graphicFrame>
        <p:nvGraphicFramePr>
          <p:cNvPr id="71" name="Table 70"/>
          <p:cNvGraphicFramePr>
            <a:graphicFrameLocks noGrp="1"/>
          </p:cNvGraphicFramePr>
          <p:nvPr>
            <p:extLst>
              <p:ext uri="{D42A27DB-BD31-4B8C-83A1-F6EECF244321}">
                <p14:modId xmlns:p14="http://schemas.microsoft.com/office/powerpoint/2010/main" xmlns="" val="1898235831"/>
              </p:ext>
            </p:extLst>
          </p:nvPr>
        </p:nvGraphicFramePr>
        <p:xfrm>
          <a:off x="6049362" y="738433"/>
          <a:ext cx="5786323" cy="1261872"/>
        </p:xfrm>
        <a:graphic>
          <a:graphicData uri="http://schemas.openxmlformats.org/drawingml/2006/table">
            <a:tbl>
              <a:tblPr firstRow="1" firstCol="1" bandRow="1">
                <a:tableStyleId>{5C22544A-7EE6-4342-B048-85BDC9FD1C3A}</a:tableStyleId>
              </a:tblPr>
              <a:tblGrid>
                <a:gridCol w="625872">
                  <a:extLst>
                    <a:ext uri="{9D8B030D-6E8A-4147-A177-3AD203B41FA5}">
                      <a16:colId xmlns:a16="http://schemas.microsoft.com/office/drawing/2014/main" xmlns="" val="3395247524"/>
                    </a:ext>
                  </a:extLst>
                </a:gridCol>
                <a:gridCol w="665724">
                  <a:extLst>
                    <a:ext uri="{9D8B030D-6E8A-4147-A177-3AD203B41FA5}">
                      <a16:colId xmlns:a16="http://schemas.microsoft.com/office/drawing/2014/main" xmlns="" val="1866494424"/>
                    </a:ext>
                  </a:extLst>
                </a:gridCol>
                <a:gridCol w="592428">
                  <a:extLst>
                    <a:ext uri="{9D8B030D-6E8A-4147-A177-3AD203B41FA5}">
                      <a16:colId xmlns:a16="http://schemas.microsoft.com/office/drawing/2014/main" xmlns="" val="3200792819"/>
                    </a:ext>
                  </a:extLst>
                </a:gridCol>
                <a:gridCol w="618186">
                  <a:extLst>
                    <a:ext uri="{9D8B030D-6E8A-4147-A177-3AD203B41FA5}">
                      <a16:colId xmlns:a16="http://schemas.microsoft.com/office/drawing/2014/main" xmlns="" val="1343824003"/>
                    </a:ext>
                  </a:extLst>
                </a:gridCol>
                <a:gridCol w="592428">
                  <a:extLst>
                    <a:ext uri="{9D8B030D-6E8A-4147-A177-3AD203B41FA5}">
                      <a16:colId xmlns:a16="http://schemas.microsoft.com/office/drawing/2014/main" xmlns="" val="376668914"/>
                    </a:ext>
                  </a:extLst>
                </a:gridCol>
                <a:gridCol w="631065">
                  <a:extLst>
                    <a:ext uri="{9D8B030D-6E8A-4147-A177-3AD203B41FA5}">
                      <a16:colId xmlns:a16="http://schemas.microsoft.com/office/drawing/2014/main" xmlns="" val="4140294199"/>
                    </a:ext>
                  </a:extLst>
                </a:gridCol>
                <a:gridCol w="656822">
                  <a:extLst>
                    <a:ext uri="{9D8B030D-6E8A-4147-A177-3AD203B41FA5}">
                      <a16:colId xmlns:a16="http://schemas.microsoft.com/office/drawing/2014/main" xmlns="" val="4231742305"/>
                    </a:ext>
                  </a:extLst>
                </a:gridCol>
                <a:gridCol w="708338">
                  <a:extLst>
                    <a:ext uri="{9D8B030D-6E8A-4147-A177-3AD203B41FA5}">
                      <a16:colId xmlns:a16="http://schemas.microsoft.com/office/drawing/2014/main" xmlns="" val="2410353017"/>
                    </a:ext>
                  </a:extLst>
                </a:gridCol>
                <a:gridCol w="695460">
                  <a:extLst>
                    <a:ext uri="{9D8B030D-6E8A-4147-A177-3AD203B41FA5}">
                      <a16:colId xmlns:a16="http://schemas.microsoft.com/office/drawing/2014/main" xmlns="" val="355864041"/>
                    </a:ext>
                  </a:extLst>
                </a:gridCol>
              </a:tblGrid>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CC4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CC6</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CC7</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424720065"/>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804077036"/>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08827103"/>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18641626"/>
                  </a:ext>
                </a:extLst>
              </a:tr>
            </a:tbl>
          </a:graphicData>
        </a:graphic>
      </p:graphicFrame>
      <p:sp>
        <p:nvSpPr>
          <p:cNvPr id="72" name="TextBox 71"/>
          <p:cNvSpPr txBox="1"/>
          <p:nvPr/>
        </p:nvSpPr>
        <p:spPr>
          <a:xfrm>
            <a:off x="5018468" y="81325"/>
            <a:ext cx="7173532"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Reservation table for function X: S1</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S2</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S2</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S1</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S1 is the movement of X through the </a:t>
            </a:r>
            <a:r>
              <a:rPr lang="en-IN" dirty="0" smtClean="0">
                <a:latin typeface="Times New Roman" panose="02020603050405020304" pitchFamily="18" charset="0"/>
                <a:cs typeface="Times New Roman" panose="02020603050405020304" pitchFamily="18" charset="0"/>
              </a:rPr>
              <a:t>pipeline</a:t>
            </a:r>
            <a:endParaRPr lang="en-IN" dirty="0">
              <a:latin typeface="Times New Roman" panose="02020603050405020304" pitchFamily="18" charset="0"/>
              <a:cs typeface="Times New Roman" panose="02020603050405020304" pitchFamily="18" charset="0"/>
            </a:endParaRPr>
          </a:p>
        </p:txBody>
      </p:sp>
      <p:graphicFrame>
        <p:nvGraphicFramePr>
          <p:cNvPr id="73" name="Table 72"/>
          <p:cNvGraphicFramePr>
            <a:graphicFrameLocks noGrp="1"/>
          </p:cNvGraphicFramePr>
          <p:nvPr>
            <p:extLst>
              <p:ext uri="{D42A27DB-BD31-4B8C-83A1-F6EECF244321}">
                <p14:modId xmlns:p14="http://schemas.microsoft.com/office/powerpoint/2010/main" xmlns="" val="2377586888"/>
              </p:ext>
            </p:extLst>
          </p:nvPr>
        </p:nvGraphicFramePr>
        <p:xfrm>
          <a:off x="7142904" y="2810012"/>
          <a:ext cx="4319292" cy="1261872"/>
        </p:xfrm>
        <a:graphic>
          <a:graphicData uri="http://schemas.openxmlformats.org/drawingml/2006/table">
            <a:tbl>
              <a:tblPr firstRow="1" firstCol="1" bandRow="1">
                <a:tableStyleId>{5C22544A-7EE6-4342-B048-85BDC9FD1C3A}</a:tableStyleId>
              </a:tblPr>
              <a:tblGrid>
                <a:gridCol w="589024">
                  <a:extLst>
                    <a:ext uri="{9D8B030D-6E8A-4147-A177-3AD203B41FA5}">
                      <a16:colId xmlns:a16="http://schemas.microsoft.com/office/drawing/2014/main" xmlns="" val="1970102643"/>
                    </a:ext>
                  </a:extLst>
                </a:gridCol>
                <a:gridCol w="612042">
                  <a:extLst>
                    <a:ext uri="{9D8B030D-6E8A-4147-A177-3AD203B41FA5}">
                      <a16:colId xmlns:a16="http://schemas.microsoft.com/office/drawing/2014/main" xmlns="" val="2469011731"/>
                    </a:ext>
                  </a:extLst>
                </a:gridCol>
                <a:gridCol w="671241">
                  <a:extLst>
                    <a:ext uri="{9D8B030D-6E8A-4147-A177-3AD203B41FA5}">
                      <a16:colId xmlns:a16="http://schemas.microsoft.com/office/drawing/2014/main" xmlns="" val="962598856"/>
                    </a:ext>
                  </a:extLst>
                </a:gridCol>
                <a:gridCol w="631065">
                  <a:extLst>
                    <a:ext uri="{9D8B030D-6E8A-4147-A177-3AD203B41FA5}">
                      <a16:colId xmlns:a16="http://schemas.microsoft.com/office/drawing/2014/main" xmlns="" val="3662442947"/>
                    </a:ext>
                  </a:extLst>
                </a:gridCol>
                <a:gridCol w="605895">
                  <a:extLst>
                    <a:ext uri="{9D8B030D-6E8A-4147-A177-3AD203B41FA5}">
                      <a16:colId xmlns:a16="http://schemas.microsoft.com/office/drawing/2014/main" xmlns="" val="2800135741"/>
                    </a:ext>
                  </a:extLst>
                </a:gridCol>
                <a:gridCol w="591840">
                  <a:extLst>
                    <a:ext uri="{9D8B030D-6E8A-4147-A177-3AD203B41FA5}">
                      <a16:colId xmlns:a16="http://schemas.microsoft.com/office/drawing/2014/main" xmlns="" val="3212440994"/>
                    </a:ext>
                  </a:extLst>
                </a:gridCol>
                <a:gridCol w="618185">
                  <a:extLst>
                    <a:ext uri="{9D8B030D-6E8A-4147-A177-3AD203B41FA5}">
                      <a16:colId xmlns:a16="http://schemas.microsoft.com/office/drawing/2014/main" xmlns="" val="544111630"/>
                    </a:ext>
                  </a:extLst>
                </a:gridCol>
              </a:tblGrid>
              <a:tr h="0">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4418983"/>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012278271"/>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592411512"/>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Y</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053982383"/>
                  </a:ext>
                </a:extLst>
              </a:tr>
            </a:tbl>
          </a:graphicData>
        </a:graphic>
      </p:graphicFrame>
      <p:sp>
        <p:nvSpPr>
          <p:cNvPr id="74" name="TextBox 73"/>
          <p:cNvSpPr txBox="1"/>
          <p:nvPr/>
        </p:nvSpPr>
        <p:spPr>
          <a:xfrm>
            <a:off x="5158509" y="2081993"/>
            <a:ext cx="6419598"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Reservation table for function Y: S1</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S2</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S1</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 is the movement of Y through the pipeline</a:t>
            </a:r>
          </a:p>
        </p:txBody>
      </p:sp>
      <p:sp>
        <p:nvSpPr>
          <p:cNvPr id="75" name="TextBox 74"/>
          <p:cNvSpPr txBox="1"/>
          <p:nvPr/>
        </p:nvSpPr>
        <p:spPr>
          <a:xfrm>
            <a:off x="3578912" y="3071616"/>
            <a:ext cx="710578"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Fig.2</a:t>
            </a:r>
            <a:endParaRPr lang="en-IN" dirty="0">
              <a:latin typeface="Times New Roman" panose="02020603050405020304" pitchFamily="18" charset="0"/>
              <a:cs typeface="Times New Roman" panose="02020603050405020304" pitchFamily="18" charset="0"/>
            </a:endParaRPr>
          </a:p>
        </p:txBody>
      </p:sp>
      <p:sp>
        <p:nvSpPr>
          <p:cNvPr id="76" name="TextBox 75"/>
          <p:cNvSpPr txBox="1"/>
          <p:nvPr/>
        </p:nvSpPr>
        <p:spPr>
          <a:xfrm>
            <a:off x="355606" y="4071884"/>
            <a:ext cx="11377048" cy="2031325"/>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Segments </a:t>
            </a:r>
            <a:r>
              <a:rPr lang="en-IN" dirty="0">
                <a:latin typeface="Times New Roman" panose="02020603050405020304" pitchFamily="18" charset="0"/>
                <a:cs typeface="Times New Roman" panose="02020603050405020304" pitchFamily="18" charset="0"/>
              </a:rPr>
              <a:t>are connected with each other using streamline, feedback and feed forward connection</a:t>
            </a:r>
            <a:r>
              <a:rPr lang="en-IN" dirty="0" smtClean="0">
                <a:latin typeface="Times New Roman" panose="02020603050405020304" pitchFamily="18" charset="0"/>
                <a:cs typeface="Times New Roman" panose="02020603050405020304" pitchFamily="18" charset="0"/>
              </a:rPr>
              <a:t>.</a:t>
            </a:r>
          </a:p>
          <a:p>
            <a:r>
              <a:rPr lang="en-IN" dirty="0" smtClean="0">
                <a:latin typeface="Times New Roman" panose="02020603050405020304" pitchFamily="18" charset="0"/>
                <a:cs typeface="Times New Roman" panose="02020603050405020304" pitchFamily="18" charset="0"/>
              </a:rPr>
              <a:t>Two </a:t>
            </a:r>
            <a:r>
              <a:rPr lang="en-IN" dirty="0">
                <a:latin typeface="Times New Roman" panose="02020603050405020304" pitchFamily="18" charset="0"/>
                <a:cs typeface="Times New Roman" panose="02020603050405020304" pitchFamily="18" charset="0"/>
              </a:rPr>
              <a:t>feedback </a:t>
            </a:r>
            <a:r>
              <a:rPr lang="en-IN" dirty="0" smtClean="0">
                <a:latin typeface="Times New Roman" panose="02020603050405020304" pitchFamily="18" charset="0"/>
                <a:cs typeface="Times New Roman" panose="02020603050405020304" pitchFamily="18" charset="0"/>
              </a:rPr>
              <a:t>connections, from S3 to S1 and S3 to S2. </a:t>
            </a:r>
          </a:p>
          <a:p>
            <a:r>
              <a:rPr lang="en-IN" dirty="0" smtClean="0">
                <a:latin typeface="Times New Roman" panose="02020603050405020304" pitchFamily="18" charset="0"/>
                <a:cs typeface="Times New Roman" panose="02020603050405020304" pitchFamily="18" charset="0"/>
              </a:rPr>
              <a:t>One </a:t>
            </a:r>
            <a:r>
              <a:rPr lang="en-IN" dirty="0">
                <a:latin typeface="Times New Roman" panose="02020603050405020304" pitchFamily="18" charset="0"/>
                <a:cs typeface="Times New Roman" panose="02020603050405020304" pitchFamily="18" charset="0"/>
              </a:rPr>
              <a:t>feedforward </a:t>
            </a:r>
            <a:r>
              <a:rPr lang="en-IN" dirty="0" smtClean="0">
                <a:latin typeface="Times New Roman" panose="02020603050405020304" pitchFamily="18" charset="0"/>
                <a:cs typeface="Times New Roman" panose="02020603050405020304" pitchFamily="18" charset="0"/>
              </a:rPr>
              <a:t>connection, from </a:t>
            </a:r>
            <a:r>
              <a:rPr lang="en-IN" dirty="0">
                <a:latin typeface="Times New Roman" panose="02020603050405020304" pitchFamily="18" charset="0"/>
                <a:cs typeface="Times New Roman" panose="02020603050405020304" pitchFamily="18" charset="0"/>
              </a:rPr>
              <a:t>S1 to S3.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Evaluates </a:t>
            </a:r>
            <a:r>
              <a:rPr lang="en-IN" dirty="0">
                <a:latin typeface="Times New Roman" panose="02020603050405020304" pitchFamily="18" charset="0"/>
                <a:cs typeface="Times New Roman" panose="02020603050405020304" pitchFamily="18" charset="0"/>
              </a:rPr>
              <a:t>two functions, X and Y. Both the functions X and Y enter into the segment S1 of the </a:t>
            </a:r>
            <a:r>
              <a:rPr lang="en-IN" dirty="0" smtClean="0">
                <a:latin typeface="Times New Roman" panose="02020603050405020304" pitchFamily="18" charset="0"/>
                <a:cs typeface="Times New Roman" panose="02020603050405020304" pitchFamily="18" charset="0"/>
              </a:rPr>
              <a:t>pipeline. </a:t>
            </a:r>
            <a:r>
              <a:rPr lang="en-IN" dirty="0">
                <a:latin typeface="Times New Roman" panose="02020603050405020304" pitchFamily="18" charset="0"/>
                <a:cs typeface="Times New Roman" panose="02020603050405020304" pitchFamily="18" charset="0"/>
              </a:rPr>
              <a:t>But output X is obtained from segment </a:t>
            </a:r>
            <a:r>
              <a:rPr lang="en-IN" dirty="0" smtClean="0">
                <a:latin typeface="Times New Roman" panose="02020603050405020304" pitchFamily="18" charset="0"/>
                <a:cs typeface="Times New Roman" panose="02020603050405020304" pitchFamily="18" charset="0"/>
              </a:rPr>
              <a:t>S1 </a:t>
            </a:r>
            <a:r>
              <a:rPr lang="en-IN" dirty="0">
                <a:latin typeface="Times New Roman" panose="02020603050405020304" pitchFamily="18" charset="0"/>
                <a:cs typeface="Times New Roman" panose="02020603050405020304" pitchFamily="18" charset="0"/>
              </a:rPr>
              <a:t>whereas output Y is obtained from segment </a:t>
            </a:r>
            <a:r>
              <a:rPr lang="en-IN" dirty="0" smtClean="0">
                <a:latin typeface="Times New Roman" panose="02020603050405020304" pitchFamily="18" charset="0"/>
                <a:cs typeface="Times New Roman" panose="02020603050405020304" pitchFamily="18" charset="0"/>
              </a:rPr>
              <a:t>S3 </a:t>
            </a:r>
            <a:r>
              <a:rPr lang="en-IN" dirty="0">
                <a:latin typeface="Times New Roman" panose="02020603050405020304" pitchFamily="18" charset="0"/>
                <a:cs typeface="Times New Roman" panose="02020603050405020304" pitchFamily="18" charset="0"/>
              </a:rPr>
              <a:t>of the pipeline.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Fig </a:t>
            </a:r>
            <a:r>
              <a:rPr lang="en-IN" dirty="0">
                <a:latin typeface="Times New Roman" panose="02020603050405020304" pitchFamily="18" charset="0"/>
                <a:cs typeface="Times New Roman" panose="02020603050405020304" pitchFamily="18" charset="0"/>
              </a:rPr>
              <a:t>2 also shows the reservation table for evaluating these functions. The function X takes </a:t>
            </a:r>
            <a:r>
              <a:rPr lang="en-IN" dirty="0" smtClean="0">
                <a:latin typeface="Times New Roman" panose="02020603050405020304" pitchFamily="18" charset="0"/>
                <a:cs typeface="Times New Roman" panose="02020603050405020304" pitchFamily="18" charset="0"/>
              </a:rPr>
              <a:t>8 clock </a:t>
            </a:r>
            <a:r>
              <a:rPr lang="en-IN" dirty="0">
                <a:latin typeface="Times New Roman" panose="02020603050405020304" pitchFamily="18" charset="0"/>
                <a:cs typeface="Times New Roman" panose="02020603050405020304" pitchFamily="18" charset="0"/>
              </a:rPr>
              <a:t>cycles (CC1 to CC8) and the function Y takes </a:t>
            </a:r>
            <a:r>
              <a:rPr lang="en-IN" dirty="0" smtClean="0">
                <a:latin typeface="Times New Roman" panose="02020603050405020304" pitchFamily="18" charset="0"/>
                <a:cs typeface="Times New Roman" panose="02020603050405020304" pitchFamily="18" charset="0"/>
              </a:rPr>
              <a:t>6 </a:t>
            </a:r>
            <a:r>
              <a:rPr lang="en-IN" dirty="0">
                <a:latin typeface="Times New Roman" panose="02020603050405020304" pitchFamily="18" charset="0"/>
                <a:cs typeface="Times New Roman" panose="02020603050405020304" pitchFamily="18" charset="0"/>
              </a:rPr>
              <a:t>clock cycles (CC1 to CC6) for evaluation.  </a:t>
            </a:r>
          </a:p>
        </p:txBody>
      </p:sp>
    </p:spTree>
    <p:extLst>
      <p:ext uri="{BB962C8B-B14F-4D97-AF65-F5344CB8AC3E}">
        <p14:creationId xmlns:p14="http://schemas.microsoft.com/office/powerpoint/2010/main" xmlns="" val="159284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8941" y="206062"/>
            <a:ext cx="11642501" cy="1754326"/>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Latency analysis</a:t>
            </a:r>
            <a:r>
              <a:rPr lang="en-IN" dirty="0">
                <a:latin typeface="Times New Roman" panose="02020603050405020304" pitchFamily="18" charset="0"/>
                <a:cs typeface="Times New Roman" panose="02020603050405020304" pitchFamily="18" charset="0"/>
              </a:rPr>
              <a:t>: Latency is the delay that occurs between the start of 2 successive pipeline operations (i.e. 2 successive initiations in a pipeline). The number of </a:t>
            </a:r>
            <a:r>
              <a:rPr lang="en-IN" dirty="0" smtClean="0">
                <a:latin typeface="Times New Roman" panose="02020603050405020304" pitchFamily="18" charset="0"/>
                <a:cs typeface="Times New Roman" panose="02020603050405020304" pitchFamily="18" charset="0"/>
              </a:rPr>
              <a:t>clock cycles </a:t>
            </a:r>
            <a:r>
              <a:rPr lang="en-IN" dirty="0">
                <a:latin typeface="Times New Roman" panose="02020603050405020304" pitchFamily="18" charset="0"/>
                <a:cs typeface="Times New Roman" panose="02020603050405020304" pitchFamily="18" charset="0"/>
              </a:rPr>
              <a:t>between 2 successive initiations is the latency of the pipeline. So latency of K means that 2 successive initiations in the pipeline are separated by K number of clock cycles. For example, Fig 3 shows the space time diagram for 2 successive initiations of function X (X1 and X2) in the nonlinear pipeline which is shown in Fig 2. It is drawn by considering the movement of X through the different segments of the pipeline as shown in the reservation table of function X (i.e. S1</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S2</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S2</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S1</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S3</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S1). </a:t>
            </a:r>
          </a:p>
        </p:txBody>
      </p:sp>
      <p:graphicFrame>
        <p:nvGraphicFramePr>
          <p:cNvPr id="3" name="Table 2"/>
          <p:cNvGraphicFramePr>
            <a:graphicFrameLocks noGrp="1"/>
          </p:cNvGraphicFramePr>
          <p:nvPr>
            <p:extLst>
              <p:ext uri="{D42A27DB-BD31-4B8C-83A1-F6EECF244321}">
                <p14:modId xmlns:p14="http://schemas.microsoft.com/office/powerpoint/2010/main" xmlns="" val="378763571"/>
              </p:ext>
            </p:extLst>
          </p:nvPr>
        </p:nvGraphicFramePr>
        <p:xfrm>
          <a:off x="218941" y="2121107"/>
          <a:ext cx="11822807" cy="1261872"/>
        </p:xfrm>
        <a:graphic>
          <a:graphicData uri="http://schemas.openxmlformats.org/drawingml/2006/table">
            <a:tbl>
              <a:tblPr firstRow="1" firstCol="1" bandRow="1">
                <a:tableStyleId>{5C22544A-7EE6-4342-B048-85BDC9FD1C3A}</a:tableStyleId>
              </a:tblPr>
              <a:tblGrid>
                <a:gridCol w="653695">
                  <a:extLst>
                    <a:ext uri="{9D8B030D-6E8A-4147-A177-3AD203B41FA5}">
                      <a16:colId xmlns:a16="http://schemas.microsoft.com/office/drawing/2014/main" xmlns="" val="3464446616"/>
                    </a:ext>
                  </a:extLst>
                </a:gridCol>
                <a:gridCol w="619123">
                  <a:extLst>
                    <a:ext uri="{9D8B030D-6E8A-4147-A177-3AD203B41FA5}">
                      <a16:colId xmlns:a16="http://schemas.microsoft.com/office/drawing/2014/main" xmlns="" val="2856503377"/>
                    </a:ext>
                  </a:extLst>
                </a:gridCol>
                <a:gridCol w="706874">
                  <a:extLst>
                    <a:ext uri="{9D8B030D-6E8A-4147-A177-3AD203B41FA5}">
                      <a16:colId xmlns:a16="http://schemas.microsoft.com/office/drawing/2014/main" xmlns="" val="3031934135"/>
                    </a:ext>
                  </a:extLst>
                </a:gridCol>
                <a:gridCol w="678358">
                  <a:extLst>
                    <a:ext uri="{9D8B030D-6E8A-4147-A177-3AD203B41FA5}">
                      <a16:colId xmlns:a16="http://schemas.microsoft.com/office/drawing/2014/main" xmlns="" val="4271594086"/>
                    </a:ext>
                  </a:extLst>
                </a:gridCol>
                <a:gridCol w="706047">
                  <a:extLst>
                    <a:ext uri="{9D8B030D-6E8A-4147-A177-3AD203B41FA5}">
                      <a16:colId xmlns:a16="http://schemas.microsoft.com/office/drawing/2014/main" xmlns="" val="1952076449"/>
                    </a:ext>
                  </a:extLst>
                </a:gridCol>
                <a:gridCol w="664514">
                  <a:extLst>
                    <a:ext uri="{9D8B030D-6E8A-4147-A177-3AD203B41FA5}">
                      <a16:colId xmlns:a16="http://schemas.microsoft.com/office/drawing/2014/main" xmlns="" val="677387506"/>
                    </a:ext>
                  </a:extLst>
                </a:gridCol>
                <a:gridCol w="650670">
                  <a:extLst>
                    <a:ext uri="{9D8B030D-6E8A-4147-A177-3AD203B41FA5}">
                      <a16:colId xmlns:a16="http://schemas.microsoft.com/office/drawing/2014/main" xmlns="" val="2786719802"/>
                    </a:ext>
                  </a:extLst>
                </a:gridCol>
                <a:gridCol w="636827">
                  <a:extLst>
                    <a:ext uri="{9D8B030D-6E8A-4147-A177-3AD203B41FA5}">
                      <a16:colId xmlns:a16="http://schemas.microsoft.com/office/drawing/2014/main" xmlns="" val="3594654978"/>
                    </a:ext>
                  </a:extLst>
                </a:gridCol>
                <a:gridCol w="633934">
                  <a:extLst>
                    <a:ext uri="{9D8B030D-6E8A-4147-A177-3AD203B41FA5}">
                      <a16:colId xmlns:a16="http://schemas.microsoft.com/office/drawing/2014/main" xmlns="" val="1913667535"/>
                    </a:ext>
                  </a:extLst>
                </a:gridCol>
                <a:gridCol w="618186">
                  <a:extLst>
                    <a:ext uri="{9D8B030D-6E8A-4147-A177-3AD203B41FA5}">
                      <a16:colId xmlns:a16="http://schemas.microsoft.com/office/drawing/2014/main" xmlns="" val="3155720658"/>
                    </a:ext>
                  </a:extLst>
                </a:gridCol>
                <a:gridCol w="734096">
                  <a:extLst>
                    <a:ext uri="{9D8B030D-6E8A-4147-A177-3AD203B41FA5}">
                      <a16:colId xmlns:a16="http://schemas.microsoft.com/office/drawing/2014/main" xmlns="" val="3113954714"/>
                    </a:ext>
                  </a:extLst>
                </a:gridCol>
                <a:gridCol w="708338">
                  <a:extLst>
                    <a:ext uri="{9D8B030D-6E8A-4147-A177-3AD203B41FA5}">
                      <a16:colId xmlns:a16="http://schemas.microsoft.com/office/drawing/2014/main" xmlns="" val="146393732"/>
                    </a:ext>
                  </a:extLst>
                </a:gridCol>
                <a:gridCol w="708338">
                  <a:extLst>
                    <a:ext uri="{9D8B030D-6E8A-4147-A177-3AD203B41FA5}">
                      <a16:colId xmlns:a16="http://schemas.microsoft.com/office/drawing/2014/main" xmlns="" val="3637460477"/>
                    </a:ext>
                  </a:extLst>
                </a:gridCol>
                <a:gridCol w="759854">
                  <a:extLst>
                    <a:ext uri="{9D8B030D-6E8A-4147-A177-3AD203B41FA5}">
                      <a16:colId xmlns:a16="http://schemas.microsoft.com/office/drawing/2014/main" xmlns="" val="2902407970"/>
                    </a:ext>
                  </a:extLst>
                </a:gridCol>
                <a:gridCol w="811369">
                  <a:extLst>
                    <a:ext uri="{9D8B030D-6E8A-4147-A177-3AD203B41FA5}">
                      <a16:colId xmlns:a16="http://schemas.microsoft.com/office/drawing/2014/main" xmlns="" val="3937696160"/>
                    </a:ext>
                  </a:extLst>
                </a:gridCol>
                <a:gridCol w="798490">
                  <a:extLst>
                    <a:ext uri="{9D8B030D-6E8A-4147-A177-3AD203B41FA5}">
                      <a16:colId xmlns:a16="http://schemas.microsoft.com/office/drawing/2014/main" xmlns="" val="3374282516"/>
                    </a:ext>
                  </a:extLst>
                </a:gridCol>
                <a:gridCol w="734094">
                  <a:extLst>
                    <a:ext uri="{9D8B030D-6E8A-4147-A177-3AD203B41FA5}">
                      <a16:colId xmlns:a16="http://schemas.microsoft.com/office/drawing/2014/main" xmlns="" val="1061764706"/>
                    </a:ext>
                  </a:extLst>
                </a:gridCol>
              </a:tblGrid>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CC7</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CC9</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CC13</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71853789"/>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X1</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X2</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80046233"/>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832306832"/>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542437452"/>
                  </a:ext>
                </a:extLst>
              </a:tr>
            </a:tbl>
          </a:graphicData>
        </a:graphic>
      </p:graphicFrame>
      <p:sp>
        <p:nvSpPr>
          <p:cNvPr id="4" name="TextBox 3"/>
          <p:cNvSpPr txBox="1"/>
          <p:nvPr/>
        </p:nvSpPr>
        <p:spPr>
          <a:xfrm>
            <a:off x="824248" y="3543698"/>
            <a:ext cx="521594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3: Space time diagram for 2 initiations, X1 and </a:t>
            </a:r>
            <a:r>
              <a:rPr lang="en-IN" dirty="0" smtClean="0">
                <a:latin typeface="Times New Roman" panose="02020603050405020304" pitchFamily="18" charset="0"/>
                <a:cs typeface="Times New Roman" panose="02020603050405020304" pitchFamily="18" charset="0"/>
              </a:rPr>
              <a:t>X2</a:t>
            </a:r>
            <a:endParaRPr lang="en-IN"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38258" y="4073749"/>
            <a:ext cx="1180349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It can be observed from Fig 3 that the first initiation of function X i.e. X1 enters into the segment S1 of the pipeline in </a:t>
            </a:r>
            <a:r>
              <a:rPr lang="en-IN" dirty="0" smtClean="0">
                <a:latin typeface="Times New Roman" panose="02020603050405020304" pitchFamily="18" charset="0"/>
                <a:cs typeface="Times New Roman" panose="02020603050405020304" pitchFamily="18" charset="0"/>
              </a:rPr>
              <a:t>CC1 </a:t>
            </a:r>
            <a:r>
              <a:rPr lang="en-IN" dirty="0">
                <a:latin typeface="Times New Roman" panose="02020603050405020304" pitchFamily="18" charset="0"/>
                <a:cs typeface="Times New Roman" panose="02020603050405020304" pitchFamily="18" charset="0"/>
              </a:rPr>
              <a:t>whereas the second initiation of function X i.e. X2 enters into the segment S1 of the pipeline in </a:t>
            </a:r>
            <a:r>
              <a:rPr lang="en-IN" dirty="0" smtClean="0">
                <a:latin typeface="Times New Roman" panose="02020603050405020304" pitchFamily="18" charset="0"/>
                <a:cs typeface="Times New Roman" panose="02020603050405020304" pitchFamily="18" charset="0"/>
              </a:rPr>
              <a:t>CC9. </a:t>
            </a:r>
            <a:r>
              <a:rPr lang="en-IN" dirty="0">
                <a:latin typeface="Times New Roman" panose="02020603050405020304" pitchFamily="18" charset="0"/>
                <a:cs typeface="Times New Roman" panose="02020603050405020304" pitchFamily="18" charset="0"/>
              </a:rPr>
              <a:t>So the latency is 9-1=8 clock cycles in this case. Moreover, the evaluation of function X needs 8 clock cycles as observed from its reservation table in Fig 2. So the evaluation of X1 is over in CC8 and the evaluation of X2 is over in CC16. So 8*N number of clock cycles are required to complete the evaluation of N number of different initiations of function X (X1, X2, X3,.....XN</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381762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425" y="167425"/>
            <a:ext cx="11681138" cy="3416320"/>
          </a:xfrm>
          <a:prstGeom prst="rect">
            <a:avLst/>
          </a:prstGeom>
          <a:noFill/>
        </p:spPr>
        <p:txBody>
          <a:bodyPr wrap="square" rtlCol="0">
            <a:spAutoFit/>
          </a:bodyPr>
          <a:lstStyle/>
          <a:p>
            <a:r>
              <a:rPr lang="en-IN" u="sng" dirty="0">
                <a:latin typeface="Times New Roman" panose="02020603050405020304" pitchFamily="18" charset="0"/>
                <a:cs typeface="Times New Roman" panose="02020603050405020304" pitchFamily="18" charset="0"/>
              </a:rPr>
              <a:t>Forbidden latency</a:t>
            </a:r>
            <a:r>
              <a:rPr lang="en-IN" dirty="0">
                <a:latin typeface="Times New Roman" panose="02020603050405020304" pitchFamily="18" charset="0"/>
                <a:cs typeface="Times New Roman" panose="02020603050405020304" pitchFamily="18" charset="0"/>
              </a:rPr>
              <a:t>: </a:t>
            </a:r>
            <a:endParaRPr lang="en-IN"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Collision </a:t>
            </a:r>
            <a:r>
              <a:rPr lang="en-IN" dirty="0">
                <a:latin typeface="Times New Roman" panose="02020603050405020304" pitchFamily="18" charset="0"/>
                <a:cs typeface="Times New Roman" panose="02020603050405020304" pitchFamily="18" charset="0"/>
              </a:rPr>
              <a:t>occurs in the pipeline if 2 or more initiations use the same pipeline segment at the same time that is in the same clock cycle. The latency that causes collision is called forbidden latency. </a:t>
            </a:r>
            <a:endParaRPr lang="en-IN"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The </a:t>
            </a:r>
            <a:r>
              <a:rPr lang="en-IN" dirty="0">
                <a:latin typeface="Times New Roman" panose="02020603050405020304" pitchFamily="18" charset="0"/>
                <a:cs typeface="Times New Roman" panose="02020603050405020304" pitchFamily="18" charset="0"/>
              </a:rPr>
              <a:t>distance between any 2 check marks (for example, X in the reservation table of function X, Y in the reservation table of function Y in Fig 2) in the same row of the reservation table is forbidden latency. </a:t>
            </a:r>
            <a:endParaRPr lang="en-IN"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For </a:t>
            </a:r>
            <a:r>
              <a:rPr lang="en-IN" dirty="0">
                <a:latin typeface="Times New Roman" panose="02020603050405020304" pitchFamily="18" charset="0"/>
                <a:cs typeface="Times New Roman" panose="02020603050405020304" pitchFamily="18" charset="0"/>
              </a:rPr>
              <a:t>example, let us consider the reservation table of function X. In the first row of this table there are 3 check marks in CC1, CC6, CC8. So the forbidden latencies are 6-1=</a:t>
            </a:r>
            <a:r>
              <a:rPr lang="en-IN" b="1" dirty="0">
                <a:latin typeface="Times New Roman" panose="02020603050405020304" pitchFamily="18" charset="0"/>
                <a:cs typeface="Times New Roman" panose="02020603050405020304" pitchFamily="18" charset="0"/>
              </a:rPr>
              <a:t>5</a:t>
            </a:r>
            <a:r>
              <a:rPr lang="en-IN" dirty="0">
                <a:latin typeface="Times New Roman" panose="02020603050405020304" pitchFamily="18" charset="0"/>
                <a:cs typeface="Times New Roman" panose="02020603050405020304" pitchFamily="18" charset="0"/>
              </a:rPr>
              <a:t>, 8-6=</a:t>
            </a:r>
            <a:r>
              <a:rPr lang="en-IN" b="1"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8-1=</a:t>
            </a:r>
            <a:r>
              <a:rPr lang="en-IN" b="1" dirty="0">
                <a:latin typeface="Times New Roman" panose="02020603050405020304" pitchFamily="18" charset="0"/>
                <a:cs typeface="Times New Roman" panose="02020603050405020304" pitchFamily="18" charset="0"/>
              </a:rPr>
              <a:t>7</a:t>
            </a:r>
            <a:r>
              <a:rPr lang="en-IN" dirty="0">
                <a:latin typeface="Times New Roman" panose="02020603050405020304" pitchFamily="18" charset="0"/>
                <a:cs typeface="Times New Roman" panose="02020603050405020304" pitchFamily="18" charset="0"/>
              </a:rPr>
              <a:t>. In the second row of this table there are 2 check marks in CC2 and CC4. So the forbidden latency is 4-2=2. In the third row of this table there are 3 check marks in CC3, CC5, CC7. So the forbidden latencies are 5-3=2, 7-5=2, 7-3=4. So the function X has 4 forbidden latencies and these are 2, 4, 5, 7. </a:t>
            </a:r>
            <a:endParaRPr lang="en-IN"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Similarly </a:t>
            </a:r>
            <a:r>
              <a:rPr lang="en-IN" dirty="0">
                <a:latin typeface="Times New Roman" panose="02020603050405020304" pitchFamily="18" charset="0"/>
                <a:cs typeface="Times New Roman" panose="02020603050405020304" pitchFamily="18" charset="0"/>
              </a:rPr>
              <a:t>the forbidden latencies for function Y can be evaluated from its reservation table. The function Y has 2 forbidden latencies. These are 2, 4. </a:t>
            </a:r>
          </a:p>
        </p:txBody>
      </p:sp>
      <p:graphicFrame>
        <p:nvGraphicFramePr>
          <p:cNvPr id="3" name="Table 2"/>
          <p:cNvGraphicFramePr>
            <a:graphicFrameLocks noGrp="1"/>
          </p:cNvGraphicFramePr>
          <p:nvPr>
            <p:extLst>
              <p:ext uri="{D42A27DB-BD31-4B8C-83A1-F6EECF244321}">
                <p14:modId xmlns:p14="http://schemas.microsoft.com/office/powerpoint/2010/main" xmlns="" val="606889606"/>
              </p:ext>
            </p:extLst>
          </p:nvPr>
        </p:nvGraphicFramePr>
        <p:xfrm>
          <a:off x="1249252" y="3843426"/>
          <a:ext cx="9169755" cy="1261872"/>
        </p:xfrm>
        <a:graphic>
          <a:graphicData uri="http://schemas.openxmlformats.org/drawingml/2006/table">
            <a:tbl>
              <a:tblPr firstRow="1" firstCol="1" bandRow="1">
                <a:tableStyleId>{5C22544A-7EE6-4342-B048-85BDC9FD1C3A}</a:tableStyleId>
              </a:tblPr>
              <a:tblGrid>
                <a:gridCol w="476516">
                  <a:extLst>
                    <a:ext uri="{9D8B030D-6E8A-4147-A177-3AD203B41FA5}">
                      <a16:colId xmlns:a16="http://schemas.microsoft.com/office/drawing/2014/main" xmlns="" val="3974510685"/>
                    </a:ext>
                  </a:extLst>
                </a:gridCol>
                <a:gridCol w="605307">
                  <a:extLst>
                    <a:ext uri="{9D8B030D-6E8A-4147-A177-3AD203B41FA5}">
                      <a16:colId xmlns:a16="http://schemas.microsoft.com/office/drawing/2014/main" xmlns="" val="616400704"/>
                    </a:ext>
                  </a:extLst>
                </a:gridCol>
                <a:gridCol w="631065">
                  <a:extLst>
                    <a:ext uri="{9D8B030D-6E8A-4147-A177-3AD203B41FA5}">
                      <a16:colId xmlns:a16="http://schemas.microsoft.com/office/drawing/2014/main" xmlns="" val="2831347289"/>
                    </a:ext>
                  </a:extLst>
                </a:gridCol>
                <a:gridCol w="605307">
                  <a:extLst>
                    <a:ext uri="{9D8B030D-6E8A-4147-A177-3AD203B41FA5}">
                      <a16:colId xmlns:a16="http://schemas.microsoft.com/office/drawing/2014/main" xmlns="" val="443506832"/>
                    </a:ext>
                  </a:extLst>
                </a:gridCol>
                <a:gridCol w="734096">
                  <a:extLst>
                    <a:ext uri="{9D8B030D-6E8A-4147-A177-3AD203B41FA5}">
                      <a16:colId xmlns:a16="http://schemas.microsoft.com/office/drawing/2014/main" xmlns="" val="4066754569"/>
                    </a:ext>
                  </a:extLst>
                </a:gridCol>
                <a:gridCol w="746975">
                  <a:extLst>
                    <a:ext uri="{9D8B030D-6E8A-4147-A177-3AD203B41FA5}">
                      <a16:colId xmlns:a16="http://schemas.microsoft.com/office/drawing/2014/main" xmlns="" val="1579563133"/>
                    </a:ext>
                  </a:extLst>
                </a:gridCol>
                <a:gridCol w="746974">
                  <a:extLst>
                    <a:ext uri="{9D8B030D-6E8A-4147-A177-3AD203B41FA5}">
                      <a16:colId xmlns:a16="http://schemas.microsoft.com/office/drawing/2014/main" xmlns="" val="177618017"/>
                    </a:ext>
                  </a:extLst>
                </a:gridCol>
                <a:gridCol w="1043189">
                  <a:extLst>
                    <a:ext uri="{9D8B030D-6E8A-4147-A177-3AD203B41FA5}">
                      <a16:colId xmlns:a16="http://schemas.microsoft.com/office/drawing/2014/main" xmlns="" val="465748487"/>
                    </a:ext>
                  </a:extLst>
                </a:gridCol>
                <a:gridCol w="1068946">
                  <a:extLst>
                    <a:ext uri="{9D8B030D-6E8A-4147-A177-3AD203B41FA5}">
                      <a16:colId xmlns:a16="http://schemas.microsoft.com/office/drawing/2014/main" xmlns="" val="378697810"/>
                    </a:ext>
                  </a:extLst>
                </a:gridCol>
                <a:gridCol w="991674">
                  <a:extLst>
                    <a:ext uri="{9D8B030D-6E8A-4147-A177-3AD203B41FA5}">
                      <a16:colId xmlns:a16="http://schemas.microsoft.com/office/drawing/2014/main" xmlns="" val="2688842935"/>
                    </a:ext>
                  </a:extLst>
                </a:gridCol>
                <a:gridCol w="785611">
                  <a:extLst>
                    <a:ext uri="{9D8B030D-6E8A-4147-A177-3AD203B41FA5}">
                      <a16:colId xmlns:a16="http://schemas.microsoft.com/office/drawing/2014/main" xmlns="" val="2012838919"/>
                    </a:ext>
                  </a:extLst>
                </a:gridCol>
                <a:gridCol w="734095">
                  <a:extLst>
                    <a:ext uri="{9D8B030D-6E8A-4147-A177-3AD203B41FA5}">
                      <a16:colId xmlns:a16="http://schemas.microsoft.com/office/drawing/2014/main" xmlns="" val="3184557287"/>
                    </a:ext>
                  </a:extLst>
                </a:gridCol>
              </a:tblGrid>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CC7</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CC9</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561395468"/>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X1X2</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 </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X2X3</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331759412"/>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X1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X1X2</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X2X3</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X3X4</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 </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X4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792962869"/>
                  </a:ext>
                </a:extLst>
              </a:tr>
              <a:tr h="0">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X1X2</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X1X2X3</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solidFill>
                            <a:srgbClr val="FF0000"/>
                          </a:solidFill>
                          <a:effectLst/>
                          <a:latin typeface="Times New Roman" panose="02020603050405020304" pitchFamily="18" charset="0"/>
                          <a:cs typeface="Times New Roman" panose="02020603050405020304" pitchFamily="18" charset="0"/>
                        </a:rPr>
                        <a:t> </a:t>
                      </a:r>
                      <a:endParaRPr lang="en-IN" sz="180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X2X3X4</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365837719"/>
                  </a:ext>
                </a:extLst>
              </a:tr>
            </a:tbl>
          </a:graphicData>
        </a:graphic>
      </p:graphicFrame>
      <p:sp>
        <p:nvSpPr>
          <p:cNvPr id="4" name="TextBox 3"/>
          <p:cNvSpPr txBox="1"/>
          <p:nvPr/>
        </p:nvSpPr>
        <p:spPr>
          <a:xfrm>
            <a:off x="4307982" y="5364979"/>
            <a:ext cx="620761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4: Space time diagram for function X with latency equal to </a:t>
            </a:r>
            <a:r>
              <a:rPr lang="en-IN" dirty="0" smtClean="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1982310" y="3499960"/>
            <a:ext cx="1096775" cy="369332"/>
          </a:xfrm>
          <a:prstGeom prst="rect">
            <a:avLst/>
          </a:prstGeom>
        </p:spPr>
        <p:txBody>
          <a:bodyPr wrap="none">
            <a:spAutoFit/>
          </a:bodyPr>
          <a:lstStyle/>
          <a:p>
            <a:r>
              <a:rPr lang="en-IN" dirty="0">
                <a:latin typeface="Times New Roman" panose="02020603050405020304" pitchFamily="18" charset="0"/>
                <a:ea typeface="Calibri" panose="020F0502020204030204" pitchFamily="34" charset="0"/>
              </a:rPr>
              <a:t>latency=2</a:t>
            </a:r>
            <a:endParaRPr lang="en-IN" dirty="0"/>
          </a:p>
        </p:txBody>
      </p:sp>
      <p:cxnSp>
        <p:nvCxnSpPr>
          <p:cNvPr id="4098" name="AutoShape 2"/>
          <p:cNvCxnSpPr>
            <a:cxnSpLocks noChangeShapeType="1"/>
          </p:cNvCxnSpPr>
          <p:nvPr/>
        </p:nvCxnSpPr>
        <p:spPr bwMode="auto">
          <a:xfrm>
            <a:off x="2957897" y="3696236"/>
            <a:ext cx="58420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10" name="Straight Arrow Connector 9"/>
          <p:cNvCxnSpPr/>
          <p:nvPr/>
        </p:nvCxnSpPr>
        <p:spPr>
          <a:xfrm flipH="1">
            <a:off x="1738648" y="3696236"/>
            <a:ext cx="2436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731985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2477499697"/>
              </p:ext>
            </p:extLst>
          </p:nvPr>
        </p:nvGraphicFramePr>
        <p:xfrm>
          <a:off x="418462" y="4121034"/>
          <a:ext cx="7875534" cy="1274731"/>
        </p:xfrm>
        <a:graphic>
          <a:graphicData uri="http://schemas.openxmlformats.org/drawingml/2006/table">
            <a:tbl>
              <a:tblPr firstRow="1" firstCol="1" bandRow="1">
                <a:tableStyleId>{5C22544A-7EE6-4342-B048-85BDC9FD1C3A}</a:tableStyleId>
              </a:tblPr>
              <a:tblGrid>
                <a:gridCol w="401590">
                  <a:extLst>
                    <a:ext uri="{9D8B030D-6E8A-4147-A177-3AD203B41FA5}">
                      <a16:colId xmlns:a16="http://schemas.microsoft.com/office/drawing/2014/main" xmlns="" val="1323047283"/>
                    </a:ext>
                  </a:extLst>
                </a:gridCol>
                <a:gridCol w="622382">
                  <a:extLst>
                    <a:ext uri="{9D8B030D-6E8A-4147-A177-3AD203B41FA5}">
                      <a16:colId xmlns:a16="http://schemas.microsoft.com/office/drawing/2014/main" xmlns="" val="26702654"/>
                    </a:ext>
                  </a:extLst>
                </a:gridCol>
                <a:gridCol w="631065">
                  <a:extLst>
                    <a:ext uri="{9D8B030D-6E8A-4147-A177-3AD203B41FA5}">
                      <a16:colId xmlns:a16="http://schemas.microsoft.com/office/drawing/2014/main" xmlns="" val="1983714305"/>
                    </a:ext>
                  </a:extLst>
                </a:gridCol>
                <a:gridCol w="618186">
                  <a:extLst>
                    <a:ext uri="{9D8B030D-6E8A-4147-A177-3AD203B41FA5}">
                      <a16:colId xmlns:a16="http://schemas.microsoft.com/office/drawing/2014/main" xmlns="" val="3120383966"/>
                    </a:ext>
                  </a:extLst>
                </a:gridCol>
                <a:gridCol w="605307">
                  <a:extLst>
                    <a:ext uri="{9D8B030D-6E8A-4147-A177-3AD203B41FA5}">
                      <a16:colId xmlns:a16="http://schemas.microsoft.com/office/drawing/2014/main" xmlns="" val="1747650361"/>
                    </a:ext>
                  </a:extLst>
                </a:gridCol>
                <a:gridCol w="669702">
                  <a:extLst>
                    <a:ext uri="{9D8B030D-6E8A-4147-A177-3AD203B41FA5}">
                      <a16:colId xmlns:a16="http://schemas.microsoft.com/office/drawing/2014/main" xmlns="" val="3076245390"/>
                    </a:ext>
                  </a:extLst>
                </a:gridCol>
                <a:gridCol w="772732">
                  <a:extLst>
                    <a:ext uri="{9D8B030D-6E8A-4147-A177-3AD203B41FA5}">
                      <a16:colId xmlns:a16="http://schemas.microsoft.com/office/drawing/2014/main" xmlns="" val="1277677485"/>
                    </a:ext>
                  </a:extLst>
                </a:gridCol>
                <a:gridCol w="631065">
                  <a:extLst>
                    <a:ext uri="{9D8B030D-6E8A-4147-A177-3AD203B41FA5}">
                      <a16:colId xmlns:a16="http://schemas.microsoft.com/office/drawing/2014/main" xmlns="" val="661504881"/>
                    </a:ext>
                  </a:extLst>
                </a:gridCol>
                <a:gridCol w="631065">
                  <a:extLst>
                    <a:ext uri="{9D8B030D-6E8A-4147-A177-3AD203B41FA5}">
                      <a16:colId xmlns:a16="http://schemas.microsoft.com/office/drawing/2014/main" xmlns="" val="3210991713"/>
                    </a:ext>
                  </a:extLst>
                </a:gridCol>
                <a:gridCol w="669701">
                  <a:extLst>
                    <a:ext uri="{9D8B030D-6E8A-4147-A177-3AD203B41FA5}">
                      <a16:colId xmlns:a16="http://schemas.microsoft.com/office/drawing/2014/main" xmlns="" val="2304383990"/>
                    </a:ext>
                  </a:extLst>
                </a:gridCol>
                <a:gridCol w="785611">
                  <a:extLst>
                    <a:ext uri="{9D8B030D-6E8A-4147-A177-3AD203B41FA5}">
                      <a16:colId xmlns:a16="http://schemas.microsoft.com/office/drawing/2014/main" xmlns="" val="2983926745"/>
                    </a:ext>
                  </a:extLst>
                </a:gridCol>
                <a:gridCol w="837128">
                  <a:extLst>
                    <a:ext uri="{9D8B030D-6E8A-4147-A177-3AD203B41FA5}">
                      <a16:colId xmlns:a16="http://schemas.microsoft.com/office/drawing/2014/main" xmlns="" val="2721820030"/>
                    </a:ext>
                  </a:extLst>
                </a:gridCol>
              </a:tblGrid>
              <a:tr h="328327">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CC2</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CC4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CC6</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CC7</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CC8</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CC9</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CC10</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CC11</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46979266"/>
                  </a:ext>
                </a:extLst>
              </a:tr>
              <a:tr h="238837">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solidFill>
                            <a:srgbClr val="FF0000"/>
                          </a:solidFill>
                          <a:effectLst/>
                          <a:latin typeface="Times New Roman" panose="02020603050405020304" pitchFamily="18" charset="0"/>
                          <a:cs typeface="Times New Roman" panose="02020603050405020304" pitchFamily="18" charset="0"/>
                        </a:rPr>
                        <a:t>X1X2</a:t>
                      </a:r>
                      <a:endParaRPr lang="en-I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726753274"/>
                  </a:ext>
                </a:extLst>
              </a:tr>
              <a:tr h="238837">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340335718"/>
                  </a:ext>
                </a:extLst>
              </a:tr>
              <a:tr h="238837">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S3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a:effectLst/>
                          <a:latin typeface="Times New Roman" panose="02020603050405020304" pitchFamily="18" charset="0"/>
                          <a:cs typeface="Times New Roman" panose="02020603050405020304" pitchFamily="18" charset="0"/>
                        </a:rPr>
                        <a:t>X2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IN" sz="1800" dirty="0">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254283863"/>
                  </a:ext>
                </a:extLst>
              </a:tr>
            </a:tbl>
          </a:graphicData>
        </a:graphic>
      </p:graphicFrame>
      <p:cxnSp>
        <p:nvCxnSpPr>
          <p:cNvPr id="3" name="Straight Arrow Connector 2"/>
          <p:cNvCxnSpPr/>
          <p:nvPr/>
        </p:nvCxnSpPr>
        <p:spPr>
          <a:xfrm flipH="1">
            <a:off x="824249" y="3981016"/>
            <a:ext cx="6053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 name="AutoShape 2"/>
          <p:cNvCxnSpPr>
            <a:cxnSpLocks noChangeShapeType="1"/>
          </p:cNvCxnSpPr>
          <p:nvPr/>
        </p:nvCxnSpPr>
        <p:spPr bwMode="auto">
          <a:xfrm flipV="1">
            <a:off x="2526331" y="3981015"/>
            <a:ext cx="2121998"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sp>
        <p:nvSpPr>
          <p:cNvPr id="5" name="Rectangle 4"/>
          <p:cNvSpPr/>
          <p:nvPr/>
        </p:nvSpPr>
        <p:spPr>
          <a:xfrm>
            <a:off x="1429556" y="3796350"/>
            <a:ext cx="1096775" cy="369332"/>
          </a:xfrm>
          <a:prstGeom prst="rect">
            <a:avLst/>
          </a:prstGeom>
        </p:spPr>
        <p:txBody>
          <a:bodyPr wrap="none">
            <a:spAutoFit/>
          </a:bodyPr>
          <a:lstStyle/>
          <a:p>
            <a:r>
              <a:rPr lang="en-IN" dirty="0" smtClean="0">
                <a:latin typeface="Times New Roman" panose="02020603050405020304" pitchFamily="18" charset="0"/>
                <a:ea typeface="Calibri" panose="020F0502020204030204" pitchFamily="34" charset="0"/>
              </a:rPr>
              <a:t>latency=5</a:t>
            </a:r>
            <a:endParaRPr lang="en-IN" dirty="0"/>
          </a:p>
        </p:txBody>
      </p:sp>
      <p:sp>
        <p:nvSpPr>
          <p:cNvPr id="8" name="TextBox 7"/>
          <p:cNvSpPr txBox="1"/>
          <p:nvPr/>
        </p:nvSpPr>
        <p:spPr>
          <a:xfrm>
            <a:off x="180304" y="103031"/>
            <a:ext cx="11758412"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Three initiations of function X (X1, X2, </a:t>
            </a:r>
            <a:r>
              <a:rPr lang="en-IN" dirty="0" smtClean="0">
                <a:latin typeface="Times New Roman" panose="02020603050405020304" pitchFamily="18" charset="0"/>
                <a:cs typeface="Times New Roman" panose="02020603050405020304" pitchFamily="18" charset="0"/>
              </a:rPr>
              <a:t>X3) with latency 2 </a:t>
            </a:r>
            <a:r>
              <a:rPr lang="en-IN" dirty="0">
                <a:latin typeface="Times New Roman" panose="02020603050405020304" pitchFamily="18" charset="0"/>
                <a:cs typeface="Times New Roman" panose="02020603050405020304" pitchFamily="18" charset="0"/>
              </a:rPr>
              <a:t>are shown in the space time diagram of Fig 4.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X1 </a:t>
            </a:r>
            <a:r>
              <a:rPr lang="en-IN" dirty="0">
                <a:latin typeface="Times New Roman" panose="02020603050405020304" pitchFamily="18" charset="0"/>
                <a:cs typeface="Times New Roman" panose="02020603050405020304" pitchFamily="18" charset="0"/>
              </a:rPr>
              <a:t>enters into the pipeline in CC1, X2 enters into the pipeline just after 2 clock cycles </a:t>
            </a:r>
            <a:r>
              <a:rPr lang="en-IN" dirty="0" smtClean="0">
                <a:latin typeface="Times New Roman" panose="02020603050405020304" pitchFamily="18" charset="0"/>
                <a:cs typeface="Times New Roman" panose="02020603050405020304" pitchFamily="18" charset="0"/>
              </a:rPr>
              <a:t>from </a:t>
            </a:r>
            <a:r>
              <a:rPr lang="en-IN" dirty="0">
                <a:latin typeface="Times New Roman" panose="02020603050405020304" pitchFamily="18" charset="0"/>
                <a:cs typeface="Times New Roman" panose="02020603050405020304" pitchFamily="18" charset="0"/>
              </a:rPr>
              <a:t>the initiation of </a:t>
            </a:r>
            <a:r>
              <a:rPr lang="en-IN" dirty="0" smtClean="0">
                <a:latin typeface="Times New Roman" panose="02020603050405020304" pitchFamily="18" charset="0"/>
                <a:cs typeface="Times New Roman" panose="02020603050405020304" pitchFamily="18" charset="0"/>
              </a:rPr>
              <a:t>X1, </a:t>
            </a:r>
            <a:r>
              <a:rPr lang="en-IN" dirty="0">
                <a:latin typeface="Times New Roman" panose="02020603050405020304" pitchFamily="18" charset="0"/>
                <a:cs typeface="Times New Roman" panose="02020603050405020304" pitchFamily="18" charset="0"/>
              </a:rPr>
              <a:t>X3 enters into the pipeline just after 2 clock cycles </a:t>
            </a:r>
            <a:r>
              <a:rPr lang="en-IN" dirty="0" smtClean="0">
                <a:latin typeface="Times New Roman" panose="02020603050405020304" pitchFamily="18" charset="0"/>
                <a:cs typeface="Times New Roman" panose="02020603050405020304" pitchFamily="18" charset="0"/>
              </a:rPr>
              <a:t>from </a:t>
            </a:r>
            <a:r>
              <a:rPr lang="en-IN" dirty="0">
                <a:latin typeface="Times New Roman" panose="02020603050405020304" pitchFamily="18" charset="0"/>
                <a:cs typeface="Times New Roman" panose="02020603050405020304" pitchFamily="18" charset="0"/>
              </a:rPr>
              <a:t>the initiation of </a:t>
            </a:r>
            <a:r>
              <a:rPr lang="en-IN" dirty="0" smtClean="0">
                <a:latin typeface="Times New Roman" panose="02020603050405020304" pitchFamily="18" charset="0"/>
                <a:cs typeface="Times New Roman" panose="02020603050405020304" pitchFamily="18" charset="0"/>
              </a:rPr>
              <a:t>X2. </a:t>
            </a:r>
          </a:p>
          <a:p>
            <a:r>
              <a:rPr lang="en-IN" dirty="0" smtClean="0">
                <a:latin typeface="Times New Roman" panose="02020603050405020304" pitchFamily="18" charset="0"/>
                <a:cs typeface="Times New Roman" panose="02020603050405020304" pitchFamily="18" charset="0"/>
              </a:rPr>
              <a:t>Collision </a:t>
            </a:r>
            <a:r>
              <a:rPr lang="en-IN" dirty="0">
                <a:latin typeface="Times New Roman" panose="02020603050405020304" pitchFamily="18" charset="0"/>
                <a:cs typeface="Times New Roman" panose="02020603050405020304" pitchFamily="18" charset="0"/>
              </a:rPr>
              <a:t>occurs in CC4, CC5, CC6, CC7, CC8, CC9, CC10 </a:t>
            </a:r>
            <a:r>
              <a:rPr lang="en-IN" dirty="0" smtClean="0">
                <a:latin typeface="Times New Roman" panose="02020603050405020304" pitchFamily="18" charset="0"/>
                <a:cs typeface="Times New Roman" panose="02020603050405020304" pitchFamily="18" charset="0"/>
              </a:rPr>
              <a:t>as </a:t>
            </a:r>
            <a:r>
              <a:rPr lang="en-IN" dirty="0">
                <a:latin typeface="Times New Roman" panose="02020603050405020304" pitchFamily="18" charset="0"/>
                <a:cs typeface="Times New Roman" panose="02020603050405020304" pitchFamily="18" charset="0"/>
              </a:rPr>
              <a:t>2 is a forbidden latency</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824249" y="5535782"/>
            <a:ext cx="613034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5: Space time diagram for function X with latency equal to </a:t>
            </a:r>
            <a:r>
              <a:rPr lang="en-IN" dirty="0" smtClean="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203201" y="1362621"/>
            <a:ext cx="11684716"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Two initiations of function X (X1, X2) </a:t>
            </a:r>
            <a:r>
              <a:rPr lang="en-IN" dirty="0" smtClean="0">
                <a:latin typeface="Times New Roman" panose="02020603050405020304" pitchFamily="18" charset="0"/>
                <a:cs typeface="Times New Roman" panose="02020603050405020304" pitchFamily="18" charset="0"/>
              </a:rPr>
              <a:t>with latency 5 are </a:t>
            </a:r>
            <a:r>
              <a:rPr lang="en-IN" dirty="0">
                <a:latin typeface="Times New Roman" panose="02020603050405020304" pitchFamily="18" charset="0"/>
                <a:cs typeface="Times New Roman" panose="02020603050405020304" pitchFamily="18" charset="0"/>
              </a:rPr>
              <a:t>shown in the space time diagram of Fig 5.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X1 </a:t>
            </a:r>
            <a:r>
              <a:rPr lang="en-IN" dirty="0">
                <a:latin typeface="Times New Roman" panose="02020603050405020304" pitchFamily="18" charset="0"/>
                <a:cs typeface="Times New Roman" panose="02020603050405020304" pitchFamily="18" charset="0"/>
              </a:rPr>
              <a:t>enters into the pipeline in CC1, X2 enters into the pipeline just after 5 clock </a:t>
            </a:r>
            <a:r>
              <a:rPr lang="en-IN" dirty="0" smtClean="0">
                <a:latin typeface="Times New Roman" panose="02020603050405020304" pitchFamily="18" charset="0"/>
                <a:cs typeface="Times New Roman" panose="02020603050405020304" pitchFamily="18" charset="0"/>
              </a:rPr>
              <a:t>cycles </a:t>
            </a:r>
            <a:r>
              <a:rPr lang="en-IN" dirty="0">
                <a:latin typeface="Times New Roman" panose="02020603050405020304" pitchFamily="18" charset="0"/>
                <a:cs typeface="Times New Roman" panose="02020603050405020304" pitchFamily="18" charset="0"/>
              </a:rPr>
              <a:t>from the initiation of X1 i.e. in CC6. Both X1 and X2 occupy the segment S1 of the pipeline in CC6 and hence cause collision</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812059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2069" y="222069"/>
            <a:ext cx="11704320" cy="3416320"/>
          </a:xfrm>
          <a:prstGeom prst="rect">
            <a:avLst/>
          </a:prstGeom>
          <a:noFill/>
        </p:spPr>
        <p:txBody>
          <a:bodyPr wrap="square" rtlCol="0">
            <a:spAutoFit/>
          </a:bodyPr>
          <a:lstStyle/>
          <a:p>
            <a:r>
              <a:rPr lang="en-IN" u="sng" dirty="0" smtClean="0">
                <a:latin typeface="Times New Roman" pitchFamily="18" charset="0"/>
                <a:cs typeface="Times New Roman" pitchFamily="18" charset="0"/>
              </a:rPr>
              <a:t>Observation from Fig 3</a:t>
            </a:r>
            <a:r>
              <a:rPr lang="en-IN" dirty="0" smtClean="0">
                <a:latin typeface="Times New Roman" pitchFamily="18" charset="0"/>
                <a:cs typeface="Times New Roman" pitchFamily="18" charset="0"/>
              </a:rPr>
              <a:t>: It can be observed from the space time diagram in Fig 3 that the latency 8 is a safe latency as it causes no collision. The same is true for any latency which is greater than 8. So latency value greater than equal to 8 does not cause any collision for function X. But if the value of N that is the number of initiations is 100 and latency is 8 then 100*8 clock cycles are required to complete the evaluation of 100 tasks. So it reduces throughput (output as obtained from the pipeline in unit time i.e. per clock cycle) of the pipeline. To improve the pipeline performance that is to increase the pipeline throughput latency should be as small as possible at the same time such latency does not cause any collision. </a:t>
            </a:r>
          </a:p>
          <a:p>
            <a:r>
              <a:rPr lang="en-IN" dirty="0" smtClean="0">
                <a:latin typeface="Times New Roman" pitchFamily="18" charset="0"/>
                <a:cs typeface="Times New Roman" pitchFamily="18" charset="0"/>
              </a:rPr>
              <a:t> </a:t>
            </a:r>
          </a:p>
          <a:p>
            <a:r>
              <a:rPr lang="en-IN" u="sng" dirty="0" smtClean="0">
                <a:latin typeface="Times New Roman" pitchFamily="18" charset="0"/>
                <a:cs typeface="Times New Roman" pitchFamily="18" charset="0"/>
              </a:rPr>
              <a:t>Latency sequence</a:t>
            </a:r>
            <a:r>
              <a:rPr lang="en-IN" dirty="0" smtClean="0">
                <a:latin typeface="Times New Roman" pitchFamily="18" charset="0"/>
                <a:cs typeface="Times New Roman" pitchFamily="18" charset="0"/>
              </a:rPr>
              <a:t>: A sequence of permissible non-forbidden latencies between successive initiations. </a:t>
            </a:r>
          </a:p>
          <a:p>
            <a:r>
              <a:rPr lang="en-IN" dirty="0" smtClean="0">
                <a:latin typeface="Times New Roman" pitchFamily="18" charset="0"/>
                <a:cs typeface="Times New Roman" pitchFamily="18" charset="0"/>
              </a:rPr>
              <a:t>The permissible non-forbidden latency is the delay that can be used between the start of 2 successive pipeline operations (i.e. 2 successive initiations in a pipeline) without causing any collision.</a:t>
            </a:r>
          </a:p>
          <a:p>
            <a:r>
              <a:rPr lang="en-IN" dirty="0" smtClean="0">
                <a:latin typeface="Times New Roman" pitchFamily="18" charset="0"/>
                <a:cs typeface="Times New Roman" pitchFamily="18" charset="0"/>
              </a:rPr>
              <a:t> </a:t>
            </a:r>
          </a:p>
          <a:p>
            <a:r>
              <a:rPr lang="en-IN" u="sng" dirty="0" smtClean="0">
                <a:latin typeface="Times New Roman" pitchFamily="18" charset="0"/>
                <a:cs typeface="Times New Roman" pitchFamily="18" charset="0"/>
              </a:rPr>
              <a:t>Latency cycle</a:t>
            </a:r>
            <a:r>
              <a:rPr lang="en-IN" dirty="0" smtClean="0">
                <a:latin typeface="Times New Roman" pitchFamily="18" charset="0"/>
                <a:cs typeface="Times New Roman" pitchFamily="18" charset="0"/>
              </a:rPr>
              <a:t>: Latency cycle is the latency sequence which repeats the same subsequence (cycle) indefinitely.  </a:t>
            </a:r>
          </a:p>
        </p:txBody>
      </p:sp>
      <p:sp>
        <p:nvSpPr>
          <p:cNvPr id="5" name="TextBox 4"/>
          <p:cNvSpPr txBox="1"/>
          <p:nvPr/>
        </p:nvSpPr>
        <p:spPr>
          <a:xfrm>
            <a:off x="195943" y="5181719"/>
            <a:ext cx="11821885" cy="923330"/>
          </a:xfrm>
          <a:prstGeom prst="rect">
            <a:avLst/>
          </a:prstGeom>
          <a:noFill/>
        </p:spPr>
        <p:txBody>
          <a:bodyPr wrap="square" rtlCol="0">
            <a:spAutoFit/>
          </a:bodyPr>
          <a:lstStyle/>
          <a:p>
            <a:r>
              <a:rPr lang="en-IN" u="sng" dirty="0" smtClean="0">
                <a:latin typeface="Times New Roman" pitchFamily="18" charset="0"/>
                <a:cs typeface="Times New Roman" pitchFamily="18" charset="0"/>
              </a:rPr>
              <a:t>Latency cycles in using the pipeline in Fig 2 to evaluate the function X without causing a collision</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1. </a:t>
            </a:r>
            <a:r>
              <a:rPr lang="en-IN" u="sng" dirty="0" smtClean="0">
                <a:latin typeface="Times New Roman" pitchFamily="18" charset="0"/>
                <a:cs typeface="Times New Roman" pitchFamily="18" charset="0"/>
              </a:rPr>
              <a:t>Latency cycle (1,8)</a:t>
            </a:r>
            <a:r>
              <a:rPr lang="en-IN" dirty="0" smtClean="0">
                <a:latin typeface="Times New Roman" pitchFamily="18" charset="0"/>
                <a:cs typeface="Times New Roman" pitchFamily="18" charset="0"/>
              </a:rPr>
              <a:t>: The latency cycle (1, 8) represents the infinite latency sequence 1, 8, 1, 8, ....The successive initiations of new tasks are separated by 1 clock cycle and 8 clock cycle alternately.</a:t>
            </a:r>
          </a:p>
        </p:txBody>
      </p:sp>
      <p:graphicFrame>
        <p:nvGraphicFramePr>
          <p:cNvPr id="6" name="Table 5"/>
          <p:cNvGraphicFramePr>
            <a:graphicFrameLocks noGrp="1"/>
          </p:cNvGraphicFramePr>
          <p:nvPr/>
        </p:nvGraphicFramePr>
        <p:xfrm>
          <a:off x="666209" y="4149089"/>
          <a:ext cx="10789916" cy="981456"/>
        </p:xfrm>
        <a:graphic>
          <a:graphicData uri="http://schemas.openxmlformats.org/drawingml/2006/table">
            <a:tbl>
              <a:tblPr/>
              <a:tblGrid>
                <a:gridCol w="512123"/>
                <a:gridCol w="506777"/>
                <a:gridCol w="483326"/>
                <a:gridCol w="496388"/>
                <a:gridCol w="470263"/>
                <a:gridCol w="477861"/>
                <a:gridCol w="510192"/>
                <a:gridCol w="510192"/>
                <a:gridCol w="510192"/>
                <a:gridCol w="510192"/>
                <a:gridCol w="580241"/>
                <a:gridCol w="580241"/>
                <a:gridCol w="580241"/>
                <a:gridCol w="580241"/>
                <a:gridCol w="580241"/>
                <a:gridCol w="580241"/>
                <a:gridCol w="580241"/>
                <a:gridCol w="580241"/>
                <a:gridCol w="580241"/>
                <a:gridCol w="580241"/>
              </a:tblGrid>
              <a:tr h="0">
                <a:tc>
                  <a:txBody>
                    <a:bodyPr/>
                    <a:lstStyle/>
                    <a:p>
                      <a:pPr algn="ctr">
                        <a:lnSpc>
                          <a:spcPct val="115000"/>
                        </a:lnSpc>
                        <a:spcAft>
                          <a:spcPts val="0"/>
                        </a:spcAft>
                      </a:pPr>
                      <a:endParaRPr lang="en-IN" sz="1400" dirty="0">
                        <a:latin typeface="Times New Roman"/>
                        <a:ea typeface="Calibri"/>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Calibri"/>
                          <a:cs typeface="Times New Roman"/>
                        </a:rPr>
                        <a:t>CC1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Calibri"/>
                          <a:cs typeface="Times New Roman"/>
                        </a:rPr>
                        <a:t>CC4</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CC6</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CC7</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CC8</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Calibri"/>
                          <a:cs typeface="Times New Roman"/>
                        </a:rPr>
                        <a:t>CC9</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CC10</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CC16</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CC17</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CC18</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CC19</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400">
                          <a:latin typeface="Times New Roman"/>
                          <a:ea typeface="Calibri"/>
                          <a:cs typeface="Times New Roman"/>
                        </a:rPr>
                        <a:t>S1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Calibri"/>
                          <a:cs typeface="Times New Roman"/>
                        </a:rPr>
                        <a:t>X1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400">
                          <a:latin typeface="Times New Roman"/>
                          <a:ea typeface="Calibri"/>
                          <a:cs typeface="Times New Roman"/>
                        </a:rPr>
                        <a:t>S2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Calibri"/>
                          <a:cs typeface="Times New Roman"/>
                        </a:rPr>
                        <a:t>X1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400">
                          <a:latin typeface="Times New Roman"/>
                          <a:ea typeface="Calibri"/>
                          <a:cs typeface="Times New Roman"/>
                        </a:rPr>
                        <a:t>S3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solidFill>
                          <a:srgbClr val="FF0000"/>
                        </a:solidFill>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nvGraphicFramePr>
        <p:xfrm>
          <a:off x="7746274" y="3829158"/>
          <a:ext cx="1181235" cy="245364"/>
        </p:xfrm>
        <a:graphic>
          <a:graphicData uri="http://schemas.openxmlformats.org/drawingml/2006/table">
            <a:tbl>
              <a:tblPr/>
              <a:tblGrid>
                <a:gridCol w="1181235"/>
              </a:tblGrid>
              <a:tr h="0">
                <a:tc>
                  <a:txBody>
                    <a:bodyPr/>
                    <a:lstStyle/>
                    <a:p>
                      <a:pPr algn="just">
                        <a:lnSpc>
                          <a:spcPct val="115000"/>
                        </a:lnSpc>
                        <a:spcAft>
                          <a:spcPts val="0"/>
                        </a:spcAft>
                      </a:pPr>
                      <a:r>
                        <a:rPr lang="en-IN" sz="1400" dirty="0">
                          <a:latin typeface="Times New Roman"/>
                          <a:ea typeface="Calibri"/>
                          <a:cs typeface="Times New Roman"/>
                        </a:rPr>
                        <a:t>Cycle repeats</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025" name="AutoShape 1"/>
          <p:cNvCxnSpPr>
            <a:cxnSpLocks noChangeShapeType="1"/>
          </p:cNvCxnSpPr>
          <p:nvPr/>
        </p:nvCxnSpPr>
        <p:spPr bwMode="auto">
          <a:xfrm rot="10800000">
            <a:off x="5665109" y="4002769"/>
            <a:ext cx="2068103" cy="7529"/>
          </a:xfrm>
          <a:prstGeom prst="straightConnector1">
            <a:avLst/>
          </a:prstGeom>
          <a:noFill/>
          <a:ln w="9525">
            <a:solidFill>
              <a:srgbClr val="000000"/>
            </a:solidFill>
            <a:round/>
            <a:headEnd/>
            <a:tailEnd type="triangle" w="med" len="med"/>
          </a:ln>
        </p:spPr>
      </p:cxnSp>
      <p:cxnSp>
        <p:nvCxnSpPr>
          <p:cNvPr id="1026" name="AutoShape 2"/>
          <p:cNvCxnSpPr>
            <a:cxnSpLocks noChangeShapeType="1"/>
          </p:cNvCxnSpPr>
          <p:nvPr/>
        </p:nvCxnSpPr>
        <p:spPr bwMode="auto">
          <a:xfrm flipV="1">
            <a:off x="8921931" y="3989705"/>
            <a:ext cx="1933303" cy="20592"/>
          </a:xfrm>
          <a:prstGeom prst="straightConnector1">
            <a:avLst/>
          </a:prstGeom>
          <a:noFill/>
          <a:ln w="9525">
            <a:solidFill>
              <a:srgbClr val="000000"/>
            </a:solidFill>
            <a:round/>
            <a:headEnd/>
            <a:tailEnd type="triangle" w="med" len="med"/>
          </a:ln>
        </p:spPr>
      </p:cxnSp>
    </p:spTree>
    <p:extLst>
      <p:ext uri="{BB962C8B-B14F-4D97-AF65-F5344CB8AC3E}">
        <p14:creationId xmlns:p14="http://schemas.microsoft.com/office/powerpoint/2010/main" xmlns="" val="2620738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5943" y="222069"/>
            <a:ext cx="11743508" cy="2308324"/>
          </a:xfrm>
          <a:prstGeom prst="rect">
            <a:avLst/>
          </a:prstGeom>
          <a:noFill/>
        </p:spPr>
        <p:txBody>
          <a:bodyPr wrap="square" rtlCol="0">
            <a:spAutoFit/>
          </a:bodyPr>
          <a:lstStyle/>
          <a:p>
            <a:r>
              <a:rPr lang="en-IN" dirty="0" smtClean="0">
                <a:latin typeface="Times New Roman" pitchFamily="18" charset="0"/>
                <a:cs typeface="Times New Roman" pitchFamily="18" charset="0"/>
              </a:rPr>
              <a:t>For example five initiations of function X (X1, X2, X3, X4, X5) are shown in the above space time diagram. The diagram is drawn for 19 clock cycles (CC19). It can be extended for more clock cycles. The latency between X1 (enters into the pipeline in CC1) and X2 (enters into the pipeline in CC2) is 1, the latency between X2 (enters into the pipeline in CC2) and X3 (enters into the pipeline in CC10) is 8, again the latency between X3 (enters into the pipeline in CC10) and X4 (enters into the pipeline in CC11) is 1, again the latency between X4 (enters into the pipeline in CC11) and X5 (enters into the pipeline in CC19) is 8. </a:t>
            </a:r>
          </a:p>
          <a:p>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2. </a:t>
            </a:r>
            <a:r>
              <a:rPr lang="en-IN" u="sng" dirty="0" smtClean="0">
                <a:latin typeface="Times New Roman" pitchFamily="18" charset="0"/>
                <a:cs typeface="Times New Roman" pitchFamily="18" charset="0"/>
              </a:rPr>
              <a:t>Latency cycle (3)</a:t>
            </a:r>
            <a:r>
              <a:rPr lang="en-IN" dirty="0" smtClean="0">
                <a:latin typeface="Times New Roman" pitchFamily="18" charset="0"/>
                <a:cs typeface="Times New Roman" pitchFamily="18" charset="0"/>
              </a:rPr>
              <a:t>: The successive initiations of new tasks are separated by 3 clock cycles.</a:t>
            </a:r>
            <a:endParaRPr lang="en-IN"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378821" y="3078479"/>
          <a:ext cx="11390812" cy="981456"/>
        </p:xfrm>
        <a:graphic>
          <a:graphicData uri="http://schemas.openxmlformats.org/drawingml/2006/table">
            <a:tbl>
              <a:tblPr/>
              <a:tblGrid>
                <a:gridCol w="493002"/>
                <a:gridCol w="650762"/>
                <a:gridCol w="647065"/>
                <a:gridCol w="647065"/>
                <a:gridCol w="642135"/>
                <a:gridCol w="642135"/>
                <a:gridCol w="642135"/>
                <a:gridCol w="644601"/>
                <a:gridCol w="642135"/>
                <a:gridCol w="644601"/>
                <a:gridCol w="729643"/>
                <a:gridCol w="729643"/>
                <a:gridCol w="727178"/>
                <a:gridCol w="727178"/>
                <a:gridCol w="727178"/>
                <a:gridCol w="727178"/>
                <a:gridCol w="727178"/>
              </a:tblGrid>
              <a:tr h="0">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CC6</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CC7</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CC8</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CC9</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CC10</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CC16</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400">
                          <a:latin typeface="Times New Roman"/>
                          <a:ea typeface="Calibri"/>
                          <a:cs typeface="Times New Roman"/>
                        </a:rPr>
                        <a:t>S1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X6</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400">
                          <a:latin typeface="Times New Roman"/>
                          <a:ea typeface="Calibri"/>
                          <a:cs typeface="Times New Roman"/>
                        </a:rPr>
                        <a:t>S2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400">
                          <a:latin typeface="Times New Roman"/>
                          <a:ea typeface="Calibri"/>
                          <a:cs typeface="Times New Roman"/>
                        </a:rPr>
                        <a:t>S3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4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X2</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X3</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X4</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a:latin typeface="Times New Roman"/>
                          <a:ea typeface="Calibri"/>
                          <a:cs typeface="Times New Roman"/>
                        </a:rPr>
                        <a:t>X5</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400" dirty="0">
                          <a:latin typeface="Times New Roman"/>
                          <a:ea typeface="Calibri"/>
                          <a:cs typeface="Times New Roman"/>
                        </a:rPr>
                        <a:t>X4</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9457" name="AutoShape 1"/>
          <p:cNvCxnSpPr>
            <a:cxnSpLocks noChangeShapeType="1"/>
          </p:cNvCxnSpPr>
          <p:nvPr/>
        </p:nvCxnSpPr>
        <p:spPr bwMode="auto">
          <a:xfrm rot="10800000" flipV="1">
            <a:off x="2820308" y="2965268"/>
            <a:ext cx="863419" cy="11973"/>
          </a:xfrm>
          <a:prstGeom prst="straightConnector1">
            <a:avLst/>
          </a:prstGeom>
          <a:noFill/>
          <a:ln w="9525">
            <a:solidFill>
              <a:srgbClr val="000000"/>
            </a:solidFill>
            <a:round/>
            <a:headEnd/>
            <a:tailEnd type="triangle" w="med" len="med"/>
          </a:ln>
        </p:spPr>
      </p:cxnSp>
      <p:cxnSp>
        <p:nvCxnSpPr>
          <p:cNvPr id="6" name="AutoShape 1"/>
          <p:cNvCxnSpPr>
            <a:cxnSpLocks noChangeShapeType="1"/>
          </p:cNvCxnSpPr>
          <p:nvPr/>
        </p:nvCxnSpPr>
        <p:spPr bwMode="auto">
          <a:xfrm rot="10800000">
            <a:off x="6682559" y="2959825"/>
            <a:ext cx="1050653" cy="5444"/>
          </a:xfrm>
          <a:prstGeom prst="straightConnector1">
            <a:avLst/>
          </a:prstGeom>
          <a:noFill/>
          <a:ln w="9525">
            <a:solidFill>
              <a:srgbClr val="000000"/>
            </a:solidFill>
            <a:round/>
            <a:headEnd/>
            <a:tailEnd type="triangle" w="med" len="med"/>
          </a:ln>
        </p:spPr>
      </p:cxnSp>
      <p:cxnSp>
        <p:nvCxnSpPr>
          <p:cNvPr id="7" name="AutoShape 1"/>
          <p:cNvCxnSpPr>
            <a:cxnSpLocks noChangeShapeType="1"/>
          </p:cNvCxnSpPr>
          <p:nvPr/>
        </p:nvCxnSpPr>
        <p:spPr bwMode="auto">
          <a:xfrm rot="10800000" flipV="1">
            <a:off x="8872764" y="2952205"/>
            <a:ext cx="937443" cy="16327"/>
          </a:xfrm>
          <a:prstGeom prst="straightConnector1">
            <a:avLst/>
          </a:prstGeom>
          <a:noFill/>
          <a:ln w="9525">
            <a:solidFill>
              <a:srgbClr val="000000"/>
            </a:solidFill>
            <a:round/>
            <a:headEnd/>
            <a:tailEnd type="triangle" w="med" len="med"/>
          </a:ln>
        </p:spPr>
      </p:cxnSp>
      <p:cxnSp>
        <p:nvCxnSpPr>
          <p:cNvPr id="8" name="AutoShape 1"/>
          <p:cNvCxnSpPr>
            <a:cxnSpLocks noChangeShapeType="1"/>
          </p:cNvCxnSpPr>
          <p:nvPr/>
        </p:nvCxnSpPr>
        <p:spPr bwMode="auto">
          <a:xfrm rot="10800000">
            <a:off x="4766673" y="2964179"/>
            <a:ext cx="758916" cy="1090"/>
          </a:xfrm>
          <a:prstGeom prst="straightConnector1">
            <a:avLst/>
          </a:prstGeom>
          <a:noFill/>
          <a:ln w="9525">
            <a:solidFill>
              <a:srgbClr val="000000"/>
            </a:solidFill>
            <a:round/>
            <a:headEnd/>
            <a:tailEnd type="triangle" w="med" len="med"/>
          </a:ln>
        </p:spPr>
      </p:cxnSp>
      <p:cxnSp>
        <p:nvCxnSpPr>
          <p:cNvPr id="19458" name="AutoShape 2"/>
          <p:cNvCxnSpPr>
            <a:cxnSpLocks noChangeShapeType="1"/>
          </p:cNvCxnSpPr>
          <p:nvPr/>
        </p:nvCxnSpPr>
        <p:spPr bwMode="auto">
          <a:xfrm>
            <a:off x="4323806" y="2939143"/>
            <a:ext cx="445815" cy="11974"/>
          </a:xfrm>
          <a:prstGeom prst="straightConnector1">
            <a:avLst/>
          </a:prstGeom>
          <a:noFill/>
          <a:ln w="9525">
            <a:solidFill>
              <a:srgbClr val="000000"/>
            </a:solidFill>
            <a:round/>
            <a:headEnd/>
            <a:tailEnd type="triangle" w="med" len="med"/>
          </a:ln>
        </p:spPr>
      </p:cxnSp>
      <p:cxnSp>
        <p:nvCxnSpPr>
          <p:cNvPr id="10" name="AutoShape 2"/>
          <p:cNvCxnSpPr>
            <a:cxnSpLocks noChangeShapeType="1"/>
          </p:cNvCxnSpPr>
          <p:nvPr/>
        </p:nvCxnSpPr>
        <p:spPr bwMode="auto">
          <a:xfrm flipV="1">
            <a:off x="5878286" y="2959826"/>
            <a:ext cx="768032" cy="5443"/>
          </a:xfrm>
          <a:prstGeom prst="straightConnector1">
            <a:avLst/>
          </a:prstGeom>
          <a:noFill/>
          <a:ln w="9525">
            <a:solidFill>
              <a:srgbClr val="000000"/>
            </a:solidFill>
            <a:round/>
            <a:headEnd/>
            <a:tailEnd type="triangle" w="med" len="med"/>
          </a:ln>
        </p:spPr>
      </p:cxnSp>
      <p:cxnSp>
        <p:nvCxnSpPr>
          <p:cNvPr id="11" name="AutoShape 2"/>
          <p:cNvCxnSpPr>
            <a:cxnSpLocks noChangeShapeType="1"/>
          </p:cNvCxnSpPr>
          <p:nvPr/>
        </p:nvCxnSpPr>
        <p:spPr bwMode="auto">
          <a:xfrm flipV="1">
            <a:off x="10149840" y="2981598"/>
            <a:ext cx="868181" cy="9796"/>
          </a:xfrm>
          <a:prstGeom prst="straightConnector1">
            <a:avLst/>
          </a:prstGeom>
          <a:noFill/>
          <a:ln w="9525">
            <a:solidFill>
              <a:srgbClr val="000000"/>
            </a:solidFill>
            <a:round/>
            <a:headEnd/>
            <a:tailEnd type="triangle" w="med" len="med"/>
          </a:ln>
        </p:spPr>
      </p:cxnSp>
      <p:cxnSp>
        <p:nvCxnSpPr>
          <p:cNvPr id="12" name="AutoShape 2"/>
          <p:cNvCxnSpPr>
            <a:cxnSpLocks noChangeShapeType="1"/>
          </p:cNvCxnSpPr>
          <p:nvPr/>
        </p:nvCxnSpPr>
        <p:spPr bwMode="auto">
          <a:xfrm>
            <a:off x="7981406" y="2952206"/>
            <a:ext cx="863827" cy="11973"/>
          </a:xfrm>
          <a:prstGeom prst="straightConnector1">
            <a:avLst/>
          </a:prstGeom>
          <a:noFill/>
          <a:ln w="9525">
            <a:solidFill>
              <a:srgbClr val="000000"/>
            </a:solidFill>
            <a:round/>
            <a:headEnd/>
            <a:tailEnd type="triangle" w="med" len="med"/>
          </a:ln>
        </p:spPr>
      </p:cxnSp>
      <p:graphicFrame>
        <p:nvGraphicFramePr>
          <p:cNvPr id="13" name="Table 12"/>
          <p:cNvGraphicFramePr>
            <a:graphicFrameLocks noGrp="1"/>
          </p:cNvGraphicFramePr>
          <p:nvPr/>
        </p:nvGraphicFramePr>
        <p:xfrm>
          <a:off x="5734594" y="2522872"/>
          <a:ext cx="1227909" cy="245364"/>
        </p:xfrm>
        <a:graphic>
          <a:graphicData uri="http://schemas.openxmlformats.org/drawingml/2006/table">
            <a:tbl>
              <a:tblPr/>
              <a:tblGrid>
                <a:gridCol w="1227909"/>
              </a:tblGrid>
              <a:tr h="0">
                <a:tc>
                  <a:txBody>
                    <a:bodyPr/>
                    <a:lstStyle/>
                    <a:p>
                      <a:pPr algn="just">
                        <a:lnSpc>
                          <a:spcPct val="115000"/>
                        </a:lnSpc>
                        <a:spcAft>
                          <a:spcPts val="0"/>
                        </a:spcAft>
                      </a:pPr>
                      <a:r>
                        <a:rPr lang="en-IN" sz="1400" dirty="0">
                          <a:latin typeface="Times New Roman"/>
                          <a:ea typeface="Calibri"/>
                          <a:cs typeface="Times New Roman"/>
                        </a:rPr>
                        <a:t>Cycle repeats</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7" name="Straight Arrow Connector 16"/>
          <p:cNvCxnSpPr/>
          <p:nvPr/>
        </p:nvCxnSpPr>
        <p:spPr>
          <a:xfrm rot="10800000" flipV="1">
            <a:off x="3840482" y="2638698"/>
            <a:ext cx="1854925" cy="3657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5532121" y="2828109"/>
            <a:ext cx="261257" cy="1175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949440" y="2717074"/>
            <a:ext cx="953589" cy="2481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6962503" y="2573383"/>
            <a:ext cx="3082834" cy="3526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48194" y="4271554"/>
            <a:ext cx="11756571" cy="2308324"/>
          </a:xfrm>
          <a:prstGeom prst="rect">
            <a:avLst/>
          </a:prstGeom>
          <a:noFill/>
        </p:spPr>
        <p:txBody>
          <a:bodyPr wrap="square" rtlCol="0">
            <a:spAutoFit/>
          </a:bodyPr>
          <a:lstStyle/>
          <a:p>
            <a:r>
              <a:rPr lang="en-IN" dirty="0" smtClean="0">
                <a:latin typeface="Times New Roman" pitchFamily="18" charset="0"/>
                <a:cs typeface="Times New Roman" pitchFamily="18" charset="0"/>
              </a:rPr>
              <a:t>For example, six initiations of function X (X1, X2, X3, X4, X5, X6) are shown in the above space time diagram. The diagram is drawn for 16 clock cycles (CC16). It can be extended for more clock cycles. The latency between X1 (enters into the pipeline in CC1) and X2 (enters into the pipeline in CC4) is 3, the latency between X2 (enters into the pipeline in CC4) and X3 (enters into the pipeline in CC7) is 3, again the latency between X3 (enters into the pipeline in CC7) and X4 (enters into the pipeline in CC10) is 3, again the latency between X4 (enters into the pipeline in CC10) and X5 (enters into the pipeline in CC13) is 3 and so on.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3. </a:t>
            </a:r>
            <a:r>
              <a:rPr lang="en-IN" u="sng" dirty="0" smtClean="0">
                <a:latin typeface="Times New Roman" pitchFamily="18" charset="0"/>
                <a:cs typeface="Times New Roman" pitchFamily="18" charset="0"/>
              </a:rPr>
              <a:t>Latency cycle (6)</a:t>
            </a:r>
            <a:r>
              <a:rPr lang="en-IN" dirty="0" smtClean="0">
                <a:latin typeface="Times New Roman" pitchFamily="18" charset="0"/>
                <a:cs typeface="Times New Roman" pitchFamily="18" charset="0"/>
              </a:rPr>
              <a:t>: The successive initiations of new tasks are separated by 6 clock cycles.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83326" y="727164"/>
          <a:ext cx="11351625" cy="1261872"/>
        </p:xfrm>
        <a:graphic>
          <a:graphicData uri="http://schemas.openxmlformats.org/drawingml/2006/table">
            <a:tbl>
              <a:tblPr/>
              <a:tblGrid>
                <a:gridCol w="491307"/>
                <a:gridCol w="648524"/>
                <a:gridCol w="644839"/>
                <a:gridCol w="644839"/>
                <a:gridCol w="639926"/>
                <a:gridCol w="639926"/>
                <a:gridCol w="639926"/>
                <a:gridCol w="642383"/>
                <a:gridCol w="639926"/>
                <a:gridCol w="642383"/>
                <a:gridCol w="727133"/>
                <a:gridCol w="727133"/>
                <a:gridCol w="724676"/>
                <a:gridCol w="724676"/>
                <a:gridCol w="724676"/>
                <a:gridCol w="724676"/>
                <a:gridCol w="724676"/>
              </a:tblGrid>
              <a:tr h="0">
                <a:tc>
                  <a:txBody>
                    <a:bodyPr/>
                    <a:lstStyle/>
                    <a:p>
                      <a:pPr algn="ctr">
                        <a:lnSpc>
                          <a:spcPct val="115000"/>
                        </a:lnSpc>
                        <a:spcAft>
                          <a:spcPts val="0"/>
                        </a:spcAft>
                      </a:pPr>
                      <a:endParaRPr lang="en-IN" sz="1800" dirty="0">
                        <a:latin typeface="Times New Roman"/>
                        <a:ea typeface="Calibri"/>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CC3</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CC4</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CC5</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CC6</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CC7</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CC8</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CC9</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CC10</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CC11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CC12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CC13</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CC14</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CC15</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CC16</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800">
                          <a:latin typeface="Times New Roman"/>
                          <a:ea typeface="Calibri"/>
                          <a:cs typeface="Times New Roman"/>
                        </a:rPr>
                        <a:t>S1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X3</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800">
                          <a:latin typeface="Times New Roman"/>
                          <a:ea typeface="Calibri"/>
                          <a:cs typeface="Times New Roman"/>
                        </a:rPr>
                        <a:t>S2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X3</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X3</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en-IN" sz="1800">
                          <a:latin typeface="Times New Roman"/>
                          <a:ea typeface="Calibri"/>
                          <a:cs typeface="Times New Roman"/>
                        </a:rPr>
                        <a:t>S3</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X1</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X2</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800">
                          <a:latin typeface="Times New Roman"/>
                          <a:ea typeface="Calibri"/>
                          <a:cs typeface="Times New Roman"/>
                        </a:rPr>
                        <a:t>X3</a:t>
                      </a:r>
                      <a:endParaRPr lang="en-IN"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8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Table 2"/>
          <p:cNvGraphicFramePr>
            <a:graphicFrameLocks noGrp="1"/>
          </p:cNvGraphicFramePr>
          <p:nvPr/>
        </p:nvGraphicFramePr>
        <p:xfrm>
          <a:off x="6492240" y="184621"/>
          <a:ext cx="1489165" cy="315468"/>
        </p:xfrm>
        <a:graphic>
          <a:graphicData uri="http://schemas.openxmlformats.org/drawingml/2006/table">
            <a:tbl>
              <a:tblPr/>
              <a:tblGrid>
                <a:gridCol w="1489165"/>
              </a:tblGrid>
              <a:tr h="0">
                <a:tc>
                  <a:txBody>
                    <a:bodyPr/>
                    <a:lstStyle/>
                    <a:p>
                      <a:pPr algn="just">
                        <a:lnSpc>
                          <a:spcPct val="115000"/>
                        </a:lnSpc>
                        <a:spcAft>
                          <a:spcPts val="0"/>
                        </a:spcAft>
                      </a:pPr>
                      <a:r>
                        <a:rPr lang="en-IN" sz="1800" dirty="0">
                          <a:latin typeface="Times New Roman"/>
                          <a:ea typeface="Calibri"/>
                          <a:cs typeface="Times New Roman"/>
                        </a:rPr>
                        <a:t>Cycle repeats</a:t>
                      </a:r>
                      <a:endParaRPr lang="en-IN"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0482" name="AutoShape 2"/>
          <p:cNvCxnSpPr>
            <a:cxnSpLocks noChangeShapeType="1"/>
          </p:cNvCxnSpPr>
          <p:nvPr/>
        </p:nvCxnSpPr>
        <p:spPr bwMode="auto">
          <a:xfrm rot="10800000">
            <a:off x="4815162" y="528955"/>
            <a:ext cx="1559512" cy="6622"/>
          </a:xfrm>
          <a:prstGeom prst="straightConnector1">
            <a:avLst/>
          </a:prstGeom>
          <a:noFill/>
          <a:ln w="9525">
            <a:solidFill>
              <a:srgbClr val="000000"/>
            </a:solidFill>
            <a:round/>
            <a:headEnd/>
            <a:tailEnd type="triangle" w="med" len="med"/>
          </a:ln>
        </p:spPr>
      </p:cxnSp>
      <p:cxnSp>
        <p:nvCxnSpPr>
          <p:cNvPr id="20483" name="AutoShape 3"/>
          <p:cNvCxnSpPr>
            <a:cxnSpLocks noChangeShapeType="1"/>
          </p:cNvCxnSpPr>
          <p:nvPr/>
        </p:nvCxnSpPr>
        <p:spPr bwMode="auto">
          <a:xfrm>
            <a:off x="8034928" y="594270"/>
            <a:ext cx="901700" cy="0"/>
          </a:xfrm>
          <a:prstGeom prst="straightConnector1">
            <a:avLst/>
          </a:prstGeom>
          <a:noFill/>
          <a:ln w="9525">
            <a:solidFill>
              <a:srgbClr val="000000"/>
            </a:solidFill>
            <a:round/>
            <a:headEnd/>
            <a:tailEnd type="triangle" w="med" len="med"/>
          </a:ln>
        </p:spPr>
      </p:cxnSp>
      <p:sp>
        <p:nvSpPr>
          <p:cNvPr id="8" name="TextBox 7"/>
          <p:cNvSpPr txBox="1"/>
          <p:nvPr/>
        </p:nvSpPr>
        <p:spPr>
          <a:xfrm>
            <a:off x="431074" y="2508069"/>
            <a:ext cx="11325497" cy="3139321"/>
          </a:xfrm>
          <a:prstGeom prst="rect">
            <a:avLst/>
          </a:prstGeom>
          <a:noFill/>
        </p:spPr>
        <p:txBody>
          <a:bodyPr wrap="square" rtlCol="0">
            <a:spAutoFit/>
          </a:bodyPr>
          <a:lstStyle/>
          <a:p>
            <a:r>
              <a:rPr lang="en-IN" dirty="0" smtClean="0">
                <a:latin typeface="Times New Roman" pitchFamily="18" charset="0"/>
                <a:cs typeface="Times New Roman" pitchFamily="18" charset="0"/>
              </a:rPr>
              <a:t>For example, three initiations of function X (X1, X2, X3) are shown in the above space time diagram. The diagram is drawn for 16 clock cycles (CC16). It can be extended for more clock cycles. The latency between X1 (enters into the pipeline in CC1) and X2 (enters into the pipeline in CC7) is 6, the latency between X2 (enters into the pipeline in CC7) and X3 (enters into the pipeline in CC13) is 6, and so on. </a:t>
            </a:r>
          </a:p>
          <a:p>
            <a:r>
              <a:rPr lang="en-IN" dirty="0" smtClean="0">
                <a:latin typeface="Times New Roman" pitchFamily="18" charset="0"/>
                <a:cs typeface="Times New Roman" pitchFamily="18" charset="0"/>
              </a:rPr>
              <a:t> </a:t>
            </a:r>
          </a:p>
          <a:p>
            <a:r>
              <a:rPr lang="en-IN" u="sng" dirty="0" smtClean="0">
                <a:latin typeface="Times New Roman" pitchFamily="18" charset="0"/>
                <a:cs typeface="Times New Roman" pitchFamily="18" charset="0"/>
              </a:rPr>
              <a:t>Average latency</a:t>
            </a:r>
            <a:r>
              <a:rPr lang="en-IN" dirty="0" smtClean="0">
                <a:latin typeface="Times New Roman" pitchFamily="18" charset="0"/>
                <a:cs typeface="Times New Roman" pitchFamily="18" charset="0"/>
              </a:rPr>
              <a:t>: The average latency of a latency cycle is obtained by dividing the sum of all latencies by the number of latencies along the cycle. The latency cycle (1, 8) has an average latency   = 4.5.</a:t>
            </a:r>
          </a:p>
          <a:p>
            <a:r>
              <a:rPr lang="en-IN" dirty="0" smtClean="0">
                <a:latin typeface="Times New Roman" pitchFamily="18" charset="0"/>
                <a:cs typeface="Times New Roman" pitchFamily="18" charset="0"/>
              </a:rPr>
              <a:t> </a:t>
            </a:r>
          </a:p>
          <a:p>
            <a:r>
              <a:rPr lang="en-IN" u="sng" dirty="0" smtClean="0">
                <a:latin typeface="Times New Roman" pitchFamily="18" charset="0"/>
                <a:cs typeface="Times New Roman" pitchFamily="18" charset="0"/>
              </a:rPr>
              <a:t>Constant cycle</a:t>
            </a:r>
            <a:r>
              <a:rPr lang="en-IN" dirty="0" smtClean="0">
                <a:latin typeface="Times New Roman" pitchFamily="18" charset="0"/>
                <a:cs typeface="Times New Roman" pitchFamily="18" charset="0"/>
              </a:rPr>
              <a:t>: The constant cycle is a latency cycle having only 1 latency value. The latency cycles 3 and 6 are the example of constant cycle. The cycle 3 has latency value 3 (constant latency) and the cycle 6 (constant latency) has latency value 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3520" y="163649"/>
            <a:ext cx="11652069" cy="5909310"/>
          </a:xfrm>
          <a:prstGeom prst="rect">
            <a:avLst/>
          </a:prstGeom>
          <a:noFill/>
        </p:spPr>
        <p:txBody>
          <a:bodyPr wrap="square" rtlCol="0">
            <a:spAutoFit/>
          </a:bodyPr>
          <a:lstStyle/>
          <a:p>
            <a:r>
              <a:rPr lang="en-IN" b="1" dirty="0" smtClean="0">
                <a:latin typeface="Times New Roman" pitchFamily="18" charset="0"/>
                <a:cs typeface="Times New Roman" pitchFamily="18" charset="0"/>
              </a:rPr>
              <a:t>Collision free scheduling</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Scheduling is the initiation of different tasks in the pipeline i.e.  the different tasks are scheduled in the pipeline for execution</a:t>
            </a:r>
          </a:p>
          <a:p>
            <a:r>
              <a:rPr lang="en-IN" dirty="0" smtClean="0">
                <a:latin typeface="Times New Roman" pitchFamily="18" charset="0"/>
                <a:cs typeface="Times New Roman" pitchFamily="18" charset="0"/>
              </a:rPr>
              <a:t>Objective of scheduling events in a pipeline is to obtain the shortest average latency (to reduce execution time and increase pipeline throughput) between successive initiations without any collision. </a:t>
            </a:r>
          </a:p>
          <a:p>
            <a:r>
              <a:rPr lang="en-IN" u="sng" dirty="0" smtClean="0">
                <a:latin typeface="Times New Roman" pitchFamily="18" charset="0"/>
                <a:cs typeface="Times New Roman" pitchFamily="18" charset="0"/>
              </a:rPr>
              <a:t>Method for achieving such collision free scheduling for function X</a:t>
            </a:r>
          </a:p>
          <a:p>
            <a:r>
              <a:rPr lang="en-IN" dirty="0" smtClean="0">
                <a:latin typeface="Times New Roman" pitchFamily="18" charset="0"/>
                <a:cs typeface="Times New Roman" pitchFamily="18" charset="0"/>
              </a:rPr>
              <a:t>This method uses collision vector, state diagram, simple cycles and greedy cycles to compute the minimal average latency (MAL). </a:t>
            </a:r>
          </a:p>
          <a:p>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Collision vector</a:t>
            </a:r>
            <a:r>
              <a:rPr lang="en-IN" dirty="0" smtClean="0">
                <a:latin typeface="Times New Roman" pitchFamily="18" charset="0"/>
                <a:cs typeface="Times New Roman" pitchFamily="18" charset="0"/>
              </a:rPr>
              <a:t>:</a:t>
            </a:r>
          </a:p>
          <a:p>
            <a:pPr lvl="0"/>
            <a:r>
              <a:rPr lang="en-IN" dirty="0" smtClean="0">
                <a:latin typeface="Times New Roman" pitchFamily="18" charset="0"/>
                <a:cs typeface="Times New Roman" pitchFamily="18" charset="0"/>
              </a:rPr>
              <a:t>Maximum forbidden latency is m and m≤n-1 where n is the number of columns in the reservation table</a:t>
            </a:r>
          </a:p>
          <a:p>
            <a:pPr lvl="0"/>
            <a:r>
              <a:rPr lang="en-IN" dirty="0" smtClean="0">
                <a:latin typeface="Times New Roman" pitchFamily="18" charset="0"/>
                <a:cs typeface="Times New Roman" pitchFamily="18" charset="0"/>
              </a:rPr>
              <a:t>Permissible latency is P, </a:t>
            </a:r>
            <a:r>
              <a:rPr lang="en-IN" dirty="0" smtClean="0">
                <a:latin typeface="Times New Roman" pitchFamily="18" charset="0"/>
                <a:cs typeface="Times New Roman" pitchFamily="18" charset="0"/>
              </a:rPr>
              <a:t>P </a:t>
            </a:r>
            <a:r>
              <a:rPr lang="en-IN"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≤P≤</a:t>
            </a:r>
            <a:r>
              <a:rPr lang="en-IN" dirty="0" smtClean="0">
                <a:latin typeface="Times New Roman" pitchFamily="18" charset="0"/>
                <a:cs typeface="Times New Roman" pitchFamily="18" charset="0"/>
              </a:rPr>
              <a:t>m-1) </a:t>
            </a:r>
            <a:r>
              <a:rPr lang="en-IN" dirty="0" smtClean="0">
                <a:latin typeface="Times New Roman" pitchFamily="18" charset="0"/>
                <a:cs typeface="Times New Roman" pitchFamily="18" charset="0"/>
              </a:rPr>
              <a:t>should </a:t>
            </a:r>
            <a:r>
              <a:rPr lang="en-IN" dirty="0" smtClean="0">
                <a:latin typeface="Times New Roman" pitchFamily="18" charset="0"/>
                <a:cs typeface="Times New Roman" pitchFamily="18" charset="0"/>
              </a:rPr>
              <a:t>be as small as possible to reduce the overall execution time and to increase the pipeline throughput. </a:t>
            </a:r>
            <a:r>
              <a:rPr lang="en-IN" dirty="0" smtClean="0">
                <a:latin typeface="Times New Roman" pitchFamily="18" charset="0"/>
                <a:cs typeface="Times New Roman" pitchFamily="18" charset="0"/>
              </a:rPr>
              <a:t>P=1 </a:t>
            </a:r>
            <a:r>
              <a:rPr lang="en-IN" dirty="0" smtClean="0">
                <a:latin typeface="Times New Roman" pitchFamily="18" charset="0"/>
                <a:cs typeface="Times New Roman" pitchFamily="18" charset="0"/>
              </a:rPr>
              <a:t>is the ideal case for static pipeline.</a:t>
            </a:r>
          </a:p>
          <a:p>
            <a:pPr lvl="0"/>
            <a:endParaRPr lang="en-IN"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Collision vector (C) is a m-bit binary vector, C=(C</a:t>
            </a:r>
            <a:r>
              <a:rPr lang="en-IN" baseline="-25000" dirty="0" smtClean="0">
                <a:latin typeface="Times New Roman" pitchFamily="18" charset="0"/>
                <a:cs typeface="Times New Roman" pitchFamily="18" charset="0"/>
              </a:rPr>
              <a:t>m</a:t>
            </a:r>
            <a:r>
              <a:rPr lang="en-IN" dirty="0" smtClean="0">
                <a:latin typeface="Times New Roman" pitchFamily="18" charset="0"/>
                <a:cs typeface="Times New Roman" pitchFamily="18" charset="0"/>
              </a:rPr>
              <a:t>C</a:t>
            </a:r>
            <a:r>
              <a:rPr lang="en-IN" baseline="-25000" dirty="0" smtClean="0">
                <a:latin typeface="Times New Roman" pitchFamily="18" charset="0"/>
                <a:cs typeface="Times New Roman" pitchFamily="18" charset="0"/>
              </a:rPr>
              <a:t>m-1</a:t>
            </a:r>
            <a:r>
              <a:rPr lang="en-IN" dirty="0" smtClean="0">
                <a:latin typeface="Times New Roman" pitchFamily="18" charset="0"/>
                <a:cs typeface="Times New Roman" pitchFamily="18" charset="0"/>
              </a:rPr>
              <a:t>......C</a:t>
            </a:r>
            <a:r>
              <a:rPr lang="en-IN" baseline="-25000" dirty="0" smtClean="0">
                <a:latin typeface="Times New Roman" pitchFamily="18" charset="0"/>
                <a:cs typeface="Times New Roman" pitchFamily="18" charset="0"/>
              </a:rPr>
              <a:t>2</a:t>
            </a:r>
            <a:r>
              <a:rPr lang="en-IN" dirty="0" smtClean="0">
                <a:latin typeface="Times New Roman" pitchFamily="18" charset="0"/>
                <a:cs typeface="Times New Roman" pitchFamily="18" charset="0"/>
              </a:rPr>
              <a:t>C</a:t>
            </a:r>
            <a:r>
              <a:rPr lang="en-IN" baseline="-25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the value of </a:t>
            </a:r>
            <a:r>
              <a:rPr lang="en-IN" dirty="0" err="1" smtClean="0">
                <a:latin typeface="Times New Roman" pitchFamily="18" charset="0"/>
                <a:cs typeface="Times New Roman" pitchFamily="18" charset="0"/>
              </a:rPr>
              <a:t>C</a:t>
            </a:r>
            <a:r>
              <a:rPr lang="en-IN" baseline="-25000"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i</a:t>
            </a:r>
            <a:r>
              <a:rPr lang="en-IN" baseline="30000" dirty="0" err="1" smtClean="0">
                <a:latin typeface="Times New Roman" pitchFamily="18" charset="0"/>
                <a:cs typeface="Times New Roman" pitchFamily="18" charset="0"/>
              </a:rPr>
              <a:t>th</a:t>
            </a:r>
            <a:r>
              <a:rPr lang="en-IN" dirty="0" smtClean="0">
                <a:latin typeface="Times New Roman" pitchFamily="18" charset="0"/>
                <a:cs typeface="Times New Roman" pitchFamily="18" charset="0"/>
              </a:rPr>
              <a:t> bit of collision vector, 1≤i≤m) is 1 if latency </a:t>
            </a:r>
            <a:r>
              <a:rPr lang="en-IN" b="1"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is forbidden and 0 if latency </a:t>
            </a:r>
            <a:r>
              <a:rPr lang="en-IN" b="1"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is permissible</a:t>
            </a:r>
          </a:p>
          <a:p>
            <a:pPr lvl="0"/>
            <a:r>
              <a:rPr lang="en-IN" dirty="0" smtClean="0">
                <a:latin typeface="Times New Roman" pitchFamily="18" charset="0"/>
                <a:cs typeface="Times New Roman" pitchFamily="18" charset="0"/>
              </a:rPr>
              <a:t>Collision vector for function X (C</a:t>
            </a:r>
            <a:r>
              <a:rPr lang="en-IN" baseline="-25000" dirty="0" smtClean="0">
                <a:latin typeface="Times New Roman" pitchFamily="18" charset="0"/>
                <a:cs typeface="Times New Roman" pitchFamily="18" charset="0"/>
              </a:rPr>
              <a:t>X</a:t>
            </a:r>
            <a:r>
              <a:rPr lang="en-IN" dirty="0" smtClean="0">
                <a:latin typeface="Times New Roman" pitchFamily="18" charset="0"/>
                <a:cs typeface="Times New Roman" pitchFamily="18" charset="0"/>
              </a:rPr>
              <a:t>) [function Y (C</a:t>
            </a:r>
            <a:r>
              <a:rPr lang="en-IN" baseline="-25000" dirty="0" smtClean="0">
                <a:latin typeface="Times New Roman" pitchFamily="18" charset="0"/>
                <a:cs typeface="Times New Roman" pitchFamily="18" charset="0"/>
              </a:rPr>
              <a:t>Y</a:t>
            </a:r>
            <a:r>
              <a:rPr lang="en-IN" dirty="0" smtClean="0">
                <a:latin typeface="Times New Roman" pitchFamily="18" charset="0"/>
                <a:cs typeface="Times New Roman" pitchFamily="18" charset="0"/>
              </a:rPr>
              <a:t>)]</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For function X, n=8, m≤8-1 i.e. the maximum value of m is 7, 1≤P≤7-1 i.e. the maximum value of P is 6. </a:t>
            </a:r>
          </a:p>
          <a:p>
            <a:r>
              <a:rPr lang="en-IN" dirty="0" smtClean="0">
                <a:latin typeface="Times New Roman" pitchFamily="18" charset="0"/>
                <a:cs typeface="Times New Roman" pitchFamily="18" charset="0"/>
              </a:rPr>
              <a:t>Collision vector for function X (C</a:t>
            </a:r>
            <a:r>
              <a:rPr lang="en-IN" baseline="-25000" dirty="0" smtClean="0">
                <a:latin typeface="Times New Roman" pitchFamily="18" charset="0"/>
                <a:cs typeface="Times New Roman" pitchFamily="18" charset="0"/>
              </a:rPr>
              <a:t>X</a:t>
            </a:r>
            <a:r>
              <a:rPr lang="en-IN" dirty="0" smtClean="0">
                <a:latin typeface="Times New Roman" pitchFamily="18" charset="0"/>
                <a:cs typeface="Times New Roman" pitchFamily="18" charset="0"/>
              </a:rPr>
              <a:t>) is a 7-bit vector, C</a:t>
            </a:r>
            <a:r>
              <a:rPr lang="en-IN" baseline="-25000" dirty="0" smtClean="0">
                <a:latin typeface="Times New Roman" pitchFamily="18" charset="0"/>
                <a:cs typeface="Times New Roman" pitchFamily="18" charset="0"/>
              </a:rPr>
              <a:t>X</a:t>
            </a:r>
            <a:r>
              <a:rPr lang="en-IN" dirty="0" smtClean="0">
                <a:latin typeface="Times New Roman" pitchFamily="18" charset="0"/>
                <a:cs typeface="Times New Roman" pitchFamily="18" charset="0"/>
              </a:rPr>
              <a:t> is 1011010. [For function Y, n=6, m≤6-1 i.e. the maximum value of m is 5, 1≤P≤5-1 i.e. the maximum value of P is 4. Collision vector for function Y (C</a:t>
            </a:r>
            <a:r>
              <a:rPr lang="en-IN" baseline="-25000" dirty="0" smtClean="0">
                <a:latin typeface="Times New Roman" pitchFamily="18" charset="0"/>
                <a:cs typeface="Times New Roman" pitchFamily="18" charset="0"/>
              </a:rPr>
              <a:t>Y</a:t>
            </a:r>
            <a:r>
              <a:rPr lang="en-IN" dirty="0" smtClean="0">
                <a:latin typeface="Times New Roman" pitchFamily="18" charset="0"/>
                <a:cs typeface="Times New Roman" pitchFamily="18" charset="0"/>
              </a:rPr>
              <a:t>) is a 5-bit vector, is1010.]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 name="Table 85"/>
          <p:cNvGraphicFramePr>
            <a:graphicFrameLocks noGrp="1"/>
          </p:cNvGraphicFramePr>
          <p:nvPr/>
        </p:nvGraphicFramePr>
        <p:xfrm>
          <a:off x="2677456" y="2639074"/>
          <a:ext cx="4410637" cy="245364"/>
        </p:xfrm>
        <a:graphic>
          <a:graphicData uri="http://schemas.openxmlformats.org/drawingml/2006/table">
            <a:tbl>
              <a:tblPr/>
              <a:tblGrid>
                <a:gridCol w="630091"/>
                <a:gridCol w="630091"/>
                <a:gridCol w="630091"/>
                <a:gridCol w="630091"/>
                <a:gridCol w="630091"/>
                <a:gridCol w="630091"/>
                <a:gridCol w="630091"/>
              </a:tblGrid>
              <a:tr h="0">
                <a:tc>
                  <a:txBody>
                    <a:bodyPr/>
                    <a:lstStyle/>
                    <a:p>
                      <a:pPr algn="l">
                        <a:lnSpc>
                          <a:spcPct val="115000"/>
                        </a:lnSpc>
                        <a:spcAft>
                          <a:spcPts val="0"/>
                        </a:spcAft>
                      </a:pPr>
                      <a:r>
                        <a:rPr lang="en-IN" sz="1400" dirty="0">
                          <a:latin typeface="Times New Roman"/>
                          <a:ea typeface="Calibri"/>
                          <a:cs typeface="Times New Roman"/>
                        </a:rPr>
                        <a:t>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400">
                          <a:latin typeface="Times New Roman"/>
                          <a:ea typeface="Calibri"/>
                          <a:cs typeface="Times New Roman"/>
                        </a:rPr>
                        <a:t>0</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400">
                          <a:latin typeface="Times New Roman"/>
                          <a:ea typeface="Calibri"/>
                          <a:cs typeface="Times New Roman"/>
                        </a:rPr>
                        <a:t>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400">
                          <a:latin typeface="Times New Roman"/>
                          <a:ea typeface="Calibri"/>
                          <a:cs typeface="Times New Roman"/>
                        </a:rPr>
                        <a:t>1</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400">
                          <a:latin typeface="Times New Roman"/>
                          <a:ea typeface="Calibri"/>
                          <a:cs typeface="Times New Roman"/>
                        </a:rPr>
                        <a:t>0</a:t>
                      </a:r>
                      <a:endParaRPr lang="en-IN"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400" dirty="0">
                          <a:latin typeface="Times New Roman"/>
                          <a:ea typeface="Calibri"/>
                          <a:cs typeface="Times New Roman"/>
                        </a:rPr>
                        <a:t>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400" dirty="0">
                          <a:latin typeface="Times New Roman"/>
                          <a:ea typeface="Calibri"/>
                          <a:cs typeface="Times New Roman"/>
                        </a:rPr>
                        <a:t>0</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8" name="Table 87"/>
          <p:cNvGraphicFramePr>
            <a:graphicFrameLocks noGrp="1"/>
          </p:cNvGraphicFramePr>
          <p:nvPr/>
        </p:nvGraphicFramePr>
        <p:xfrm>
          <a:off x="2593077" y="1564519"/>
          <a:ext cx="487794" cy="495122"/>
        </p:xfrm>
        <a:graphic>
          <a:graphicData uri="http://schemas.openxmlformats.org/drawingml/2006/table">
            <a:tbl>
              <a:tblPr/>
              <a:tblGrid>
                <a:gridCol w="487794"/>
              </a:tblGrid>
              <a:tr h="495122">
                <a:tc>
                  <a:txBody>
                    <a:bodyPr/>
                    <a:lstStyle/>
                    <a:p>
                      <a:pPr algn="ctr">
                        <a:lnSpc>
                          <a:spcPct val="115000"/>
                        </a:lnSpc>
                        <a:spcAft>
                          <a:spcPts val="0"/>
                        </a:spcAft>
                      </a:pPr>
                      <a:r>
                        <a:rPr lang="en-IN" sz="1400" dirty="0">
                          <a:latin typeface="Times New Roman"/>
                          <a:ea typeface="Calibri"/>
                          <a:cs typeface="Times New Roman"/>
                        </a:rPr>
                        <a:t>OR</a:t>
                      </a:r>
                      <a:endParaRPr lang="en-IN" sz="1400" dirty="0">
                        <a:latin typeface="Calibri"/>
                        <a:ea typeface="Calibri"/>
                        <a:cs typeface="Times New Roman"/>
                      </a:endParaRPr>
                    </a:p>
                    <a:p>
                      <a:pPr algn="ctr">
                        <a:lnSpc>
                          <a:spcPct val="115000"/>
                        </a:lnSpc>
                        <a:spcAft>
                          <a:spcPts val="0"/>
                        </a:spcAft>
                      </a:pPr>
                      <a:r>
                        <a:rPr lang="en-IN" sz="1400" dirty="0">
                          <a:latin typeface="Times New Roman"/>
                          <a:ea typeface="Calibri"/>
                          <a:cs typeface="Times New Roman"/>
                        </a:rPr>
                        <a:t>gate</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9" name="Table 88"/>
          <p:cNvGraphicFramePr>
            <a:graphicFrameLocks noGrp="1"/>
          </p:cNvGraphicFramePr>
          <p:nvPr/>
        </p:nvGraphicFramePr>
        <p:xfrm>
          <a:off x="4560831" y="1555555"/>
          <a:ext cx="487794" cy="490728"/>
        </p:xfrm>
        <a:graphic>
          <a:graphicData uri="http://schemas.openxmlformats.org/drawingml/2006/table">
            <a:tbl>
              <a:tblPr/>
              <a:tblGrid>
                <a:gridCol w="487794"/>
              </a:tblGrid>
              <a:tr h="0">
                <a:tc>
                  <a:txBody>
                    <a:bodyPr/>
                    <a:lstStyle/>
                    <a:p>
                      <a:pPr algn="ctr">
                        <a:lnSpc>
                          <a:spcPct val="115000"/>
                        </a:lnSpc>
                        <a:spcAft>
                          <a:spcPts val="0"/>
                        </a:spcAft>
                      </a:pPr>
                      <a:r>
                        <a:rPr lang="en-IN" sz="1400" dirty="0">
                          <a:latin typeface="Times New Roman"/>
                          <a:ea typeface="Calibri"/>
                          <a:cs typeface="Times New Roman"/>
                        </a:rPr>
                        <a:t>OR</a:t>
                      </a:r>
                      <a:endParaRPr lang="en-IN" sz="1400" dirty="0">
                        <a:latin typeface="Calibri"/>
                        <a:ea typeface="Calibri"/>
                        <a:cs typeface="Times New Roman"/>
                      </a:endParaRPr>
                    </a:p>
                    <a:p>
                      <a:pPr algn="ctr">
                        <a:lnSpc>
                          <a:spcPct val="115000"/>
                        </a:lnSpc>
                        <a:spcAft>
                          <a:spcPts val="0"/>
                        </a:spcAft>
                      </a:pPr>
                      <a:r>
                        <a:rPr lang="en-IN" sz="1400" dirty="0">
                          <a:latin typeface="Times New Roman"/>
                          <a:ea typeface="Calibri"/>
                          <a:cs typeface="Times New Roman"/>
                        </a:rPr>
                        <a:t>gate</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0" name="Table 89"/>
          <p:cNvGraphicFramePr>
            <a:graphicFrameLocks noGrp="1"/>
          </p:cNvGraphicFramePr>
          <p:nvPr/>
        </p:nvGraphicFramePr>
        <p:xfrm>
          <a:off x="3906407" y="1560038"/>
          <a:ext cx="487794" cy="490728"/>
        </p:xfrm>
        <a:graphic>
          <a:graphicData uri="http://schemas.openxmlformats.org/drawingml/2006/table">
            <a:tbl>
              <a:tblPr/>
              <a:tblGrid>
                <a:gridCol w="487794"/>
              </a:tblGrid>
              <a:tr h="0">
                <a:tc>
                  <a:txBody>
                    <a:bodyPr/>
                    <a:lstStyle/>
                    <a:p>
                      <a:pPr algn="ctr">
                        <a:lnSpc>
                          <a:spcPct val="115000"/>
                        </a:lnSpc>
                        <a:spcAft>
                          <a:spcPts val="0"/>
                        </a:spcAft>
                      </a:pPr>
                      <a:r>
                        <a:rPr lang="en-IN" sz="1400" dirty="0">
                          <a:latin typeface="Times New Roman"/>
                          <a:ea typeface="Calibri"/>
                          <a:cs typeface="Times New Roman"/>
                        </a:rPr>
                        <a:t>OR</a:t>
                      </a:r>
                      <a:endParaRPr lang="en-IN" sz="1400" dirty="0">
                        <a:latin typeface="Calibri"/>
                        <a:ea typeface="Calibri"/>
                        <a:cs typeface="Times New Roman"/>
                      </a:endParaRPr>
                    </a:p>
                    <a:p>
                      <a:pPr algn="ctr">
                        <a:lnSpc>
                          <a:spcPct val="115000"/>
                        </a:lnSpc>
                        <a:spcAft>
                          <a:spcPts val="0"/>
                        </a:spcAft>
                      </a:pPr>
                      <a:r>
                        <a:rPr lang="en-IN" sz="1400" dirty="0">
                          <a:latin typeface="Times New Roman"/>
                          <a:ea typeface="Calibri"/>
                          <a:cs typeface="Times New Roman"/>
                        </a:rPr>
                        <a:t>gate</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1" name="Table 90"/>
          <p:cNvGraphicFramePr>
            <a:graphicFrameLocks noGrp="1"/>
          </p:cNvGraphicFramePr>
          <p:nvPr/>
        </p:nvGraphicFramePr>
        <p:xfrm>
          <a:off x="3251983" y="1564520"/>
          <a:ext cx="487794" cy="490728"/>
        </p:xfrm>
        <a:graphic>
          <a:graphicData uri="http://schemas.openxmlformats.org/drawingml/2006/table">
            <a:tbl>
              <a:tblPr/>
              <a:tblGrid>
                <a:gridCol w="487794"/>
              </a:tblGrid>
              <a:tr h="0">
                <a:tc>
                  <a:txBody>
                    <a:bodyPr/>
                    <a:lstStyle/>
                    <a:p>
                      <a:pPr algn="ctr">
                        <a:lnSpc>
                          <a:spcPct val="115000"/>
                        </a:lnSpc>
                        <a:spcAft>
                          <a:spcPts val="0"/>
                        </a:spcAft>
                      </a:pPr>
                      <a:r>
                        <a:rPr lang="en-IN" sz="1400" dirty="0">
                          <a:latin typeface="Times New Roman"/>
                          <a:ea typeface="Calibri"/>
                          <a:cs typeface="Times New Roman"/>
                        </a:rPr>
                        <a:t>OR</a:t>
                      </a:r>
                      <a:endParaRPr lang="en-IN" sz="1400" dirty="0">
                        <a:latin typeface="Calibri"/>
                        <a:ea typeface="Calibri"/>
                        <a:cs typeface="Times New Roman"/>
                      </a:endParaRPr>
                    </a:p>
                    <a:p>
                      <a:pPr algn="ctr">
                        <a:lnSpc>
                          <a:spcPct val="115000"/>
                        </a:lnSpc>
                        <a:spcAft>
                          <a:spcPts val="0"/>
                        </a:spcAft>
                      </a:pPr>
                      <a:r>
                        <a:rPr lang="en-IN" sz="1400" dirty="0">
                          <a:latin typeface="Times New Roman"/>
                          <a:ea typeface="Calibri"/>
                          <a:cs typeface="Times New Roman"/>
                        </a:rPr>
                        <a:t>gate</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2" name="Table 91"/>
          <p:cNvGraphicFramePr>
            <a:graphicFrameLocks noGrp="1"/>
          </p:cNvGraphicFramePr>
          <p:nvPr/>
        </p:nvGraphicFramePr>
        <p:xfrm>
          <a:off x="6497207" y="1501766"/>
          <a:ext cx="487794" cy="490728"/>
        </p:xfrm>
        <a:graphic>
          <a:graphicData uri="http://schemas.openxmlformats.org/drawingml/2006/table">
            <a:tbl>
              <a:tblPr/>
              <a:tblGrid>
                <a:gridCol w="487794"/>
              </a:tblGrid>
              <a:tr h="0">
                <a:tc>
                  <a:txBody>
                    <a:bodyPr/>
                    <a:lstStyle/>
                    <a:p>
                      <a:pPr algn="ctr">
                        <a:lnSpc>
                          <a:spcPct val="115000"/>
                        </a:lnSpc>
                        <a:spcAft>
                          <a:spcPts val="0"/>
                        </a:spcAft>
                      </a:pPr>
                      <a:r>
                        <a:rPr lang="en-IN" sz="1400" dirty="0">
                          <a:latin typeface="Times New Roman"/>
                          <a:ea typeface="Calibri"/>
                          <a:cs typeface="Times New Roman"/>
                        </a:rPr>
                        <a:t>OR</a:t>
                      </a:r>
                      <a:endParaRPr lang="en-IN" sz="1400" dirty="0">
                        <a:latin typeface="Calibri"/>
                        <a:ea typeface="Calibri"/>
                        <a:cs typeface="Times New Roman"/>
                      </a:endParaRPr>
                    </a:p>
                    <a:p>
                      <a:pPr algn="ctr">
                        <a:lnSpc>
                          <a:spcPct val="115000"/>
                        </a:lnSpc>
                        <a:spcAft>
                          <a:spcPts val="0"/>
                        </a:spcAft>
                      </a:pPr>
                      <a:r>
                        <a:rPr lang="en-IN" sz="1400" dirty="0">
                          <a:latin typeface="Times New Roman"/>
                          <a:ea typeface="Calibri"/>
                          <a:cs typeface="Times New Roman"/>
                        </a:rPr>
                        <a:t>gate</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3" name="Table 92"/>
          <p:cNvGraphicFramePr>
            <a:graphicFrameLocks noGrp="1"/>
          </p:cNvGraphicFramePr>
          <p:nvPr/>
        </p:nvGraphicFramePr>
        <p:xfrm>
          <a:off x="5197325" y="1546591"/>
          <a:ext cx="487794" cy="490728"/>
        </p:xfrm>
        <a:graphic>
          <a:graphicData uri="http://schemas.openxmlformats.org/drawingml/2006/table">
            <a:tbl>
              <a:tblPr/>
              <a:tblGrid>
                <a:gridCol w="487794"/>
              </a:tblGrid>
              <a:tr h="0">
                <a:tc>
                  <a:txBody>
                    <a:bodyPr/>
                    <a:lstStyle/>
                    <a:p>
                      <a:pPr algn="ctr">
                        <a:lnSpc>
                          <a:spcPct val="115000"/>
                        </a:lnSpc>
                        <a:spcAft>
                          <a:spcPts val="0"/>
                        </a:spcAft>
                      </a:pPr>
                      <a:r>
                        <a:rPr lang="en-IN" sz="1400" dirty="0">
                          <a:latin typeface="Times New Roman"/>
                          <a:ea typeface="Calibri"/>
                          <a:cs typeface="Times New Roman"/>
                        </a:rPr>
                        <a:t>OR</a:t>
                      </a:r>
                      <a:endParaRPr lang="en-IN" sz="1400" dirty="0">
                        <a:latin typeface="Calibri"/>
                        <a:ea typeface="Calibri"/>
                        <a:cs typeface="Times New Roman"/>
                      </a:endParaRPr>
                    </a:p>
                    <a:p>
                      <a:pPr algn="ctr">
                        <a:lnSpc>
                          <a:spcPct val="115000"/>
                        </a:lnSpc>
                        <a:spcAft>
                          <a:spcPts val="0"/>
                        </a:spcAft>
                      </a:pPr>
                      <a:r>
                        <a:rPr lang="en-IN" sz="1400" dirty="0">
                          <a:latin typeface="Times New Roman"/>
                          <a:ea typeface="Calibri"/>
                          <a:cs typeface="Times New Roman"/>
                        </a:rPr>
                        <a:t>gate</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4" name="Table 93"/>
          <p:cNvGraphicFramePr>
            <a:graphicFrameLocks noGrp="1"/>
          </p:cNvGraphicFramePr>
          <p:nvPr/>
        </p:nvGraphicFramePr>
        <p:xfrm>
          <a:off x="5833818" y="1524178"/>
          <a:ext cx="487794" cy="490728"/>
        </p:xfrm>
        <a:graphic>
          <a:graphicData uri="http://schemas.openxmlformats.org/drawingml/2006/table">
            <a:tbl>
              <a:tblPr/>
              <a:tblGrid>
                <a:gridCol w="487794"/>
              </a:tblGrid>
              <a:tr h="0">
                <a:tc>
                  <a:txBody>
                    <a:bodyPr/>
                    <a:lstStyle/>
                    <a:p>
                      <a:pPr algn="ctr">
                        <a:lnSpc>
                          <a:spcPct val="115000"/>
                        </a:lnSpc>
                        <a:spcAft>
                          <a:spcPts val="0"/>
                        </a:spcAft>
                      </a:pPr>
                      <a:r>
                        <a:rPr lang="en-IN" sz="1400" dirty="0">
                          <a:latin typeface="Times New Roman"/>
                          <a:ea typeface="Calibri"/>
                          <a:cs typeface="Times New Roman"/>
                        </a:rPr>
                        <a:t>OR</a:t>
                      </a:r>
                      <a:endParaRPr lang="en-IN" sz="1400" dirty="0">
                        <a:latin typeface="Calibri"/>
                        <a:ea typeface="Calibri"/>
                        <a:cs typeface="Times New Roman"/>
                      </a:endParaRPr>
                    </a:p>
                    <a:p>
                      <a:pPr algn="ctr">
                        <a:lnSpc>
                          <a:spcPct val="115000"/>
                        </a:lnSpc>
                        <a:spcAft>
                          <a:spcPts val="0"/>
                        </a:spcAft>
                      </a:pPr>
                      <a:r>
                        <a:rPr lang="en-IN" sz="1400" dirty="0">
                          <a:latin typeface="Times New Roman"/>
                          <a:ea typeface="Calibri"/>
                          <a:cs typeface="Times New Roman"/>
                        </a:rPr>
                        <a:t>gate</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5" name="Table 94"/>
          <p:cNvGraphicFramePr>
            <a:graphicFrameLocks noGrp="1"/>
          </p:cNvGraphicFramePr>
          <p:nvPr/>
        </p:nvGraphicFramePr>
        <p:xfrm>
          <a:off x="2755676" y="961731"/>
          <a:ext cx="286977" cy="245364"/>
        </p:xfrm>
        <a:graphic>
          <a:graphicData uri="http://schemas.openxmlformats.org/drawingml/2006/table">
            <a:tbl>
              <a:tblPr/>
              <a:tblGrid>
                <a:gridCol w="286977"/>
              </a:tblGrid>
              <a:tr h="0">
                <a:tc>
                  <a:txBody>
                    <a:bodyPr/>
                    <a:lstStyle/>
                    <a:p>
                      <a:pPr algn="l">
                        <a:lnSpc>
                          <a:spcPct val="115000"/>
                        </a:lnSpc>
                        <a:spcAft>
                          <a:spcPts val="0"/>
                        </a:spcAft>
                      </a:pPr>
                      <a:r>
                        <a:rPr lang="en-IN" sz="1400" dirty="0">
                          <a:latin typeface="Times New Roman"/>
                          <a:ea typeface="Calibri"/>
                          <a:cs typeface="Times New Roman"/>
                        </a:rPr>
                        <a:t>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6" name="Table 95"/>
          <p:cNvGraphicFramePr>
            <a:graphicFrameLocks noGrp="1"/>
          </p:cNvGraphicFramePr>
          <p:nvPr/>
        </p:nvGraphicFramePr>
        <p:xfrm>
          <a:off x="4679933" y="939137"/>
          <a:ext cx="304274" cy="245364"/>
        </p:xfrm>
        <a:graphic>
          <a:graphicData uri="http://schemas.openxmlformats.org/drawingml/2006/table">
            <a:tbl>
              <a:tblPr/>
              <a:tblGrid>
                <a:gridCol w="304274"/>
              </a:tblGrid>
              <a:tr h="0">
                <a:tc>
                  <a:txBody>
                    <a:bodyPr/>
                    <a:lstStyle/>
                    <a:p>
                      <a:pPr algn="l">
                        <a:lnSpc>
                          <a:spcPct val="115000"/>
                        </a:lnSpc>
                        <a:spcAft>
                          <a:spcPts val="0"/>
                        </a:spcAft>
                      </a:pPr>
                      <a:r>
                        <a:rPr lang="en-IN" sz="1400" dirty="0">
                          <a:latin typeface="Times New Roman"/>
                          <a:ea typeface="Calibri"/>
                          <a:cs typeface="Times New Roman"/>
                        </a:rPr>
                        <a:t>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7" name="Table 96"/>
          <p:cNvGraphicFramePr>
            <a:graphicFrameLocks noGrp="1"/>
          </p:cNvGraphicFramePr>
          <p:nvPr/>
        </p:nvGraphicFramePr>
        <p:xfrm>
          <a:off x="5931453" y="941801"/>
          <a:ext cx="329678" cy="245364"/>
        </p:xfrm>
        <a:graphic>
          <a:graphicData uri="http://schemas.openxmlformats.org/drawingml/2006/table">
            <a:tbl>
              <a:tblPr/>
              <a:tblGrid>
                <a:gridCol w="329678"/>
              </a:tblGrid>
              <a:tr h="0">
                <a:tc>
                  <a:txBody>
                    <a:bodyPr/>
                    <a:lstStyle/>
                    <a:p>
                      <a:pPr algn="l">
                        <a:lnSpc>
                          <a:spcPct val="115000"/>
                        </a:lnSpc>
                        <a:spcAft>
                          <a:spcPts val="0"/>
                        </a:spcAft>
                      </a:pPr>
                      <a:r>
                        <a:rPr lang="en-IN" sz="1400" dirty="0">
                          <a:latin typeface="Times New Roman"/>
                          <a:ea typeface="Calibri"/>
                          <a:cs typeface="Times New Roman"/>
                        </a:rPr>
                        <a:t>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8" name="Table 97"/>
          <p:cNvGraphicFramePr>
            <a:graphicFrameLocks noGrp="1"/>
          </p:cNvGraphicFramePr>
          <p:nvPr/>
        </p:nvGraphicFramePr>
        <p:xfrm>
          <a:off x="4077350" y="949579"/>
          <a:ext cx="292901" cy="245364"/>
        </p:xfrm>
        <a:graphic>
          <a:graphicData uri="http://schemas.openxmlformats.org/drawingml/2006/table">
            <a:tbl>
              <a:tblPr/>
              <a:tblGrid>
                <a:gridCol w="292901"/>
              </a:tblGrid>
              <a:tr h="0">
                <a:tc>
                  <a:txBody>
                    <a:bodyPr/>
                    <a:lstStyle/>
                    <a:p>
                      <a:pPr algn="l">
                        <a:lnSpc>
                          <a:spcPct val="115000"/>
                        </a:lnSpc>
                        <a:spcAft>
                          <a:spcPts val="0"/>
                        </a:spcAft>
                      </a:pPr>
                      <a:r>
                        <a:rPr lang="en-IN" sz="1400" dirty="0">
                          <a:latin typeface="Times New Roman"/>
                          <a:ea typeface="Calibri"/>
                          <a:cs typeface="Times New Roman"/>
                        </a:rPr>
                        <a:t>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9" name="Table 98"/>
          <p:cNvGraphicFramePr>
            <a:graphicFrameLocks noGrp="1"/>
          </p:cNvGraphicFramePr>
          <p:nvPr/>
        </p:nvGraphicFramePr>
        <p:xfrm>
          <a:off x="3404201" y="972583"/>
          <a:ext cx="325196" cy="245364"/>
        </p:xfrm>
        <a:graphic>
          <a:graphicData uri="http://schemas.openxmlformats.org/drawingml/2006/table">
            <a:tbl>
              <a:tblPr/>
              <a:tblGrid>
                <a:gridCol w="325196"/>
              </a:tblGrid>
              <a:tr h="0">
                <a:tc>
                  <a:txBody>
                    <a:bodyPr/>
                    <a:lstStyle/>
                    <a:p>
                      <a:pPr algn="l">
                        <a:lnSpc>
                          <a:spcPct val="115000"/>
                        </a:lnSpc>
                        <a:spcAft>
                          <a:spcPts val="0"/>
                        </a:spcAft>
                      </a:pPr>
                      <a:r>
                        <a:rPr lang="en-IN" sz="1400" dirty="0" smtClean="0">
                          <a:latin typeface="Times New Roman"/>
                          <a:ea typeface="Calibri"/>
                          <a:cs typeface="Times New Roman"/>
                        </a:rPr>
                        <a:t>0</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0" name="Table 99"/>
          <p:cNvGraphicFramePr>
            <a:graphicFrameLocks noGrp="1"/>
          </p:cNvGraphicFramePr>
          <p:nvPr/>
        </p:nvGraphicFramePr>
        <p:xfrm>
          <a:off x="5344736" y="948109"/>
          <a:ext cx="325196" cy="245364"/>
        </p:xfrm>
        <a:graphic>
          <a:graphicData uri="http://schemas.openxmlformats.org/drawingml/2006/table">
            <a:tbl>
              <a:tblPr/>
              <a:tblGrid>
                <a:gridCol w="325196"/>
              </a:tblGrid>
              <a:tr h="0">
                <a:tc>
                  <a:txBody>
                    <a:bodyPr/>
                    <a:lstStyle/>
                    <a:p>
                      <a:pPr algn="l">
                        <a:lnSpc>
                          <a:spcPct val="115000"/>
                        </a:lnSpc>
                        <a:spcAft>
                          <a:spcPts val="0"/>
                        </a:spcAft>
                      </a:pPr>
                      <a:r>
                        <a:rPr lang="en-IN" sz="1400" dirty="0" smtClean="0">
                          <a:latin typeface="Times New Roman"/>
                          <a:ea typeface="Calibri"/>
                          <a:cs typeface="Times New Roman"/>
                        </a:rPr>
                        <a:t>0</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1" name="Table 100"/>
          <p:cNvGraphicFramePr>
            <a:graphicFrameLocks noGrp="1"/>
          </p:cNvGraphicFramePr>
          <p:nvPr/>
        </p:nvGraphicFramePr>
        <p:xfrm>
          <a:off x="6643291" y="956271"/>
          <a:ext cx="325196" cy="245364"/>
        </p:xfrm>
        <a:graphic>
          <a:graphicData uri="http://schemas.openxmlformats.org/drawingml/2006/table">
            <a:tbl>
              <a:tblPr/>
              <a:tblGrid>
                <a:gridCol w="325196"/>
              </a:tblGrid>
              <a:tr h="0">
                <a:tc>
                  <a:txBody>
                    <a:bodyPr/>
                    <a:lstStyle/>
                    <a:p>
                      <a:pPr algn="l">
                        <a:lnSpc>
                          <a:spcPct val="115000"/>
                        </a:lnSpc>
                        <a:spcAft>
                          <a:spcPts val="0"/>
                        </a:spcAft>
                      </a:pPr>
                      <a:r>
                        <a:rPr lang="en-IN" sz="1400" dirty="0" smtClean="0">
                          <a:latin typeface="Times New Roman"/>
                          <a:ea typeface="Calibri"/>
                          <a:cs typeface="Times New Roman"/>
                        </a:rPr>
                        <a:t>0</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2" name="Table 101"/>
          <p:cNvGraphicFramePr>
            <a:graphicFrameLocks noGrp="1"/>
          </p:cNvGraphicFramePr>
          <p:nvPr/>
        </p:nvGraphicFramePr>
        <p:xfrm>
          <a:off x="1441639" y="2683191"/>
          <a:ext cx="325196" cy="245364"/>
        </p:xfrm>
        <a:graphic>
          <a:graphicData uri="http://schemas.openxmlformats.org/drawingml/2006/table">
            <a:tbl>
              <a:tblPr/>
              <a:tblGrid>
                <a:gridCol w="325196"/>
              </a:tblGrid>
              <a:tr h="0">
                <a:tc>
                  <a:txBody>
                    <a:bodyPr/>
                    <a:lstStyle/>
                    <a:p>
                      <a:pPr algn="l">
                        <a:lnSpc>
                          <a:spcPct val="115000"/>
                        </a:lnSpc>
                        <a:spcAft>
                          <a:spcPts val="0"/>
                        </a:spcAft>
                      </a:pPr>
                      <a:r>
                        <a:rPr lang="en-IN" sz="1400" dirty="0" smtClean="0">
                          <a:latin typeface="Times New Roman"/>
                          <a:ea typeface="Calibri"/>
                          <a:cs typeface="Times New Roman"/>
                        </a:rPr>
                        <a:t>0</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3" name="Table 102"/>
          <p:cNvGraphicFramePr>
            <a:graphicFrameLocks noGrp="1"/>
          </p:cNvGraphicFramePr>
          <p:nvPr/>
        </p:nvGraphicFramePr>
        <p:xfrm>
          <a:off x="6014866" y="147907"/>
          <a:ext cx="1445093" cy="490728"/>
        </p:xfrm>
        <a:graphic>
          <a:graphicData uri="http://schemas.openxmlformats.org/drawingml/2006/table">
            <a:tbl>
              <a:tblPr/>
              <a:tblGrid>
                <a:gridCol w="1445093"/>
              </a:tblGrid>
              <a:tr h="0">
                <a:tc>
                  <a:txBody>
                    <a:bodyPr/>
                    <a:lstStyle/>
                    <a:p>
                      <a:pPr algn="l">
                        <a:lnSpc>
                          <a:spcPct val="115000"/>
                        </a:lnSpc>
                        <a:spcAft>
                          <a:spcPts val="0"/>
                        </a:spcAft>
                      </a:pPr>
                      <a:r>
                        <a:rPr lang="en-IN" sz="1400" dirty="0">
                          <a:latin typeface="Times New Roman"/>
                          <a:ea typeface="Calibri"/>
                          <a:cs typeface="Times New Roman"/>
                        </a:rPr>
                        <a:t>7-bit right shift register</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4" name="Table 103"/>
          <p:cNvGraphicFramePr>
            <a:graphicFrameLocks noGrp="1"/>
          </p:cNvGraphicFramePr>
          <p:nvPr/>
        </p:nvGraphicFramePr>
        <p:xfrm>
          <a:off x="194626" y="946443"/>
          <a:ext cx="2019568" cy="245364"/>
        </p:xfrm>
        <a:graphic>
          <a:graphicData uri="http://schemas.openxmlformats.org/drawingml/2006/table">
            <a:tbl>
              <a:tblPr/>
              <a:tblGrid>
                <a:gridCol w="2019568"/>
              </a:tblGrid>
              <a:tr h="0">
                <a:tc>
                  <a:txBody>
                    <a:bodyPr/>
                    <a:lstStyle/>
                    <a:p>
                      <a:pPr algn="just">
                        <a:lnSpc>
                          <a:spcPct val="115000"/>
                        </a:lnSpc>
                        <a:spcAft>
                          <a:spcPts val="0"/>
                        </a:spcAft>
                      </a:pPr>
                      <a:r>
                        <a:rPr lang="en-IN" sz="1400" dirty="0">
                          <a:latin typeface="Times New Roman"/>
                          <a:ea typeface="Calibri"/>
                          <a:cs typeface="Times New Roman"/>
                        </a:rPr>
                        <a:t>Initial collision vector</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5" name="Table 104"/>
          <p:cNvGraphicFramePr>
            <a:graphicFrameLocks noGrp="1"/>
          </p:cNvGraphicFramePr>
          <p:nvPr/>
        </p:nvGraphicFramePr>
        <p:xfrm>
          <a:off x="7475738" y="2554945"/>
          <a:ext cx="813372" cy="981456"/>
        </p:xfrm>
        <a:graphic>
          <a:graphicData uri="http://schemas.openxmlformats.org/drawingml/2006/table">
            <a:tbl>
              <a:tblPr/>
              <a:tblGrid>
                <a:gridCol w="813372"/>
              </a:tblGrid>
              <a:tr h="0">
                <a:tc>
                  <a:txBody>
                    <a:bodyPr/>
                    <a:lstStyle/>
                    <a:p>
                      <a:pPr algn="l">
                        <a:lnSpc>
                          <a:spcPct val="115000"/>
                        </a:lnSpc>
                        <a:spcAft>
                          <a:spcPts val="0"/>
                        </a:spcAft>
                      </a:pPr>
                      <a:r>
                        <a:rPr lang="en-IN" sz="1400" dirty="0">
                          <a:latin typeface="Times New Roman"/>
                          <a:ea typeface="Calibri"/>
                          <a:cs typeface="Times New Roman"/>
                        </a:rPr>
                        <a:t>0</a:t>
                      </a:r>
                      <a:endParaRPr lang="en-IN" sz="1400" dirty="0">
                        <a:latin typeface="Calibri"/>
                        <a:ea typeface="Calibri"/>
                        <a:cs typeface="Times New Roman"/>
                      </a:endParaRPr>
                    </a:p>
                    <a:p>
                      <a:pPr algn="l">
                        <a:lnSpc>
                          <a:spcPct val="115000"/>
                        </a:lnSpc>
                        <a:spcAft>
                          <a:spcPts val="0"/>
                        </a:spcAft>
                      </a:pPr>
                      <a:r>
                        <a:rPr lang="en-IN" sz="1400" dirty="0">
                          <a:latin typeface="Times New Roman"/>
                          <a:ea typeface="Calibri"/>
                          <a:cs typeface="Times New Roman"/>
                        </a:rPr>
                        <a:t>Safe</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0"/>
                        </a:spcAft>
                      </a:pPr>
                      <a:r>
                        <a:rPr lang="en-IN" sz="1400" dirty="0">
                          <a:latin typeface="Times New Roman"/>
                          <a:ea typeface="Calibri"/>
                          <a:cs typeface="Times New Roman"/>
                        </a:rPr>
                        <a:t>1</a:t>
                      </a:r>
                      <a:endParaRPr lang="en-IN" sz="1400" dirty="0">
                        <a:latin typeface="Calibri"/>
                        <a:ea typeface="Calibri"/>
                        <a:cs typeface="Times New Roman"/>
                      </a:endParaRPr>
                    </a:p>
                    <a:p>
                      <a:pPr algn="l">
                        <a:lnSpc>
                          <a:spcPct val="115000"/>
                        </a:lnSpc>
                        <a:spcAft>
                          <a:spcPts val="0"/>
                        </a:spcAft>
                      </a:pPr>
                      <a:r>
                        <a:rPr lang="en-IN" sz="1400" dirty="0">
                          <a:latin typeface="Times New Roman"/>
                          <a:ea typeface="Calibri"/>
                          <a:cs typeface="Times New Roman"/>
                        </a:rPr>
                        <a:t>Collision</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07" name="Straight Arrow Connector 106"/>
          <p:cNvCxnSpPr/>
          <p:nvPr/>
        </p:nvCxnSpPr>
        <p:spPr>
          <a:xfrm>
            <a:off x="1767305" y="2801353"/>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flipV="1">
            <a:off x="7085263" y="2770414"/>
            <a:ext cx="367823" cy="68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rot="16200000" flipH="1">
            <a:off x="2609516" y="2392278"/>
            <a:ext cx="649705" cy="24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p:nvPr/>
        </p:nvCxnSpPr>
        <p:spPr>
          <a:xfrm rot="16200000" flipH="1">
            <a:off x="3291305" y="2376236"/>
            <a:ext cx="649705" cy="24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p:nvPr/>
        </p:nvCxnSpPr>
        <p:spPr>
          <a:xfrm rot="16200000" flipH="1">
            <a:off x="3949031" y="2336130"/>
            <a:ext cx="649705" cy="24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rot="16200000" flipH="1">
            <a:off x="4606757" y="2344151"/>
            <a:ext cx="649705" cy="24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rot="16200000" flipH="1">
            <a:off x="5240420" y="2352172"/>
            <a:ext cx="649705" cy="24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p:nvPr/>
        </p:nvCxnSpPr>
        <p:spPr>
          <a:xfrm rot="16200000" flipH="1">
            <a:off x="5914188" y="2328109"/>
            <a:ext cx="649705" cy="24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rot="16200000" flipH="1">
            <a:off x="6539831" y="2279982"/>
            <a:ext cx="649705" cy="24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p:nvPr/>
        </p:nvCxnSpPr>
        <p:spPr>
          <a:xfrm rot="16200000" flipH="1">
            <a:off x="2802709" y="1385750"/>
            <a:ext cx="35269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p:nvPr/>
        </p:nvCxnSpPr>
        <p:spPr>
          <a:xfrm rot="16200000" flipH="1">
            <a:off x="3477624" y="1381396"/>
            <a:ext cx="35269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p:nvPr/>
        </p:nvCxnSpPr>
        <p:spPr>
          <a:xfrm rot="16200000" flipH="1">
            <a:off x="4117703" y="1368333"/>
            <a:ext cx="35269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a:xfrm rot="16200000" flipH="1">
            <a:off x="4757783" y="1355270"/>
            <a:ext cx="35269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p:nvPr/>
        </p:nvCxnSpPr>
        <p:spPr>
          <a:xfrm rot="16200000" flipH="1">
            <a:off x="5423989" y="1368333"/>
            <a:ext cx="35269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rot="16200000" flipH="1">
            <a:off x="6011818" y="1342208"/>
            <a:ext cx="35269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rot="16200000" flipH="1">
            <a:off x="6704149" y="1368332"/>
            <a:ext cx="35269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rot="5400000">
            <a:off x="2875349" y="2946763"/>
            <a:ext cx="155960" cy="138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rot="5400000">
            <a:off x="4055359" y="3051266"/>
            <a:ext cx="295298" cy="51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rot="5400000">
            <a:off x="4638833" y="3077392"/>
            <a:ext cx="378033" cy="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rot="16200000" flipH="1">
            <a:off x="4902268" y="3380807"/>
            <a:ext cx="1035527" cy="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rot="16200000" flipH="1">
            <a:off x="5655560" y="3337266"/>
            <a:ext cx="948440" cy="34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rot="16200000" flipH="1">
            <a:off x="6343537" y="3280659"/>
            <a:ext cx="822167" cy="383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rot="10800000" flipV="1">
            <a:off x="1287422" y="2992483"/>
            <a:ext cx="1658979"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5400000" flipH="1" flipV="1">
            <a:off x="510970" y="2241369"/>
            <a:ext cx="1540624" cy="138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flipV="1">
            <a:off x="1287417" y="1464129"/>
            <a:ext cx="1436914"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Straight Arrow Connector 150"/>
          <p:cNvCxnSpPr/>
          <p:nvPr/>
        </p:nvCxnSpPr>
        <p:spPr>
          <a:xfrm rot="5400000">
            <a:off x="2659017" y="1529443"/>
            <a:ext cx="130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rot="10800000" flipV="1">
            <a:off x="1156790" y="3096985"/>
            <a:ext cx="2403564" cy="13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rot="5400000" flipH="1" flipV="1">
            <a:off x="3430520" y="2992485"/>
            <a:ext cx="208211" cy="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V="1">
            <a:off x="1026160" y="3188426"/>
            <a:ext cx="3174274" cy="261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V="1">
            <a:off x="908594" y="3266804"/>
            <a:ext cx="3958046" cy="65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rot="5400000" flipH="1" flipV="1">
            <a:off x="314234" y="2254430"/>
            <a:ext cx="1711236" cy="26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flipV="1">
            <a:off x="1195977" y="1411878"/>
            <a:ext cx="2207623"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p:nvPr/>
        </p:nvCxnSpPr>
        <p:spPr>
          <a:xfrm rot="5400000">
            <a:off x="3312161" y="1503316"/>
            <a:ext cx="18287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rot="5400000" flipH="1" flipV="1">
            <a:off x="98697" y="2274028"/>
            <a:ext cx="1881054" cy="26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V="1">
            <a:off x="1039223" y="1348151"/>
            <a:ext cx="3017519" cy="114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7" name="Straight Arrow Connector 186"/>
          <p:cNvCxnSpPr/>
          <p:nvPr/>
        </p:nvCxnSpPr>
        <p:spPr>
          <a:xfrm rot="16200000" flipH="1">
            <a:off x="3965303" y="1451065"/>
            <a:ext cx="222068"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a:off x="934720" y="1281249"/>
            <a:ext cx="384048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p:nvPr/>
        </p:nvCxnSpPr>
        <p:spPr>
          <a:xfrm rot="5400000">
            <a:off x="4644571" y="1424940"/>
            <a:ext cx="261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rot="5400000" flipH="1" flipV="1">
            <a:off x="-97246" y="2287089"/>
            <a:ext cx="2050868" cy="39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flipV="1">
            <a:off x="6760754" y="3658689"/>
            <a:ext cx="1672046" cy="391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flipV="1">
            <a:off x="6094549" y="3750131"/>
            <a:ext cx="2468880" cy="5224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p:nvPr/>
        </p:nvCxnSpPr>
        <p:spPr>
          <a:xfrm rot="5400000">
            <a:off x="6656252" y="1451065"/>
            <a:ext cx="10450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a:off x="6708503" y="1398814"/>
            <a:ext cx="1711234"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rot="16200000" flipV="1">
            <a:off x="7302863" y="2515689"/>
            <a:ext cx="2233749" cy="26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Arrow Connector 228"/>
          <p:cNvCxnSpPr/>
          <p:nvPr/>
        </p:nvCxnSpPr>
        <p:spPr>
          <a:xfrm rot="16200000" flipH="1">
            <a:off x="5872481" y="1424939"/>
            <a:ext cx="235131" cy="261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1" name="Straight Connector 230"/>
          <p:cNvCxnSpPr/>
          <p:nvPr/>
        </p:nvCxnSpPr>
        <p:spPr>
          <a:xfrm>
            <a:off x="5976984" y="1333499"/>
            <a:ext cx="2534193"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flipV="1">
            <a:off x="5363029" y="1242060"/>
            <a:ext cx="3226525" cy="261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7" name="Straight Arrow Connector 236"/>
          <p:cNvCxnSpPr/>
          <p:nvPr/>
        </p:nvCxnSpPr>
        <p:spPr>
          <a:xfrm rot="16200000" flipH="1">
            <a:off x="5238931" y="1392283"/>
            <a:ext cx="274320" cy="261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rot="16200000" flipV="1">
            <a:off x="7309395" y="2522220"/>
            <a:ext cx="2416629" cy="39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flipV="1">
            <a:off x="5441406" y="3854631"/>
            <a:ext cx="3200400" cy="391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rot="16200000" flipV="1">
            <a:off x="7309395" y="2509160"/>
            <a:ext cx="2612573" cy="52248"/>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54" name="Table 253"/>
          <p:cNvGraphicFramePr>
            <a:graphicFrameLocks noGrp="1"/>
          </p:cNvGraphicFramePr>
          <p:nvPr/>
        </p:nvGraphicFramePr>
        <p:xfrm>
          <a:off x="8930277" y="212814"/>
          <a:ext cx="2011680" cy="1226820"/>
        </p:xfrm>
        <a:graphic>
          <a:graphicData uri="http://schemas.openxmlformats.org/drawingml/2006/table">
            <a:tbl>
              <a:tblPr/>
              <a:tblGrid>
                <a:gridCol w="2011680"/>
              </a:tblGrid>
              <a:tr h="974817">
                <a:tc>
                  <a:txBody>
                    <a:bodyPr/>
                    <a:lstStyle/>
                    <a:p>
                      <a:pPr algn="r">
                        <a:lnSpc>
                          <a:spcPct val="115000"/>
                        </a:lnSpc>
                        <a:spcAft>
                          <a:spcPts val="0"/>
                        </a:spcAft>
                      </a:pPr>
                      <a:r>
                        <a:rPr lang="en-IN" sz="1400" dirty="0">
                          <a:latin typeface="Times New Roman"/>
                          <a:ea typeface="Calibri"/>
                          <a:cs typeface="Times New Roman"/>
                        </a:rPr>
                        <a:t>P is permissible latency if 0 bit emerges from the right end after P-bit shifts, otherwise P is forbidden latency</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58" name="Straight Arrow Connector 257"/>
          <p:cNvCxnSpPr/>
          <p:nvPr/>
        </p:nvCxnSpPr>
        <p:spPr>
          <a:xfrm>
            <a:off x="2214880" y="1098369"/>
            <a:ext cx="548640" cy="130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1" name="Straight Arrow Connector 260"/>
          <p:cNvCxnSpPr/>
          <p:nvPr/>
        </p:nvCxnSpPr>
        <p:spPr>
          <a:xfrm rot="5400000" flipH="1" flipV="1">
            <a:off x="4500880" y="641169"/>
            <a:ext cx="1985554" cy="19855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3" name="Straight Arrow Connector 262"/>
          <p:cNvCxnSpPr/>
          <p:nvPr/>
        </p:nvCxnSpPr>
        <p:spPr>
          <a:xfrm rot="5400000" flipH="1" flipV="1">
            <a:off x="7710713" y="1280161"/>
            <a:ext cx="1506948" cy="10294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4" name="TextBox 263"/>
          <p:cNvSpPr txBox="1"/>
          <p:nvPr/>
        </p:nvSpPr>
        <p:spPr>
          <a:xfrm>
            <a:off x="176349" y="197031"/>
            <a:ext cx="5868852" cy="646331"/>
          </a:xfrm>
          <a:prstGeom prst="rect">
            <a:avLst/>
          </a:prstGeom>
          <a:noFill/>
        </p:spPr>
        <p:txBody>
          <a:bodyPr wrap="square" rtlCol="0">
            <a:spAutoFit/>
          </a:bodyPr>
          <a:lstStyle/>
          <a:p>
            <a:r>
              <a:rPr lang="en-IN" dirty="0" smtClean="0">
                <a:latin typeface="Times New Roman" pitchFamily="18" charset="0"/>
                <a:cs typeface="Times New Roman" pitchFamily="18" charset="0"/>
              </a:rPr>
              <a:t>Fig 6: State transition using a 7-bit right shift register, where 7 is the maximum forbidden latency of function X</a:t>
            </a:r>
          </a:p>
        </p:txBody>
      </p:sp>
      <p:sp>
        <p:nvSpPr>
          <p:cNvPr id="78" name="TextBox 77"/>
          <p:cNvSpPr txBox="1"/>
          <p:nvPr/>
        </p:nvSpPr>
        <p:spPr>
          <a:xfrm>
            <a:off x="9080500" y="1714500"/>
            <a:ext cx="2743200" cy="2031325"/>
          </a:xfrm>
          <a:prstGeom prst="rect">
            <a:avLst/>
          </a:prstGeom>
          <a:noFill/>
        </p:spPr>
        <p:txBody>
          <a:bodyPr wrap="square" rtlCol="0">
            <a:spAutoFit/>
          </a:bodyPr>
          <a:lstStyle/>
          <a:p>
            <a:r>
              <a:rPr lang="en-IN" b="1" dirty="0" smtClean="0">
                <a:latin typeface="Times New Roman" pitchFamily="18" charset="0"/>
                <a:cs typeface="Times New Roman" pitchFamily="18" charset="0"/>
              </a:rPr>
              <a:t>State diagram of function X </a:t>
            </a:r>
            <a:r>
              <a:rPr lang="en-IN" dirty="0" smtClean="0">
                <a:latin typeface="Times New Roman" pitchFamily="18" charset="0"/>
                <a:cs typeface="Times New Roman" pitchFamily="18" charset="0"/>
              </a:rPr>
              <a:t>c</a:t>
            </a:r>
            <a:r>
              <a:rPr lang="en-IN" b="1" dirty="0" smtClean="0">
                <a:latin typeface="Times New Roman" pitchFamily="18" charset="0"/>
                <a:cs typeface="Times New Roman" pitchFamily="18" charset="0"/>
              </a:rPr>
              <a:t>overs </a:t>
            </a:r>
            <a:r>
              <a:rPr lang="en-IN" dirty="0" smtClean="0">
                <a:latin typeface="Times New Roman" pitchFamily="18" charset="0"/>
                <a:cs typeface="Times New Roman" pitchFamily="18" charset="0"/>
              </a:rPr>
              <a:t>all permissible state transitions that avoids collisions. </a:t>
            </a:r>
          </a:p>
          <a:p>
            <a:r>
              <a:rPr lang="en-IN" dirty="0" smtClean="0">
                <a:latin typeface="Times New Roman" pitchFamily="18" charset="0"/>
                <a:cs typeface="Times New Roman" pitchFamily="18" charset="0"/>
              </a:rPr>
              <a:t>Fig 7 and Fig 8 show the state diagram for function X and function Y. </a:t>
            </a:r>
            <a:endParaRPr lang="en-IN" dirty="0">
              <a:latin typeface="Times New Roman" pitchFamily="18" charset="0"/>
              <a:cs typeface="Times New Roman" pitchFamily="18" charset="0"/>
            </a:endParaRPr>
          </a:p>
        </p:txBody>
      </p:sp>
      <p:sp>
        <p:nvSpPr>
          <p:cNvPr id="79" name="TextBox 78"/>
          <p:cNvSpPr txBox="1"/>
          <p:nvPr/>
        </p:nvSpPr>
        <p:spPr>
          <a:xfrm>
            <a:off x="165100" y="3995678"/>
            <a:ext cx="11849100" cy="2585323"/>
          </a:xfrm>
          <a:prstGeom prst="rect">
            <a:avLst/>
          </a:prstGeom>
          <a:noFill/>
        </p:spPr>
        <p:txBody>
          <a:bodyPr wrap="square" rtlCol="0">
            <a:spAutoFit/>
          </a:bodyPr>
          <a:lstStyle/>
          <a:p>
            <a:r>
              <a:rPr lang="en-IN" u="sng" dirty="0" smtClean="0">
                <a:latin typeface="Times New Roman" pitchFamily="18" charset="0"/>
                <a:cs typeface="Times New Roman" pitchFamily="18" charset="0"/>
              </a:rPr>
              <a:t>Observation from Fig 6</a:t>
            </a:r>
            <a:endParaRPr lang="en-IN"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Initial content of the shift register is C</a:t>
            </a:r>
            <a:r>
              <a:rPr lang="en-IN" baseline="-25000" dirty="0" smtClean="0">
                <a:latin typeface="Times New Roman" pitchFamily="18" charset="0"/>
                <a:cs typeface="Times New Roman" pitchFamily="18" charset="0"/>
              </a:rPr>
              <a:t>X</a:t>
            </a:r>
            <a:r>
              <a:rPr lang="en-IN" dirty="0" smtClean="0">
                <a:latin typeface="Times New Roman" pitchFamily="18" charset="0"/>
                <a:cs typeface="Times New Roman" pitchFamily="18" charset="0"/>
              </a:rPr>
              <a:t> i.e. 1011010. Logical 0 enters from left end of the register during right shift operation. Logical 1 emerges from the right end of the register if the content of the register is shifted by 2, 4, 5, 7 (forbidden latency) number of times and logical 0 emerges from the right end of the register if the content of the register is shifted by 1, 3, 6 (permissible latency) number of times towards right.</a:t>
            </a:r>
          </a:p>
          <a:p>
            <a:pPr lvl="0"/>
            <a:r>
              <a:rPr lang="en-IN" dirty="0" smtClean="0">
                <a:latin typeface="Times New Roman" pitchFamily="18" charset="0"/>
                <a:cs typeface="Times New Roman" pitchFamily="18" charset="0"/>
              </a:rPr>
              <a:t>7 two input OR gates are used. The initial collision vector is one of the inputs of the OR gates (fixed input) and the content of the shift register is the other input of the OR gates (changes after each shift operation). The output of the OR gates is the bitwise OR operation between the initial collision vector (1011010) and the content of the shift register (1011010). So the output of the OR gates is 1011010. This output decides the new content of the shift register.</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1393190" y="576807"/>
            <a:ext cx="290830" cy="282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0" i="0" u="none" strike="noStrike" cap="none" normalizeH="0" baseline="0" smtClean="0">
                <a:ln>
                  <a:noFill/>
                </a:ln>
                <a:solidFill>
                  <a:schemeClr val="tx1"/>
                </a:solidFill>
                <a:effectLst/>
                <a:latin typeface="Times New Roman" pitchFamily="18" charset="0"/>
                <a:cs typeface="Arial" pitchFamily="34" charset="0"/>
              </a:rPr>
              <a:t>3</a:t>
            </a:r>
            <a:endParaRPr kumimoji="0" lang="en-US" sz="16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nvGraphicFramePr>
        <p:xfrm>
          <a:off x="2648584" y="264921"/>
          <a:ext cx="341721" cy="245364"/>
        </p:xfrm>
        <a:graphic>
          <a:graphicData uri="http://schemas.openxmlformats.org/drawingml/2006/table">
            <a:tbl>
              <a:tblPr/>
              <a:tblGrid>
                <a:gridCol w="341721"/>
              </a:tblGrid>
              <a:tr h="0">
                <a:tc>
                  <a:txBody>
                    <a:bodyPr/>
                    <a:lstStyle/>
                    <a:p>
                      <a:pPr algn="l">
                        <a:lnSpc>
                          <a:spcPct val="115000"/>
                        </a:lnSpc>
                        <a:spcAft>
                          <a:spcPts val="0"/>
                        </a:spcAft>
                      </a:pPr>
                      <a:r>
                        <a:rPr lang="en-IN" sz="1400" dirty="0">
                          <a:latin typeface="Times New Roman"/>
                          <a:ea typeface="Calibri"/>
                          <a:cs typeface="Times New Roman"/>
                        </a:rPr>
                        <a:t>8</a:t>
                      </a:r>
                      <a:r>
                        <a:rPr lang="en-IN" sz="1400" baseline="30000" dirty="0">
                          <a:latin typeface="Times New Roman"/>
                          <a:ea typeface="Calibri"/>
                          <a:cs typeface="Times New Roman"/>
                        </a:rPr>
                        <a:t>+</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4203064" y="1351316"/>
          <a:ext cx="341721" cy="245364"/>
        </p:xfrm>
        <a:graphic>
          <a:graphicData uri="http://schemas.openxmlformats.org/drawingml/2006/table">
            <a:tbl>
              <a:tblPr/>
              <a:tblGrid>
                <a:gridCol w="341721"/>
              </a:tblGrid>
              <a:tr h="0">
                <a:tc>
                  <a:txBody>
                    <a:bodyPr/>
                    <a:lstStyle/>
                    <a:p>
                      <a:pPr algn="l">
                        <a:lnSpc>
                          <a:spcPct val="115000"/>
                        </a:lnSpc>
                        <a:spcAft>
                          <a:spcPts val="0"/>
                        </a:spcAft>
                      </a:pPr>
                      <a:r>
                        <a:rPr lang="en-IN" sz="1400" dirty="0">
                          <a:latin typeface="Times New Roman"/>
                          <a:ea typeface="Calibri"/>
                          <a:cs typeface="Times New Roman"/>
                        </a:rPr>
                        <a:t>8</a:t>
                      </a:r>
                      <a:r>
                        <a:rPr lang="en-IN" sz="1400" baseline="30000" dirty="0">
                          <a:latin typeface="Times New Roman"/>
                          <a:ea typeface="Calibri"/>
                          <a:cs typeface="Times New Roman"/>
                        </a:rPr>
                        <a:t>+</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2703013" y="1214155"/>
          <a:ext cx="341721" cy="245364"/>
        </p:xfrm>
        <a:graphic>
          <a:graphicData uri="http://schemas.openxmlformats.org/drawingml/2006/table">
            <a:tbl>
              <a:tblPr/>
              <a:tblGrid>
                <a:gridCol w="341721"/>
              </a:tblGrid>
              <a:tr h="0">
                <a:tc>
                  <a:txBody>
                    <a:bodyPr/>
                    <a:lstStyle/>
                    <a:p>
                      <a:pPr algn="l">
                        <a:lnSpc>
                          <a:spcPct val="115000"/>
                        </a:lnSpc>
                        <a:spcAft>
                          <a:spcPts val="0"/>
                        </a:spcAft>
                      </a:pPr>
                      <a:r>
                        <a:rPr lang="en-IN" sz="1400" dirty="0">
                          <a:latin typeface="Times New Roman"/>
                          <a:ea typeface="Calibri"/>
                          <a:cs typeface="Times New Roman"/>
                        </a:rPr>
                        <a:t>8</a:t>
                      </a:r>
                      <a:r>
                        <a:rPr lang="en-IN" sz="1400" baseline="30000" dirty="0">
                          <a:latin typeface="Times New Roman"/>
                          <a:ea typeface="Calibri"/>
                          <a:cs typeface="Times New Roman"/>
                        </a:rPr>
                        <a:t>+</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Text Box 2"/>
          <p:cNvSpPr txBox="1">
            <a:spLocks noChangeArrowheads="1"/>
          </p:cNvSpPr>
          <p:nvPr/>
        </p:nvSpPr>
        <p:spPr bwMode="auto">
          <a:xfrm>
            <a:off x="533219" y="2218372"/>
            <a:ext cx="290830" cy="282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0" i="0" u="none" strike="noStrike" cap="none" normalizeH="0" baseline="0" smtClean="0">
                <a:ln>
                  <a:noFill/>
                </a:ln>
                <a:solidFill>
                  <a:schemeClr val="tx1"/>
                </a:solidFill>
                <a:effectLst/>
                <a:latin typeface="Times New Roman" pitchFamily="18" charset="0"/>
                <a:cs typeface="Arial" pitchFamily="34" charset="0"/>
              </a:rPr>
              <a:t>3</a:t>
            </a:r>
            <a:endParaRPr kumimoji="0" lang="en-US" sz="1600" b="0" i="0" u="none" strike="noStrike" cap="none" normalizeH="0" baseline="0" smtClean="0">
              <a:ln>
                <a:noFill/>
              </a:ln>
              <a:solidFill>
                <a:schemeClr val="tx1"/>
              </a:solidFill>
              <a:effectLst/>
              <a:latin typeface="Arial" pitchFamily="34" charset="0"/>
              <a:cs typeface="Arial" pitchFamily="34" charset="0"/>
            </a:endParaRPr>
          </a:p>
        </p:txBody>
      </p:sp>
      <p:sp>
        <p:nvSpPr>
          <p:cNvPr id="7" name="Text Box 2"/>
          <p:cNvSpPr txBox="1">
            <a:spLocks noChangeArrowheads="1"/>
          </p:cNvSpPr>
          <p:nvPr/>
        </p:nvSpPr>
        <p:spPr bwMode="auto">
          <a:xfrm>
            <a:off x="1621790" y="2462212"/>
            <a:ext cx="290830" cy="282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IN" sz="1600" dirty="0" smtClean="0">
                <a:latin typeface="Times New Roman" pitchFamily="18" charset="0"/>
                <a:cs typeface="Arial" pitchFamily="34" charset="0"/>
              </a:rPr>
              <a:t>6</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Text Box 2"/>
          <p:cNvSpPr txBox="1">
            <a:spLocks noChangeArrowheads="1"/>
          </p:cNvSpPr>
          <p:nvPr/>
        </p:nvSpPr>
        <p:spPr bwMode="auto">
          <a:xfrm>
            <a:off x="1883048" y="1256075"/>
            <a:ext cx="290830" cy="282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IN" sz="1600" dirty="0" smtClean="0">
                <a:latin typeface="Times New Roman" pitchFamily="18" charset="0"/>
                <a:cs typeface="Arial" pitchFamily="34" charset="0"/>
              </a:rPr>
              <a:t>6</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9" name="Text Box 2"/>
          <p:cNvSpPr txBox="1">
            <a:spLocks noChangeArrowheads="1"/>
          </p:cNvSpPr>
          <p:nvPr/>
        </p:nvSpPr>
        <p:spPr bwMode="auto">
          <a:xfrm>
            <a:off x="3478893" y="1541281"/>
            <a:ext cx="290830" cy="282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IN" sz="1600" dirty="0" smtClean="0">
                <a:latin typeface="Times New Roman" pitchFamily="18" charset="0"/>
                <a:cs typeface="Arial" pitchFamily="34" charset="0"/>
              </a:rPr>
              <a:t>1</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10" name="Table 9"/>
          <p:cNvGraphicFramePr>
            <a:graphicFrameLocks noGrp="1"/>
          </p:cNvGraphicFramePr>
          <p:nvPr/>
        </p:nvGraphicFramePr>
        <p:xfrm>
          <a:off x="2551747" y="726475"/>
          <a:ext cx="767307" cy="245364"/>
        </p:xfrm>
        <a:graphic>
          <a:graphicData uri="http://schemas.openxmlformats.org/drawingml/2006/table">
            <a:tbl>
              <a:tblPr/>
              <a:tblGrid>
                <a:gridCol w="767307"/>
              </a:tblGrid>
              <a:tr h="0">
                <a:tc>
                  <a:txBody>
                    <a:bodyPr/>
                    <a:lstStyle/>
                    <a:p>
                      <a:pPr algn="l">
                        <a:lnSpc>
                          <a:spcPct val="115000"/>
                        </a:lnSpc>
                        <a:spcAft>
                          <a:spcPts val="0"/>
                        </a:spcAft>
                      </a:pPr>
                      <a:r>
                        <a:rPr lang="en-IN" sz="1400" dirty="0">
                          <a:latin typeface="Times New Roman"/>
                          <a:ea typeface="Calibri"/>
                          <a:cs typeface="Times New Roman"/>
                        </a:rPr>
                        <a:t>1011010</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nvGraphicFramePr>
        <p:xfrm>
          <a:off x="4108404" y="2004458"/>
          <a:ext cx="728120" cy="245364"/>
        </p:xfrm>
        <a:graphic>
          <a:graphicData uri="http://schemas.openxmlformats.org/drawingml/2006/table">
            <a:tbl>
              <a:tblPr/>
              <a:tblGrid>
                <a:gridCol w="728120"/>
              </a:tblGrid>
              <a:tr h="0">
                <a:tc>
                  <a:txBody>
                    <a:bodyPr/>
                    <a:lstStyle/>
                    <a:p>
                      <a:pPr algn="l">
                        <a:lnSpc>
                          <a:spcPct val="115000"/>
                        </a:lnSpc>
                        <a:spcAft>
                          <a:spcPts val="0"/>
                        </a:spcAft>
                      </a:pPr>
                      <a:r>
                        <a:rPr lang="en-IN" sz="1400" dirty="0">
                          <a:latin typeface="Times New Roman"/>
                          <a:ea typeface="Calibri"/>
                          <a:cs typeface="Times New Roman"/>
                        </a:rPr>
                        <a:t>1111111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1040810" y="2061063"/>
          <a:ext cx="780370" cy="245364"/>
        </p:xfrm>
        <a:graphic>
          <a:graphicData uri="http://schemas.openxmlformats.org/drawingml/2006/table">
            <a:tbl>
              <a:tblPr/>
              <a:tblGrid>
                <a:gridCol w="780370"/>
              </a:tblGrid>
              <a:tr h="0">
                <a:tc>
                  <a:txBody>
                    <a:bodyPr/>
                    <a:lstStyle/>
                    <a:p>
                      <a:pPr algn="l">
                        <a:lnSpc>
                          <a:spcPct val="115000"/>
                        </a:lnSpc>
                        <a:spcAft>
                          <a:spcPts val="0"/>
                        </a:spcAft>
                      </a:pPr>
                      <a:r>
                        <a:rPr lang="en-IN" sz="1400" dirty="0">
                          <a:latin typeface="Times New Roman"/>
                          <a:ea typeface="Calibri"/>
                          <a:cs typeface="Times New Roman"/>
                        </a:rPr>
                        <a:t>1011011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027" name="AutoShape 3"/>
          <p:cNvCxnSpPr>
            <a:cxnSpLocks noChangeShapeType="1"/>
          </p:cNvCxnSpPr>
          <p:nvPr/>
        </p:nvCxnSpPr>
        <p:spPr bwMode="auto">
          <a:xfrm rot="10800000" flipV="1">
            <a:off x="1333500" y="852396"/>
            <a:ext cx="1238250" cy="2858"/>
          </a:xfrm>
          <a:prstGeom prst="straightConnector1">
            <a:avLst/>
          </a:prstGeom>
          <a:noFill/>
          <a:ln w="9525">
            <a:solidFill>
              <a:srgbClr val="000000"/>
            </a:solidFill>
            <a:round/>
            <a:headEnd/>
            <a:tailEnd/>
          </a:ln>
        </p:spPr>
      </p:cxnSp>
      <p:cxnSp>
        <p:nvCxnSpPr>
          <p:cNvPr id="19" name="Straight Arrow Connector 18"/>
          <p:cNvCxnSpPr/>
          <p:nvPr/>
        </p:nvCxnSpPr>
        <p:spPr>
          <a:xfrm rot="16200000" flipH="1">
            <a:off x="762000" y="1441994"/>
            <a:ext cx="118872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0800000" flipV="1">
            <a:off x="1546860" y="977174"/>
            <a:ext cx="1158240" cy="1082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1821180" y="977174"/>
            <a:ext cx="1203960" cy="1173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1143000" y="2447834"/>
            <a:ext cx="2590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0800000">
            <a:off x="784860" y="2577374"/>
            <a:ext cx="4876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flipV="1">
            <a:off x="570706" y="2364014"/>
            <a:ext cx="442754" cy="1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800100" y="2150654"/>
            <a:ext cx="2590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1348740" y="2440214"/>
            <a:ext cx="2438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1470660" y="2577374"/>
            <a:ext cx="274320" cy="15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16200000" flipV="1">
            <a:off x="1584960" y="2417354"/>
            <a:ext cx="27432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flipH="1" flipV="1">
            <a:off x="2606040" y="634274"/>
            <a:ext cx="19812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705100" y="535214"/>
            <a:ext cx="2895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16200000" flipH="1">
            <a:off x="2880360" y="634274"/>
            <a:ext cx="21336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3192780" y="977174"/>
            <a:ext cx="1036320" cy="1021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rot="10800000">
            <a:off x="3314700" y="870494"/>
            <a:ext cx="1386840" cy="11277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133599" y="2393043"/>
            <a:ext cx="347472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7: State diagram for function X</a:t>
            </a:r>
          </a:p>
        </p:txBody>
      </p:sp>
      <p:sp>
        <p:nvSpPr>
          <p:cNvPr id="54" name="Text Box 2"/>
          <p:cNvSpPr txBox="1">
            <a:spLocks noChangeArrowheads="1"/>
          </p:cNvSpPr>
          <p:nvPr/>
        </p:nvSpPr>
        <p:spPr bwMode="auto">
          <a:xfrm>
            <a:off x="7031990" y="467950"/>
            <a:ext cx="290830" cy="282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0" i="0" u="none" strike="noStrike" cap="none" normalizeH="0" baseline="0" smtClean="0">
                <a:ln>
                  <a:noFill/>
                </a:ln>
                <a:solidFill>
                  <a:schemeClr val="tx1"/>
                </a:solidFill>
                <a:effectLst/>
                <a:latin typeface="Times New Roman" pitchFamily="18" charset="0"/>
                <a:cs typeface="Arial" pitchFamily="34" charset="0"/>
              </a:rPr>
              <a:t>3</a:t>
            </a:r>
            <a:endParaRPr kumimoji="0" lang="en-US" sz="16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55" name="Table 54"/>
          <p:cNvGraphicFramePr>
            <a:graphicFrameLocks noGrp="1"/>
          </p:cNvGraphicFramePr>
          <p:nvPr/>
        </p:nvGraphicFramePr>
        <p:xfrm>
          <a:off x="8287384" y="156064"/>
          <a:ext cx="341721" cy="280416"/>
        </p:xfrm>
        <a:graphic>
          <a:graphicData uri="http://schemas.openxmlformats.org/drawingml/2006/table">
            <a:tbl>
              <a:tblPr/>
              <a:tblGrid>
                <a:gridCol w="341721"/>
              </a:tblGrid>
              <a:tr h="0">
                <a:tc>
                  <a:txBody>
                    <a:bodyPr/>
                    <a:lstStyle/>
                    <a:p>
                      <a:pPr algn="l">
                        <a:lnSpc>
                          <a:spcPct val="115000"/>
                        </a:lnSpc>
                        <a:spcAft>
                          <a:spcPts val="0"/>
                        </a:spcAft>
                      </a:pPr>
                      <a:r>
                        <a:rPr lang="en-IN" sz="1600" baseline="30000" dirty="0" smtClean="0">
                          <a:latin typeface="Times New Roman"/>
                          <a:ea typeface="Calibri"/>
                          <a:cs typeface="Times New Roman"/>
                        </a:rPr>
                        <a:t>5+</a:t>
                      </a: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6" name="Table 55"/>
          <p:cNvGraphicFramePr>
            <a:graphicFrameLocks noGrp="1"/>
          </p:cNvGraphicFramePr>
          <p:nvPr/>
        </p:nvGraphicFramePr>
        <p:xfrm>
          <a:off x="7494904" y="1074819"/>
          <a:ext cx="341721" cy="280416"/>
        </p:xfrm>
        <a:graphic>
          <a:graphicData uri="http://schemas.openxmlformats.org/drawingml/2006/table">
            <a:tbl>
              <a:tblPr/>
              <a:tblGrid>
                <a:gridCol w="341721"/>
              </a:tblGrid>
              <a:tr h="0">
                <a:tc>
                  <a:txBody>
                    <a:bodyPr/>
                    <a:lstStyle/>
                    <a:p>
                      <a:pPr algn="l">
                        <a:lnSpc>
                          <a:spcPct val="115000"/>
                        </a:lnSpc>
                        <a:spcAft>
                          <a:spcPts val="0"/>
                        </a:spcAft>
                      </a:pPr>
                      <a:r>
                        <a:rPr lang="en-IN" sz="1600" baseline="30000" dirty="0" smtClean="0">
                          <a:latin typeface="Times New Roman"/>
                          <a:ea typeface="Calibri"/>
                          <a:cs typeface="Times New Roman"/>
                        </a:rPr>
                        <a:t>5+</a:t>
                      </a: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7" name="Table 56"/>
          <p:cNvGraphicFramePr>
            <a:graphicFrameLocks noGrp="1"/>
          </p:cNvGraphicFramePr>
          <p:nvPr/>
        </p:nvGraphicFramePr>
        <p:xfrm>
          <a:off x="9256213" y="937658"/>
          <a:ext cx="341721" cy="280416"/>
        </p:xfrm>
        <a:graphic>
          <a:graphicData uri="http://schemas.openxmlformats.org/drawingml/2006/table">
            <a:tbl>
              <a:tblPr/>
              <a:tblGrid>
                <a:gridCol w="341721"/>
              </a:tblGrid>
              <a:tr h="0">
                <a:tc>
                  <a:txBody>
                    <a:bodyPr/>
                    <a:lstStyle/>
                    <a:p>
                      <a:pPr algn="l">
                        <a:lnSpc>
                          <a:spcPct val="115000"/>
                        </a:lnSpc>
                        <a:spcAft>
                          <a:spcPts val="0"/>
                        </a:spcAft>
                      </a:pPr>
                      <a:r>
                        <a:rPr lang="en-IN" sz="1600" baseline="30000" dirty="0" smtClean="0">
                          <a:latin typeface="Times New Roman"/>
                          <a:ea typeface="Calibri"/>
                          <a:cs typeface="Times New Roman"/>
                        </a:rPr>
                        <a:t>5+</a:t>
                      </a: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8" name="Text Box 2"/>
          <p:cNvSpPr txBox="1">
            <a:spLocks noChangeArrowheads="1"/>
          </p:cNvSpPr>
          <p:nvPr/>
        </p:nvSpPr>
        <p:spPr bwMode="auto">
          <a:xfrm>
            <a:off x="6172019" y="2109515"/>
            <a:ext cx="290830" cy="282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600" b="0" i="0" u="none" strike="noStrike" cap="none" normalizeH="0" baseline="0" dirty="0" smtClean="0">
                <a:ln>
                  <a:noFill/>
                </a:ln>
                <a:solidFill>
                  <a:schemeClr val="tx1"/>
                </a:solidFill>
                <a:effectLst/>
                <a:latin typeface="Times New Roman" pitchFamily="18" charset="0"/>
                <a:cs typeface="Arial" pitchFamily="34" charset="0"/>
              </a:rPr>
              <a:t>3</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61" name="Text Box 2"/>
          <p:cNvSpPr txBox="1">
            <a:spLocks noChangeArrowheads="1"/>
          </p:cNvSpPr>
          <p:nvPr/>
        </p:nvSpPr>
        <p:spPr bwMode="auto">
          <a:xfrm>
            <a:off x="9087213" y="1523864"/>
            <a:ext cx="290830" cy="282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IN" sz="1600" dirty="0" smtClean="0">
                <a:latin typeface="Times New Roman" pitchFamily="18" charset="0"/>
                <a:cs typeface="Arial" pitchFamily="34" charset="0"/>
              </a:rPr>
              <a:t>1</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62" name="Table 61"/>
          <p:cNvGraphicFramePr>
            <a:graphicFrameLocks noGrp="1"/>
          </p:cNvGraphicFramePr>
          <p:nvPr/>
        </p:nvGraphicFramePr>
        <p:xfrm>
          <a:off x="8190547" y="617618"/>
          <a:ext cx="534353" cy="245364"/>
        </p:xfrm>
        <a:graphic>
          <a:graphicData uri="http://schemas.openxmlformats.org/drawingml/2006/table">
            <a:tbl>
              <a:tblPr/>
              <a:tblGrid>
                <a:gridCol w="534353"/>
              </a:tblGrid>
              <a:tr h="0">
                <a:tc>
                  <a:txBody>
                    <a:bodyPr/>
                    <a:lstStyle/>
                    <a:p>
                      <a:pPr algn="l">
                        <a:lnSpc>
                          <a:spcPct val="115000"/>
                        </a:lnSpc>
                        <a:spcAft>
                          <a:spcPts val="0"/>
                        </a:spcAft>
                      </a:pPr>
                      <a:r>
                        <a:rPr lang="en-IN" sz="1400" dirty="0" smtClean="0">
                          <a:latin typeface="Times New Roman"/>
                          <a:ea typeface="Calibri"/>
                          <a:cs typeface="Times New Roman"/>
                        </a:rPr>
                        <a:t>1010</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3" name="Table 62"/>
          <p:cNvGraphicFramePr>
            <a:graphicFrameLocks noGrp="1"/>
          </p:cNvGraphicFramePr>
          <p:nvPr/>
        </p:nvGraphicFramePr>
        <p:xfrm>
          <a:off x="9747204" y="1895601"/>
          <a:ext cx="547416" cy="245364"/>
        </p:xfrm>
        <a:graphic>
          <a:graphicData uri="http://schemas.openxmlformats.org/drawingml/2006/table">
            <a:tbl>
              <a:tblPr/>
              <a:tblGrid>
                <a:gridCol w="547416"/>
              </a:tblGrid>
              <a:tr h="0">
                <a:tc>
                  <a:txBody>
                    <a:bodyPr/>
                    <a:lstStyle/>
                    <a:p>
                      <a:pPr algn="l">
                        <a:lnSpc>
                          <a:spcPct val="115000"/>
                        </a:lnSpc>
                        <a:spcAft>
                          <a:spcPts val="0"/>
                        </a:spcAft>
                      </a:pPr>
                      <a:r>
                        <a:rPr lang="en-IN" sz="1400" dirty="0" smtClean="0">
                          <a:latin typeface="Times New Roman"/>
                          <a:ea typeface="Calibri"/>
                          <a:cs typeface="Times New Roman"/>
                        </a:rPr>
                        <a:t>1111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4" name="Table 63"/>
          <p:cNvGraphicFramePr>
            <a:graphicFrameLocks noGrp="1"/>
          </p:cNvGraphicFramePr>
          <p:nvPr/>
        </p:nvGraphicFramePr>
        <p:xfrm>
          <a:off x="6679610" y="1952206"/>
          <a:ext cx="551770" cy="245364"/>
        </p:xfrm>
        <a:graphic>
          <a:graphicData uri="http://schemas.openxmlformats.org/drawingml/2006/table">
            <a:tbl>
              <a:tblPr/>
              <a:tblGrid>
                <a:gridCol w="551770"/>
              </a:tblGrid>
              <a:tr h="0">
                <a:tc>
                  <a:txBody>
                    <a:bodyPr/>
                    <a:lstStyle/>
                    <a:p>
                      <a:pPr algn="l">
                        <a:lnSpc>
                          <a:spcPct val="115000"/>
                        </a:lnSpc>
                        <a:spcAft>
                          <a:spcPts val="0"/>
                        </a:spcAft>
                      </a:pPr>
                      <a:r>
                        <a:rPr lang="en-IN" sz="1400" dirty="0" smtClean="0">
                          <a:latin typeface="Times New Roman"/>
                          <a:ea typeface="Calibri"/>
                          <a:cs typeface="Times New Roman"/>
                        </a:rPr>
                        <a:t>1011</a:t>
                      </a:r>
                      <a:endParaRPr lang="en-IN"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65" name="AutoShape 3"/>
          <p:cNvCxnSpPr>
            <a:cxnSpLocks noChangeShapeType="1"/>
          </p:cNvCxnSpPr>
          <p:nvPr/>
        </p:nvCxnSpPr>
        <p:spPr bwMode="auto">
          <a:xfrm rot="10800000" flipV="1">
            <a:off x="6972300" y="743539"/>
            <a:ext cx="1238250" cy="2858"/>
          </a:xfrm>
          <a:prstGeom prst="straightConnector1">
            <a:avLst/>
          </a:prstGeom>
          <a:noFill/>
          <a:ln w="9525">
            <a:solidFill>
              <a:srgbClr val="000000"/>
            </a:solidFill>
            <a:round/>
            <a:headEnd/>
            <a:tailEnd/>
          </a:ln>
        </p:spPr>
      </p:cxnSp>
      <p:cxnSp>
        <p:nvCxnSpPr>
          <p:cNvPr id="66" name="Straight Arrow Connector 65"/>
          <p:cNvCxnSpPr/>
          <p:nvPr/>
        </p:nvCxnSpPr>
        <p:spPr>
          <a:xfrm rot="16200000" flipH="1">
            <a:off x="6400800" y="1333137"/>
            <a:ext cx="118872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V="1">
            <a:off x="7109460" y="881380"/>
            <a:ext cx="1143000" cy="10842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5400000">
            <a:off x="6781800" y="2338977"/>
            <a:ext cx="2590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0800000">
            <a:off x="6423660" y="2468517"/>
            <a:ext cx="4876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flipH="1" flipV="1">
            <a:off x="6209506" y="2255157"/>
            <a:ext cx="442754" cy="16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6438900" y="2041797"/>
            <a:ext cx="2590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5400000" flipH="1" flipV="1">
            <a:off x="8244840" y="525417"/>
            <a:ext cx="19812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8343900" y="426357"/>
            <a:ext cx="28956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rot="16200000" flipH="1">
            <a:off x="8519160" y="525417"/>
            <a:ext cx="21336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8663940" y="868317"/>
            <a:ext cx="1112520" cy="10951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rot="10800000">
            <a:off x="8740140" y="728980"/>
            <a:ext cx="1478280" cy="1173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7472679" y="2263503"/>
            <a:ext cx="3474720" cy="369332"/>
          </a:xfrm>
          <a:prstGeom prst="rect">
            <a:avLst/>
          </a:prstGeom>
          <a:noFill/>
        </p:spPr>
        <p:txBody>
          <a:bodyPr wrap="square" rtlCol="0">
            <a:spAutoFit/>
          </a:bodyPr>
          <a:lstStyle/>
          <a:p>
            <a:r>
              <a:rPr lang="en-IN" dirty="0" smtClean="0">
                <a:latin typeface="Times New Roman" pitchFamily="18" charset="0"/>
                <a:cs typeface="Times New Roman" pitchFamily="18" charset="0"/>
              </a:rPr>
              <a:t>Fig 8: State diagram for function Y</a:t>
            </a:r>
          </a:p>
        </p:txBody>
      </p:sp>
      <p:sp>
        <p:nvSpPr>
          <p:cNvPr id="59" name="TextBox 58"/>
          <p:cNvSpPr txBox="1"/>
          <p:nvPr/>
        </p:nvSpPr>
        <p:spPr>
          <a:xfrm>
            <a:off x="165100" y="2882900"/>
            <a:ext cx="11747500" cy="3693319"/>
          </a:xfrm>
          <a:prstGeom prst="rect">
            <a:avLst/>
          </a:prstGeom>
          <a:noFill/>
        </p:spPr>
        <p:txBody>
          <a:bodyPr wrap="square" rtlCol="0">
            <a:spAutoFit/>
          </a:bodyPr>
          <a:lstStyle/>
          <a:p>
            <a:r>
              <a:rPr lang="en-IN" u="sng" dirty="0" smtClean="0">
                <a:latin typeface="Times New Roman" pitchFamily="18" charset="0"/>
                <a:cs typeface="Times New Roman" pitchFamily="18" charset="0"/>
              </a:rPr>
              <a:t>Observation from Fig 7</a:t>
            </a:r>
            <a:endParaRPr lang="en-IN"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Three states, 1011010, 1011011, 1111111 and  the transitions among the states are shown in Fig 7.</a:t>
            </a:r>
          </a:p>
          <a:p>
            <a:pPr lvl="0"/>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Details of state transitions</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 1. </a:t>
            </a:r>
            <a:r>
              <a:rPr lang="en-IN" b="1" dirty="0" smtClean="0">
                <a:latin typeface="Times New Roman" pitchFamily="18" charset="0"/>
                <a:cs typeface="Times New Roman" pitchFamily="18" charset="0"/>
              </a:rPr>
              <a:t>Present state 1011010 to next state 1011011</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This state transition occurs for P=3 and P=6. The present content of the shift register is 1011010 and the present state is 1011010 for both the values of P. Next state is 1011011.</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2. </a:t>
            </a:r>
            <a:r>
              <a:rPr lang="en-IN" b="1" dirty="0" smtClean="0">
                <a:latin typeface="Times New Roman" pitchFamily="18" charset="0"/>
                <a:cs typeface="Times New Roman" pitchFamily="18" charset="0"/>
              </a:rPr>
              <a:t>Present state 1011011 to next state 1011010</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This state transition occurs for P=8</a:t>
            </a:r>
            <a:r>
              <a:rPr lang="en-IN" baseline="30000"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(indicate P≥8 as 8, 9, 10 etc. are permissible latencies for function X but not used at the time of scheduling tasks in the pipeline due to huge delay that is low throughput ). The present content of the shift register is 1011011 and the present state is 1011011. Next state is 1011010.</a:t>
            </a:r>
          </a:p>
          <a:p>
            <a:endParaRPr lang="en-IN" dirty="0" smtClean="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943" y="184694"/>
            <a:ext cx="11743508" cy="5909310"/>
          </a:xfrm>
          <a:prstGeom prst="rect">
            <a:avLst/>
          </a:prstGeom>
          <a:noFill/>
        </p:spPr>
        <p:txBody>
          <a:bodyPr wrap="square" rtlCol="0">
            <a:spAutoFit/>
          </a:bodyPr>
          <a:lstStyle/>
          <a:p>
            <a:r>
              <a:rPr lang="en-IN" dirty="0" smtClean="0">
                <a:latin typeface="Times New Roman" pitchFamily="18" charset="0"/>
                <a:cs typeface="Times New Roman" pitchFamily="18" charset="0"/>
              </a:rPr>
              <a:t>3. </a:t>
            </a:r>
            <a:r>
              <a:rPr lang="en-IN" b="1" dirty="0" smtClean="0">
                <a:latin typeface="Times New Roman" pitchFamily="18" charset="0"/>
                <a:cs typeface="Times New Roman" pitchFamily="18" charset="0"/>
              </a:rPr>
              <a:t>Present state 1011011 to next state 1011011</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This state transition occurs for P=3 and P=6. The present content of the shift register is 1011011 and the present state is 1011011 for both the values of P. Next state is 1011011 for both the values of P.</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4. </a:t>
            </a:r>
            <a:r>
              <a:rPr lang="en-IN" b="1" dirty="0" smtClean="0">
                <a:latin typeface="Times New Roman" pitchFamily="18" charset="0"/>
                <a:cs typeface="Times New Roman" pitchFamily="18" charset="0"/>
              </a:rPr>
              <a:t>Present state 1011010  to next state 1011010</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This state transition occurs for P=8</a:t>
            </a:r>
            <a:r>
              <a:rPr lang="en-IN" baseline="30000"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The present content of the shift register is 1011010 and the present state is 1011010. Next state is 1011010.</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5. </a:t>
            </a:r>
            <a:r>
              <a:rPr lang="en-IN" b="1" dirty="0" smtClean="0">
                <a:latin typeface="Times New Roman" pitchFamily="18" charset="0"/>
                <a:cs typeface="Times New Roman" pitchFamily="18" charset="0"/>
              </a:rPr>
              <a:t>Present state 1011010 to next state 1111111</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This state transition occurs for P=1. The present content of the shift register is 1011010 and the present state is 1011010. Next state is 1111111.</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6. </a:t>
            </a:r>
            <a:r>
              <a:rPr lang="en-IN" b="1" dirty="0" smtClean="0">
                <a:latin typeface="Times New Roman" pitchFamily="18" charset="0"/>
                <a:cs typeface="Times New Roman" pitchFamily="18" charset="0"/>
              </a:rPr>
              <a:t>Present state 1111111  to next state 1011010</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This state transition occurs for P=8</a:t>
            </a:r>
            <a:r>
              <a:rPr lang="en-IN" baseline="30000"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The present content of the shift register is 1111111 and the present state is 1111111. Next state is 1011010.</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Observation:</a:t>
            </a:r>
          </a:p>
          <a:p>
            <a:r>
              <a:rPr lang="en-IN" dirty="0" smtClean="0">
                <a:latin typeface="Times New Roman" pitchFamily="18" charset="0"/>
                <a:cs typeface="Times New Roman" pitchFamily="18" charset="0"/>
              </a:rPr>
              <a:t>From the initial state (1011010), only 3 outgoing transitions are possible, corresponding to the 3 permissible latencies 6, 3, 1. Similarly from the state 1011011, one reaches the same state after either 3 shifts or 6 shifts. </a:t>
            </a:r>
          </a:p>
          <a:p>
            <a:r>
              <a:rPr lang="en-IN" dirty="0" smtClean="0">
                <a:latin typeface="Times New Roman" pitchFamily="18" charset="0"/>
                <a:cs typeface="Times New Roman" pitchFamily="18" charset="0"/>
              </a:rPr>
              <a:t>Finally when the number of shifts is m+1 or more, all transitions are redirected back to the initial state. For example, after 8 or more shifts (denoted by 8</a:t>
            </a:r>
            <a:r>
              <a:rPr lang="en-IN" baseline="30000"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the next state must be the initial state regardless of which state the transition starts from.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3200" y="190500"/>
            <a:ext cx="11722100" cy="6463308"/>
          </a:xfrm>
          <a:prstGeom prst="rect">
            <a:avLst/>
          </a:prstGeom>
          <a:noFill/>
        </p:spPr>
        <p:txBody>
          <a:bodyPr wrap="square" rtlCol="0">
            <a:spAutoFit/>
          </a:bodyPr>
          <a:lstStyle/>
          <a:p>
            <a:r>
              <a:rPr lang="en-IN" b="1" dirty="0" smtClean="0">
                <a:latin typeface="Times New Roman" pitchFamily="18" charset="0"/>
                <a:cs typeface="Times New Roman" pitchFamily="18" charset="0"/>
              </a:rPr>
              <a:t>Cycle, simple cycle and greedy cycle</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 </a:t>
            </a:r>
          </a:p>
          <a:p>
            <a:r>
              <a:rPr lang="en-IN" b="1" u="sng" dirty="0" smtClean="0">
                <a:latin typeface="Times New Roman" pitchFamily="18" charset="0"/>
                <a:cs typeface="Times New Roman" pitchFamily="18" charset="0"/>
              </a:rPr>
              <a:t>Cycle</a:t>
            </a:r>
            <a:r>
              <a:rPr lang="en-IN" dirty="0" smtClean="0">
                <a:latin typeface="Times New Roman" pitchFamily="18" charset="0"/>
                <a:cs typeface="Times New Roman" pitchFamily="18" charset="0"/>
              </a:rPr>
              <a:t>: An infinitely many latency cycles one can trace from the state diagram (Fig 7). Few example of such cycles are  (1, 8), (1, 8, 6, 8), (3), (6), (3, 8), (3, 6, 3),....</a:t>
            </a:r>
          </a:p>
          <a:p>
            <a:endParaRPr lang="en-IN" dirty="0" smtClean="0">
              <a:latin typeface="Times New Roman" pitchFamily="18" charset="0"/>
              <a:cs typeface="Times New Roman" pitchFamily="18" charset="0"/>
            </a:endParaRPr>
          </a:p>
          <a:p>
            <a:r>
              <a:rPr lang="en-IN" b="1" u="sng" dirty="0" smtClean="0">
                <a:latin typeface="Times New Roman" pitchFamily="18" charset="0"/>
                <a:cs typeface="Times New Roman" pitchFamily="18" charset="0"/>
              </a:rPr>
              <a:t>Simple cycle</a:t>
            </a:r>
            <a:r>
              <a:rPr lang="en-IN" dirty="0" smtClean="0">
                <a:latin typeface="Times New Roman" pitchFamily="18" charset="0"/>
                <a:cs typeface="Times New Roman" pitchFamily="18" charset="0"/>
              </a:rPr>
              <a:t>: It is a latency cycle in which each state appears only once. So (1, 8), (3), (6), (3, 8), (8) and (6, 8) are simple cycles. </a:t>
            </a:r>
          </a:p>
          <a:p>
            <a:r>
              <a:rPr lang="en-IN" dirty="0" smtClean="0">
                <a:latin typeface="Times New Roman" pitchFamily="18" charset="0"/>
                <a:cs typeface="Times New Roman" pitchFamily="18" charset="0"/>
              </a:rPr>
              <a:t>The cycle (1, 8, 6, 8) traverses the state 1011010 multiple times. It starts from the state 1011010, then goes to the state 1111111 for P=1, then comes back to the state 1011010 for P=8</a:t>
            </a:r>
            <a:r>
              <a:rPr lang="en-IN" baseline="30000"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then goes to the state 1011011 for P=6, then comes back to the state 1011010 for P=8</a:t>
            </a:r>
            <a:r>
              <a:rPr lang="en-IN" baseline="30000"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So this cycle is not a simple cycle.</a:t>
            </a:r>
          </a:p>
          <a:p>
            <a:r>
              <a:rPr lang="en-IN" dirty="0" smtClean="0">
                <a:latin typeface="Times New Roman" pitchFamily="18" charset="0"/>
                <a:cs typeface="Times New Roman" pitchFamily="18" charset="0"/>
              </a:rPr>
              <a:t>The cycle (3, 6, 3, 8, 6) traverses the state 1011011 multiple times. It starts from the state 1011011, then goes to the state 1011011 for P=3, then goes to the state 1011011 for P=6, then goes to the state 1011011 for P=3, then goes to the state 1011010 for P=8, then comes back to the state 1011011 for P=6.</a:t>
            </a:r>
          </a:p>
          <a:p>
            <a:r>
              <a:rPr lang="en-IN" dirty="0" smtClean="0">
                <a:latin typeface="Times New Roman" pitchFamily="18" charset="0"/>
                <a:cs typeface="Times New Roman" pitchFamily="18" charset="0"/>
              </a:rPr>
              <a:t> </a:t>
            </a:r>
          </a:p>
          <a:p>
            <a:r>
              <a:rPr lang="en-IN" b="1" u="sng" dirty="0" smtClean="0">
                <a:latin typeface="Times New Roman" pitchFamily="18" charset="0"/>
                <a:cs typeface="Times New Roman" pitchFamily="18" charset="0"/>
              </a:rPr>
              <a:t>Greedy cycle</a:t>
            </a:r>
            <a:r>
              <a:rPr lang="en-IN" dirty="0" smtClean="0">
                <a:latin typeface="Times New Roman" pitchFamily="18" charset="0"/>
                <a:cs typeface="Times New Roman" pitchFamily="18" charset="0"/>
              </a:rPr>
              <a:t>: Greedy cycle is one whose edges are all made with minimum latencies from their respective starting states. Greedy cycles are those simple cycles whose average latencies must be lower than those of other simple cycles. The cycles (1, 8) and (3) are greedy cycles for function X as these cycles have minimum latencies than the other simple cycles. [(1, 5) and (3) are greedy cycles for function Y]</a:t>
            </a:r>
          </a:p>
          <a:p>
            <a:r>
              <a:rPr lang="en-IN" dirty="0" smtClean="0">
                <a:latin typeface="Times New Roman" pitchFamily="18" charset="0"/>
                <a:cs typeface="Times New Roman" pitchFamily="18" charset="0"/>
              </a:rPr>
              <a:t>The simple cycle (1, 8) is a greedy cycle as its average latency (   = 4.5) is lower than that of the simple cycle (6, 8) (average latency   = 7) and (3, 8) (average latency   = 5.5).</a:t>
            </a:r>
          </a:p>
          <a:p>
            <a:r>
              <a:rPr lang="en-IN" dirty="0" smtClean="0">
                <a:latin typeface="Times New Roman" pitchFamily="18" charset="0"/>
                <a:cs typeface="Times New Roman" pitchFamily="18" charset="0"/>
              </a:rPr>
              <a:t>The simple cycle (3) is a greedy cycle as its constant latency (3) is lower than that of the other constant cycles.</a:t>
            </a:r>
          </a:p>
          <a:p>
            <a:r>
              <a:rPr lang="en-IN" dirty="0" smtClean="0">
                <a:latin typeface="Times New Roman" pitchFamily="18" charset="0"/>
                <a:cs typeface="Times New Roman" pitchFamily="18" charset="0"/>
              </a:rPr>
              <a:t>Finally the constant latency 3 (as 3 is less than 4.5 that is the latency of the other greedy cycle) is equal to MAL for evaluating function X without any </a:t>
            </a:r>
            <a:r>
              <a:rPr lang="en-IN" dirty="0" smtClean="0">
                <a:latin typeface="Times New Roman" pitchFamily="18" charset="0"/>
                <a:cs typeface="Times New Roman" pitchFamily="18" charset="0"/>
              </a:rPr>
              <a:t>collision.</a:t>
            </a:r>
            <a:endParaRPr lang="en-IN" dirty="0" smtClean="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TotalTime>
  <Words>2585</Words>
  <Application>Microsoft Office PowerPoint</Application>
  <PresentationFormat>Custom</PresentationFormat>
  <Paragraphs>587</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cst_laptop5</dc:creator>
  <cp:lastModifiedBy>cst_laptop5</cp:lastModifiedBy>
  <cp:revision>64</cp:revision>
  <dcterms:created xsi:type="dcterms:W3CDTF">2025-06-25T08:21:08Z</dcterms:created>
  <dcterms:modified xsi:type="dcterms:W3CDTF">2026-04-06T08:25:08Z</dcterms:modified>
</cp:coreProperties>
</file>