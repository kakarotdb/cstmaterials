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CB21A-CCA0-44C6-92BA-6065C052B95A}" type="datetimeFigureOut">
              <a:rPr lang="en-US" smtClean="0"/>
              <a:t>4/21/2026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283BC-D670-4DBA-91B1-7225DA270F3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3286" y="188686"/>
            <a:ext cx="8632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Wallace tree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Multiplication of two 8-bit integers A x B = P, where P is the 16-bit product.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 = P0+P1+P2+P3+P4+P5+P6+P7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[x is the arithmetic multiply and + is the arithmetic add]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3094" y="1763212"/>
          <a:ext cx="4590104" cy="3785870"/>
        </p:xfrm>
        <a:graphic>
          <a:graphicData uri="http://schemas.openxmlformats.org/drawingml/2006/table">
            <a:tbl>
              <a:tblPr/>
              <a:tblGrid>
                <a:gridCol w="286703"/>
                <a:gridCol w="286703"/>
                <a:gridCol w="286703"/>
                <a:gridCol w="287179"/>
                <a:gridCol w="286703"/>
                <a:gridCol w="287179"/>
                <a:gridCol w="286703"/>
                <a:gridCol w="287179"/>
                <a:gridCol w="286703"/>
                <a:gridCol w="286703"/>
                <a:gridCol w="287179"/>
                <a:gridCol w="286703"/>
                <a:gridCol w="286703"/>
                <a:gridCol w="287179"/>
                <a:gridCol w="286703"/>
                <a:gridCol w="287179"/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 dirty="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 dirty="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 dirty="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IN" sz="18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V="1">
            <a:off x="272143" y="5152572"/>
            <a:ext cx="4430486" cy="29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177144" y="2416631"/>
            <a:ext cx="2530929" cy="21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31572" y="1799771"/>
            <a:ext cx="359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A=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226129" y="2097315"/>
            <a:ext cx="32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B=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5181600"/>
            <a:ext cx="315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P=</a:t>
            </a:r>
            <a:endParaRPr lang="en-IN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5000628" y="2714620"/>
            <a:ext cx="38970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Partial product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Pj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is obtained by multiplying the multiplicand A by the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IN" baseline="30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bit of the multiplier B and then shifting the result by j bits to the left for j = 0,1,2,3,4,5,6,7.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Pj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is (8+j) bits long with j trailing zeros.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Summation of the eight partial products is done with a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allace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tree of CSAs plus a CPA at the final stage.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ll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5" y="0"/>
            <a:ext cx="569836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0686" y="333829"/>
            <a:ext cx="28738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S1 generates all 8 partial products, ranging from 8 bits to 15 bits simultaneously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S2, made up of two levels of 4 CSAs, which essentially merges 8 numbers into 4 numbers ranging from 13 to 15 bits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S3 consists of two CSAs, which merges 4 numbers into two 16 bits numbers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S4, final stage to add the last two numbers to produce the final product P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515" y="174171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Bit pair multiplication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Booth’s algorithm has two attractive features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Useful for positive and negative multipliers uniformly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Improves speed of operation or efficiency by reducing the number of arithmetic operations depending on the multiplier type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Bit pair recording of multiplier reduces the maximum number of operations (partial product) and hence improves speed.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31742" y="2499178"/>
          <a:ext cx="4593432" cy="5392420"/>
        </p:xfrm>
        <a:graphic>
          <a:graphicData uri="http://schemas.openxmlformats.org/drawingml/2006/table">
            <a:tbl>
              <a:tblPr/>
              <a:tblGrid>
                <a:gridCol w="892969"/>
                <a:gridCol w="885825"/>
                <a:gridCol w="539693"/>
                <a:gridCol w="805544"/>
                <a:gridCol w="146940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Multiplier bit pair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Multiplier bit on the right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Booth’s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Bit pair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i+1               i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i-1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Multiplicand selected at position i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0                 0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0        0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 + 0x2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x M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0                 0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       +1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 + 1x2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+1 x M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0                 1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+1      -1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 - 1x2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+1 x M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0                 1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+1        0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+1x2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 + 0x2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+2 x M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1                 0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-1        0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-1x2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 + 0x2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-2 x M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1                 0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-1      +1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-1x2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 + 1x2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-1 x M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1                 1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       -1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 - 1x2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-1 x M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1                 1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0        0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1</a:t>
                      </a:r>
                      <a:r>
                        <a:rPr lang="en-IN" sz="14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 + 0x2</a:t>
                      </a:r>
                      <a:r>
                        <a:rPr lang="en-IN" sz="1400" baseline="3000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</a:t>
                      </a:r>
                      <a:endParaRPr lang="en-IN" sz="1400">
                        <a:latin typeface="Times New Roman" pitchFamily="18" charset="0"/>
                        <a:ea typeface="Noto Sans CJK SC Regular"/>
                        <a:cs typeface="Times New Roman" pitchFamily="18" charset="0"/>
                      </a:endParaRP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 pitchFamily="18" charset="0"/>
                          <a:ea typeface="Noto Sans CJK SC Regular"/>
                          <a:cs typeface="Times New Roman" pitchFamily="18" charset="0"/>
                        </a:rPr>
                        <a:t>0 x M</a:t>
                      </a:r>
                    </a:p>
                  </a:txBody>
                  <a:tcPr marL="25718" marR="26194" marT="34925" marB="349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398</Words>
  <Application>Microsoft Office PowerPoint</Application>
  <PresentationFormat>On-screen Show (4:3)</PresentationFormat>
  <Paragraphs>195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cst_laptop5</dc:creator>
  <cp:lastModifiedBy>cst_laptop5</cp:lastModifiedBy>
  <cp:revision>1</cp:revision>
  <dcterms:created xsi:type="dcterms:W3CDTF">2026-04-21T07:04:12Z</dcterms:created>
  <dcterms:modified xsi:type="dcterms:W3CDTF">2026-04-21T07:05:15Z</dcterms:modified>
</cp:coreProperties>
</file>