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3" r:id="rId6"/>
    <p:sldId id="274" r:id="rId7"/>
    <p:sldId id="261" r:id="rId8"/>
    <p:sldId id="276"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3" d="100"/>
          <a:sy n="73" d="100"/>
        </p:scale>
        <p:origin x="-61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40157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2896893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247360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464177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74219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2506631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2586488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089838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58396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131100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708459-BD8C-4F65-8F42-8147E14702D6}"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40708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708459-BD8C-4F65-8F42-8147E14702D6}" type="datetimeFigureOut">
              <a:rPr lang="en-IN" smtClean="0"/>
              <a:pPr/>
              <a:t>01-04-2026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3E453F-8F49-47D9-9321-E24E369C4E90}" type="slidenum">
              <a:rPr lang="en-IN" smtClean="0"/>
              <a:pPr/>
              <a:t>‹#›</a:t>
            </a:fld>
            <a:endParaRPr lang="en-IN"/>
          </a:p>
        </p:txBody>
      </p:sp>
    </p:spTree>
    <p:extLst>
      <p:ext uri="{BB962C8B-B14F-4D97-AF65-F5344CB8AC3E}">
        <p14:creationId xmlns:p14="http://schemas.microsoft.com/office/powerpoint/2010/main" xmlns="" val="3118065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6063" y="167426"/>
            <a:ext cx="11694016" cy="286232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Linear pipeline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Without pipelining a processor (non-pipeline processor) fetches one instruction, completes its execution, then fetches the next instruction. So while fetching the next instruction the arithmetic part of the processor remains idle, it must wait until it gets the next instruction. </a:t>
            </a:r>
          </a:p>
          <a:p>
            <a:pPr lvl="0"/>
            <a:r>
              <a:rPr lang="en-IN" dirty="0">
                <a:latin typeface="Times New Roman" panose="02020603050405020304" pitchFamily="18" charset="0"/>
                <a:cs typeface="Times New Roman" panose="02020603050405020304" pitchFamily="18" charset="0"/>
              </a:rPr>
              <a:t>Pipeline consists of a few segments and executes instructions in an overlapping fashion to reduce the overall execution time </a:t>
            </a:r>
          </a:p>
          <a:p>
            <a:r>
              <a:rPr lang="en-IN" u="sng" dirty="0" smtClean="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The following is a four segment pipeline. The segments are S1, S2, S3, S4. The segment S1 receives input and the output is obtained from S4 (shown using arrow). Let us consider that this four segment pipeline is an instruction pipeline. S1 is the fetch segment, S2 is the decode segment, S3 is the fetch operand segment, S4 is the execute and store result segment. Suppose you have a program having four instructions (I1, I2, I3, I4) and these instructions are independent on each other.</a:t>
            </a:r>
          </a:p>
        </p:txBody>
      </p:sp>
      <p:graphicFrame>
        <p:nvGraphicFramePr>
          <p:cNvPr id="5" name="Table 4"/>
          <p:cNvGraphicFramePr>
            <a:graphicFrameLocks noGrp="1"/>
          </p:cNvGraphicFramePr>
          <p:nvPr>
            <p:extLst>
              <p:ext uri="{D42A27DB-BD31-4B8C-83A1-F6EECF244321}">
                <p14:modId xmlns:p14="http://schemas.microsoft.com/office/powerpoint/2010/main" xmlns="" val="2213936936"/>
              </p:ext>
            </p:extLst>
          </p:nvPr>
        </p:nvGraphicFramePr>
        <p:xfrm>
          <a:off x="688281" y="3519065"/>
          <a:ext cx="1800225" cy="315468"/>
        </p:xfrm>
        <a:graphic>
          <a:graphicData uri="http://schemas.openxmlformats.org/drawingml/2006/table">
            <a:tbl>
              <a:tblPr firstRow="1" firstCol="1" bandRow="1">
                <a:tableStyleId>{5C22544A-7EE6-4342-B048-85BDC9FD1C3A}</a:tableStyleId>
              </a:tblPr>
              <a:tblGrid>
                <a:gridCol w="449580">
                  <a:extLst>
                    <a:ext uri="{9D8B030D-6E8A-4147-A177-3AD203B41FA5}">
                      <a16:colId xmlns:a16="http://schemas.microsoft.com/office/drawing/2014/main" xmlns="" val="3113444668"/>
                    </a:ext>
                  </a:extLst>
                </a:gridCol>
                <a:gridCol w="434975">
                  <a:extLst>
                    <a:ext uri="{9D8B030D-6E8A-4147-A177-3AD203B41FA5}">
                      <a16:colId xmlns:a16="http://schemas.microsoft.com/office/drawing/2014/main" xmlns="" val="3424866805"/>
                    </a:ext>
                  </a:extLst>
                </a:gridCol>
                <a:gridCol w="450215">
                  <a:extLst>
                    <a:ext uri="{9D8B030D-6E8A-4147-A177-3AD203B41FA5}">
                      <a16:colId xmlns:a16="http://schemas.microsoft.com/office/drawing/2014/main" xmlns="" val="3945414280"/>
                    </a:ext>
                  </a:extLst>
                </a:gridCol>
                <a:gridCol w="465455">
                  <a:extLst>
                    <a:ext uri="{9D8B030D-6E8A-4147-A177-3AD203B41FA5}">
                      <a16:colId xmlns:a16="http://schemas.microsoft.com/office/drawing/2014/main" xmlns="" val="2384121260"/>
                    </a:ext>
                  </a:extLst>
                </a:gridCol>
              </a:tblGrid>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S4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24343788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xmlns="" val="3841553947"/>
              </p:ext>
            </p:extLst>
          </p:nvPr>
        </p:nvGraphicFramePr>
        <p:xfrm>
          <a:off x="206063" y="4166675"/>
          <a:ext cx="5195952" cy="1577340"/>
        </p:xfrm>
        <a:graphic>
          <a:graphicData uri="http://schemas.openxmlformats.org/drawingml/2006/table">
            <a:tbl>
              <a:tblPr firstRow="1" firstCol="1" bandRow="1">
                <a:tableStyleId>{5C22544A-7EE6-4342-B048-85BDC9FD1C3A}</a:tableStyleId>
              </a:tblPr>
              <a:tblGrid>
                <a:gridCol w="648807">
                  <a:extLst>
                    <a:ext uri="{9D8B030D-6E8A-4147-A177-3AD203B41FA5}">
                      <a16:colId xmlns:a16="http://schemas.microsoft.com/office/drawing/2014/main" xmlns="" val="1981764360"/>
                    </a:ext>
                  </a:extLst>
                </a:gridCol>
                <a:gridCol w="648807">
                  <a:extLst>
                    <a:ext uri="{9D8B030D-6E8A-4147-A177-3AD203B41FA5}">
                      <a16:colId xmlns:a16="http://schemas.microsoft.com/office/drawing/2014/main" xmlns="" val="981825576"/>
                    </a:ext>
                  </a:extLst>
                </a:gridCol>
                <a:gridCol w="649723">
                  <a:extLst>
                    <a:ext uri="{9D8B030D-6E8A-4147-A177-3AD203B41FA5}">
                      <a16:colId xmlns:a16="http://schemas.microsoft.com/office/drawing/2014/main" xmlns="" val="3388629804"/>
                    </a:ext>
                  </a:extLst>
                </a:gridCol>
                <a:gridCol w="649723">
                  <a:extLst>
                    <a:ext uri="{9D8B030D-6E8A-4147-A177-3AD203B41FA5}">
                      <a16:colId xmlns:a16="http://schemas.microsoft.com/office/drawing/2014/main" xmlns="" val="1778259967"/>
                    </a:ext>
                  </a:extLst>
                </a:gridCol>
                <a:gridCol w="649723">
                  <a:extLst>
                    <a:ext uri="{9D8B030D-6E8A-4147-A177-3AD203B41FA5}">
                      <a16:colId xmlns:a16="http://schemas.microsoft.com/office/drawing/2014/main" xmlns="" val="1229779369"/>
                    </a:ext>
                  </a:extLst>
                </a:gridCol>
                <a:gridCol w="649723">
                  <a:extLst>
                    <a:ext uri="{9D8B030D-6E8A-4147-A177-3AD203B41FA5}">
                      <a16:colId xmlns:a16="http://schemas.microsoft.com/office/drawing/2014/main" xmlns="" val="2295136846"/>
                    </a:ext>
                  </a:extLst>
                </a:gridCol>
                <a:gridCol w="649723">
                  <a:extLst>
                    <a:ext uri="{9D8B030D-6E8A-4147-A177-3AD203B41FA5}">
                      <a16:colId xmlns:a16="http://schemas.microsoft.com/office/drawing/2014/main" xmlns="" val="181124512"/>
                    </a:ext>
                  </a:extLst>
                </a:gridCol>
                <a:gridCol w="649723">
                  <a:extLst>
                    <a:ext uri="{9D8B030D-6E8A-4147-A177-3AD203B41FA5}">
                      <a16:colId xmlns:a16="http://schemas.microsoft.com/office/drawing/2014/main" xmlns="" val="3524310037"/>
                    </a:ext>
                  </a:extLst>
                </a:gridCol>
              </a:tblGrid>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95649966"/>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741041341"/>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039401655"/>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31935371"/>
                  </a:ext>
                </a:extLst>
              </a:tr>
              <a:tr h="0">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I4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38634664"/>
                  </a:ext>
                </a:extLst>
              </a:tr>
            </a:tbl>
          </a:graphicData>
        </a:graphic>
      </p:graphicFrame>
      <p:cxnSp>
        <p:nvCxnSpPr>
          <p:cNvPr id="10" name="Straight Arrow Connector 9"/>
          <p:cNvCxnSpPr>
            <a:endCxn id="5" idx="1"/>
          </p:cNvCxnSpPr>
          <p:nvPr/>
        </p:nvCxnSpPr>
        <p:spPr>
          <a:xfrm>
            <a:off x="270456" y="3664162"/>
            <a:ext cx="4178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488506" y="3664162"/>
            <a:ext cx="3963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594428" y="3029748"/>
            <a:ext cx="6503831" cy="3693319"/>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Details of execution of the 4 instructions using the above pipeline</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In CC1 I1 </a:t>
            </a:r>
            <a:r>
              <a:rPr lang="en-IN" dirty="0">
                <a:latin typeface="Times New Roman" panose="02020603050405020304" pitchFamily="18" charset="0"/>
                <a:cs typeface="Times New Roman" panose="02020603050405020304" pitchFamily="18" charset="0"/>
              </a:rPr>
              <a:t>enters into the segment S1 of the pipeline for fetch operation.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In CC2 I1 </a:t>
            </a:r>
            <a:r>
              <a:rPr lang="en-IN" dirty="0">
                <a:latin typeface="Times New Roman" panose="02020603050405020304" pitchFamily="18" charset="0"/>
                <a:cs typeface="Times New Roman" panose="02020603050405020304" pitchFamily="18" charset="0"/>
              </a:rPr>
              <a:t>enters into the segment S2 of the pipeline for decode operation whereas I2 enters into the segment S1 of the pipeline for fetch </a:t>
            </a:r>
            <a:r>
              <a:rPr lang="en-IN" dirty="0" smtClean="0">
                <a:latin typeface="Times New Roman" panose="02020603050405020304" pitchFamily="18" charset="0"/>
                <a:cs typeface="Times New Roman" panose="02020603050405020304" pitchFamily="18" charset="0"/>
              </a:rPr>
              <a:t>operation. </a:t>
            </a:r>
          </a:p>
          <a:p>
            <a:r>
              <a:rPr lang="en-IN" dirty="0" smtClean="0">
                <a:latin typeface="Times New Roman" panose="02020603050405020304" pitchFamily="18" charset="0"/>
                <a:cs typeface="Times New Roman" panose="02020603050405020304" pitchFamily="18" charset="0"/>
              </a:rPr>
              <a:t>In CC3 I3 </a:t>
            </a:r>
            <a:r>
              <a:rPr lang="en-IN" dirty="0">
                <a:latin typeface="Times New Roman" panose="02020603050405020304" pitchFamily="18" charset="0"/>
                <a:cs typeface="Times New Roman" panose="02020603050405020304" pitchFamily="18" charset="0"/>
              </a:rPr>
              <a:t>enters into the segment S1 for fetch, I2 enters into the segment S2 for decode, I1 enters into the segment S3 for fetch </a:t>
            </a:r>
            <a:r>
              <a:rPr lang="en-IN" dirty="0" smtClean="0">
                <a:latin typeface="Times New Roman" panose="02020603050405020304" pitchFamily="18" charset="0"/>
                <a:cs typeface="Times New Roman" panose="02020603050405020304" pitchFamily="18" charset="0"/>
              </a:rPr>
              <a:t>operand. </a:t>
            </a:r>
          </a:p>
          <a:p>
            <a:r>
              <a:rPr lang="en-IN" dirty="0" smtClean="0">
                <a:latin typeface="Times New Roman" panose="02020603050405020304" pitchFamily="18" charset="0"/>
                <a:cs typeface="Times New Roman" panose="02020603050405020304" pitchFamily="18" charset="0"/>
              </a:rPr>
              <a:t>In CC4 I4 </a:t>
            </a:r>
            <a:r>
              <a:rPr lang="en-IN" dirty="0">
                <a:latin typeface="Times New Roman" panose="02020603050405020304" pitchFamily="18" charset="0"/>
                <a:cs typeface="Times New Roman" panose="02020603050405020304" pitchFamily="18" charset="0"/>
              </a:rPr>
              <a:t>enters into the segment S1 for fetch, I3 enters into the segment  S2 for decode, I2 enters into the segment  S3 for fetch operand, I1 enters into the segment  S4 for execution and </a:t>
            </a:r>
            <a:r>
              <a:rPr lang="en-IN" dirty="0" smtClean="0">
                <a:latin typeface="Times New Roman" panose="02020603050405020304" pitchFamily="18" charset="0"/>
                <a:cs typeface="Times New Roman" panose="02020603050405020304" pitchFamily="18" charset="0"/>
              </a:rPr>
              <a:t>store. </a:t>
            </a:r>
          </a:p>
          <a:p>
            <a:r>
              <a:rPr lang="en-IN" dirty="0" smtClean="0">
                <a:latin typeface="Times New Roman" panose="02020603050405020304" pitchFamily="18" charset="0"/>
                <a:cs typeface="Times New Roman" panose="02020603050405020304" pitchFamily="18" charset="0"/>
              </a:rPr>
              <a:t>So </a:t>
            </a:r>
            <a:r>
              <a:rPr lang="en-IN" dirty="0">
                <a:latin typeface="Times New Roman" panose="02020603050405020304" pitchFamily="18" charset="0"/>
                <a:cs typeface="Times New Roman" panose="02020603050405020304" pitchFamily="18" charset="0"/>
              </a:rPr>
              <a:t>the execution of I1 is over in CC4. </a:t>
            </a:r>
          </a:p>
        </p:txBody>
      </p:sp>
    </p:spTree>
    <p:extLst>
      <p:ext uri="{BB962C8B-B14F-4D97-AF65-F5344CB8AC3E}">
        <p14:creationId xmlns:p14="http://schemas.microsoft.com/office/powerpoint/2010/main" xmlns="" val="12305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3184" y="180304"/>
            <a:ext cx="11745531" cy="3416320"/>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 CC5 I2 enters into the segment S4 i.e. the execution of I2 is over in CC5. </a:t>
            </a:r>
          </a:p>
          <a:p>
            <a:r>
              <a:rPr lang="en-IN" dirty="0" smtClean="0">
                <a:latin typeface="Times New Roman" panose="02020603050405020304" pitchFamily="18" charset="0"/>
                <a:cs typeface="Times New Roman" panose="02020603050405020304" pitchFamily="18" charset="0"/>
              </a:rPr>
              <a:t>In CC6 the execution of I3 is over and in CC7 the execution of I4 is over. </a:t>
            </a:r>
          </a:p>
          <a:p>
            <a:r>
              <a:rPr lang="en-IN" dirty="0" smtClean="0">
                <a:latin typeface="Times New Roman" panose="02020603050405020304" pitchFamily="18" charset="0"/>
                <a:cs typeface="Times New Roman" panose="02020603050405020304" pitchFamily="18" charset="0"/>
              </a:rPr>
              <a:t>Therefore total 7 clock cycles are required to complete the execution of 4 instructions (I1, I2, I3, I4) using a 4 segment pipeline (S1, S2, S3, S4). </a:t>
            </a:r>
          </a:p>
          <a:p>
            <a:r>
              <a:rPr lang="en-IN" dirty="0" smtClean="0">
                <a:latin typeface="Times New Roman" panose="02020603050405020304" pitchFamily="18" charset="0"/>
                <a:cs typeface="Times New Roman" panose="02020603050405020304" pitchFamily="18" charset="0"/>
              </a:rPr>
              <a:t>In CC4 all the four segments of the pipeline are busy and so the pipeline is full in CC4.</a:t>
            </a:r>
          </a:p>
          <a:p>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rPr>
              <a:t>Linear pipeline processor</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Cascade of processor segments which are linearly connected to perform a fixed function over a stream of data flowing from one end to the other</a:t>
            </a:r>
          </a:p>
          <a:p>
            <a:pPr lvl="0"/>
            <a:r>
              <a:rPr lang="en-IN" dirty="0">
                <a:latin typeface="Times New Roman" panose="02020603050405020304" pitchFamily="18" charset="0"/>
                <a:cs typeface="Times New Roman" panose="02020603050405020304" pitchFamily="18" charset="0"/>
              </a:rPr>
              <a:t>Two linear pipeline model</a:t>
            </a:r>
          </a:p>
          <a:p>
            <a:pPr lvl="0"/>
            <a:r>
              <a:rPr lang="en-IN" dirty="0">
                <a:latin typeface="Times New Roman" panose="02020603050405020304" pitchFamily="18" charset="0"/>
                <a:cs typeface="Times New Roman" panose="02020603050405020304" pitchFamily="18" charset="0"/>
              </a:rPr>
              <a:t>Asynchronous model  (Fig 1 is a 3 segment asynchronous linear  pipeline)</a:t>
            </a:r>
          </a:p>
          <a:p>
            <a:pPr lvl="0"/>
            <a:r>
              <a:rPr lang="en-IN" dirty="0">
                <a:latin typeface="Times New Roman" panose="02020603050405020304" pitchFamily="18" charset="0"/>
                <a:cs typeface="Times New Roman" panose="02020603050405020304" pitchFamily="18" charset="0"/>
              </a:rPr>
              <a:t>Synchronous model  (Fig 2 is a 3 segment synchronous linear  pipeline</a:t>
            </a:r>
            <a:r>
              <a:rPr lang="en-IN" dirty="0" smtClean="0">
                <a:latin typeface="Times New Roman" panose="02020603050405020304" pitchFamily="18" charset="0"/>
                <a:cs typeface="Times New Roman" panose="02020603050405020304" pitchFamily="18" charset="0"/>
              </a:rPr>
              <a:t>)</a:t>
            </a:r>
            <a:endParaRPr lang="en-IN" dirty="0"/>
          </a:p>
        </p:txBody>
      </p:sp>
      <p:sp>
        <p:nvSpPr>
          <p:cNvPr id="3" name="TextBox 2"/>
          <p:cNvSpPr txBox="1"/>
          <p:nvPr/>
        </p:nvSpPr>
        <p:spPr>
          <a:xfrm>
            <a:off x="152140" y="3523061"/>
            <a:ext cx="4604533" cy="3416320"/>
          </a:xfrm>
          <a:prstGeom prst="rect">
            <a:avLst/>
          </a:prstGeom>
          <a:noFill/>
        </p:spPr>
        <p:txBody>
          <a:bodyPr wrap="square" rtlCol="0">
            <a:spAutoFit/>
          </a:bodyPr>
          <a:lstStyle/>
          <a:p>
            <a:r>
              <a:rPr lang="en-IN" u="sng" dirty="0" smtClean="0">
                <a:latin typeface="Times New Roman" panose="02020603050405020304" pitchFamily="18" charset="0"/>
                <a:cs typeface="Times New Roman" panose="02020603050405020304" pitchFamily="18" charset="0"/>
              </a:rPr>
              <a:t>Asynchronous model</a:t>
            </a:r>
            <a:endParaRPr lang="en-IN" dirty="0" smtClean="0">
              <a:latin typeface="Times New Roman" panose="02020603050405020304" pitchFamily="18" charset="0"/>
              <a:cs typeface="Times New Roman" panose="02020603050405020304" pitchFamily="18" charset="0"/>
            </a:endParaRPr>
          </a:p>
          <a:p>
            <a:pPr lvl="0"/>
            <a:r>
              <a:rPr lang="en-IN" dirty="0" smtClean="0">
                <a:latin typeface="Times New Roman" panose="02020603050405020304" pitchFamily="18" charset="0"/>
                <a:cs typeface="Times New Roman" panose="02020603050405020304" pitchFamily="18" charset="0"/>
              </a:rPr>
              <a:t>Data flow between the adjacent segments is controlled by a handshaking protocol</a:t>
            </a:r>
          </a:p>
          <a:p>
            <a:pPr lvl="0"/>
            <a:r>
              <a:rPr lang="en-IN" dirty="0" smtClean="0">
                <a:latin typeface="Times New Roman" panose="02020603050405020304" pitchFamily="18" charset="0"/>
                <a:cs typeface="Times New Roman" panose="02020603050405020304" pitchFamily="18" charset="0"/>
              </a:rPr>
              <a:t>Segment S</a:t>
            </a:r>
            <a:r>
              <a:rPr lang="en-IN" baseline="-25000" dirty="0" smtClean="0">
                <a:latin typeface="Times New Roman" panose="02020603050405020304" pitchFamily="18" charset="0"/>
                <a:cs typeface="Times New Roman" panose="02020603050405020304" pitchFamily="18" charset="0"/>
              </a:rPr>
              <a:t>i</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i</a:t>
            </a:r>
            <a:r>
              <a:rPr lang="en-IN" baseline="30000" dirty="0" err="1" smtClean="0">
                <a:latin typeface="Times New Roman" panose="02020603050405020304" pitchFamily="18" charset="0"/>
                <a:cs typeface="Times New Roman" panose="02020603050405020304" pitchFamily="18" charset="0"/>
              </a:rPr>
              <a:t>th</a:t>
            </a:r>
            <a:r>
              <a:rPr lang="en-IN" dirty="0" smtClean="0">
                <a:latin typeface="Times New Roman" panose="02020603050405020304" pitchFamily="18" charset="0"/>
                <a:cs typeface="Times New Roman" panose="02020603050405020304" pitchFamily="18" charset="0"/>
              </a:rPr>
              <a:t> segment, 1≤i≤3) sends a ready signal (Ready in Fig 1) to segment S</a:t>
            </a:r>
            <a:r>
              <a:rPr lang="en-IN" baseline="-25000" dirty="0" smtClean="0">
                <a:latin typeface="Times New Roman" panose="02020603050405020304" pitchFamily="18" charset="0"/>
                <a:cs typeface="Times New Roman" panose="02020603050405020304" pitchFamily="18" charset="0"/>
              </a:rPr>
              <a:t>i+1 </a:t>
            </a:r>
            <a:r>
              <a:rPr lang="en-IN" dirty="0" smtClean="0">
                <a:latin typeface="Times New Roman" panose="02020603050405020304" pitchFamily="18" charset="0"/>
                <a:cs typeface="Times New Roman" panose="02020603050405020304" pitchFamily="18" charset="0"/>
              </a:rPr>
              <a:t>when ready to transmit</a:t>
            </a:r>
          </a:p>
          <a:p>
            <a:pPr lvl="0"/>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i+1 </a:t>
            </a:r>
            <a:r>
              <a:rPr lang="en-IN" dirty="0" smtClean="0">
                <a:latin typeface="Times New Roman" panose="02020603050405020304" pitchFamily="18" charset="0"/>
                <a:cs typeface="Times New Roman" panose="02020603050405020304" pitchFamily="18" charset="0"/>
              </a:rPr>
              <a:t>returns an acknowledgement signal (</a:t>
            </a:r>
            <a:r>
              <a:rPr lang="en-IN" dirty="0" err="1" smtClean="0">
                <a:latin typeface="Times New Roman" panose="02020603050405020304" pitchFamily="18" charset="0"/>
                <a:cs typeface="Times New Roman" panose="02020603050405020304" pitchFamily="18" charset="0"/>
              </a:rPr>
              <a:t>Ack</a:t>
            </a:r>
            <a:r>
              <a:rPr lang="en-IN" dirty="0" smtClean="0">
                <a:latin typeface="Times New Roman" panose="02020603050405020304" pitchFamily="18" charset="0"/>
                <a:cs typeface="Times New Roman" panose="02020603050405020304" pitchFamily="18" charset="0"/>
              </a:rPr>
              <a:t> in Fig 1) after receiving data (Data in Fig 1) from S</a:t>
            </a:r>
            <a:r>
              <a:rPr lang="en-IN" baseline="-25000" dirty="0" smtClean="0">
                <a:latin typeface="Times New Roman" panose="02020603050405020304" pitchFamily="18" charset="0"/>
                <a:cs typeface="Times New Roman" panose="02020603050405020304" pitchFamily="18" charset="0"/>
              </a:rPr>
              <a:t>i</a:t>
            </a:r>
            <a:endParaRPr lang="en-IN" dirty="0" smtClean="0">
              <a:latin typeface="Times New Roman" panose="02020603050405020304" pitchFamily="18" charset="0"/>
              <a:cs typeface="Times New Roman" panose="02020603050405020304" pitchFamily="18" charset="0"/>
            </a:endParaRPr>
          </a:p>
          <a:p>
            <a:pPr lvl="0"/>
            <a:r>
              <a:rPr lang="en-IN" dirty="0" smtClean="0">
                <a:latin typeface="Times New Roman" panose="02020603050405020304" pitchFamily="18" charset="0"/>
                <a:cs typeface="Times New Roman" panose="02020603050405020304" pitchFamily="18" charset="0"/>
              </a:rPr>
              <a:t>May have a variable throughput rate as different segments of the pipeline has different amount of delay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xmlns="" val="1558602882"/>
              </p:ext>
            </p:extLst>
          </p:nvPr>
        </p:nvGraphicFramePr>
        <p:xfrm>
          <a:off x="7928543" y="3915177"/>
          <a:ext cx="776690" cy="315468"/>
        </p:xfrm>
        <a:graphic>
          <a:graphicData uri="http://schemas.openxmlformats.org/drawingml/2006/table">
            <a:tbl>
              <a:tblPr firstRow="1" firstCol="1" bandRow="1">
                <a:tableStyleId>{5C22544A-7EE6-4342-B048-85BDC9FD1C3A}</a:tableStyleId>
              </a:tblPr>
              <a:tblGrid>
                <a:gridCol w="776690">
                  <a:extLst>
                    <a:ext uri="{9D8B030D-6E8A-4147-A177-3AD203B41FA5}">
                      <a16:colId xmlns:a16="http://schemas.microsoft.com/office/drawing/2014/main" xmlns="" val="2504606985"/>
                    </a:ext>
                  </a:extLst>
                </a:gridCol>
              </a:tblGrid>
              <a:tr h="0">
                <a:tc>
                  <a:txBody>
                    <a:bodyPr/>
                    <a:lstStyle/>
                    <a:p>
                      <a:pPr algn="l">
                        <a:lnSpc>
                          <a:spcPct val="115000"/>
                        </a:lnSpc>
                        <a:spcAft>
                          <a:spcPts val="0"/>
                        </a:spcAft>
                      </a:pPr>
                      <a:r>
                        <a:rPr lang="en-IN" sz="1800" dirty="0">
                          <a:effectLst/>
                        </a:rPr>
                        <a:t>Ready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97125486"/>
                  </a:ext>
                </a:extLst>
              </a:tr>
            </a:tbl>
          </a:graphicData>
        </a:graphic>
      </p:graphicFrame>
      <p:sp>
        <p:nvSpPr>
          <p:cNvPr id="5" name="Text Box 1"/>
          <p:cNvSpPr txBox="1">
            <a:spLocks noChangeArrowheads="1"/>
          </p:cNvSpPr>
          <p:nvPr/>
        </p:nvSpPr>
        <p:spPr bwMode="auto">
          <a:xfrm>
            <a:off x="10182527" y="4499261"/>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S3</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xmlns="" val="1264898584"/>
              </p:ext>
            </p:extLst>
          </p:nvPr>
        </p:nvGraphicFramePr>
        <p:xfrm>
          <a:off x="6714568" y="5369721"/>
          <a:ext cx="587425" cy="315468"/>
        </p:xfrm>
        <a:graphic>
          <a:graphicData uri="http://schemas.openxmlformats.org/drawingml/2006/table">
            <a:tbl>
              <a:tblPr firstRow="1" firstCol="1" bandRow="1">
                <a:tableStyleId>{5C22544A-7EE6-4342-B048-85BDC9FD1C3A}</a:tableStyleId>
              </a:tblPr>
              <a:tblGrid>
                <a:gridCol w="587425">
                  <a:extLst>
                    <a:ext uri="{9D8B030D-6E8A-4147-A177-3AD203B41FA5}">
                      <a16:colId xmlns:a16="http://schemas.microsoft.com/office/drawing/2014/main" xmlns="" val="3332046557"/>
                    </a:ext>
                  </a:extLst>
                </a:gridCol>
              </a:tblGrid>
              <a:tr h="0">
                <a:tc>
                  <a:txBody>
                    <a:bodyPr/>
                    <a:lstStyle/>
                    <a:p>
                      <a:pPr algn="l">
                        <a:lnSpc>
                          <a:spcPct val="115000"/>
                        </a:lnSpc>
                        <a:spcAft>
                          <a:spcPts val="0"/>
                        </a:spcAft>
                      </a:pPr>
                      <a:r>
                        <a:rPr lang="en-IN" sz="1800" dirty="0">
                          <a:effectLst/>
                        </a:rPr>
                        <a:t>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352362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xmlns="" val="1963926038"/>
              </p:ext>
            </p:extLst>
          </p:nvPr>
        </p:nvGraphicFramePr>
        <p:xfrm>
          <a:off x="4828535" y="4583821"/>
          <a:ext cx="709439" cy="315468"/>
        </p:xfrm>
        <a:graphic>
          <a:graphicData uri="http://schemas.openxmlformats.org/drawingml/2006/table">
            <a:tbl>
              <a:tblPr firstRow="1" firstCol="1" bandRow="1">
                <a:tableStyleId>{5C22544A-7EE6-4342-B048-85BDC9FD1C3A}</a:tableStyleId>
              </a:tblPr>
              <a:tblGrid>
                <a:gridCol w="709439">
                  <a:extLst>
                    <a:ext uri="{9D8B030D-6E8A-4147-A177-3AD203B41FA5}">
                      <a16:colId xmlns:a16="http://schemas.microsoft.com/office/drawing/2014/main" xmlns="" val="2858164822"/>
                    </a:ext>
                  </a:extLst>
                </a:gridCol>
              </a:tblGrid>
              <a:tr h="0">
                <a:tc>
                  <a:txBody>
                    <a:bodyPr/>
                    <a:lstStyle/>
                    <a:p>
                      <a:pPr algn="l">
                        <a:lnSpc>
                          <a:spcPct val="115000"/>
                        </a:lnSpc>
                        <a:spcAft>
                          <a:spcPts val="0"/>
                        </a:spcAft>
                      </a:pPr>
                      <a:r>
                        <a:rPr lang="en-IN" sz="1800" dirty="0">
                          <a:effectLst/>
                        </a:rPr>
                        <a:t>Input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81184249"/>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xmlns="" val="2512413173"/>
              </p:ext>
            </p:extLst>
          </p:nvPr>
        </p:nvGraphicFramePr>
        <p:xfrm>
          <a:off x="9363628" y="5369721"/>
          <a:ext cx="696636" cy="315468"/>
        </p:xfrm>
        <a:graphic>
          <a:graphicData uri="http://schemas.openxmlformats.org/drawingml/2006/table">
            <a:tbl>
              <a:tblPr firstRow="1" firstCol="1" bandRow="1">
                <a:tableStyleId>{5C22544A-7EE6-4342-B048-85BDC9FD1C3A}</a:tableStyleId>
              </a:tblPr>
              <a:tblGrid>
                <a:gridCol w="696636">
                  <a:extLst>
                    <a:ext uri="{9D8B030D-6E8A-4147-A177-3AD203B41FA5}">
                      <a16:colId xmlns:a16="http://schemas.microsoft.com/office/drawing/2014/main" xmlns="" val="2783680092"/>
                    </a:ext>
                  </a:extLst>
                </a:gridCol>
              </a:tblGrid>
              <a:tr h="0">
                <a:tc>
                  <a:txBody>
                    <a:bodyPr/>
                    <a:lstStyle/>
                    <a:p>
                      <a:pPr algn="l">
                        <a:lnSpc>
                          <a:spcPct val="115000"/>
                        </a:lnSpc>
                        <a:spcAft>
                          <a:spcPts val="0"/>
                        </a:spcAft>
                      </a:pPr>
                      <a:r>
                        <a:rPr lang="en-IN" sz="1800" dirty="0" err="1">
                          <a:effectLst/>
                        </a:rPr>
                        <a:t>Ack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7430868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xmlns="" val="876004567"/>
              </p:ext>
            </p:extLst>
          </p:nvPr>
        </p:nvGraphicFramePr>
        <p:xfrm>
          <a:off x="11114802" y="4521697"/>
          <a:ext cx="978459" cy="315468"/>
        </p:xfrm>
        <a:graphic>
          <a:graphicData uri="http://schemas.openxmlformats.org/drawingml/2006/table">
            <a:tbl>
              <a:tblPr firstRow="1" firstCol="1" bandRow="1">
                <a:tableStyleId>{5C22544A-7EE6-4342-B048-85BDC9FD1C3A}</a:tableStyleId>
              </a:tblPr>
              <a:tblGrid>
                <a:gridCol w="978459">
                  <a:extLst>
                    <a:ext uri="{9D8B030D-6E8A-4147-A177-3AD203B41FA5}">
                      <a16:colId xmlns:a16="http://schemas.microsoft.com/office/drawing/2014/main" xmlns="" val="887521647"/>
                    </a:ext>
                  </a:extLst>
                </a:gridCol>
              </a:tblGrid>
              <a:tr h="0">
                <a:tc>
                  <a:txBody>
                    <a:bodyPr/>
                    <a:lstStyle/>
                    <a:p>
                      <a:pPr algn="l">
                        <a:lnSpc>
                          <a:spcPct val="115000"/>
                        </a:lnSpc>
                        <a:spcAft>
                          <a:spcPts val="0"/>
                        </a:spcAft>
                      </a:pPr>
                      <a:r>
                        <a:rPr lang="en-IN" sz="1800" dirty="0">
                          <a:effectLst/>
                        </a:rPr>
                        <a:t>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151327284"/>
                  </a:ext>
                </a:extLst>
              </a:tr>
            </a:tbl>
          </a:graphicData>
        </a:graphic>
      </p:graphicFrame>
      <p:sp>
        <p:nvSpPr>
          <p:cNvPr id="10" name="Text Box 1"/>
          <p:cNvSpPr txBox="1">
            <a:spLocks noChangeArrowheads="1"/>
          </p:cNvSpPr>
          <p:nvPr/>
        </p:nvSpPr>
        <p:spPr bwMode="auto">
          <a:xfrm>
            <a:off x="8099277" y="4529957"/>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S2</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11" name="Text Box 1"/>
          <p:cNvSpPr txBox="1">
            <a:spLocks noChangeArrowheads="1"/>
          </p:cNvSpPr>
          <p:nvPr/>
        </p:nvSpPr>
        <p:spPr bwMode="auto">
          <a:xfrm>
            <a:off x="5994602" y="4529957"/>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S1</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cxnSp>
        <p:nvCxnSpPr>
          <p:cNvPr id="12" name="Straight Arrow Connector 11"/>
          <p:cNvCxnSpPr/>
          <p:nvPr/>
        </p:nvCxnSpPr>
        <p:spPr>
          <a:xfrm flipV="1">
            <a:off x="6503044" y="4529957"/>
            <a:ext cx="1596233" cy="2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1" idx="3"/>
          </p:cNvCxnSpPr>
          <p:nvPr/>
        </p:nvCxnSpPr>
        <p:spPr>
          <a:xfrm flipV="1">
            <a:off x="6471086" y="4683927"/>
            <a:ext cx="1648047" cy="3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8597470" y="4687152"/>
            <a:ext cx="1564275" cy="2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8618252" y="4529957"/>
            <a:ext cx="1564275" cy="2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6503044" y="4899289"/>
            <a:ext cx="1596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8565511" y="4850236"/>
            <a:ext cx="1596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4" idx="1"/>
          </p:cNvCxnSpPr>
          <p:nvPr/>
        </p:nvCxnSpPr>
        <p:spPr>
          <a:xfrm flipV="1">
            <a:off x="7008280" y="4072911"/>
            <a:ext cx="920263" cy="477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8705233" y="4212103"/>
            <a:ext cx="695156" cy="317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008280" y="4697543"/>
            <a:ext cx="0" cy="820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7295109" y="4714623"/>
            <a:ext cx="1905321" cy="655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8" idx="1"/>
          </p:cNvCxnSpPr>
          <p:nvPr/>
        </p:nvCxnSpPr>
        <p:spPr>
          <a:xfrm>
            <a:off x="7468411" y="4899289"/>
            <a:ext cx="1895217" cy="628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8" idx="0"/>
          </p:cNvCxnSpPr>
          <p:nvPr/>
        </p:nvCxnSpPr>
        <p:spPr>
          <a:xfrm>
            <a:off x="9711946" y="4856925"/>
            <a:ext cx="0" cy="512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1" idx="1"/>
          </p:cNvCxnSpPr>
          <p:nvPr/>
        </p:nvCxnSpPr>
        <p:spPr>
          <a:xfrm>
            <a:off x="5538811" y="4714623"/>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0659011" y="4641009"/>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297769" y="6181859"/>
            <a:ext cx="71051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77326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163132" y="82404"/>
            <a:ext cx="11861442" cy="2308324"/>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Synchronous model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Uses clocked latches (L in Fig 2) to interface between segments</a:t>
            </a:r>
          </a:p>
          <a:p>
            <a:pPr lvl="0"/>
            <a:r>
              <a:rPr lang="en-IN" dirty="0">
                <a:latin typeface="Times New Roman" panose="02020603050405020304" pitchFamily="18" charset="0"/>
                <a:cs typeface="Times New Roman" panose="02020603050405020304" pitchFamily="18" charset="0"/>
              </a:rPr>
              <a:t>Latches are made with master/slave flip flops to isolate input from output</a:t>
            </a:r>
          </a:p>
          <a:p>
            <a:r>
              <a:rPr lang="en-IN" dirty="0">
                <a:latin typeface="Times New Roman" panose="02020603050405020304" pitchFamily="18" charset="0"/>
                <a:cs typeface="Times New Roman" panose="02020603050405020304" pitchFamily="18" charset="0"/>
              </a:rPr>
              <a:t>[Master is working and receiving input, slave is not working; Slave is working and giving output, master is not working; So input is isolated from output;]</a:t>
            </a:r>
          </a:p>
          <a:p>
            <a:pPr lvl="0"/>
            <a:r>
              <a:rPr lang="en-IN" dirty="0">
                <a:latin typeface="Times New Roman" panose="02020603050405020304" pitchFamily="18" charset="0"/>
                <a:cs typeface="Times New Roman" panose="02020603050405020304" pitchFamily="18" charset="0"/>
              </a:rPr>
              <a:t>All the latches transfer data to the next segment simultaneously at the time of arrival of each clock pulse</a:t>
            </a:r>
          </a:p>
          <a:p>
            <a:pPr lvl="0"/>
            <a:r>
              <a:rPr lang="en-IN" dirty="0">
                <a:latin typeface="Times New Roman" panose="02020603050405020304" pitchFamily="18" charset="0"/>
                <a:cs typeface="Times New Roman" panose="02020603050405020304" pitchFamily="18" charset="0"/>
              </a:rPr>
              <a:t>Pipeline segments are combinational logic </a:t>
            </a:r>
            <a:r>
              <a:rPr lang="en-IN" dirty="0" smtClean="0">
                <a:latin typeface="Times New Roman" panose="02020603050405020304" pitchFamily="18" charset="0"/>
                <a:cs typeface="Times New Roman" panose="02020603050405020304" pitchFamily="18" charset="0"/>
              </a:rPr>
              <a:t>circuits</a:t>
            </a:r>
            <a:endParaRPr lang="en-IN" dirty="0">
              <a:latin typeface="Times New Roman" panose="02020603050405020304" pitchFamily="18" charset="0"/>
              <a:cs typeface="Times New Roman" panose="02020603050405020304" pitchFamily="18" charset="0"/>
            </a:endParaRPr>
          </a:p>
        </p:txBody>
      </p:sp>
      <p:sp>
        <p:nvSpPr>
          <p:cNvPr id="37" name="Text Box 2"/>
          <p:cNvSpPr txBox="1">
            <a:spLocks noChangeArrowheads="1"/>
          </p:cNvSpPr>
          <p:nvPr/>
        </p:nvSpPr>
        <p:spPr bwMode="auto">
          <a:xfrm>
            <a:off x="1466247" y="2969815"/>
            <a:ext cx="31403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a:t>
            </a:r>
            <a:endParaRPr kumimoji="0" lang="en-US"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8" name="Text Box 2"/>
          <p:cNvSpPr txBox="1">
            <a:spLocks noChangeArrowheads="1"/>
          </p:cNvSpPr>
          <p:nvPr/>
        </p:nvSpPr>
        <p:spPr bwMode="auto">
          <a:xfrm>
            <a:off x="3526341" y="2969815"/>
            <a:ext cx="31403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9" name="Text Box 2"/>
          <p:cNvSpPr txBox="1">
            <a:spLocks noChangeArrowheads="1"/>
          </p:cNvSpPr>
          <p:nvPr/>
        </p:nvSpPr>
        <p:spPr bwMode="auto">
          <a:xfrm>
            <a:off x="7200658" y="2969815"/>
            <a:ext cx="31403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a:t>
            </a:r>
            <a:endParaRPr kumimoji="0" lang="en-US"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0" name="Text Box 2"/>
          <p:cNvSpPr txBox="1">
            <a:spLocks noChangeArrowheads="1"/>
          </p:cNvSpPr>
          <p:nvPr/>
        </p:nvSpPr>
        <p:spPr bwMode="auto">
          <a:xfrm>
            <a:off x="5433259" y="2969815"/>
            <a:ext cx="31403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a:t>
            </a:r>
            <a:endParaRPr kumimoji="0" lang="en-US" altLang="en-US"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1" name="Text Box 2"/>
          <p:cNvSpPr txBox="1">
            <a:spLocks noChangeArrowheads="1"/>
          </p:cNvSpPr>
          <p:nvPr/>
        </p:nvSpPr>
        <p:spPr bwMode="auto">
          <a:xfrm>
            <a:off x="6228952" y="2969815"/>
            <a:ext cx="490047"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p>
        </p:txBody>
      </p:sp>
      <p:sp>
        <p:nvSpPr>
          <p:cNvPr id="42" name="Text Box 2"/>
          <p:cNvSpPr txBox="1">
            <a:spLocks noChangeArrowheads="1"/>
          </p:cNvSpPr>
          <p:nvPr/>
        </p:nvSpPr>
        <p:spPr bwMode="auto">
          <a:xfrm>
            <a:off x="4479051" y="2969815"/>
            <a:ext cx="472549"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altLang="en-US" dirty="0" smtClean="0">
                <a:latin typeface="Times New Roman" panose="02020603050405020304" pitchFamily="18" charset="0"/>
                <a:cs typeface="Times New Roman" panose="02020603050405020304" pitchFamily="18" charset="0"/>
              </a:rPr>
              <a:t>S2</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3" name="Text Box 2"/>
          <p:cNvSpPr txBox="1">
            <a:spLocks noChangeArrowheads="1"/>
          </p:cNvSpPr>
          <p:nvPr/>
        </p:nvSpPr>
        <p:spPr bwMode="auto">
          <a:xfrm>
            <a:off x="2510408" y="2969815"/>
            <a:ext cx="442823"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altLang="en-US" dirty="0" smtClean="0">
                <a:latin typeface="Times New Roman" panose="02020603050405020304" pitchFamily="18" charset="0"/>
                <a:cs typeface="Times New Roman" panose="02020603050405020304" pitchFamily="18" charset="0"/>
              </a:rPr>
              <a:t>S1</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3075" name="AutoShape 3"/>
          <p:cNvCxnSpPr>
            <a:cxnSpLocks noChangeShapeType="1"/>
            <a:endCxn id="43" idx="1"/>
          </p:cNvCxnSpPr>
          <p:nvPr/>
        </p:nvCxnSpPr>
        <p:spPr bwMode="auto">
          <a:xfrm>
            <a:off x="1780281" y="3154481"/>
            <a:ext cx="730127" cy="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46" name="AutoShape 3"/>
          <p:cNvCxnSpPr>
            <a:cxnSpLocks noChangeShapeType="1"/>
            <a:endCxn id="42" idx="1"/>
          </p:cNvCxnSpPr>
          <p:nvPr/>
        </p:nvCxnSpPr>
        <p:spPr bwMode="auto">
          <a:xfrm>
            <a:off x="3840375" y="3154481"/>
            <a:ext cx="638676" cy="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48" name="AutoShape 3"/>
          <p:cNvCxnSpPr>
            <a:cxnSpLocks noChangeShapeType="1"/>
            <a:stCxn id="40" idx="3"/>
            <a:endCxn id="41" idx="1"/>
          </p:cNvCxnSpPr>
          <p:nvPr/>
        </p:nvCxnSpPr>
        <p:spPr bwMode="auto">
          <a:xfrm>
            <a:off x="5747293" y="3154481"/>
            <a:ext cx="481659" cy="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1" name="Straight Arrow Connector 50"/>
          <p:cNvCxnSpPr/>
          <p:nvPr/>
        </p:nvCxnSpPr>
        <p:spPr>
          <a:xfrm>
            <a:off x="856971" y="3154481"/>
            <a:ext cx="609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2953231" y="3125734"/>
            <a:ext cx="609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2" idx="3"/>
          </p:cNvCxnSpPr>
          <p:nvPr/>
        </p:nvCxnSpPr>
        <p:spPr>
          <a:xfrm>
            <a:off x="4951600" y="3154481"/>
            <a:ext cx="4816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endCxn id="39" idx="1"/>
          </p:cNvCxnSpPr>
          <p:nvPr/>
        </p:nvCxnSpPr>
        <p:spPr>
          <a:xfrm>
            <a:off x="6718999" y="3151492"/>
            <a:ext cx="481659" cy="2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514692" y="3125734"/>
            <a:ext cx="609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4"/>
          <p:cNvSpPr>
            <a:spLocks noChangeArrowheads="1"/>
          </p:cNvSpPr>
          <p:nvPr/>
        </p:nvSpPr>
        <p:spPr bwMode="auto">
          <a:xfrm>
            <a:off x="1578020" y="3339147"/>
            <a:ext cx="90487" cy="9207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60" name="Oval 4"/>
          <p:cNvSpPr>
            <a:spLocks noChangeArrowheads="1"/>
          </p:cNvSpPr>
          <p:nvPr/>
        </p:nvSpPr>
        <p:spPr bwMode="auto">
          <a:xfrm>
            <a:off x="3617413" y="3342442"/>
            <a:ext cx="90487" cy="9207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61" name="Oval 4"/>
          <p:cNvSpPr>
            <a:spLocks noChangeArrowheads="1"/>
          </p:cNvSpPr>
          <p:nvPr/>
        </p:nvSpPr>
        <p:spPr bwMode="auto">
          <a:xfrm>
            <a:off x="7312431" y="3332893"/>
            <a:ext cx="90487" cy="9207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62" name="Oval 4"/>
          <p:cNvSpPr>
            <a:spLocks noChangeArrowheads="1"/>
          </p:cNvSpPr>
          <p:nvPr/>
        </p:nvSpPr>
        <p:spPr bwMode="auto">
          <a:xfrm>
            <a:off x="5545032" y="3339146"/>
            <a:ext cx="90487" cy="9207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cxnSp>
        <p:nvCxnSpPr>
          <p:cNvPr id="63" name="Straight Connector 62"/>
          <p:cNvCxnSpPr>
            <a:stCxn id="57" idx="4"/>
          </p:cNvCxnSpPr>
          <p:nvPr/>
        </p:nvCxnSpPr>
        <p:spPr>
          <a:xfrm flipH="1">
            <a:off x="1623263" y="3431222"/>
            <a:ext cx="1" cy="265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5585448" y="3434517"/>
            <a:ext cx="1" cy="265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3662656" y="3424968"/>
            <a:ext cx="1" cy="265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7349327" y="3398601"/>
            <a:ext cx="1" cy="265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856971" y="3663616"/>
            <a:ext cx="6500703" cy="3591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9" name="Table 68"/>
          <p:cNvGraphicFramePr>
            <a:graphicFrameLocks noGrp="1"/>
          </p:cNvGraphicFramePr>
          <p:nvPr>
            <p:extLst>
              <p:ext uri="{D42A27DB-BD31-4B8C-83A1-F6EECF244321}">
                <p14:modId xmlns:p14="http://schemas.microsoft.com/office/powerpoint/2010/main" xmlns="" val="3273153725"/>
              </p:ext>
            </p:extLst>
          </p:nvPr>
        </p:nvGraphicFramePr>
        <p:xfrm>
          <a:off x="649413" y="2770875"/>
          <a:ext cx="670349" cy="315468"/>
        </p:xfrm>
        <a:graphic>
          <a:graphicData uri="http://schemas.openxmlformats.org/drawingml/2006/table">
            <a:tbl>
              <a:tblPr firstRow="1" firstCol="1" bandRow="1">
                <a:tableStyleId>{5C22544A-7EE6-4342-B048-85BDC9FD1C3A}</a:tableStyleId>
              </a:tblPr>
              <a:tblGrid>
                <a:gridCol w="670349">
                  <a:extLst>
                    <a:ext uri="{9D8B030D-6E8A-4147-A177-3AD203B41FA5}">
                      <a16:colId xmlns:a16="http://schemas.microsoft.com/office/drawing/2014/main" xmlns="" val="2531075571"/>
                    </a:ext>
                  </a:extLst>
                </a:gridCol>
              </a:tblGrid>
              <a:tr h="0">
                <a:tc>
                  <a:txBody>
                    <a:bodyPr/>
                    <a:lstStyle/>
                    <a:p>
                      <a:pPr algn="l">
                        <a:lnSpc>
                          <a:spcPct val="115000"/>
                        </a:lnSpc>
                        <a:spcAft>
                          <a:spcPts val="0"/>
                        </a:spcAft>
                      </a:pPr>
                      <a:r>
                        <a:rPr lang="en-IN" sz="1800" dirty="0">
                          <a:effectLst/>
                        </a:rPr>
                        <a:t>Input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60308870"/>
                  </a:ext>
                </a:extLst>
              </a:tr>
            </a:tbl>
          </a:graphicData>
        </a:graphic>
      </p:graphicFrame>
      <p:graphicFrame>
        <p:nvGraphicFramePr>
          <p:cNvPr id="71" name="Table 70"/>
          <p:cNvGraphicFramePr>
            <a:graphicFrameLocks noGrp="1"/>
          </p:cNvGraphicFramePr>
          <p:nvPr>
            <p:extLst>
              <p:ext uri="{D42A27DB-BD31-4B8C-83A1-F6EECF244321}">
                <p14:modId xmlns:p14="http://schemas.microsoft.com/office/powerpoint/2010/main" xmlns="" val="1928861993"/>
              </p:ext>
            </p:extLst>
          </p:nvPr>
        </p:nvGraphicFramePr>
        <p:xfrm>
          <a:off x="7661176" y="2748476"/>
          <a:ext cx="916154" cy="315468"/>
        </p:xfrm>
        <a:graphic>
          <a:graphicData uri="http://schemas.openxmlformats.org/drawingml/2006/table">
            <a:tbl>
              <a:tblPr firstRow="1" firstCol="1" bandRow="1">
                <a:tableStyleId>{5C22544A-7EE6-4342-B048-85BDC9FD1C3A}</a:tableStyleId>
              </a:tblPr>
              <a:tblGrid>
                <a:gridCol w="916154">
                  <a:extLst>
                    <a:ext uri="{9D8B030D-6E8A-4147-A177-3AD203B41FA5}">
                      <a16:colId xmlns:a16="http://schemas.microsoft.com/office/drawing/2014/main" xmlns="" val="2531075571"/>
                    </a:ext>
                  </a:extLst>
                </a:gridCol>
              </a:tblGrid>
              <a:tr h="0">
                <a:tc>
                  <a:txBody>
                    <a:bodyPr/>
                    <a:lstStyle/>
                    <a:p>
                      <a:pPr algn="l">
                        <a:lnSpc>
                          <a:spcPct val="115000"/>
                        </a:lnSpc>
                        <a:spcAft>
                          <a:spcPts val="0"/>
                        </a:spcAft>
                      </a:pPr>
                      <a:r>
                        <a:rPr lang="en-IN" sz="1800" dirty="0" smtClean="0">
                          <a:effectLst/>
                        </a:rPr>
                        <a:t>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60308870"/>
                  </a:ext>
                </a:extLst>
              </a:tr>
            </a:tbl>
          </a:graphicData>
        </a:graphic>
      </p:graphicFrame>
      <p:graphicFrame>
        <p:nvGraphicFramePr>
          <p:cNvPr id="72" name="Table 71"/>
          <p:cNvGraphicFramePr>
            <a:graphicFrameLocks noGrp="1"/>
          </p:cNvGraphicFramePr>
          <p:nvPr>
            <p:extLst>
              <p:ext uri="{D42A27DB-BD31-4B8C-83A1-F6EECF244321}">
                <p14:modId xmlns:p14="http://schemas.microsoft.com/office/powerpoint/2010/main" xmlns="" val="1781150447"/>
              </p:ext>
            </p:extLst>
          </p:nvPr>
        </p:nvGraphicFramePr>
        <p:xfrm>
          <a:off x="621914" y="3352919"/>
          <a:ext cx="670349" cy="315468"/>
        </p:xfrm>
        <a:graphic>
          <a:graphicData uri="http://schemas.openxmlformats.org/drawingml/2006/table">
            <a:tbl>
              <a:tblPr firstRow="1" firstCol="1" bandRow="1">
                <a:tableStyleId>{5C22544A-7EE6-4342-B048-85BDC9FD1C3A}</a:tableStyleId>
              </a:tblPr>
              <a:tblGrid>
                <a:gridCol w="670349">
                  <a:extLst>
                    <a:ext uri="{9D8B030D-6E8A-4147-A177-3AD203B41FA5}">
                      <a16:colId xmlns:a16="http://schemas.microsoft.com/office/drawing/2014/main" xmlns="" val="2531075571"/>
                    </a:ext>
                  </a:extLst>
                </a:gridCol>
              </a:tblGrid>
              <a:tr h="0">
                <a:tc>
                  <a:txBody>
                    <a:bodyPr/>
                    <a:lstStyle/>
                    <a:p>
                      <a:pPr algn="l">
                        <a:lnSpc>
                          <a:spcPct val="115000"/>
                        </a:lnSpc>
                        <a:spcAft>
                          <a:spcPts val="0"/>
                        </a:spcAft>
                      </a:pPr>
                      <a:r>
                        <a:rPr lang="en-IN" sz="1800" dirty="0" smtClean="0">
                          <a:effectLst/>
                        </a:rPr>
                        <a:t>Clock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60308870"/>
                  </a:ext>
                </a:extLst>
              </a:tr>
            </a:tbl>
          </a:graphicData>
        </a:graphic>
      </p:graphicFrame>
      <p:graphicFrame>
        <p:nvGraphicFramePr>
          <p:cNvPr id="70" name="Table 69"/>
          <p:cNvGraphicFramePr>
            <a:graphicFrameLocks noGrp="1"/>
          </p:cNvGraphicFramePr>
          <p:nvPr>
            <p:extLst>
              <p:ext uri="{D42A27DB-BD31-4B8C-83A1-F6EECF244321}">
                <p14:modId xmlns:p14="http://schemas.microsoft.com/office/powerpoint/2010/main" xmlns="" val="2253160470"/>
              </p:ext>
            </p:extLst>
          </p:nvPr>
        </p:nvGraphicFramePr>
        <p:xfrm>
          <a:off x="2087503" y="4185626"/>
          <a:ext cx="916544" cy="315468"/>
        </p:xfrm>
        <a:graphic>
          <a:graphicData uri="http://schemas.openxmlformats.org/drawingml/2006/table">
            <a:tbl>
              <a:tblPr firstRow="1" firstCol="1" bandRow="1">
                <a:tableStyleId>{5C22544A-7EE6-4342-B048-85BDC9FD1C3A}</a:tableStyleId>
              </a:tblPr>
              <a:tblGrid>
                <a:gridCol w="916544">
                  <a:extLst>
                    <a:ext uri="{9D8B030D-6E8A-4147-A177-3AD203B41FA5}">
                      <a16:colId xmlns:a16="http://schemas.microsoft.com/office/drawing/2014/main" xmlns="" val="3859692962"/>
                    </a:ext>
                  </a:extLst>
                </a:gridCol>
              </a:tblGrid>
              <a:tr h="0">
                <a:tc>
                  <a:txBody>
                    <a:bodyPr/>
                    <a:lstStyle/>
                    <a:p>
                      <a:pPr algn="l">
                        <a:lnSpc>
                          <a:spcPct val="115000"/>
                        </a:lnSpc>
                        <a:spcAft>
                          <a:spcPts val="0"/>
                        </a:spcAft>
                      </a:pPr>
                      <a:r>
                        <a:rPr lang="en-IN" sz="1800" dirty="0">
                          <a:effectLst/>
                          <a:sym typeface="Symbol" panose="05050102010706020507" pitchFamily="18" charset="2"/>
                        </a:rPr>
                        <a:t></a:t>
                      </a:r>
                      <a:r>
                        <a:rPr lang="en-IN" sz="1800" dirty="0">
                          <a:effectLst/>
                        </a:rPr>
                        <a:t>=</a:t>
                      </a:r>
                      <a:r>
                        <a:rPr lang="en-IN" sz="1800" dirty="0">
                          <a:effectLst/>
                          <a:sym typeface="Symbol" panose="05050102010706020507" pitchFamily="18" charset="2"/>
                        </a:rPr>
                        <a:t></a:t>
                      </a:r>
                      <a:r>
                        <a:rPr lang="en-IN" sz="1800" baseline="-25000" dirty="0" err="1">
                          <a:effectLst/>
                        </a:rPr>
                        <a:t>m</a:t>
                      </a:r>
                      <a:r>
                        <a:rPr lang="en-IN" sz="1800" dirty="0" err="1">
                          <a:effectLst/>
                        </a:rPr>
                        <a:t>+d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732780437"/>
                  </a:ext>
                </a:extLst>
              </a:tr>
            </a:tbl>
          </a:graphicData>
        </a:graphic>
      </p:graphicFrame>
      <p:graphicFrame>
        <p:nvGraphicFramePr>
          <p:cNvPr id="76" name="Table 75"/>
          <p:cNvGraphicFramePr>
            <a:graphicFrameLocks noGrp="1"/>
          </p:cNvGraphicFramePr>
          <p:nvPr>
            <p:extLst>
              <p:ext uri="{D42A27DB-BD31-4B8C-83A1-F6EECF244321}">
                <p14:modId xmlns:p14="http://schemas.microsoft.com/office/powerpoint/2010/main" xmlns="" val="3436829975"/>
              </p:ext>
            </p:extLst>
          </p:nvPr>
        </p:nvGraphicFramePr>
        <p:xfrm>
          <a:off x="2185649" y="3790823"/>
          <a:ext cx="324759" cy="280416"/>
        </p:xfrm>
        <a:graphic>
          <a:graphicData uri="http://schemas.openxmlformats.org/drawingml/2006/table">
            <a:tbl>
              <a:tblPr firstRow="1" firstCol="1" bandRow="1">
                <a:tableStyleId>{5C22544A-7EE6-4342-B048-85BDC9FD1C3A}</a:tableStyleId>
              </a:tblPr>
              <a:tblGrid>
                <a:gridCol w="324759">
                  <a:extLst>
                    <a:ext uri="{9D8B030D-6E8A-4147-A177-3AD203B41FA5}">
                      <a16:colId xmlns:a16="http://schemas.microsoft.com/office/drawing/2014/main" xmlns="" val="2554131267"/>
                    </a:ext>
                  </a:extLst>
                </a:gridCol>
              </a:tblGrid>
              <a:tr h="256207">
                <a:tc>
                  <a:txBody>
                    <a:bodyPr/>
                    <a:lstStyle/>
                    <a:p>
                      <a:pPr algn="l">
                        <a:lnSpc>
                          <a:spcPct val="115000"/>
                        </a:lnSpc>
                        <a:spcAft>
                          <a:spcPts val="0"/>
                        </a:spcAft>
                      </a:pPr>
                      <a:r>
                        <a:rPr lang="en-IN" sz="1600" dirty="0">
                          <a:effectLst/>
                          <a:sym typeface="Symbol" panose="05050102010706020507" pitchFamily="18" charset="2"/>
                        </a:rPr>
                        <a:t></a:t>
                      </a:r>
                      <a:r>
                        <a:rPr lang="en-IN" sz="1600" baseline="-25000" dirty="0">
                          <a:effectLst/>
                        </a:rPr>
                        <a:t>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434419840"/>
                  </a:ext>
                </a:extLst>
              </a:tr>
            </a:tbl>
          </a:graphicData>
        </a:graphic>
      </p:graphicFrame>
      <p:graphicFrame>
        <p:nvGraphicFramePr>
          <p:cNvPr id="79" name="Table 78"/>
          <p:cNvGraphicFramePr>
            <a:graphicFrameLocks noGrp="1"/>
          </p:cNvGraphicFramePr>
          <p:nvPr>
            <p:extLst>
              <p:ext uri="{D42A27DB-BD31-4B8C-83A1-F6EECF244321}">
                <p14:modId xmlns:p14="http://schemas.microsoft.com/office/powerpoint/2010/main" xmlns="" val="294425221"/>
              </p:ext>
            </p:extLst>
          </p:nvPr>
        </p:nvGraphicFramePr>
        <p:xfrm>
          <a:off x="4293827" y="4166363"/>
          <a:ext cx="320376" cy="280416"/>
        </p:xfrm>
        <a:graphic>
          <a:graphicData uri="http://schemas.openxmlformats.org/drawingml/2006/table">
            <a:tbl>
              <a:tblPr firstRow="1" firstCol="1" bandRow="1">
                <a:tableStyleId>{5C22544A-7EE6-4342-B048-85BDC9FD1C3A}</a:tableStyleId>
              </a:tblPr>
              <a:tblGrid>
                <a:gridCol w="320376">
                  <a:extLst>
                    <a:ext uri="{9D8B030D-6E8A-4147-A177-3AD203B41FA5}">
                      <a16:colId xmlns:a16="http://schemas.microsoft.com/office/drawing/2014/main" xmlns="" val="2554131267"/>
                    </a:ext>
                  </a:extLst>
                </a:gridCol>
              </a:tblGrid>
              <a:tr h="0">
                <a:tc>
                  <a:txBody>
                    <a:bodyPr/>
                    <a:lstStyle/>
                    <a:p>
                      <a:pPr algn="l">
                        <a:lnSpc>
                          <a:spcPct val="115000"/>
                        </a:lnSpc>
                        <a:spcAft>
                          <a:spcPts val="0"/>
                        </a:spcAft>
                      </a:pPr>
                      <a:r>
                        <a:rPr lang="en-IN" sz="1600" dirty="0" smtClean="0">
                          <a:effectLst/>
                          <a:sym typeface="Symbol" panose="05050102010706020507" pitchFamily="18" charset="2"/>
                        </a:rPr>
                        <a:t></a:t>
                      </a:r>
                      <a:r>
                        <a:rPr lang="en-IN" sz="1600" baseline="-25000" dirty="0" smtClean="0">
                          <a:effectLst/>
                        </a:rPr>
                        <a:t>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434419840"/>
                  </a:ext>
                </a:extLst>
              </a:tr>
            </a:tbl>
          </a:graphicData>
        </a:graphic>
      </p:graphicFrame>
      <p:graphicFrame>
        <p:nvGraphicFramePr>
          <p:cNvPr id="80" name="Table 79"/>
          <p:cNvGraphicFramePr>
            <a:graphicFrameLocks noGrp="1"/>
          </p:cNvGraphicFramePr>
          <p:nvPr>
            <p:extLst>
              <p:ext uri="{D42A27DB-BD31-4B8C-83A1-F6EECF244321}">
                <p14:modId xmlns:p14="http://schemas.microsoft.com/office/powerpoint/2010/main" xmlns="" val="3039815112"/>
              </p:ext>
            </p:extLst>
          </p:nvPr>
        </p:nvGraphicFramePr>
        <p:xfrm>
          <a:off x="6233666" y="4175578"/>
          <a:ext cx="307811" cy="280416"/>
        </p:xfrm>
        <a:graphic>
          <a:graphicData uri="http://schemas.openxmlformats.org/drawingml/2006/table">
            <a:tbl>
              <a:tblPr firstRow="1" firstCol="1" bandRow="1">
                <a:tableStyleId>{5C22544A-7EE6-4342-B048-85BDC9FD1C3A}</a:tableStyleId>
              </a:tblPr>
              <a:tblGrid>
                <a:gridCol w="307811">
                  <a:extLst>
                    <a:ext uri="{9D8B030D-6E8A-4147-A177-3AD203B41FA5}">
                      <a16:colId xmlns:a16="http://schemas.microsoft.com/office/drawing/2014/main" xmlns="" val="2554131267"/>
                    </a:ext>
                  </a:extLst>
                </a:gridCol>
              </a:tblGrid>
              <a:tr h="0">
                <a:tc>
                  <a:txBody>
                    <a:bodyPr/>
                    <a:lstStyle/>
                    <a:p>
                      <a:pPr algn="l">
                        <a:lnSpc>
                          <a:spcPct val="115000"/>
                        </a:lnSpc>
                        <a:spcAft>
                          <a:spcPts val="0"/>
                        </a:spcAft>
                      </a:pPr>
                      <a:r>
                        <a:rPr lang="en-IN" sz="1600" dirty="0" smtClean="0">
                          <a:effectLst/>
                          <a:sym typeface="Symbol" panose="05050102010706020507" pitchFamily="18" charset="2"/>
                        </a:rPr>
                        <a:t></a:t>
                      </a:r>
                      <a:r>
                        <a:rPr lang="en-IN" sz="1600" baseline="-25000" dirty="0" smtClean="0">
                          <a:effectLst/>
                        </a:rPr>
                        <a:t>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434419840"/>
                  </a:ext>
                </a:extLst>
              </a:tr>
            </a:tbl>
          </a:graphicData>
        </a:graphic>
      </p:graphicFrame>
      <p:cxnSp>
        <p:nvCxnSpPr>
          <p:cNvPr id="3083" name="AutoShape 11"/>
          <p:cNvCxnSpPr>
            <a:cxnSpLocks noChangeShapeType="1"/>
          </p:cNvCxnSpPr>
          <p:nvPr/>
        </p:nvCxnSpPr>
        <p:spPr bwMode="auto">
          <a:xfrm flipV="1">
            <a:off x="1472451" y="3806537"/>
            <a:ext cx="307830" cy="341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3084" name="AutoShape 12"/>
          <p:cNvCxnSpPr>
            <a:cxnSpLocks noChangeShapeType="1"/>
          </p:cNvCxnSpPr>
          <p:nvPr/>
        </p:nvCxnSpPr>
        <p:spPr bwMode="auto">
          <a:xfrm flipV="1">
            <a:off x="1466247" y="3830680"/>
            <a:ext cx="0" cy="259187"/>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88" name="AutoShape 12"/>
          <p:cNvCxnSpPr>
            <a:cxnSpLocks noChangeShapeType="1"/>
          </p:cNvCxnSpPr>
          <p:nvPr/>
        </p:nvCxnSpPr>
        <p:spPr bwMode="auto">
          <a:xfrm flipH="1" flipV="1">
            <a:off x="1763311" y="3806538"/>
            <a:ext cx="16970" cy="283329"/>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2" name="AutoShape 11"/>
          <p:cNvCxnSpPr>
            <a:cxnSpLocks noChangeShapeType="1"/>
          </p:cNvCxnSpPr>
          <p:nvPr/>
        </p:nvCxnSpPr>
        <p:spPr bwMode="auto">
          <a:xfrm flipV="1">
            <a:off x="3532545" y="3795742"/>
            <a:ext cx="307830" cy="341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3" name="AutoShape 12"/>
          <p:cNvCxnSpPr>
            <a:cxnSpLocks noChangeShapeType="1"/>
          </p:cNvCxnSpPr>
          <p:nvPr/>
        </p:nvCxnSpPr>
        <p:spPr bwMode="auto">
          <a:xfrm flipV="1">
            <a:off x="3526341" y="3819885"/>
            <a:ext cx="0" cy="259187"/>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4" name="AutoShape 12"/>
          <p:cNvCxnSpPr>
            <a:cxnSpLocks noChangeShapeType="1"/>
          </p:cNvCxnSpPr>
          <p:nvPr/>
        </p:nvCxnSpPr>
        <p:spPr bwMode="auto">
          <a:xfrm flipH="1" flipV="1">
            <a:off x="3823405" y="3795743"/>
            <a:ext cx="16970" cy="283329"/>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5" name="AutoShape 11"/>
          <p:cNvCxnSpPr>
            <a:cxnSpLocks noChangeShapeType="1"/>
          </p:cNvCxnSpPr>
          <p:nvPr/>
        </p:nvCxnSpPr>
        <p:spPr bwMode="auto">
          <a:xfrm flipV="1">
            <a:off x="5439463" y="3777965"/>
            <a:ext cx="307830" cy="341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6" name="AutoShape 12"/>
          <p:cNvCxnSpPr>
            <a:cxnSpLocks noChangeShapeType="1"/>
          </p:cNvCxnSpPr>
          <p:nvPr/>
        </p:nvCxnSpPr>
        <p:spPr bwMode="auto">
          <a:xfrm flipV="1">
            <a:off x="5433259" y="3802108"/>
            <a:ext cx="0" cy="259187"/>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7" name="AutoShape 12"/>
          <p:cNvCxnSpPr>
            <a:cxnSpLocks noChangeShapeType="1"/>
          </p:cNvCxnSpPr>
          <p:nvPr/>
        </p:nvCxnSpPr>
        <p:spPr bwMode="auto">
          <a:xfrm flipH="1" flipV="1">
            <a:off x="5730323" y="3777966"/>
            <a:ext cx="16970" cy="283329"/>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8" name="AutoShape 11"/>
          <p:cNvCxnSpPr>
            <a:cxnSpLocks noChangeShapeType="1"/>
          </p:cNvCxnSpPr>
          <p:nvPr/>
        </p:nvCxnSpPr>
        <p:spPr bwMode="auto">
          <a:xfrm flipV="1">
            <a:off x="7234277" y="3790823"/>
            <a:ext cx="307830" cy="341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99" name="AutoShape 12"/>
          <p:cNvCxnSpPr>
            <a:cxnSpLocks noChangeShapeType="1"/>
          </p:cNvCxnSpPr>
          <p:nvPr/>
        </p:nvCxnSpPr>
        <p:spPr bwMode="auto">
          <a:xfrm flipV="1">
            <a:off x="7228073" y="3814966"/>
            <a:ext cx="0" cy="259187"/>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100" name="AutoShape 12"/>
          <p:cNvCxnSpPr>
            <a:cxnSpLocks noChangeShapeType="1"/>
          </p:cNvCxnSpPr>
          <p:nvPr/>
        </p:nvCxnSpPr>
        <p:spPr bwMode="auto">
          <a:xfrm flipH="1" flipV="1">
            <a:off x="7525137" y="3790824"/>
            <a:ext cx="16970" cy="283329"/>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86" name="Straight Connector 85"/>
          <p:cNvCxnSpPr/>
          <p:nvPr/>
        </p:nvCxnSpPr>
        <p:spPr>
          <a:xfrm>
            <a:off x="1030310" y="4074153"/>
            <a:ext cx="435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763311" y="4089867"/>
            <a:ext cx="17630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3840375" y="4074153"/>
            <a:ext cx="1592884" cy="4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5730323" y="4061295"/>
            <a:ext cx="14977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7542107" y="4061295"/>
            <a:ext cx="39127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7" name="Table 116"/>
          <p:cNvGraphicFramePr>
            <a:graphicFrameLocks noGrp="1"/>
          </p:cNvGraphicFramePr>
          <p:nvPr>
            <p:extLst>
              <p:ext uri="{D42A27DB-BD31-4B8C-83A1-F6EECF244321}">
                <p14:modId xmlns:p14="http://schemas.microsoft.com/office/powerpoint/2010/main" xmlns="" val="2579236615"/>
              </p:ext>
            </p:extLst>
          </p:nvPr>
        </p:nvGraphicFramePr>
        <p:xfrm>
          <a:off x="8726055" y="5555907"/>
          <a:ext cx="479216" cy="315468"/>
        </p:xfrm>
        <a:graphic>
          <a:graphicData uri="http://schemas.openxmlformats.org/drawingml/2006/table">
            <a:tbl>
              <a:tblPr firstRow="1" firstCol="1" bandRow="1">
                <a:tableStyleId>{5C22544A-7EE6-4342-B048-85BDC9FD1C3A}</a:tableStyleId>
              </a:tblPr>
              <a:tblGrid>
                <a:gridCol w="479216">
                  <a:extLst>
                    <a:ext uri="{9D8B030D-6E8A-4147-A177-3AD203B41FA5}">
                      <a16:colId xmlns:a16="http://schemas.microsoft.com/office/drawing/2014/main" xmlns="" val="3504173318"/>
                    </a:ext>
                  </a:extLst>
                </a:gridCol>
              </a:tblGrid>
              <a:tr h="0">
                <a:tc>
                  <a:txBody>
                    <a:bodyPr/>
                    <a:lstStyle/>
                    <a:p>
                      <a:pPr algn="l">
                        <a:lnSpc>
                          <a:spcPct val="115000"/>
                        </a:lnSpc>
                        <a:spcAft>
                          <a:spcPts val="0"/>
                        </a:spcAft>
                      </a:pPr>
                      <a:r>
                        <a:rPr lang="en-IN" sz="1800" dirty="0">
                          <a:effectLst/>
                        </a:rPr>
                        <a:t>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xmlns="" val="2314431655"/>
                  </a:ext>
                </a:extLst>
              </a:tr>
            </a:tbl>
          </a:graphicData>
        </a:graphic>
      </p:graphicFrame>
      <p:sp>
        <p:nvSpPr>
          <p:cNvPr id="106" name="TextBox 105"/>
          <p:cNvSpPr txBox="1"/>
          <p:nvPr/>
        </p:nvSpPr>
        <p:spPr>
          <a:xfrm>
            <a:off x="7214388" y="3785518"/>
            <a:ext cx="34760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p:txBody>
      </p:sp>
      <p:sp>
        <p:nvSpPr>
          <p:cNvPr id="119" name="TextBox 118"/>
          <p:cNvSpPr txBox="1"/>
          <p:nvPr/>
        </p:nvSpPr>
        <p:spPr>
          <a:xfrm>
            <a:off x="5433258" y="3772545"/>
            <a:ext cx="34760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p:txBody>
      </p:sp>
      <p:sp>
        <p:nvSpPr>
          <p:cNvPr id="120" name="TextBox 119"/>
          <p:cNvSpPr txBox="1"/>
          <p:nvPr/>
        </p:nvSpPr>
        <p:spPr>
          <a:xfrm>
            <a:off x="3543676" y="3763390"/>
            <a:ext cx="34760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p:txBody>
      </p:sp>
      <p:sp>
        <p:nvSpPr>
          <p:cNvPr id="121" name="TextBox 120"/>
          <p:cNvSpPr txBox="1"/>
          <p:nvPr/>
        </p:nvSpPr>
        <p:spPr>
          <a:xfrm>
            <a:off x="1484885" y="3777965"/>
            <a:ext cx="34760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p:txBody>
      </p:sp>
      <p:cxnSp>
        <p:nvCxnSpPr>
          <p:cNvPr id="122" name="Straight Arrow Connector 121"/>
          <p:cNvCxnSpPr>
            <a:stCxn id="76" idx="1"/>
          </p:cNvCxnSpPr>
          <p:nvPr/>
        </p:nvCxnSpPr>
        <p:spPr>
          <a:xfrm flipH="1" flipV="1">
            <a:off x="1744436" y="3922508"/>
            <a:ext cx="441213" cy="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flipH="1" flipV="1">
            <a:off x="5730323" y="4284002"/>
            <a:ext cx="441213" cy="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flipH="1" flipV="1">
            <a:off x="2049236" y="4227308"/>
            <a:ext cx="441213" cy="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flipH="1">
            <a:off x="1466247" y="4331590"/>
            <a:ext cx="679098" cy="2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flipH="1" flipV="1">
            <a:off x="3840375" y="4277830"/>
            <a:ext cx="441213" cy="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76" idx="3"/>
            <a:endCxn id="120" idx="1"/>
          </p:cNvCxnSpPr>
          <p:nvPr/>
        </p:nvCxnSpPr>
        <p:spPr>
          <a:xfrm>
            <a:off x="2510408" y="3931031"/>
            <a:ext cx="1033268" cy="17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V="1">
            <a:off x="2991273" y="4279751"/>
            <a:ext cx="535068" cy="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flipV="1">
            <a:off x="4614203" y="4279751"/>
            <a:ext cx="819055" cy="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p:nvPr/>
        </p:nvCxnSpPr>
        <p:spPr>
          <a:xfrm flipV="1">
            <a:off x="6511934" y="4261305"/>
            <a:ext cx="716139" cy="26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185738" y="4726745"/>
            <a:ext cx="4765862" cy="2031325"/>
          </a:xfrm>
          <a:prstGeom prst="rect">
            <a:avLst/>
          </a:prstGeom>
          <a:noFill/>
        </p:spPr>
        <p:txBody>
          <a:bodyPr wrap="square" rtlCol="0">
            <a:spAutoFit/>
          </a:bodyPr>
          <a:lstStyle/>
          <a:p>
            <a:r>
              <a:rPr lang="en-IN" u="sng" dirty="0" smtClean="0">
                <a:latin typeface="Times New Roman" panose="02020603050405020304" pitchFamily="18" charset="0"/>
                <a:cs typeface="Times New Roman" panose="02020603050405020304" pitchFamily="18" charset="0"/>
              </a:rPr>
              <a:t>Clocking </a:t>
            </a:r>
            <a:r>
              <a:rPr lang="en-IN" u="sng" dirty="0">
                <a:latin typeface="Times New Roman" panose="02020603050405020304" pitchFamily="18" charset="0"/>
                <a:cs typeface="Times New Roman" panose="02020603050405020304" pitchFamily="18" charset="0"/>
              </a:rPr>
              <a:t>and timing signal</a:t>
            </a:r>
            <a:r>
              <a:rPr lang="en-IN" dirty="0">
                <a:latin typeface="Times New Roman" panose="02020603050405020304" pitchFamily="18" charset="0"/>
                <a:cs typeface="Times New Roman" panose="02020603050405020304" pitchFamily="18" charset="0"/>
              </a:rPr>
              <a:t> (shown in Fig 2)</a:t>
            </a:r>
          </a:p>
          <a:p>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=Clock cycle time </a:t>
            </a:r>
          </a:p>
          <a:p>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Time delay of segment S</a:t>
            </a:r>
            <a:r>
              <a:rPr lang="en-IN" baseline="-25000" dirty="0">
                <a:latin typeface="Times New Roman" panose="02020603050405020304" pitchFamily="18" charset="0"/>
                <a:cs typeface="Times New Roman" panose="02020603050405020304" pitchFamily="18" charset="0"/>
              </a:rPr>
              <a:t>i</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 = Latch delay</a:t>
            </a:r>
          </a:p>
          <a:p>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m</a:t>
            </a:r>
            <a:r>
              <a:rPr lang="en-IN" dirty="0">
                <a:latin typeface="Times New Roman" panose="02020603050405020304" pitchFamily="18" charset="0"/>
                <a:cs typeface="Times New Roman" panose="02020603050405020304" pitchFamily="18" charset="0"/>
              </a:rPr>
              <a:t> = Maximum segment delay = max(</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err="1">
                <a:latin typeface="Times New Roman" panose="02020603050405020304" pitchFamily="18" charset="0"/>
                <a:cs typeface="Times New Roman" panose="02020603050405020304" pitchFamily="18" charset="0"/>
              </a:rPr>
              <a:t>m</a:t>
            </a:r>
            <a:r>
              <a:rPr lang="en-IN" dirty="0" err="1">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m</a:t>
            </a:r>
            <a:r>
              <a:rPr lang="en-IN" dirty="0">
                <a:latin typeface="Times New Roman" panose="02020603050405020304" pitchFamily="18" charset="0"/>
                <a:cs typeface="Times New Roman" panose="02020603050405020304" pitchFamily="18" charset="0"/>
              </a:rPr>
              <a:t> is very much greater than d</a:t>
            </a:r>
          </a:p>
          <a:p>
            <a:r>
              <a:rPr lang="en-IN" dirty="0">
                <a:latin typeface="Times New Roman" panose="02020603050405020304" pitchFamily="18" charset="0"/>
                <a:cs typeface="Times New Roman" panose="02020603050405020304" pitchFamily="18" charset="0"/>
              </a:rPr>
              <a:t>f=1/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 Clock frequency </a:t>
            </a:r>
          </a:p>
        </p:txBody>
      </p:sp>
      <p:sp>
        <p:nvSpPr>
          <p:cNvPr id="139" name="TextBox 138"/>
          <p:cNvSpPr txBox="1"/>
          <p:nvPr/>
        </p:nvSpPr>
        <p:spPr>
          <a:xfrm>
            <a:off x="8299938" y="3649845"/>
            <a:ext cx="74461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 2</a:t>
            </a:r>
            <a:endParaRPr lang="en-IN" dirty="0">
              <a:latin typeface="Times New Roman" panose="02020603050405020304" pitchFamily="18" charset="0"/>
              <a:cs typeface="Times New Roman" panose="02020603050405020304" pitchFamily="18" charset="0"/>
            </a:endParaRPr>
          </a:p>
        </p:txBody>
      </p:sp>
      <p:sp>
        <p:nvSpPr>
          <p:cNvPr id="140" name="TextBox 139"/>
          <p:cNvSpPr txBox="1"/>
          <p:nvPr/>
        </p:nvSpPr>
        <p:spPr>
          <a:xfrm>
            <a:off x="6020972" y="4779355"/>
            <a:ext cx="5852160" cy="923330"/>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Example</a:t>
            </a:r>
            <a:r>
              <a:rPr lang="en-IN" dirty="0" smtClean="0">
                <a:latin typeface="Times New Roman" panose="02020603050405020304" pitchFamily="18" charset="0"/>
                <a:cs typeface="Times New Roman" panose="02020603050405020304" pitchFamily="18" charset="0"/>
              </a:rPr>
              <a:t>: A pipeline has 4-segment, S1, S2, S3, S4. S1 takes 2 ns, S2 takes 4 ns, S3 takes 3 ns, S4 takes 5 ns to complete their task. So </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smtClean="0">
                <a:latin typeface="Times New Roman" panose="02020603050405020304" pitchFamily="18" charset="0"/>
                <a:cs typeface="Times New Roman" panose="02020603050405020304" pitchFamily="18" charset="0"/>
              </a:rPr>
              <a:t>m</a:t>
            </a:r>
            <a:r>
              <a:rPr lang="en-IN" dirty="0" smtClean="0">
                <a:latin typeface="Times New Roman" panose="02020603050405020304" pitchFamily="18" charset="0"/>
                <a:cs typeface="Times New Roman" panose="02020603050405020304" pitchFamily="18" charset="0"/>
              </a:rPr>
              <a:t> = max(2, 4, 3, 5) = 5 ns</a:t>
            </a:r>
          </a:p>
        </p:txBody>
      </p:sp>
      <p:cxnSp>
        <p:nvCxnSpPr>
          <p:cNvPr id="74" name="Straight Arrow Connector 73"/>
          <p:cNvCxnSpPr/>
          <p:nvPr/>
        </p:nvCxnSpPr>
        <p:spPr>
          <a:xfrm rot="16200000" flipH="1">
            <a:off x="914401" y="3670662"/>
            <a:ext cx="418011" cy="391886"/>
          </a:xfrm>
          <a:prstGeom prst="straightConnector1">
            <a:avLst/>
          </a:prstGeom>
          <a:ln>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38750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1" y="182880"/>
            <a:ext cx="11493304" cy="1200329"/>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Reservation table</a:t>
            </a:r>
            <a:r>
              <a:rPr lang="en-IN" dirty="0">
                <a:latin typeface="Times New Roman" panose="02020603050405020304" pitchFamily="18" charset="0"/>
                <a:cs typeface="Times New Roman" panose="02020603050405020304" pitchFamily="18" charset="0"/>
              </a:rPr>
              <a:t>: It specifies the utilization pattern of successive segments in a pipeline. The reservation table of a 4 segment pipeline is shown below. Four clock pulses (CC1 to CC4) are needed to complete the execution of a single instruction using this pipeline. The cross mark (X) at the intersection of </a:t>
            </a:r>
            <a:r>
              <a:rPr lang="en-IN" dirty="0" err="1">
                <a:latin typeface="Times New Roman" panose="02020603050405020304" pitchFamily="18" charset="0"/>
                <a:cs typeface="Times New Roman" panose="02020603050405020304" pitchFamily="18" charset="0"/>
              </a:rPr>
              <a:t>i</a:t>
            </a:r>
            <a:r>
              <a:rPr lang="en-IN" baseline="30000" dirty="0" err="1">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row (1≤i≤4) and </a:t>
            </a:r>
            <a:r>
              <a:rPr lang="en-IN" dirty="0" err="1">
                <a:latin typeface="Times New Roman" panose="02020603050405020304" pitchFamily="18" charset="0"/>
                <a:cs typeface="Times New Roman" panose="02020603050405020304" pitchFamily="18" charset="0"/>
              </a:rPr>
              <a:t>j</a:t>
            </a:r>
            <a:r>
              <a:rPr lang="en-IN" baseline="30000" dirty="0" err="1">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column (1≤j≤4) indicates the utilization of </a:t>
            </a:r>
            <a:r>
              <a:rPr lang="en-IN" dirty="0" err="1">
                <a:latin typeface="Times New Roman" panose="02020603050405020304" pitchFamily="18" charset="0"/>
                <a:cs typeface="Times New Roman" panose="02020603050405020304" pitchFamily="18" charset="0"/>
              </a:rPr>
              <a:t>i</a:t>
            </a:r>
            <a:r>
              <a:rPr lang="en-IN" baseline="30000" dirty="0" err="1">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segment (S</a:t>
            </a:r>
            <a:r>
              <a:rPr lang="en-IN" baseline="-25000" dirty="0">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in </a:t>
            </a:r>
            <a:r>
              <a:rPr lang="en-IN" dirty="0" err="1">
                <a:latin typeface="Times New Roman" panose="02020603050405020304" pitchFamily="18" charset="0"/>
                <a:cs typeface="Times New Roman" panose="02020603050405020304" pitchFamily="18" charset="0"/>
              </a:rPr>
              <a:t>j</a:t>
            </a:r>
            <a:r>
              <a:rPr lang="en-IN" baseline="30000" dirty="0" err="1">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clock cycle (</a:t>
            </a:r>
            <a:r>
              <a:rPr lang="en-IN" dirty="0" err="1">
                <a:latin typeface="Times New Roman" panose="02020603050405020304" pitchFamily="18" charset="0"/>
                <a:cs typeface="Times New Roman" panose="02020603050405020304" pitchFamily="18" charset="0"/>
              </a:rPr>
              <a:t>CC</a:t>
            </a:r>
            <a:r>
              <a:rPr lang="en-IN" baseline="-25000" dirty="0" err="1">
                <a:latin typeface="Times New Roman" panose="02020603050405020304" pitchFamily="18" charset="0"/>
                <a:cs typeface="Times New Roman" panose="02020603050405020304" pitchFamily="18" charset="0"/>
              </a:rPr>
              <a:t>j</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xmlns="" val="3547263017"/>
              </p:ext>
            </p:extLst>
          </p:nvPr>
        </p:nvGraphicFramePr>
        <p:xfrm>
          <a:off x="373795" y="1383209"/>
          <a:ext cx="3227534" cy="1577340"/>
        </p:xfrm>
        <a:graphic>
          <a:graphicData uri="http://schemas.openxmlformats.org/drawingml/2006/table">
            <a:tbl>
              <a:tblPr firstRow="1" firstCol="1" bandRow="1">
                <a:tableStyleId>{5C22544A-7EE6-4342-B048-85BDC9FD1C3A}</a:tableStyleId>
              </a:tblPr>
              <a:tblGrid>
                <a:gridCol w="595409">
                  <a:extLst>
                    <a:ext uri="{9D8B030D-6E8A-4147-A177-3AD203B41FA5}">
                      <a16:colId xmlns:a16="http://schemas.microsoft.com/office/drawing/2014/main" xmlns="" val="2163797164"/>
                    </a:ext>
                  </a:extLst>
                </a:gridCol>
                <a:gridCol w="648581">
                  <a:extLst>
                    <a:ext uri="{9D8B030D-6E8A-4147-A177-3AD203B41FA5}">
                      <a16:colId xmlns:a16="http://schemas.microsoft.com/office/drawing/2014/main" xmlns="" val="3995434805"/>
                    </a:ext>
                  </a:extLst>
                </a:gridCol>
                <a:gridCol w="604911">
                  <a:extLst>
                    <a:ext uri="{9D8B030D-6E8A-4147-A177-3AD203B41FA5}">
                      <a16:colId xmlns:a16="http://schemas.microsoft.com/office/drawing/2014/main" xmlns="" val="265215630"/>
                    </a:ext>
                  </a:extLst>
                </a:gridCol>
                <a:gridCol w="647114">
                  <a:extLst>
                    <a:ext uri="{9D8B030D-6E8A-4147-A177-3AD203B41FA5}">
                      <a16:colId xmlns:a16="http://schemas.microsoft.com/office/drawing/2014/main" xmlns="" val="3341969931"/>
                    </a:ext>
                  </a:extLst>
                </a:gridCol>
                <a:gridCol w="731519">
                  <a:extLst>
                    <a:ext uri="{9D8B030D-6E8A-4147-A177-3AD203B41FA5}">
                      <a16:colId xmlns:a16="http://schemas.microsoft.com/office/drawing/2014/main" xmlns="" val="1691491431"/>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38395287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613212446"/>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41500287"/>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808688597"/>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X</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13058279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xmlns="" val="1650070725"/>
              </p:ext>
            </p:extLst>
          </p:nvPr>
        </p:nvGraphicFramePr>
        <p:xfrm>
          <a:off x="4542705" y="1426821"/>
          <a:ext cx="6262444" cy="1577340"/>
        </p:xfrm>
        <a:graphic>
          <a:graphicData uri="http://schemas.openxmlformats.org/drawingml/2006/table">
            <a:tbl>
              <a:tblPr firstRow="1" firstCol="1" bandRow="1">
                <a:tableStyleId>{5C22544A-7EE6-4342-B048-85BDC9FD1C3A}</a:tableStyleId>
              </a:tblPr>
              <a:tblGrid>
                <a:gridCol w="677371">
                  <a:extLst>
                    <a:ext uri="{9D8B030D-6E8A-4147-A177-3AD203B41FA5}">
                      <a16:colId xmlns:a16="http://schemas.microsoft.com/office/drawing/2014/main" xmlns="" val="1252440634"/>
                    </a:ext>
                  </a:extLst>
                </a:gridCol>
                <a:gridCol w="834332">
                  <a:extLst>
                    <a:ext uri="{9D8B030D-6E8A-4147-A177-3AD203B41FA5}">
                      <a16:colId xmlns:a16="http://schemas.microsoft.com/office/drawing/2014/main" xmlns="" val="2674737756"/>
                    </a:ext>
                  </a:extLst>
                </a:gridCol>
                <a:gridCol w="756614">
                  <a:extLst>
                    <a:ext uri="{9D8B030D-6E8A-4147-A177-3AD203B41FA5}">
                      <a16:colId xmlns:a16="http://schemas.microsoft.com/office/drawing/2014/main" xmlns="" val="1289570018"/>
                    </a:ext>
                  </a:extLst>
                </a:gridCol>
                <a:gridCol w="755852">
                  <a:extLst>
                    <a:ext uri="{9D8B030D-6E8A-4147-A177-3AD203B41FA5}">
                      <a16:colId xmlns:a16="http://schemas.microsoft.com/office/drawing/2014/main" xmlns="" val="2130623937"/>
                    </a:ext>
                  </a:extLst>
                </a:gridCol>
                <a:gridCol w="647655">
                  <a:extLst>
                    <a:ext uri="{9D8B030D-6E8A-4147-A177-3AD203B41FA5}">
                      <a16:colId xmlns:a16="http://schemas.microsoft.com/office/drawing/2014/main" xmlns="" val="3994372120"/>
                    </a:ext>
                  </a:extLst>
                </a:gridCol>
                <a:gridCol w="647655">
                  <a:extLst>
                    <a:ext uri="{9D8B030D-6E8A-4147-A177-3AD203B41FA5}">
                      <a16:colId xmlns:a16="http://schemas.microsoft.com/office/drawing/2014/main" xmlns="" val="2404230323"/>
                    </a:ext>
                  </a:extLst>
                </a:gridCol>
                <a:gridCol w="647655">
                  <a:extLst>
                    <a:ext uri="{9D8B030D-6E8A-4147-A177-3AD203B41FA5}">
                      <a16:colId xmlns:a16="http://schemas.microsoft.com/office/drawing/2014/main" xmlns="" val="114294327"/>
                    </a:ext>
                  </a:extLst>
                </a:gridCol>
                <a:gridCol w="647655">
                  <a:extLst>
                    <a:ext uri="{9D8B030D-6E8A-4147-A177-3AD203B41FA5}">
                      <a16:colId xmlns:a16="http://schemas.microsoft.com/office/drawing/2014/main" xmlns="" val="3442869304"/>
                    </a:ext>
                  </a:extLst>
                </a:gridCol>
                <a:gridCol w="647655">
                  <a:extLst>
                    <a:ext uri="{9D8B030D-6E8A-4147-A177-3AD203B41FA5}">
                      <a16:colId xmlns:a16="http://schemas.microsoft.com/office/drawing/2014/main" xmlns="" val="469924641"/>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927360135"/>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8636459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58272700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59790814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I5</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529009438"/>
                  </a:ext>
                </a:extLst>
              </a:tr>
            </a:tbl>
          </a:graphicData>
        </a:graphic>
      </p:graphicFrame>
      <p:sp>
        <p:nvSpPr>
          <p:cNvPr id="5" name="TextBox 4"/>
          <p:cNvSpPr txBox="1"/>
          <p:nvPr/>
        </p:nvSpPr>
        <p:spPr>
          <a:xfrm>
            <a:off x="352698" y="3396047"/>
            <a:ext cx="10802982" cy="1754326"/>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Space time diagram</a:t>
            </a:r>
            <a:r>
              <a:rPr lang="en-IN" dirty="0">
                <a:latin typeface="Times New Roman" panose="02020603050405020304" pitchFamily="18" charset="0"/>
                <a:cs typeface="Times New Roman" panose="02020603050405020304" pitchFamily="18" charset="0"/>
              </a:rPr>
              <a:t>: It is the utilization of spaces in a pipeline (segments in a pipeline) in time (clock cycles). The space time diagram for the execution of 5 independent instructions (I1, I2, I3, I4, I5) using 4 segment pipeline (S1, S2, S3, S4) is shown below.   </a:t>
            </a:r>
            <a:endParaRPr lang="en-IN" dirty="0" smtClean="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 8 (=4+(5-1)) clock cycles are required to complete the execution of 5 instructions using a 4 segment pipeline. Moreover, in CC4 and CC5 all the 4 segments of the pipeline are busy, the pipeline is full and all the segments are executing instructions in overlapping fashion. </a:t>
            </a:r>
          </a:p>
        </p:txBody>
      </p:sp>
    </p:spTree>
    <p:extLst>
      <p:ext uri="{BB962C8B-B14F-4D97-AF65-F5344CB8AC3E}">
        <p14:creationId xmlns:p14="http://schemas.microsoft.com/office/powerpoint/2010/main" xmlns="" val="3712332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754" y="182880"/>
            <a:ext cx="521208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Arithmetic pipeline:  Compute Ai*</a:t>
            </a:r>
            <a:r>
              <a:rPr lang="en-IN" dirty="0" err="1" smtClean="0">
                <a:latin typeface="Times New Roman" pitchFamily="18" charset="0"/>
                <a:cs typeface="Times New Roman" pitchFamily="18" charset="0"/>
              </a:rPr>
              <a:t>Bi+Ci</a:t>
            </a:r>
            <a:r>
              <a:rPr lang="en-IN" dirty="0" smtClean="0">
                <a:latin typeface="Times New Roman" pitchFamily="18" charset="0"/>
                <a:cs typeface="Times New Roman" pitchFamily="18" charset="0"/>
              </a:rPr>
              <a:t> for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 1 to 7 </a:t>
            </a:r>
            <a:endParaRPr lang="en-IN" dirty="0">
              <a:latin typeface="Times New Roman" pitchFamily="18" charset="0"/>
              <a:cs typeface="Times New Roman" pitchFamily="18" charset="0"/>
            </a:endParaRPr>
          </a:p>
        </p:txBody>
      </p:sp>
      <p:sp>
        <p:nvSpPr>
          <p:cNvPr id="3" name="Rectangle 2"/>
          <p:cNvSpPr/>
          <p:nvPr/>
        </p:nvSpPr>
        <p:spPr>
          <a:xfrm>
            <a:off x="444137" y="1018903"/>
            <a:ext cx="496389"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496388" y="1058093"/>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R1</a:t>
            </a:r>
            <a:endParaRPr lang="en-IN" sz="1400" dirty="0">
              <a:latin typeface="Times New Roman" pitchFamily="18" charset="0"/>
              <a:cs typeface="Times New Roman" pitchFamily="18" charset="0"/>
            </a:endParaRPr>
          </a:p>
        </p:txBody>
      </p:sp>
      <p:sp>
        <p:nvSpPr>
          <p:cNvPr id="5" name="Rectangle 4"/>
          <p:cNvSpPr/>
          <p:nvPr/>
        </p:nvSpPr>
        <p:spPr>
          <a:xfrm>
            <a:off x="1223554" y="1001485"/>
            <a:ext cx="496389"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275805" y="1040675"/>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R2</a:t>
            </a:r>
            <a:endParaRPr lang="en-IN" sz="1400" dirty="0">
              <a:latin typeface="Times New Roman" pitchFamily="18" charset="0"/>
              <a:cs typeface="Times New Roman" pitchFamily="18" charset="0"/>
            </a:endParaRPr>
          </a:p>
        </p:txBody>
      </p:sp>
      <p:sp>
        <p:nvSpPr>
          <p:cNvPr id="7" name="Rectangle 6"/>
          <p:cNvSpPr/>
          <p:nvPr/>
        </p:nvSpPr>
        <p:spPr>
          <a:xfrm>
            <a:off x="439782" y="2451462"/>
            <a:ext cx="496389"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92033" y="2490652"/>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R3</a:t>
            </a:r>
            <a:endParaRPr lang="en-IN" sz="1400" dirty="0">
              <a:latin typeface="Times New Roman" pitchFamily="18" charset="0"/>
              <a:cs typeface="Times New Roman" pitchFamily="18" charset="0"/>
            </a:endParaRPr>
          </a:p>
        </p:txBody>
      </p:sp>
      <p:sp>
        <p:nvSpPr>
          <p:cNvPr id="9" name="Rectangle 8"/>
          <p:cNvSpPr/>
          <p:nvPr/>
        </p:nvSpPr>
        <p:spPr>
          <a:xfrm>
            <a:off x="1680755" y="2425337"/>
            <a:ext cx="496389"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0" name="TextBox 9"/>
          <p:cNvSpPr txBox="1"/>
          <p:nvPr/>
        </p:nvSpPr>
        <p:spPr>
          <a:xfrm>
            <a:off x="1733006" y="2464527"/>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R4</a:t>
            </a:r>
            <a:endParaRPr lang="en-IN" sz="1400" dirty="0">
              <a:latin typeface="Times New Roman" pitchFamily="18" charset="0"/>
              <a:cs typeface="Times New Roman" pitchFamily="18" charset="0"/>
            </a:endParaRPr>
          </a:p>
        </p:txBody>
      </p:sp>
      <p:sp>
        <p:nvSpPr>
          <p:cNvPr id="11" name="Rectangle 10"/>
          <p:cNvSpPr/>
          <p:nvPr/>
        </p:nvSpPr>
        <p:spPr>
          <a:xfrm>
            <a:off x="1079862" y="3614057"/>
            <a:ext cx="496389" cy="3215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1132113" y="3653248"/>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R5</a:t>
            </a:r>
            <a:endParaRPr lang="en-IN" sz="1400" dirty="0">
              <a:latin typeface="Times New Roman" pitchFamily="18" charset="0"/>
              <a:cs typeface="Times New Roman" pitchFamily="18" charset="0"/>
            </a:endParaRPr>
          </a:p>
        </p:txBody>
      </p:sp>
      <p:sp>
        <p:nvSpPr>
          <p:cNvPr id="13" name="Rectangle 12"/>
          <p:cNvSpPr/>
          <p:nvPr/>
        </p:nvSpPr>
        <p:spPr>
          <a:xfrm>
            <a:off x="714103" y="1706880"/>
            <a:ext cx="944880"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66354" y="1746071"/>
            <a:ext cx="971006" cy="317860"/>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Multiplier </a:t>
            </a:r>
            <a:endParaRPr lang="en-IN" sz="1400" dirty="0">
              <a:latin typeface="Times New Roman" pitchFamily="18" charset="0"/>
              <a:cs typeface="Times New Roman" pitchFamily="18" charset="0"/>
            </a:endParaRPr>
          </a:p>
        </p:txBody>
      </p:sp>
      <p:sp>
        <p:nvSpPr>
          <p:cNvPr id="17" name="Rectangle 16"/>
          <p:cNvSpPr/>
          <p:nvPr/>
        </p:nvSpPr>
        <p:spPr>
          <a:xfrm>
            <a:off x="971006" y="3021875"/>
            <a:ext cx="661851" cy="3918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1023257" y="3061066"/>
            <a:ext cx="64878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Adder</a:t>
            </a:r>
            <a:endParaRPr lang="en-IN" sz="1400" dirty="0">
              <a:latin typeface="Times New Roman" pitchFamily="18" charset="0"/>
              <a:cs typeface="Times New Roman" pitchFamily="18" charset="0"/>
            </a:endParaRPr>
          </a:p>
        </p:txBody>
      </p:sp>
      <p:sp>
        <p:nvSpPr>
          <p:cNvPr id="19" name="TextBox 18"/>
          <p:cNvSpPr txBox="1"/>
          <p:nvPr/>
        </p:nvSpPr>
        <p:spPr>
          <a:xfrm>
            <a:off x="374468" y="596539"/>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Ai</a:t>
            </a:r>
            <a:endParaRPr lang="en-IN" sz="1400" dirty="0">
              <a:latin typeface="Times New Roman" pitchFamily="18" charset="0"/>
              <a:cs typeface="Times New Roman" pitchFamily="18" charset="0"/>
            </a:endParaRPr>
          </a:p>
        </p:txBody>
      </p:sp>
      <p:sp>
        <p:nvSpPr>
          <p:cNvPr id="20" name="TextBox 19"/>
          <p:cNvSpPr txBox="1"/>
          <p:nvPr/>
        </p:nvSpPr>
        <p:spPr>
          <a:xfrm>
            <a:off x="1467393" y="592185"/>
            <a:ext cx="40494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Bi </a:t>
            </a:r>
            <a:endParaRPr lang="en-IN" sz="1400" dirty="0">
              <a:latin typeface="Times New Roman" pitchFamily="18" charset="0"/>
              <a:cs typeface="Times New Roman" pitchFamily="18" charset="0"/>
            </a:endParaRPr>
          </a:p>
        </p:txBody>
      </p:sp>
      <p:cxnSp>
        <p:nvCxnSpPr>
          <p:cNvPr id="22" name="Straight Arrow Connector 21"/>
          <p:cNvCxnSpPr/>
          <p:nvPr/>
        </p:nvCxnSpPr>
        <p:spPr>
          <a:xfrm rot="5400000">
            <a:off x="450669" y="803366"/>
            <a:ext cx="43107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1269273" y="785949"/>
            <a:ext cx="43107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H="1">
            <a:off x="1145972" y="1511732"/>
            <a:ext cx="1845424" cy="16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024742" y="731522"/>
            <a:ext cx="404949"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Ci</a:t>
            </a:r>
            <a:endParaRPr lang="en-IN" sz="1400" dirty="0">
              <a:latin typeface="Times New Roman" pitchFamily="18" charset="0"/>
              <a:cs typeface="Times New Roman" pitchFamily="18" charset="0"/>
            </a:endParaRPr>
          </a:p>
        </p:txBody>
      </p:sp>
      <p:cxnSp>
        <p:nvCxnSpPr>
          <p:cNvPr id="30" name="Straight Arrow Connector 29"/>
          <p:cNvCxnSpPr>
            <a:stCxn id="4" idx="2"/>
          </p:cNvCxnSpPr>
          <p:nvPr/>
        </p:nvCxnSpPr>
        <p:spPr>
          <a:xfrm rot="16200000" flipH="1">
            <a:off x="620887" y="1443846"/>
            <a:ext cx="384553"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5" idx="2"/>
            <a:endCxn id="14" idx="0"/>
          </p:cNvCxnSpPr>
          <p:nvPr/>
        </p:nvCxnSpPr>
        <p:spPr>
          <a:xfrm rot="5400000">
            <a:off x="1185453" y="1459775"/>
            <a:ext cx="352700" cy="2198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8" idx="0"/>
          </p:cNvCxnSpPr>
          <p:nvPr/>
        </p:nvCxnSpPr>
        <p:spPr>
          <a:xfrm rot="5400000">
            <a:off x="636814" y="2160815"/>
            <a:ext cx="387532" cy="2721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8" idx="3"/>
          </p:cNvCxnSpPr>
          <p:nvPr/>
        </p:nvCxnSpPr>
        <p:spPr>
          <a:xfrm>
            <a:off x="896982" y="2644541"/>
            <a:ext cx="239487" cy="3991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2"/>
          </p:cNvCxnSpPr>
          <p:nvPr/>
        </p:nvCxnSpPr>
        <p:spPr>
          <a:xfrm rot="5400000">
            <a:off x="1615442" y="2704011"/>
            <a:ext cx="200297" cy="4267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8" idx="2"/>
            <a:endCxn id="12" idx="0"/>
          </p:cNvCxnSpPr>
          <p:nvPr/>
        </p:nvCxnSpPr>
        <p:spPr>
          <a:xfrm rot="5400000">
            <a:off x="1198918" y="3504513"/>
            <a:ext cx="284405" cy="13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261258" y="862148"/>
            <a:ext cx="1737360" cy="666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8" name="Oval 47"/>
          <p:cNvSpPr/>
          <p:nvPr/>
        </p:nvSpPr>
        <p:spPr>
          <a:xfrm>
            <a:off x="283030" y="2307771"/>
            <a:ext cx="2081348" cy="61830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949235" y="3500847"/>
            <a:ext cx="788125" cy="5225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p:cNvSpPr txBox="1"/>
          <p:nvPr/>
        </p:nvSpPr>
        <p:spPr>
          <a:xfrm>
            <a:off x="2172787" y="997134"/>
            <a:ext cx="988424"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Segment 1: </a:t>
            </a:r>
          </a:p>
          <a:p>
            <a:r>
              <a:rPr lang="en-IN" sz="1400" dirty="0" smtClean="0">
                <a:latin typeface="Times New Roman" pitchFamily="18" charset="0"/>
                <a:cs typeface="Times New Roman" pitchFamily="18" charset="0"/>
              </a:rPr>
              <a:t>R1</a:t>
            </a:r>
            <a:r>
              <a:rPr lang="en-IN" sz="1400" dirty="0" smtClean="0">
                <a:latin typeface="Times New Roman" pitchFamily="18" charset="0"/>
                <a:cs typeface="Times New Roman" pitchFamily="18" charset="0"/>
                <a:sym typeface="Symbol"/>
              </a:rPr>
              <a:t>Ai</a:t>
            </a:r>
            <a:r>
              <a:rPr lang="en-IN" sz="1400" dirty="0" smtClean="0">
                <a:latin typeface="Times New Roman" pitchFamily="18" charset="0"/>
                <a:cs typeface="Times New Roman" pitchFamily="18" charset="0"/>
              </a:rPr>
              <a:t> </a:t>
            </a:r>
          </a:p>
          <a:p>
            <a:r>
              <a:rPr lang="en-IN" sz="1400" dirty="0" smtClean="0">
                <a:latin typeface="Times New Roman" pitchFamily="18" charset="0"/>
                <a:cs typeface="Times New Roman" pitchFamily="18" charset="0"/>
              </a:rPr>
              <a:t>R2</a:t>
            </a:r>
            <a:r>
              <a:rPr lang="en-IN" sz="1400" dirty="0" smtClean="0">
                <a:latin typeface="Times New Roman" pitchFamily="18" charset="0"/>
                <a:cs typeface="Times New Roman" pitchFamily="18" charset="0"/>
                <a:sym typeface="Symbol"/>
              </a:rPr>
              <a:t>Bi</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sp>
        <p:nvSpPr>
          <p:cNvPr id="51" name="TextBox 50"/>
          <p:cNvSpPr txBox="1"/>
          <p:nvPr/>
        </p:nvSpPr>
        <p:spPr>
          <a:xfrm>
            <a:off x="2159725" y="1676404"/>
            <a:ext cx="1105990"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Segment 2:</a:t>
            </a:r>
          </a:p>
          <a:p>
            <a:r>
              <a:rPr lang="en-IN" sz="1400" dirty="0" smtClean="0">
                <a:latin typeface="Times New Roman" pitchFamily="18" charset="0"/>
                <a:cs typeface="Times New Roman" pitchFamily="18" charset="0"/>
              </a:rPr>
              <a:t>R3</a:t>
            </a:r>
            <a:r>
              <a:rPr lang="en-IN" sz="1400" dirty="0" smtClean="0">
                <a:latin typeface="Times New Roman" pitchFamily="18" charset="0"/>
                <a:cs typeface="Times New Roman" pitchFamily="18" charset="0"/>
                <a:sym typeface="Symbol"/>
              </a:rPr>
              <a:t>R1xR2</a:t>
            </a:r>
            <a:r>
              <a:rPr lang="en-IN" sz="1400" dirty="0" smtClean="0">
                <a:latin typeface="Times New Roman" pitchFamily="18" charset="0"/>
                <a:cs typeface="Times New Roman" pitchFamily="18" charset="0"/>
              </a:rPr>
              <a:t>R4</a:t>
            </a:r>
            <a:r>
              <a:rPr lang="en-IN" sz="1400" dirty="0" smtClean="0">
                <a:latin typeface="Times New Roman" pitchFamily="18" charset="0"/>
                <a:cs typeface="Times New Roman" pitchFamily="18" charset="0"/>
                <a:sym typeface="Symbol"/>
              </a:rPr>
              <a:t>Ci </a:t>
            </a:r>
            <a:endParaRPr lang="en-IN" sz="1400" dirty="0">
              <a:latin typeface="Times New Roman" pitchFamily="18" charset="0"/>
              <a:cs typeface="Times New Roman" pitchFamily="18" charset="0"/>
            </a:endParaRPr>
          </a:p>
        </p:txBody>
      </p:sp>
      <p:sp>
        <p:nvSpPr>
          <p:cNvPr id="52" name="TextBox 51"/>
          <p:cNvSpPr txBox="1"/>
          <p:nvPr/>
        </p:nvSpPr>
        <p:spPr>
          <a:xfrm>
            <a:off x="1532708" y="3570516"/>
            <a:ext cx="100148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Segment 3</a:t>
            </a:r>
            <a:endParaRPr lang="en-IN" sz="1400" dirty="0">
              <a:latin typeface="Times New Roman" pitchFamily="18" charset="0"/>
              <a:cs typeface="Times New Roman" pitchFamily="18" charset="0"/>
            </a:endParaRPr>
          </a:p>
        </p:txBody>
      </p:sp>
      <p:sp>
        <p:nvSpPr>
          <p:cNvPr id="53" name="Rectangle 52"/>
          <p:cNvSpPr/>
          <p:nvPr/>
        </p:nvSpPr>
        <p:spPr>
          <a:xfrm>
            <a:off x="2251166" y="1062445"/>
            <a:ext cx="883920" cy="6226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4" name="Rectangle 53"/>
          <p:cNvSpPr/>
          <p:nvPr/>
        </p:nvSpPr>
        <p:spPr>
          <a:xfrm>
            <a:off x="2246812" y="1737359"/>
            <a:ext cx="883920" cy="6226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5" name="TextBox 54"/>
          <p:cNvSpPr txBox="1"/>
          <p:nvPr/>
        </p:nvSpPr>
        <p:spPr>
          <a:xfrm>
            <a:off x="2233747" y="2834644"/>
            <a:ext cx="1280162"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Segment 3:</a:t>
            </a:r>
          </a:p>
          <a:p>
            <a:r>
              <a:rPr lang="en-IN" sz="1400" dirty="0" smtClean="0">
                <a:latin typeface="Times New Roman" pitchFamily="18" charset="0"/>
                <a:cs typeface="Times New Roman" pitchFamily="18" charset="0"/>
              </a:rPr>
              <a:t>R5</a:t>
            </a:r>
            <a:r>
              <a:rPr lang="en-IN" sz="1400" dirty="0" smtClean="0">
                <a:latin typeface="Times New Roman" pitchFamily="18" charset="0"/>
                <a:cs typeface="Times New Roman" pitchFamily="18" charset="0"/>
                <a:sym typeface="Symbol"/>
              </a:rPr>
              <a:t>AixBi+Ci</a:t>
            </a:r>
            <a:endParaRPr lang="en-IN" sz="1400" dirty="0">
              <a:latin typeface="Times New Roman" pitchFamily="18" charset="0"/>
              <a:cs typeface="Times New Roman" pitchFamily="18" charset="0"/>
            </a:endParaRPr>
          </a:p>
        </p:txBody>
      </p:sp>
      <p:sp>
        <p:nvSpPr>
          <p:cNvPr id="56" name="Rectangle 55"/>
          <p:cNvSpPr/>
          <p:nvPr/>
        </p:nvSpPr>
        <p:spPr>
          <a:xfrm>
            <a:off x="2307772" y="2908662"/>
            <a:ext cx="1166948" cy="4223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Arrow Connector 57"/>
          <p:cNvCxnSpPr>
            <a:endCxn id="53" idx="1"/>
          </p:cNvCxnSpPr>
          <p:nvPr/>
        </p:nvCxnSpPr>
        <p:spPr>
          <a:xfrm>
            <a:off x="2011680" y="1175657"/>
            <a:ext cx="239486" cy="1981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endCxn id="54" idx="1"/>
          </p:cNvCxnSpPr>
          <p:nvPr/>
        </p:nvCxnSpPr>
        <p:spPr>
          <a:xfrm flipV="1">
            <a:off x="1698171" y="2048691"/>
            <a:ext cx="548641" cy="2895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272937" y="2756263"/>
            <a:ext cx="235132" cy="16981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4" name="Table 63"/>
          <p:cNvGraphicFramePr>
            <a:graphicFrameLocks noGrp="1"/>
          </p:cNvGraphicFramePr>
          <p:nvPr/>
        </p:nvGraphicFramePr>
        <p:xfrm>
          <a:off x="3612605" y="562911"/>
          <a:ext cx="7608388" cy="3297104"/>
        </p:xfrm>
        <a:graphic>
          <a:graphicData uri="http://schemas.openxmlformats.org/drawingml/2006/table">
            <a:tbl>
              <a:tblPr firstRow="1" bandRow="1">
                <a:tableStyleId>{5C22544A-7EE6-4342-B048-85BDC9FD1C3A}</a:tableStyleId>
              </a:tblPr>
              <a:tblGrid>
                <a:gridCol w="1312092"/>
                <a:gridCol w="522514"/>
                <a:gridCol w="522515"/>
                <a:gridCol w="953588"/>
                <a:gridCol w="548640"/>
                <a:gridCol w="1280160"/>
                <a:gridCol w="2468879"/>
              </a:tblGrid>
              <a:tr h="368392">
                <a:tc gridSpan="6">
                  <a:txBody>
                    <a:bodyPr/>
                    <a:lstStyle/>
                    <a:p>
                      <a:r>
                        <a:rPr lang="en-IN" dirty="0" smtClean="0">
                          <a:latin typeface="Times New Roman" pitchFamily="18" charset="0"/>
                          <a:cs typeface="Times New Roman" pitchFamily="18" charset="0"/>
                        </a:rPr>
                        <a:t>Content of the registers at different clock cycle</a:t>
                      </a:r>
                      <a:endParaRPr lang="en-IN" dirty="0">
                        <a:latin typeface="Times New Roman" pitchFamily="18" charset="0"/>
                        <a:cs typeface="Times New Roman" pitchFamily="18" charset="0"/>
                      </a:endParaRPr>
                    </a:p>
                  </a:txBody>
                  <a:tcPr/>
                </a:tc>
                <a:tc hMerge="1">
                  <a:txBody>
                    <a:bodyPr/>
                    <a:lstStyle/>
                    <a:p>
                      <a:endParaRPr lang="en-IN" dirty="0">
                        <a:latin typeface="Times New Roman" pitchFamily="18" charset="0"/>
                        <a:cs typeface="Times New Roman" pitchFamily="18" charset="0"/>
                      </a:endParaRPr>
                    </a:p>
                  </a:txBody>
                  <a:tcPr/>
                </a:tc>
                <a:tc hMerge="1">
                  <a:txBody>
                    <a:bodyPr/>
                    <a:lstStyle/>
                    <a:p>
                      <a:endParaRPr lang="en-IN" dirty="0">
                        <a:latin typeface="Times New Roman" pitchFamily="18" charset="0"/>
                        <a:cs typeface="Times New Roman" pitchFamily="18" charset="0"/>
                      </a:endParaRPr>
                    </a:p>
                  </a:txBody>
                  <a:tcPr/>
                </a:tc>
                <a:tc hMerge="1">
                  <a:txBody>
                    <a:bodyPr/>
                    <a:lstStyle/>
                    <a:p>
                      <a:endParaRPr lang="en-IN" dirty="0">
                        <a:latin typeface="Times New Roman" pitchFamily="18" charset="0"/>
                        <a:cs typeface="Times New Roman" pitchFamily="18" charset="0"/>
                      </a:endParaRPr>
                    </a:p>
                  </a:txBody>
                  <a:tcPr/>
                </a:tc>
                <a:tc hMerge="1">
                  <a:txBody>
                    <a:bodyPr/>
                    <a:lstStyle/>
                    <a:p>
                      <a:endParaRPr lang="en-IN" dirty="0">
                        <a:latin typeface="Times New Roman" pitchFamily="18" charset="0"/>
                        <a:cs typeface="Times New Roman" pitchFamily="18" charset="0"/>
                      </a:endParaRPr>
                    </a:p>
                  </a:txBody>
                  <a:tcPr/>
                </a:tc>
                <a:tc hMerge="1">
                  <a:txBody>
                    <a:bodyPr/>
                    <a:lstStyle/>
                    <a:p>
                      <a:endParaRPr lang="en-IN" dirty="0">
                        <a:latin typeface="Times New Roman" pitchFamily="18" charset="0"/>
                        <a:cs typeface="Times New Roman" pitchFamily="18" charset="0"/>
                      </a:endParaRPr>
                    </a:p>
                  </a:txBody>
                  <a:tcPr/>
                </a:tc>
                <a:tc rowSpan="3">
                  <a:txBody>
                    <a:bodyPr/>
                    <a:lstStyle/>
                    <a:p>
                      <a:r>
                        <a:rPr lang="en-IN" sz="1600" dirty="0" smtClean="0">
                          <a:latin typeface="Times New Roman" pitchFamily="18" charset="0"/>
                          <a:cs typeface="Times New Roman" pitchFamily="18" charset="0"/>
                        </a:rPr>
                        <a:t>Computation of first task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=1) is over in 3</a:t>
                      </a:r>
                      <a:r>
                        <a:rPr lang="en-IN" sz="1600" baseline="30000" dirty="0" smtClean="0">
                          <a:latin typeface="Times New Roman" pitchFamily="18" charset="0"/>
                          <a:cs typeface="Times New Roman" pitchFamily="18" charset="0"/>
                        </a:rPr>
                        <a:t>rd</a:t>
                      </a:r>
                      <a:r>
                        <a:rPr lang="en-IN" sz="1600" dirty="0" smtClean="0">
                          <a:latin typeface="Times New Roman" pitchFamily="18" charset="0"/>
                          <a:cs typeface="Times New Roman" pitchFamily="18" charset="0"/>
                        </a:rPr>
                        <a:t> clock cycle</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Computation of 2</a:t>
                      </a:r>
                      <a:r>
                        <a:rPr lang="en-IN" sz="1600" baseline="30000" dirty="0" smtClean="0">
                          <a:latin typeface="Times New Roman" pitchFamily="18" charset="0"/>
                          <a:cs typeface="Times New Roman" pitchFamily="18" charset="0"/>
                        </a:rPr>
                        <a:t>nd</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=2), 3</a:t>
                      </a:r>
                      <a:r>
                        <a:rPr lang="en-IN" sz="1600" baseline="30000" dirty="0" smtClean="0">
                          <a:latin typeface="Times New Roman" pitchFamily="18" charset="0"/>
                          <a:cs typeface="Times New Roman" pitchFamily="18" charset="0"/>
                        </a:rPr>
                        <a:t>rd</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=3), 4</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=4), 5</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=5), 6</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=6), 7</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i</a:t>
                      </a:r>
                      <a:r>
                        <a:rPr lang="en-IN" sz="1600" dirty="0" smtClean="0">
                          <a:latin typeface="Times New Roman" pitchFamily="18" charset="0"/>
                          <a:cs typeface="Times New Roman" pitchFamily="18" charset="0"/>
                        </a:rPr>
                        <a:t>=7) are over in 4</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5</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6</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7</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8</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9</a:t>
                      </a:r>
                      <a:r>
                        <a:rPr lang="en-IN" sz="1600" baseline="30000" dirty="0" smtClean="0">
                          <a:latin typeface="Times New Roman" pitchFamily="18" charset="0"/>
                          <a:cs typeface="Times New Roman" pitchFamily="18" charset="0"/>
                        </a:rPr>
                        <a:t>th</a:t>
                      </a:r>
                      <a:r>
                        <a:rPr lang="en-IN" sz="1600" dirty="0" smtClean="0">
                          <a:latin typeface="Times New Roman" pitchFamily="18" charset="0"/>
                          <a:cs typeface="Times New Roman" pitchFamily="18" charset="0"/>
                        </a:rPr>
                        <a:t> clock cycle respectively </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So total 9 clock cycles are required to complete</a:t>
                      </a:r>
                      <a:r>
                        <a:rPr lang="en-IN" sz="1600" baseline="0" dirty="0" smtClean="0">
                          <a:latin typeface="Times New Roman" pitchFamily="18" charset="0"/>
                          <a:cs typeface="Times New Roman" pitchFamily="18" charset="0"/>
                        </a:rPr>
                        <a:t> the computation using pipeline</a:t>
                      </a:r>
                      <a:endParaRPr lang="en-IN" sz="1600" dirty="0" smtClean="0">
                        <a:latin typeface="Times New Roman" pitchFamily="18" charset="0"/>
                        <a:cs typeface="Times New Roman" pitchFamily="18" charset="0"/>
                      </a:endParaRPr>
                    </a:p>
                  </a:txBody>
                  <a:tcPr/>
                </a:tc>
              </a:tr>
              <a:tr h="368392">
                <a:tc>
                  <a:txBody>
                    <a:bodyPr/>
                    <a:lstStyle/>
                    <a:p>
                      <a:r>
                        <a:rPr lang="en-IN" dirty="0" smtClean="0">
                          <a:latin typeface="Times New Roman" pitchFamily="18" charset="0"/>
                          <a:cs typeface="Times New Roman" pitchFamily="18" charset="0"/>
                        </a:rPr>
                        <a:t>Clock cycle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R2</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R3</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R4</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R5</a:t>
                      </a:r>
                      <a:endParaRPr lang="en-IN" dirty="0">
                        <a:latin typeface="Times New Roman" pitchFamily="18" charset="0"/>
                        <a:cs typeface="Times New Roman" pitchFamily="18" charset="0"/>
                      </a:endParaRPr>
                    </a:p>
                  </a:txBody>
                  <a:tcPr/>
                </a:tc>
                <a:tc vMerge="1">
                  <a:txBody>
                    <a:bodyPr/>
                    <a:lstStyle/>
                    <a:p>
                      <a:endParaRPr lang="en-IN" dirty="0">
                        <a:latin typeface="Times New Roman" pitchFamily="18" charset="0"/>
                        <a:cs typeface="Times New Roman" pitchFamily="18" charset="0"/>
                      </a:endParaRPr>
                    </a:p>
                  </a:txBody>
                  <a:tcPr/>
                </a:tc>
              </a:tr>
              <a:tr h="2543416">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2</a:t>
                      </a:r>
                    </a:p>
                    <a:p>
                      <a:r>
                        <a:rPr lang="en-IN" dirty="0" smtClean="0">
                          <a:latin typeface="Times New Roman" pitchFamily="18" charset="0"/>
                          <a:cs typeface="Times New Roman" pitchFamily="18" charset="0"/>
                        </a:rPr>
                        <a:t>3</a:t>
                      </a:r>
                    </a:p>
                    <a:p>
                      <a:r>
                        <a:rPr lang="en-IN" dirty="0" smtClean="0">
                          <a:latin typeface="Times New Roman" pitchFamily="18" charset="0"/>
                          <a:cs typeface="Times New Roman" pitchFamily="18" charset="0"/>
                        </a:rPr>
                        <a:t>4</a:t>
                      </a:r>
                    </a:p>
                    <a:p>
                      <a:r>
                        <a:rPr lang="en-IN" dirty="0" smtClean="0">
                          <a:latin typeface="Times New Roman" pitchFamily="18" charset="0"/>
                          <a:cs typeface="Times New Roman" pitchFamily="18" charset="0"/>
                        </a:rPr>
                        <a:t>5</a:t>
                      </a:r>
                    </a:p>
                    <a:p>
                      <a:r>
                        <a:rPr lang="en-IN" dirty="0" smtClean="0">
                          <a:latin typeface="Times New Roman" pitchFamily="18" charset="0"/>
                          <a:cs typeface="Times New Roman" pitchFamily="18" charset="0"/>
                        </a:rPr>
                        <a:t>6</a:t>
                      </a:r>
                    </a:p>
                    <a:p>
                      <a:r>
                        <a:rPr lang="en-IN" dirty="0" smtClean="0">
                          <a:latin typeface="Times New Roman" pitchFamily="18" charset="0"/>
                          <a:cs typeface="Times New Roman" pitchFamily="18" charset="0"/>
                        </a:rPr>
                        <a:t>7</a:t>
                      </a:r>
                    </a:p>
                    <a:p>
                      <a:r>
                        <a:rPr lang="en-IN" dirty="0" smtClean="0">
                          <a:latin typeface="Times New Roman" pitchFamily="18" charset="0"/>
                          <a:cs typeface="Times New Roman" pitchFamily="18" charset="0"/>
                        </a:rPr>
                        <a:t>8</a:t>
                      </a:r>
                    </a:p>
                    <a:p>
                      <a:r>
                        <a:rPr lang="en-IN" dirty="0" smtClean="0">
                          <a:latin typeface="Times New Roman" pitchFamily="18" charset="0"/>
                          <a:cs typeface="Times New Roman" pitchFamily="18" charset="0"/>
                        </a:rPr>
                        <a:t>9</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A1</a:t>
                      </a:r>
                    </a:p>
                    <a:p>
                      <a:r>
                        <a:rPr lang="en-IN" dirty="0" smtClean="0">
                          <a:latin typeface="Times New Roman" pitchFamily="18" charset="0"/>
                          <a:cs typeface="Times New Roman" pitchFamily="18" charset="0"/>
                        </a:rPr>
                        <a:t>A2</a:t>
                      </a:r>
                    </a:p>
                    <a:p>
                      <a:r>
                        <a:rPr lang="en-IN" dirty="0" smtClean="0">
                          <a:latin typeface="Times New Roman" pitchFamily="18" charset="0"/>
                          <a:cs typeface="Times New Roman" pitchFamily="18" charset="0"/>
                        </a:rPr>
                        <a:t>A3</a:t>
                      </a:r>
                    </a:p>
                    <a:p>
                      <a:r>
                        <a:rPr lang="en-IN" dirty="0" smtClean="0">
                          <a:latin typeface="Times New Roman" pitchFamily="18" charset="0"/>
                          <a:cs typeface="Times New Roman" pitchFamily="18" charset="0"/>
                        </a:rPr>
                        <a:t>A4</a:t>
                      </a:r>
                    </a:p>
                    <a:p>
                      <a:r>
                        <a:rPr lang="en-IN" dirty="0" smtClean="0">
                          <a:latin typeface="Times New Roman" pitchFamily="18" charset="0"/>
                          <a:cs typeface="Times New Roman" pitchFamily="18" charset="0"/>
                        </a:rPr>
                        <a:t>A5</a:t>
                      </a:r>
                    </a:p>
                    <a:p>
                      <a:r>
                        <a:rPr lang="en-IN" dirty="0" smtClean="0">
                          <a:latin typeface="Times New Roman" pitchFamily="18" charset="0"/>
                          <a:cs typeface="Times New Roman" pitchFamily="18" charset="0"/>
                        </a:rPr>
                        <a:t>A6</a:t>
                      </a:r>
                    </a:p>
                    <a:p>
                      <a:r>
                        <a:rPr lang="en-IN" dirty="0" smtClean="0">
                          <a:latin typeface="Times New Roman" pitchFamily="18" charset="0"/>
                          <a:cs typeface="Times New Roman" pitchFamily="18" charset="0"/>
                        </a:rPr>
                        <a:t>A7</a:t>
                      </a:r>
                    </a:p>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B1</a:t>
                      </a:r>
                    </a:p>
                    <a:p>
                      <a:r>
                        <a:rPr lang="en-IN" dirty="0" smtClean="0">
                          <a:latin typeface="Times New Roman" pitchFamily="18" charset="0"/>
                          <a:cs typeface="Times New Roman" pitchFamily="18" charset="0"/>
                        </a:rPr>
                        <a:t>B2</a:t>
                      </a:r>
                    </a:p>
                    <a:p>
                      <a:r>
                        <a:rPr lang="en-IN" dirty="0" smtClean="0">
                          <a:latin typeface="Times New Roman" pitchFamily="18" charset="0"/>
                          <a:cs typeface="Times New Roman" pitchFamily="18" charset="0"/>
                        </a:rPr>
                        <a:t>B3</a:t>
                      </a:r>
                    </a:p>
                    <a:p>
                      <a:r>
                        <a:rPr lang="en-IN" dirty="0" smtClean="0">
                          <a:latin typeface="Times New Roman" pitchFamily="18" charset="0"/>
                          <a:cs typeface="Times New Roman" pitchFamily="18" charset="0"/>
                        </a:rPr>
                        <a:t>B4</a:t>
                      </a:r>
                    </a:p>
                    <a:p>
                      <a:r>
                        <a:rPr lang="en-IN" dirty="0" smtClean="0">
                          <a:latin typeface="Times New Roman" pitchFamily="18" charset="0"/>
                          <a:cs typeface="Times New Roman" pitchFamily="18" charset="0"/>
                        </a:rPr>
                        <a:t>B5</a:t>
                      </a:r>
                    </a:p>
                    <a:p>
                      <a:r>
                        <a:rPr lang="en-IN" dirty="0" smtClean="0">
                          <a:latin typeface="Times New Roman" pitchFamily="18" charset="0"/>
                          <a:cs typeface="Times New Roman" pitchFamily="18" charset="0"/>
                        </a:rPr>
                        <a:t>B6</a:t>
                      </a:r>
                    </a:p>
                    <a:p>
                      <a:r>
                        <a:rPr lang="en-IN" dirty="0" smtClean="0">
                          <a:latin typeface="Times New Roman" pitchFamily="18" charset="0"/>
                          <a:cs typeface="Times New Roman" pitchFamily="18" charset="0"/>
                        </a:rPr>
                        <a:t>B7</a:t>
                      </a:r>
                    </a:p>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A1*B1</a:t>
                      </a:r>
                    </a:p>
                    <a:p>
                      <a:r>
                        <a:rPr lang="en-IN" dirty="0" smtClean="0">
                          <a:latin typeface="Times New Roman" pitchFamily="18" charset="0"/>
                          <a:cs typeface="Times New Roman" pitchFamily="18" charset="0"/>
                        </a:rPr>
                        <a:t>A2*B2</a:t>
                      </a:r>
                    </a:p>
                    <a:p>
                      <a:r>
                        <a:rPr lang="en-IN" dirty="0" smtClean="0">
                          <a:latin typeface="Times New Roman" pitchFamily="18" charset="0"/>
                          <a:cs typeface="Times New Roman" pitchFamily="18" charset="0"/>
                        </a:rPr>
                        <a:t>A3*B3</a:t>
                      </a:r>
                    </a:p>
                    <a:p>
                      <a:r>
                        <a:rPr lang="en-IN" dirty="0" smtClean="0">
                          <a:latin typeface="Times New Roman" pitchFamily="18" charset="0"/>
                          <a:cs typeface="Times New Roman" pitchFamily="18" charset="0"/>
                        </a:rPr>
                        <a:t>A4*B4</a:t>
                      </a:r>
                    </a:p>
                    <a:p>
                      <a:r>
                        <a:rPr lang="en-IN" dirty="0" smtClean="0">
                          <a:latin typeface="Times New Roman" pitchFamily="18" charset="0"/>
                          <a:cs typeface="Times New Roman" pitchFamily="18" charset="0"/>
                        </a:rPr>
                        <a:t>A5*B5</a:t>
                      </a:r>
                    </a:p>
                    <a:p>
                      <a:r>
                        <a:rPr lang="en-IN" dirty="0" smtClean="0">
                          <a:latin typeface="Times New Roman" pitchFamily="18" charset="0"/>
                          <a:cs typeface="Times New Roman" pitchFamily="18" charset="0"/>
                        </a:rPr>
                        <a:t>A6*B6</a:t>
                      </a:r>
                    </a:p>
                    <a:p>
                      <a:r>
                        <a:rPr lang="en-IN" dirty="0" smtClean="0">
                          <a:latin typeface="Times New Roman" pitchFamily="18" charset="0"/>
                          <a:cs typeface="Times New Roman" pitchFamily="18" charset="0"/>
                        </a:rPr>
                        <a:t>A7*B7</a:t>
                      </a:r>
                    </a:p>
                    <a:p>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C1</a:t>
                      </a:r>
                    </a:p>
                    <a:p>
                      <a:r>
                        <a:rPr lang="en-IN" dirty="0" smtClean="0">
                          <a:latin typeface="Times New Roman" pitchFamily="18" charset="0"/>
                          <a:cs typeface="Times New Roman" pitchFamily="18" charset="0"/>
                        </a:rPr>
                        <a:t>C2</a:t>
                      </a:r>
                    </a:p>
                    <a:p>
                      <a:r>
                        <a:rPr lang="en-IN" dirty="0" smtClean="0">
                          <a:latin typeface="Times New Roman" pitchFamily="18" charset="0"/>
                          <a:cs typeface="Times New Roman" pitchFamily="18" charset="0"/>
                        </a:rPr>
                        <a:t>C3</a:t>
                      </a:r>
                    </a:p>
                    <a:p>
                      <a:r>
                        <a:rPr lang="en-IN" dirty="0" smtClean="0">
                          <a:latin typeface="Times New Roman" pitchFamily="18" charset="0"/>
                          <a:cs typeface="Times New Roman" pitchFamily="18" charset="0"/>
                        </a:rPr>
                        <a:t>C4</a:t>
                      </a:r>
                    </a:p>
                    <a:p>
                      <a:r>
                        <a:rPr lang="en-IN" dirty="0" smtClean="0">
                          <a:latin typeface="Times New Roman" pitchFamily="18" charset="0"/>
                          <a:cs typeface="Times New Roman" pitchFamily="18" charset="0"/>
                        </a:rPr>
                        <a:t>C5</a:t>
                      </a:r>
                    </a:p>
                    <a:p>
                      <a:r>
                        <a:rPr lang="en-IN" dirty="0" smtClean="0">
                          <a:latin typeface="Times New Roman" pitchFamily="18" charset="0"/>
                          <a:cs typeface="Times New Roman" pitchFamily="18" charset="0"/>
                        </a:rPr>
                        <a:t>C6</a:t>
                      </a:r>
                    </a:p>
                    <a:p>
                      <a:r>
                        <a:rPr lang="en-IN" dirty="0" smtClean="0">
                          <a:latin typeface="Times New Roman" pitchFamily="18" charset="0"/>
                          <a:cs typeface="Times New Roman" pitchFamily="18" charset="0"/>
                        </a:rPr>
                        <a:t>C7</a:t>
                      </a:r>
                    </a:p>
                    <a:p>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A1*B1+C1</a:t>
                      </a:r>
                    </a:p>
                    <a:p>
                      <a:r>
                        <a:rPr lang="en-IN" dirty="0" smtClean="0">
                          <a:latin typeface="Times New Roman" pitchFamily="18" charset="0"/>
                          <a:cs typeface="Times New Roman" pitchFamily="18" charset="0"/>
                        </a:rPr>
                        <a:t>A2*B2+C2</a:t>
                      </a:r>
                    </a:p>
                    <a:p>
                      <a:r>
                        <a:rPr lang="en-IN" dirty="0" smtClean="0">
                          <a:latin typeface="Times New Roman" pitchFamily="18" charset="0"/>
                          <a:cs typeface="Times New Roman" pitchFamily="18" charset="0"/>
                        </a:rPr>
                        <a:t>A3*B3+C3</a:t>
                      </a:r>
                    </a:p>
                    <a:p>
                      <a:r>
                        <a:rPr lang="en-IN" dirty="0" smtClean="0">
                          <a:latin typeface="Times New Roman" pitchFamily="18" charset="0"/>
                          <a:cs typeface="Times New Roman" pitchFamily="18" charset="0"/>
                        </a:rPr>
                        <a:t>A4*B4+C4</a:t>
                      </a:r>
                    </a:p>
                    <a:p>
                      <a:r>
                        <a:rPr lang="en-IN" dirty="0" smtClean="0">
                          <a:latin typeface="Times New Roman" pitchFamily="18" charset="0"/>
                          <a:cs typeface="Times New Roman" pitchFamily="18" charset="0"/>
                        </a:rPr>
                        <a:t>A5*B5+C5</a:t>
                      </a:r>
                    </a:p>
                    <a:p>
                      <a:r>
                        <a:rPr lang="en-IN" dirty="0" smtClean="0">
                          <a:latin typeface="Times New Roman" pitchFamily="18" charset="0"/>
                          <a:cs typeface="Times New Roman" pitchFamily="18" charset="0"/>
                        </a:rPr>
                        <a:t>A6*B6+C6</a:t>
                      </a:r>
                    </a:p>
                    <a:p>
                      <a:r>
                        <a:rPr lang="en-IN" dirty="0" smtClean="0">
                          <a:latin typeface="Times New Roman" pitchFamily="18" charset="0"/>
                          <a:cs typeface="Times New Roman" pitchFamily="18" charset="0"/>
                        </a:rPr>
                        <a:t>A7*B7+C7</a:t>
                      </a:r>
                      <a:endParaRPr lang="en-IN" dirty="0">
                        <a:latin typeface="Times New Roman" pitchFamily="18" charset="0"/>
                        <a:cs typeface="Times New Roman" pitchFamily="18" charset="0"/>
                      </a:endParaRPr>
                    </a:p>
                  </a:txBody>
                  <a:tcPr/>
                </a:tc>
                <a:tc vMerge="1">
                  <a:txBody>
                    <a:bodyPr/>
                    <a:lstStyle/>
                    <a:p>
                      <a:endParaRPr lang="en-IN" dirty="0">
                        <a:latin typeface="Times New Roman" pitchFamily="18" charset="0"/>
                        <a:cs typeface="Times New Roman" pitchFamily="18" charset="0"/>
                      </a:endParaRPr>
                    </a:p>
                  </a:txBody>
                  <a:tcPr/>
                </a:tc>
              </a:tr>
            </a:tbl>
          </a:graphicData>
        </a:graphic>
      </p:graphicFrame>
      <p:sp>
        <p:nvSpPr>
          <p:cNvPr id="66" name="TextBox 65"/>
          <p:cNvSpPr txBox="1"/>
          <p:nvPr/>
        </p:nvSpPr>
        <p:spPr>
          <a:xfrm>
            <a:off x="156754" y="4180114"/>
            <a:ext cx="11821886" cy="646331"/>
          </a:xfrm>
          <a:prstGeom prst="rect">
            <a:avLst/>
          </a:prstGeom>
          <a:noFill/>
        </p:spPr>
        <p:txBody>
          <a:bodyPr wrap="square" rtlCol="0">
            <a:spAutoFit/>
          </a:bodyPr>
          <a:lstStyle/>
          <a:p>
            <a:r>
              <a:rPr lang="en-IN" dirty="0" smtClean="0">
                <a:latin typeface="Times New Roman" pitchFamily="18" charset="0"/>
                <a:cs typeface="Times New Roman" pitchFamily="18" charset="0"/>
              </a:rPr>
              <a:t>Computation needs 7*3 (number of tasks*number of segments) clock cycles without pipeline. Hence speedup of the pipeline is (7*3)/(3+(7-1))</a:t>
            </a:r>
            <a:endParaRPr lang="en-IN"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2069" y="313509"/>
            <a:ext cx="11456125" cy="5355312"/>
          </a:xfrm>
          <a:prstGeom prst="rect">
            <a:avLst/>
          </a:prstGeom>
          <a:noFill/>
        </p:spPr>
        <p:txBody>
          <a:bodyPr wrap="square" rtlCol="0">
            <a:spAutoFit/>
          </a:bodyPr>
          <a:lstStyle/>
          <a:p>
            <a:r>
              <a:rPr lang="en-IN" dirty="0" smtClean="0">
                <a:latin typeface="Times New Roman" pitchFamily="18" charset="0"/>
                <a:cs typeface="Times New Roman" pitchFamily="18" charset="0"/>
              </a:rPr>
              <a:t>Instruction pipeline: Basic DLX pipeline. DLX is pronounced as Deluxe. It is a simple load store architecture</a:t>
            </a:r>
          </a:p>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Key Stages of the DLX pipeline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The standard DLX pipeline consists of five stages:</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IF (Instruction Fetch):</a:t>
            </a:r>
            <a:r>
              <a:rPr lang="en-IN" dirty="0" smtClean="0">
                <a:latin typeface="Times New Roman" pitchFamily="18" charset="0"/>
                <a:cs typeface="Times New Roman" pitchFamily="18" charset="0"/>
              </a:rPr>
              <a:t> The instruction is fetched from memory, and the Program Counter (PC) is incremented.</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ID (Instruction Decode/Register Fetch):</a:t>
            </a:r>
            <a:r>
              <a:rPr lang="en-IN" dirty="0" smtClean="0">
                <a:latin typeface="Times New Roman" pitchFamily="18" charset="0"/>
                <a:cs typeface="Times New Roman" pitchFamily="18" charset="0"/>
              </a:rPr>
              <a:t> The instruction is decoded, and operands are read from the register file.</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EX (Execute/Effective Address):</a:t>
            </a:r>
            <a:r>
              <a:rPr lang="en-IN" dirty="0" smtClean="0">
                <a:latin typeface="Times New Roman" pitchFamily="18" charset="0"/>
                <a:cs typeface="Times New Roman" pitchFamily="18" charset="0"/>
              </a:rPr>
              <a:t> The ALU performs operations (arithmetic/logic) or calculates memory addresses.</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MEM (Memory Access):</a:t>
            </a:r>
            <a:r>
              <a:rPr lang="en-IN" dirty="0" smtClean="0">
                <a:latin typeface="Times New Roman" pitchFamily="18" charset="0"/>
                <a:cs typeface="Times New Roman" pitchFamily="18" charset="0"/>
              </a:rPr>
              <a:t> The processor accesses data memory (load/store) or completes branch instructions.</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WB (Write Back):</a:t>
            </a:r>
            <a:r>
              <a:rPr lang="en-IN" dirty="0" smtClean="0">
                <a:latin typeface="Times New Roman" pitchFamily="18" charset="0"/>
                <a:cs typeface="Times New Roman" pitchFamily="18" charset="0"/>
              </a:rPr>
              <a:t> The results of arithmetic, logic, or load instructions are written back to the register file.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Pipelining speedup is the ratio of execution time without pipelining to time with pipelining, measuring performance enhancement.</a:t>
            </a:r>
            <a:endParaRPr lang="en-IN" dirty="0">
              <a:latin typeface="Times New Roman" pitchFamily="18" charset="0"/>
              <a:cs typeface="Times New Roman"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xmlns="" val="2213936936"/>
              </p:ext>
            </p:extLst>
          </p:nvPr>
        </p:nvGraphicFramePr>
        <p:xfrm>
          <a:off x="7389527" y="971808"/>
          <a:ext cx="3361205" cy="315468"/>
        </p:xfrm>
        <a:graphic>
          <a:graphicData uri="http://schemas.openxmlformats.org/drawingml/2006/table">
            <a:tbl>
              <a:tblPr firstRow="1" firstCol="1" bandRow="1">
                <a:tableStyleId>{5C22544A-7EE6-4342-B048-85BDC9FD1C3A}</a:tableStyleId>
              </a:tblPr>
              <a:tblGrid>
                <a:gridCol w="487376">
                  <a:extLst>
                    <a:ext uri="{9D8B030D-6E8A-4147-A177-3AD203B41FA5}">
                      <a16:colId xmlns:a16="http://schemas.microsoft.com/office/drawing/2014/main" xmlns="" val="3113444668"/>
                    </a:ext>
                  </a:extLst>
                </a:gridCol>
                <a:gridCol w="483326">
                  <a:extLst>
                    <a:ext uri="{9D8B030D-6E8A-4147-A177-3AD203B41FA5}">
                      <a16:colId xmlns:a16="http://schemas.microsoft.com/office/drawing/2014/main" xmlns="" val="3424866805"/>
                    </a:ext>
                  </a:extLst>
                </a:gridCol>
                <a:gridCol w="744583">
                  <a:extLst>
                    <a:ext uri="{9D8B030D-6E8A-4147-A177-3AD203B41FA5}">
                      <a16:colId xmlns:a16="http://schemas.microsoft.com/office/drawing/2014/main" xmlns="" val="3945414280"/>
                    </a:ext>
                  </a:extLst>
                </a:gridCol>
                <a:gridCol w="1071154">
                  <a:extLst>
                    <a:ext uri="{9D8B030D-6E8A-4147-A177-3AD203B41FA5}">
                      <a16:colId xmlns:a16="http://schemas.microsoft.com/office/drawing/2014/main" xmlns="" val="2384121260"/>
                    </a:ext>
                  </a:extLst>
                </a:gridCol>
                <a:gridCol w="574766"/>
              </a:tblGrid>
              <a:tr h="0">
                <a:tc>
                  <a:txBody>
                    <a:bodyPr/>
                    <a:lstStyle/>
                    <a:p>
                      <a:pPr>
                        <a:lnSpc>
                          <a:spcPct val="115000"/>
                        </a:lnSpc>
                        <a:spcAft>
                          <a:spcPts val="0"/>
                        </a:spcAft>
                      </a:pPr>
                      <a:r>
                        <a:rPr lang="en-IN" sz="1800" dirty="0" smtClean="0">
                          <a:effectLst/>
                          <a:latin typeface="Times New Roman" panose="02020603050405020304" pitchFamily="18" charset="0"/>
                          <a:cs typeface="Times New Roman" panose="02020603050405020304" pitchFamily="18" charset="0"/>
                        </a:rPr>
                        <a:t>IF</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smtClean="0">
                          <a:effectLst/>
                          <a:latin typeface="Times New Roman" panose="02020603050405020304" pitchFamily="18" charset="0"/>
                          <a:cs typeface="Times New Roman" panose="02020603050405020304" pitchFamily="18" charset="0"/>
                        </a:rPr>
                        <a:t>ID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smtClean="0">
                          <a:effectLst/>
                          <a:latin typeface="Times New Roman" panose="02020603050405020304" pitchFamily="18" charset="0"/>
                          <a:cs typeface="Times New Roman" panose="02020603050405020304" pitchFamily="18" charset="0"/>
                        </a:rPr>
                        <a:t>EX</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smtClean="0">
                          <a:effectLst/>
                          <a:latin typeface="Times New Roman" panose="02020603050405020304" pitchFamily="18" charset="0"/>
                          <a:cs typeface="Times New Roman" panose="02020603050405020304" pitchFamily="18" charset="0"/>
                        </a:rPr>
                        <a:t>MEM</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dirty="0" smtClean="0">
                          <a:effectLst/>
                          <a:latin typeface="Times New Roman" panose="02020603050405020304" pitchFamily="18" charset="0"/>
                          <a:ea typeface="Calibri" panose="020F0502020204030204" pitchFamily="34" charset="0"/>
                          <a:cs typeface="Times New Roman" panose="02020603050405020304" pitchFamily="18" charset="0"/>
                        </a:rPr>
                        <a:t>WB</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24343788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948" y="196948"/>
            <a:ext cx="11830930" cy="258532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Superscalar processor</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Uses multiple independent instruction pipeline, each pipeline consists of multiple segments</a:t>
            </a:r>
          </a:p>
          <a:p>
            <a:pPr lvl="0"/>
            <a:r>
              <a:rPr lang="en-IN" dirty="0">
                <a:latin typeface="Times New Roman" panose="02020603050405020304" pitchFamily="18" charset="0"/>
                <a:cs typeface="Times New Roman" panose="02020603050405020304" pitchFamily="18" charset="0"/>
              </a:rPr>
              <a:t>Fetches multiple instructions at a time, then attempts to find nearby instructions that are independent on one another for parallel execution using multiple pipeline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Example: In the following example the superscalar processor has two independent instruction pipelines (Pipeline 1, Pipeline 2). Each pipeline has 4 segments (S1, S2, S3, S4). Such a processor has degree 2 as it can issue two independent instructions in each clock cycle i.e. 2 independent instructions can enter into 2 pipelines (Pipeline 1, Pipeline 2) in each clock cycle</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V="1">
            <a:off x="3004457" y="3416179"/>
            <a:ext cx="2452895" cy="62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extLst>
              <p:ext uri="{D42A27DB-BD31-4B8C-83A1-F6EECF244321}">
                <p14:modId xmlns:p14="http://schemas.microsoft.com/office/powerpoint/2010/main" xmlns="" val="829224368"/>
              </p:ext>
            </p:extLst>
          </p:nvPr>
        </p:nvGraphicFramePr>
        <p:xfrm>
          <a:off x="5418165" y="3318474"/>
          <a:ext cx="982635" cy="490728"/>
        </p:xfrm>
        <a:graphic>
          <a:graphicData uri="http://schemas.openxmlformats.org/drawingml/2006/table">
            <a:tbl>
              <a:tblPr firstRow="1" firstCol="1" bandRow="1">
                <a:tableStyleId>{5C22544A-7EE6-4342-B048-85BDC9FD1C3A}</a:tableStyleId>
              </a:tblPr>
              <a:tblGrid>
                <a:gridCol w="982635">
                  <a:extLst>
                    <a:ext uri="{9D8B030D-6E8A-4147-A177-3AD203B41FA5}">
                      <a16:colId xmlns:a16="http://schemas.microsoft.com/office/drawing/2014/main" xmlns="" val="478601529"/>
                    </a:ext>
                  </a:extLst>
                </a:gridCol>
              </a:tblGrid>
              <a:tr h="0">
                <a:tc>
                  <a:txBody>
                    <a:bodyPr/>
                    <a:lstStyle/>
                    <a:p>
                      <a:pPr algn="just">
                        <a:lnSpc>
                          <a:spcPct val="115000"/>
                        </a:lnSpc>
                        <a:spcAft>
                          <a:spcPts val="0"/>
                        </a:spcAft>
                      </a:pPr>
                      <a:r>
                        <a:rPr lang="en-IN" sz="1400" dirty="0">
                          <a:effectLst/>
                          <a:latin typeface="Times New Roman" panose="02020603050405020304" pitchFamily="18" charset="0"/>
                          <a:cs typeface="Times New Roman" panose="02020603050405020304" pitchFamily="18" charset="0"/>
                        </a:rPr>
                        <a:t>Pipeline 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23189696"/>
                  </a:ext>
                </a:extLst>
              </a:tr>
              <a:tr h="0">
                <a:tc>
                  <a:txBody>
                    <a:bodyPr/>
                    <a:lstStyle/>
                    <a:p>
                      <a:pPr algn="just">
                        <a:lnSpc>
                          <a:spcPct val="115000"/>
                        </a:lnSpc>
                        <a:spcAft>
                          <a:spcPts val="0"/>
                        </a:spcAft>
                      </a:pPr>
                      <a:r>
                        <a:rPr lang="en-IN" sz="1400" dirty="0">
                          <a:effectLst/>
                          <a:latin typeface="Times New Roman" panose="02020603050405020304" pitchFamily="18" charset="0"/>
                          <a:cs typeface="Times New Roman" panose="02020603050405020304" pitchFamily="18" charset="0"/>
                        </a:rPr>
                        <a:t>Pipeline 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42375586"/>
                  </a:ext>
                </a:extLst>
              </a:tr>
            </a:tbl>
          </a:graphicData>
        </a:graphic>
      </p:graphicFrame>
      <p:sp>
        <p:nvSpPr>
          <p:cNvPr id="14" name="TextBox 13"/>
          <p:cNvSpPr txBox="1"/>
          <p:nvPr/>
        </p:nvSpPr>
        <p:spPr>
          <a:xfrm>
            <a:off x="6518366" y="2782271"/>
            <a:ext cx="5509512" cy="397031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Example of dependent and independent instruction:</a:t>
            </a:r>
          </a:p>
          <a:p>
            <a:r>
              <a:rPr lang="en-IN" dirty="0">
                <a:latin typeface="Times New Roman" panose="02020603050405020304" pitchFamily="18" charset="0"/>
                <a:cs typeface="Times New Roman" panose="02020603050405020304" pitchFamily="18" charset="0"/>
              </a:rPr>
              <a:t>I1: ADD R1, R2</a:t>
            </a:r>
          </a:p>
          <a:p>
            <a:r>
              <a:rPr lang="en-IN" dirty="0">
                <a:latin typeface="Times New Roman" panose="02020603050405020304" pitchFamily="18" charset="0"/>
                <a:cs typeface="Times New Roman" panose="02020603050405020304" pitchFamily="18" charset="0"/>
              </a:rPr>
              <a:t>I2: SUB R1, R3</a:t>
            </a:r>
          </a:p>
          <a:p>
            <a:r>
              <a:rPr lang="en-IN" dirty="0">
                <a:latin typeface="Times New Roman" panose="02020603050405020304" pitchFamily="18" charset="0"/>
                <a:cs typeface="Times New Roman" panose="02020603050405020304" pitchFamily="18" charset="0"/>
              </a:rPr>
              <a:t>Here the instruction I1 modifies R1 during addition operation and the instruction I2 uses the modified R1 during subtraction operation. So I1 and I2 are dependent instructions. The execution of I2 can be started only after the completion of execution of I1. So the above superscalar processor can't issue I1 </a:t>
            </a:r>
            <a:r>
              <a:rPr lang="en-IN" dirty="0" smtClean="0">
                <a:latin typeface="Times New Roman" panose="02020603050405020304" pitchFamily="18" charset="0"/>
                <a:cs typeface="Times New Roman" panose="02020603050405020304" pitchFamily="18" charset="0"/>
              </a:rPr>
              <a:t>and </a:t>
            </a:r>
            <a:r>
              <a:rPr lang="en-IN" dirty="0">
                <a:latin typeface="Times New Roman" panose="02020603050405020304" pitchFamily="18" charset="0"/>
                <a:cs typeface="Times New Roman" panose="02020603050405020304" pitchFamily="18" charset="0"/>
              </a:rPr>
              <a:t>I2 in the same clock cycle.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But </a:t>
            </a:r>
            <a:r>
              <a:rPr lang="en-IN" dirty="0">
                <a:latin typeface="Times New Roman" panose="02020603050405020304" pitchFamily="18" charset="0"/>
                <a:cs typeface="Times New Roman" panose="02020603050405020304" pitchFamily="18" charset="0"/>
              </a:rPr>
              <a:t>if I2 is SUB R3, R4 then I2 becomes independent on I1 and can be executed simultaneously with I1 using 2 independent pipelines (Pipeline 1, Pipeline 2) in the above superscalar processor</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xmlns="" val="837097775"/>
              </p:ext>
            </p:extLst>
          </p:nvPr>
        </p:nvGraphicFramePr>
        <p:xfrm>
          <a:off x="352695" y="2963330"/>
          <a:ext cx="4493625" cy="2523073"/>
        </p:xfrm>
        <a:graphic>
          <a:graphicData uri="http://schemas.openxmlformats.org/drawingml/2006/table">
            <a:tbl>
              <a:tblPr firstRow="1" firstCol="1" bandRow="1">
                <a:tableStyleId>{5C22544A-7EE6-4342-B048-85BDC9FD1C3A}</a:tableStyleId>
              </a:tblPr>
              <a:tblGrid>
                <a:gridCol w="603796">
                  <a:extLst>
                    <a:ext uri="{9D8B030D-6E8A-4147-A177-3AD203B41FA5}">
                      <a16:colId xmlns:a16="http://schemas.microsoft.com/office/drawing/2014/main" xmlns="" val="4192025306"/>
                    </a:ext>
                  </a:extLst>
                </a:gridCol>
                <a:gridCol w="661852">
                  <a:extLst>
                    <a:ext uri="{9D8B030D-6E8A-4147-A177-3AD203B41FA5}">
                      <a16:colId xmlns:a16="http://schemas.microsoft.com/office/drawing/2014/main" xmlns="" val="3128509317"/>
                    </a:ext>
                  </a:extLst>
                </a:gridCol>
                <a:gridCol w="673462">
                  <a:extLst>
                    <a:ext uri="{9D8B030D-6E8A-4147-A177-3AD203B41FA5}">
                      <a16:colId xmlns:a16="http://schemas.microsoft.com/office/drawing/2014/main" xmlns="" val="4272031384"/>
                    </a:ext>
                  </a:extLst>
                </a:gridCol>
                <a:gridCol w="708298">
                  <a:extLst>
                    <a:ext uri="{9D8B030D-6E8A-4147-A177-3AD203B41FA5}">
                      <a16:colId xmlns:a16="http://schemas.microsoft.com/office/drawing/2014/main" xmlns="" val="3802333481"/>
                    </a:ext>
                  </a:extLst>
                </a:gridCol>
                <a:gridCol w="638628">
                  <a:extLst>
                    <a:ext uri="{9D8B030D-6E8A-4147-A177-3AD203B41FA5}">
                      <a16:colId xmlns:a16="http://schemas.microsoft.com/office/drawing/2014/main" xmlns="" val="1741827552"/>
                    </a:ext>
                  </a:extLst>
                </a:gridCol>
                <a:gridCol w="1207589"/>
              </a:tblGrid>
              <a:tr h="360439">
                <a:tc>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CC1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CC2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a:effectLst/>
                          <a:latin typeface="Times New Roman" panose="02020603050405020304" pitchFamily="18" charset="0"/>
                          <a:cs typeface="Times New Roman" panose="02020603050405020304" pitchFamily="18" charset="0"/>
                        </a:rPr>
                        <a:t>CC3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a:effectLst/>
                          <a:latin typeface="Times New Roman" panose="02020603050405020304" pitchFamily="18" charset="0"/>
                          <a:cs typeface="Times New Roman" panose="02020603050405020304" pitchFamily="18" charset="0"/>
                        </a:rPr>
                        <a:t>CC4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a:effectLst/>
                          <a:latin typeface="Times New Roman" panose="02020603050405020304" pitchFamily="18" charset="0"/>
                          <a:cs typeface="Times New Roman" panose="02020603050405020304" pitchFamily="18" charset="0"/>
                        </a:rPr>
                        <a:t>CC5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CC6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186565098"/>
                  </a:ext>
                </a:extLst>
              </a:tr>
              <a:tr h="360439">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S1(I1)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rowSpan="2" gridSpan="2">
                  <a:txBody>
                    <a:bodyPr/>
                    <a:lstStyle/>
                    <a:p>
                      <a:pPr>
                        <a:lnSpc>
                          <a:spcPct val="115000"/>
                        </a:lnSpc>
                        <a:spcAft>
                          <a:spcPts val="0"/>
                        </a:spcAft>
                      </a:pP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rowSpan="2" hMerge="1">
                  <a:txBody>
                    <a:bodyPr/>
                    <a:lstStyle/>
                    <a:p>
                      <a:endParaRPr lang="en-IN"/>
                    </a:p>
                  </a:txBody>
                  <a:tcPr/>
                </a:tc>
                <a:extLst>
                  <a:ext uri="{0D108BD9-81ED-4DB2-BD59-A6C34878D82A}">
                    <a16:rowId xmlns:a16="http://schemas.microsoft.com/office/drawing/2014/main" xmlns="" val="763836017"/>
                  </a:ext>
                </a:extLst>
              </a:tr>
              <a:tr h="360439">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S1(I2)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vMerge="1">
                  <a:txBody>
                    <a:bodyPr/>
                    <a:lstStyle/>
                    <a:p>
                      <a:endParaRPr lang="en-IN"/>
                    </a:p>
                  </a:txBody>
                  <a:tcPr/>
                </a:tc>
                <a:tc hMerge="1" vMerge="1">
                  <a:txBody>
                    <a:bodyPr/>
                    <a:lstStyle/>
                    <a:p>
                      <a:endParaRPr lang="en-IN"/>
                    </a:p>
                  </a:txBody>
                  <a:tcPr/>
                </a:tc>
                <a:extLst>
                  <a:ext uri="{0D108BD9-81ED-4DB2-BD59-A6C34878D82A}">
                    <a16:rowId xmlns:a16="http://schemas.microsoft.com/office/drawing/2014/main" xmlns="" val="2943239442"/>
                  </a:ext>
                </a:extLst>
              </a:tr>
              <a:tr h="360439">
                <a:tc rowSpan="4">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 (I3)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rowSpan="2">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569030701"/>
                  </a:ext>
                </a:extLst>
              </a:tr>
              <a:tr h="360439">
                <a:tc vMerge="1">
                  <a:txBody>
                    <a:bodyPr/>
                    <a:lstStyle/>
                    <a:p>
                      <a:endParaRPr lang="en-IN"/>
                    </a:p>
                  </a:txBody>
                  <a:tcPr/>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 (I4)</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(I4)</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(I4)</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(I4)</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n-IN"/>
                    </a:p>
                  </a:txBody>
                  <a:tcPr/>
                </a:tc>
                <a:extLst>
                  <a:ext uri="{0D108BD9-81ED-4DB2-BD59-A6C34878D82A}">
                    <a16:rowId xmlns:a16="http://schemas.microsoft.com/office/drawing/2014/main" xmlns="" val="4109160821"/>
                  </a:ext>
                </a:extLst>
              </a:tr>
              <a:tr h="360439">
                <a:tc vMerge="1">
                  <a:txBody>
                    <a:bodyPr/>
                    <a:lstStyle/>
                    <a:p>
                      <a:endParaRPr lang="en-IN"/>
                    </a:p>
                  </a:txBody>
                  <a:tcPr/>
                </a:tc>
                <a:tc rowSpan="2">
                  <a:txBody>
                    <a:bodyPr/>
                    <a:lstStyle/>
                    <a:p>
                      <a:pPr>
                        <a:lnSpc>
                          <a:spcPct val="115000"/>
                        </a:lnSpc>
                        <a:spcAft>
                          <a:spcPts val="0"/>
                        </a:spcAft>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 (I5)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570129050"/>
                  </a:ext>
                </a:extLst>
              </a:tr>
              <a:tr h="360439">
                <a:tc vMerge="1">
                  <a:txBody>
                    <a:bodyPr/>
                    <a:lstStyle/>
                    <a:p>
                      <a:endParaRPr lang="en-IN"/>
                    </a:p>
                  </a:txBody>
                  <a:tcPr/>
                </a:tc>
                <a:tc vMerge="1">
                  <a:txBody>
                    <a:bodyPr/>
                    <a:lstStyle/>
                    <a:p>
                      <a:endParaRPr lang="en-IN"/>
                    </a:p>
                  </a:txBody>
                  <a:tcPr/>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S1 (I6)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S2 (I6)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S3 (I6)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400" dirty="0" smtClean="0">
                          <a:effectLst/>
                          <a:latin typeface="Times New Roman" panose="02020603050405020304" pitchFamily="18" charset="0"/>
                          <a:cs typeface="Times New Roman" panose="02020603050405020304" pitchFamily="18" charset="0"/>
                        </a:rPr>
                        <a:t>S4 (I6)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992833363"/>
                  </a:ext>
                </a:extLst>
              </a:tr>
            </a:tbl>
          </a:graphicData>
        </a:graphic>
      </p:graphicFrame>
      <p:cxnSp>
        <p:nvCxnSpPr>
          <p:cNvPr id="11" name="Straight Arrow Connector 10"/>
          <p:cNvCxnSpPr/>
          <p:nvPr/>
        </p:nvCxnSpPr>
        <p:spPr>
          <a:xfrm flipV="1">
            <a:off x="4828902" y="3699206"/>
            <a:ext cx="611032" cy="62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246362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p:cNvSpPr txBox="1"/>
              <p:nvPr/>
            </p:nvSpPr>
            <p:spPr>
              <a:xfrm>
                <a:off x="211016" y="154745"/>
                <a:ext cx="11774658" cy="335066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Now consider a superscalar processor of degree m (m&gt;1) that is the processor has m number of independent pipelines (Pipeline 1, Pipeline 2,......Pipeline m). Each pipeline has K number of segments. N is the total number of instructions. So K + </a:t>
                </a:r>
                <a14:m>
                  <m:oMath xmlns:m="http://schemas.openxmlformats.org/officeDocument/2006/math">
                    <m:f>
                      <m:fPr>
                        <m:ctrlPr>
                          <a:rPr lang="en-IN" i="1"/>
                        </m:ctrlPr>
                      </m:fPr>
                      <m:num>
                        <m:r>
                          <a:rPr lang="en-IN" i="1"/>
                          <m:t>𝑁</m:t>
                        </m:r>
                        <m:r>
                          <a:rPr lang="en-IN" i="1"/>
                          <m:t>−</m:t>
                        </m:r>
                        <m:r>
                          <a:rPr lang="en-IN" i="1"/>
                          <m:t>𝑚</m:t>
                        </m:r>
                      </m:num>
                      <m:den>
                        <m:r>
                          <a:rPr lang="en-IN" i="1"/>
                          <m:t>𝑚</m:t>
                        </m:r>
                      </m:den>
                    </m:f>
                  </m:oMath>
                </a14:m>
                <a:r>
                  <a:rPr lang="en-IN" dirty="0">
                    <a:latin typeface="Times New Roman" panose="02020603050405020304" pitchFamily="18" charset="0"/>
                    <a:cs typeface="Times New Roman" panose="02020603050405020304" pitchFamily="18" charset="0"/>
                  </a:rPr>
                  <a:t> is the required number of clock cycles to complete the execution of N number of instructions by this processor.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Explanation of K + </a:t>
                </a:r>
                <a14:m>
                  <m:oMath xmlns:m="http://schemas.openxmlformats.org/officeDocument/2006/math">
                    <m:f>
                      <m:fPr>
                        <m:ctrlPr>
                          <a:rPr lang="en-IN" i="1"/>
                        </m:ctrlPr>
                      </m:fPr>
                      <m:num>
                        <m:r>
                          <a:rPr lang="en-IN" i="1"/>
                          <m:t>𝑁</m:t>
                        </m:r>
                        <m:r>
                          <a:rPr lang="en-IN" i="1"/>
                          <m:t>−</m:t>
                        </m:r>
                        <m:r>
                          <a:rPr lang="en-IN" i="1"/>
                          <m:t>𝑚</m:t>
                        </m:r>
                      </m:num>
                      <m:den>
                        <m:r>
                          <a:rPr lang="en-IN" i="1"/>
                          <m:t>𝑚</m:t>
                        </m:r>
                      </m:den>
                    </m:f>
                  </m:oMath>
                </a14:m>
                <a:r>
                  <a:rPr lang="en-IN" dirty="0">
                    <a:latin typeface="Times New Roman" panose="02020603050405020304" pitchFamily="18" charset="0"/>
                    <a:cs typeface="Times New Roman" panose="02020603050405020304" pitchFamily="18" charset="0"/>
                  </a:rPr>
                  <a:t>: </a:t>
                </a:r>
              </a:p>
              <a:p>
                <a:pPr lvl="0"/>
                <a:r>
                  <a:rPr lang="en-IN" b="1" dirty="0">
                    <a:latin typeface="Times New Roman" panose="02020603050405020304" pitchFamily="18" charset="0"/>
                    <a:cs typeface="Times New Roman" panose="02020603050405020304" pitchFamily="18" charset="0"/>
                  </a:rPr>
                  <a:t>m</a:t>
                </a:r>
                <a:r>
                  <a:rPr lang="en-IN" dirty="0">
                    <a:latin typeface="Times New Roman" panose="02020603050405020304" pitchFamily="18" charset="0"/>
                    <a:cs typeface="Times New Roman" panose="02020603050405020304" pitchFamily="18" charset="0"/>
                  </a:rPr>
                  <a:t> number of instructions can be issued per clock cycle i.e. </a:t>
                </a:r>
                <a:r>
                  <a:rPr lang="en-IN" b="1"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 number of clock cycles are required to complete the execution of the first m number of instructions out of N number of instructions. So the rest of the instructions whose executions are not over in K number of clock cycles is </a:t>
                </a:r>
                <a:r>
                  <a:rPr lang="en-IN" b="1" dirty="0">
                    <a:latin typeface="Times New Roman" panose="02020603050405020304" pitchFamily="18" charset="0"/>
                    <a:cs typeface="Times New Roman" panose="02020603050405020304" pitchFamily="18" charset="0"/>
                  </a:rPr>
                  <a:t>N-m</a:t>
                </a:r>
                <a:r>
                  <a:rPr lang="en-IN" dirty="0">
                    <a:latin typeface="Times New Roman" panose="02020603050405020304" pitchFamily="18" charset="0"/>
                    <a:cs typeface="Times New Roman" panose="02020603050405020304" pitchFamily="18" charset="0"/>
                  </a:rPr>
                  <a:t/>
                </a:r>
              </a:p>
              <a:p>
                <a:pPr lvl="0"/>
                <a14:m>
                  <m:oMath xmlns:m="http://schemas.openxmlformats.org/officeDocument/2006/math">
                    <m:f>
                      <m:fPr>
                        <m:ctrlPr>
                          <a:rPr lang="en-IN" i="1"/>
                        </m:ctrlPr>
                      </m:fPr>
                      <m:num>
                        <m:r>
                          <a:rPr lang="en-IN" i="1"/>
                          <m:t>1</m:t>
                        </m:r>
                      </m:num>
                      <m:den>
                        <m:r>
                          <a:rPr lang="en-IN" i="1"/>
                          <m:t>𝑚</m:t>
                        </m:r>
                      </m:den>
                    </m:f>
                  </m:oMath>
                </a14:m>
                <a:r>
                  <a:rPr lang="en-IN" dirty="0">
                    <a:latin typeface="Times New Roman" panose="02020603050405020304" pitchFamily="18" charset="0"/>
                    <a:cs typeface="Times New Roman" panose="02020603050405020304" pitchFamily="18" charset="0"/>
                  </a:rPr>
                  <a:t> is the number of clock cycles to execute one instruction (clock per instruction (CPI))</a:t>
                </a:r>
              </a:p>
              <a:p>
                <a:pPr lvl="0"/>
                <a:r>
                  <a:rPr lang="en-IN" dirty="0">
                    <a:latin typeface="Times New Roman" panose="02020603050405020304" pitchFamily="18" charset="0"/>
                    <a:cs typeface="Times New Roman" panose="02020603050405020304" pitchFamily="18" charset="0"/>
                  </a:rPr>
                  <a:t>So </a:t>
                </a:r>
                <a14:m>
                  <m:oMath xmlns:m="http://schemas.openxmlformats.org/officeDocument/2006/math">
                    <m:f>
                      <m:fPr>
                        <m:ctrlPr>
                          <a:rPr lang="en-IN" i="1"/>
                        </m:ctrlPr>
                      </m:fPr>
                      <m:num>
                        <m:r>
                          <a:rPr lang="en-IN" i="1"/>
                          <m:t>𝑁</m:t>
                        </m:r>
                        <m:r>
                          <a:rPr lang="en-IN" i="1"/>
                          <m:t>−</m:t>
                        </m:r>
                        <m:r>
                          <a:rPr lang="en-IN" i="1"/>
                          <m:t>𝑚</m:t>
                        </m:r>
                      </m:num>
                      <m:den>
                        <m:r>
                          <a:rPr lang="en-IN" i="1"/>
                          <m:t>𝑚</m:t>
                        </m:r>
                      </m:den>
                    </m:f>
                  </m:oMath>
                </a14:m>
                <a:r>
                  <a:rPr lang="en-IN" dirty="0">
                    <a:latin typeface="Times New Roman" panose="02020603050405020304" pitchFamily="18" charset="0"/>
                    <a:cs typeface="Times New Roman" panose="02020603050405020304" pitchFamily="18" charset="0"/>
                  </a:rPr>
                  <a:t> is the number of clock cycles to complete the execution of N-m number of </a:t>
                </a:r>
                <a:r>
                  <a:rPr lang="en-IN" dirty="0" smtClean="0">
                    <a:latin typeface="Times New Roman" panose="02020603050405020304" pitchFamily="18" charset="0"/>
                    <a:cs typeface="Times New Roman" panose="02020603050405020304" pitchFamily="18" charset="0"/>
                  </a:rPr>
                  <a:t>instructions</a:t>
                </a:r>
                <a:endParaRPr lang="en-IN" dirty="0">
                  <a:latin typeface="Times New Roman" panose="02020603050405020304" pitchFamily="18" charset="0"/>
                  <a:cs typeface="Times New Roman" panose="02020603050405020304" pitchFamily="18" charset="0"/>
                </a:endParaRPr>
              </a:p>
            </p:txBody>
          </p:sp>
        </mc:Choice>
        <mc:Fallback>
          <p:sp>
            <p:nvSpPr>
              <p:cNvPr id="2" name="TextBox 1"/>
              <p:cNvSpPr txBox="1">
                <a:spLocks noRot="1" noChangeAspect="1" noMove="1" noResize="1" noEditPoints="1" noAdjustHandles="1" noChangeArrowheads="1" noChangeShapeType="1" noTextEdit="1"/>
              </p:cNvSpPr>
              <p:nvPr/>
            </p:nvSpPr>
            <p:spPr>
              <a:xfrm>
                <a:off x="211016" y="154745"/>
                <a:ext cx="11774658" cy="3350661"/>
              </a:xfrm>
              <a:prstGeom prst="rect">
                <a:avLst/>
              </a:prstGeom>
              <a:blipFill>
                <a:blip r:embed="rId2"/>
                <a:stretch>
                  <a:fillRect l="-466" t="-909"/>
                </a:stretch>
              </a:blipFill>
            </p:spPr>
            <p:txBody>
              <a:bodyPr/>
              <a:lstStyle/>
              <a:p>
                <a:r>
                  <a:rPr lang="en-IN">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xmlns="" val="3600205640"/>
              </p:ext>
            </p:extLst>
          </p:nvPr>
        </p:nvGraphicFramePr>
        <p:xfrm>
          <a:off x="7545728" y="3505406"/>
          <a:ext cx="4046049" cy="2839212"/>
        </p:xfrm>
        <a:graphic>
          <a:graphicData uri="http://schemas.openxmlformats.org/drawingml/2006/table">
            <a:tbl>
              <a:tblPr firstRow="1" firstCol="1" bandRow="1">
                <a:tableStyleId>{5C22544A-7EE6-4342-B048-85BDC9FD1C3A}</a:tableStyleId>
              </a:tblPr>
              <a:tblGrid>
                <a:gridCol w="634492">
                  <a:extLst>
                    <a:ext uri="{9D8B030D-6E8A-4147-A177-3AD203B41FA5}">
                      <a16:colId xmlns:a16="http://schemas.microsoft.com/office/drawing/2014/main" xmlns="" val="225740832"/>
                    </a:ext>
                  </a:extLst>
                </a:gridCol>
                <a:gridCol w="668358">
                  <a:extLst>
                    <a:ext uri="{9D8B030D-6E8A-4147-A177-3AD203B41FA5}">
                      <a16:colId xmlns:a16="http://schemas.microsoft.com/office/drawing/2014/main" xmlns="" val="1772423161"/>
                    </a:ext>
                  </a:extLst>
                </a:gridCol>
                <a:gridCol w="675250">
                  <a:extLst>
                    <a:ext uri="{9D8B030D-6E8A-4147-A177-3AD203B41FA5}">
                      <a16:colId xmlns:a16="http://schemas.microsoft.com/office/drawing/2014/main" xmlns="" val="1674396689"/>
                    </a:ext>
                  </a:extLst>
                </a:gridCol>
                <a:gridCol w="675249">
                  <a:extLst>
                    <a:ext uri="{9D8B030D-6E8A-4147-A177-3AD203B41FA5}">
                      <a16:colId xmlns:a16="http://schemas.microsoft.com/office/drawing/2014/main" xmlns="" val="1531400500"/>
                    </a:ext>
                  </a:extLst>
                </a:gridCol>
                <a:gridCol w="703385">
                  <a:extLst>
                    <a:ext uri="{9D8B030D-6E8A-4147-A177-3AD203B41FA5}">
                      <a16:colId xmlns:a16="http://schemas.microsoft.com/office/drawing/2014/main" xmlns="" val="3737733602"/>
                    </a:ext>
                  </a:extLst>
                </a:gridCol>
                <a:gridCol w="689315">
                  <a:extLst>
                    <a:ext uri="{9D8B030D-6E8A-4147-A177-3AD203B41FA5}">
                      <a16:colId xmlns:a16="http://schemas.microsoft.com/office/drawing/2014/main" xmlns="" val="1501437834"/>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3405091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68439870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16871195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4376348"/>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6489702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952838070"/>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702298618"/>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27853959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I2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I4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63742877"/>
                  </a:ext>
                </a:extLst>
              </a:tr>
            </a:tbl>
          </a:graphicData>
        </a:graphic>
      </p:graphicFrame>
      <p:sp>
        <p:nvSpPr>
          <p:cNvPr id="8" name="TextBox 7"/>
          <p:cNvSpPr txBox="1"/>
          <p:nvPr/>
        </p:nvSpPr>
        <p:spPr>
          <a:xfrm>
            <a:off x="211016" y="3505406"/>
            <a:ext cx="4501661" cy="1477328"/>
          </a:xfrm>
          <a:prstGeom prst="rect">
            <a:avLst/>
          </a:prstGeom>
          <a:noFill/>
        </p:spPr>
        <p:txBody>
          <a:bodyPr wrap="square" rtlCol="0">
            <a:spAutoFit/>
          </a:bodyPr>
          <a:lstStyle/>
          <a:p>
            <a:r>
              <a:rPr lang="en-IN" u="sng" dirty="0" smtClean="0">
                <a:latin typeface="Times New Roman" panose="02020603050405020304" pitchFamily="18" charset="0"/>
                <a:cs typeface="Times New Roman" panose="02020603050405020304" pitchFamily="18" charset="0"/>
              </a:rPr>
              <a:t>Space time diagram of a superscalar processor of degree 2 (m=2), K=4, N=4</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Four segments of Pipeline 1 and four segments of Pipeline 2 are shown by arrow in the following diagram.</a:t>
            </a:r>
          </a:p>
        </p:txBody>
      </p:sp>
      <p:graphicFrame>
        <p:nvGraphicFramePr>
          <p:cNvPr id="9" name="Table 8"/>
          <p:cNvGraphicFramePr>
            <a:graphicFrameLocks noGrp="1"/>
          </p:cNvGraphicFramePr>
          <p:nvPr>
            <p:extLst>
              <p:ext uri="{D42A27DB-BD31-4B8C-83A1-F6EECF244321}">
                <p14:modId xmlns:p14="http://schemas.microsoft.com/office/powerpoint/2010/main" xmlns="" val="3025433477"/>
              </p:ext>
            </p:extLst>
          </p:nvPr>
        </p:nvGraphicFramePr>
        <p:xfrm>
          <a:off x="5409589" y="3547491"/>
          <a:ext cx="1215978" cy="315468"/>
        </p:xfrm>
        <a:graphic>
          <a:graphicData uri="http://schemas.openxmlformats.org/drawingml/2006/table">
            <a:tbl>
              <a:tblPr firstRow="1" firstCol="1" bandRow="1">
                <a:tableStyleId>{5C22544A-7EE6-4342-B048-85BDC9FD1C3A}</a:tableStyleId>
              </a:tblPr>
              <a:tblGrid>
                <a:gridCol w="1215978">
                  <a:extLst>
                    <a:ext uri="{9D8B030D-6E8A-4147-A177-3AD203B41FA5}">
                      <a16:colId xmlns:a16="http://schemas.microsoft.com/office/drawing/2014/main" xmlns="" val="1322754894"/>
                    </a:ext>
                  </a:extLst>
                </a:gridCol>
              </a:tblGrid>
              <a:tr h="0">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Pipeline 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01585242"/>
                  </a:ext>
                </a:extLst>
              </a:tr>
            </a:tbl>
          </a:graphicData>
        </a:graphic>
      </p:graphicFrame>
      <p:sp>
        <p:nvSpPr>
          <p:cNvPr id="10" name="AutoShape 5"/>
          <p:cNvSpPr>
            <a:spLocks noChangeShapeType="1"/>
          </p:cNvSpPr>
          <p:nvPr/>
        </p:nvSpPr>
        <p:spPr bwMode="auto">
          <a:xfrm>
            <a:off x="6625567" y="3633890"/>
            <a:ext cx="920161" cy="27115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6"/>
          <p:cNvSpPr>
            <a:spLocks noChangeShapeType="1"/>
          </p:cNvSpPr>
          <p:nvPr/>
        </p:nvSpPr>
        <p:spPr bwMode="auto">
          <a:xfrm>
            <a:off x="6613524" y="3747777"/>
            <a:ext cx="932203" cy="85235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7"/>
          <p:cNvSpPr>
            <a:spLocks noChangeShapeType="1"/>
          </p:cNvSpPr>
          <p:nvPr/>
        </p:nvSpPr>
        <p:spPr bwMode="auto">
          <a:xfrm>
            <a:off x="6358597" y="3862958"/>
            <a:ext cx="1187130" cy="142182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8"/>
          <p:cNvSpPr>
            <a:spLocks noChangeShapeType="1"/>
          </p:cNvSpPr>
          <p:nvPr/>
        </p:nvSpPr>
        <p:spPr bwMode="auto">
          <a:xfrm>
            <a:off x="5836613" y="3816628"/>
            <a:ext cx="1709114" cy="207773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14" name="Table 13"/>
          <p:cNvGraphicFramePr>
            <a:graphicFrameLocks noGrp="1"/>
          </p:cNvGraphicFramePr>
          <p:nvPr>
            <p:extLst>
              <p:ext uri="{D42A27DB-BD31-4B8C-83A1-F6EECF244321}">
                <p14:modId xmlns:p14="http://schemas.microsoft.com/office/powerpoint/2010/main" xmlns="" val="2943724961"/>
              </p:ext>
            </p:extLst>
          </p:nvPr>
        </p:nvGraphicFramePr>
        <p:xfrm>
          <a:off x="5581302" y="6005766"/>
          <a:ext cx="1109868" cy="315468"/>
        </p:xfrm>
        <a:graphic>
          <a:graphicData uri="http://schemas.openxmlformats.org/drawingml/2006/table">
            <a:tbl>
              <a:tblPr firstRow="1" firstCol="1" bandRow="1">
                <a:tableStyleId>{5C22544A-7EE6-4342-B048-85BDC9FD1C3A}</a:tableStyleId>
              </a:tblPr>
              <a:tblGrid>
                <a:gridCol w="1109868">
                  <a:extLst>
                    <a:ext uri="{9D8B030D-6E8A-4147-A177-3AD203B41FA5}">
                      <a16:colId xmlns:a16="http://schemas.microsoft.com/office/drawing/2014/main" xmlns="" val="1364126749"/>
                    </a:ext>
                  </a:extLst>
                </a:gridCol>
              </a:tblGrid>
              <a:tr h="0">
                <a:tc>
                  <a:txBody>
                    <a:bodyPr/>
                    <a:lstStyle/>
                    <a:p>
                      <a:pPr algn="just">
                        <a:lnSpc>
                          <a:spcPct val="115000"/>
                        </a:lnSpc>
                        <a:spcAft>
                          <a:spcPts val="0"/>
                        </a:spcAft>
                      </a:pPr>
                      <a:r>
                        <a:rPr lang="en-IN" sz="1800" dirty="0">
                          <a:effectLst/>
                          <a:latin typeface="Times New Roman" panose="02020603050405020304" pitchFamily="18" charset="0"/>
                          <a:cs typeface="Times New Roman" panose="02020603050405020304" pitchFamily="18" charset="0"/>
                        </a:rPr>
                        <a:t>Pipeline 2</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42795536"/>
                  </a:ext>
                </a:extLst>
              </a:tr>
            </a:tbl>
          </a:graphicData>
        </a:graphic>
      </p:graphicFrame>
      <p:cxnSp>
        <p:nvCxnSpPr>
          <p:cNvPr id="16" name="Straight Arrow Connector 15"/>
          <p:cNvCxnSpPr/>
          <p:nvPr/>
        </p:nvCxnSpPr>
        <p:spPr>
          <a:xfrm flipV="1">
            <a:off x="6017578" y="4244070"/>
            <a:ext cx="1528149" cy="1761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3" idx="1"/>
          </p:cNvCxnSpPr>
          <p:nvPr/>
        </p:nvCxnSpPr>
        <p:spPr>
          <a:xfrm flipV="1">
            <a:off x="6354375" y="4925012"/>
            <a:ext cx="1191353" cy="1080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6613523" y="5584874"/>
            <a:ext cx="944247" cy="420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6691170" y="6189874"/>
            <a:ext cx="854557" cy="29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083368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p:cNvSpPr txBox="1"/>
              <p:nvPr/>
            </p:nvSpPr>
            <p:spPr>
              <a:xfrm>
                <a:off x="211014" y="126610"/>
                <a:ext cx="11844997" cy="7108356"/>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Explanation: </a:t>
                </a:r>
              </a:p>
              <a:p>
                <a:pPr lvl="0"/>
                <a:r>
                  <a:rPr lang="en-IN" dirty="0">
                    <a:latin typeface="Times New Roman" panose="02020603050405020304" pitchFamily="18" charset="0"/>
                    <a:cs typeface="Times New Roman" panose="02020603050405020304" pitchFamily="18" charset="0"/>
                  </a:rPr>
                  <a:t>All the instructions are independent</a:t>
                </a:r>
              </a:p>
              <a:p>
                <a:pPr lvl="0"/>
                <a:r>
                  <a:rPr lang="en-IN" dirty="0">
                    <a:latin typeface="Times New Roman" panose="02020603050405020304" pitchFamily="18" charset="0"/>
                    <a:cs typeface="Times New Roman" panose="02020603050405020304" pitchFamily="18" charset="0"/>
                  </a:rPr>
                  <a:t>I1 and I2 enter into segment S1 of the two pipelines (as m=2) in CC1</a:t>
                </a:r>
              </a:p>
              <a:p>
                <a:pPr lvl="0"/>
                <a:r>
                  <a:rPr lang="en-IN" dirty="0">
                    <a:latin typeface="Times New Roman" panose="02020603050405020304" pitchFamily="18" charset="0"/>
                    <a:cs typeface="Times New Roman" panose="02020603050405020304" pitchFamily="18" charset="0"/>
                  </a:rPr>
                  <a:t>I3 and I4 enter into segment S1 of the two pipelines whereas I1 and I2 enter into the segment S2 of the two pipelines in CC2</a:t>
                </a:r>
              </a:p>
              <a:p>
                <a:pPr lvl="0"/>
                <a:r>
                  <a:rPr lang="en-IN" dirty="0">
                    <a:latin typeface="Times New Roman" panose="02020603050405020304" pitchFamily="18" charset="0"/>
                    <a:cs typeface="Times New Roman" panose="02020603050405020304" pitchFamily="18" charset="0"/>
                  </a:rPr>
                  <a:t>I3 and I4 enter into segment S2 of the two pipelines whereas I1 and I2 enter into the segment S3 of the two pipelines in CC3</a:t>
                </a:r>
              </a:p>
              <a:p>
                <a:pPr lvl="0"/>
                <a:r>
                  <a:rPr lang="en-IN" dirty="0">
                    <a:latin typeface="Times New Roman" panose="02020603050405020304" pitchFamily="18" charset="0"/>
                    <a:cs typeface="Times New Roman" panose="02020603050405020304" pitchFamily="18" charset="0"/>
                  </a:rPr>
                  <a:t>I3 and I4 enter into segment S3 of the two pipelines whereas I1 and I2 enter into the segment S4 of the two pipelines in CC4, so the execution of I1 and I2 is over in CC4 and hence </a:t>
                </a:r>
                <a:r>
                  <a:rPr lang="en-IN" b="1"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clock cycles are required to complete the execution of the first two instructions (I1, I2) out of 4 instructions (I1, I2, I3, I4). The execution of 2 (N-m=4-2=2) instructions (I3 and I4) is not over in the first 4 clock cycles.</a:t>
                </a:r>
              </a:p>
              <a:p>
                <a:pPr lvl="0"/>
                <a:r>
                  <a:rPr lang="en-IN" dirty="0">
                    <a:latin typeface="Times New Roman" panose="02020603050405020304" pitchFamily="18" charset="0"/>
                    <a:cs typeface="Times New Roman" panose="02020603050405020304" pitchFamily="18" charset="0"/>
                  </a:rPr>
                  <a:t>I3 and I4 enter into segment S4 of the two pipelines in CC5. So 1 more clock cycle is required to complete the execution of the rest of the two instructions i.e. I3 and I4. </a:t>
                </a:r>
                <a14:m>
                  <m:oMath xmlns:m="http://schemas.openxmlformats.org/officeDocument/2006/math">
                    <m:f>
                      <m:fPr>
                        <m:ctrlPr>
                          <a:rPr lang="en-IN" b="1" i="1"/>
                        </m:ctrlPr>
                      </m:fPr>
                      <m:num>
                        <m:r>
                          <a:rPr lang="en-IN" b="1" i="1"/>
                          <m:t>𝑵</m:t>
                        </m:r>
                        <m:r>
                          <a:rPr lang="en-IN" b="1" i="1"/>
                          <m:t>−</m:t>
                        </m:r>
                        <m:r>
                          <a:rPr lang="en-IN" b="1" i="1"/>
                          <m:t>𝒎</m:t>
                        </m:r>
                      </m:num>
                      <m:den>
                        <m:r>
                          <a:rPr lang="en-IN" b="1" i="1"/>
                          <m:t>𝒎</m:t>
                        </m:r>
                      </m:den>
                    </m:f>
                  </m:oMath>
                </a14:m>
                <a:r>
                  <a:rPr lang="en-IN" b="1"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b="1" i="1"/>
                        </m:ctrlPr>
                      </m:fPr>
                      <m:num>
                        <m:r>
                          <a:rPr lang="en-IN" b="1" i="1"/>
                          <m:t>𝟒</m:t>
                        </m:r>
                        <m:r>
                          <a:rPr lang="en-IN" b="1" i="1"/>
                          <m:t>−</m:t>
                        </m:r>
                        <m:r>
                          <a:rPr lang="en-IN" b="1" i="1"/>
                          <m:t>𝟐</m:t>
                        </m:r>
                      </m:num>
                      <m:den>
                        <m:r>
                          <a:rPr lang="en-IN" b="1" i="1"/>
                          <m:t>𝟐</m:t>
                        </m:r>
                      </m:den>
                    </m:f>
                  </m:oMath>
                </a14:m>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1</a:t>
                </a:r>
              </a:p>
              <a:p>
                <a:pPr lvl="0"/>
                <a:endParaRPr lang="en-IN" b="1" dirty="0">
                  <a:latin typeface="Times New Roman" panose="02020603050405020304" pitchFamily="18" charset="0"/>
                  <a:cs typeface="Times New Roman" panose="02020603050405020304" pitchFamily="18" charset="0"/>
                </a:endParaRPr>
              </a:p>
              <a:p>
                <a:r>
                  <a:rPr lang="en-IN" b="1" dirty="0" err="1">
                    <a:latin typeface="Times New Roman" panose="02020603050405020304" pitchFamily="18" charset="0"/>
                    <a:cs typeface="Times New Roman" panose="02020603050405020304" pitchFamily="18" charset="0"/>
                  </a:rPr>
                  <a:t>Superpipeline</a:t>
                </a:r>
                <a:r>
                  <a:rPr lang="en-IN" b="1" dirty="0">
                    <a:latin typeface="Times New Roman" panose="02020603050405020304" pitchFamily="18" charset="0"/>
                    <a:cs typeface="Times New Roman" panose="02020603050405020304" pitchFamily="18" charset="0"/>
                  </a:rPr>
                  <a:t> processor</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Exploits the fact that many pipeline segments execute instructions in less than half a clock cycle</a:t>
                </a:r>
              </a:p>
              <a:p>
                <a:pPr lvl="0"/>
                <a:r>
                  <a:rPr lang="en-IN" dirty="0">
                    <a:latin typeface="Times New Roman" panose="02020603050405020304" pitchFamily="18" charset="0"/>
                    <a:cs typeface="Times New Roman" panose="02020603050405020304" pitchFamily="18" charset="0"/>
                  </a:rPr>
                  <a:t>In </a:t>
                </a:r>
                <a:r>
                  <a:rPr lang="en-IN" dirty="0" err="1">
                    <a:latin typeface="Times New Roman" panose="02020603050405020304" pitchFamily="18" charset="0"/>
                    <a:cs typeface="Times New Roman" panose="02020603050405020304" pitchFamily="18" charset="0"/>
                  </a:rPr>
                  <a:t>superpipeline</a:t>
                </a:r>
                <a:r>
                  <a:rPr lang="en-IN" dirty="0">
                    <a:latin typeface="Times New Roman" panose="02020603050405020304" pitchFamily="18" charset="0"/>
                    <a:cs typeface="Times New Roman" panose="02020603050405020304" pitchFamily="18" charset="0"/>
                  </a:rPr>
                  <a:t> processor of degree n, each clock cycle is divided into n number of short cycles and each short cycle is used to execute 1 instruction. So in this case clock per instruction (CPI) is </a:t>
                </a:r>
                <a14:m>
                  <m:oMath xmlns:m="http://schemas.openxmlformats.org/officeDocument/2006/math">
                    <m:f>
                      <m:fPr>
                        <m:ctrlPr>
                          <a:rPr lang="en-IN" b="1" i="1"/>
                        </m:ctrlPr>
                      </m:fPr>
                      <m:num>
                        <m:r>
                          <a:rPr lang="en-IN" b="1" i="1"/>
                          <m:t>𝟏</m:t>
                        </m:r>
                      </m:num>
                      <m:den>
                        <m:r>
                          <a:rPr lang="en-IN" b="1" i="1"/>
                          <m:t>𝒏</m:t>
                        </m:r>
                      </m:den>
                    </m:f>
                  </m:oMath>
                </a14:m>
                <a:r>
                  <a:rPr lang="en-IN" dirty="0">
                    <a:latin typeface="Times New Roman" panose="02020603050405020304" pitchFamily="18" charset="0"/>
                    <a:cs typeface="Times New Roman" panose="02020603050405020304" pitchFamily="18" charset="0"/>
                  </a:rPr>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Now consider a </a:t>
                </a:r>
                <a:r>
                  <a:rPr lang="en-IN" dirty="0" err="1">
                    <a:latin typeface="Times New Roman" panose="02020603050405020304" pitchFamily="18" charset="0"/>
                    <a:cs typeface="Times New Roman" panose="02020603050405020304" pitchFamily="18" charset="0"/>
                  </a:rPr>
                  <a:t>superpipeline</a:t>
                </a:r>
                <a:r>
                  <a:rPr lang="en-IN" dirty="0">
                    <a:latin typeface="Times New Roman" panose="02020603050405020304" pitchFamily="18" charset="0"/>
                    <a:cs typeface="Times New Roman" panose="02020603050405020304" pitchFamily="18" charset="0"/>
                  </a:rPr>
                  <a:t> processor of degree n (n&gt;1) that is each segment of the pipeline in this processor executes operation (e.g. fetch instruction, decode instruction, fetch operand, execute instruction and store result) over each instruction in </a:t>
                </a:r>
                <a14:m>
                  <m:oMath xmlns:m="http://schemas.openxmlformats.org/officeDocument/2006/math">
                    <m:f>
                      <m:fPr>
                        <m:ctrlPr>
                          <a:rPr lang="en-IN" b="1" i="1"/>
                        </m:ctrlPr>
                      </m:fPr>
                      <m:num>
                        <m:r>
                          <a:rPr lang="en-IN" b="1" i="1"/>
                          <m:t>𝟏</m:t>
                        </m:r>
                      </m:num>
                      <m:den>
                        <m:r>
                          <a:rPr lang="en-IN" b="1" i="1"/>
                          <m:t>𝒏</m:t>
                        </m:r>
                      </m:den>
                    </m:f>
                  </m:oMath>
                </a14:m>
                <a:r>
                  <a:rPr lang="en-IN" b="1" dirty="0">
                    <a:latin typeface="Times New Roman" panose="02020603050405020304" pitchFamily="18" charset="0"/>
                    <a:cs typeface="Times New Roman" panose="02020603050405020304" pitchFamily="18" charset="0"/>
                  </a:rPr>
                  <a:t/>
                </a:r>
                <a:r>
                  <a:rPr lang="en-IN" dirty="0">
                    <a:latin typeface="Times New Roman" panose="02020603050405020304" pitchFamily="18" charset="0"/>
                    <a:cs typeface="Times New Roman" panose="02020603050405020304" pitchFamily="18" charset="0"/>
                  </a:rPr>
                  <a:t>clock cycle. K is the number of segments in the pipeline and N is the number of instructions to be executed. So K + </a:t>
                </a:r>
                <a14:m>
                  <m:oMath xmlns:m="http://schemas.openxmlformats.org/officeDocument/2006/math">
                    <m:f>
                      <m:fPr>
                        <m:ctrlPr>
                          <a:rPr lang="en-IN" i="1"/>
                        </m:ctrlPr>
                      </m:fPr>
                      <m:num>
                        <m:r>
                          <a:rPr lang="en-IN" i="1"/>
                          <m:t>𝑁</m:t>
                        </m:r>
                        <m:r>
                          <a:rPr lang="en-IN" i="1"/>
                          <m:t>−1</m:t>
                        </m:r>
                      </m:num>
                      <m:den>
                        <m:r>
                          <a:rPr lang="en-IN" i="1"/>
                          <m:t>𝑛</m:t>
                        </m:r>
                      </m:den>
                    </m:f>
                  </m:oMath>
                </a14:m>
                <a:r>
                  <a:rPr lang="en-IN" dirty="0">
                    <a:latin typeface="Times New Roman" panose="02020603050405020304" pitchFamily="18" charset="0"/>
                    <a:cs typeface="Times New Roman" panose="02020603050405020304" pitchFamily="18" charset="0"/>
                  </a:rPr>
                  <a:t> is the required number of clock cycles to complete the execution of N instructions by this processor.</a:t>
                </a:r>
              </a:p>
              <a:p>
                <a:r>
                  <a:rPr lang="en-IN" dirty="0">
                    <a:latin typeface="Times New Roman" panose="02020603050405020304" pitchFamily="18" charset="0"/>
                    <a:cs typeface="Times New Roman" panose="02020603050405020304" pitchFamily="18" charset="0"/>
                  </a:rPr>
                  <a:t> </a:t>
                </a:r>
              </a:p>
              <a:p>
                <a:pPr lvl="0"/>
                <a:endParaRPr lang="en-IN" dirty="0">
                  <a:latin typeface="Times New Roman" panose="02020603050405020304" pitchFamily="18" charset="0"/>
                  <a:cs typeface="Times New Roman" panose="02020603050405020304" pitchFamily="18" charset="0"/>
                </a:endParaRPr>
              </a:p>
            </p:txBody>
          </p:sp>
        </mc:Choice>
        <mc:Fallback>
          <p:sp>
            <p:nvSpPr>
              <p:cNvPr id="2" name="TextBox 1"/>
              <p:cNvSpPr txBox="1">
                <a:spLocks noRot="1" noChangeAspect="1" noMove="1" noResize="1" noEditPoints="1" noAdjustHandles="1" noChangeArrowheads="1" noChangeShapeType="1" noTextEdit="1"/>
              </p:cNvSpPr>
              <p:nvPr/>
            </p:nvSpPr>
            <p:spPr>
              <a:xfrm>
                <a:off x="211014" y="126610"/>
                <a:ext cx="11844997" cy="7108356"/>
              </a:xfrm>
              <a:prstGeom prst="rect">
                <a:avLst/>
              </a:prstGeom>
              <a:blipFill>
                <a:blip r:embed="rId2"/>
                <a:stretch>
                  <a:fillRect l="-463" t="-515" r="-772"/>
                </a:stretch>
              </a:blipFill>
            </p:spPr>
            <p:txBody>
              <a:bodyPr/>
              <a:lstStyle/>
              <a:p>
                <a:r>
                  <a:rPr lang="en-IN">
                    <a:noFill/>
                  </a:rPr>
                  <a:t> </a:t>
                </a:r>
              </a:p>
            </p:txBody>
          </p:sp>
        </mc:Fallback>
      </mc:AlternateContent>
    </p:spTree>
    <p:extLst>
      <p:ext uri="{BB962C8B-B14F-4D97-AF65-F5344CB8AC3E}">
        <p14:creationId xmlns:p14="http://schemas.microsoft.com/office/powerpoint/2010/main" xmlns="" val="421417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p:cNvSpPr txBox="1"/>
              <p:nvPr/>
            </p:nvSpPr>
            <p:spPr>
              <a:xfrm>
                <a:off x="154745" y="112542"/>
                <a:ext cx="11690252" cy="183236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Explanation of K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𝑁</m:t>
                        </m:r>
                        <m:r>
                          <a:rPr lang="en-IN" i="1">
                            <a:latin typeface="Cambria Math" panose="02040503050406030204" pitchFamily="18" charset="0"/>
                          </a:rPr>
                          <m:t>−1</m:t>
                        </m:r>
                      </m:num>
                      <m:den>
                        <m:r>
                          <a:rPr lang="en-IN" i="1">
                            <a:latin typeface="Cambria Math" panose="02040503050406030204" pitchFamily="18" charset="0"/>
                          </a:rPr>
                          <m:t>𝑛</m:t>
                        </m:r>
                      </m:den>
                    </m:f>
                  </m:oMath>
                </a14:m>
                <a:r>
                  <a:rPr lang="en-IN" dirty="0">
                    <a:latin typeface="Times New Roman" panose="02020603050405020304" pitchFamily="18" charset="0"/>
                    <a:cs typeface="Times New Roman" panose="02020603050405020304" pitchFamily="18" charset="0"/>
                  </a:rPr>
                  <a:t>: </a:t>
                </a:r>
              </a:p>
              <a:p>
                <a:pPr lvl="0"/>
                <a:r>
                  <a:rPr lang="en-IN" b="1"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 number of clock cycles are required to complete the execution of the first instruction (I1). So the rest of the instructions whose executions are not over in K number of clock cycles is N-1 </a:t>
                </a:r>
              </a:p>
              <a:p>
                <a:pPr lvl="0"/>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oMath>
                </a14:m>
                <a:r>
                  <a:rPr lang="en-IN" dirty="0">
                    <a:latin typeface="Times New Roman" panose="02020603050405020304" pitchFamily="18" charset="0"/>
                    <a:cs typeface="Times New Roman" panose="02020603050405020304" pitchFamily="18" charset="0"/>
                  </a:rPr>
                  <a:t> is the number of clock cycles to execute one instruction (clock per instruction (CPI))</a:t>
                </a:r>
              </a:p>
              <a:p>
                <a:pPr lvl="0"/>
                <a:r>
                  <a:rPr lang="en-IN" dirty="0">
                    <a:latin typeface="Times New Roman" panose="02020603050405020304" pitchFamily="18" charset="0"/>
                    <a:cs typeface="Times New Roman" panose="02020603050405020304" pitchFamily="18" charset="0"/>
                  </a:rPr>
                  <a:t>So </a:t>
                </a:r>
                <a14:m>
                  <m:oMath xmlns:m="http://schemas.openxmlformats.org/officeDocument/2006/math">
                    <m:f>
                      <m:fPr>
                        <m:ctrlPr>
                          <a:rPr lang="en-IN" b="1" i="1">
                            <a:latin typeface="Cambria Math" panose="02040503050406030204" pitchFamily="18" charset="0"/>
                          </a:rPr>
                        </m:ctrlPr>
                      </m:fPr>
                      <m:num>
                        <m:r>
                          <a:rPr lang="en-IN" b="1" i="1">
                            <a:latin typeface="Cambria Math" panose="02040503050406030204" pitchFamily="18" charset="0"/>
                          </a:rPr>
                          <m:t>𝑵</m:t>
                        </m:r>
                        <m:r>
                          <a:rPr lang="en-IN" b="1" i="1">
                            <a:latin typeface="Cambria Math" panose="02040503050406030204" pitchFamily="18" charset="0"/>
                          </a:rPr>
                          <m:t>−</m:t>
                        </m:r>
                        <m:r>
                          <a:rPr lang="en-IN" b="1" i="1">
                            <a:latin typeface="Cambria Math" panose="02040503050406030204" pitchFamily="18" charset="0"/>
                          </a:rPr>
                          <m:t>𝟏</m:t>
                        </m:r>
                      </m:num>
                      <m:den>
                        <m:r>
                          <a:rPr lang="en-IN" b="1" i="1">
                            <a:latin typeface="Cambria Math" panose="02040503050406030204" pitchFamily="18" charset="0"/>
                          </a:rPr>
                          <m:t>𝒏</m:t>
                        </m:r>
                      </m:den>
                    </m:f>
                  </m:oMath>
                </a14:m>
                <a:r>
                  <a:rPr lang="en-IN" dirty="0">
                    <a:latin typeface="Times New Roman" panose="02020603050405020304" pitchFamily="18" charset="0"/>
                    <a:cs typeface="Times New Roman" panose="02020603050405020304" pitchFamily="18" charset="0"/>
                  </a:rPr>
                  <a:t> is the number of clock cycles to complete the execution of N-1 number of </a:t>
                </a:r>
                <a:r>
                  <a:rPr lang="en-IN" dirty="0" smtClean="0">
                    <a:latin typeface="Times New Roman" panose="02020603050405020304" pitchFamily="18" charset="0"/>
                    <a:cs typeface="Times New Roman" panose="02020603050405020304" pitchFamily="18" charset="0"/>
                  </a:rPr>
                  <a:t>instructions</a:t>
                </a:r>
                <a:endParaRPr lang="en-IN" dirty="0"/>
              </a:p>
            </p:txBody>
          </p:sp>
        </mc:Choice>
        <mc:Fallback>
          <p:sp>
            <p:nvSpPr>
              <p:cNvPr id="2" name="TextBox 1"/>
              <p:cNvSpPr txBox="1">
                <a:spLocks noRot="1" noChangeAspect="1" noMove="1" noResize="1" noEditPoints="1" noAdjustHandles="1" noChangeArrowheads="1" noChangeShapeType="1" noTextEdit="1"/>
              </p:cNvSpPr>
              <p:nvPr/>
            </p:nvSpPr>
            <p:spPr>
              <a:xfrm>
                <a:off x="154745" y="112542"/>
                <a:ext cx="11690252" cy="1832361"/>
              </a:xfrm>
              <a:prstGeom prst="rect">
                <a:avLst/>
              </a:prstGeom>
              <a:blipFill>
                <a:blip r:embed="rId2"/>
                <a:stretch>
                  <a:fillRect l="-417" b="-997"/>
                </a:stretch>
              </a:blipFill>
            </p:spPr>
            <p:txBody>
              <a:bodyPr/>
              <a:lstStyle/>
              <a:p>
                <a:r>
                  <a:rPr lang="en-IN">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xmlns="" val="327356459"/>
              </p:ext>
            </p:extLst>
          </p:nvPr>
        </p:nvGraphicFramePr>
        <p:xfrm>
          <a:off x="3554173" y="1944903"/>
          <a:ext cx="7896611" cy="1577340"/>
        </p:xfrm>
        <a:graphic>
          <a:graphicData uri="http://schemas.openxmlformats.org/drawingml/2006/table">
            <a:tbl>
              <a:tblPr firstRow="1" firstCol="1" bandRow="1">
                <a:tableStyleId>{5C22544A-7EE6-4342-B048-85BDC9FD1C3A}</a:tableStyleId>
              </a:tblPr>
              <a:tblGrid>
                <a:gridCol w="397878">
                  <a:extLst>
                    <a:ext uri="{9D8B030D-6E8A-4147-A177-3AD203B41FA5}">
                      <a16:colId xmlns:a16="http://schemas.microsoft.com/office/drawing/2014/main" xmlns="" val="4056079069"/>
                    </a:ext>
                  </a:extLst>
                </a:gridCol>
                <a:gridCol w="162560">
                  <a:extLst>
                    <a:ext uri="{9D8B030D-6E8A-4147-A177-3AD203B41FA5}">
                      <a16:colId xmlns:a16="http://schemas.microsoft.com/office/drawing/2014/main" xmlns="" val="3314042635"/>
                    </a:ext>
                  </a:extLst>
                </a:gridCol>
                <a:gridCol w="358823">
                  <a:extLst>
                    <a:ext uri="{9D8B030D-6E8A-4147-A177-3AD203B41FA5}">
                      <a16:colId xmlns:a16="http://schemas.microsoft.com/office/drawing/2014/main" xmlns="" val="3719332191"/>
                    </a:ext>
                  </a:extLst>
                </a:gridCol>
                <a:gridCol w="549027">
                  <a:extLst>
                    <a:ext uri="{9D8B030D-6E8A-4147-A177-3AD203B41FA5}">
                      <a16:colId xmlns:a16="http://schemas.microsoft.com/office/drawing/2014/main" xmlns="" val="244381869"/>
                    </a:ext>
                  </a:extLst>
                </a:gridCol>
                <a:gridCol w="397878">
                  <a:extLst>
                    <a:ext uri="{9D8B030D-6E8A-4147-A177-3AD203B41FA5}">
                      <a16:colId xmlns:a16="http://schemas.microsoft.com/office/drawing/2014/main" xmlns="" val="3647384973"/>
                    </a:ext>
                  </a:extLst>
                </a:gridCol>
                <a:gridCol w="397878">
                  <a:extLst>
                    <a:ext uri="{9D8B030D-6E8A-4147-A177-3AD203B41FA5}">
                      <a16:colId xmlns:a16="http://schemas.microsoft.com/office/drawing/2014/main" xmlns="" val="3901954869"/>
                    </a:ext>
                  </a:extLst>
                </a:gridCol>
                <a:gridCol w="397878">
                  <a:extLst>
                    <a:ext uri="{9D8B030D-6E8A-4147-A177-3AD203B41FA5}">
                      <a16:colId xmlns:a16="http://schemas.microsoft.com/office/drawing/2014/main" xmlns="" val="2512280530"/>
                    </a:ext>
                  </a:extLst>
                </a:gridCol>
                <a:gridCol w="397878">
                  <a:extLst>
                    <a:ext uri="{9D8B030D-6E8A-4147-A177-3AD203B41FA5}">
                      <a16:colId xmlns:a16="http://schemas.microsoft.com/office/drawing/2014/main" xmlns="" val="1144569474"/>
                    </a:ext>
                  </a:extLst>
                </a:gridCol>
                <a:gridCol w="397878">
                  <a:extLst>
                    <a:ext uri="{9D8B030D-6E8A-4147-A177-3AD203B41FA5}">
                      <a16:colId xmlns:a16="http://schemas.microsoft.com/office/drawing/2014/main" xmlns="" val="2868658316"/>
                    </a:ext>
                  </a:extLst>
                </a:gridCol>
                <a:gridCol w="397878">
                  <a:extLst>
                    <a:ext uri="{9D8B030D-6E8A-4147-A177-3AD203B41FA5}">
                      <a16:colId xmlns:a16="http://schemas.microsoft.com/office/drawing/2014/main" xmlns="" val="764935972"/>
                    </a:ext>
                  </a:extLst>
                </a:gridCol>
                <a:gridCol w="397878">
                  <a:extLst>
                    <a:ext uri="{9D8B030D-6E8A-4147-A177-3AD203B41FA5}">
                      <a16:colId xmlns:a16="http://schemas.microsoft.com/office/drawing/2014/main" xmlns="" val="3394109155"/>
                    </a:ext>
                  </a:extLst>
                </a:gridCol>
                <a:gridCol w="397878">
                  <a:extLst>
                    <a:ext uri="{9D8B030D-6E8A-4147-A177-3AD203B41FA5}">
                      <a16:colId xmlns:a16="http://schemas.microsoft.com/office/drawing/2014/main" xmlns="" val="4180659353"/>
                    </a:ext>
                  </a:extLst>
                </a:gridCol>
                <a:gridCol w="397878">
                  <a:extLst>
                    <a:ext uri="{9D8B030D-6E8A-4147-A177-3AD203B41FA5}">
                      <a16:colId xmlns:a16="http://schemas.microsoft.com/office/drawing/2014/main" xmlns="" val="1428758734"/>
                    </a:ext>
                  </a:extLst>
                </a:gridCol>
                <a:gridCol w="397878">
                  <a:extLst>
                    <a:ext uri="{9D8B030D-6E8A-4147-A177-3AD203B41FA5}">
                      <a16:colId xmlns:a16="http://schemas.microsoft.com/office/drawing/2014/main" xmlns="" val="3818112590"/>
                    </a:ext>
                  </a:extLst>
                </a:gridCol>
                <a:gridCol w="397878">
                  <a:extLst>
                    <a:ext uri="{9D8B030D-6E8A-4147-A177-3AD203B41FA5}">
                      <a16:colId xmlns:a16="http://schemas.microsoft.com/office/drawing/2014/main" xmlns="" val="4260851354"/>
                    </a:ext>
                  </a:extLst>
                </a:gridCol>
                <a:gridCol w="397878">
                  <a:extLst>
                    <a:ext uri="{9D8B030D-6E8A-4147-A177-3AD203B41FA5}">
                      <a16:colId xmlns:a16="http://schemas.microsoft.com/office/drawing/2014/main" xmlns="" val="4089828719"/>
                    </a:ext>
                  </a:extLst>
                </a:gridCol>
                <a:gridCol w="220467">
                  <a:extLst>
                    <a:ext uri="{9D8B030D-6E8A-4147-A177-3AD203B41FA5}">
                      <a16:colId xmlns:a16="http://schemas.microsoft.com/office/drawing/2014/main" xmlns="" val="36213477"/>
                    </a:ext>
                  </a:extLst>
                </a:gridCol>
                <a:gridCol w="240172">
                  <a:extLst>
                    <a:ext uri="{9D8B030D-6E8A-4147-A177-3AD203B41FA5}">
                      <a16:colId xmlns:a16="http://schemas.microsoft.com/office/drawing/2014/main" xmlns="" val="904794628"/>
                    </a:ext>
                  </a:extLst>
                </a:gridCol>
                <a:gridCol w="606633">
                  <a:extLst>
                    <a:ext uri="{9D8B030D-6E8A-4147-A177-3AD203B41FA5}">
                      <a16:colId xmlns:a16="http://schemas.microsoft.com/office/drawing/2014/main" xmlns="" val="4188960872"/>
                    </a:ext>
                  </a:extLst>
                </a:gridCol>
                <a:gridCol w="492535">
                  <a:extLst>
                    <a:ext uri="{9D8B030D-6E8A-4147-A177-3AD203B41FA5}">
                      <a16:colId xmlns:a16="http://schemas.microsoft.com/office/drawing/2014/main" xmlns="" val="914114254"/>
                    </a:ext>
                  </a:extLst>
                </a:gridCol>
                <a:gridCol w="93980">
                  <a:extLst>
                    <a:ext uri="{9D8B030D-6E8A-4147-A177-3AD203B41FA5}">
                      <a16:colId xmlns:a16="http://schemas.microsoft.com/office/drawing/2014/main" xmlns="" val="467279819"/>
                    </a:ext>
                  </a:extLst>
                </a:gridCol>
              </a:tblGrid>
              <a:tr h="0">
                <a:tc gridSpan="2">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3">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CC4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xmlns="" val="1532878397"/>
                  </a:ext>
                </a:extLst>
              </a:tr>
              <a:tr h="0">
                <a:tc>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 in 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3">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 in 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 in 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I1 in 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6">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920066458"/>
                  </a:ext>
                </a:extLst>
              </a:tr>
              <a:tr h="174625">
                <a:tc gridSpan="3">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hMerge="1">
                  <a:txBody>
                    <a:bodyPr/>
                    <a:lstStyle/>
                    <a:p>
                      <a:endParaRPr lang="en-IN"/>
                    </a:p>
                  </a:txBody>
                  <a:tcPr/>
                </a:tc>
                <a:tc hMerge="1">
                  <a:txBody>
                    <a:bodyPr/>
                    <a:lstStyle/>
                    <a:p>
                      <a:endParaRPr lang="en-IN"/>
                    </a:p>
                  </a:txBody>
                  <a:tcPr/>
                </a:tc>
                <a:tc gridSpan="2">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 in 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 in 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 in 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I2 in 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3611089406"/>
                  </a:ext>
                </a:extLst>
              </a:tr>
              <a:tr h="198755">
                <a:tc>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gridSpan="3">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 in 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 in 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 in 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I3 in S4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2">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noFill/>
                  </a:tcPr>
                </a:tc>
                <a:tc hMerge="1">
                  <a:txBody>
                    <a:bodyPr/>
                    <a:lstStyle/>
                    <a:p>
                      <a:endParaRPr lang="en-IN"/>
                    </a:p>
                  </a:txBody>
                  <a:tcPr/>
                </a:tc>
                <a:extLst>
                  <a:ext uri="{0D108BD9-81ED-4DB2-BD59-A6C34878D82A}">
                    <a16:rowId xmlns:a16="http://schemas.microsoft.com/office/drawing/2014/main" xmlns="" val="206437205"/>
                  </a:ext>
                </a:extLst>
              </a:tr>
              <a:tr h="174625">
                <a:tc gridSpan="6">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I4 in S1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I4 in 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nSpc>
                          <a:spcPct val="115000"/>
                        </a:lnSpc>
                        <a:spcAft>
                          <a:spcPts val="0"/>
                        </a:spcAft>
                      </a:pPr>
                      <a:r>
                        <a:rPr lang="en-IN" sz="1800">
                          <a:effectLst/>
                          <a:latin typeface="Times New Roman" panose="02020603050405020304" pitchFamily="18" charset="0"/>
                          <a:cs typeface="Times New Roman" panose="02020603050405020304" pitchFamily="18" charset="0"/>
                        </a:rPr>
                        <a:t>I4 in 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nSpc>
                          <a:spcPct val="115000"/>
                        </a:lnSpc>
                        <a:spcAft>
                          <a:spcPts val="0"/>
                        </a:spcAft>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15000"/>
                        </a:lnSpc>
                        <a:spcAft>
                          <a:spcPts val="100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xmlns="" val="454048906"/>
                  </a:ext>
                </a:extLst>
              </a:tr>
            </a:tbl>
          </a:graphicData>
        </a:graphic>
      </p:graphicFrame>
      <mc:AlternateContent xmlns:mc="http://schemas.openxmlformats.org/markup-compatibility/2006">
        <mc:Choice xmlns:a14="http://schemas.microsoft.com/office/drawing/2010/main" xmlns="" Requires="a14">
          <p:sp>
            <p:nvSpPr>
              <p:cNvPr id="4" name="TextBox 3"/>
              <p:cNvSpPr txBox="1"/>
              <p:nvPr/>
            </p:nvSpPr>
            <p:spPr>
              <a:xfrm>
                <a:off x="154745" y="3549133"/>
                <a:ext cx="11704320" cy="2985433"/>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Explanation</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All </a:t>
                </a:r>
                <a:r>
                  <a:rPr lang="en-IN" dirty="0">
                    <a:latin typeface="Times New Roman" panose="02020603050405020304" pitchFamily="18" charset="0"/>
                    <a:cs typeface="Times New Roman" panose="02020603050405020304" pitchFamily="18" charset="0"/>
                  </a:rPr>
                  <a:t>the instructions are independent</a:t>
                </a:r>
              </a:p>
              <a:p>
                <a:pPr lvl="0"/>
                <a:r>
                  <a:rPr lang="en-IN" dirty="0">
                    <a:latin typeface="Times New Roman" panose="02020603050405020304" pitchFamily="18" charset="0"/>
                    <a:cs typeface="Times New Roman" panose="02020603050405020304" pitchFamily="18" charset="0"/>
                  </a:rPr>
                  <a:t>I1 enters into the segment S1 of the pipeline at the beginning of CC1 and I2 enters into the segment S1 of the same pipeline in half of CC1 (as first half of CC1 is sufficient to complete the operation over I1 by S1, so S1 becomes busy with I2 from second half of CC1)</a:t>
                </a:r>
              </a:p>
              <a:p>
                <a:pPr lvl="0"/>
                <a:r>
                  <a:rPr lang="en-IN" dirty="0">
                    <a:latin typeface="Times New Roman" panose="02020603050405020304" pitchFamily="18" charset="0"/>
                    <a:cs typeface="Times New Roman" panose="02020603050405020304" pitchFamily="18" charset="0"/>
                  </a:rPr>
                  <a:t>I3 enters into the segment S1 of the same pipeline at the beginning of CC2 and I4 enters into the segment S1 of the same pipeline in second half of CC2</a:t>
                </a:r>
              </a:p>
              <a:p>
                <a:pPr lvl="0"/>
                <a:r>
                  <a:rPr lang="en-IN" dirty="0">
                    <a:latin typeface="Times New Roman" panose="02020603050405020304" pitchFamily="18" charset="0"/>
                    <a:cs typeface="Times New Roman" panose="02020603050405020304" pitchFamily="18" charset="0"/>
                  </a:rPr>
                  <a:t>Now I1 enters into S4 in CC4. So the execution of I4 is over in CC4 and hence </a:t>
                </a:r>
                <a:r>
                  <a:rPr lang="en-IN" b="1"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(i.e. </a:t>
                </a:r>
                <a:r>
                  <a:rPr lang="en-IN" b="1"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 clock cycles are required to complete the execution of the first instruction (I1) out of 4 instructions (I1, I2, I3, I4). So N-1 is 4-1=3</a:t>
                </a:r>
              </a:p>
              <a:p>
                <a:pPr lvl="0"/>
                <a:r>
                  <a:rPr lang="en-IN" dirty="0">
                    <a:latin typeface="Times New Roman" panose="02020603050405020304" pitchFamily="18" charset="0"/>
                    <a:cs typeface="Times New Roman" panose="02020603050405020304" pitchFamily="18" charset="0"/>
                  </a:rPr>
                  <a:t>Execution of I2 is over in half of CC5, execution of I3 is over in another half of CC5, execution of I4 is over in half of CC6 (shown as X in the above figure). So </a:t>
                </a:r>
                <a14:m>
                  <m:oMath xmlns:m="http://schemas.openxmlformats.org/officeDocument/2006/math">
                    <m:f>
                      <m:fPr>
                        <m:ctrlPr>
                          <a:rPr lang="en-IN" b="1" i="1"/>
                        </m:ctrlPr>
                      </m:fPr>
                      <m:num>
                        <m:r>
                          <a:rPr lang="en-IN" b="1" i="1"/>
                          <m:t>𝟏</m:t>
                        </m:r>
                      </m:num>
                      <m:den>
                        <m:r>
                          <a:rPr lang="en-IN" b="1" i="1"/>
                          <m:t>𝟐</m:t>
                        </m:r>
                      </m:den>
                    </m:f>
                    <m:r>
                      <a:rPr lang="en-IN" b="1"/>
                      <m:t>+</m:t>
                    </m:r>
                    <m:f>
                      <m:fPr>
                        <m:ctrlPr>
                          <a:rPr lang="en-IN" b="1" i="1"/>
                        </m:ctrlPr>
                      </m:fPr>
                      <m:num>
                        <m:r>
                          <a:rPr lang="en-IN" b="1" i="1"/>
                          <m:t>𝟏</m:t>
                        </m:r>
                      </m:num>
                      <m:den>
                        <m:r>
                          <a:rPr lang="en-IN" b="1" i="1"/>
                          <m:t>𝟐</m:t>
                        </m:r>
                      </m:den>
                    </m:f>
                  </m:oMath>
                </a14:m>
                <a:r>
                  <a:rPr lang="en-IN" b="1"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b="1" i="1"/>
                        </m:ctrlPr>
                      </m:fPr>
                      <m:num>
                        <m:r>
                          <a:rPr lang="en-IN" b="1" i="1"/>
                          <m:t>𝟏</m:t>
                        </m:r>
                      </m:num>
                      <m:den>
                        <m:r>
                          <a:rPr lang="en-IN" b="1" i="1"/>
                          <m:t>𝟐</m:t>
                        </m:r>
                      </m:den>
                    </m:f>
                  </m:oMath>
                </a14:m>
                <a:r>
                  <a:rPr lang="en-IN" b="1" dirty="0">
                    <a:latin typeface="Times New Roman" panose="02020603050405020304" pitchFamily="18" charset="0"/>
                    <a:cs typeface="Times New Roman" panose="02020603050405020304" pitchFamily="18" charset="0"/>
                  </a:rPr>
                  <a:t> = 3*</a:t>
                </a:r>
                <a14:m>
                  <m:oMath xmlns:m="http://schemas.openxmlformats.org/officeDocument/2006/math">
                    <m:f>
                      <m:fPr>
                        <m:ctrlPr>
                          <a:rPr lang="en-IN" b="1" i="1"/>
                        </m:ctrlPr>
                      </m:fPr>
                      <m:num>
                        <m:r>
                          <a:rPr lang="en-IN" b="1" i="1"/>
                          <m:t>𝟏</m:t>
                        </m:r>
                      </m:num>
                      <m:den>
                        <m:r>
                          <a:rPr lang="en-IN" b="1" i="1"/>
                          <m:t>𝟐</m:t>
                        </m:r>
                      </m:den>
                    </m:f>
                  </m:oMath>
                </a14:m>
                <a:r>
                  <a:rPr lang="en-IN" b="1" dirty="0">
                    <a:latin typeface="Times New Roman" panose="02020603050405020304" pitchFamily="18" charset="0"/>
                    <a:cs typeface="Times New Roman" panose="02020603050405020304" pitchFamily="18" charset="0"/>
                  </a:rPr>
                  <a:t> =(N-1)*</a:t>
                </a:r>
                <a14:m>
                  <m:oMath xmlns:m="http://schemas.openxmlformats.org/officeDocument/2006/math">
                    <m:f>
                      <m:fPr>
                        <m:ctrlPr>
                          <a:rPr lang="en-IN" b="1" i="1"/>
                        </m:ctrlPr>
                      </m:fPr>
                      <m:num>
                        <m:r>
                          <a:rPr lang="en-IN" b="1" i="1"/>
                          <m:t>𝟏</m:t>
                        </m:r>
                      </m:num>
                      <m:den>
                        <m:r>
                          <a:rPr lang="en-IN" b="1" i="1"/>
                          <m:t>𝒏</m:t>
                        </m:r>
                      </m:den>
                    </m:f>
                  </m:oMath>
                </a14:m>
                <a:endParaRPr lang="en-IN" dirty="0">
                  <a:latin typeface="Times New Roman" panose="02020603050405020304" pitchFamily="18" charset="0"/>
                  <a:cs typeface="Times New Roman" panose="02020603050405020304" pitchFamily="18"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54745" y="3549133"/>
                <a:ext cx="11704320" cy="2985433"/>
              </a:xfrm>
              <a:prstGeom prst="rect">
                <a:avLst/>
              </a:prstGeom>
              <a:blipFill>
                <a:blip r:embed="rId3"/>
                <a:stretch>
                  <a:fillRect l="-417" t="-1020" b="-204"/>
                </a:stretch>
              </a:blipFill>
            </p:spPr>
            <p:txBody>
              <a:bodyPr/>
              <a:lstStyle/>
              <a:p>
                <a:r>
                  <a:rPr lang="en-IN">
                    <a:noFill/>
                  </a:rPr>
                  <a:t> </a:t>
                </a:r>
              </a:p>
            </p:txBody>
          </p:sp>
        </mc:Fallback>
      </mc:AlternateContent>
      <p:sp>
        <p:nvSpPr>
          <p:cNvPr id="5" name="TextBox 4"/>
          <p:cNvSpPr txBox="1"/>
          <p:nvPr/>
        </p:nvSpPr>
        <p:spPr>
          <a:xfrm>
            <a:off x="10255191" y="3160865"/>
            <a:ext cx="101303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I4 in S4</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10255191" y="3160866"/>
            <a:ext cx="1195593" cy="3613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xmlns="" Requires="a14">
          <p:sp>
            <p:nvSpPr>
              <p:cNvPr id="7" name="TextBox 6"/>
              <p:cNvSpPr txBox="1"/>
              <p:nvPr/>
            </p:nvSpPr>
            <p:spPr>
              <a:xfrm>
                <a:off x="351692" y="2293034"/>
                <a:ext cx="3348111" cy="491096"/>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X = </a:t>
                </a:r>
                <a14:m>
                  <m:oMath xmlns:m="http://schemas.openxmlformats.org/officeDocument/2006/math">
                    <m:f>
                      <m:fPr>
                        <m:ctrlPr>
                          <a:rPr lang="en-IN" b="1" i="1">
                            <a:latin typeface="Cambria Math" panose="02040503050406030204" pitchFamily="18" charset="0"/>
                          </a:rPr>
                        </m:ctrlPr>
                      </m:fPr>
                      <m:num>
                        <m:r>
                          <a:rPr lang="en-IN" b="1" i="1">
                            <a:latin typeface="Cambria Math" panose="02040503050406030204" pitchFamily="18" charset="0"/>
                          </a:rPr>
                          <m:t>𝟏</m:t>
                        </m:r>
                      </m:num>
                      <m:den>
                        <m:r>
                          <a:rPr lang="en-IN" b="1" i="1">
                            <a:latin typeface="Cambria Math" panose="02040503050406030204" pitchFamily="18" charset="0"/>
                          </a:rPr>
                          <m:t>𝟐</m:t>
                        </m:r>
                      </m:den>
                    </m:f>
                  </m:oMath>
                </a14:m>
                <a:r>
                  <a:rPr lang="en-IN" b="1" dirty="0">
                    <a:latin typeface="Times New Roman" panose="02020603050405020304" pitchFamily="18" charset="0"/>
                    <a:cs typeface="Times New Roman" panose="02020603050405020304" pitchFamily="18" charset="0"/>
                  </a:rPr>
                  <a:t> of CC6 in the above </a:t>
                </a:r>
                <a:r>
                  <a:rPr lang="en-IN" b="1" dirty="0" smtClean="0">
                    <a:latin typeface="Times New Roman" panose="02020603050405020304" pitchFamily="18" charset="0"/>
                    <a:cs typeface="Times New Roman" panose="02020603050405020304" pitchFamily="18" charset="0"/>
                  </a:rPr>
                  <a:t>figure</a:t>
                </a:r>
                <a:endParaRPr lang="en-IN" dirty="0"/>
              </a:p>
            </p:txBody>
          </p:sp>
        </mc:Choice>
        <mc:Fallback>
          <p:sp>
            <p:nvSpPr>
              <p:cNvPr id="7" name="TextBox 6"/>
              <p:cNvSpPr txBox="1">
                <a:spLocks noRot="1" noChangeAspect="1" noMove="1" noResize="1" noEditPoints="1" noAdjustHandles="1" noChangeArrowheads="1" noChangeShapeType="1" noTextEdit="1"/>
              </p:cNvSpPr>
              <p:nvPr/>
            </p:nvSpPr>
            <p:spPr>
              <a:xfrm>
                <a:off x="351692" y="2293034"/>
                <a:ext cx="3348111" cy="491096"/>
              </a:xfrm>
              <a:prstGeom prst="rect">
                <a:avLst/>
              </a:prstGeom>
              <a:blipFill>
                <a:blip r:embed="rId4"/>
                <a:stretch>
                  <a:fillRect l="-1639" r="-911" b="-6173"/>
                </a:stretch>
              </a:blipFill>
            </p:spPr>
            <p:txBody>
              <a:bodyPr/>
              <a:lstStyle/>
              <a:p>
                <a:r>
                  <a:rPr lang="en-IN">
                    <a:noFill/>
                  </a:rPr>
                  <a:t> </a:t>
                </a:r>
              </a:p>
            </p:txBody>
          </p:sp>
        </mc:Fallback>
      </mc:AlternateContent>
    </p:spTree>
    <p:extLst>
      <p:ext uri="{BB962C8B-B14F-4D97-AF65-F5344CB8AC3E}">
        <p14:creationId xmlns:p14="http://schemas.microsoft.com/office/powerpoint/2010/main" xmlns="" val="1721218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p:cNvSpPr txBox="1"/>
              <p:nvPr/>
            </p:nvSpPr>
            <p:spPr>
              <a:xfrm>
                <a:off x="239151" y="182880"/>
                <a:ext cx="11563643" cy="6034601"/>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Problem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1. Pipeline has two stages, one for multiplication and one for addition. Each stage takes 10 ns. Then how much time is required to complete the execution of the following code segment?</a:t>
                </a:r>
              </a:p>
              <a:p>
                <a:r>
                  <a:rPr lang="en-IN" dirty="0">
                    <a:latin typeface="Times New Roman" panose="02020603050405020304" pitchFamily="18" charset="0"/>
                    <a:cs typeface="Times New Roman" panose="02020603050405020304" pitchFamily="18" charset="0"/>
                  </a:rPr>
                  <a:t>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 to 100 do A[</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]=B[</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]*C[</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]+D[</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Ans.</a:t>
                </a:r>
                <a:r>
                  <a:rPr lang="en-IN" dirty="0">
                    <a:latin typeface="Times New Roman" panose="02020603050405020304" pitchFamily="18" charset="0"/>
                    <a:cs typeface="Times New Roman" panose="02020603050405020304" pitchFamily="18" charset="0"/>
                  </a:rPr>
                  <a:t> K=2, N=100, (K+N-1)*10 ns = (2+100-1)*10 ns=1010 ns</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2. A pipeline has 4 segments with time delays 60 ns, 50 ns, 90 ns, 80 ns. The interface latch has a delay of 10 ns. Find the clock frequency of the pipeline?</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Ans.</a:t>
                </a:r>
                <a:r>
                  <a:rPr lang="en-IN" dirty="0">
                    <a:latin typeface="Times New Roman" panose="02020603050405020304" pitchFamily="18" charset="0"/>
                    <a:cs typeface="Times New Roman" panose="02020603050405020304" pitchFamily="18" charset="0"/>
                  </a:rPr>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a:latin typeface="Times New Roman" panose="02020603050405020304" pitchFamily="18" charset="0"/>
                    <a:cs typeface="Times New Roman" panose="02020603050405020304" pitchFamily="18" charset="0"/>
                  </a:rPr>
                  <a:t>m</a:t>
                </a:r>
                <a:r>
                  <a:rPr lang="en-IN" dirty="0">
                    <a:latin typeface="Times New Roman" panose="02020603050405020304" pitchFamily="18" charset="0"/>
                    <a:cs typeface="Times New Roman" panose="02020603050405020304" pitchFamily="18" charset="0"/>
                  </a:rPr>
                  <a:t> = max {60, 50, 90, 80} = 90ns, d=10 ns,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baseline="-25000" dirty="0" err="1">
                    <a:latin typeface="Times New Roman" panose="02020603050405020304" pitchFamily="18" charset="0"/>
                    <a:cs typeface="Times New Roman" panose="02020603050405020304" pitchFamily="18" charset="0"/>
                  </a:rPr>
                  <a:t>m</a:t>
                </a:r>
                <a:r>
                  <a:rPr lang="en-IN" dirty="0" err="1">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 = 90+10=100 ns</a:t>
                </a:r>
              </a:p>
              <a:p>
                <a:r>
                  <a:rPr lang="en-IN" dirty="0">
                    <a:latin typeface="Times New Roman" panose="02020603050405020304" pitchFamily="18" charset="0"/>
                    <a:cs typeface="Times New Roman" panose="02020603050405020304" pitchFamily="18" charset="0"/>
                  </a:rPr>
                  <a:t>So clock time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is 100 ns and clock frequency, f=</a:t>
                </a:r>
                <a14:m>
                  <m:oMath xmlns:m="http://schemas.openxmlformats.org/officeDocument/2006/math">
                    <m:f>
                      <m:fPr>
                        <m:ctrlPr>
                          <a:rPr lang="en-IN" i="1"/>
                        </m:ctrlPr>
                      </m:fPr>
                      <m:num>
                        <m:r>
                          <a:rPr lang="en-IN" i="1"/>
                          <m:t>1</m:t>
                        </m:r>
                      </m:num>
                      <m:den>
                        <m:r>
                          <a:rPr lang="en-IN" i="1">
                            <a:sym typeface="Symbol" panose="05050102010706020507" pitchFamily="18" charset="2"/>
                          </a:rPr>
                          <m:t></m:t>
                        </m:r>
                      </m:den>
                    </m:f>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i="1"/>
                        </m:ctrlPr>
                      </m:fPr>
                      <m:num>
                        <m:r>
                          <a:rPr lang="en-IN" i="1"/>
                          <m:t>1</m:t>
                        </m:r>
                      </m:num>
                      <m:den>
                        <m:r>
                          <a:rPr lang="en-IN" i="1"/>
                          <m:t>100</m:t>
                        </m:r>
                      </m:den>
                    </m:f>
                  </m:oMath>
                </a14:m>
                <a:r>
                  <a:rPr lang="en-IN" dirty="0">
                    <a:latin typeface="Times New Roman" panose="02020603050405020304" pitchFamily="18" charset="0"/>
                    <a:cs typeface="Times New Roman" panose="02020603050405020304" pitchFamily="18" charset="0"/>
                  </a:rPr>
                  <a:t> * 10</a:t>
                </a:r>
                <a:r>
                  <a:rPr lang="en-IN" baseline="30000" dirty="0">
                    <a:latin typeface="Times New Roman" panose="02020603050405020304" pitchFamily="18" charset="0"/>
                    <a:cs typeface="Times New Roman" panose="02020603050405020304" pitchFamily="18" charset="0"/>
                  </a:rPr>
                  <a:t>9</a:t>
                </a:r>
                <a:r>
                  <a:rPr lang="en-IN" dirty="0">
                    <a:latin typeface="Times New Roman" panose="02020603050405020304" pitchFamily="18" charset="0"/>
                    <a:cs typeface="Times New Roman" panose="02020603050405020304" pitchFamily="18" charset="0"/>
                  </a:rPr>
                  <a:t> GHz</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3. A 4 segment pipeline has segment delays as 150, 120, 160, 140 ns. The latch delay is 5 ns. Find the total time which is needed to process 1000 data items on this pipeline.</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Ans.</a:t>
                </a:r>
                <a:r>
                  <a:rPr lang="en-IN" dirty="0">
                    <a:latin typeface="Times New Roman" panose="02020603050405020304" pitchFamily="18" charset="0"/>
                    <a:cs typeface="Times New Roman" panose="02020603050405020304" pitchFamily="18" charset="0"/>
                  </a:rPr>
                  <a:t> The time which is required to process the first data item using this pipeline is 150+5+120+5+160+5+140 = 585 ns</a:t>
                </a:r>
              </a:p>
              <a:p>
                <a:r>
                  <a:rPr lang="en-IN" dirty="0">
                    <a:latin typeface="Times New Roman" panose="02020603050405020304" pitchFamily="18" charset="0"/>
                    <a:cs typeface="Times New Roman" panose="02020603050405020304" pitchFamily="18" charset="0"/>
                  </a:rPr>
                  <a:t>Average time to process each of the rest of the items is max{150, 120, 160, 140}+5 ns = 165 ns</a:t>
                </a:r>
              </a:p>
              <a:p>
                <a:r>
                  <a:rPr lang="en-IN" dirty="0">
                    <a:latin typeface="Times New Roman" panose="02020603050405020304" pitchFamily="18" charset="0"/>
                    <a:cs typeface="Times New Roman" panose="02020603050405020304" pitchFamily="18" charset="0"/>
                  </a:rPr>
                  <a:t>So the total required time is 585 + (1000-1)*165 ns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mc:Choice>
        <mc:Fallback>
          <p:sp>
            <p:nvSpPr>
              <p:cNvPr id="2" name="TextBox 1"/>
              <p:cNvSpPr txBox="1">
                <a:spLocks noRot="1" noChangeAspect="1" noMove="1" noResize="1" noEditPoints="1" noAdjustHandles="1" noChangeArrowheads="1" noChangeShapeType="1" noTextEdit="1"/>
              </p:cNvSpPr>
              <p:nvPr/>
            </p:nvSpPr>
            <p:spPr>
              <a:xfrm>
                <a:off x="239151" y="182880"/>
                <a:ext cx="11563643" cy="6034601"/>
              </a:xfrm>
              <a:prstGeom prst="rect">
                <a:avLst/>
              </a:prstGeom>
              <a:blipFill>
                <a:blip r:embed="rId2"/>
                <a:stretch>
                  <a:fillRect l="-422" t="-505"/>
                </a:stretch>
              </a:blipFill>
            </p:spPr>
            <p:txBody>
              <a:bodyPr/>
              <a:lstStyle/>
              <a:p>
                <a:r>
                  <a:rPr lang="en-IN">
                    <a:noFill/>
                  </a:rPr>
                  <a:t> </a:t>
                </a:r>
              </a:p>
            </p:txBody>
          </p:sp>
        </mc:Fallback>
      </mc:AlternateContent>
    </p:spTree>
    <p:extLst>
      <p:ext uri="{BB962C8B-B14F-4D97-AF65-F5344CB8AC3E}">
        <p14:creationId xmlns:p14="http://schemas.microsoft.com/office/powerpoint/2010/main" xmlns="" val="4001596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p:cNvSpPr txBox="1"/>
              <p:nvPr/>
            </p:nvSpPr>
            <p:spPr>
              <a:xfrm>
                <a:off x="267286" y="365760"/>
                <a:ext cx="11338560" cy="414280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4. A pipeline is having speedup factor 10 and operating with an efficiency of 80%. What will be the number of stages in the pipeline?</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Ans</a:t>
                </a:r>
                <a:r>
                  <a:rPr lang="en-IN" dirty="0">
                    <a:latin typeface="Times New Roman" panose="02020603050405020304" pitchFamily="18" charset="0"/>
                    <a:cs typeface="Times New Roman" panose="02020603050405020304" pitchFamily="18" charset="0"/>
                  </a:rPr>
                  <a:t>.    E</a:t>
                </a:r>
                <a:r>
                  <a:rPr lang="en-IN" baseline="-25000"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=S</a:t>
                </a:r>
                <a:r>
                  <a:rPr lang="en-IN" baseline="-25000"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/K. 0.8 = 10/K, K=12.5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13</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5. A non-pipeline system  takes 50 ns to process a task. The same task can be processed in a 6 segment pipeline with a clock cycle time 10 ns. Find the speedup ratio of the pipeline for 100 tasks.</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Ans.</a:t>
                </a:r>
                <a:r>
                  <a:rPr lang="en-IN" dirty="0">
                    <a:latin typeface="Times New Roman" panose="02020603050405020304" pitchFamily="18" charset="0"/>
                    <a:cs typeface="Times New Roman" panose="02020603050405020304" pitchFamily="18" charset="0"/>
                  </a:rPr>
                  <a:t> The non-pipeline system takes 50*100 ns to process 100 number of tasks.</a:t>
                </a:r>
              </a:p>
              <a:p>
                <a:r>
                  <a:rPr lang="en-IN" dirty="0">
                    <a:latin typeface="Times New Roman" panose="02020603050405020304" pitchFamily="18" charset="0"/>
                    <a:cs typeface="Times New Roman" panose="02020603050405020304" pitchFamily="18" charset="0"/>
                  </a:rPr>
                  <a:t>In the pipeline system each segment takes 1 clock cycle to process a task. K=6, N=100, clock cycle time= 10 ns. So 6+(100-1) is the number of clock cycles to process 100 tasks using a 6 segment pipeline and the pipeline system takes (6+(100-1))*10 ns to complete the processing of 100 tasks. Hence</a:t>
                </a:r>
              </a:p>
              <a:p>
                <a:r>
                  <a:rPr lang="en-IN" dirty="0">
                    <a:latin typeface="Times New Roman" panose="02020603050405020304" pitchFamily="18" charset="0"/>
                    <a:cs typeface="Times New Roman" panose="02020603050405020304" pitchFamily="18" charset="0"/>
                  </a:rPr>
                  <a:t>Speedup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100∗50</m:t>
                        </m:r>
                      </m:num>
                      <m:den>
                        <m:d>
                          <m:dPr>
                            <m:ctrlPr>
                              <a:rPr lang="en-IN" i="1">
                                <a:latin typeface="Cambria Math" panose="02040503050406030204" pitchFamily="18" charset="0"/>
                              </a:rPr>
                            </m:ctrlPr>
                          </m:dPr>
                          <m:e>
                            <m:r>
                              <a:rPr lang="en-IN" i="1">
                                <a:latin typeface="Cambria Math" panose="02040503050406030204" pitchFamily="18" charset="0"/>
                              </a:rPr>
                              <m:t>6+</m:t>
                            </m:r>
                            <m:d>
                              <m:dPr>
                                <m:ctrlPr>
                                  <a:rPr lang="en-IN" i="1">
                                    <a:latin typeface="Cambria Math" panose="02040503050406030204" pitchFamily="18" charset="0"/>
                                  </a:rPr>
                                </m:ctrlPr>
                              </m:dPr>
                              <m:e>
                                <m:r>
                                  <a:rPr lang="en-IN" i="1">
                                    <a:latin typeface="Cambria Math" panose="02040503050406030204" pitchFamily="18" charset="0"/>
                                  </a:rPr>
                                  <m:t>100−1</m:t>
                                </m:r>
                              </m:e>
                            </m:d>
                          </m:e>
                        </m:d>
                        <m:r>
                          <a:rPr lang="en-IN" i="1">
                            <a:latin typeface="Cambria Math" panose="02040503050406030204" pitchFamily="18" charset="0"/>
                          </a:rPr>
                          <m:t>∗10</m:t>
                        </m:r>
                      </m:den>
                    </m:f>
                  </m:oMath>
                </a14:m>
                <a:r>
                  <a:rPr lang="en-IN" dirty="0">
                    <a:latin typeface="Times New Roman" panose="02020603050405020304" pitchFamily="18" charset="0"/>
                    <a:cs typeface="Times New Roman" panose="02020603050405020304" pitchFamily="18" charset="0"/>
                  </a:rPr>
                  <a:t> =  4.76</a:t>
                </a:r>
              </a:p>
              <a:p>
                <a:endParaRPr lang="en-IN" dirty="0"/>
              </a:p>
            </p:txBody>
          </p:sp>
        </mc:Choice>
        <mc:Fallback>
          <p:sp>
            <p:nvSpPr>
              <p:cNvPr id="2" name="TextBox 1"/>
              <p:cNvSpPr txBox="1">
                <a:spLocks noRot="1" noChangeAspect="1" noMove="1" noResize="1" noEditPoints="1" noAdjustHandles="1" noChangeArrowheads="1" noChangeShapeType="1" noTextEdit="1"/>
              </p:cNvSpPr>
              <p:nvPr/>
            </p:nvSpPr>
            <p:spPr>
              <a:xfrm>
                <a:off x="267286" y="365760"/>
                <a:ext cx="11338560" cy="4142801"/>
              </a:xfrm>
              <a:prstGeom prst="rect">
                <a:avLst/>
              </a:prstGeom>
              <a:blipFill>
                <a:blip r:embed="rId2"/>
                <a:stretch>
                  <a:fillRect l="-484" t="-735"/>
                </a:stretch>
              </a:blipFill>
            </p:spPr>
            <p:txBody>
              <a:bodyPr/>
              <a:lstStyle/>
              <a:p>
                <a:r>
                  <a:rPr lang="en-IN">
                    <a:noFill/>
                  </a:rPr>
                  <a:t> </a:t>
                </a:r>
              </a:p>
            </p:txBody>
          </p:sp>
        </mc:Fallback>
      </mc:AlternateContent>
    </p:spTree>
    <p:extLst>
      <p:ext uri="{BB962C8B-B14F-4D97-AF65-F5344CB8AC3E}">
        <p14:creationId xmlns:p14="http://schemas.microsoft.com/office/powerpoint/2010/main" xmlns="" val="331931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TotalTime>
  <Words>1409</Words>
  <Application>Microsoft Office PowerPoint</Application>
  <PresentationFormat>Custom</PresentationFormat>
  <Paragraphs>443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cst_laptop5</cp:lastModifiedBy>
  <cp:revision>84</cp:revision>
  <dcterms:created xsi:type="dcterms:W3CDTF">2025-06-25T05:24:15Z</dcterms:created>
  <dcterms:modified xsi:type="dcterms:W3CDTF">2026-04-01T09:09:07Z</dcterms:modified>
</cp:coreProperties>
</file>