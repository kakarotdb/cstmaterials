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299" r:id="rId7"/>
    <p:sldId id="294" r:id="rId8"/>
    <p:sldId id="291" r:id="rId9"/>
    <p:sldId id="290" r:id="rId10"/>
    <p:sldId id="257" r:id="rId11"/>
    <p:sldId id="258" r:id="rId12"/>
    <p:sldId id="293" r:id="rId13"/>
    <p:sldId id="301" r:id="rId14"/>
    <p:sldId id="260" r:id="rId15"/>
    <p:sldId id="261" r:id="rId16"/>
    <p:sldId id="262" r:id="rId17"/>
    <p:sldId id="263" r:id="rId18"/>
    <p:sldId id="264" r:id="rId19"/>
    <p:sldId id="273" r:id="rId20"/>
    <p:sldId id="266" r:id="rId21"/>
    <p:sldId id="268" r:id="rId22"/>
    <p:sldId id="302" r:id="rId23"/>
    <p:sldId id="271" r:id="rId24"/>
    <p:sldId id="272" r:id="rId25"/>
    <p:sldId id="274" r:id="rId26"/>
    <p:sldId id="30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7" d="100"/>
          <a:sy n="47" d="100"/>
        </p:scale>
        <p:origin x="72" y="82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1269343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1366585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3186992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48588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271612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4105877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5521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3476080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3043726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248923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AE2DF7-5B04-41E2-B24C-38A80C73CB40}" type="datetimeFigureOut">
              <a:rPr lang="en-IN" smtClean="0"/>
              <a:pPr/>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FCF90C0-530B-40C2-A58B-D0B9252E2849}" type="slidenum">
              <a:rPr lang="en-IN" smtClean="0"/>
              <a:pPr/>
              <a:t>‹#›</a:t>
            </a:fld>
            <a:endParaRPr lang="en-IN"/>
          </a:p>
        </p:txBody>
      </p:sp>
    </p:spTree>
    <p:extLst>
      <p:ext uri="{BB962C8B-B14F-4D97-AF65-F5344CB8AC3E}">
        <p14:creationId xmlns:p14="http://schemas.microsoft.com/office/powerpoint/2010/main" val="2470829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AE2DF7-5B04-41E2-B24C-38A80C73CB40}" type="datetimeFigureOut">
              <a:rPr lang="en-IN" smtClean="0"/>
              <a:pPr/>
              <a:t>10-04-2026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F90C0-530B-40C2-A58B-D0B9252E2849}" type="slidenum">
              <a:rPr lang="en-IN" smtClean="0"/>
              <a:pPr/>
              <a:t>‹#›</a:t>
            </a:fld>
            <a:endParaRPr lang="en-IN"/>
          </a:p>
        </p:txBody>
      </p:sp>
    </p:spTree>
    <p:extLst>
      <p:ext uri="{BB962C8B-B14F-4D97-AF65-F5344CB8AC3E}">
        <p14:creationId xmlns:p14="http://schemas.microsoft.com/office/powerpoint/2010/main" val="2926802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 y="215900"/>
            <a:ext cx="11861800" cy="6186309"/>
          </a:xfrm>
          <a:prstGeom prst="rect">
            <a:avLst/>
          </a:prstGeom>
          <a:noFill/>
        </p:spPr>
        <p:txBody>
          <a:bodyPr wrap="square" rtlCol="0">
            <a:spAutoFit/>
          </a:bodyPr>
          <a:lstStyle/>
          <a:p>
            <a:r>
              <a:rPr lang="en-IN" b="1" dirty="0">
                <a:latin typeface="Times New Roman" pitchFamily="18" charset="0"/>
                <a:cs typeface="Times New Roman" pitchFamily="18" charset="0"/>
              </a:rPr>
              <a:t>Memory system </a:t>
            </a:r>
          </a:p>
          <a:p>
            <a:r>
              <a:rPr lang="en-IN" dirty="0">
                <a:latin typeface="Times New Roman" pitchFamily="18" charset="0"/>
                <a:cs typeface="Times New Roman" pitchFamily="18" charset="0"/>
              </a:rPr>
              <a:t>Computer system contains a variety of devices to store instruction and data for its operation </a:t>
            </a:r>
          </a:p>
          <a:p>
            <a:r>
              <a:rPr lang="en-IN" dirty="0">
                <a:latin typeface="Times New Roman" pitchFamily="18" charset="0"/>
                <a:cs typeface="Times New Roman" pitchFamily="18" charset="0"/>
              </a:rPr>
              <a:t>Such storage devices along with the algorithms needed to control or manage the stored information constitute the memory system of the computer</a:t>
            </a:r>
          </a:p>
          <a:p>
            <a:r>
              <a:rPr lang="en-IN" dirty="0">
                <a:latin typeface="Times New Roman" pitchFamily="18" charset="0"/>
                <a:cs typeface="Times New Roman" pitchFamily="18" charset="0"/>
              </a:rPr>
              <a:t>Time required to transfer information between processor and memory should be such that processor can work at high speed</a:t>
            </a:r>
          </a:p>
          <a:p>
            <a:r>
              <a:rPr lang="en-IN" dirty="0">
                <a:latin typeface="Times New Roman" pitchFamily="18" charset="0"/>
                <a:cs typeface="Times New Roman" pitchFamily="18" charset="0"/>
              </a:rPr>
              <a:t>   Memories that operate at speeds comparable to processor speeds are costly. Hence it is not feasible to employ a single </a:t>
            </a:r>
          </a:p>
          <a:p>
            <a:r>
              <a:rPr lang="en-IN" dirty="0">
                <a:latin typeface="Times New Roman" pitchFamily="18" charset="0"/>
                <a:cs typeface="Times New Roman" pitchFamily="18" charset="0"/>
              </a:rPr>
              <a:t>   memory using just one type of technology. Instead the stored information is distributed in complex fashion over a variety of</a:t>
            </a:r>
          </a:p>
          <a:p>
            <a:r>
              <a:rPr lang="en-IN" dirty="0">
                <a:latin typeface="Times New Roman" pitchFamily="18" charset="0"/>
                <a:cs typeface="Times New Roman" pitchFamily="18" charset="0"/>
              </a:rPr>
              <a:t>   different memory units with very different physical characteristics</a:t>
            </a:r>
          </a:p>
          <a:p>
            <a:r>
              <a:rPr lang="en-IN" dirty="0">
                <a:latin typeface="Times New Roman" pitchFamily="18" charset="0"/>
                <a:cs typeface="Times New Roman" pitchFamily="18" charset="0"/>
              </a:rPr>
              <a:t>Memory components of a computer system can be divided into 3 main groups:</a:t>
            </a:r>
          </a:p>
          <a:p>
            <a:pPr marL="342900" indent="-342900">
              <a:buAutoNum type="arabicPeriod"/>
            </a:pPr>
            <a:r>
              <a:rPr lang="en-IN" dirty="0">
                <a:latin typeface="Times New Roman" pitchFamily="18" charset="0"/>
                <a:cs typeface="Times New Roman" pitchFamily="18" charset="0"/>
              </a:rPr>
              <a:t>Internal processor memory: A small set of high-speed registers used as a working memory for temporary storage of instruction and data</a:t>
            </a:r>
          </a:p>
          <a:p>
            <a:pPr marL="342900" indent="-342900">
              <a:buAutoNum type="arabicPeriod"/>
            </a:pPr>
            <a:r>
              <a:rPr lang="en-IN" dirty="0">
                <a:latin typeface="Times New Roman" pitchFamily="18" charset="0"/>
                <a:cs typeface="Times New Roman" pitchFamily="18" charset="0"/>
              </a:rPr>
              <a:t>Main memory (also called  primary memory): A relatively large fast memory used for program and data storage during computer operation. It is characterized by the fact that locations in main memory can be accessed directly and rapidly by the CPU instruction set. The principal technology used for main memory is based on semiconductor integrated circuits (ICs). </a:t>
            </a:r>
          </a:p>
          <a:p>
            <a:pPr marL="342900" indent="-342900">
              <a:buAutoNum type="arabicPeriod"/>
            </a:pPr>
            <a:r>
              <a:rPr lang="en-IN" dirty="0">
                <a:latin typeface="Times New Roman" pitchFamily="18" charset="0"/>
                <a:cs typeface="Times New Roman" pitchFamily="18" charset="0"/>
              </a:rPr>
              <a:t>Semiconductor memory (also called auxiliary or backing memory): Much larger in capacity and also much slower than main memory. Used to store system programs, large data files, which are not continually required by CPU; also serves as an overflow memory when the capacity of the main memory is exceeded. Information in secondary storage is accessed indirectly via input-output programs that first transfer the required information to main memory. Representative technologies used for secondary memory are magnetic tapes and disks.</a:t>
            </a:r>
          </a:p>
          <a:p>
            <a:pPr marL="342900" indent="-342900"/>
            <a:r>
              <a:rPr lang="en-IN" dirty="0">
                <a:latin typeface="Times New Roman" pitchFamily="18" charset="0"/>
                <a:cs typeface="Times New Roman" pitchFamily="18" charset="0"/>
              </a:rPr>
              <a:t>An increasing number of machines employ another type of memory called a cache, which serves as an intermediate temporary storage unit logically positioned between the processor registers and main memory.</a:t>
            </a:r>
          </a:p>
        </p:txBody>
      </p:sp>
      <p:sp>
        <p:nvSpPr>
          <p:cNvPr id="3481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490162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65100"/>
            <a:ext cx="11798300" cy="6463308"/>
          </a:xfrm>
          <a:prstGeom prst="rect">
            <a:avLst/>
          </a:prstGeom>
          <a:noFill/>
        </p:spPr>
        <p:txBody>
          <a:bodyPr wrap="square" rtlCol="0">
            <a:spAutoFit/>
          </a:bodyPr>
          <a:lstStyle/>
          <a:p>
            <a:r>
              <a:rPr lang="en-IN" dirty="0">
                <a:latin typeface="Times New Roman" pitchFamily="18" charset="0"/>
                <a:cs typeface="Times New Roman" pitchFamily="18" charset="0"/>
              </a:rPr>
              <a:t>Major objective in designing any memory system is to provide adequate storage capacity with an acceptable level of performance at a reasonable cost. Four important interrelated ways of approaching this goal can be identified.</a:t>
            </a:r>
          </a:p>
          <a:p>
            <a:endParaRPr lang="en-IN" dirty="0">
              <a:latin typeface="Times New Roman" pitchFamily="18" charset="0"/>
              <a:cs typeface="Times New Roman" pitchFamily="18" charset="0"/>
            </a:endParaRPr>
          </a:p>
          <a:p>
            <a:pPr marL="342900" indent="-342900">
              <a:buAutoNum type="arabicPeriod"/>
            </a:pPr>
            <a:r>
              <a:rPr lang="en-IN" dirty="0">
                <a:latin typeface="Times New Roman" pitchFamily="18" charset="0"/>
                <a:cs typeface="Times New Roman" pitchFamily="18" charset="0"/>
              </a:rPr>
              <a:t>Use of number of different memory devices with different cost/performance ratios organized to provide a high average performance at a low average cost/bit. The individual memories form a hierarchy of storage devices.</a:t>
            </a:r>
          </a:p>
          <a:p>
            <a:pPr marL="342900" indent="-342900">
              <a:buAutoNum type="arabicPeriod"/>
            </a:pPr>
            <a:r>
              <a:rPr lang="en-IN" dirty="0">
                <a:latin typeface="Times New Roman" pitchFamily="18" charset="0"/>
                <a:cs typeface="Times New Roman" pitchFamily="18" charset="0"/>
              </a:rPr>
              <a:t>Development of automatic storage allocation methods to make more efficient use of the available memory space.</a:t>
            </a:r>
          </a:p>
          <a:p>
            <a:pPr marL="342900" indent="-342900">
              <a:buAutoNum type="arabicPeriod"/>
            </a:pPr>
            <a:r>
              <a:rPr lang="en-IN" dirty="0">
                <a:latin typeface="Times New Roman" pitchFamily="18" charset="0"/>
                <a:cs typeface="Times New Roman" pitchFamily="18" charset="0"/>
              </a:rPr>
              <a:t>Development of virtual memory concepts to free the ordinary user from memory management, and make programs largely independent of the physical memory configurations used</a:t>
            </a:r>
          </a:p>
          <a:p>
            <a:pPr marL="342900" indent="-342900">
              <a:buAutoNum type="arabicPeriod"/>
            </a:pPr>
            <a:r>
              <a:rPr lang="en-IN" dirty="0">
                <a:latin typeface="Times New Roman" pitchFamily="18" charset="0"/>
                <a:cs typeface="Times New Roman" pitchFamily="18" charset="0"/>
              </a:rPr>
              <a:t>Design of communication links to the memory system so that all processors connected to it can operate at or near their maximum rates. This involves increasing the effective memory processor bandwidth and also providing protection mechanisms to prevent programs from accessing or altering one another’s storage areas.</a:t>
            </a:r>
          </a:p>
          <a:p>
            <a:pPr marL="342900" indent="-342900">
              <a:buAutoNum type="arabicPeriod"/>
            </a:pPr>
            <a:endParaRPr lang="en-IN" dirty="0">
              <a:latin typeface="Times New Roman" pitchFamily="18" charset="0"/>
              <a:cs typeface="Times New Roman" pitchFamily="18" charset="0"/>
            </a:endParaRPr>
          </a:p>
          <a:p>
            <a:pPr marL="342900" indent="-342900"/>
            <a:r>
              <a:rPr lang="en-IN" b="1" dirty="0">
                <a:latin typeface="Times New Roman" pitchFamily="18" charset="0"/>
                <a:cs typeface="Times New Roman" pitchFamily="18" charset="0"/>
              </a:rPr>
              <a:t>Memory-Device characteristics</a:t>
            </a:r>
          </a:p>
          <a:p>
            <a:pPr marL="342900" indent="-342900"/>
            <a:r>
              <a:rPr lang="en-IN" u="sng" dirty="0">
                <a:latin typeface="Times New Roman" pitchFamily="18" charset="0"/>
                <a:cs typeface="Times New Roman" pitchFamily="18" charset="0"/>
              </a:rPr>
              <a:t>Cost</a:t>
            </a:r>
            <a:r>
              <a:rPr lang="en-IN" dirty="0">
                <a:latin typeface="Times New Roman" pitchFamily="18" charset="0"/>
                <a:cs typeface="Times New Roman" pitchFamily="18" charset="0"/>
              </a:rPr>
              <a:t>: Purchase price include cost of the information storage cells, cost of the peripheral equipment or access circuitry essential to the operation of the memory</a:t>
            </a:r>
          </a:p>
          <a:p>
            <a:pPr marL="342900" indent="-342900"/>
            <a:r>
              <a:rPr lang="en-IN" dirty="0">
                <a:latin typeface="Times New Roman" pitchFamily="18" charset="0"/>
                <a:cs typeface="Times New Roman" pitchFamily="18" charset="0"/>
              </a:rPr>
              <a:t>C = Cost of a complete memory system with S bits of storage capacity, c= cost/bit = C/S</a:t>
            </a:r>
          </a:p>
          <a:p>
            <a:pPr marL="342900" indent="-342900"/>
            <a:r>
              <a:rPr lang="en-IN" u="sng" dirty="0">
                <a:latin typeface="Times New Roman" pitchFamily="18" charset="0"/>
                <a:cs typeface="Times New Roman" pitchFamily="18" charset="0"/>
              </a:rPr>
              <a:t>Access time</a:t>
            </a:r>
            <a:r>
              <a:rPr lang="en-IN" dirty="0">
                <a:latin typeface="Times New Roman" pitchFamily="18" charset="0"/>
                <a:cs typeface="Times New Roman" pitchFamily="18" charset="0"/>
              </a:rPr>
              <a:t>: Performance of a memory device is primarily determined by the rate at which information can be read from or written into the memory. Read (Write) access time is the average time required to read (write) a fixed amount of information from (into) the memory. It depends on the physical characteristic of the storage medium and the type of access mechanism. Access time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is calculated from the time a read (write) request is received by the memory unit to the time at which all the requested information has been made available at the memory output terminals (written into the memory).</a:t>
            </a:r>
          </a:p>
          <a:p>
            <a:r>
              <a:rPr lang="en-IN" u="sng" dirty="0">
                <a:latin typeface="Times New Roman" pitchFamily="18" charset="0"/>
                <a:cs typeface="Times New Roman" pitchFamily="18" charset="0"/>
              </a:rPr>
              <a:t>Access rate (</a:t>
            </a:r>
            <a:r>
              <a:rPr lang="en-IN" u="sng" dirty="0" err="1">
                <a:latin typeface="Times New Roman" pitchFamily="18" charset="0"/>
                <a:cs typeface="Times New Roman" pitchFamily="18" charset="0"/>
              </a:rPr>
              <a:t>b</a:t>
            </a:r>
            <a:r>
              <a:rPr lang="en-IN" u="sng" baseline="-25000" dirty="0" err="1">
                <a:latin typeface="Times New Roman" pitchFamily="18" charset="0"/>
                <a:cs typeface="Times New Roman" pitchFamily="18" charset="0"/>
              </a:rPr>
              <a:t>A</a:t>
            </a:r>
            <a:r>
              <a:rPr lang="en-IN" u="sng" dirty="0">
                <a:latin typeface="Times New Roman" pitchFamily="18" charset="0"/>
                <a:cs typeface="Times New Roman" pitchFamily="18" charset="0"/>
              </a:rPr>
              <a:t>)</a:t>
            </a:r>
            <a:r>
              <a:rPr lang="en-IN" dirty="0">
                <a:latin typeface="Times New Roman" pitchFamily="18" charset="0"/>
                <a:cs typeface="Times New Roman" pitchFamily="18" charset="0"/>
              </a:rPr>
              <a:t>: Defined as 1/</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and measured in words per second. </a:t>
            </a:r>
          </a:p>
          <a:p>
            <a:r>
              <a:rPr lang="en-IN" u="sng" dirty="0">
                <a:latin typeface="Times New Roman" pitchFamily="18" charset="0"/>
                <a:cs typeface="Times New Roman" pitchFamily="18" charset="0"/>
              </a:rPr>
              <a:t>Access modes</a:t>
            </a:r>
            <a:r>
              <a:rPr lang="en-IN" dirty="0">
                <a:latin typeface="Times New Roman" pitchFamily="18" charset="0"/>
                <a:cs typeface="Times New Roman" pitchFamily="18" charset="0"/>
              </a:rPr>
              <a:t>: An important property of a memory device is the order or sequence in which information can be accessed.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03200"/>
            <a:ext cx="6540500" cy="2308324"/>
          </a:xfrm>
          <a:prstGeom prst="rect">
            <a:avLst/>
          </a:prstGeom>
          <a:noFill/>
        </p:spPr>
        <p:txBody>
          <a:bodyPr wrap="square" rtlCol="0">
            <a:spAutoFit/>
          </a:bodyPr>
          <a:lstStyle/>
          <a:p>
            <a:r>
              <a:rPr lang="en-IN" dirty="0">
                <a:latin typeface="Times New Roman" pitchFamily="18" charset="0"/>
                <a:cs typeface="Times New Roman" pitchFamily="18" charset="0"/>
              </a:rPr>
              <a:t>RAM: </a:t>
            </a:r>
          </a:p>
          <a:p>
            <a:r>
              <a:rPr lang="en-IN" dirty="0">
                <a:latin typeface="Times New Roman" pitchFamily="18" charset="0"/>
                <a:cs typeface="Times New Roman" pitchFamily="18" charset="0"/>
              </a:rPr>
              <a:t>If locations may be accessed in any order and access time is independent of the location being accessed, the memory is termed a random accessed memory (RAM). </a:t>
            </a:r>
          </a:p>
          <a:p>
            <a:r>
              <a:rPr lang="en-IN" dirty="0">
                <a:latin typeface="Times New Roman" pitchFamily="18" charset="0"/>
                <a:cs typeface="Times New Roman" pitchFamily="18" charset="0"/>
              </a:rPr>
              <a:t>Ferrite-core and semiconductor memories are usually of this type. </a:t>
            </a:r>
          </a:p>
          <a:p>
            <a:r>
              <a:rPr lang="en-IN" dirty="0">
                <a:latin typeface="Times New Roman" pitchFamily="18" charset="0"/>
                <a:cs typeface="Times New Roman" pitchFamily="18" charset="0"/>
              </a:rPr>
              <a:t>Each storage location can be accessed independently of the other locations and hence needs a separate access mechanism, or read/write head for every location.  </a:t>
            </a:r>
          </a:p>
        </p:txBody>
      </p:sp>
      <p:sp>
        <p:nvSpPr>
          <p:cNvPr id="3" name="Rectangle 2"/>
          <p:cNvSpPr/>
          <p:nvPr/>
        </p:nvSpPr>
        <p:spPr>
          <a:xfrm>
            <a:off x="9855200" y="8001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11061700" y="8255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5" name="Rectangle 4"/>
          <p:cNvSpPr/>
          <p:nvPr/>
        </p:nvSpPr>
        <p:spPr>
          <a:xfrm>
            <a:off x="9347200" y="8128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6" name="Rectangle 5"/>
          <p:cNvSpPr/>
          <p:nvPr/>
        </p:nvSpPr>
        <p:spPr>
          <a:xfrm>
            <a:off x="11607800" y="8128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7" name="Rectangle 6"/>
          <p:cNvSpPr/>
          <p:nvPr/>
        </p:nvSpPr>
        <p:spPr>
          <a:xfrm>
            <a:off x="10426700" y="8255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7696200" y="8382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9" name="Rectangle 8"/>
          <p:cNvSpPr/>
          <p:nvPr/>
        </p:nvSpPr>
        <p:spPr>
          <a:xfrm>
            <a:off x="8293100" y="8128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10" name="Rectangle 9"/>
          <p:cNvSpPr/>
          <p:nvPr/>
        </p:nvSpPr>
        <p:spPr>
          <a:xfrm>
            <a:off x="8839200" y="8001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670800" y="292100"/>
            <a:ext cx="4216400" cy="27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12" name="Rectangle 11"/>
          <p:cNvSpPr/>
          <p:nvPr/>
        </p:nvSpPr>
        <p:spPr>
          <a:xfrm>
            <a:off x="7607300" y="1727200"/>
            <a:ext cx="4368800" cy="444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p:cNvCxnSpPr>
            <a:stCxn id="12" idx="0"/>
            <a:endCxn id="12" idx="2"/>
          </p:cNvCxnSpPr>
          <p:nvPr/>
        </p:nvCxnSpPr>
        <p:spPr>
          <a:xfrm rot="16200000" flipH="1">
            <a:off x="9569450" y="1949450"/>
            <a:ext cx="4445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8458200" y="19304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flipH="1">
            <a:off x="10731500" y="19431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10147300" y="19431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9042400" y="19558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1201400" y="19431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7975600" y="1968500"/>
            <a:ext cx="431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251700" y="381000"/>
            <a:ext cx="4191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0800000">
            <a:off x="7239000" y="508000"/>
            <a:ext cx="4445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7652544" y="7048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8236744" y="6921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8795544" y="6921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9278144" y="7048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9798844" y="6921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10357644" y="7048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11005344" y="7048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11551444" y="7048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flipH="1" flipV="1">
            <a:off x="7759700" y="6985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flipH="1" flipV="1">
            <a:off x="8356600" y="6731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flipH="1" flipV="1">
            <a:off x="8915400" y="6604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9410700" y="6604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flipH="1" flipV="1">
            <a:off x="9918700" y="6477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5400000" flipH="1" flipV="1">
            <a:off x="11125200" y="6858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flipH="1" flipV="1">
            <a:off x="11671300" y="6858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8343900" y="228600"/>
            <a:ext cx="2616200" cy="369332"/>
          </a:xfrm>
          <a:prstGeom prst="rect">
            <a:avLst/>
          </a:prstGeom>
          <a:noFill/>
        </p:spPr>
        <p:txBody>
          <a:bodyPr wrap="square" rtlCol="0">
            <a:spAutoFit/>
          </a:bodyPr>
          <a:lstStyle/>
          <a:p>
            <a:r>
              <a:rPr lang="en-IN" dirty="0">
                <a:latin typeface="Times New Roman" pitchFamily="18" charset="0"/>
                <a:cs typeface="Times New Roman" pitchFamily="18" charset="0"/>
              </a:rPr>
              <a:t>Read-write head selector</a:t>
            </a:r>
          </a:p>
        </p:txBody>
      </p:sp>
      <p:sp>
        <p:nvSpPr>
          <p:cNvPr id="39" name="TextBox 38"/>
          <p:cNvSpPr txBox="1"/>
          <p:nvPr/>
        </p:nvSpPr>
        <p:spPr>
          <a:xfrm>
            <a:off x="6756400" y="850900"/>
            <a:ext cx="977900" cy="523220"/>
          </a:xfrm>
          <a:prstGeom prst="rect">
            <a:avLst/>
          </a:prstGeom>
          <a:noFill/>
        </p:spPr>
        <p:txBody>
          <a:bodyPr wrap="square" rtlCol="0">
            <a:spAutoFit/>
          </a:bodyPr>
          <a:lstStyle/>
          <a:p>
            <a:r>
              <a:rPr lang="en-IN" sz="1400" dirty="0">
                <a:latin typeface="Times New Roman" pitchFamily="18" charset="0"/>
                <a:cs typeface="Times New Roman" pitchFamily="18" charset="0"/>
              </a:rPr>
              <a:t>Read-write</a:t>
            </a:r>
          </a:p>
          <a:p>
            <a:r>
              <a:rPr lang="en-IN" sz="1400" dirty="0">
                <a:latin typeface="Times New Roman" pitchFamily="18" charset="0"/>
                <a:cs typeface="Times New Roman" pitchFamily="18" charset="0"/>
              </a:rPr>
              <a:t>heads  </a:t>
            </a:r>
          </a:p>
        </p:txBody>
      </p:sp>
      <p:sp>
        <p:nvSpPr>
          <p:cNvPr id="40" name="TextBox 39"/>
          <p:cNvSpPr txBox="1"/>
          <p:nvPr/>
        </p:nvSpPr>
        <p:spPr>
          <a:xfrm>
            <a:off x="6807200" y="1689100"/>
            <a:ext cx="838200" cy="523220"/>
          </a:xfrm>
          <a:prstGeom prst="rect">
            <a:avLst/>
          </a:prstGeom>
          <a:noFill/>
        </p:spPr>
        <p:txBody>
          <a:bodyPr wrap="square" rtlCol="0">
            <a:spAutoFit/>
          </a:bodyPr>
          <a:lstStyle/>
          <a:p>
            <a:r>
              <a:rPr lang="en-IN" sz="1400" dirty="0">
                <a:latin typeface="Times New Roman" pitchFamily="18" charset="0"/>
                <a:cs typeface="Times New Roman" pitchFamily="18" charset="0"/>
              </a:rPr>
              <a:t>Storage locations</a:t>
            </a:r>
          </a:p>
        </p:txBody>
      </p:sp>
      <p:sp>
        <p:nvSpPr>
          <p:cNvPr id="66" name="Oval 65"/>
          <p:cNvSpPr/>
          <p:nvPr/>
        </p:nvSpPr>
        <p:spPr>
          <a:xfrm>
            <a:off x="8356600" y="3987800"/>
            <a:ext cx="2044700" cy="18161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p:cNvSpPr/>
          <p:nvPr/>
        </p:nvSpPr>
        <p:spPr>
          <a:xfrm>
            <a:off x="7937500" y="3530600"/>
            <a:ext cx="2857500" cy="2679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8" name="Straight Connector 67"/>
          <p:cNvCxnSpPr/>
          <p:nvPr/>
        </p:nvCxnSpPr>
        <p:spPr>
          <a:xfrm rot="16200000" flipH="1">
            <a:off x="8642350" y="3803650"/>
            <a:ext cx="469900" cy="127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7" idx="0"/>
            <a:endCxn id="66" idx="0"/>
          </p:cNvCxnSpPr>
          <p:nvPr/>
        </p:nvCxnSpPr>
        <p:spPr>
          <a:xfrm rot="16200000" flipH="1">
            <a:off x="9144000" y="3752850"/>
            <a:ext cx="45720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9652000" y="3797300"/>
            <a:ext cx="457200" cy="127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flipV="1">
            <a:off x="10111930" y="3989162"/>
            <a:ext cx="330729" cy="27466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0800000" flipV="1">
            <a:off x="10337800" y="4419600"/>
            <a:ext cx="381000" cy="20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10388600" y="5054600"/>
            <a:ext cx="40640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10210800" y="5448300"/>
            <a:ext cx="381000" cy="165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9848850" y="5734050"/>
            <a:ext cx="330200" cy="241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endCxn id="66" idx="1"/>
          </p:cNvCxnSpPr>
          <p:nvPr/>
        </p:nvCxnSpPr>
        <p:spPr>
          <a:xfrm>
            <a:off x="8267700" y="4000500"/>
            <a:ext cx="388340" cy="253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001000" y="4457700"/>
            <a:ext cx="419100" cy="17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7950200" y="5016500"/>
            <a:ext cx="4191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8077200" y="5422900"/>
            <a:ext cx="444500" cy="63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8458200" y="5626101"/>
            <a:ext cx="304799" cy="292099"/>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a:off x="8864600" y="5918200"/>
            <a:ext cx="393700" cy="139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9347200" y="6007100"/>
            <a:ext cx="406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83" name="Rectangle 82"/>
          <p:cNvSpPr/>
          <p:nvPr/>
        </p:nvSpPr>
        <p:spPr>
          <a:xfrm>
            <a:off x="9093200" y="2794000"/>
            <a:ext cx="266700" cy="58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cxnSp>
        <p:nvCxnSpPr>
          <p:cNvPr id="84" name="Straight Arrow Connector 83"/>
          <p:cNvCxnSpPr/>
          <p:nvPr/>
        </p:nvCxnSpPr>
        <p:spPr>
          <a:xfrm rot="5400000">
            <a:off x="9036844" y="2673350"/>
            <a:ext cx="2405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rot="5400000" flipH="1" flipV="1">
            <a:off x="9156700" y="26543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051800" y="2857500"/>
            <a:ext cx="977900" cy="523220"/>
          </a:xfrm>
          <a:prstGeom prst="rect">
            <a:avLst/>
          </a:prstGeom>
          <a:noFill/>
        </p:spPr>
        <p:txBody>
          <a:bodyPr wrap="square" rtlCol="0">
            <a:spAutoFit/>
          </a:bodyPr>
          <a:lstStyle/>
          <a:p>
            <a:r>
              <a:rPr lang="en-IN" sz="1400" dirty="0">
                <a:latin typeface="Times New Roman" pitchFamily="18" charset="0"/>
                <a:cs typeface="Times New Roman" pitchFamily="18" charset="0"/>
              </a:rPr>
              <a:t>Read-write</a:t>
            </a:r>
          </a:p>
          <a:p>
            <a:r>
              <a:rPr lang="en-IN" sz="1400" dirty="0">
                <a:latin typeface="Times New Roman" pitchFamily="18" charset="0"/>
                <a:cs typeface="Times New Roman" pitchFamily="18" charset="0"/>
              </a:rPr>
              <a:t>heads  </a:t>
            </a:r>
          </a:p>
        </p:txBody>
      </p:sp>
      <p:sp>
        <p:nvSpPr>
          <p:cNvPr id="87" name="TextBox 86"/>
          <p:cNvSpPr txBox="1"/>
          <p:nvPr/>
        </p:nvSpPr>
        <p:spPr>
          <a:xfrm>
            <a:off x="10769600" y="4521200"/>
            <a:ext cx="838200" cy="523220"/>
          </a:xfrm>
          <a:prstGeom prst="rect">
            <a:avLst/>
          </a:prstGeom>
          <a:noFill/>
        </p:spPr>
        <p:txBody>
          <a:bodyPr wrap="square" rtlCol="0">
            <a:spAutoFit/>
          </a:bodyPr>
          <a:lstStyle/>
          <a:p>
            <a:r>
              <a:rPr lang="en-IN" sz="1400" dirty="0">
                <a:latin typeface="Times New Roman" pitchFamily="18" charset="0"/>
                <a:cs typeface="Times New Roman" pitchFamily="18" charset="0"/>
              </a:rPr>
              <a:t>Storage locations </a:t>
            </a:r>
          </a:p>
        </p:txBody>
      </p:sp>
      <p:sp>
        <p:nvSpPr>
          <p:cNvPr id="88" name="TextBox 87"/>
          <p:cNvSpPr txBox="1"/>
          <p:nvPr/>
        </p:nvSpPr>
        <p:spPr>
          <a:xfrm>
            <a:off x="9029700" y="5130800"/>
            <a:ext cx="800100" cy="307777"/>
          </a:xfrm>
          <a:prstGeom prst="rect">
            <a:avLst/>
          </a:prstGeom>
          <a:noFill/>
        </p:spPr>
        <p:txBody>
          <a:bodyPr wrap="square" rtlCol="0">
            <a:spAutoFit/>
          </a:bodyPr>
          <a:lstStyle/>
          <a:p>
            <a:r>
              <a:rPr lang="en-IN" sz="1400" dirty="0">
                <a:latin typeface="Times New Roman" pitchFamily="18" charset="0"/>
                <a:cs typeface="Times New Roman" pitchFamily="18" charset="0"/>
              </a:rPr>
              <a:t>Motions</a:t>
            </a:r>
          </a:p>
        </p:txBody>
      </p:sp>
      <p:sp>
        <p:nvSpPr>
          <p:cNvPr id="89" name="Curved Up Arrow 88"/>
          <p:cNvSpPr/>
          <p:nvPr/>
        </p:nvSpPr>
        <p:spPr>
          <a:xfrm>
            <a:off x="9169400" y="5448300"/>
            <a:ext cx="495300" cy="177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0" name="TextBox 89"/>
          <p:cNvSpPr txBox="1"/>
          <p:nvPr/>
        </p:nvSpPr>
        <p:spPr>
          <a:xfrm>
            <a:off x="152400" y="2590800"/>
            <a:ext cx="7277100" cy="3693319"/>
          </a:xfrm>
          <a:prstGeom prst="rect">
            <a:avLst/>
          </a:prstGeom>
          <a:noFill/>
        </p:spPr>
        <p:txBody>
          <a:bodyPr wrap="square" rtlCol="0">
            <a:spAutoFit/>
          </a:bodyPr>
          <a:lstStyle/>
          <a:p>
            <a:r>
              <a:rPr lang="en-IN" dirty="0">
                <a:latin typeface="Times New Roman" pitchFamily="18" charset="0"/>
                <a:cs typeface="Times New Roman" pitchFamily="18" charset="0"/>
              </a:rPr>
              <a:t>SAM: </a:t>
            </a:r>
          </a:p>
          <a:p>
            <a:r>
              <a:rPr lang="en-IN" dirty="0">
                <a:latin typeface="Times New Roman" pitchFamily="18" charset="0"/>
                <a:cs typeface="Times New Roman" pitchFamily="18" charset="0"/>
              </a:rPr>
              <a:t>Memories where storage locations can be accessed only in certain predetermined sequences. </a:t>
            </a:r>
          </a:p>
          <a:p>
            <a:r>
              <a:rPr lang="en-IN" dirty="0">
                <a:latin typeface="Times New Roman" pitchFamily="18" charset="0"/>
                <a:cs typeface="Times New Roman" pitchFamily="18" charset="0"/>
              </a:rPr>
              <a:t>Magnetic-tape, magnetic-bubble, optical memories employ serial access methods. </a:t>
            </a:r>
          </a:p>
          <a:p>
            <a:r>
              <a:rPr lang="en-IN" dirty="0">
                <a:latin typeface="Times New Roman" pitchFamily="18" charset="0"/>
                <a:cs typeface="Times New Roman" pitchFamily="18" charset="0"/>
              </a:rPr>
              <a:t>The access mechanism is shared among different locations. It must be assigned to different locations at different times. This is accomplished by moving the stored information, the read/write head or both. </a:t>
            </a:r>
          </a:p>
          <a:p>
            <a:r>
              <a:rPr lang="en-IN" dirty="0">
                <a:latin typeface="Times New Roman" pitchFamily="18" charset="0"/>
                <a:cs typeface="Times New Roman" pitchFamily="18" charset="0"/>
              </a:rPr>
              <a:t>Many serial access memories operate by continually moving the storage locations around a closed path or track. A particular location can be accessed only when it passes the fixed read/write head; thus the time required to access a particular location depends on its position relative to the read/write head when the access request is received.</a:t>
            </a:r>
            <a:endParaRPr lang="en-IN" dirty="0"/>
          </a:p>
        </p:txBody>
      </p:sp>
      <p:sp>
        <p:nvSpPr>
          <p:cNvPr id="91" name="TextBox 90"/>
          <p:cNvSpPr txBox="1"/>
          <p:nvPr/>
        </p:nvSpPr>
        <p:spPr>
          <a:xfrm>
            <a:off x="8293100" y="2159000"/>
            <a:ext cx="3175000" cy="369332"/>
          </a:xfrm>
          <a:prstGeom prst="rect">
            <a:avLst/>
          </a:prstGeom>
          <a:noFill/>
        </p:spPr>
        <p:txBody>
          <a:bodyPr wrap="square" rtlCol="0">
            <a:spAutoFit/>
          </a:bodyPr>
          <a:lstStyle/>
          <a:p>
            <a:r>
              <a:rPr lang="en-IN" dirty="0">
                <a:latin typeface="Times New Roman" pitchFamily="18" charset="0"/>
                <a:cs typeface="Times New Roman" pitchFamily="18" charset="0"/>
              </a:rPr>
              <a:t>Fig. Conceptual model of RAM </a:t>
            </a:r>
          </a:p>
        </p:txBody>
      </p:sp>
      <p:sp>
        <p:nvSpPr>
          <p:cNvPr id="92" name="TextBox 91"/>
          <p:cNvSpPr txBox="1"/>
          <p:nvPr/>
        </p:nvSpPr>
        <p:spPr>
          <a:xfrm>
            <a:off x="8077200" y="6273800"/>
            <a:ext cx="3175000" cy="369332"/>
          </a:xfrm>
          <a:prstGeom prst="rect">
            <a:avLst/>
          </a:prstGeom>
          <a:noFill/>
        </p:spPr>
        <p:txBody>
          <a:bodyPr wrap="square" rtlCol="0">
            <a:spAutoFit/>
          </a:bodyPr>
          <a:lstStyle/>
          <a:p>
            <a:r>
              <a:rPr lang="en-IN" dirty="0">
                <a:latin typeface="Times New Roman" pitchFamily="18" charset="0"/>
                <a:cs typeface="Times New Roman" pitchFamily="18" charset="0"/>
              </a:rPr>
              <a:t>Fig. Conceptual model of SAM</a:t>
            </a:r>
          </a:p>
        </p:txBody>
      </p:sp>
      <p:cxnSp>
        <p:nvCxnSpPr>
          <p:cNvPr id="93" name="Straight Arrow Connector 92"/>
          <p:cNvCxnSpPr/>
          <p:nvPr/>
        </p:nvCxnSpPr>
        <p:spPr>
          <a:xfrm rot="5400000" flipH="1" flipV="1">
            <a:off x="10477500" y="685800"/>
            <a:ext cx="2921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 y="165100"/>
            <a:ext cx="11760200" cy="6186309"/>
          </a:xfrm>
          <a:prstGeom prst="rect">
            <a:avLst/>
          </a:prstGeom>
          <a:noFill/>
        </p:spPr>
        <p:txBody>
          <a:bodyPr wrap="square" rtlCol="0">
            <a:spAutoFit/>
          </a:bodyPr>
          <a:lstStyle/>
          <a:p>
            <a:r>
              <a:rPr lang="en-IN" dirty="0">
                <a:latin typeface="Times New Roman" pitchFamily="18" charset="0"/>
                <a:cs typeface="Times New Roman" pitchFamily="18" charset="0"/>
              </a:rPr>
              <a:t>RAM vs. SAM:</a:t>
            </a:r>
          </a:p>
          <a:p>
            <a:r>
              <a:rPr lang="en-IN" dirty="0">
                <a:latin typeface="Times New Roman" pitchFamily="18" charset="0"/>
                <a:cs typeface="Times New Roman" pitchFamily="18" charset="0"/>
              </a:rPr>
              <a:t>Since every location has its own addressing mechanism, RAMs tend to be more costly than SAM</a:t>
            </a:r>
          </a:p>
          <a:p>
            <a:r>
              <a:rPr lang="en-IN" dirty="0">
                <a:latin typeface="Times New Roman" pitchFamily="18" charset="0"/>
                <a:cs typeface="Times New Roman" pitchFamily="18" charset="0"/>
              </a:rPr>
              <a:t>In SAM, the time required to bring the desired location into correspondence with a read/write head increases the effective access time. So SAM is slower than RAM.</a:t>
            </a:r>
          </a:p>
          <a:p>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Thus the access mode employed contributes significantly to the inverse relation between cost and access time.</a:t>
            </a:r>
          </a:p>
          <a:p>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Semi-random access mode:</a:t>
            </a:r>
          </a:p>
          <a:p>
            <a:r>
              <a:rPr lang="en-IN" dirty="0">
                <a:latin typeface="Times New Roman" pitchFamily="18" charset="0"/>
                <a:cs typeface="Times New Roman" pitchFamily="18" charset="0"/>
              </a:rPr>
              <a:t>Some memory devices such as magnetic disks contain a large number of independent rotating tracks.  If each track has its own read/write head, the tracks may be accessed randomly, although the access within each track is serial. </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Alterability; ROMs: </a:t>
            </a:r>
          </a:p>
          <a:p>
            <a:r>
              <a:rPr lang="en-IN" dirty="0">
                <a:latin typeface="Times New Roman" pitchFamily="18" charset="0"/>
                <a:cs typeface="Times New Roman" pitchFamily="18" charset="0"/>
              </a:rPr>
              <a:t>Once the information has been written, it can not be altered while the memory is in use. </a:t>
            </a:r>
          </a:p>
          <a:p>
            <a:r>
              <a:rPr lang="en-IN" dirty="0" err="1">
                <a:latin typeface="Times New Roman" pitchFamily="18" charset="0"/>
                <a:cs typeface="Times New Roman" pitchFamily="18" charset="0"/>
              </a:rPr>
              <a:t>Nonerasable</a:t>
            </a:r>
            <a:r>
              <a:rPr lang="en-IN" dirty="0">
                <a:latin typeface="Times New Roman" pitchFamily="18" charset="0"/>
                <a:cs typeface="Times New Roman" pitchFamily="18" charset="0"/>
              </a:rPr>
              <a:t> storage device. </a:t>
            </a:r>
          </a:p>
          <a:p>
            <a:r>
              <a:rPr lang="en-IN" dirty="0">
                <a:latin typeface="Times New Roman" pitchFamily="18" charset="0"/>
                <a:cs typeface="Times New Roman" pitchFamily="18" charset="0"/>
              </a:rPr>
              <a:t>Widely used for storing control programs such as </a:t>
            </a:r>
            <a:r>
              <a:rPr lang="en-IN" dirty="0" err="1">
                <a:latin typeface="Times New Roman" pitchFamily="18" charset="0"/>
                <a:cs typeface="Times New Roman" pitchFamily="18" charset="0"/>
              </a:rPr>
              <a:t>microprograms</a:t>
            </a:r>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ROMs whose content can be changed are called programmable ROMs (PROMs).</a:t>
            </a:r>
          </a:p>
          <a:p>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Read-write memories:</a:t>
            </a:r>
          </a:p>
          <a:p>
            <a:r>
              <a:rPr lang="en-IN" dirty="0">
                <a:latin typeface="Times New Roman" pitchFamily="18" charset="0"/>
                <a:cs typeface="Times New Roman" pitchFamily="18" charset="0"/>
              </a:rPr>
              <a:t>Memories in which reading or writing can be done are sometimes called read-write memories. </a:t>
            </a:r>
          </a:p>
          <a:p>
            <a:r>
              <a:rPr lang="en-IN" dirty="0">
                <a:latin typeface="Times New Roman" pitchFamily="18" charset="0"/>
                <a:cs typeface="Times New Roman" pitchFamily="18" charset="0"/>
              </a:rPr>
              <a:t>All memories used for temporary storage purposes are read-write memories.</a:t>
            </a: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200" y="203200"/>
            <a:ext cx="11722100" cy="6186309"/>
          </a:xfrm>
          <a:prstGeom prst="rect">
            <a:avLst/>
          </a:prstGeom>
          <a:noFill/>
        </p:spPr>
        <p:txBody>
          <a:bodyPr wrap="square" rtlCol="0">
            <a:spAutoFit/>
          </a:bodyPr>
          <a:lstStyle/>
          <a:p>
            <a:r>
              <a:rPr lang="en-IN" dirty="0">
                <a:latin typeface="Times New Roman" pitchFamily="18" charset="0"/>
                <a:cs typeface="Times New Roman" pitchFamily="18" charset="0"/>
              </a:rPr>
              <a:t>Permanence of storage: </a:t>
            </a:r>
          </a:p>
          <a:p>
            <a:r>
              <a:rPr lang="en-IN" dirty="0">
                <a:latin typeface="Times New Roman" pitchFamily="18" charset="0"/>
                <a:cs typeface="Times New Roman" pitchFamily="18" charset="0"/>
              </a:rPr>
              <a:t>Physical processes involved in storage are sometimes inherently unstable, so that the stored information may be lost over a period of time unless appropriate action is taken.</a:t>
            </a:r>
          </a:p>
          <a:p>
            <a:r>
              <a:rPr lang="en-IN" dirty="0">
                <a:latin typeface="Times New Roman" pitchFamily="18" charset="0"/>
                <a:cs typeface="Times New Roman" pitchFamily="18" charset="0"/>
              </a:rPr>
              <a:t>Three different memory characteristics that can destroy information: </a:t>
            </a:r>
          </a:p>
          <a:p>
            <a:r>
              <a:rPr lang="en-IN" u="sng" dirty="0">
                <a:latin typeface="Times New Roman" pitchFamily="18" charset="0"/>
                <a:cs typeface="Times New Roman" pitchFamily="18" charset="0"/>
              </a:rPr>
              <a:t>Destructive read out (DRO)</a:t>
            </a:r>
          </a:p>
          <a:p>
            <a:r>
              <a:rPr lang="en-IN" dirty="0">
                <a:latin typeface="Times New Roman" pitchFamily="18" charset="0"/>
                <a:cs typeface="Times New Roman" pitchFamily="18" charset="0"/>
              </a:rPr>
              <a:t>Method of reading the memory destroys the stored information. </a:t>
            </a:r>
          </a:p>
          <a:p>
            <a:r>
              <a:rPr lang="en-IN" dirty="0">
                <a:latin typeface="Times New Roman" pitchFamily="18" charset="0"/>
                <a:cs typeface="Times New Roman" pitchFamily="18" charset="0"/>
              </a:rPr>
              <a:t>Each read operation must be followed by a write operation that restores the original state of the memory. This restoration is usually carried out automatically using a buffer register. The word at the addressed location is transferred to the buffer register where it is available to external devices. The contents of the buffer are automatically written back into the location originally addressed.</a:t>
            </a:r>
          </a:p>
          <a:p>
            <a:endParaRPr lang="en-IN" dirty="0">
              <a:latin typeface="Times New Roman" pitchFamily="18" charset="0"/>
              <a:cs typeface="Times New Roman" pitchFamily="18" charset="0"/>
            </a:endParaRPr>
          </a:p>
          <a:p>
            <a:r>
              <a:rPr lang="en-IN" u="sng" dirty="0">
                <a:latin typeface="Times New Roman" pitchFamily="18" charset="0"/>
                <a:cs typeface="Times New Roman" pitchFamily="18" charset="0"/>
              </a:rPr>
              <a:t>NDRO</a:t>
            </a:r>
            <a:r>
              <a:rPr lang="en-IN" dirty="0">
                <a:latin typeface="Times New Roman" pitchFamily="18" charset="0"/>
                <a:cs typeface="Times New Roman" pitchFamily="18" charset="0"/>
              </a:rPr>
              <a:t>: Memories in which reading does not affect the stored data are said to have </a:t>
            </a:r>
            <a:r>
              <a:rPr lang="en-IN" dirty="0" err="1">
                <a:latin typeface="Times New Roman" pitchFamily="18" charset="0"/>
                <a:cs typeface="Times New Roman" pitchFamily="18" charset="0"/>
              </a:rPr>
              <a:t>nondestructive</a:t>
            </a:r>
            <a:r>
              <a:rPr lang="en-IN" dirty="0">
                <a:latin typeface="Times New Roman" pitchFamily="18" charset="0"/>
                <a:cs typeface="Times New Roman" pitchFamily="18" charset="0"/>
              </a:rPr>
              <a:t> readout (NDRO).</a:t>
            </a:r>
          </a:p>
          <a:p>
            <a:r>
              <a:rPr lang="en-IN" u="sng" dirty="0">
                <a:latin typeface="Times New Roman" pitchFamily="18" charset="0"/>
                <a:cs typeface="Times New Roman" pitchFamily="18" charset="0"/>
              </a:rPr>
              <a:t>Dynamic memory</a:t>
            </a:r>
            <a:r>
              <a:rPr lang="en-IN" dirty="0">
                <a:latin typeface="Times New Roman" pitchFamily="18" charset="0"/>
                <a:cs typeface="Times New Roman" pitchFamily="18" charset="0"/>
              </a:rPr>
              <a:t>:</a:t>
            </a:r>
          </a:p>
          <a:p>
            <a:r>
              <a:rPr lang="en-IN" dirty="0">
                <a:latin typeface="Times New Roman" pitchFamily="18" charset="0"/>
                <a:cs typeface="Times New Roman" pitchFamily="18" charset="0"/>
              </a:rPr>
              <a:t>Certain memory devices have the property that a stored 1 tends to become a 0, or vice versa, due to some physical decay process. </a:t>
            </a:r>
          </a:p>
          <a:p>
            <a:r>
              <a:rPr lang="en-IN" dirty="0">
                <a:latin typeface="Times New Roman" pitchFamily="18" charset="0"/>
                <a:cs typeface="Times New Roman" pitchFamily="18" charset="0"/>
              </a:rPr>
              <a:t>Requires periodic refreshing to avoid the loss of information. </a:t>
            </a:r>
          </a:p>
          <a:p>
            <a:r>
              <a:rPr lang="en-IN" dirty="0">
                <a:latin typeface="Times New Roman" pitchFamily="18" charset="0"/>
                <a:cs typeface="Times New Roman" pitchFamily="18" charset="0"/>
              </a:rPr>
              <a:t>Memories using magnetic storage techniques are static.</a:t>
            </a:r>
          </a:p>
          <a:p>
            <a:r>
              <a:rPr lang="en-IN" dirty="0">
                <a:latin typeface="Times New Roman" pitchFamily="18" charset="0"/>
                <a:cs typeface="Times New Roman" pitchFamily="18" charset="0"/>
              </a:rPr>
              <a:t> </a:t>
            </a:r>
          </a:p>
          <a:p>
            <a:r>
              <a:rPr lang="en-IN" u="sng" dirty="0">
                <a:latin typeface="Times New Roman" pitchFamily="18" charset="0"/>
                <a:cs typeface="Times New Roman" pitchFamily="18" charset="0"/>
              </a:rPr>
              <a:t>Volatile</a:t>
            </a:r>
            <a:r>
              <a:rPr lang="en-IN" dirty="0">
                <a:latin typeface="Times New Roman" pitchFamily="18" charset="0"/>
                <a:cs typeface="Times New Roman" pitchFamily="18" charset="0"/>
              </a:rPr>
              <a:t>:</a:t>
            </a:r>
          </a:p>
          <a:p>
            <a:r>
              <a:rPr lang="en-IN" dirty="0">
                <a:latin typeface="Times New Roman" pitchFamily="18" charset="0"/>
                <a:cs typeface="Times New Roman" pitchFamily="18" charset="0"/>
              </a:rPr>
              <a:t>Physical process that can destroy the contents of a memory is the failure of its power supply. </a:t>
            </a:r>
          </a:p>
          <a:p>
            <a:r>
              <a:rPr lang="en-IN" dirty="0">
                <a:latin typeface="Times New Roman" pitchFamily="18" charset="0"/>
                <a:cs typeface="Times New Roman" pitchFamily="18" charset="0"/>
              </a:rPr>
              <a:t>A memory is said to be volatile if the stored information can be destroyed by a power failure. </a:t>
            </a:r>
          </a:p>
          <a:p>
            <a:r>
              <a:rPr lang="en-IN" dirty="0">
                <a:latin typeface="Times New Roman" pitchFamily="18" charset="0"/>
                <a:cs typeface="Times New Roman" pitchFamily="18" charset="0"/>
              </a:rPr>
              <a:t>Most semiconductor memories are </a:t>
            </a:r>
            <a:r>
              <a:rPr lang="en-IN" dirty="0" err="1">
                <a:latin typeface="Times New Roman" pitchFamily="18" charset="0"/>
                <a:cs typeface="Times New Roman" pitchFamily="18" charset="0"/>
              </a:rPr>
              <a:t>nonvolatile</a:t>
            </a:r>
            <a:r>
              <a:rPr lang="en-IN" dirty="0">
                <a:latin typeface="Times New Roman" pitchFamily="18" charset="0"/>
                <a:cs typeface="Times New Roman"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100" y="266700"/>
            <a:ext cx="11480800" cy="3970318"/>
          </a:xfrm>
          <a:prstGeom prst="rect">
            <a:avLst/>
          </a:prstGeom>
          <a:noFill/>
        </p:spPr>
        <p:txBody>
          <a:bodyPr wrap="square" rtlCol="0">
            <a:spAutoFit/>
          </a:bodyPr>
          <a:lstStyle/>
          <a:p>
            <a:r>
              <a:rPr lang="en-IN" u="sng" dirty="0">
                <a:latin typeface="Times New Roman" pitchFamily="18" charset="0"/>
                <a:cs typeface="Times New Roman" pitchFamily="18" charset="0"/>
              </a:rPr>
              <a:t>Cycle time</a:t>
            </a:r>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Time needed to complete any read or write operation in the memory is the cycle time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M</a:t>
            </a:r>
            <a:r>
              <a:rPr lang="en-IN" dirty="0">
                <a:latin typeface="Times New Roman" pitchFamily="18" charset="0"/>
                <a:cs typeface="Times New Roman" pitchFamily="18" charset="0"/>
              </a:rPr>
              <a:t>).</a:t>
            </a:r>
          </a:p>
          <a:p>
            <a:r>
              <a:rPr lang="en-IN" dirty="0">
                <a:latin typeface="Times New Roman" pitchFamily="18" charset="0"/>
                <a:cs typeface="Times New Roman" pitchFamily="18" charset="0"/>
              </a:rPr>
              <a:t>Data transfer rate or bandwidth (</a:t>
            </a:r>
            <a:r>
              <a:rPr lang="en-IN" dirty="0" err="1">
                <a:latin typeface="Times New Roman" pitchFamily="18" charset="0"/>
                <a:cs typeface="Times New Roman" pitchFamily="18" charset="0"/>
              </a:rPr>
              <a:t>b</a:t>
            </a:r>
            <a:r>
              <a:rPr lang="en-IN" baseline="-25000" dirty="0" err="1">
                <a:latin typeface="Times New Roman" pitchFamily="18" charset="0"/>
                <a:cs typeface="Times New Roman" pitchFamily="18" charset="0"/>
              </a:rPr>
              <a:t>M</a:t>
            </a:r>
            <a:r>
              <a:rPr lang="en-IN" dirty="0">
                <a:latin typeface="Times New Roman" pitchFamily="18" charset="0"/>
                <a:cs typeface="Times New Roman" pitchFamily="18" charset="0"/>
              </a:rPr>
              <a:t>=1/</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M</a:t>
            </a:r>
            <a:r>
              <a:rPr lang="en-IN" dirty="0">
                <a:latin typeface="Times New Roman" pitchFamily="18" charset="0"/>
                <a:cs typeface="Times New Roman" pitchFamily="18" charset="0"/>
              </a:rPr>
              <a:t>):</a:t>
            </a:r>
          </a:p>
          <a:p>
            <a:r>
              <a:rPr lang="en-IN" dirty="0">
                <a:latin typeface="Times New Roman" pitchFamily="18" charset="0"/>
                <a:cs typeface="Times New Roman" pitchFamily="18" charset="0"/>
              </a:rPr>
              <a:t>Maximum amount of information that can be transferred to or from the memory every second. </a:t>
            </a:r>
          </a:p>
          <a:p>
            <a:r>
              <a:rPr lang="en-IN" dirty="0">
                <a:latin typeface="Times New Roman" pitchFamily="18" charset="0"/>
                <a:cs typeface="Times New Roman" pitchFamily="18" charset="0"/>
              </a:rPr>
              <a:t>Data transfer rate is measured in bits or words per second.</a:t>
            </a:r>
          </a:p>
          <a:p>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In DRO and dynamic memories, it may not be possible to initiate another memory access until a restore or refresh operation has been carried out. In such cases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M</a:t>
            </a:r>
            <a:r>
              <a:rPr lang="en-IN" dirty="0">
                <a:latin typeface="Times New Roman" pitchFamily="18" charset="0"/>
                <a:cs typeface="Times New Roman" pitchFamily="18" charset="0"/>
              </a:rPr>
              <a:t>, both are used to measure memory speed. </a:t>
            </a:r>
          </a:p>
          <a:p>
            <a:r>
              <a:rPr lang="en-IN" dirty="0">
                <a:latin typeface="Times New Roman" pitchFamily="18" charset="0"/>
                <a:cs typeface="Times New Roman" pitchFamily="18" charset="0"/>
              </a:rPr>
              <a:t>Access time may be more important in measuring overall computer system performance since it determines the length of time a processor must wait after initiating a memory access request; during the remainder of the memory cycle, both processor and memory can operate simultaneously. </a:t>
            </a:r>
          </a:p>
          <a:p>
            <a:r>
              <a:rPr lang="en-IN" dirty="0">
                <a:latin typeface="Times New Roman" pitchFamily="18" charset="0"/>
                <a:cs typeface="Times New Roman" pitchFamily="18" charset="0"/>
              </a:rPr>
              <a:t>If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 </a:t>
            </a:r>
            <a:r>
              <a:rPr lang="en-IN" dirty="0" err="1">
                <a:latin typeface="Times New Roman" pitchFamily="18" charset="0"/>
                <a:cs typeface="Times New Roman" pitchFamily="18" charset="0"/>
              </a:rPr>
              <a:t>t</a:t>
            </a:r>
            <a:r>
              <a:rPr lang="en-IN" baseline="-25000" dirty="0" err="1">
                <a:latin typeface="Times New Roman" pitchFamily="18" charset="0"/>
                <a:cs typeface="Times New Roman" pitchFamily="18" charset="0"/>
              </a:rPr>
              <a:t>M</a:t>
            </a:r>
            <a:r>
              <a:rPr lang="en-IN" baseline="-25000" dirty="0">
                <a:latin typeface="Times New Roman" pitchFamily="18" charset="0"/>
                <a:cs typeface="Times New Roman" pitchFamily="18" charset="0"/>
              </a:rPr>
              <a:t>, </a:t>
            </a:r>
            <a:r>
              <a:rPr lang="en-IN" dirty="0">
                <a:latin typeface="Times New Roman" pitchFamily="18" charset="0"/>
                <a:cs typeface="Times New Roman" pitchFamily="18" charset="0"/>
              </a:rPr>
              <a:t>then </a:t>
            </a:r>
            <a:r>
              <a:rPr lang="en-IN" dirty="0" err="1">
                <a:latin typeface="Times New Roman" pitchFamily="18" charset="0"/>
                <a:cs typeface="Times New Roman" pitchFamily="18" charset="0"/>
              </a:rPr>
              <a:t>b</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 </a:t>
            </a:r>
            <a:r>
              <a:rPr lang="en-IN" dirty="0" err="1">
                <a:latin typeface="Times New Roman" pitchFamily="18" charset="0"/>
                <a:cs typeface="Times New Roman" pitchFamily="18" charset="0"/>
              </a:rPr>
              <a:t>b</a:t>
            </a:r>
            <a:r>
              <a:rPr lang="en-IN" baseline="-25000" dirty="0" err="1">
                <a:latin typeface="Times New Roman" pitchFamily="18" charset="0"/>
                <a:cs typeface="Times New Roman" pitchFamily="18" charset="0"/>
              </a:rPr>
              <a:t>M</a:t>
            </a:r>
            <a:r>
              <a:rPr lang="en-IN" baseline="-25000" dirty="0">
                <a:latin typeface="Times New Roman" pitchFamily="18" charset="0"/>
                <a:cs typeface="Times New Roman" pitchFamily="18" charset="0"/>
              </a:rPr>
              <a:t> </a:t>
            </a:r>
            <a:r>
              <a:rPr lang="en-IN" dirty="0">
                <a:latin typeface="Times New Roman" pitchFamily="18" charset="0"/>
                <a:cs typeface="Times New Roman" pitchFamily="18" charset="0"/>
              </a:rPr>
              <a:t>and </a:t>
            </a:r>
            <a:r>
              <a:rPr lang="en-IN" dirty="0" err="1">
                <a:latin typeface="Times New Roman" pitchFamily="18" charset="0"/>
                <a:cs typeface="Times New Roman" pitchFamily="18" charset="0"/>
              </a:rPr>
              <a:t>b</a:t>
            </a:r>
            <a:r>
              <a:rPr lang="en-IN" baseline="-25000" dirty="0" err="1">
                <a:latin typeface="Times New Roman" pitchFamily="18" charset="0"/>
                <a:cs typeface="Times New Roman" pitchFamily="18" charset="0"/>
              </a:rPr>
              <a:t>A</a:t>
            </a:r>
            <a:r>
              <a:rPr lang="en-IN" dirty="0">
                <a:latin typeface="Times New Roman" pitchFamily="18" charset="0"/>
                <a:cs typeface="Times New Roman" pitchFamily="18" charset="0"/>
              </a:rPr>
              <a:t> does not represent the actual number of accesses that can be carried out per second, whereas </a:t>
            </a:r>
            <a:r>
              <a:rPr lang="en-IN" dirty="0" err="1">
                <a:latin typeface="Times New Roman" pitchFamily="18" charset="0"/>
                <a:cs typeface="Times New Roman" pitchFamily="18" charset="0"/>
              </a:rPr>
              <a:t>b</a:t>
            </a:r>
            <a:r>
              <a:rPr lang="en-IN" baseline="-25000" dirty="0" err="1">
                <a:latin typeface="Times New Roman" pitchFamily="18" charset="0"/>
                <a:cs typeface="Times New Roman" pitchFamily="18" charset="0"/>
              </a:rPr>
              <a:t>M</a:t>
            </a:r>
            <a:r>
              <a:rPr lang="en-IN" dirty="0">
                <a:latin typeface="Times New Roman" pitchFamily="18" charset="0"/>
                <a:cs typeface="Times New Roman" pitchFamily="18" charset="0"/>
              </a:rPr>
              <a:t> does.</a:t>
            </a:r>
          </a:p>
          <a:p>
            <a:endParaRPr lang="en-IN"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 y="215900"/>
            <a:ext cx="11861800" cy="2031325"/>
          </a:xfrm>
          <a:prstGeom prst="rect">
            <a:avLst/>
          </a:prstGeom>
          <a:noFill/>
        </p:spPr>
        <p:txBody>
          <a:bodyPr wrap="square" rtlCol="0">
            <a:spAutoFit/>
          </a:bodyPr>
          <a:lstStyle/>
          <a:p>
            <a:r>
              <a:rPr lang="en-IN" dirty="0">
                <a:latin typeface="Times New Roman" pitchFamily="18" charset="0"/>
                <a:cs typeface="Times New Roman" pitchFamily="18" charset="0"/>
              </a:rPr>
              <a:t>Memory system </a:t>
            </a:r>
          </a:p>
          <a:p>
            <a:r>
              <a:rPr lang="en-IN" dirty="0">
                <a:latin typeface="Times New Roman" pitchFamily="18" charset="0"/>
                <a:cs typeface="Times New Roman" pitchFamily="18" charset="0"/>
              </a:rPr>
              <a:t>Programmers want unlimited amount of fast memory</a:t>
            </a:r>
          </a:p>
          <a:p>
            <a:r>
              <a:rPr lang="en-IN" dirty="0">
                <a:latin typeface="Times New Roman" pitchFamily="18" charset="0"/>
                <a:cs typeface="Times New Roman" pitchFamily="18" charset="0"/>
              </a:rPr>
              <a:t>Most of the programs do not access all code or data uniformly</a:t>
            </a:r>
          </a:p>
          <a:p>
            <a:r>
              <a:rPr lang="en-IN" dirty="0">
                <a:latin typeface="Times New Roman" pitchFamily="18" charset="0"/>
                <a:cs typeface="Times New Roman" pitchFamily="18" charset="0"/>
              </a:rPr>
              <a:t>Smaller hardwire is faster and fast memory is expensive</a:t>
            </a:r>
          </a:p>
          <a:p>
            <a:r>
              <a:rPr lang="en-IN" dirty="0">
                <a:latin typeface="Times New Roman" pitchFamily="18" charset="0"/>
                <a:cs typeface="Times New Roman" pitchFamily="18" charset="0"/>
              </a:rPr>
              <a:t>Memory hierarchy contains several levels of memory, the goal is to provide a memory system with cost almost as low as the cheapest level of memory and speed almost as fast as the fastest level</a:t>
            </a:r>
          </a:p>
          <a:p>
            <a:r>
              <a:rPr lang="en-IN" dirty="0">
                <a:latin typeface="Times New Roman" pitchFamily="18" charset="0"/>
                <a:cs typeface="Times New Roman" pitchFamily="18" charset="0"/>
              </a:rPr>
              <a:t>All data in N</a:t>
            </a:r>
            <a:r>
              <a:rPr lang="en-IN" baseline="30000" dirty="0">
                <a:latin typeface="Times New Roman" pitchFamily="18" charset="0"/>
                <a:cs typeface="Times New Roman" pitchFamily="18" charset="0"/>
              </a:rPr>
              <a:t>th</a:t>
            </a:r>
            <a:r>
              <a:rPr lang="en-IN" dirty="0">
                <a:latin typeface="Times New Roman" pitchFamily="18" charset="0"/>
                <a:cs typeface="Times New Roman" pitchFamily="18" charset="0"/>
              </a:rPr>
              <a:t> level is also available in (N+1)</a:t>
            </a:r>
            <a:r>
              <a:rPr lang="en-IN" baseline="30000" dirty="0" err="1">
                <a:latin typeface="Times New Roman" pitchFamily="18" charset="0"/>
                <a:cs typeface="Times New Roman" pitchFamily="18" charset="0"/>
              </a:rPr>
              <a:t>th</a:t>
            </a:r>
            <a:r>
              <a:rPr lang="en-IN" dirty="0">
                <a:latin typeface="Times New Roman" pitchFamily="18" charset="0"/>
                <a:cs typeface="Times New Roman" pitchFamily="18" charset="0"/>
              </a:rPr>
              <a:t> level of the hierarchy </a:t>
            </a:r>
          </a:p>
        </p:txBody>
      </p:sp>
      <p:sp>
        <p:nvSpPr>
          <p:cNvPr id="3481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pic>
        <p:nvPicPr>
          <p:cNvPr id="3481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578600" y="4292600"/>
            <a:ext cx="790575" cy="333375"/>
          </a:xfrm>
          <a:prstGeom prst="rect">
            <a:avLst/>
          </a:prstGeom>
          <a:noFill/>
        </p:spPr>
      </p:pic>
      <p:sp>
        <p:nvSpPr>
          <p:cNvPr id="23" name="TextBox 22"/>
          <p:cNvSpPr txBox="1"/>
          <p:nvPr/>
        </p:nvSpPr>
        <p:spPr>
          <a:xfrm>
            <a:off x="622300" y="4953000"/>
            <a:ext cx="1092200" cy="369332"/>
          </a:xfrm>
          <a:prstGeom prst="rect">
            <a:avLst/>
          </a:prstGeom>
          <a:noFill/>
        </p:spPr>
        <p:txBody>
          <a:bodyPr wrap="square" rtlCol="0">
            <a:spAutoFit/>
          </a:bodyPr>
          <a:lstStyle/>
          <a:p>
            <a:r>
              <a:rPr lang="en-IN" dirty="0">
                <a:latin typeface="Times New Roman" pitchFamily="18" charset="0"/>
                <a:cs typeface="Times New Roman" pitchFamily="18" charset="0"/>
              </a:rPr>
              <a:t>Registers </a:t>
            </a:r>
          </a:p>
        </p:txBody>
      </p:sp>
      <p:sp>
        <p:nvSpPr>
          <p:cNvPr id="24" name="TextBox 23"/>
          <p:cNvSpPr txBox="1"/>
          <p:nvPr/>
        </p:nvSpPr>
        <p:spPr>
          <a:xfrm>
            <a:off x="812800" y="4419600"/>
            <a:ext cx="647700" cy="369332"/>
          </a:xfrm>
          <a:prstGeom prst="rect">
            <a:avLst/>
          </a:prstGeom>
          <a:noFill/>
        </p:spPr>
        <p:txBody>
          <a:bodyPr wrap="square" rtlCol="0">
            <a:spAutoFit/>
          </a:bodyPr>
          <a:lstStyle/>
          <a:p>
            <a:r>
              <a:rPr lang="en-IN" dirty="0">
                <a:latin typeface="Times New Roman" pitchFamily="18" charset="0"/>
                <a:cs typeface="Times New Roman" pitchFamily="18" charset="0"/>
              </a:rPr>
              <a:t>CPU </a:t>
            </a:r>
          </a:p>
        </p:txBody>
      </p:sp>
      <p:sp>
        <p:nvSpPr>
          <p:cNvPr id="25" name="TextBox 24"/>
          <p:cNvSpPr txBox="1"/>
          <p:nvPr/>
        </p:nvSpPr>
        <p:spPr>
          <a:xfrm>
            <a:off x="2120900" y="4787900"/>
            <a:ext cx="558800" cy="369332"/>
          </a:xfrm>
          <a:prstGeom prst="rect">
            <a:avLst/>
          </a:prstGeom>
          <a:noFill/>
        </p:spPr>
        <p:txBody>
          <a:bodyPr wrap="square" rtlCol="0">
            <a:spAutoFit/>
          </a:bodyPr>
          <a:lstStyle/>
          <a:p>
            <a:r>
              <a:rPr lang="en-IN" dirty="0">
                <a:latin typeface="Times New Roman" pitchFamily="18" charset="0"/>
                <a:cs typeface="Times New Roman" pitchFamily="18" charset="0"/>
              </a:rPr>
              <a:t>CM  </a:t>
            </a:r>
          </a:p>
        </p:txBody>
      </p:sp>
      <p:sp>
        <p:nvSpPr>
          <p:cNvPr id="26" name="TextBox 25"/>
          <p:cNvSpPr txBox="1"/>
          <p:nvPr/>
        </p:nvSpPr>
        <p:spPr>
          <a:xfrm>
            <a:off x="2933700" y="4775200"/>
            <a:ext cx="635000" cy="369332"/>
          </a:xfrm>
          <a:prstGeom prst="rect">
            <a:avLst/>
          </a:prstGeom>
          <a:noFill/>
        </p:spPr>
        <p:txBody>
          <a:bodyPr wrap="square" rtlCol="0">
            <a:spAutoFit/>
          </a:bodyPr>
          <a:lstStyle/>
          <a:p>
            <a:r>
              <a:rPr lang="en-IN" dirty="0">
                <a:latin typeface="Times New Roman" pitchFamily="18" charset="0"/>
                <a:cs typeface="Times New Roman" pitchFamily="18" charset="0"/>
              </a:rPr>
              <a:t>MM</a:t>
            </a:r>
          </a:p>
        </p:txBody>
      </p:sp>
      <p:sp>
        <p:nvSpPr>
          <p:cNvPr id="27" name="Oval 26"/>
          <p:cNvSpPr/>
          <p:nvPr/>
        </p:nvSpPr>
        <p:spPr>
          <a:xfrm>
            <a:off x="406400" y="4356100"/>
            <a:ext cx="1485900" cy="11303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660400" y="4978400"/>
            <a:ext cx="9779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29" name="Rectangle 28"/>
          <p:cNvSpPr/>
          <p:nvPr/>
        </p:nvSpPr>
        <p:spPr>
          <a:xfrm>
            <a:off x="2171700" y="4483100"/>
            <a:ext cx="495300" cy="901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30" name="Rectangle 29"/>
          <p:cNvSpPr/>
          <p:nvPr/>
        </p:nvSpPr>
        <p:spPr>
          <a:xfrm>
            <a:off x="2959100" y="4470400"/>
            <a:ext cx="495300" cy="901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p:cNvSpPr txBox="1"/>
          <p:nvPr/>
        </p:nvSpPr>
        <p:spPr>
          <a:xfrm>
            <a:off x="584200" y="5562600"/>
            <a:ext cx="850900" cy="523220"/>
          </a:xfrm>
          <a:prstGeom prst="rect">
            <a:avLst/>
          </a:prstGeom>
          <a:noFill/>
        </p:spPr>
        <p:txBody>
          <a:bodyPr wrap="square" rtlCol="0">
            <a:spAutoFit/>
          </a:bodyPr>
          <a:lstStyle/>
          <a:p>
            <a:r>
              <a:rPr lang="en-IN" sz="1400" dirty="0">
                <a:latin typeface="Times New Roman" pitchFamily="18" charset="0"/>
                <a:cs typeface="Times New Roman" pitchFamily="18" charset="0"/>
              </a:rPr>
              <a:t>Register </a:t>
            </a:r>
          </a:p>
          <a:p>
            <a:r>
              <a:rPr lang="en-IN" sz="1400" dirty="0">
                <a:latin typeface="Times New Roman" pitchFamily="18" charset="0"/>
                <a:cs typeface="Times New Roman" pitchFamily="18" charset="0"/>
              </a:rPr>
              <a:t>reference  </a:t>
            </a:r>
          </a:p>
        </p:txBody>
      </p:sp>
      <p:sp>
        <p:nvSpPr>
          <p:cNvPr id="32" name="TextBox 31"/>
          <p:cNvSpPr txBox="1"/>
          <p:nvPr/>
        </p:nvSpPr>
        <p:spPr>
          <a:xfrm>
            <a:off x="2006600" y="5486400"/>
            <a:ext cx="889000" cy="523220"/>
          </a:xfrm>
          <a:prstGeom prst="rect">
            <a:avLst/>
          </a:prstGeom>
          <a:noFill/>
        </p:spPr>
        <p:txBody>
          <a:bodyPr wrap="square" rtlCol="0">
            <a:spAutoFit/>
          </a:bodyPr>
          <a:lstStyle/>
          <a:p>
            <a:r>
              <a:rPr lang="en-IN" sz="1400" dirty="0">
                <a:latin typeface="Times New Roman" pitchFamily="18" charset="0"/>
                <a:cs typeface="Times New Roman" pitchFamily="18" charset="0"/>
              </a:rPr>
              <a:t>Cache </a:t>
            </a:r>
          </a:p>
          <a:p>
            <a:r>
              <a:rPr lang="en-IN" sz="1400" dirty="0">
                <a:latin typeface="Times New Roman" pitchFamily="18" charset="0"/>
                <a:cs typeface="Times New Roman" pitchFamily="18" charset="0"/>
              </a:rPr>
              <a:t>reference</a:t>
            </a:r>
          </a:p>
        </p:txBody>
      </p:sp>
      <p:sp>
        <p:nvSpPr>
          <p:cNvPr id="33" name="TextBox 32"/>
          <p:cNvSpPr txBox="1"/>
          <p:nvPr/>
        </p:nvSpPr>
        <p:spPr>
          <a:xfrm>
            <a:off x="2870200" y="5448300"/>
            <a:ext cx="863600" cy="523220"/>
          </a:xfrm>
          <a:prstGeom prst="rect">
            <a:avLst/>
          </a:prstGeom>
          <a:noFill/>
        </p:spPr>
        <p:txBody>
          <a:bodyPr wrap="square" rtlCol="0">
            <a:spAutoFit/>
          </a:bodyPr>
          <a:lstStyle/>
          <a:p>
            <a:r>
              <a:rPr lang="en-IN" sz="1400" dirty="0">
                <a:latin typeface="Times New Roman" pitchFamily="18" charset="0"/>
                <a:cs typeface="Times New Roman" pitchFamily="18" charset="0"/>
              </a:rPr>
              <a:t>Memory</a:t>
            </a:r>
          </a:p>
          <a:p>
            <a:r>
              <a:rPr lang="en-IN" sz="1400" dirty="0">
                <a:latin typeface="Times New Roman" pitchFamily="18" charset="0"/>
                <a:cs typeface="Times New Roman" pitchFamily="18" charset="0"/>
              </a:rPr>
              <a:t>reference </a:t>
            </a:r>
          </a:p>
        </p:txBody>
      </p:sp>
      <p:sp>
        <p:nvSpPr>
          <p:cNvPr id="34" name="TextBox 33"/>
          <p:cNvSpPr txBox="1"/>
          <p:nvPr/>
        </p:nvSpPr>
        <p:spPr>
          <a:xfrm>
            <a:off x="3683000" y="6070601"/>
            <a:ext cx="711200" cy="307777"/>
          </a:xfrm>
          <a:prstGeom prst="rect">
            <a:avLst/>
          </a:prstGeom>
          <a:noFill/>
        </p:spPr>
        <p:txBody>
          <a:bodyPr wrap="square" rtlCol="0">
            <a:spAutoFit/>
          </a:bodyPr>
          <a:lstStyle/>
          <a:p>
            <a:r>
              <a:rPr lang="en-IN" sz="1400" dirty="0">
                <a:latin typeface="Times New Roman" pitchFamily="18" charset="0"/>
                <a:cs typeface="Times New Roman" pitchFamily="18" charset="0"/>
              </a:rPr>
              <a:t>IO bus </a:t>
            </a:r>
          </a:p>
        </p:txBody>
      </p:sp>
      <p:sp>
        <p:nvSpPr>
          <p:cNvPr id="35" name="TextBox 34"/>
          <p:cNvSpPr txBox="1"/>
          <p:nvPr/>
        </p:nvSpPr>
        <p:spPr>
          <a:xfrm>
            <a:off x="1181100" y="6096000"/>
            <a:ext cx="812800" cy="307777"/>
          </a:xfrm>
          <a:prstGeom prst="rect">
            <a:avLst/>
          </a:prstGeom>
          <a:noFill/>
        </p:spPr>
        <p:txBody>
          <a:bodyPr wrap="square" rtlCol="0">
            <a:spAutoFit/>
          </a:bodyPr>
          <a:lstStyle/>
          <a:p>
            <a:r>
              <a:rPr lang="en-IN" sz="1400" dirty="0">
                <a:latin typeface="Times New Roman" pitchFamily="18" charset="0"/>
                <a:cs typeface="Times New Roman" pitchFamily="18" charset="0"/>
              </a:rPr>
              <a:t>MM bus</a:t>
            </a:r>
          </a:p>
        </p:txBody>
      </p:sp>
      <p:sp>
        <p:nvSpPr>
          <p:cNvPr id="36" name="TextBox 35"/>
          <p:cNvSpPr txBox="1"/>
          <p:nvPr/>
        </p:nvSpPr>
        <p:spPr>
          <a:xfrm>
            <a:off x="3886200" y="4533900"/>
            <a:ext cx="914400" cy="646331"/>
          </a:xfrm>
          <a:prstGeom prst="rect">
            <a:avLst/>
          </a:prstGeom>
          <a:noFill/>
        </p:spPr>
        <p:txBody>
          <a:bodyPr wrap="square" rtlCol="0">
            <a:spAutoFit/>
          </a:bodyPr>
          <a:lstStyle/>
          <a:p>
            <a:r>
              <a:rPr lang="en-IN" dirty="0">
                <a:latin typeface="Times New Roman" pitchFamily="18" charset="0"/>
                <a:cs typeface="Times New Roman" pitchFamily="18" charset="0"/>
              </a:rPr>
              <a:t>IO devices</a:t>
            </a:r>
          </a:p>
        </p:txBody>
      </p:sp>
      <p:sp>
        <p:nvSpPr>
          <p:cNvPr id="38" name="Oval 37"/>
          <p:cNvSpPr/>
          <p:nvPr/>
        </p:nvSpPr>
        <p:spPr>
          <a:xfrm>
            <a:off x="3721100" y="4546600"/>
            <a:ext cx="1270000" cy="635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Connector 45"/>
          <p:cNvCxnSpPr>
            <a:stCxn id="27" idx="6"/>
            <a:endCxn id="29" idx="1"/>
          </p:cNvCxnSpPr>
          <p:nvPr/>
        </p:nvCxnSpPr>
        <p:spPr>
          <a:xfrm>
            <a:off x="1892300" y="4921250"/>
            <a:ext cx="27940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667000" y="4959350"/>
            <a:ext cx="27940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3441700" y="4908550"/>
            <a:ext cx="27940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35" idx="0"/>
          </p:cNvCxnSpPr>
          <p:nvPr/>
        </p:nvCxnSpPr>
        <p:spPr>
          <a:xfrm rot="5400000">
            <a:off x="1225550" y="5289550"/>
            <a:ext cx="1168400" cy="4445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3556000" y="4909066"/>
            <a:ext cx="495302" cy="12123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3937000" y="5156200"/>
            <a:ext cx="863600" cy="738664"/>
          </a:xfrm>
          <a:prstGeom prst="rect">
            <a:avLst/>
          </a:prstGeom>
          <a:noFill/>
        </p:spPr>
        <p:txBody>
          <a:bodyPr wrap="square" rtlCol="0">
            <a:spAutoFit/>
          </a:bodyPr>
          <a:lstStyle/>
          <a:p>
            <a:r>
              <a:rPr lang="en-IN" sz="1400" dirty="0">
                <a:latin typeface="Times New Roman" pitchFamily="18" charset="0"/>
                <a:cs typeface="Times New Roman" pitchFamily="18" charset="0"/>
              </a:rPr>
              <a:t>Disk memory</a:t>
            </a:r>
          </a:p>
          <a:p>
            <a:r>
              <a:rPr lang="en-IN" sz="1400" dirty="0">
                <a:latin typeface="Times New Roman" pitchFamily="18" charset="0"/>
                <a:cs typeface="Times New Roman" pitchFamily="18" charset="0"/>
              </a:rPr>
              <a:t>reference</a:t>
            </a:r>
          </a:p>
        </p:txBody>
      </p:sp>
      <p:sp>
        <p:nvSpPr>
          <p:cNvPr id="37" name="TextBox 36"/>
          <p:cNvSpPr txBox="1"/>
          <p:nvPr/>
        </p:nvSpPr>
        <p:spPr>
          <a:xfrm>
            <a:off x="5499100" y="4254500"/>
            <a:ext cx="6477000" cy="1200329"/>
          </a:xfrm>
          <a:prstGeom prst="rect">
            <a:avLst/>
          </a:prstGeom>
          <a:noFill/>
        </p:spPr>
        <p:txBody>
          <a:bodyPr wrap="square" rtlCol="0">
            <a:spAutoFit/>
          </a:bodyPr>
          <a:lstStyle/>
          <a:p>
            <a:r>
              <a:rPr lang="en-IN" dirty="0">
                <a:latin typeface="Times New Roman" pitchFamily="18" charset="0"/>
                <a:cs typeface="Times New Roman" pitchFamily="18" charset="0"/>
              </a:rPr>
              <a:t>Cost/bit =                 </a:t>
            </a:r>
          </a:p>
          <a:p>
            <a:r>
              <a:rPr lang="en-IN" dirty="0">
                <a:latin typeface="Times New Roman" pitchFamily="18" charset="0"/>
                <a:cs typeface="Times New Roman" pitchFamily="18" charset="0"/>
              </a:rPr>
              <a:t>As S2&gt;&gt;S1, Cost/bit=C2</a:t>
            </a:r>
          </a:p>
          <a:p>
            <a:r>
              <a:rPr lang="en-IN" dirty="0">
                <a:latin typeface="Times New Roman" pitchFamily="18" charset="0"/>
                <a:cs typeface="Times New Roman" pitchFamily="18" charset="0"/>
              </a:rPr>
              <a:t>S1 and S2 are the size of level 1 and level 2 of memory</a:t>
            </a:r>
          </a:p>
          <a:p>
            <a:r>
              <a:rPr lang="en-IN" dirty="0">
                <a:latin typeface="Times New Roman" pitchFamily="18" charset="0"/>
                <a:cs typeface="Times New Roman" pitchFamily="18" charset="0"/>
              </a:rPr>
              <a:t>C1 and C2 are cost/bit of level 1 and level 2 of memory</a:t>
            </a:r>
          </a:p>
        </p:txBody>
      </p:sp>
    </p:spTree>
    <p:extLst>
      <p:ext uri="{BB962C8B-B14F-4D97-AF65-F5344CB8AC3E}">
        <p14:creationId xmlns:p14="http://schemas.microsoft.com/office/powerpoint/2010/main" val="2490162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100" y="165100"/>
            <a:ext cx="11823700" cy="2031325"/>
          </a:xfrm>
          <a:prstGeom prst="rect">
            <a:avLst/>
          </a:prstGeom>
          <a:noFill/>
        </p:spPr>
        <p:txBody>
          <a:bodyPr wrap="square" rtlCol="0">
            <a:spAutoFit/>
          </a:bodyPr>
          <a:lstStyle/>
          <a:p>
            <a:r>
              <a:rPr lang="en-IN" dirty="0">
                <a:latin typeface="Times New Roman" pitchFamily="18" charset="0"/>
                <a:cs typeface="Times New Roman" pitchFamily="18" charset="0"/>
              </a:rPr>
              <a:t>Virtual memory</a:t>
            </a:r>
          </a:p>
          <a:p>
            <a:r>
              <a:rPr lang="en-IN" dirty="0">
                <a:latin typeface="Times New Roman" pitchFamily="18" charset="0"/>
                <a:cs typeface="Times New Roman" pitchFamily="18" charset="0"/>
              </a:rPr>
              <a:t>Computer runs multiple processes simultaneously and each process needs its own address space. So it is required to share smaller amount of physical memory among multiple processes</a:t>
            </a:r>
          </a:p>
          <a:p>
            <a:r>
              <a:rPr lang="en-IN" dirty="0">
                <a:latin typeface="Times New Roman" pitchFamily="18" charset="0"/>
                <a:cs typeface="Times New Roman" pitchFamily="18" charset="0"/>
              </a:rPr>
              <a:t>A program may be too large for physical memory. Programs may be divided into pieces and loads the pieces that are required for current execution into the physical memory and kept the rest of the pieces into the virtual memory</a:t>
            </a:r>
          </a:p>
          <a:p>
            <a:r>
              <a:rPr lang="en-IN" dirty="0">
                <a:latin typeface="Times New Roman" pitchFamily="18" charset="0"/>
                <a:cs typeface="Times New Roman" pitchFamily="18" charset="0"/>
              </a:rPr>
              <a:t>Virtual memory reduces the burden of the programmer by automatically managing the two levels of the memory hierarchy represented by main memory and secondary memory </a:t>
            </a:r>
          </a:p>
        </p:txBody>
      </p:sp>
      <p:sp>
        <p:nvSpPr>
          <p:cNvPr id="3" name="Rectangle 2"/>
          <p:cNvSpPr/>
          <p:nvPr/>
        </p:nvSpPr>
        <p:spPr>
          <a:xfrm>
            <a:off x="558800" y="2717800"/>
            <a:ext cx="863600" cy="901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cxnSp>
        <p:nvCxnSpPr>
          <p:cNvPr id="5" name="Straight Connector 4"/>
          <p:cNvCxnSpPr>
            <a:stCxn id="3" idx="1"/>
            <a:endCxn id="3" idx="3"/>
          </p:cNvCxnSpPr>
          <p:nvPr/>
        </p:nvCxnSpPr>
        <p:spPr>
          <a:xfrm rot="10800000" flipH="1">
            <a:off x="558800" y="31686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0800000" flipH="1">
            <a:off x="571500" y="29273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flipH="1">
            <a:off x="571500" y="3384550"/>
            <a:ext cx="863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171700" y="2717800"/>
            <a:ext cx="863600" cy="2006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cxnSp>
        <p:nvCxnSpPr>
          <p:cNvPr id="10" name="Straight Connector 9"/>
          <p:cNvCxnSpPr>
            <a:stCxn id="9" idx="1"/>
            <a:endCxn id="9" idx="3"/>
          </p:cNvCxnSpPr>
          <p:nvPr/>
        </p:nvCxnSpPr>
        <p:spPr>
          <a:xfrm rot="10800000" flipH="1">
            <a:off x="2171700" y="372110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2184400" y="29273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184400" y="31813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2171700" y="34353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2184400" y="41846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2184400" y="3956050"/>
            <a:ext cx="86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2171700" y="4438650"/>
            <a:ext cx="863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816100" y="26797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0   </a:t>
            </a:r>
          </a:p>
        </p:txBody>
      </p:sp>
      <p:sp>
        <p:nvSpPr>
          <p:cNvPr id="20" name="TextBox 19"/>
          <p:cNvSpPr txBox="1"/>
          <p:nvPr/>
        </p:nvSpPr>
        <p:spPr>
          <a:xfrm>
            <a:off x="1689100" y="2908301"/>
            <a:ext cx="444500" cy="307777"/>
          </a:xfrm>
          <a:prstGeom prst="rect">
            <a:avLst/>
          </a:prstGeom>
          <a:noFill/>
        </p:spPr>
        <p:txBody>
          <a:bodyPr wrap="square" rtlCol="0">
            <a:spAutoFit/>
          </a:bodyPr>
          <a:lstStyle/>
          <a:p>
            <a:r>
              <a:rPr lang="en-IN" sz="1400" dirty="0">
                <a:latin typeface="Times New Roman" pitchFamily="18" charset="0"/>
                <a:cs typeface="Times New Roman" pitchFamily="18" charset="0"/>
              </a:rPr>
              <a:t>4K  </a:t>
            </a:r>
          </a:p>
        </p:txBody>
      </p:sp>
      <p:sp>
        <p:nvSpPr>
          <p:cNvPr id="21" name="TextBox 20"/>
          <p:cNvSpPr txBox="1"/>
          <p:nvPr/>
        </p:nvSpPr>
        <p:spPr>
          <a:xfrm>
            <a:off x="1701800" y="3136901"/>
            <a:ext cx="444500" cy="307777"/>
          </a:xfrm>
          <a:prstGeom prst="rect">
            <a:avLst/>
          </a:prstGeom>
          <a:noFill/>
        </p:spPr>
        <p:txBody>
          <a:bodyPr wrap="square" rtlCol="0">
            <a:spAutoFit/>
          </a:bodyPr>
          <a:lstStyle/>
          <a:p>
            <a:r>
              <a:rPr lang="en-IN" sz="1400" dirty="0">
                <a:latin typeface="Times New Roman" pitchFamily="18" charset="0"/>
                <a:cs typeface="Times New Roman" pitchFamily="18" charset="0"/>
              </a:rPr>
              <a:t>8K</a:t>
            </a:r>
          </a:p>
        </p:txBody>
      </p:sp>
      <p:sp>
        <p:nvSpPr>
          <p:cNvPr id="22" name="TextBox 21"/>
          <p:cNvSpPr txBox="1"/>
          <p:nvPr/>
        </p:nvSpPr>
        <p:spPr>
          <a:xfrm>
            <a:off x="1651000" y="33655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12K  </a:t>
            </a:r>
          </a:p>
        </p:txBody>
      </p:sp>
      <p:sp>
        <p:nvSpPr>
          <p:cNvPr id="23" name="TextBox 22"/>
          <p:cNvSpPr txBox="1"/>
          <p:nvPr/>
        </p:nvSpPr>
        <p:spPr>
          <a:xfrm>
            <a:off x="1663700" y="36195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16K</a:t>
            </a:r>
          </a:p>
        </p:txBody>
      </p:sp>
      <p:sp>
        <p:nvSpPr>
          <p:cNvPr id="24" name="TextBox 23"/>
          <p:cNvSpPr txBox="1"/>
          <p:nvPr/>
        </p:nvSpPr>
        <p:spPr>
          <a:xfrm>
            <a:off x="1663700" y="39116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20K</a:t>
            </a:r>
          </a:p>
        </p:txBody>
      </p:sp>
      <p:sp>
        <p:nvSpPr>
          <p:cNvPr id="25" name="TextBox 24"/>
          <p:cNvSpPr txBox="1"/>
          <p:nvPr/>
        </p:nvSpPr>
        <p:spPr>
          <a:xfrm>
            <a:off x="1689100" y="41402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24K</a:t>
            </a:r>
          </a:p>
        </p:txBody>
      </p:sp>
      <p:sp>
        <p:nvSpPr>
          <p:cNvPr id="26" name="TextBox 25"/>
          <p:cNvSpPr txBox="1"/>
          <p:nvPr/>
        </p:nvSpPr>
        <p:spPr>
          <a:xfrm>
            <a:off x="1676400" y="44069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28K</a:t>
            </a:r>
          </a:p>
        </p:txBody>
      </p:sp>
      <p:sp>
        <p:nvSpPr>
          <p:cNvPr id="27" name="TextBox 26"/>
          <p:cNvSpPr txBox="1"/>
          <p:nvPr/>
        </p:nvSpPr>
        <p:spPr>
          <a:xfrm>
            <a:off x="2438400" y="29083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C   </a:t>
            </a:r>
          </a:p>
        </p:txBody>
      </p:sp>
      <p:sp>
        <p:nvSpPr>
          <p:cNvPr id="28" name="TextBox 27"/>
          <p:cNvSpPr txBox="1"/>
          <p:nvPr/>
        </p:nvSpPr>
        <p:spPr>
          <a:xfrm>
            <a:off x="2413000" y="36830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A  </a:t>
            </a:r>
          </a:p>
        </p:txBody>
      </p:sp>
      <p:sp>
        <p:nvSpPr>
          <p:cNvPr id="29" name="TextBox 28"/>
          <p:cNvSpPr txBox="1"/>
          <p:nvPr/>
        </p:nvSpPr>
        <p:spPr>
          <a:xfrm>
            <a:off x="2438400" y="41783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B  </a:t>
            </a:r>
          </a:p>
        </p:txBody>
      </p:sp>
      <p:sp>
        <p:nvSpPr>
          <p:cNvPr id="30" name="TextBox 29"/>
          <p:cNvSpPr txBox="1"/>
          <p:nvPr/>
        </p:nvSpPr>
        <p:spPr>
          <a:xfrm>
            <a:off x="787400" y="33401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D  </a:t>
            </a:r>
          </a:p>
        </p:txBody>
      </p:sp>
      <p:sp>
        <p:nvSpPr>
          <p:cNvPr id="31" name="TextBox 30"/>
          <p:cNvSpPr txBox="1"/>
          <p:nvPr/>
        </p:nvSpPr>
        <p:spPr>
          <a:xfrm>
            <a:off x="228600" y="26670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0  </a:t>
            </a:r>
          </a:p>
        </p:txBody>
      </p:sp>
      <p:sp>
        <p:nvSpPr>
          <p:cNvPr id="32" name="TextBox 31"/>
          <p:cNvSpPr txBox="1"/>
          <p:nvPr/>
        </p:nvSpPr>
        <p:spPr>
          <a:xfrm>
            <a:off x="165100" y="2895601"/>
            <a:ext cx="444500" cy="307777"/>
          </a:xfrm>
          <a:prstGeom prst="rect">
            <a:avLst/>
          </a:prstGeom>
          <a:noFill/>
        </p:spPr>
        <p:txBody>
          <a:bodyPr wrap="square" rtlCol="0">
            <a:spAutoFit/>
          </a:bodyPr>
          <a:lstStyle/>
          <a:p>
            <a:r>
              <a:rPr lang="en-IN" sz="1400" dirty="0">
                <a:latin typeface="Times New Roman" pitchFamily="18" charset="0"/>
                <a:cs typeface="Times New Roman" pitchFamily="18" charset="0"/>
              </a:rPr>
              <a:t>4K  </a:t>
            </a:r>
          </a:p>
        </p:txBody>
      </p:sp>
      <p:sp>
        <p:nvSpPr>
          <p:cNvPr id="33" name="TextBox 32"/>
          <p:cNvSpPr txBox="1"/>
          <p:nvPr/>
        </p:nvSpPr>
        <p:spPr>
          <a:xfrm>
            <a:off x="177800" y="3149601"/>
            <a:ext cx="444500" cy="307777"/>
          </a:xfrm>
          <a:prstGeom prst="rect">
            <a:avLst/>
          </a:prstGeom>
          <a:noFill/>
        </p:spPr>
        <p:txBody>
          <a:bodyPr wrap="square" rtlCol="0">
            <a:spAutoFit/>
          </a:bodyPr>
          <a:lstStyle/>
          <a:p>
            <a:r>
              <a:rPr lang="en-IN" sz="1400" dirty="0">
                <a:latin typeface="Times New Roman" pitchFamily="18" charset="0"/>
                <a:cs typeface="Times New Roman" pitchFamily="18" charset="0"/>
              </a:rPr>
              <a:t>8K </a:t>
            </a:r>
          </a:p>
        </p:txBody>
      </p:sp>
      <p:sp>
        <p:nvSpPr>
          <p:cNvPr id="34" name="TextBox 33"/>
          <p:cNvSpPr txBox="1"/>
          <p:nvPr/>
        </p:nvSpPr>
        <p:spPr>
          <a:xfrm>
            <a:off x="152400" y="3327401"/>
            <a:ext cx="508000" cy="307777"/>
          </a:xfrm>
          <a:prstGeom prst="rect">
            <a:avLst/>
          </a:prstGeom>
          <a:noFill/>
        </p:spPr>
        <p:txBody>
          <a:bodyPr wrap="square" rtlCol="0">
            <a:spAutoFit/>
          </a:bodyPr>
          <a:lstStyle/>
          <a:p>
            <a:r>
              <a:rPr lang="en-IN" sz="1400" dirty="0">
                <a:latin typeface="Times New Roman" pitchFamily="18" charset="0"/>
                <a:cs typeface="Times New Roman" pitchFamily="18" charset="0"/>
              </a:rPr>
              <a:t>12K </a:t>
            </a:r>
          </a:p>
        </p:txBody>
      </p:sp>
      <p:sp>
        <p:nvSpPr>
          <p:cNvPr id="35" name="TextBox 34"/>
          <p:cNvSpPr txBox="1"/>
          <p:nvPr/>
        </p:nvSpPr>
        <p:spPr>
          <a:xfrm>
            <a:off x="800100" y="26797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A </a:t>
            </a:r>
          </a:p>
        </p:txBody>
      </p:sp>
      <p:sp>
        <p:nvSpPr>
          <p:cNvPr id="36" name="TextBox 35"/>
          <p:cNvSpPr txBox="1"/>
          <p:nvPr/>
        </p:nvSpPr>
        <p:spPr>
          <a:xfrm>
            <a:off x="800100" y="28829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B </a:t>
            </a:r>
          </a:p>
        </p:txBody>
      </p:sp>
      <p:sp>
        <p:nvSpPr>
          <p:cNvPr id="37" name="TextBox 36"/>
          <p:cNvSpPr txBox="1"/>
          <p:nvPr/>
        </p:nvSpPr>
        <p:spPr>
          <a:xfrm>
            <a:off x="787400" y="31369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C  </a:t>
            </a:r>
          </a:p>
        </p:txBody>
      </p:sp>
      <p:sp>
        <p:nvSpPr>
          <p:cNvPr id="38" name="Flowchart: Magnetic Disk 37"/>
          <p:cNvSpPr/>
          <p:nvPr/>
        </p:nvSpPr>
        <p:spPr>
          <a:xfrm>
            <a:off x="749300" y="3848100"/>
            <a:ext cx="622300" cy="914400"/>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p:cNvSpPr/>
          <p:nvPr/>
        </p:nvSpPr>
        <p:spPr>
          <a:xfrm>
            <a:off x="850900" y="4368800"/>
            <a:ext cx="304800" cy="2921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40" name="TextBox 39"/>
          <p:cNvSpPr txBox="1"/>
          <p:nvPr/>
        </p:nvSpPr>
        <p:spPr>
          <a:xfrm>
            <a:off x="850900" y="4381501"/>
            <a:ext cx="317500" cy="307777"/>
          </a:xfrm>
          <a:prstGeom prst="rect">
            <a:avLst/>
          </a:prstGeom>
          <a:noFill/>
        </p:spPr>
        <p:txBody>
          <a:bodyPr wrap="square" rtlCol="0">
            <a:spAutoFit/>
          </a:bodyPr>
          <a:lstStyle/>
          <a:p>
            <a:r>
              <a:rPr lang="en-IN" sz="1400" dirty="0">
                <a:latin typeface="Times New Roman" pitchFamily="18" charset="0"/>
                <a:cs typeface="Times New Roman" pitchFamily="18" charset="0"/>
              </a:rPr>
              <a:t>D </a:t>
            </a:r>
          </a:p>
        </p:txBody>
      </p:sp>
      <p:cxnSp>
        <p:nvCxnSpPr>
          <p:cNvPr id="42" name="Straight Connector 41"/>
          <p:cNvCxnSpPr/>
          <p:nvPr/>
        </p:nvCxnSpPr>
        <p:spPr>
          <a:xfrm>
            <a:off x="1409700" y="2844800"/>
            <a:ext cx="2159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1600200" y="3784600"/>
            <a:ext cx="2159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1123950" y="3321050"/>
            <a:ext cx="939800" cy="127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422400" y="3060700"/>
            <a:ext cx="139700" cy="127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914400" y="3683000"/>
            <a:ext cx="1244600" cy="254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1536700" y="4305300"/>
            <a:ext cx="2667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638300" y="3048000"/>
            <a:ext cx="2159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1512094" y="3175000"/>
            <a:ext cx="265906" cy="134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409700" y="3289300"/>
            <a:ext cx="228600" cy="127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82600" y="4419600"/>
            <a:ext cx="2667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409700" y="3530600"/>
            <a:ext cx="889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1366044" y="3638550"/>
            <a:ext cx="240506" cy="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a:off x="159544" y="4095750"/>
            <a:ext cx="659606" cy="134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95300" y="3759200"/>
            <a:ext cx="9779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152400" y="4787900"/>
            <a:ext cx="736600" cy="523220"/>
          </a:xfrm>
          <a:prstGeom prst="rect">
            <a:avLst/>
          </a:prstGeom>
          <a:noFill/>
        </p:spPr>
        <p:txBody>
          <a:bodyPr wrap="square" rtlCol="0">
            <a:spAutoFit/>
          </a:bodyPr>
          <a:lstStyle/>
          <a:p>
            <a:r>
              <a:rPr lang="en-IN" sz="1400" dirty="0">
                <a:latin typeface="Times New Roman" pitchFamily="18" charset="0"/>
                <a:cs typeface="Times New Roman" pitchFamily="18" charset="0"/>
              </a:rPr>
              <a:t>Virtual address</a:t>
            </a:r>
          </a:p>
        </p:txBody>
      </p:sp>
      <p:sp>
        <p:nvSpPr>
          <p:cNvPr id="82" name="TextBox 81"/>
          <p:cNvSpPr txBox="1"/>
          <p:nvPr/>
        </p:nvSpPr>
        <p:spPr>
          <a:xfrm>
            <a:off x="1511300" y="4749800"/>
            <a:ext cx="800100" cy="523220"/>
          </a:xfrm>
          <a:prstGeom prst="rect">
            <a:avLst/>
          </a:prstGeom>
          <a:noFill/>
        </p:spPr>
        <p:txBody>
          <a:bodyPr wrap="square" rtlCol="0">
            <a:spAutoFit/>
          </a:bodyPr>
          <a:lstStyle/>
          <a:p>
            <a:r>
              <a:rPr lang="en-IN" sz="1400" dirty="0">
                <a:latin typeface="Times New Roman" pitchFamily="18" charset="0"/>
                <a:cs typeface="Times New Roman" pitchFamily="18" charset="0"/>
              </a:rPr>
              <a:t>Physical address</a:t>
            </a:r>
          </a:p>
        </p:txBody>
      </p:sp>
      <p:sp>
        <p:nvSpPr>
          <p:cNvPr id="83" name="TextBox 82"/>
          <p:cNvSpPr txBox="1"/>
          <p:nvPr/>
        </p:nvSpPr>
        <p:spPr>
          <a:xfrm>
            <a:off x="863600" y="4953001"/>
            <a:ext cx="546100" cy="307777"/>
          </a:xfrm>
          <a:prstGeom prst="rect">
            <a:avLst/>
          </a:prstGeom>
          <a:noFill/>
        </p:spPr>
        <p:txBody>
          <a:bodyPr wrap="square" rtlCol="0">
            <a:spAutoFit/>
          </a:bodyPr>
          <a:lstStyle/>
          <a:p>
            <a:r>
              <a:rPr lang="en-IN" sz="1400" dirty="0">
                <a:latin typeface="Times New Roman" pitchFamily="18" charset="0"/>
                <a:cs typeface="Times New Roman" pitchFamily="18" charset="0"/>
              </a:rPr>
              <a:t>Disk</a:t>
            </a:r>
          </a:p>
        </p:txBody>
      </p:sp>
      <p:cxnSp>
        <p:nvCxnSpPr>
          <p:cNvPr id="91" name="Straight Arrow Connector 90"/>
          <p:cNvCxnSpPr/>
          <p:nvPr/>
        </p:nvCxnSpPr>
        <p:spPr>
          <a:xfrm rot="5400000">
            <a:off x="1785144" y="4756150"/>
            <a:ext cx="227806" cy="13494"/>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rot="5400000">
            <a:off x="-355600" y="4165600"/>
            <a:ext cx="1270000" cy="25400"/>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1010444" y="4895850"/>
            <a:ext cx="227806" cy="13494"/>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215900" y="2260600"/>
            <a:ext cx="7188200" cy="369332"/>
          </a:xfrm>
          <a:prstGeom prst="rect">
            <a:avLst/>
          </a:prstGeom>
          <a:noFill/>
        </p:spPr>
        <p:txBody>
          <a:bodyPr wrap="square" rtlCol="0">
            <a:spAutoFit/>
          </a:bodyPr>
          <a:lstStyle/>
          <a:p>
            <a:r>
              <a:rPr lang="en-IN" dirty="0">
                <a:latin typeface="Times New Roman" pitchFamily="18" charset="0"/>
                <a:cs typeface="Times New Roman" pitchFamily="18" charset="0"/>
              </a:rPr>
              <a:t>Mapping of virtual memory to physical memory for a program with 4 pages </a:t>
            </a:r>
          </a:p>
        </p:txBody>
      </p:sp>
      <p:sp>
        <p:nvSpPr>
          <p:cNvPr id="98" name="TextBox 97"/>
          <p:cNvSpPr txBox="1"/>
          <p:nvPr/>
        </p:nvSpPr>
        <p:spPr>
          <a:xfrm>
            <a:off x="3175000" y="2679700"/>
            <a:ext cx="8851900" cy="2585323"/>
          </a:xfrm>
          <a:prstGeom prst="rect">
            <a:avLst/>
          </a:prstGeom>
          <a:noFill/>
        </p:spPr>
        <p:txBody>
          <a:bodyPr wrap="square" rtlCol="0">
            <a:spAutoFit/>
          </a:bodyPr>
          <a:lstStyle/>
          <a:p>
            <a:r>
              <a:rPr lang="en-IN" dirty="0">
                <a:latin typeface="Times New Roman" pitchFamily="18" charset="0"/>
                <a:cs typeface="Times New Roman" pitchFamily="18" charset="0"/>
              </a:rPr>
              <a:t>Logical program is in the contiguous virtual address space. It contains 4 pages. Pages A, B and C are located in physical memory whereas page D is located in disk</a:t>
            </a:r>
          </a:p>
          <a:p>
            <a:r>
              <a:rPr lang="en-IN" dirty="0">
                <a:latin typeface="Times New Roman" pitchFamily="18" charset="0"/>
                <a:cs typeface="Times New Roman" pitchFamily="18" charset="0"/>
              </a:rPr>
              <a:t>Virtual memory simplifies the loading of program for execution</a:t>
            </a:r>
          </a:p>
          <a:p>
            <a:r>
              <a:rPr lang="en-IN" dirty="0">
                <a:latin typeface="Times New Roman" pitchFamily="18" charset="0"/>
                <a:cs typeface="Times New Roman" pitchFamily="18" charset="0"/>
              </a:rPr>
              <a:t>Logical program can be placed any where in the physical memory or disk by changing the mapping between them</a:t>
            </a:r>
          </a:p>
          <a:p>
            <a:r>
              <a:rPr lang="en-IN" dirty="0">
                <a:latin typeface="Times New Roman" pitchFamily="18" charset="0"/>
                <a:cs typeface="Times New Roman" pitchFamily="18" charset="0"/>
              </a:rPr>
              <a:t>In presence of virtual memory CPU generates virtual addresses during the program execution. The virtual address is translated by a combination of hardware and software to physical address for accessing the physical memory. This process is called memory mapping or address translation.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7800" y="167425"/>
            <a:ext cx="11760915"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Cache memory</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First level of memory hierarchy</a:t>
            </a:r>
          </a:p>
          <a:p>
            <a:r>
              <a:rPr lang="en-IN" dirty="0">
                <a:latin typeface="Times New Roman" panose="02020603050405020304" pitchFamily="18" charset="0"/>
                <a:cs typeface="Times New Roman" panose="02020603050405020304" pitchFamily="18" charset="0"/>
              </a:rPr>
              <a:t>CPU has direct access to both cache memory (CM) and main memory (MM)</a:t>
            </a:r>
          </a:p>
          <a:p>
            <a:r>
              <a:rPr lang="en-IN" dirty="0">
                <a:latin typeface="Times New Roman" panose="02020603050405020304" pitchFamily="18" charset="0"/>
                <a:cs typeface="Times New Roman" panose="02020603050405020304" pitchFamily="18" charset="0"/>
              </a:rPr>
              <a:t>Both CM and MM are divided into equal sized units, called block in case of MM and block frame in case of CM for uniformity of reference </a:t>
            </a:r>
          </a:p>
        </p:txBody>
      </p:sp>
      <p:graphicFrame>
        <p:nvGraphicFramePr>
          <p:cNvPr id="37" name="Table 36"/>
          <p:cNvGraphicFramePr>
            <a:graphicFrameLocks noGrp="1"/>
          </p:cNvGraphicFramePr>
          <p:nvPr>
            <p:extLst>
              <p:ext uri="{D42A27DB-BD31-4B8C-83A1-F6EECF244321}">
                <p14:modId xmlns:p14="http://schemas.microsoft.com/office/powerpoint/2010/main" val="1165920284"/>
              </p:ext>
            </p:extLst>
          </p:nvPr>
        </p:nvGraphicFramePr>
        <p:xfrm>
          <a:off x="4001796" y="2562879"/>
          <a:ext cx="488950" cy="296213"/>
        </p:xfrm>
        <a:graphic>
          <a:graphicData uri="http://schemas.openxmlformats.org/drawingml/2006/table">
            <a:tbl>
              <a:tblPr firstRow="1" firstCol="1" bandRow="1">
                <a:tableStyleId>{5C22544A-7EE6-4342-B048-85BDC9FD1C3A}</a:tableStyleId>
              </a:tblPr>
              <a:tblGrid>
                <a:gridCol w="488950">
                  <a:extLst>
                    <a:ext uri="{9D8B030D-6E8A-4147-A177-3AD203B41FA5}">
                      <a16:colId xmlns:a16="http://schemas.microsoft.com/office/drawing/2014/main" val="4021038650"/>
                    </a:ext>
                  </a:extLst>
                </a:gridCol>
              </a:tblGrid>
              <a:tr h="296213">
                <a:tc>
                  <a:txBody>
                    <a:bodyPr/>
                    <a:lstStyle/>
                    <a:p>
                      <a:pPr algn="just">
                        <a:lnSpc>
                          <a:spcPct val="115000"/>
                        </a:lnSpc>
                        <a:spcAft>
                          <a:spcPts val="0"/>
                        </a:spcAft>
                      </a:pPr>
                      <a:r>
                        <a:rPr lang="en-IN" sz="1100" dirty="0">
                          <a:effectLst/>
                        </a:rPr>
                        <a:t>CM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107749614"/>
                  </a:ext>
                </a:extLst>
              </a:tr>
            </a:tbl>
          </a:graphicData>
        </a:graphic>
      </p:graphicFrame>
      <p:sp>
        <p:nvSpPr>
          <p:cNvPr id="40" name="Rectangle 39"/>
          <p:cNvSpPr/>
          <p:nvPr/>
        </p:nvSpPr>
        <p:spPr>
          <a:xfrm>
            <a:off x="2368980" y="2029283"/>
            <a:ext cx="872836" cy="5335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1" name="TextBox 40"/>
          <p:cNvSpPr txBox="1"/>
          <p:nvPr/>
        </p:nvSpPr>
        <p:spPr>
          <a:xfrm>
            <a:off x="2556016" y="2111415"/>
            <a:ext cx="6858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CM</a:t>
            </a:r>
          </a:p>
        </p:txBody>
      </p:sp>
      <p:sp>
        <p:nvSpPr>
          <p:cNvPr id="42" name="Rectangle 41"/>
          <p:cNvSpPr/>
          <p:nvPr/>
        </p:nvSpPr>
        <p:spPr>
          <a:xfrm>
            <a:off x="5347708" y="1947151"/>
            <a:ext cx="872836" cy="5335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3" name="TextBox 42"/>
          <p:cNvSpPr txBox="1"/>
          <p:nvPr/>
        </p:nvSpPr>
        <p:spPr>
          <a:xfrm>
            <a:off x="5534744" y="2029283"/>
            <a:ext cx="6858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MM</a:t>
            </a:r>
          </a:p>
        </p:txBody>
      </p:sp>
      <p:sp>
        <p:nvSpPr>
          <p:cNvPr id="44" name="Rectangle 43"/>
          <p:cNvSpPr/>
          <p:nvPr/>
        </p:nvSpPr>
        <p:spPr>
          <a:xfrm>
            <a:off x="373926" y="2859092"/>
            <a:ext cx="872836" cy="5335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5" name="TextBox 44"/>
          <p:cNvSpPr txBox="1"/>
          <p:nvPr/>
        </p:nvSpPr>
        <p:spPr>
          <a:xfrm>
            <a:off x="560962" y="2941224"/>
            <a:ext cx="6858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CPU</a:t>
            </a:r>
          </a:p>
        </p:txBody>
      </p:sp>
      <p:cxnSp>
        <p:nvCxnSpPr>
          <p:cNvPr id="47" name="Straight Connector 46"/>
          <p:cNvCxnSpPr/>
          <p:nvPr/>
        </p:nvCxnSpPr>
        <p:spPr>
          <a:xfrm>
            <a:off x="1246762" y="3310556"/>
            <a:ext cx="45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endCxn id="42" idx="2"/>
          </p:cNvCxnSpPr>
          <p:nvPr/>
        </p:nvCxnSpPr>
        <p:spPr>
          <a:xfrm flipH="1" flipV="1">
            <a:off x="5784126" y="2480747"/>
            <a:ext cx="34636" cy="82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2805398" y="2537707"/>
            <a:ext cx="31172" cy="772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3241816" y="2397415"/>
            <a:ext cx="21058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40" idx="1"/>
          </p:cNvCxnSpPr>
          <p:nvPr/>
        </p:nvCxnSpPr>
        <p:spPr>
          <a:xfrm flipH="1">
            <a:off x="903862" y="2296081"/>
            <a:ext cx="14651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903862" y="2296081"/>
            <a:ext cx="0" cy="599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5534744" y="2480747"/>
            <a:ext cx="0" cy="443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1246762" y="2941224"/>
            <a:ext cx="4287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V="1">
            <a:off x="3241816" y="2135096"/>
            <a:ext cx="2105892" cy="49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15900" y="3760631"/>
            <a:ext cx="11722815" cy="2585323"/>
          </a:xfrm>
          <a:prstGeom prst="rect">
            <a:avLst/>
          </a:prstGeom>
          <a:noFill/>
        </p:spPr>
        <p:txBody>
          <a:bodyPr wrap="square" rtlCol="0">
            <a:spAutoFit/>
          </a:bodyPr>
          <a:lstStyle/>
          <a:p>
            <a:pPr lvl="0"/>
            <a:r>
              <a:rPr lang="en-IN" dirty="0">
                <a:latin typeface="Times New Roman" panose="02020603050405020304" pitchFamily="18" charset="0"/>
                <a:cs typeface="Times New Roman" panose="02020603050405020304" pitchFamily="18" charset="0"/>
              </a:rPr>
              <a:t>Number of blocks in MM (Fig 1(b)) and block frames in CM (Fig 1(a)) are assumed as 8 and 4 respectively </a:t>
            </a:r>
          </a:p>
          <a:p>
            <a:pPr lvl="0"/>
            <a:r>
              <a:rPr lang="en-IN" dirty="0">
                <a:latin typeface="Times New Roman" panose="02020603050405020304" pitchFamily="18" charset="0"/>
                <a:cs typeface="Times New Roman" panose="02020603050405020304" pitchFamily="18" charset="0"/>
              </a:rPr>
              <a:t>So at any instant of time 4 blocks of MM can be placed in 4 block frames of CM</a:t>
            </a:r>
          </a:p>
          <a:p>
            <a:pPr lvl="0"/>
            <a:r>
              <a:rPr lang="en-IN" dirty="0">
                <a:latin typeface="Times New Roman" panose="02020603050405020304" pitchFamily="18" charset="0"/>
                <a:cs typeface="Times New Roman" panose="02020603050405020304" pitchFamily="18" charset="0"/>
              </a:rPr>
              <a:t>Size of block address and block frame address are 3-bit (000 to 111 shown in Fig 1(b)) and 2-bit (00 to 11 shown in Fig 1(a)) respectively. </a:t>
            </a:r>
          </a:p>
          <a:p>
            <a:pPr lvl="0"/>
            <a:r>
              <a:rPr lang="en-IN" dirty="0">
                <a:latin typeface="Times New Roman" panose="02020603050405020304" pitchFamily="18" charset="0"/>
                <a:cs typeface="Times New Roman" panose="02020603050405020304" pitchFamily="18" charset="0"/>
              </a:rPr>
              <a:t>Size of block and block frame is assumed as 1-Kbyte i.e. each block and block frame has 1024-byte. </a:t>
            </a:r>
          </a:p>
          <a:p>
            <a:pPr lvl="0"/>
            <a:r>
              <a:rPr lang="en-IN" dirty="0">
                <a:latin typeface="Times New Roman" panose="02020603050405020304" pitchFamily="18" charset="0"/>
                <a:cs typeface="Times New Roman" panose="02020603050405020304" pitchFamily="18" charset="0"/>
              </a:rPr>
              <a:t>Size of byte address (Block offset) for accessing a byte from 1024-byte in a block is 10-bit.</a:t>
            </a:r>
          </a:p>
          <a:p>
            <a:pPr lvl="0"/>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MM address generated by CPU during program execution is assumed as 101 1001010110 </a:t>
            </a:r>
            <a:r>
              <a:rPr lang="en-IN" dirty="0">
                <a:latin typeface="Times New Roman" panose="02020603050405020304" pitchFamily="18" charset="0"/>
                <a:cs typeface="Times New Roman" panose="02020603050405020304" pitchFamily="18" charset="0"/>
              </a:rPr>
              <a:t>i.e. the CPU generates a request for byte number 1001010110 from MM block number 101.</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162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601363310"/>
              </p:ext>
            </p:extLst>
          </p:nvPr>
        </p:nvGraphicFramePr>
        <p:xfrm>
          <a:off x="3313109" y="182608"/>
          <a:ext cx="1272536" cy="2523744"/>
        </p:xfrm>
        <a:graphic>
          <a:graphicData uri="http://schemas.openxmlformats.org/drawingml/2006/table">
            <a:tbl>
              <a:tblPr firstRow="1" firstCol="1" bandRow="1">
                <a:tableStyleId>{5C22544A-7EE6-4342-B048-85BDC9FD1C3A}</a:tableStyleId>
              </a:tblPr>
              <a:tblGrid>
                <a:gridCol w="1272536">
                  <a:extLst>
                    <a:ext uri="{9D8B030D-6E8A-4147-A177-3AD203B41FA5}">
                      <a16:colId xmlns:a16="http://schemas.microsoft.com/office/drawing/2014/main" val="1477692829"/>
                    </a:ext>
                  </a:extLst>
                </a:gridCol>
              </a:tblGrid>
              <a:tr h="231777">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Block 000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5663328"/>
                  </a:ext>
                </a:extLst>
              </a:tr>
              <a:tr h="231777">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Block 001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1341412"/>
                  </a:ext>
                </a:extLst>
              </a:tr>
              <a:tr h="231777">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010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2299088"/>
                  </a:ext>
                </a:extLst>
              </a:tr>
              <a:tr h="231777">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Block 011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9869390"/>
                  </a:ext>
                </a:extLst>
              </a:tr>
              <a:tr h="231777">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Block 100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7091714"/>
                  </a:ext>
                </a:extLst>
              </a:tr>
              <a:tr h="231777">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101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8670259"/>
                  </a:ext>
                </a:extLst>
              </a:tr>
              <a:tr h="231777">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Block 110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1251418"/>
                  </a:ext>
                </a:extLst>
              </a:tr>
              <a:tr h="231777">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111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6674120"/>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851166514"/>
              </p:ext>
            </p:extLst>
          </p:nvPr>
        </p:nvGraphicFramePr>
        <p:xfrm>
          <a:off x="166513" y="409709"/>
          <a:ext cx="533575" cy="315468"/>
        </p:xfrm>
        <a:graphic>
          <a:graphicData uri="http://schemas.openxmlformats.org/drawingml/2006/table">
            <a:tbl>
              <a:tblPr firstRow="1" firstCol="1" bandRow="1">
                <a:tableStyleId>{5C22544A-7EE6-4342-B048-85BDC9FD1C3A}</a:tableStyleId>
              </a:tblPr>
              <a:tblGrid>
                <a:gridCol w="533575">
                  <a:extLst>
                    <a:ext uri="{9D8B030D-6E8A-4147-A177-3AD203B41FA5}">
                      <a16:colId xmlns:a16="http://schemas.microsoft.com/office/drawing/2014/main" val="2655909902"/>
                    </a:ext>
                  </a:extLst>
                </a:gridCol>
              </a:tblGrid>
              <a:tr h="0">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Tag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9057787"/>
                  </a:ext>
                </a:extLst>
              </a:tr>
            </a:tbl>
          </a:graphicData>
        </a:graphic>
      </p:graphicFrame>
      <p:sp>
        <p:nvSpPr>
          <p:cNvPr id="24" name="Rectangle 23"/>
          <p:cNvSpPr/>
          <p:nvPr/>
        </p:nvSpPr>
        <p:spPr>
          <a:xfrm>
            <a:off x="1316697" y="313012"/>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1316697" y="2102542"/>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1316697" y="1542443"/>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1316697" y="918776"/>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1316697" y="299678"/>
            <a:ext cx="1617784" cy="24246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Connector 30"/>
          <p:cNvCxnSpPr>
            <a:stCxn id="29" idx="1"/>
            <a:endCxn id="29" idx="3"/>
          </p:cNvCxnSpPr>
          <p:nvPr/>
        </p:nvCxnSpPr>
        <p:spPr>
          <a:xfrm>
            <a:off x="1316697" y="1512004"/>
            <a:ext cx="16177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316697" y="2105032"/>
            <a:ext cx="16177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316697" y="906933"/>
            <a:ext cx="1617784"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921607" y="260602"/>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00</a:t>
            </a:r>
          </a:p>
        </p:txBody>
      </p:sp>
      <p:sp>
        <p:nvSpPr>
          <p:cNvPr id="36" name="TextBox 35"/>
          <p:cNvSpPr txBox="1"/>
          <p:nvPr/>
        </p:nvSpPr>
        <p:spPr>
          <a:xfrm>
            <a:off x="1850069" y="862197"/>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01</a:t>
            </a:r>
          </a:p>
        </p:txBody>
      </p:sp>
      <p:sp>
        <p:nvSpPr>
          <p:cNvPr id="37" name="TextBox 36"/>
          <p:cNvSpPr txBox="1"/>
          <p:nvPr/>
        </p:nvSpPr>
        <p:spPr>
          <a:xfrm>
            <a:off x="1808466" y="1480414"/>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10</a:t>
            </a:r>
          </a:p>
        </p:txBody>
      </p:sp>
      <p:sp>
        <p:nvSpPr>
          <p:cNvPr id="38" name="TextBox 37"/>
          <p:cNvSpPr txBox="1"/>
          <p:nvPr/>
        </p:nvSpPr>
        <p:spPr>
          <a:xfrm>
            <a:off x="1808466" y="2077998"/>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11</a:t>
            </a:r>
          </a:p>
        </p:txBody>
      </p:sp>
      <p:cxnSp>
        <p:nvCxnSpPr>
          <p:cNvPr id="41" name="Straight Arrow Connector 40"/>
          <p:cNvCxnSpPr/>
          <p:nvPr/>
        </p:nvCxnSpPr>
        <p:spPr>
          <a:xfrm flipV="1">
            <a:off x="700088" y="409709"/>
            <a:ext cx="616609" cy="160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700088" y="554567"/>
            <a:ext cx="616609" cy="480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700088" y="554567"/>
            <a:ext cx="616609" cy="1183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700088" y="609666"/>
            <a:ext cx="616609" cy="1750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162251" y="2749297"/>
            <a:ext cx="1926675"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Fig 1(a)</a:t>
            </a:r>
            <a:r>
              <a:rPr lang="en-IN" dirty="0">
                <a:latin typeface="Times New Roman" panose="02020603050405020304" pitchFamily="18" charset="0"/>
                <a:cs typeface="Times New Roman" panose="02020603050405020304" pitchFamily="18" charset="0"/>
              </a:rPr>
              <a:t> CM with</a:t>
            </a:r>
          </a:p>
          <a:p>
            <a:r>
              <a:rPr lang="en-IN" dirty="0">
                <a:latin typeface="Times New Roman" panose="02020603050405020304" pitchFamily="18" charset="0"/>
                <a:cs typeface="Times New Roman" panose="02020603050405020304" pitchFamily="18" charset="0"/>
              </a:rPr>
              <a:t> 4 block frames</a:t>
            </a:r>
          </a:p>
        </p:txBody>
      </p:sp>
      <p:sp>
        <p:nvSpPr>
          <p:cNvPr id="49" name="TextBox 48"/>
          <p:cNvSpPr txBox="1"/>
          <p:nvPr/>
        </p:nvSpPr>
        <p:spPr>
          <a:xfrm>
            <a:off x="3012726" y="2825497"/>
            <a:ext cx="196947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Fig 1(b)</a:t>
            </a:r>
            <a:r>
              <a:rPr lang="en-IN" dirty="0">
                <a:latin typeface="Times New Roman" panose="02020603050405020304" pitchFamily="18" charset="0"/>
                <a:cs typeface="Times New Roman" panose="02020603050405020304" pitchFamily="18" charset="0"/>
              </a:rPr>
              <a:t> MM with</a:t>
            </a:r>
          </a:p>
          <a:p>
            <a:r>
              <a:rPr lang="en-IN" dirty="0">
                <a:latin typeface="Times New Roman" panose="02020603050405020304" pitchFamily="18" charset="0"/>
                <a:cs typeface="Times New Roman" panose="02020603050405020304" pitchFamily="18" charset="0"/>
              </a:rPr>
              <a:t> 8 blocks </a:t>
            </a:r>
          </a:p>
        </p:txBody>
      </p:sp>
      <p:sp>
        <p:nvSpPr>
          <p:cNvPr id="50" name="TextBox 49"/>
          <p:cNvSpPr txBox="1"/>
          <p:nvPr/>
        </p:nvSpPr>
        <p:spPr>
          <a:xfrm>
            <a:off x="4927601" y="185349"/>
            <a:ext cx="7023100" cy="369331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Each block frame in CM has an address tag. </a:t>
            </a:r>
          </a:p>
          <a:p>
            <a:r>
              <a:rPr lang="en-IN" dirty="0">
                <a:latin typeface="Times New Roman" panose="02020603050405020304" pitchFamily="18" charset="0"/>
                <a:cs typeface="Times New Roman" panose="02020603050405020304" pitchFamily="18" charset="0"/>
              </a:rPr>
              <a:t>Information in this tag is checked to find hit or miss. </a:t>
            </a:r>
          </a:p>
          <a:p>
            <a:r>
              <a:rPr lang="en-IN" dirty="0">
                <a:latin typeface="Times New Roman" panose="02020603050405020304" pitchFamily="18" charset="0"/>
                <a:cs typeface="Times New Roman" panose="02020603050405020304" pitchFamily="18" charset="0"/>
              </a:rPr>
              <a:t>Direct mapped, fully associative, set associative are the three  categories of cache organization depending on the way of placing MM block in CM block frame</a:t>
            </a:r>
          </a:p>
          <a:p>
            <a:pPr lvl="0"/>
            <a:r>
              <a:rPr lang="en-IN" u="sng" dirty="0">
                <a:latin typeface="Times New Roman" panose="02020603050405020304" pitchFamily="18" charset="0"/>
                <a:cs typeface="Times New Roman" panose="02020603050405020304" pitchFamily="18" charset="0"/>
              </a:rPr>
              <a:t>Direct mapped cache</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A particular block of MM can be placed in a particular block frame of CM</a:t>
            </a:r>
          </a:p>
          <a:p>
            <a:pPr lvl="0"/>
            <a:r>
              <a:rPr lang="en-IN" dirty="0">
                <a:latin typeface="Times New Roman" panose="02020603050405020304" pitchFamily="18" charset="0"/>
                <a:cs typeface="Times New Roman" panose="02020603050405020304" pitchFamily="18" charset="0"/>
              </a:rPr>
              <a:t>Direct mapping is one way set associative mapping and can be thought of as having m sets</a:t>
            </a:r>
          </a:p>
          <a:p>
            <a:pPr lvl="0"/>
            <a:r>
              <a:rPr lang="en-IN" dirty="0">
                <a:latin typeface="Times New Roman" panose="02020603050405020304" pitchFamily="18" charset="0"/>
                <a:cs typeface="Times New Roman" panose="02020603050405020304" pitchFamily="18" charset="0"/>
              </a:rPr>
              <a:t>Address in CM is computed as (MM block number) mod (Number of block frames in CM). </a:t>
            </a:r>
          </a:p>
          <a:p>
            <a:pPr lvl="0"/>
            <a:r>
              <a:rPr lang="en-IN" dirty="0">
                <a:latin typeface="Times New Roman" panose="02020603050405020304" pitchFamily="18" charset="0"/>
                <a:cs typeface="Times New Roman" panose="02020603050405020304" pitchFamily="18" charset="0"/>
              </a:rPr>
              <a:t>For example, MM block 0 is mapped into CM block frame 0 as 0 mod 4  is 0, MM block 6 is mapped into CM block frame 2 as 6 mod 4 is 2.</a:t>
            </a:r>
          </a:p>
        </p:txBody>
      </p:sp>
      <p:sp>
        <p:nvSpPr>
          <p:cNvPr id="51" name="TextBox 50"/>
          <p:cNvSpPr txBox="1"/>
          <p:nvPr/>
        </p:nvSpPr>
        <p:spPr>
          <a:xfrm>
            <a:off x="170962" y="3852396"/>
            <a:ext cx="11754338" cy="2862322"/>
          </a:xfrm>
          <a:prstGeom prst="rect">
            <a:avLst/>
          </a:prstGeom>
          <a:noFill/>
        </p:spPr>
        <p:txBody>
          <a:bodyPr wrap="square" rtlCol="0">
            <a:spAutoFit/>
          </a:bodyPr>
          <a:lstStyle/>
          <a:p>
            <a:pPr lvl="0"/>
            <a:r>
              <a:rPr lang="en-IN" u="sng" dirty="0">
                <a:latin typeface="Times New Roman" panose="02020603050405020304" pitchFamily="18" charset="0"/>
                <a:cs typeface="Times New Roman" panose="02020603050405020304" pitchFamily="18" charset="0"/>
              </a:rPr>
              <a:t>Fully associative cache</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A MM block can be placed in any block frame of CM i.e. anywhere in CM. If fully associative cache memory has m block frames, it is m-way set associative. It can be thought of as having a single set.</a:t>
            </a:r>
          </a:p>
          <a:p>
            <a:r>
              <a:rPr lang="en-IN" u="sng" dirty="0">
                <a:latin typeface="Times New Roman" panose="02020603050405020304" pitchFamily="18" charset="0"/>
                <a:cs typeface="Times New Roman" panose="02020603050405020304" pitchFamily="18" charset="0"/>
              </a:rPr>
              <a:t>Set associative cache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CM is divided into few sets and each set contains a few block frames. </a:t>
            </a:r>
          </a:p>
          <a:p>
            <a:r>
              <a:rPr lang="en-IN" dirty="0">
                <a:latin typeface="Times New Roman" panose="02020603050405020304" pitchFamily="18" charset="0"/>
                <a:cs typeface="Times New Roman" panose="02020603050405020304" pitchFamily="18" charset="0"/>
              </a:rPr>
              <a:t>A MM block can be placed in any block frame within a particular set. This particular set address is computed as (MM block number) mod (Number of sets in CM). </a:t>
            </a:r>
          </a:p>
          <a:p>
            <a:r>
              <a:rPr lang="en-IN" dirty="0">
                <a:latin typeface="Times New Roman" panose="02020603050405020304" pitchFamily="18" charset="0"/>
                <a:cs typeface="Times New Roman" panose="02020603050405020304" pitchFamily="18" charset="0"/>
              </a:rPr>
              <a:t>Fig 2 shows a 2-way set associative CM in which CM is divided into 2 sets (Set 0 and Set 1). </a:t>
            </a:r>
          </a:p>
          <a:p>
            <a:r>
              <a:rPr lang="en-IN" dirty="0">
                <a:latin typeface="Times New Roman" panose="02020603050405020304" pitchFamily="18" charset="0"/>
                <a:cs typeface="Times New Roman" panose="02020603050405020304" pitchFamily="18" charset="0"/>
              </a:rPr>
              <a:t>Each set has 2 block frames due to which this CM is known as 2-way set associative. </a:t>
            </a:r>
          </a:p>
          <a:p>
            <a:r>
              <a:rPr lang="en-IN" dirty="0">
                <a:latin typeface="Times New Roman" panose="02020603050405020304" pitchFamily="18" charset="0"/>
                <a:cs typeface="Times New Roman" panose="02020603050405020304" pitchFamily="18" charset="0"/>
              </a:rPr>
              <a:t>For example, MM block 0 is mapped into CM Set 0 as 0 mod 2 is 0, MM block 5 is mapped into CM Set 1 as 5 mod 2 is 1. </a:t>
            </a:r>
          </a:p>
        </p:txBody>
      </p:sp>
    </p:spTree>
    <p:extLst>
      <p:ext uri="{BB962C8B-B14F-4D97-AF65-F5344CB8AC3E}">
        <p14:creationId xmlns:p14="http://schemas.microsoft.com/office/powerpoint/2010/main" val="3634152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1070263" y="1102591"/>
            <a:ext cx="3491346" cy="16417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p:cNvCxnSpPr>
            <a:stCxn id="25" idx="0"/>
            <a:endCxn id="25" idx="2"/>
          </p:cNvCxnSpPr>
          <p:nvPr/>
        </p:nvCxnSpPr>
        <p:spPr>
          <a:xfrm>
            <a:off x="2815936" y="1102591"/>
            <a:ext cx="0" cy="1641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5" idx="1"/>
            <a:endCxn id="25" idx="3"/>
          </p:cNvCxnSpPr>
          <p:nvPr/>
        </p:nvCxnSpPr>
        <p:spPr>
          <a:xfrm>
            <a:off x="1070263" y="1923473"/>
            <a:ext cx="3491346"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803062" y="1189867"/>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00</a:t>
            </a:r>
          </a:p>
        </p:txBody>
      </p:sp>
      <p:sp>
        <p:nvSpPr>
          <p:cNvPr id="31" name="TextBox 30"/>
          <p:cNvSpPr txBox="1"/>
          <p:nvPr/>
        </p:nvSpPr>
        <p:spPr>
          <a:xfrm>
            <a:off x="3322373" y="1158694"/>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01</a:t>
            </a:r>
          </a:p>
        </p:txBody>
      </p:sp>
      <p:sp>
        <p:nvSpPr>
          <p:cNvPr id="32" name="TextBox 31"/>
          <p:cNvSpPr txBox="1"/>
          <p:nvPr/>
        </p:nvSpPr>
        <p:spPr>
          <a:xfrm>
            <a:off x="1803062" y="1966084"/>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10</a:t>
            </a:r>
          </a:p>
        </p:txBody>
      </p:sp>
      <p:sp>
        <p:nvSpPr>
          <p:cNvPr id="33" name="TextBox 32"/>
          <p:cNvSpPr txBox="1"/>
          <p:nvPr/>
        </p:nvSpPr>
        <p:spPr>
          <a:xfrm>
            <a:off x="3286244" y="2010748"/>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Block frame 11</a:t>
            </a:r>
          </a:p>
        </p:txBody>
      </p:sp>
      <p:sp>
        <p:nvSpPr>
          <p:cNvPr id="34" name="Rectangle 33"/>
          <p:cNvSpPr/>
          <p:nvPr/>
        </p:nvSpPr>
        <p:spPr>
          <a:xfrm>
            <a:off x="1070262" y="1102591"/>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p:cNvSpPr/>
          <p:nvPr/>
        </p:nvSpPr>
        <p:spPr>
          <a:xfrm>
            <a:off x="2829043" y="1131832"/>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p:cNvSpPr/>
          <p:nvPr/>
        </p:nvSpPr>
        <p:spPr>
          <a:xfrm>
            <a:off x="2834439" y="1947547"/>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p:cNvSpPr/>
          <p:nvPr/>
        </p:nvSpPr>
        <p:spPr>
          <a:xfrm>
            <a:off x="1070262" y="1933392"/>
            <a:ext cx="378628" cy="2575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p:cNvSpPr/>
          <p:nvPr/>
        </p:nvSpPr>
        <p:spPr>
          <a:xfrm>
            <a:off x="238990" y="1092783"/>
            <a:ext cx="83127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p:cNvSpPr txBox="1"/>
          <p:nvPr/>
        </p:nvSpPr>
        <p:spPr>
          <a:xfrm>
            <a:off x="238990" y="1092783"/>
            <a:ext cx="83127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Set 0</a:t>
            </a:r>
          </a:p>
        </p:txBody>
      </p:sp>
      <p:sp>
        <p:nvSpPr>
          <p:cNvPr id="41" name="Rectangle 40"/>
          <p:cNvSpPr/>
          <p:nvPr/>
        </p:nvSpPr>
        <p:spPr>
          <a:xfrm>
            <a:off x="238571" y="1945813"/>
            <a:ext cx="83127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p:cNvSpPr txBox="1"/>
          <p:nvPr/>
        </p:nvSpPr>
        <p:spPr>
          <a:xfrm>
            <a:off x="238571" y="1945813"/>
            <a:ext cx="83127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Set 1</a:t>
            </a:r>
          </a:p>
        </p:txBody>
      </p:sp>
      <p:sp>
        <p:nvSpPr>
          <p:cNvPr id="44" name="TextBox 43"/>
          <p:cNvSpPr txBox="1"/>
          <p:nvPr/>
        </p:nvSpPr>
        <p:spPr>
          <a:xfrm>
            <a:off x="2106137" y="205715"/>
            <a:ext cx="554374" cy="37234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Tag</a:t>
            </a:r>
          </a:p>
        </p:txBody>
      </p:sp>
      <p:sp>
        <p:nvSpPr>
          <p:cNvPr id="46" name="Rectangle 45"/>
          <p:cNvSpPr/>
          <p:nvPr/>
        </p:nvSpPr>
        <p:spPr>
          <a:xfrm>
            <a:off x="2106137" y="235155"/>
            <a:ext cx="722906" cy="3429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Arrow Connector 47"/>
          <p:cNvCxnSpPr>
            <a:endCxn id="34" idx="0"/>
          </p:cNvCxnSpPr>
          <p:nvPr/>
        </p:nvCxnSpPr>
        <p:spPr>
          <a:xfrm flipH="1">
            <a:off x="1259576" y="578064"/>
            <a:ext cx="846561" cy="524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46" idx="2"/>
            <a:endCxn id="37" idx="0"/>
          </p:cNvCxnSpPr>
          <p:nvPr/>
        </p:nvCxnSpPr>
        <p:spPr>
          <a:xfrm flipH="1">
            <a:off x="1259576" y="578065"/>
            <a:ext cx="1208014" cy="1355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endCxn id="36" idx="2"/>
          </p:cNvCxnSpPr>
          <p:nvPr/>
        </p:nvCxnSpPr>
        <p:spPr>
          <a:xfrm>
            <a:off x="2660511" y="578064"/>
            <a:ext cx="363242" cy="1627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6" idx="3"/>
            <a:endCxn id="35" idx="2"/>
          </p:cNvCxnSpPr>
          <p:nvPr/>
        </p:nvCxnSpPr>
        <p:spPr>
          <a:xfrm>
            <a:off x="2829043" y="406610"/>
            <a:ext cx="189314" cy="98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420741" y="2862802"/>
            <a:ext cx="4093698" cy="369332"/>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Fig 2</a:t>
            </a:r>
            <a:r>
              <a:rPr lang="en-IN" dirty="0">
                <a:latin typeface="Times New Roman" panose="02020603050405020304" pitchFamily="18" charset="0"/>
                <a:cs typeface="Times New Roman" panose="02020603050405020304" pitchFamily="18" charset="0"/>
              </a:rPr>
              <a:t> 2-way set associative cache memory</a:t>
            </a:r>
            <a:r>
              <a:rPr lang="en-IN" u="sng"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4622800" y="190500"/>
            <a:ext cx="7404100" cy="4801314"/>
          </a:xfrm>
          <a:prstGeom prst="rect">
            <a:avLst/>
          </a:prstGeom>
          <a:noFill/>
        </p:spPr>
        <p:txBody>
          <a:bodyPr wrap="square" rtlCol="0">
            <a:spAutoFit/>
          </a:bodyPr>
          <a:lstStyle/>
          <a:p>
            <a:r>
              <a:rPr lang="en-IN" u="sng" dirty="0">
                <a:latin typeface="Times New Roman" pitchFamily="18" charset="0"/>
                <a:cs typeface="Times New Roman" pitchFamily="18" charset="0"/>
              </a:rPr>
              <a:t>Block replacement strategy</a:t>
            </a:r>
          </a:p>
          <a:p>
            <a:r>
              <a:rPr lang="en-IN" dirty="0">
                <a:latin typeface="Times New Roman" pitchFamily="18" charset="0"/>
                <a:cs typeface="Times New Roman" pitchFamily="18" charset="0"/>
              </a:rPr>
              <a:t>In case of direct mapped only one block frame is checked for a hit and only that block can be replaced</a:t>
            </a:r>
          </a:p>
          <a:p>
            <a:r>
              <a:rPr lang="en-IN" dirty="0">
                <a:latin typeface="Times New Roman" pitchFamily="18" charset="0"/>
                <a:cs typeface="Times New Roman" pitchFamily="18" charset="0"/>
              </a:rPr>
              <a:t>In case of fully associative or set associative there are many block frames to choose from on a miss and that can be done either randomly or using least recently used strategy (LRU)</a:t>
            </a:r>
          </a:p>
          <a:p>
            <a:r>
              <a:rPr lang="en-IN" dirty="0">
                <a:latin typeface="Times New Roman" pitchFamily="18" charset="0"/>
                <a:cs typeface="Times New Roman" pitchFamily="18" charset="0"/>
              </a:rPr>
              <a:t>Random replacement is simple to implement in hardwire. </a:t>
            </a:r>
          </a:p>
          <a:p>
            <a:r>
              <a:rPr lang="en-IN" dirty="0">
                <a:latin typeface="Times New Roman" pitchFamily="18" charset="0"/>
                <a:cs typeface="Times New Roman" pitchFamily="18" charset="0"/>
              </a:rPr>
              <a:t>LRU becomes expensive if the number of block increases.</a:t>
            </a:r>
          </a:p>
          <a:p>
            <a:endParaRPr lang="en-IN" dirty="0">
              <a:latin typeface="Times New Roman" pitchFamily="18" charset="0"/>
              <a:cs typeface="Times New Roman" pitchFamily="18" charset="0"/>
            </a:endParaRPr>
          </a:p>
          <a:p>
            <a:r>
              <a:rPr lang="en-IN" u="sng" dirty="0">
                <a:latin typeface="Times New Roman" pitchFamily="18" charset="0"/>
                <a:cs typeface="Times New Roman" pitchFamily="18" charset="0"/>
              </a:rPr>
              <a:t>Write</a:t>
            </a:r>
            <a:r>
              <a:rPr lang="en-IN" dirty="0">
                <a:latin typeface="Times New Roman" pitchFamily="18" charset="0"/>
                <a:cs typeface="Times New Roman" pitchFamily="18" charset="0"/>
              </a:rPr>
              <a:t>: Modifying data is not possible until the tag is checked for hit. So write takes longer time than read. Processor specifies the size of write usually between 1 to 8 bytes so that only that portion of a block can be changed whereas read can access more bytes than necessary without any fear.</a:t>
            </a:r>
          </a:p>
          <a:p>
            <a:endParaRPr lang="en-IN" dirty="0">
              <a:latin typeface="Times New Roman" pitchFamily="18" charset="0"/>
              <a:cs typeface="Times New Roman" pitchFamily="18" charset="0"/>
            </a:endParaRPr>
          </a:p>
          <a:p>
            <a:r>
              <a:rPr lang="en-IN" u="sng" dirty="0">
                <a:latin typeface="Times New Roman" pitchFamily="18" charset="0"/>
                <a:cs typeface="Times New Roman" pitchFamily="18" charset="0"/>
              </a:rPr>
              <a:t>Read</a:t>
            </a:r>
            <a:r>
              <a:rPr lang="en-IN" dirty="0">
                <a:latin typeface="Times New Roman" pitchFamily="18" charset="0"/>
                <a:cs typeface="Times New Roman" pitchFamily="18" charset="0"/>
              </a:rPr>
              <a:t>: Block can be read at the same time that the tag is read and compared. Block read begins as soon as the block address is available. If hit, data is passed on to CPU otherwise ignore read. </a:t>
            </a:r>
          </a:p>
        </p:txBody>
      </p:sp>
    </p:spTree>
    <p:extLst>
      <p:ext uri="{BB962C8B-B14F-4D97-AF65-F5344CB8AC3E}">
        <p14:creationId xmlns:p14="http://schemas.microsoft.com/office/powerpoint/2010/main" val="3090127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28600" y="186266"/>
          <a:ext cx="11201400" cy="3479800"/>
        </p:xfrm>
        <a:graphic>
          <a:graphicData uri="http://schemas.openxmlformats.org/drawingml/2006/table">
            <a:tbl>
              <a:tblPr firstRow="1" bandRow="1">
                <a:tableStyleId>{5C22544A-7EE6-4342-B048-85BDC9FD1C3A}</a:tableStyleId>
              </a:tblPr>
              <a:tblGrid>
                <a:gridCol w="5600700">
                  <a:extLst>
                    <a:ext uri="{9D8B030D-6E8A-4147-A177-3AD203B41FA5}">
                      <a16:colId xmlns:a16="http://schemas.microsoft.com/office/drawing/2014/main" val="20000"/>
                    </a:ext>
                  </a:extLst>
                </a:gridCol>
                <a:gridCol w="5600700">
                  <a:extLst>
                    <a:ext uri="{9D8B030D-6E8A-4147-A177-3AD203B41FA5}">
                      <a16:colId xmlns:a16="http://schemas.microsoft.com/office/drawing/2014/main" val="20001"/>
                    </a:ext>
                  </a:extLst>
                </a:gridCol>
              </a:tblGrid>
              <a:tr h="370840">
                <a:tc>
                  <a:txBody>
                    <a:bodyPr/>
                    <a:lstStyle/>
                    <a:p>
                      <a:r>
                        <a:rPr lang="en-IN" dirty="0">
                          <a:latin typeface="Times New Roman" pitchFamily="18" charset="0"/>
                          <a:cs typeface="Times New Roman" pitchFamily="18" charset="0"/>
                        </a:rPr>
                        <a:t>Write through</a:t>
                      </a:r>
                    </a:p>
                  </a:txBody>
                  <a:tcPr/>
                </a:tc>
                <a:tc>
                  <a:txBody>
                    <a:bodyPr/>
                    <a:lstStyle/>
                    <a:p>
                      <a:r>
                        <a:rPr lang="en-IN" dirty="0">
                          <a:latin typeface="Times New Roman" pitchFamily="18" charset="0"/>
                          <a:cs typeface="Times New Roman" pitchFamily="18" charset="0"/>
                        </a:rPr>
                        <a:t>Write back</a:t>
                      </a:r>
                    </a:p>
                  </a:txBody>
                  <a:tcPr/>
                </a:tc>
                <a:extLst>
                  <a:ext uri="{0D108BD9-81ED-4DB2-BD59-A6C34878D82A}">
                    <a16:rowId xmlns:a16="http://schemas.microsoft.com/office/drawing/2014/main" val="10000"/>
                  </a:ext>
                </a:extLst>
              </a:tr>
              <a:tr h="370840">
                <a:tc>
                  <a:txBody>
                    <a:bodyPr/>
                    <a:lstStyle/>
                    <a:p>
                      <a:r>
                        <a:rPr lang="en-IN" dirty="0">
                          <a:latin typeface="Times New Roman" pitchFamily="18" charset="0"/>
                          <a:cs typeface="Times New Roman" pitchFamily="18" charset="0"/>
                        </a:rPr>
                        <a:t>Information is written to both the block in the cache and to the block in the lower level memory</a:t>
                      </a:r>
                    </a:p>
                    <a:p>
                      <a:r>
                        <a:rPr lang="en-IN" dirty="0">
                          <a:latin typeface="Times New Roman" pitchFamily="18" charset="0"/>
                          <a:cs typeface="Times New Roman" pitchFamily="18" charset="0"/>
                        </a:rPr>
                        <a:t>Read misses</a:t>
                      </a:r>
                      <a:r>
                        <a:rPr lang="en-IN" baseline="0" dirty="0">
                          <a:latin typeface="Times New Roman" pitchFamily="18" charset="0"/>
                          <a:cs typeface="Times New Roman" pitchFamily="18" charset="0"/>
                        </a:rPr>
                        <a:t> never result in writes to the lower level</a:t>
                      </a:r>
                    </a:p>
                    <a:p>
                      <a:r>
                        <a:rPr lang="en-IN" baseline="0" dirty="0">
                          <a:latin typeface="Times New Roman" pitchFamily="18" charset="0"/>
                          <a:cs typeface="Times New Roman" pitchFamily="18" charset="0"/>
                        </a:rPr>
                        <a:t>Easier to implement</a:t>
                      </a:r>
                    </a:p>
                    <a:p>
                      <a:r>
                        <a:rPr lang="en-IN" baseline="0" dirty="0">
                          <a:latin typeface="Times New Roman" pitchFamily="18" charset="0"/>
                          <a:cs typeface="Times New Roman" pitchFamily="18" charset="0"/>
                        </a:rPr>
                        <a:t>Next lower level has the most current copy of the data</a:t>
                      </a:r>
                    </a:p>
                    <a:p>
                      <a:r>
                        <a:rPr lang="en-IN" baseline="0" dirty="0">
                          <a:latin typeface="Times New Roman" pitchFamily="18" charset="0"/>
                          <a:cs typeface="Times New Roman" pitchFamily="18" charset="0"/>
                        </a:rPr>
                        <a:t>CPU has to wait till write in the lower level is completed  and CPU is said to write stall</a:t>
                      </a:r>
                    </a:p>
                    <a:p>
                      <a:r>
                        <a:rPr lang="en-IN" baseline="0" dirty="0">
                          <a:latin typeface="Times New Roman" pitchFamily="18" charset="0"/>
                          <a:cs typeface="Times New Roman" pitchFamily="18" charset="0"/>
                        </a:rPr>
                        <a:t>Write stall of CPU can be reduced by using write buffer which allows the processor to continue as soon as the data is written to the buffer, thereby overlapping processor execution with memory updating</a:t>
                      </a:r>
                      <a:endParaRPr lang="en-IN" dirty="0">
                        <a:latin typeface="Times New Roman" pitchFamily="18" charset="0"/>
                        <a:cs typeface="Times New Roman" pitchFamily="18" charset="0"/>
                      </a:endParaRPr>
                    </a:p>
                  </a:txBody>
                  <a:tcPr/>
                </a:tc>
                <a:tc>
                  <a:txBody>
                    <a:bodyPr/>
                    <a:lstStyle/>
                    <a:p>
                      <a:r>
                        <a:rPr lang="en-IN" dirty="0">
                          <a:latin typeface="Times New Roman" pitchFamily="18" charset="0"/>
                          <a:cs typeface="Times New Roman" pitchFamily="18" charset="0"/>
                        </a:rPr>
                        <a:t>Information</a:t>
                      </a:r>
                      <a:r>
                        <a:rPr lang="en-IN" baseline="0" dirty="0">
                          <a:latin typeface="Times New Roman" pitchFamily="18" charset="0"/>
                          <a:cs typeface="Times New Roman" pitchFamily="18" charset="0"/>
                        </a:rPr>
                        <a:t> is written only to the block in the cache</a:t>
                      </a:r>
                    </a:p>
                    <a:p>
                      <a:r>
                        <a:rPr lang="en-IN" baseline="0" dirty="0">
                          <a:latin typeface="Times New Roman" pitchFamily="18" charset="0"/>
                          <a:cs typeface="Times New Roman" pitchFamily="18" charset="0"/>
                        </a:rPr>
                        <a:t>Modified block is written to main memory when it is replaced</a:t>
                      </a:r>
                    </a:p>
                    <a:p>
                      <a:r>
                        <a:rPr lang="en-IN" baseline="0" dirty="0">
                          <a:latin typeface="Times New Roman" pitchFamily="18" charset="0"/>
                          <a:cs typeface="Times New Roman" pitchFamily="18" charset="0"/>
                        </a:rPr>
                        <a:t>Frequency of writing back can be reduced by using dirty bit in each block</a:t>
                      </a:r>
                    </a:p>
                    <a:p>
                      <a:r>
                        <a:rPr lang="en-IN" dirty="0">
                          <a:latin typeface="Times New Roman" pitchFamily="18" charset="0"/>
                          <a:cs typeface="Times New Roman" pitchFamily="18" charset="0"/>
                        </a:rPr>
                        <a:t>Write occurs at the speed of cache memory</a:t>
                      </a:r>
                    </a:p>
                    <a:p>
                      <a:r>
                        <a:rPr lang="en-IN" dirty="0">
                          <a:latin typeface="Times New Roman" pitchFamily="18" charset="0"/>
                          <a:cs typeface="Times New Roman" pitchFamily="18" charset="0"/>
                        </a:rPr>
                        <a:t>Multiple writes within a block requires only one write to the lower level memory</a:t>
                      </a:r>
                    </a:p>
                    <a:p>
                      <a:r>
                        <a:rPr lang="en-IN" dirty="0">
                          <a:latin typeface="Times New Roman" pitchFamily="18" charset="0"/>
                          <a:cs typeface="Times New Roman" pitchFamily="18" charset="0"/>
                        </a:rPr>
                        <a:t>Since some writes do not go to memory, write back needs less memory bandwidth, making write back attractive</a:t>
                      </a:r>
                      <a:r>
                        <a:rPr lang="en-IN" baseline="0" dirty="0">
                          <a:latin typeface="Times New Roman" pitchFamily="18" charset="0"/>
                          <a:cs typeface="Times New Roman" pitchFamily="18" charset="0"/>
                        </a:rPr>
                        <a:t> for multiprocessor</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393700" y="4008966"/>
          <a:ext cx="5418666" cy="19253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tblGrid>
              <a:tr h="370840">
                <a:tc gridSpan="2">
                  <a:txBody>
                    <a:bodyPr/>
                    <a:lstStyle/>
                    <a:p>
                      <a:r>
                        <a:rPr lang="en-IN" dirty="0">
                          <a:latin typeface="Times New Roman" pitchFamily="18" charset="0"/>
                          <a:cs typeface="Times New Roman" pitchFamily="18" charset="0"/>
                        </a:rPr>
                        <a:t>Actions on write miss</a:t>
                      </a: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IN" dirty="0">
                          <a:latin typeface="Times New Roman" pitchFamily="18" charset="0"/>
                          <a:cs typeface="Times New Roman" pitchFamily="18" charset="0"/>
                        </a:rPr>
                        <a:t>Write allocate also called fetch on write</a:t>
                      </a:r>
                    </a:p>
                  </a:txBody>
                  <a:tcPr/>
                </a:tc>
                <a:tc>
                  <a:txBody>
                    <a:bodyPr/>
                    <a:lstStyle/>
                    <a:p>
                      <a:r>
                        <a:rPr lang="en-IN" dirty="0">
                          <a:latin typeface="Times New Roman" pitchFamily="18" charset="0"/>
                          <a:cs typeface="Times New Roman" pitchFamily="18" charset="0"/>
                        </a:rPr>
                        <a:t>No write allocate also called write around</a:t>
                      </a:r>
                    </a:p>
                  </a:txBody>
                  <a:tcPr/>
                </a:tc>
                <a:extLst>
                  <a:ext uri="{0D108BD9-81ED-4DB2-BD59-A6C34878D82A}">
                    <a16:rowId xmlns:a16="http://schemas.microsoft.com/office/drawing/2014/main" val="10001"/>
                  </a:ext>
                </a:extLst>
              </a:tr>
              <a:tr h="370840">
                <a:tc>
                  <a:txBody>
                    <a:bodyPr/>
                    <a:lstStyle/>
                    <a:p>
                      <a:r>
                        <a:rPr lang="en-IN" dirty="0">
                          <a:latin typeface="Times New Roman" pitchFamily="18" charset="0"/>
                          <a:cs typeface="Times New Roman" pitchFamily="18" charset="0"/>
                        </a:rPr>
                        <a:t>Block is loaded on a write miss followed by the write hit action</a:t>
                      </a:r>
                    </a:p>
                  </a:txBody>
                  <a:tcPr/>
                </a:tc>
                <a:tc>
                  <a:txBody>
                    <a:bodyPr/>
                    <a:lstStyle/>
                    <a:p>
                      <a:r>
                        <a:rPr lang="en-IN" dirty="0">
                          <a:latin typeface="Times New Roman" pitchFamily="18" charset="0"/>
                          <a:cs typeface="Times New Roman" pitchFamily="18" charset="0"/>
                        </a:rPr>
                        <a:t>Block is modified in the lower level and not loaded in cache</a:t>
                      </a:r>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5944481" y="3905455"/>
            <a:ext cx="6044319" cy="20313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Cache miss: Three types of cache misses are compulsory miss, conflict miss and capacity miss. First access to a memory block causes compulsory miss. If the cache can not contain all the blocks needed during execution of program, capacity misses will occur because of blocks being discarded and later retrieved. Conflict/collision/interference miss occurs if the block placement strategy is direct mapped or set associative.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 y="190500"/>
            <a:ext cx="1169670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Example of conflict miss and capacity miss when CPU generates requests for MM block number 0, 4, 5, 1, 3 during program execution. </a:t>
            </a:r>
          </a:p>
          <a:p>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119473249"/>
              </p:ext>
            </p:extLst>
          </p:nvPr>
        </p:nvGraphicFramePr>
        <p:xfrm>
          <a:off x="300091" y="872756"/>
          <a:ext cx="6394339" cy="630936"/>
        </p:xfrm>
        <a:graphic>
          <a:graphicData uri="http://schemas.openxmlformats.org/drawingml/2006/table">
            <a:tbl>
              <a:tblPr firstRow="1" firstCol="1" bandRow="1">
                <a:tableStyleId>{5C22544A-7EE6-4342-B048-85BDC9FD1C3A}</a:tableStyleId>
              </a:tblPr>
              <a:tblGrid>
                <a:gridCol w="2394428">
                  <a:extLst>
                    <a:ext uri="{9D8B030D-6E8A-4147-A177-3AD203B41FA5}">
                      <a16:colId xmlns:a16="http://schemas.microsoft.com/office/drawing/2014/main" val="813694444"/>
                    </a:ext>
                  </a:extLst>
                </a:gridCol>
                <a:gridCol w="1608401">
                  <a:extLst>
                    <a:ext uri="{9D8B030D-6E8A-4147-A177-3AD203B41FA5}">
                      <a16:colId xmlns:a16="http://schemas.microsoft.com/office/drawing/2014/main" val="1473376284"/>
                    </a:ext>
                  </a:extLst>
                </a:gridCol>
                <a:gridCol w="1125416">
                  <a:extLst>
                    <a:ext uri="{9D8B030D-6E8A-4147-A177-3AD203B41FA5}">
                      <a16:colId xmlns:a16="http://schemas.microsoft.com/office/drawing/2014/main" val="3267197052"/>
                    </a:ext>
                  </a:extLst>
                </a:gridCol>
                <a:gridCol w="633046">
                  <a:extLst>
                    <a:ext uri="{9D8B030D-6E8A-4147-A177-3AD203B41FA5}">
                      <a16:colId xmlns:a16="http://schemas.microsoft.com/office/drawing/2014/main" val="3445615410"/>
                    </a:ext>
                  </a:extLst>
                </a:gridCol>
                <a:gridCol w="633048">
                  <a:extLst>
                    <a:ext uri="{9D8B030D-6E8A-4147-A177-3AD203B41FA5}">
                      <a16:colId xmlns:a16="http://schemas.microsoft.com/office/drawing/2014/main" val="1524115876"/>
                    </a:ext>
                  </a:extLst>
                </a:gridCol>
              </a:tblGrid>
              <a:tr h="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11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1074225"/>
                  </a:ext>
                </a:extLst>
              </a:tr>
              <a:tr h="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content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a:effectLst/>
                          <a:latin typeface="Times New Roman" panose="02020603050405020304" pitchFamily="18" charset="0"/>
                          <a:cs typeface="Times New Roman" panose="02020603050405020304" pitchFamily="18" charset="0"/>
                        </a:rPr>
                        <a:t>    0    </a:t>
                      </a:r>
                      <a:r>
                        <a:rPr lang="en-IN" sz="1800">
                          <a:effectLst/>
                          <a:latin typeface="Times New Roman" panose="02020603050405020304" pitchFamily="18" charset="0"/>
                          <a:cs typeface="Times New Roman" panose="02020603050405020304" pitchFamily="18" charset="0"/>
                        </a:rPr>
                        <a:t>    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a:effectLst/>
                          <a:latin typeface="Times New Roman" panose="02020603050405020304" pitchFamily="18" charset="0"/>
                          <a:cs typeface="Times New Roman" panose="02020603050405020304" pitchFamily="18" charset="0"/>
                        </a:rPr>
                        <a:t>    5    </a:t>
                      </a:r>
                      <a:r>
                        <a:rPr lang="en-IN" sz="1800">
                          <a:effectLst/>
                          <a:latin typeface="Times New Roman" panose="02020603050405020304" pitchFamily="18" charset="0"/>
                          <a:cs typeface="Times New Roman" panose="02020603050405020304" pitchFamily="18" charset="0"/>
                        </a:rPr>
                        <a:t>  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2868183"/>
                  </a:ext>
                </a:extLst>
              </a:tr>
            </a:tbl>
          </a:graphicData>
        </a:graphic>
      </p:graphicFrame>
      <p:sp>
        <p:nvSpPr>
          <p:cNvPr id="4" name="TextBox 3"/>
          <p:cNvSpPr txBox="1"/>
          <p:nvPr/>
        </p:nvSpPr>
        <p:spPr>
          <a:xfrm>
            <a:off x="6879688" y="806884"/>
            <a:ext cx="4783016"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2(a): </a:t>
            </a:r>
            <a:r>
              <a:rPr lang="en-IN" u="sng" dirty="0">
                <a:latin typeface="Times New Roman" panose="02020603050405020304" pitchFamily="18" charset="0"/>
                <a:cs typeface="Times New Roman" panose="02020603050405020304" pitchFamily="18" charset="0"/>
              </a:rPr>
              <a:t>CM in Fig 1(a) is considered as direct mapped and is redrawn in Fig 2(a)</a:t>
            </a: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83446" y="1642013"/>
            <a:ext cx="11754554" cy="2862322"/>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1st CPU request is for MM block 0. CM block frame address is computed as 0 mod 4 =0. So CM block frame 00 is now occupied by MM block 0.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2nd CPU request is for MM block 4. CM block frame address is computed as 4 mod 4 =0. But the CM block frame 00 is already occupied by MM block 0. </a:t>
            </a:r>
            <a:r>
              <a:rPr lang="en-IN" b="1" dirty="0">
                <a:latin typeface="Times New Roman" panose="02020603050405020304" pitchFamily="18" charset="0"/>
                <a:cs typeface="Times New Roman" panose="02020603050405020304" pitchFamily="18" charset="0"/>
              </a:rPr>
              <a:t>Conflict miss</a:t>
            </a:r>
            <a:r>
              <a:rPr lang="en-IN" dirty="0">
                <a:latin typeface="Times New Roman" panose="02020603050405020304" pitchFamily="18" charset="0"/>
                <a:cs typeface="Times New Roman" panose="02020603050405020304" pitchFamily="18" charset="0"/>
              </a:rPr>
              <a:t> occurs </a:t>
            </a:r>
            <a:r>
              <a:rPr lang="en-IN" b="1" dirty="0">
                <a:latin typeface="Times New Roman" panose="02020603050405020304" pitchFamily="18" charset="0"/>
                <a:cs typeface="Times New Roman" panose="02020603050405020304" pitchFamily="18" charset="0"/>
              </a:rPr>
              <a:t>between MM block 0 and MM block 4.</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3rd CPU request is for MM block 5. CM block frame address is computed as 5 mod 4 =1. So CM block frame 01 is now occupied by MM block 5.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4th CPU request is for MM block 1. CM block frame address is computed as 1 mod 4 =1. But the CM block frame 01 is already occupied by MM block 5. C</a:t>
            </a:r>
            <a:r>
              <a:rPr lang="en-IN" b="1" dirty="0">
                <a:latin typeface="Times New Roman" panose="02020603050405020304" pitchFamily="18" charset="0"/>
                <a:cs typeface="Times New Roman" panose="02020603050405020304" pitchFamily="18" charset="0"/>
              </a:rPr>
              <a:t>onflict miss</a:t>
            </a:r>
            <a:r>
              <a:rPr lang="en-IN" dirty="0">
                <a:latin typeface="Times New Roman" panose="02020603050405020304" pitchFamily="18" charset="0"/>
                <a:cs typeface="Times New Roman" panose="02020603050405020304" pitchFamily="18" charset="0"/>
              </a:rPr>
              <a:t> occurs </a:t>
            </a:r>
            <a:r>
              <a:rPr lang="en-IN" b="1" dirty="0">
                <a:latin typeface="Times New Roman" panose="02020603050405020304" pitchFamily="18" charset="0"/>
                <a:cs typeface="Times New Roman" panose="02020603050405020304" pitchFamily="18" charset="0"/>
              </a:rPr>
              <a:t>between MM block 1 and MM block 5</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5th CPU request is for MM block 3. CM block frame address is computed as 3 mod 4 =3. So CM block frame is now occupied by MM block 3.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187787818"/>
              </p:ext>
            </p:extLst>
          </p:nvPr>
        </p:nvGraphicFramePr>
        <p:xfrm>
          <a:off x="337234" y="281352"/>
          <a:ext cx="4382623" cy="986276"/>
        </p:xfrm>
        <a:graphic>
          <a:graphicData uri="http://schemas.openxmlformats.org/drawingml/2006/table">
            <a:tbl>
              <a:tblPr firstRow="1" firstCol="1" bandRow="1">
                <a:tableStyleId>{5C22544A-7EE6-4342-B048-85BDC9FD1C3A}</a:tableStyleId>
              </a:tblPr>
              <a:tblGrid>
                <a:gridCol w="2230266">
                  <a:extLst>
                    <a:ext uri="{9D8B030D-6E8A-4147-A177-3AD203B41FA5}">
                      <a16:colId xmlns:a16="http://schemas.microsoft.com/office/drawing/2014/main" val="1072136049"/>
                    </a:ext>
                  </a:extLst>
                </a:gridCol>
                <a:gridCol w="422031">
                  <a:extLst>
                    <a:ext uri="{9D8B030D-6E8A-4147-A177-3AD203B41FA5}">
                      <a16:colId xmlns:a16="http://schemas.microsoft.com/office/drawing/2014/main" val="599829614"/>
                    </a:ext>
                  </a:extLst>
                </a:gridCol>
                <a:gridCol w="562708">
                  <a:extLst>
                    <a:ext uri="{9D8B030D-6E8A-4147-A177-3AD203B41FA5}">
                      <a16:colId xmlns:a16="http://schemas.microsoft.com/office/drawing/2014/main" val="3617617615"/>
                    </a:ext>
                  </a:extLst>
                </a:gridCol>
                <a:gridCol w="492369">
                  <a:extLst>
                    <a:ext uri="{9D8B030D-6E8A-4147-A177-3AD203B41FA5}">
                      <a16:colId xmlns:a16="http://schemas.microsoft.com/office/drawing/2014/main" val="2972038144"/>
                    </a:ext>
                  </a:extLst>
                </a:gridCol>
                <a:gridCol w="675249">
                  <a:extLst>
                    <a:ext uri="{9D8B030D-6E8A-4147-A177-3AD203B41FA5}">
                      <a16:colId xmlns:a16="http://schemas.microsoft.com/office/drawing/2014/main" val="619299006"/>
                    </a:ext>
                  </a:extLst>
                </a:gridCol>
              </a:tblGrid>
              <a:tr h="35534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2752598"/>
                  </a:ext>
                </a:extLst>
              </a:tr>
              <a:tr h="35534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content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effectLst/>
                          <a:latin typeface="Times New Roman" panose="02020603050405020304" pitchFamily="18" charset="0"/>
                          <a:cs typeface="Times New Roman" panose="02020603050405020304" pitchFamily="18" charset="0"/>
                        </a:rPr>
                        <a:t>0 </a:t>
                      </a:r>
                      <a:r>
                        <a:rPr lang="en-IN" sz="1800" strike="noStrike" dirty="0">
                          <a:effectLst/>
                          <a:latin typeface="Times New Roman" panose="02020603050405020304" pitchFamily="18" charset="0"/>
                          <a:cs typeface="Times New Roman" panose="02020603050405020304" pitchFamily="18" charset="0"/>
                        </a:rPr>
                        <a:t>3</a:t>
                      </a:r>
                      <a:endParaRPr lang="en-IN" sz="1800" strike="noStrike"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effectLst/>
                          <a:latin typeface="Times New Roman" panose="02020603050405020304" pitchFamily="18" charset="0"/>
                          <a:cs typeface="Times New Roman" panose="02020603050405020304" pitchFamily="18" charset="0"/>
                        </a:rPr>
                        <a:t>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6832634"/>
                  </a:ext>
                </a:extLst>
              </a:tr>
            </a:tbl>
          </a:graphicData>
        </a:graphic>
      </p:graphicFrame>
      <p:sp>
        <p:nvSpPr>
          <p:cNvPr id="4" name="TextBox 3"/>
          <p:cNvSpPr txBox="1"/>
          <p:nvPr/>
        </p:nvSpPr>
        <p:spPr>
          <a:xfrm>
            <a:off x="5167728" y="270689"/>
            <a:ext cx="672435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2(b): </a:t>
            </a:r>
            <a:r>
              <a:rPr lang="en-IN" u="sng" dirty="0">
                <a:latin typeface="Times New Roman" panose="02020603050405020304" pitchFamily="18" charset="0"/>
                <a:cs typeface="Times New Roman" panose="02020603050405020304" pitchFamily="18" charset="0"/>
              </a:rPr>
              <a:t>CM in Fig 1(a) is considered as fully associative and it is redrawn in Fig 2(b)</a:t>
            </a:r>
            <a:endParaRPr lang="en-IN"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41886" y="1616417"/>
            <a:ext cx="11521440" cy="2585323"/>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1st CPU request is for MM block 0. So CM block frame 00 is now occupied by MM block 0.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2nd CPU request is for MM block 4. So CM block frame 01 is now occupied by MM block 4. So no conflict miss occurs in 2nd CPU request like direct mapped.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3rd CPU request is for MM block 5. So CM block frame 10 is now occupied by MM block 5.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4th CPU request is for MM block 1. CM block frame 11 is now occupied by MM block 1. So no conflict miss occurs in 4th CPU request like direct mapped.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5th CPU request is for MM block 3. But all the CM block frames are occupied as shown in Fig 2(b) up to the 4th CPU request in this example. In such a situation </a:t>
            </a:r>
            <a:r>
              <a:rPr lang="en-IN" b="1" dirty="0">
                <a:latin typeface="Times New Roman" panose="02020603050405020304" pitchFamily="18" charset="0"/>
                <a:cs typeface="Times New Roman" panose="02020603050405020304" pitchFamily="18" charset="0"/>
              </a:rPr>
              <a:t>capacity miss</a:t>
            </a:r>
            <a:r>
              <a:rPr lang="en-IN" dirty="0">
                <a:latin typeface="Times New Roman" panose="02020603050405020304" pitchFamily="18" charset="0"/>
                <a:cs typeface="Times New Roman" panose="02020603050405020304" pitchFamily="18" charset="0"/>
              </a:rPr>
              <a:t> occurs </a:t>
            </a:r>
            <a:r>
              <a:rPr lang="en-IN" b="1" dirty="0">
                <a:latin typeface="Times New Roman" panose="02020603050405020304" pitchFamily="18" charset="0"/>
                <a:cs typeface="Times New Roman" panose="02020603050405020304" pitchFamily="18" charset="0"/>
              </a:rPr>
              <a:t>due to lack of space in CM</a:t>
            </a:r>
            <a:r>
              <a:rPr lang="en-IN" dirty="0">
                <a:latin typeface="Times New Roman" panose="02020603050405020304" pitchFamily="18" charset="0"/>
                <a:cs typeface="Times New Roman" panose="02020603050405020304" pitchFamily="18" charset="0"/>
              </a:rPr>
              <a:t>. So it is required to select a victim block in CM and replace this victim block by MM block 3. </a:t>
            </a:r>
          </a:p>
        </p:txBody>
      </p:sp>
    </p:spTree>
    <p:extLst>
      <p:ext uri="{BB962C8B-B14F-4D97-AF65-F5344CB8AC3E}">
        <p14:creationId xmlns:p14="http://schemas.microsoft.com/office/powerpoint/2010/main" val="1803255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06663090"/>
              </p:ext>
            </p:extLst>
          </p:nvPr>
        </p:nvGraphicFramePr>
        <p:xfrm>
          <a:off x="273782" y="277751"/>
          <a:ext cx="4129405" cy="960207"/>
        </p:xfrm>
        <a:graphic>
          <a:graphicData uri="http://schemas.openxmlformats.org/drawingml/2006/table">
            <a:tbl>
              <a:tblPr firstRow="1" firstCol="1" bandRow="1">
                <a:tableStyleId>{5C22544A-7EE6-4342-B048-85BDC9FD1C3A}</a:tableStyleId>
              </a:tblPr>
              <a:tblGrid>
                <a:gridCol w="2230267">
                  <a:extLst>
                    <a:ext uri="{9D8B030D-6E8A-4147-A177-3AD203B41FA5}">
                      <a16:colId xmlns:a16="http://schemas.microsoft.com/office/drawing/2014/main" val="1723478643"/>
                    </a:ext>
                  </a:extLst>
                </a:gridCol>
                <a:gridCol w="422031">
                  <a:extLst>
                    <a:ext uri="{9D8B030D-6E8A-4147-A177-3AD203B41FA5}">
                      <a16:colId xmlns:a16="http://schemas.microsoft.com/office/drawing/2014/main" val="3742137293"/>
                    </a:ext>
                  </a:extLst>
                </a:gridCol>
                <a:gridCol w="450166">
                  <a:extLst>
                    <a:ext uri="{9D8B030D-6E8A-4147-A177-3AD203B41FA5}">
                      <a16:colId xmlns:a16="http://schemas.microsoft.com/office/drawing/2014/main" val="3239309300"/>
                    </a:ext>
                  </a:extLst>
                </a:gridCol>
                <a:gridCol w="478302">
                  <a:extLst>
                    <a:ext uri="{9D8B030D-6E8A-4147-A177-3AD203B41FA5}">
                      <a16:colId xmlns:a16="http://schemas.microsoft.com/office/drawing/2014/main" val="2253918801"/>
                    </a:ext>
                  </a:extLst>
                </a:gridCol>
                <a:gridCol w="548639">
                  <a:extLst>
                    <a:ext uri="{9D8B030D-6E8A-4147-A177-3AD203B41FA5}">
                      <a16:colId xmlns:a16="http://schemas.microsoft.com/office/drawing/2014/main" val="720110714"/>
                    </a:ext>
                  </a:extLst>
                </a:gridCol>
              </a:tblGrid>
              <a:tr h="320069">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Set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Set 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2">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Set 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1514820315"/>
                  </a:ext>
                </a:extLst>
              </a:tr>
              <a:tr h="320069">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address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0004948"/>
                  </a:ext>
                </a:extLst>
              </a:tr>
              <a:tr h="320069">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content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noStrike" dirty="0">
                          <a:effectLst/>
                          <a:latin typeface="Times New Roman" panose="02020603050405020304" pitchFamily="18" charset="0"/>
                          <a:cs typeface="Times New Roman" panose="02020603050405020304" pitchFamily="18" charset="0"/>
                        </a:rPr>
                        <a:t>0</a:t>
                      </a:r>
                      <a:endParaRPr lang="en-IN" sz="1800" strike="noStrike"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0003649"/>
                  </a:ext>
                </a:extLst>
              </a:tr>
            </a:tbl>
          </a:graphicData>
        </a:graphic>
      </p:graphicFrame>
      <p:sp>
        <p:nvSpPr>
          <p:cNvPr id="3" name="TextBox 2"/>
          <p:cNvSpPr txBox="1"/>
          <p:nvPr/>
        </p:nvSpPr>
        <p:spPr>
          <a:xfrm>
            <a:off x="4754880" y="436098"/>
            <a:ext cx="427657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2(c): </a:t>
            </a:r>
            <a:r>
              <a:rPr lang="en-IN" u="sng" dirty="0">
                <a:latin typeface="Times New Roman" panose="02020603050405020304" pitchFamily="18" charset="0"/>
                <a:cs typeface="Times New Roman" panose="02020603050405020304" pitchFamily="18" charset="0"/>
              </a:rPr>
              <a:t>CM in Fig 2 is redrawn in Fig 2(c)</a:t>
            </a:r>
            <a:r>
              <a:rPr lang="en-IN" dirty="0">
                <a:latin typeface="Times New Roman" panose="02020603050405020304" pitchFamily="18" charset="0"/>
                <a:cs typeface="Times New Roman" panose="02020603050405020304" pitchFamily="18" charset="0"/>
              </a:rPr>
              <a:t> </a:t>
            </a:r>
          </a:p>
        </p:txBody>
      </p:sp>
      <p:sp>
        <p:nvSpPr>
          <p:cNvPr id="4" name="TextBox 3"/>
          <p:cNvSpPr txBox="1"/>
          <p:nvPr/>
        </p:nvSpPr>
        <p:spPr>
          <a:xfrm>
            <a:off x="133105" y="1378634"/>
            <a:ext cx="11725960" cy="3416320"/>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1st CPU request is for MM block 0. Set address is computed as 0 mod 2 =0. So CM block frame 00 in Set 0 is now occupied by MM block 0.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2nd CPU request is for MM block 4. Set address is computed as 4 mod 2 =0. The CM block frame 01 in Set 0 is occupied by MM block 4. So no conflict miss occurs in 2nd CPU request like direct mapped.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3rd CPU request is for MM block 5. Set address is computed as 5 mod 2 =1. So CM block frame 10 in Set 1 is now occupied by MM block 5.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4th CPU request is for MM block 1. Set address is computed as 1 mod 2 =1. The CM block frame 11 in Set 1 is now occupied by MM block 1. So no conflict miss occurs in 4th CPU request like direct mapped.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5th CPU request is for MM block 3. Set address is computed as 3 mod 2=1. But both the block frames (10 and 11 in Fig 2(c)) in Set 1 are occupied as shown in Fig 2(c). In such a situation </a:t>
            </a:r>
            <a:r>
              <a:rPr lang="en-IN" b="1" dirty="0">
                <a:latin typeface="Times New Roman" panose="02020603050405020304" pitchFamily="18" charset="0"/>
                <a:cs typeface="Times New Roman" panose="02020603050405020304" pitchFamily="18" charset="0"/>
              </a:rPr>
              <a:t>conflict miss</a:t>
            </a:r>
            <a:r>
              <a:rPr lang="en-IN" dirty="0">
                <a:latin typeface="Times New Roman" panose="02020603050405020304" pitchFamily="18" charset="0"/>
                <a:cs typeface="Times New Roman" panose="02020603050405020304" pitchFamily="18" charset="0"/>
              </a:rPr>
              <a:t> occurs </a:t>
            </a:r>
            <a:r>
              <a:rPr lang="en-IN" b="1" dirty="0">
                <a:latin typeface="Times New Roman" panose="02020603050405020304" pitchFamily="18" charset="0"/>
                <a:cs typeface="Times New Roman" panose="02020603050405020304" pitchFamily="18" charset="0"/>
              </a:rPr>
              <a:t>between MM block 5, MM block 1 and MM block 3 as all these 3 MM blocks are mapped into the same set. </a:t>
            </a:r>
            <a:r>
              <a:rPr lang="en-IN" dirty="0">
                <a:latin typeface="Times New Roman" panose="02020603050405020304" pitchFamily="18" charset="0"/>
                <a:cs typeface="Times New Roman" panose="02020603050405020304" pitchFamily="18" charset="0"/>
              </a:rPr>
              <a:t>So it is required to select a victim block in Set 1 of CM among the MM blocks 5 and 1, and replace this victim block by MM block 3. </a:t>
            </a:r>
          </a:p>
        </p:txBody>
      </p:sp>
    </p:spTree>
    <p:extLst>
      <p:ext uri="{BB962C8B-B14F-4D97-AF65-F5344CB8AC3E}">
        <p14:creationId xmlns:p14="http://schemas.microsoft.com/office/powerpoint/2010/main" val="1909515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5421" y="323558"/>
            <a:ext cx="11521440" cy="341632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Associativity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direct mapped cache is one-way set associative as a particular MM block can be placed in a particular block frame of CM. Associativity of direct mapped CM is 1.</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Fully associative cache is m-way set associative (m=number of block frames in CM) as a particular MM block can be placed in one of m block frames in CM. Associativity of fully associative CM is m.</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Set associative cache is k-way set associative (k=number of block frames per set in CM) as a particular MM block can be placed in one of k block frames within a particular set. Fig 2 shows a 2-way (k=2) set associative cache.</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Address</a:t>
            </a:r>
          </a:p>
          <a:p>
            <a:pPr lvl="0"/>
            <a:r>
              <a:rPr lang="en-IN" dirty="0">
                <a:latin typeface="Times New Roman" panose="02020603050405020304" pitchFamily="18" charset="0"/>
                <a:cs typeface="Times New Roman" panose="02020603050405020304" pitchFamily="18" charset="0"/>
              </a:rPr>
              <a:t>CPU generates MM address for accessing data during program execution. This address is divided into 2 fields as (Tag, Block offset) in fully associative cache (Fig 3). The tag field is divided into 2 fields as (Tag, Index) both for direct mapped cache and set associative cache (Fig 3). </a:t>
            </a:r>
          </a:p>
        </p:txBody>
      </p:sp>
      <p:graphicFrame>
        <p:nvGraphicFramePr>
          <p:cNvPr id="3" name="Table 2"/>
          <p:cNvGraphicFramePr>
            <a:graphicFrameLocks noGrp="1"/>
          </p:cNvGraphicFramePr>
          <p:nvPr>
            <p:extLst>
              <p:ext uri="{D42A27DB-BD31-4B8C-83A1-F6EECF244321}">
                <p14:modId xmlns:p14="http://schemas.microsoft.com/office/powerpoint/2010/main" val="2503516009"/>
              </p:ext>
            </p:extLst>
          </p:nvPr>
        </p:nvGraphicFramePr>
        <p:xfrm>
          <a:off x="2549696" y="5314162"/>
          <a:ext cx="3021110" cy="315468"/>
        </p:xfrm>
        <a:graphic>
          <a:graphicData uri="http://schemas.openxmlformats.org/drawingml/2006/table">
            <a:tbl>
              <a:tblPr firstRow="1" firstCol="1" bandRow="1">
                <a:tableStyleId>{5C22544A-7EE6-4342-B048-85BDC9FD1C3A}</a:tableStyleId>
              </a:tblPr>
              <a:tblGrid>
                <a:gridCol w="559265">
                  <a:extLst>
                    <a:ext uri="{9D8B030D-6E8A-4147-A177-3AD203B41FA5}">
                      <a16:colId xmlns:a16="http://schemas.microsoft.com/office/drawing/2014/main" val="2685512471"/>
                    </a:ext>
                  </a:extLst>
                </a:gridCol>
                <a:gridCol w="787790">
                  <a:extLst>
                    <a:ext uri="{9D8B030D-6E8A-4147-A177-3AD203B41FA5}">
                      <a16:colId xmlns:a16="http://schemas.microsoft.com/office/drawing/2014/main" val="2995929708"/>
                    </a:ext>
                  </a:extLst>
                </a:gridCol>
                <a:gridCol w="1674055">
                  <a:extLst>
                    <a:ext uri="{9D8B030D-6E8A-4147-A177-3AD203B41FA5}">
                      <a16:colId xmlns:a16="http://schemas.microsoft.com/office/drawing/2014/main" val="2325764698"/>
                    </a:ext>
                  </a:extLst>
                </a:gridCol>
              </a:tblGrid>
              <a:tr h="0">
                <a:tc>
                  <a:txBody>
                    <a:bodyPr/>
                    <a:lstStyle/>
                    <a:p>
                      <a:pPr algn="l">
                        <a:lnSpc>
                          <a:spcPct val="115000"/>
                        </a:lnSpc>
                        <a:spcAft>
                          <a:spcPts val="0"/>
                        </a:spcAft>
                      </a:pPr>
                      <a:r>
                        <a:rPr lang="en-IN" sz="1800">
                          <a:effectLst/>
                          <a:latin typeface="Times New Roman" panose="02020603050405020304" pitchFamily="18" charset="0"/>
                          <a:cs typeface="Times New Roman" panose="02020603050405020304" pitchFamily="18" charset="0"/>
                        </a:rPr>
                        <a:t>Tag</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IN" sz="1800" dirty="0">
                          <a:effectLst/>
                          <a:latin typeface="Times New Roman" panose="02020603050405020304" pitchFamily="18" charset="0"/>
                          <a:cs typeface="Times New Roman" panose="02020603050405020304" pitchFamily="18" charset="0"/>
                        </a:rPr>
                        <a:t>Index</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offset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1375409"/>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469289445"/>
              </p:ext>
            </p:extLst>
          </p:nvPr>
        </p:nvGraphicFramePr>
        <p:xfrm>
          <a:off x="984740" y="4789787"/>
          <a:ext cx="1744394" cy="315468"/>
        </p:xfrm>
        <a:graphic>
          <a:graphicData uri="http://schemas.openxmlformats.org/drawingml/2006/table">
            <a:tbl>
              <a:tblPr firstRow="1" firstCol="1" bandRow="1">
                <a:tableStyleId>{5C22544A-7EE6-4342-B048-85BDC9FD1C3A}</a:tableStyleId>
              </a:tblPr>
              <a:tblGrid>
                <a:gridCol w="1744394">
                  <a:extLst>
                    <a:ext uri="{9D8B030D-6E8A-4147-A177-3AD203B41FA5}">
                      <a16:colId xmlns:a16="http://schemas.microsoft.com/office/drawing/2014/main" val="1424668033"/>
                    </a:ext>
                  </a:extLst>
                </a:gridCol>
              </a:tblGrid>
              <a:tr h="0">
                <a:tc>
                  <a:txBody>
                    <a:bodyPr/>
                    <a:lstStyle/>
                    <a:p>
                      <a:pPr algn="l">
                        <a:lnSpc>
                          <a:spcPct val="115000"/>
                        </a:lnSpc>
                        <a:spcAft>
                          <a:spcPts val="0"/>
                        </a:spcAft>
                      </a:pPr>
                      <a:r>
                        <a:rPr lang="en-IN" sz="1800" dirty="0">
                          <a:effectLst/>
                          <a:latin typeface="Times New Roman" panose="02020603050405020304" pitchFamily="18" charset="0"/>
                          <a:cs typeface="Times New Roman" panose="02020603050405020304" pitchFamily="18" charset="0"/>
                        </a:rPr>
                        <a:t>Fully associative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426151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902093163"/>
              </p:ext>
            </p:extLst>
          </p:nvPr>
        </p:nvGraphicFramePr>
        <p:xfrm>
          <a:off x="4702053" y="4789787"/>
          <a:ext cx="2560320" cy="315468"/>
        </p:xfrm>
        <a:graphic>
          <a:graphicData uri="http://schemas.openxmlformats.org/drawingml/2006/table">
            <a:tbl>
              <a:tblPr firstRow="1" firstCol="1" bandRow="1">
                <a:tableStyleId>{5C22544A-7EE6-4342-B048-85BDC9FD1C3A}</a:tableStyleId>
              </a:tblPr>
              <a:tblGrid>
                <a:gridCol w="2560320">
                  <a:extLst>
                    <a:ext uri="{9D8B030D-6E8A-4147-A177-3AD203B41FA5}">
                      <a16:colId xmlns:a16="http://schemas.microsoft.com/office/drawing/2014/main" val="60904111"/>
                    </a:ext>
                  </a:extLst>
                </a:gridCol>
              </a:tblGrid>
              <a:tr h="0">
                <a:tc>
                  <a:txBody>
                    <a:bodyPr/>
                    <a:lstStyle/>
                    <a:p>
                      <a:pPr algn="r">
                        <a:lnSpc>
                          <a:spcPct val="115000"/>
                        </a:lnSpc>
                        <a:spcAft>
                          <a:spcPts val="0"/>
                        </a:spcAft>
                      </a:pPr>
                      <a:r>
                        <a:rPr lang="en-IN" sz="1800" dirty="0">
                          <a:effectLst/>
                        </a:rPr>
                        <a:t>Direct and Set associative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17213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69381818"/>
              </p:ext>
            </p:extLst>
          </p:nvPr>
        </p:nvGraphicFramePr>
        <p:xfrm>
          <a:off x="2925932" y="4172188"/>
          <a:ext cx="1944053" cy="315468"/>
        </p:xfrm>
        <a:graphic>
          <a:graphicData uri="http://schemas.openxmlformats.org/drawingml/2006/table">
            <a:tbl>
              <a:tblPr firstRow="1" firstCol="1" bandRow="1">
                <a:tableStyleId>{5C22544A-7EE6-4342-B048-85BDC9FD1C3A}</a:tableStyleId>
              </a:tblPr>
              <a:tblGrid>
                <a:gridCol w="590992">
                  <a:extLst>
                    <a:ext uri="{9D8B030D-6E8A-4147-A177-3AD203B41FA5}">
                      <a16:colId xmlns:a16="http://schemas.microsoft.com/office/drawing/2014/main" val="2043730043"/>
                    </a:ext>
                  </a:extLst>
                </a:gridCol>
                <a:gridCol w="1353061">
                  <a:extLst>
                    <a:ext uri="{9D8B030D-6E8A-4147-A177-3AD203B41FA5}">
                      <a16:colId xmlns:a16="http://schemas.microsoft.com/office/drawing/2014/main" val="3661569085"/>
                    </a:ext>
                  </a:extLst>
                </a:gridCol>
              </a:tblGrid>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Tag</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offset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1937405"/>
                  </a:ext>
                </a:extLst>
              </a:tr>
            </a:tbl>
          </a:graphicData>
        </a:graphic>
      </p:graphicFrame>
      <p:cxnSp>
        <p:nvCxnSpPr>
          <p:cNvPr id="7" name="Straight Arrow Connector 6"/>
          <p:cNvCxnSpPr>
            <a:endCxn id="6" idx="1"/>
          </p:cNvCxnSpPr>
          <p:nvPr/>
        </p:nvCxnSpPr>
        <p:spPr>
          <a:xfrm flipV="1">
            <a:off x="1955410" y="4329922"/>
            <a:ext cx="970522" cy="45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702053" y="5079982"/>
            <a:ext cx="390452" cy="265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729134" y="4487656"/>
            <a:ext cx="506436" cy="826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277773" y="4487656"/>
            <a:ext cx="421883" cy="858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696222" y="5629630"/>
            <a:ext cx="68931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3</a:t>
            </a:r>
          </a:p>
        </p:txBody>
      </p:sp>
      <p:sp>
        <p:nvSpPr>
          <p:cNvPr id="12" name="TextBox 11"/>
          <p:cNvSpPr txBox="1"/>
          <p:nvPr/>
        </p:nvSpPr>
        <p:spPr>
          <a:xfrm>
            <a:off x="7778839" y="3889420"/>
            <a:ext cx="4038022" cy="2585323"/>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Tag field is used to find hit or miss  and block offset field is used to access the desired byte of CPU from a MM block.</a:t>
            </a:r>
          </a:p>
          <a:p>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The block offset field value remains same (i.e. 1001010110) for fully associative CM, direct mapped CM and set associative CM. </a:t>
            </a:r>
          </a:p>
          <a:p>
            <a:endParaRPr lang="en-IN" dirty="0"/>
          </a:p>
        </p:txBody>
      </p:sp>
    </p:spTree>
    <p:extLst>
      <p:ext uri="{BB962C8B-B14F-4D97-AF65-F5344CB8AC3E}">
        <p14:creationId xmlns:p14="http://schemas.microsoft.com/office/powerpoint/2010/main" val="4041823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168812" y="154744"/>
            <a:ext cx="11422966" cy="452431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Index field selects the block frame in CM for direct mapped cache and the set in CM for set associative cache. </a:t>
            </a:r>
          </a:p>
          <a:p>
            <a:pPr lvl="0"/>
            <a:r>
              <a:rPr lang="en-IN" dirty="0">
                <a:latin typeface="Times New Roman" panose="02020603050405020304" pitchFamily="18" charset="0"/>
                <a:cs typeface="Times New Roman" panose="02020603050405020304" pitchFamily="18" charset="0"/>
              </a:rPr>
              <a:t>For example, let the MM address as generated by CPU is 101 1001010110. So CPU request is generated for byte number 1001010110 from MM block number 101.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fully associative mapping Tag=101 and Block offset = 1001010110.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direct mapped CM the Tag field 101 is divided as 1 (Tag) and 01 (Index, as index field identifies 1 block frame from 4 block frames in CM so it has 2-bit).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2-way set associative CM (Fig 2) the Tag field 101 is divided as 10 (Tag) and 1 (Index, as index field identifies 1 set from 2 sets in CM (Fig 2) so it has 1-bit). </a:t>
            </a:r>
          </a:p>
          <a:p>
            <a:pPr lvl="0"/>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A fully associative CM has 8 block frames. The least recently used (LRU) policy is used for cache block replacement. The following is the sequence of memory block requests as generated by CPU during program execution.</a:t>
            </a:r>
          </a:p>
          <a:p>
            <a:r>
              <a:rPr lang="en-IN" dirty="0">
                <a:latin typeface="Times New Roman" panose="02020603050405020304" pitchFamily="18" charset="0"/>
                <a:cs typeface="Times New Roman" panose="02020603050405020304" pitchFamily="18" charset="0"/>
              </a:rPr>
              <a:t>Sequence</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4, 3, 25, 8, 19, 6, </a:t>
            </a:r>
            <a:r>
              <a:rPr lang="en-IN" b="1" dirty="0">
                <a:solidFill>
                  <a:srgbClr val="FF0000"/>
                </a:solidFill>
                <a:latin typeface="Times New Roman" panose="02020603050405020304" pitchFamily="18" charset="0"/>
                <a:cs typeface="Times New Roman" panose="02020603050405020304" pitchFamily="18" charset="0"/>
              </a:rPr>
              <a:t>25</a:t>
            </a:r>
            <a:r>
              <a:rPr lang="en-IN" dirty="0">
                <a:solidFill>
                  <a:srgbClr val="FF0000"/>
                </a:solidFill>
                <a:latin typeface="Times New Roman" panose="02020603050405020304" pitchFamily="18" charset="0"/>
                <a:cs typeface="Times New Roman" panose="02020603050405020304" pitchFamily="18" charset="0"/>
              </a:rPr>
              <a:t>, </a:t>
            </a:r>
            <a:r>
              <a:rPr lang="en-IN" b="1" dirty="0">
                <a:solidFill>
                  <a:srgbClr val="FF0000"/>
                </a:solidFill>
                <a:latin typeface="Times New Roman" panose="02020603050405020304" pitchFamily="18" charset="0"/>
                <a:cs typeface="Times New Roman" panose="02020603050405020304" pitchFamily="18" charset="0"/>
              </a:rPr>
              <a:t>8</a:t>
            </a:r>
            <a:r>
              <a:rPr lang="en-IN" dirty="0">
                <a:latin typeface="Times New Roman" panose="02020603050405020304" pitchFamily="18" charset="0"/>
                <a:cs typeface="Times New Roman" panose="02020603050405020304" pitchFamily="18" charset="0"/>
              </a:rPr>
              <a:t>, 16, 35, 45, 22, </a:t>
            </a:r>
            <a:r>
              <a:rPr lang="en-IN" b="1" dirty="0">
                <a:solidFill>
                  <a:srgbClr val="FF0000"/>
                </a:solidFill>
                <a:latin typeface="Times New Roman" panose="02020603050405020304" pitchFamily="18" charset="0"/>
                <a:cs typeface="Times New Roman" panose="02020603050405020304" pitchFamily="18" charset="0"/>
              </a:rPr>
              <a:t>8</a:t>
            </a:r>
            <a:r>
              <a:rPr lang="en-IN" dirty="0">
                <a:latin typeface="Times New Roman" panose="02020603050405020304" pitchFamily="18" charset="0"/>
                <a:cs typeface="Times New Roman" panose="02020603050405020304" pitchFamily="18" charset="0"/>
              </a:rPr>
              <a:t>, 3, </a:t>
            </a:r>
            <a:r>
              <a:rPr lang="en-IN" b="1" dirty="0">
                <a:solidFill>
                  <a:srgbClr val="FF0000"/>
                </a:solidFill>
                <a:latin typeface="Times New Roman" panose="02020603050405020304" pitchFamily="18" charset="0"/>
                <a:cs typeface="Times New Roman" panose="02020603050405020304" pitchFamily="18" charset="0"/>
              </a:rPr>
              <a:t>16, 25</a:t>
            </a:r>
            <a:r>
              <a:rPr lang="en-IN" dirty="0">
                <a:latin typeface="Times New Roman" panose="02020603050405020304" pitchFamily="18" charset="0"/>
                <a:cs typeface="Times New Roman" panose="02020603050405020304" pitchFamily="18" charset="0"/>
              </a:rPr>
              <a:t>, 7</a:t>
            </a:r>
          </a:p>
          <a:p>
            <a:r>
              <a:rPr lang="en-IN" dirty="0">
                <a:latin typeface="Times New Roman" panose="02020603050405020304" pitchFamily="18" charset="0"/>
                <a:cs typeface="Times New Roman" panose="02020603050405020304" pitchFamily="18" charset="0"/>
              </a:rPr>
              <a:t>Initially all the 8 block frames in CM are empty as shown below. Each block frame is identified by  3-bit address (000 to 111) as CM has 8 block frames in this example.</a:t>
            </a:r>
          </a:p>
          <a:p>
            <a:pPr lvl="0"/>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245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88900213"/>
              </p:ext>
            </p:extLst>
          </p:nvPr>
        </p:nvGraphicFramePr>
        <p:xfrm>
          <a:off x="342240" y="414736"/>
          <a:ext cx="7549734" cy="630936"/>
        </p:xfrm>
        <a:graphic>
          <a:graphicData uri="http://schemas.openxmlformats.org/drawingml/2006/table">
            <a:tbl>
              <a:tblPr firstRow="1" firstCol="1" bandRow="1">
                <a:tableStyleId>{5C22544A-7EE6-4342-B048-85BDC9FD1C3A}</a:tableStyleId>
              </a:tblPr>
              <a:tblGrid>
                <a:gridCol w="2302486">
                  <a:extLst>
                    <a:ext uri="{9D8B030D-6E8A-4147-A177-3AD203B41FA5}">
                      <a16:colId xmlns:a16="http://schemas.microsoft.com/office/drawing/2014/main" val="4057842945"/>
                    </a:ext>
                  </a:extLst>
                </a:gridCol>
                <a:gridCol w="604911">
                  <a:extLst>
                    <a:ext uri="{9D8B030D-6E8A-4147-A177-3AD203B41FA5}">
                      <a16:colId xmlns:a16="http://schemas.microsoft.com/office/drawing/2014/main" val="4199556451"/>
                    </a:ext>
                  </a:extLst>
                </a:gridCol>
                <a:gridCol w="590843">
                  <a:extLst>
                    <a:ext uri="{9D8B030D-6E8A-4147-A177-3AD203B41FA5}">
                      <a16:colId xmlns:a16="http://schemas.microsoft.com/office/drawing/2014/main" val="1900014889"/>
                    </a:ext>
                  </a:extLst>
                </a:gridCol>
                <a:gridCol w="534572">
                  <a:extLst>
                    <a:ext uri="{9D8B030D-6E8A-4147-A177-3AD203B41FA5}">
                      <a16:colId xmlns:a16="http://schemas.microsoft.com/office/drawing/2014/main" val="2561740121"/>
                    </a:ext>
                  </a:extLst>
                </a:gridCol>
                <a:gridCol w="647114">
                  <a:extLst>
                    <a:ext uri="{9D8B030D-6E8A-4147-A177-3AD203B41FA5}">
                      <a16:colId xmlns:a16="http://schemas.microsoft.com/office/drawing/2014/main" val="4273008466"/>
                    </a:ext>
                  </a:extLst>
                </a:gridCol>
                <a:gridCol w="618979">
                  <a:extLst>
                    <a:ext uri="{9D8B030D-6E8A-4147-A177-3AD203B41FA5}">
                      <a16:colId xmlns:a16="http://schemas.microsoft.com/office/drawing/2014/main" val="1527602897"/>
                    </a:ext>
                  </a:extLst>
                </a:gridCol>
                <a:gridCol w="703384">
                  <a:extLst>
                    <a:ext uri="{9D8B030D-6E8A-4147-A177-3AD203B41FA5}">
                      <a16:colId xmlns:a16="http://schemas.microsoft.com/office/drawing/2014/main" val="3394966677"/>
                    </a:ext>
                  </a:extLst>
                </a:gridCol>
                <a:gridCol w="731520">
                  <a:extLst>
                    <a:ext uri="{9D8B030D-6E8A-4147-A177-3AD203B41FA5}">
                      <a16:colId xmlns:a16="http://schemas.microsoft.com/office/drawing/2014/main" val="4282956810"/>
                    </a:ext>
                  </a:extLst>
                </a:gridCol>
                <a:gridCol w="815925">
                  <a:extLst>
                    <a:ext uri="{9D8B030D-6E8A-4147-A177-3AD203B41FA5}">
                      <a16:colId xmlns:a16="http://schemas.microsoft.com/office/drawing/2014/main" val="2034046688"/>
                    </a:ext>
                  </a:extLst>
                </a:gridCol>
              </a:tblGrid>
              <a:tr h="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6170467"/>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content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135945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961294687"/>
              </p:ext>
            </p:extLst>
          </p:nvPr>
        </p:nvGraphicFramePr>
        <p:xfrm>
          <a:off x="342240" y="1200182"/>
          <a:ext cx="7549734" cy="630936"/>
        </p:xfrm>
        <a:graphic>
          <a:graphicData uri="http://schemas.openxmlformats.org/drawingml/2006/table">
            <a:tbl>
              <a:tblPr firstRow="1" firstCol="1" bandRow="1">
                <a:tableStyleId>{5C22544A-7EE6-4342-B048-85BDC9FD1C3A}</a:tableStyleId>
              </a:tblPr>
              <a:tblGrid>
                <a:gridCol w="2204012">
                  <a:extLst>
                    <a:ext uri="{9D8B030D-6E8A-4147-A177-3AD203B41FA5}">
                      <a16:colId xmlns:a16="http://schemas.microsoft.com/office/drawing/2014/main" val="4057842945"/>
                    </a:ext>
                  </a:extLst>
                </a:gridCol>
                <a:gridCol w="886265">
                  <a:extLst>
                    <a:ext uri="{9D8B030D-6E8A-4147-A177-3AD203B41FA5}">
                      <a16:colId xmlns:a16="http://schemas.microsoft.com/office/drawing/2014/main" val="4199556451"/>
                    </a:ext>
                  </a:extLst>
                </a:gridCol>
                <a:gridCol w="872197">
                  <a:extLst>
                    <a:ext uri="{9D8B030D-6E8A-4147-A177-3AD203B41FA5}">
                      <a16:colId xmlns:a16="http://schemas.microsoft.com/office/drawing/2014/main" val="1900014889"/>
                    </a:ext>
                  </a:extLst>
                </a:gridCol>
                <a:gridCol w="633046">
                  <a:extLst>
                    <a:ext uri="{9D8B030D-6E8A-4147-A177-3AD203B41FA5}">
                      <a16:colId xmlns:a16="http://schemas.microsoft.com/office/drawing/2014/main" val="2561740121"/>
                    </a:ext>
                  </a:extLst>
                </a:gridCol>
                <a:gridCol w="478302">
                  <a:extLst>
                    <a:ext uri="{9D8B030D-6E8A-4147-A177-3AD203B41FA5}">
                      <a16:colId xmlns:a16="http://schemas.microsoft.com/office/drawing/2014/main" val="4273008466"/>
                    </a:ext>
                  </a:extLst>
                </a:gridCol>
                <a:gridCol w="745587">
                  <a:extLst>
                    <a:ext uri="{9D8B030D-6E8A-4147-A177-3AD203B41FA5}">
                      <a16:colId xmlns:a16="http://schemas.microsoft.com/office/drawing/2014/main" val="1527602897"/>
                    </a:ext>
                  </a:extLst>
                </a:gridCol>
                <a:gridCol w="703385">
                  <a:extLst>
                    <a:ext uri="{9D8B030D-6E8A-4147-A177-3AD203B41FA5}">
                      <a16:colId xmlns:a16="http://schemas.microsoft.com/office/drawing/2014/main" val="3394966677"/>
                    </a:ext>
                  </a:extLst>
                </a:gridCol>
                <a:gridCol w="478301">
                  <a:extLst>
                    <a:ext uri="{9D8B030D-6E8A-4147-A177-3AD203B41FA5}">
                      <a16:colId xmlns:a16="http://schemas.microsoft.com/office/drawing/2014/main" val="4282956810"/>
                    </a:ext>
                  </a:extLst>
                </a:gridCol>
                <a:gridCol w="548639">
                  <a:extLst>
                    <a:ext uri="{9D8B030D-6E8A-4147-A177-3AD203B41FA5}">
                      <a16:colId xmlns:a16="http://schemas.microsoft.com/office/drawing/2014/main" val="2034046688"/>
                    </a:ext>
                  </a:extLst>
                </a:gridCol>
              </a:tblGrid>
              <a:tr h="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frame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000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6170467"/>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content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solidFill>
                            <a:srgbClr val="FF0000"/>
                          </a:solidFill>
                          <a:effectLst/>
                          <a:latin typeface="Times New Roman" panose="02020603050405020304" pitchFamily="18" charset="0"/>
                          <a:cs typeface="Times New Roman" panose="02020603050405020304" pitchFamily="18" charset="0"/>
                        </a:rPr>
                        <a:t>   4  </a:t>
                      </a:r>
                      <a:r>
                        <a:rPr lang="en-IN" sz="1800" dirty="0">
                          <a:solidFill>
                            <a:srgbClr val="FF0000"/>
                          </a:solidFill>
                          <a:effectLst/>
                          <a:latin typeface="Times New Roman" panose="02020603050405020304" pitchFamily="18" charset="0"/>
                          <a:cs typeface="Times New Roman" panose="02020603050405020304" pitchFamily="18" charset="0"/>
                        </a:rPr>
                        <a:t>  45</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solidFill>
                            <a:srgbClr val="FF0000"/>
                          </a:solidFill>
                          <a:effectLst/>
                          <a:latin typeface="Times New Roman" panose="02020603050405020304" pitchFamily="18" charset="0"/>
                          <a:cs typeface="Times New Roman" panose="02020603050405020304" pitchFamily="18" charset="0"/>
                        </a:rPr>
                        <a:t>   3  </a:t>
                      </a:r>
                      <a:r>
                        <a:rPr lang="en-IN" sz="1800" dirty="0">
                          <a:solidFill>
                            <a:srgbClr val="FF0000"/>
                          </a:solidFill>
                          <a:effectLst/>
                          <a:latin typeface="Times New Roman" panose="02020603050405020304" pitchFamily="18" charset="0"/>
                          <a:cs typeface="Times New Roman" panose="02020603050405020304" pitchFamily="18" charset="0"/>
                        </a:rPr>
                        <a:t> 22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25</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8</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solidFill>
                            <a:srgbClr val="FF0000"/>
                          </a:solidFill>
                          <a:effectLst/>
                          <a:latin typeface="Times New Roman" panose="02020603050405020304" pitchFamily="18" charset="0"/>
                          <a:cs typeface="Times New Roman" panose="02020603050405020304" pitchFamily="18" charset="0"/>
                        </a:rPr>
                        <a:t>19   </a:t>
                      </a:r>
                      <a:r>
                        <a:rPr lang="en-IN" sz="1800" dirty="0">
                          <a:solidFill>
                            <a:srgbClr val="FF0000"/>
                          </a:solidFill>
                          <a:effectLst/>
                          <a:latin typeface="Times New Roman" panose="02020603050405020304" pitchFamily="18" charset="0"/>
                          <a:cs typeface="Times New Roman" panose="02020603050405020304" pitchFamily="18" charset="0"/>
                        </a:rPr>
                        <a:t> 3</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dirty="0">
                          <a:solidFill>
                            <a:srgbClr val="FF0000"/>
                          </a:solidFill>
                          <a:effectLst/>
                          <a:latin typeface="Times New Roman" panose="02020603050405020304" pitchFamily="18" charset="0"/>
                          <a:cs typeface="Times New Roman" panose="02020603050405020304" pitchFamily="18" charset="0"/>
                        </a:rPr>
                        <a:t>6    </a:t>
                      </a:r>
                      <a:r>
                        <a:rPr lang="en-IN" sz="1800" dirty="0">
                          <a:solidFill>
                            <a:srgbClr val="FF0000"/>
                          </a:solidFill>
                          <a:effectLst/>
                          <a:latin typeface="Times New Roman" panose="02020603050405020304" pitchFamily="18" charset="0"/>
                          <a:cs typeface="Times New Roman" panose="02020603050405020304" pitchFamily="18" charset="0"/>
                        </a:rPr>
                        <a:t> 7</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16</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35</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1359451"/>
                  </a:ext>
                </a:extLst>
              </a:tr>
            </a:tbl>
          </a:graphicData>
        </a:graphic>
      </p:graphicFrame>
      <p:sp>
        <p:nvSpPr>
          <p:cNvPr id="5" name="TextBox 4"/>
          <p:cNvSpPr txBox="1"/>
          <p:nvPr/>
        </p:nvSpPr>
        <p:spPr>
          <a:xfrm>
            <a:off x="342240" y="1985628"/>
            <a:ext cx="11502757" cy="397031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1st CPU request is for MM block 4. So compulsory miss occurs and CM block frame 000 is now occupied by MM block 4.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2nd CPU request is for MM block 3. So again the compulsory miss occurs and CM block frame 001 is now occupied by MM block 3.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3rd CPU request is for MM block 25. So again the compulsory miss occurs and CM block frame 010 is now occupied by MM block 25.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4th CPU request is for MM block 8. So again the compulsory miss occurs and CM block frame 011 is now occupied by MM block 8.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5th CPU request is for MM block 19. So again the compulsory miss occurs and CM block frame 100 is now occupied by MM block 19.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6th CPU request is for MM block 6. So again the compulsory miss occurs and CM block frame 101 is now occupied by MM block 6.</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7th CPU request is for MM block 25. But this block is already available in CM block frame 010 and so hit occurs.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8th CPU request is for MM block 8. But this block is already available in CM block frame 011 and so hit occurs .</a:t>
            </a:r>
          </a:p>
        </p:txBody>
      </p:sp>
    </p:spTree>
    <p:extLst>
      <p:ext uri="{BB962C8B-B14F-4D97-AF65-F5344CB8AC3E}">
        <p14:creationId xmlns:p14="http://schemas.microsoft.com/office/powerpoint/2010/main" val="41056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942" y="270456"/>
            <a:ext cx="11616743" cy="5909310"/>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9th CPU request is for MM block 16. So again the compulsory miss occurs and CM block frame 110 is now occupied by MM block 16.</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10th CPU request is for MM block 35. So again the compulsory miss occurs and CM block frame 111 is now occupied by MM block 35.</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11th CPU request is for MM block 45. Now all the block frames in CM are occupied. So the </a:t>
            </a:r>
            <a:r>
              <a:rPr lang="en-IN" b="1" dirty="0">
                <a:latin typeface="Times New Roman" panose="02020603050405020304" pitchFamily="18" charset="0"/>
                <a:cs typeface="Times New Roman" panose="02020603050405020304" pitchFamily="18" charset="0"/>
              </a:rPr>
              <a:t>capacity miss </a:t>
            </a:r>
            <a:r>
              <a:rPr lang="en-IN" dirty="0">
                <a:latin typeface="Times New Roman" panose="02020603050405020304" pitchFamily="18" charset="0"/>
                <a:cs typeface="Times New Roman" panose="02020603050405020304" pitchFamily="18" charset="0"/>
              </a:rPr>
              <a:t>occurs. At this time LRU policy is used to search for a victim MM block in CM. This victim block is a least recently used block i.e. the block corresponding to the oldest CPU request. In this example MM block 4 is such a block as block 4 was the 1st CPU request. So replace block 4 in CM block frame 000 by MM block 45.</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12th CPU request is for MM block 22. Now all the block frames in CM are occupied. So the </a:t>
            </a:r>
            <a:r>
              <a:rPr lang="en-IN" b="1" dirty="0">
                <a:latin typeface="Times New Roman" panose="02020603050405020304" pitchFamily="18" charset="0"/>
                <a:cs typeface="Times New Roman" panose="02020603050405020304" pitchFamily="18" charset="0"/>
              </a:rPr>
              <a:t>capacity miss</a:t>
            </a:r>
            <a:r>
              <a:rPr lang="en-IN" dirty="0">
                <a:latin typeface="Times New Roman" panose="02020603050405020304" pitchFamily="18" charset="0"/>
                <a:cs typeface="Times New Roman" panose="02020603050405020304" pitchFamily="18" charset="0"/>
              </a:rPr>
              <a:t> occurs. At this time LRU policy is used to search for a victim MM block in CM. In this example MM block 3 is the next victim block as block 3 was the 2nd CPU request. So replace block 3 in CM block frame 001 by MM block 22.</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13th CPU request is for MM block 8. But this block is already available in CM block frame 011 and so hit occurs.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14th CPU request is for MM block 3. Now all the block frames in CM are occupied. So the </a:t>
            </a:r>
            <a:r>
              <a:rPr lang="en-IN" b="1" dirty="0">
                <a:latin typeface="Times New Roman" panose="02020603050405020304" pitchFamily="18" charset="0"/>
                <a:cs typeface="Times New Roman" panose="02020603050405020304" pitchFamily="18" charset="0"/>
              </a:rPr>
              <a:t>capacity miss</a:t>
            </a:r>
            <a:r>
              <a:rPr lang="en-IN" dirty="0">
                <a:latin typeface="Times New Roman" panose="02020603050405020304" pitchFamily="18" charset="0"/>
                <a:cs typeface="Times New Roman" panose="02020603050405020304" pitchFamily="18" charset="0"/>
              </a:rPr>
              <a:t> occurs. At this time LRU policy is used to search for a victim MM block in CM. In this example MM block 19 is the next victim block as block 19 was the </a:t>
            </a:r>
            <a:r>
              <a:rPr lang="en-IN" b="1" dirty="0">
                <a:latin typeface="Times New Roman" panose="02020603050405020304" pitchFamily="18" charset="0"/>
                <a:cs typeface="Times New Roman" panose="02020603050405020304" pitchFamily="18" charset="0"/>
              </a:rPr>
              <a:t>5th</a:t>
            </a:r>
            <a:r>
              <a:rPr lang="en-IN" dirty="0">
                <a:latin typeface="Times New Roman" panose="02020603050405020304" pitchFamily="18" charset="0"/>
                <a:cs typeface="Times New Roman" panose="02020603050405020304" pitchFamily="18" charset="0"/>
              </a:rPr>
              <a:t> CPU request. So replace block 19 in CM block frame 100 by MM block 3.</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15th CPU request is for MM block 16. But this block is already available in CM block frame 110 and so hit occurs.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16th CPU request is for MM block 25. But this block is already available in CM block frame 010 and so hit occurs.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17th CPU request is for MM block 7. Now all the block frames in CM are occupied. So the </a:t>
            </a:r>
            <a:r>
              <a:rPr lang="en-IN" b="1" dirty="0">
                <a:latin typeface="Times New Roman" panose="02020603050405020304" pitchFamily="18" charset="0"/>
                <a:cs typeface="Times New Roman" panose="02020603050405020304" pitchFamily="18" charset="0"/>
              </a:rPr>
              <a:t>capacity miss </a:t>
            </a:r>
            <a:r>
              <a:rPr lang="en-IN" dirty="0">
                <a:latin typeface="Times New Roman" panose="02020603050405020304" pitchFamily="18" charset="0"/>
                <a:cs typeface="Times New Roman" panose="02020603050405020304" pitchFamily="18" charset="0"/>
              </a:rPr>
              <a:t>occurs. At this time LRU policy is used to search for a victim block in CM. In this example MM block 6 is the next victim block as block 6 was the </a:t>
            </a:r>
            <a:r>
              <a:rPr lang="en-IN" b="1" dirty="0">
                <a:latin typeface="Times New Roman" panose="02020603050405020304" pitchFamily="18" charset="0"/>
                <a:cs typeface="Times New Roman" panose="02020603050405020304" pitchFamily="18" charset="0"/>
              </a:rPr>
              <a:t>6th</a:t>
            </a:r>
            <a:r>
              <a:rPr lang="en-IN" dirty="0">
                <a:latin typeface="Times New Roman" panose="02020603050405020304" pitchFamily="18" charset="0"/>
                <a:cs typeface="Times New Roman" panose="02020603050405020304" pitchFamily="18" charset="0"/>
              </a:rPr>
              <a:t> CPU request whereas the other blocks available in CM block frames at this instant of time are accessed after block 6. So replace block 6 in CM block frame 101 by MM block 7.</a:t>
            </a:r>
          </a:p>
        </p:txBody>
      </p:sp>
    </p:spTree>
    <p:extLst>
      <p:ext uri="{BB962C8B-B14F-4D97-AF65-F5344CB8AC3E}">
        <p14:creationId xmlns:p14="http://schemas.microsoft.com/office/powerpoint/2010/main" val="1217118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948" y="182879"/>
            <a:ext cx="11690252" cy="369332"/>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Method of deciding hit or miss</a:t>
            </a:r>
          </a:p>
        </p:txBody>
      </p:sp>
      <p:graphicFrame>
        <p:nvGraphicFramePr>
          <p:cNvPr id="3" name="Table 2"/>
          <p:cNvGraphicFramePr>
            <a:graphicFrameLocks noGrp="1"/>
          </p:cNvGraphicFramePr>
          <p:nvPr>
            <p:extLst>
              <p:ext uri="{D42A27DB-BD31-4B8C-83A1-F6EECF244321}">
                <p14:modId xmlns:p14="http://schemas.microsoft.com/office/powerpoint/2010/main" val="305237663"/>
              </p:ext>
            </p:extLst>
          </p:nvPr>
        </p:nvGraphicFramePr>
        <p:xfrm>
          <a:off x="255318" y="663519"/>
          <a:ext cx="3788948" cy="315468"/>
        </p:xfrm>
        <a:graphic>
          <a:graphicData uri="http://schemas.openxmlformats.org/drawingml/2006/table">
            <a:tbl>
              <a:tblPr firstRow="1" firstCol="1" bandRow="1">
                <a:tableStyleId>{5C22544A-7EE6-4342-B048-85BDC9FD1C3A}</a:tableStyleId>
              </a:tblPr>
              <a:tblGrid>
                <a:gridCol w="989477">
                  <a:extLst>
                    <a:ext uri="{9D8B030D-6E8A-4147-A177-3AD203B41FA5}">
                      <a16:colId xmlns:a16="http://schemas.microsoft.com/office/drawing/2014/main" val="661623649"/>
                    </a:ext>
                  </a:extLst>
                </a:gridCol>
                <a:gridCol w="2799471">
                  <a:extLst>
                    <a:ext uri="{9D8B030D-6E8A-4147-A177-3AD203B41FA5}">
                      <a16:colId xmlns:a16="http://schemas.microsoft.com/office/drawing/2014/main" val="2428440916"/>
                    </a:ext>
                  </a:extLst>
                </a:gridCol>
              </a:tblGrid>
              <a:tr h="0">
                <a:tc>
                  <a:txBody>
                    <a:bodyPr/>
                    <a:lstStyle/>
                    <a:p>
                      <a:pPr algn="l">
                        <a:lnSpc>
                          <a:spcPct val="115000"/>
                        </a:lnSpc>
                        <a:spcAft>
                          <a:spcPts val="0"/>
                        </a:spcAft>
                      </a:pPr>
                      <a:r>
                        <a:rPr lang="en-IN" sz="1800">
                          <a:effectLst/>
                          <a:latin typeface="Times New Roman" panose="02020603050405020304" pitchFamily="18" charset="0"/>
                          <a:cs typeface="Times New Roman" panose="02020603050405020304" pitchFamily="18" charset="0"/>
                        </a:rPr>
                        <a:t>Tag=101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offset=1001010110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9861728"/>
                  </a:ext>
                </a:extLst>
              </a:tr>
            </a:tbl>
          </a:graphicData>
        </a:graphic>
      </p:graphicFrame>
      <p:sp>
        <p:nvSpPr>
          <p:cNvPr id="4" name="TextBox 3"/>
          <p:cNvSpPr txBox="1"/>
          <p:nvPr/>
        </p:nvSpPr>
        <p:spPr>
          <a:xfrm>
            <a:off x="1252225" y="978987"/>
            <a:ext cx="153337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3 Address </a:t>
            </a:r>
          </a:p>
        </p:txBody>
      </p:sp>
      <p:sp>
        <p:nvSpPr>
          <p:cNvPr id="5" name="TextBox 4"/>
          <p:cNvSpPr txBox="1"/>
          <p:nvPr/>
        </p:nvSpPr>
        <p:spPr>
          <a:xfrm>
            <a:off x="196948" y="1672953"/>
            <a:ext cx="11791852" cy="5175263"/>
          </a:xfrm>
          <a:prstGeom prst="rect">
            <a:avLst/>
          </a:prstGeom>
          <a:noFill/>
        </p:spPr>
        <p:txBody>
          <a:bodyPr wrap="square" rtlCol="0">
            <a:spAutoFit/>
          </a:bodyPr>
          <a:lstStyle/>
          <a:p>
            <a:pPr algn="just">
              <a:lnSpc>
                <a:spcPct val="115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Four 3-bit comparators are required to compare the four tag values that are associated with the four block frames in CM (Fig 1) and the tag value in the address i.e. 101 (Fig 3) in parallel. </a:t>
            </a:r>
          </a:p>
          <a:p>
            <a:pPr algn="just">
              <a:lnSpc>
                <a:spcPct val="115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Such parallel comparison is required to reduce the searching time. </a:t>
            </a:r>
          </a:p>
          <a:p>
            <a:pPr algn="just">
              <a:lnSpc>
                <a:spcPct val="115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So in fully associative mapping the number of comparator is equal to the number of block frames in CM and the size of comparator depends upon the size of tag field (log</a:t>
            </a:r>
            <a:r>
              <a:rPr lang="en-IN" sz="18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(number of blocks in MM)) in the address. </a:t>
            </a:r>
          </a:p>
          <a:p>
            <a:pPr algn="just">
              <a:lnSpc>
                <a:spcPct val="115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Now consider the output of all the 4 comparators is false i.e. MM block 101 is not available in CM block frames. In such a case miss occurs and the desired byte may be accessed from MM block 101 using the MM address (101 1001010110). The desired byte may also be accessed from CM by identifying a victim MM block in CM and by replacing this victim block by MM block 101 as discussed above.</a:t>
            </a:r>
          </a:p>
          <a:p>
            <a:r>
              <a:rPr lang="en-IN" dirty="0">
                <a:latin typeface="Times New Roman" pitchFamily="18" charset="0"/>
                <a:cs typeface="Times New Roman" pitchFamily="18" charset="0"/>
              </a:rPr>
              <a:t>Hardwire requirement</a:t>
            </a:r>
          </a:p>
          <a:p>
            <a:r>
              <a:rPr lang="en-IN" dirty="0">
                <a:latin typeface="Times New Roman" pitchFamily="18" charset="0"/>
                <a:cs typeface="Times New Roman" pitchFamily="18" charset="0"/>
              </a:rPr>
              <a:t>Number of comparator in fully associative CM is equal to the number of block frames in CM.</a:t>
            </a:r>
          </a:p>
          <a:p>
            <a:r>
              <a:rPr lang="en-IN" dirty="0">
                <a:latin typeface="Times New Roman" pitchFamily="18" charset="0"/>
                <a:cs typeface="Times New Roman" pitchFamily="18" charset="0"/>
              </a:rPr>
              <a:t>Number of comparator in direct mapped cache is 1 as a particular MM block can be placed in a particular block frame of CM.</a:t>
            </a:r>
          </a:p>
          <a:p>
            <a:r>
              <a:rPr lang="en-IN" dirty="0">
                <a:latin typeface="Times New Roman" pitchFamily="18" charset="0"/>
                <a:cs typeface="Times New Roman" pitchFamily="18" charset="0"/>
              </a:rPr>
              <a:t>Number of comparator in k-way set associative CM is k.</a:t>
            </a:r>
          </a:p>
          <a:p>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Size of comparator depends on the size of tag field in the address.</a:t>
            </a:r>
          </a:p>
          <a:p>
            <a:r>
              <a:rPr lang="en-IN" dirty="0">
                <a:latin typeface="Times New Roman" pitchFamily="18" charset="0"/>
                <a:cs typeface="Times New Roman" pitchFamily="18" charset="0"/>
              </a:rPr>
              <a:t>So the hardwire requirement is high in Fully associative CM than direct mapped CM.</a:t>
            </a:r>
          </a:p>
          <a:p>
            <a:r>
              <a:rPr lang="en-IN" dirty="0">
                <a:latin typeface="Times New Roman" pitchFamily="18" charset="0"/>
                <a:cs typeface="Times New Roman" pitchFamily="18" charset="0"/>
              </a:rPr>
              <a:t>Set associative mapping needs less hardwire than fully associative mapping and more than direct mapped.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p:cNvSpPr txBox="1"/>
          <p:nvPr/>
        </p:nvSpPr>
        <p:spPr>
          <a:xfrm>
            <a:off x="4211391" y="194460"/>
            <a:ext cx="7778839"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Tag value and block offset value in the address are assumed as 101 and 1001010110 respectively. In fully associative CM as any MM block can be placed in any CM block frame so to decide hit or miss it is required to compare the tag value in the address (i.e. 101) with the tag values that are associated with the CM block frames (shown in Fig 1).</a:t>
            </a:r>
            <a:endParaRPr lang="en-IN" dirty="0"/>
          </a:p>
        </p:txBody>
      </p:sp>
    </p:spTree>
    <p:extLst>
      <p:ext uri="{BB962C8B-B14F-4D97-AF65-F5344CB8AC3E}">
        <p14:creationId xmlns:p14="http://schemas.microsoft.com/office/powerpoint/2010/main" val="548009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87280" y="192836"/>
            <a:ext cx="11839620" cy="1754326"/>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A 2-way set associative CM has 4 sets and 8 block frames. MM has 128 blocks. LRU policy is used for cache block replacement. The following is the sequence of memory block requests as generated by CPU during program execution.</a:t>
            </a:r>
          </a:p>
          <a:p>
            <a:r>
              <a:rPr lang="en-IN" dirty="0">
                <a:latin typeface="Times New Roman" panose="02020603050405020304" pitchFamily="18" charset="0"/>
                <a:cs typeface="Times New Roman" panose="02020603050405020304" pitchFamily="18" charset="0"/>
              </a:rPr>
              <a:t>Sequence</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0, 5, 3, 9, 7, </a:t>
            </a:r>
            <a:r>
              <a:rPr lang="en-IN" b="1" dirty="0">
                <a:latin typeface="Times New Roman" panose="02020603050405020304" pitchFamily="18" charset="0"/>
                <a:cs typeface="Times New Roman" panose="02020603050405020304" pitchFamily="18" charset="0"/>
              </a:rPr>
              <a:t>0</a:t>
            </a:r>
            <a:r>
              <a:rPr lang="en-IN" dirty="0">
                <a:latin typeface="Times New Roman" panose="02020603050405020304" pitchFamily="18" charset="0"/>
                <a:cs typeface="Times New Roman" panose="02020603050405020304" pitchFamily="18" charset="0"/>
              </a:rPr>
              <a:t>, 16, 55.</a:t>
            </a:r>
          </a:p>
          <a:p>
            <a:r>
              <a:rPr lang="en-IN" dirty="0">
                <a:latin typeface="Times New Roman" panose="02020603050405020304" pitchFamily="18" charset="0"/>
                <a:cs typeface="Times New Roman" panose="02020603050405020304" pitchFamily="18" charset="0"/>
              </a:rPr>
              <a:t>The number of sets and block frames in CM in this example are 4 and 8 respectively. So the set number or set address contains 2-bit (00 to 11) and the block frame number or block frame address contains 3-bit (000 to 111). Initially all the 8 block frames in CM are empty as shown in the case of fully associative.</a:t>
            </a:r>
          </a:p>
        </p:txBody>
      </p:sp>
      <p:graphicFrame>
        <p:nvGraphicFramePr>
          <p:cNvPr id="26" name="Table 25"/>
          <p:cNvGraphicFramePr>
            <a:graphicFrameLocks noGrp="1"/>
          </p:cNvGraphicFramePr>
          <p:nvPr>
            <p:extLst>
              <p:ext uri="{D42A27DB-BD31-4B8C-83A1-F6EECF244321}">
                <p14:modId xmlns:p14="http://schemas.microsoft.com/office/powerpoint/2010/main" val="3681650488"/>
              </p:ext>
            </p:extLst>
          </p:nvPr>
        </p:nvGraphicFramePr>
        <p:xfrm>
          <a:off x="284946" y="2001197"/>
          <a:ext cx="7018987" cy="946404"/>
        </p:xfrm>
        <a:graphic>
          <a:graphicData uri="http://schemas.openxmlformats.org/drawingml/2006/table">
            <a:tbl>
              <a:tblPr firstRow="1" firstCol="1" bandRow="1">
                <a:tableStyleId>{5C22544A-7EE6-4342-B048-85BDC9FD1C3A}</a:tableStyleId>
              </a:tblPr>
              <a:tblGrid>
                <a:gridCol w="2165579">
                  <a:extLst>
                    <a:ext uri="{9D8B030D-6E8A-4147-A177-3AD203B41FA5}">
                      <a16:colId xmlns:a16="http://schemas.microsoft.com/office/drawing/2014/main" val="3233767093"/>
                    </a:ext>
                  </a:extLst>
                </a:gridCol>
                <a:gridCol w="637179">
                  <a:extLst>
                    <a:ext uri="{9D8B030D-6E8A-4147-A177-3AD203B41FA5}">
                      <a16:colId xmlns:a16="http://schemas.microsoft.com/office/drawing/2014/main" val="2069382071"/>
                    </a:ext>
                  </a:extLst>
                </a:gridCol>
                <a:gridCol w="582950">
                  <a:extLst>
                    <a:ext uri="{9D8B030D-6E8A-4147-A177-3AD203B41FA5}">
                      <a16:colId xmlns:a16="http://schemas.microsoft.com/office/drawing/2014/main" val="3580826543"/>
                    </a:ext>
                  </a:extLst>
                </a:gridCol>
                <a:gridCol w="596509">
                  <a:extLst>
                    <a:ext uri="{9D8B030D-6E8A-4147-A177-3AD203B41FA5}">
                      <a16:colId xmlns:a16="http://schemas.microsoft.com/office/drawing/2014/main" val="1309038474"/>
                    </a:ext>
                  </a:extLst>
                </a:gridCol>
                <a:gridCol w="528723">
                  <a:extLst>
                    <a:ext uri="{9D8B030D-6E8A-4147-A177-3AD203B41FA5}">
                      <a16:colId xmlns:a16="http://schemas.microsoft.com/office/drawing/2014/main" val="3355548716"/>
                    </a:ext>
                  </a:extLst>
                </a:gridCol>
                <a:gridCol w="528723">
                  <a:extLst>
                    <a:ext uri="{9D8B030D-6E8A-4147-A177-3AD203B41FA5}">
                      <a16:colId xmlns:a16="http://schemas.microsoft.com/office/drawing/2014/main" val="2041860322"/>
                    </a:ext>
                  </a:extLst>
                </a:gridCol>
                <a:gridCol w="582952">
                  <a:extLst>
                    <a:ext uri="{9D8B030D-6E8A-4147-A177-3AD203B41FA5}">
                      <a16:colId xmlns:a16="http://schemas.microsoft.com/office/drawing/2014/main" val="652551411"/>
                    </a:ext>
                  </a:extLst>
                </a:gridCol>
                <a:gridCol w="799862">
                  <a:extLst>
                    <a:ext uri="{9D8B030D-6E8A-4147-A177-3AD203B41FA5}">
                      <a16:colId xmlns:a16="http://schemas.microsoft.com/office/drawing/2014/main" val="3977461085"/>
                    </a:ext>
                  </a:extLst>
                </a:gridCol>
                <a:gridCol w="596510">
                  <a:extLst>
                    <a:ext uri="{9D8B030D-6E8A-4147-A177-3AD203B41FA5}">
                      <a16:colId xmlns:a16="http://schemas.microsoft.com/office/drawing/2014/main" val="2404229686"/>
                    </a:ext>
                  </a:extLst>
                </a:gridCol>
              </a:tblGrid>
              <a:tr h="0">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Set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Set 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Set 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Set 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Set 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622136168"/>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address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011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100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101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110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0048726"/>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Block frame content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16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9</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u="none" strike="noStrike"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u="none" strike="noStrike"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strike="sngStrike">
                          <a:effectLst/>
                          <a:latin typeface="Times New Roman" panose="02020603050405020304" pitchFamily="18" charset="0"/>
                          <a:cs typeface="Times New Roman" panose="02020603050405020304" pitchFamily="18" charset="0"/>
                        </a:rPr>
                        <a:t>  3  </a:t>
                      </a:r>
                      <a:r>
                        <a:rPr lang="en-IN" sz="1800">
                          <a:effectLst/>
                          <a:latin typeface="Times New Roman" panose="02020603050405020304" pitchFamily="18" charset="0"/>
                          <a:cs typeface="Times New Roman" panose="02020603050405020304" pitchFamily="18" charset="0"/>
                        </a:rPr>
                        <a:t>55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7</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5539951"/>
                  </a:ext>
                </a:extLst>
              </a:tr>
            </a:tbl>
          </a:graphicData>
        </a:graphic>
      </p:graphicFrame>
      <p:sp>
        <p:nvSpPr>
          <p:cNvPr id="27" name="TextBox 26"/>
          <p:cNvSpPr txBox="1"/>
          <p:nvPr/>
        </p:nvSpPr>
        <p:spPr>
          <a:xfrm>
            <a:off x="165100" y="3162300"/>
            <a:ext cx="11861800" cy="3139321"/>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1st CPU request is for MM block 0. So compulsory miss occurs and the set address is computed as 0 mod 4 =0. So CM block frame 000 in Set 00 is now occupied by MM block 0.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2nd CPU request is for MM block 5. So compulsory miss occurs and the set address is computed as 5 mod 4 =1. So CM block frame 010 in Set 01 is now occupied by MM block 5.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3rd CPU request is for MM block 3. So compulsory miss occurs and the set address is computed as 3 mod 4 =3. So CM block frame 110 in Set 11 is now occupied by MM block 3.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4th CPU request is for MM block 9. So compulsory miss occurs and the set address is computed as 9 mod 4 =1. So CM block frame 011 in Set 01 is now occupied by MM block 9.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5th CPU request is for MM block 7. So compulsory miss occurs and the set address is computed as 7 mod 4 =3. So CM block frame 111 in Set 11 is now occupied by MM block 7.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6th CPU request is for MM block 0. But this block is already available in CM block frame 000 in Set 00 and so hit occurs.</a:t>
            </a:r>
            <a:endParaRPr lang="en-IN" dirty="0"/>
          </a:p>
        </p:txBody>
      </p:sp>
    </p:spTree>
    <p:extLst>
      <p:ext uri="{BB962C8B-B14F-4D97-AF65-F5344CB8AC3E}">
        <p14:creationId xmlns:p14="http://schemas.microsoft.com/office/powerpoint/2010/main" val="1959194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200" y="152400"/>
            <a:ext cx="11823700" cy="1477328"/>
          </a:xfrm>
          <a:prstGeom prst="rect">
            <a:avLst/>
          </a:prstGeom>
          <a:noFill/>
        </p:spPr>
        <p:txBody>
          <a:bodyPr wrap="square" rtlCol="0">
            <a:spAutoFit/>
          </a:bodyPr>
          <a:lstStyle/>
          <a:p>
            <a:r>
              <a:rPr lang="en-IN" dirty="0">
                <a:latin typeface="Times New Roman" pitchFamily="18" charset="0"/>
                <a:cs typeface="Times New Roman" pitchFamily="18" charset="0"/>
              </a:rPr>
              <a:t>7</a:t>
            </a:r>
            <a:r>
              <a:rPr lang="en-IN" baseline="30000" dirty="0">
                <a:latin typeface="Times New Roman" pitchFamily="18" charset="0"/>
                <a:cs typeface="Times New Roman" pitchFamily="18" charset="0"/>
              </a:rPr>
              <a:t>th</a:t>
            </a:r>
            <a:r>
              <a:rPr lang="en-IN" dirty="0">
                <a:latin typeface="Times New Roman" pitchFamily="18" charset="0"/>
                <a:cs typeface="Times New Roman" pitchFamily="18" charset="0"/>
              </a:rPr>
              <a:t> CPU request is for MM block 16. So compulsory miss occurs and the set address is computed as 16 mod 4 = 0. So CM block frame 001 in set 00 is now occupied by MM block 16.</a:t>
            </a:r>
          </a:p>
          <a:p>
            <a:r>
              <a:rPr lang="en-IN" dirty="0">
                <a:latin typeface="Times New Roman" pitchFamily="18" charset="0"/>
                <a:cs typeface="Times New Roman" pitchFamily="18" charset="0"/>
              </a:rPr>
              <a:t>8</a:t>
            </a:r>
            <a:r>
              <a:rPr lang="en-IN" baseline="30000" dirty="0">
                <a:latin typeface="Times New Roman" pitchFamily="18" charset="0"/>
                <a:cs typeface="Times New Roman" pitchFamily="18" charset="0"/>
              </a:rPr>
              <a:t>th</a:t>
            </a:r>
            <a:r>
              <a:rPr lang="en-IN" dirty="0">
                <a:latin typeface="Times New Roman" pitchFamily="18" charset="0"/>
                <a:cs typeface="Times New Roman" pitchFamily="18" charset="0"/>
              </a:rPr>
              <a:t> CPU request is for MM block 55. The set address is computed as 55 mod 4 = 3. But both the block frames in set 11 are occupied. So conflict miss occurs among MM blocks 3, 7, 55. MM block 3 is selected as victim by LRU policy and is replaced by MM block 55.</a:t>
            </a:r>
          </a:p>
        </p:txBody>
      </p:sp>
      <p:pic>
        <p:nvPicPr>
          <p:cNvPr id="1026" name="Picture 2"/>
          <p:cNvPicPr>
            <a:picLocks noChangeAspect="1" noChangeArrowheads="1"/>
          </p:cNvPicPr>
          <p:nvPr/>
        </p:nvPicPr>
        <p:blipFill>
          <a:blip r:embed="rId2"/>
          <a:srcRect/>
          <a:stretch>
            <a:fillRect/>
          </a:stretch>
        </p:blipFill>
        <p:spPr bwMode="auto">
          <a:xfrm>
            <a:off x="220663" y="1728788"/>
            <a:ext cx="11649075" cy="14192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206061" y="141668"/>
                <a:ext cx="11694017" cy="4545860"/>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Average access time (</a:t>
                </a:r>
                <a:r>
                  <a:rPr lang="en-IN" u="sng" dirty="0" err="1">
                    <a:latin typeface="Times New Roman" panose="02020603050405020304" pitchFamily="18" charset="0"/>
                    <a:cs typeface="Times New Roman" panose="02020603050405020304" pitchFamily="18" charset="0"/>
                  </a:rPr>
                  <a:t>t</a:t>
                </a:r>
                <a:r>
                  <a:rPr lang="en-IN" u="sng" baseline="-25000" dirty="0" err="1">
                    <a:latin typeface="Times New Roman" panose="02020603050405020304" pitchFamily="18" charset="0"/>
                    <a:cs typeface="Times New Roman" panose="02020603050405020304" pitchFamily="18" charset="0"/>
                  </a:rPr>
                  <a:t>avg</a:t>
                </a:r>
                <a:r>
                  <a:rPr lang="en-IN" u="sng"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Let us consider that </a:t>
                </a:r>
                <a:r>
                  <a:rPr lang="en-IN" b="1"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 is the access time of CM, </a:t>
                </a:r>
                <a:r>
                  <a:rPr lang="en-IN" b="1" dirty="0">
                    <a:latin typeface="Times New Roman" panose="02020603050405020304" pitchFamily="18" charset="0"/>
                    <a:cs typeface="Times New Roman" panose="02020603050405020304" pitchFamily="18" charset="0"/>
                  </a:rPr>
                  <a:t>tm</a:t>
                </a:r>
                <a:r>
                  <a:rPr lang="en-IN" dirty="0">
                    <a:latin typeface="Times New Roman" panose="02020603050405020304" pitchFamily="18" charset="0"/>
                    <a:cs typeface="Times New Roman" panose="02020603050405020304" pitchFamily="18" charset="0"/>
                  </a:rPr>
                  <a:t> is the access time of MM and 100 is the total number of address referenced as generated by CPU during program execution. Now CM is searched for all the 100 address referenced to find hit or miss. Again consider that hit occurs for 80 address referenced and so miss occurs for 20 address referenced. Hence MM need to be searched for 20 address referenced for which miss occurs. As per the definition of hit ratio H=</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80</m:t>
                        </m:r>
                      </m:num>
                      <m:den>
                        <m:r>
                          <a:rPr lang="en-IN" i="1">
                            <a:latin typeface="Cambria Math" panose="02040503050406030204" pitchFamily="18" charset="0"/>
                          </a:rPr>
                          <m:t>100</m:t>
                        </m:r>
                      </m:den>
                    </m:f>
                  </m:oMath>
                </a14:m>
                <a:r>
                  <a:rPr lang="en-IN" dirty="0">
                    <a:latin typeface="Times New Roman" panose="02020603050405020304" pitchFamily="18" charset="0"/>
                    <a:cs typeface="Times New Roman" panose="02020603050405020304" pitchFamily="18" charset="0"/>
                  </a:rPr>
                  <a:t>. So </a:t>
                </a:r>
                <a:r>
                  <a:rPr lang="en-IN" dirty="0" err="1">
                    <a:latin typeface="Times New Roman" panose="02020603050405020304" pitchFamily="18" charset="0"/>
                    <a:cs typeface="Times New Roman" panose="02020603050405020304" pitchFamily="18" charset="0"/>
                  </a:rPr>
                  <a:t>t</a:t>
                </a:r>
                <a:r>
                  <a:rPr lang="en-IN" baseline="-25000"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100∗</m:t>
                        </m:r>
                        <m:r>
                          <a:rPr lang="en-IN" i="1">
                            <a:latin typeface="Cambria Math" panose="02040503050406030204" pitchFamily="18" charset="0"/>
                          </a:rPr>
                          <m:t>𝑡𝑐</m:t>
                        </m:r>
                        <m:r>
                          <a:rPr lang="en-IN" i="1">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100−80</m:t>
                            </m:r>
                          </m:e>
                        </m:d>
                        <m:r>
                          <a:rPr lang="en-IN" i="1">
                            <a:latin typeface="Cambria Math" panose="02040503050406030204" pitchFamily="18" charset="0"/>
                          </a:rPr>
                          <m:t>∗</m:t>
                        </m:r>
                        <m:r>
                          <a:rPr lang="en-IN" i="1">
                            <a:latin typeface="Cambria Math" panose="02040503050406030204" pitchFamily="18" charset="0"/>
                          </a:rPr>
                          <m:t>𝑡𝑚</m:t>
                        </m:r>
                      </m:num>
                      <m:den>
                        <m:r>
                          <a:rPr lang="en-IN" i="1">
                            <a:latin typeface="Cambria Math" panose="02040503050406030204" pitchFamily="18" charset="0"/>
                          </a:rPr>
                          <m:t>100</m:t>
                        </m:r>
                      </m:den>
                    </m:f>
                  </m:oMath>
                </a14:m>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+(1-</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80</m:t>
                        </m:r>
                      </m:num>
                      <m:den>
                        <m:r>
                          <a:rPr lang="en-IN" i="1">
                            <a:latin typeface="Cambria Math" panose="02040503050406030204" pitchFamily="18" charset="0"/>
                          </a:rPr>
                          <m:t>100</m:t>
                        </m:r>
                      </m:den>
                    </m:f>
                  </m:oMath>
                </a14:m>
                <a:r>
                  <a:rPr lang="en-IN" dirty="0">
                    <a:latin typeface="Times New Roman" panose="02020603050405020304" pitchFamily="18" charset="0"/>
                    <a:cs typeface="Times New Roman" panose="02020603050405020304" pitchFamily="18" charset="0"/>
                  </a:rPr>
                  <a:t>)*tm=</a:t>
                </a:r>
                <a:r>
                  <a:rPr lang="en-IN"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+(1-H)*tm.</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[Note: 100*</a:t>
                </a:r>
                <a:r>
                  <a:rPr lang="en-IN"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 is the required time to search CM for 100 address referenced and (100-80)*tm is the required time to search MM for 20 address referenced.]</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Example </a:t>
                </a:r>
              </a:p>
              <a:p>
                <a:r>
                  <a:rPr lang="en-IN" dirty="0">
                    <a:latin typeface="Times New Roman" panose="02020603050405020304" pitchFamily="18" charset="0"/>
                    <a:cs typeface="Times New Roman" panose="02020603050405020304" pitchFamily="18" charset="0"/>
                  </a:rPr>
                  <a:t>1. Consider a direct mapped CM of size 32-KB with block size 32-byte. CPU generates 32-bit address. Find the number of bits needed for tag and cache indexing.</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Ans. Block size is 32-byte, Size of block offset field is log</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(32)=5-bit (use to access 1-byte from 32-byte of a block)</a:t>
                </a:r>
              </a:p>
              <a:p>
                <a:r>
                  <a:rPr lang="en-IN" dirty="0">
                    <a:latin typeface="Times New Roman" panose="02020603050405020304" pitchFamily="18" charset="0"/>
                    <a:cs typeface="Times New Roman" panose="02020603050405020304" pitchFamily="18" charset="0"/>
                  </a:rPr>
                  <a:t>The number of block frames in CM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𝑆𝑖𝑧𝑒</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𝐶𝑀</m:t>
                        </m:r>
                      </m:num>
                      <m:den>
                        <m:r>
                          <a:rPr lang="en-IN" i="1">
                            <a:latin typeface="Cambria Math" panose="02040503050406030204" pitchFamily="18" charset="0"/>
                          </a:rPr>
                          <m:t>𝑆𝑖𝑧𝑒</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𝑒𝑎𝑐h</m:t>
                        </m:r>
                        <m:r>
                          <a:rPr lang="en-IN" i="1">
                            <a:latin typeface="Cambria Math" panose="02040503050406030204" pitchFamily="18" charset="0"/>
                          </a:rPr>
                          <m:t> </m:t>
                        </m:r>
                        <m:r>
                          <a:rPr lang="en-IN" i="1">
                            <a:latin typeface="Cambria Math" panose="02040503050406030204" pitchFamily="18" charset="0"/>
                          </a:rPr>
                          <m:t>𝑏𝑙𝑜𝑐𝑘</m:t>
                        </m:r>
                        <m:r>
                          <a:rPr lang="en-IN" i="1">
                            <a:latin typeface="Cambria Math" panose="02040503050406030204" pitchFamily="18" charset="0"/>
                          </a:rPr>
                          <m:t> </m:t>
                        </m:r>
                        <m:r>
                          <a:rPr lang="en-IN" i="1">
                            <a:latin typeface="Cambria Math" panose="02040503050406030204" pitchFamily="18" charset="0"/>
                          </a:rPr>
                          <m:t>𝑓𝑟𝑎𝑚𝑒</m:t>
                        </m:r>
                      </m:den>
                    </m:f>
                  </m:oMath>
                </a14:m>
                <a:r>
                  <a:rPr lang="en-IN"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32−</m:t>
                        </m:r>
                        <m:r>
                          <a:rPr lang="en-IN" i="1">
                            <a:latin typeface="Cambria Math" panose="02040503050406030204" pitchFamily="18" charset="0"/>
                          </a:rPr>
                          <m:t>𝐾𝐵</m:t>
                        </m:r>
                      </m:num>
                      <m:den>
                        <m:r>
                          <a:rPr lang="en-IN" i="1">
                            <a:latin typeface="Cambria Math" panose="02040503050406030204" pitchFamily="18" charset="0"/>
                          </a:rPr>
                          <m:t>32−</m:t>
                        </m:r>
                        <m:r>
                          <a:rPr lang="en-IN" i="1">
                            <a:latin typeface="Cambria Math" panose="02040503050406030204" pitchFamily="18" charset="0"/>
                          </a:rPr>
                          <m:t>𝑏𝑦𝑡𝑒</m:t>
                        </m:r>
                      </m:den>
                    </m:f>
                  </m:oMath>
                </a14:m>
                <a:r>
                  <a:rPr lang="en-IN" dirty="0">
                    <a:latin typeface="Times New Roman" panose="02020603050405020304" pitchFamily="18" charset="0"/>
                    <a:cs typeface="Times New Roman" panose="02020603050405020304" pitchFamily="18" charset="0"/>
                  </a:rPr>
                  <a:t>=2</a:t>
                </a:r>
                <a:r>
                  <a:rPr lang="en-IN" baseline="30000"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206061" y="141668"/>
                <a:ext cx="11694017" cy="4545860"/>
              </a:xfrm>
              <a:prstGeom prst="rect">
                <a:avLst/>
              </a:prstGeom>
              <a:blipFill>
                <a:blip r:embed="rId2"/>
                <a:stretch>
                  <a:fillRect l="-469" t="-670" r="-261"/>
                </a:stretch>
              </a:blipFill>
            </p:spPr>
            <p:txBody>
              <a:bodyPr/>
              <a:lstStyle/>
              <a:p>
                <a:r>
                  <a:rPr lang="en-IN">
                    <a:noFill/>
                  </a:rPr>
                  <a:t> </a:t>
                </a:r>
              </a:p>
            </p:txBody>
          </p:sp>
        </mc:Fallback>
      </mc:AlternateContent>
      <p:graphicFrame>
        <p:nvGraphicFramePr>
          <p:cNvPr id="12" name="Table 11"/>
          <p:cNvGraphicFramePr>
            <a:graphicFrameLocks noGrp="1"/>
          </p:cNvGraphicFramePr>
          <p:nvPr>
            <p:extLst>
              <p:ext uri="{D42A27DB-BD31-4B8C-83A1-F6EECF244321}">
                <p14:modId xmlns:p14="http://schemas.microsoft.com/office/powerpoint/2010/main" val="2465064346"/>
              </p:ext>
            </p:extLst>
          </p:nvPr>
        </p:nvGraphicFramePr>
        <p:xfrm>
          <a:off x="7418230" y="5081742"/>
          <a:ext cx="3258355" cy="315468"/>
        </p:xfrm>
        <a:graphic>
          <a:graphicData uri="http://schemas.openxmlformats.org/drawingml/2006/table">
            <a:tbl>
              <a:tblPr firstRow="1" firstCol="1" bandRow="1">
                <a:tableStyleId>{5C22544A-7EE6-4342-B048-85BDC9FD1C3A}</a:tableStyleId>
              </a:tblPr>
              <a:tblGrid>
                <a:gridCol w="669703">
                  <a:extLst>
                    <a:ext uri="{9D8B030D-6E8A-4147-A177-3AD203B41FA5}">
                      <a16:colId xmlns:a16="http://schemas.microsoft.com/office/drawing/2014/main" val="3758634664"/>
                    </a:ext>
                  </a:extLst>
                </a:gridCol>
                <a:gridCol w="949008">
                  <a:extLst>
                    <a:ext uri="{9D8B030D-6E8A-4147-A177-3AD203B41FA5}">
                      <a16:colId xmlns:a16="http://schemas.microsoft.com/office/drawing/2014/main" val="978839153"/>
                    </a:ext>
                  </a:extLst>
                </a:gridCol>
                <a:gridCol w="1639644">
                  <a:extLst>
                    <a:ext uri="{9D8B030D-6E8A-4147-A177-3AD203B41FA5}">
                      <a16:colId xmlns:a16="http://schemas.microsoft.com/office/drawing/2014/main" val="2835983681"/>
                    </a:ext>
                  </a:extLst>
                </a:gridCol>
              </a:tblGrid>
              <a:tr h="0">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Tag</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IN" sz="1800">
                          <a:effectLst/>
                          <a:latin typeface="Times New Roman" panose="02020603050405020304" pitchFamily="18" charset="0"/>
                          <a:cs typeface="Times New Roman" panose="02020603050405020304" pitchFamily="18" charset="0"/>
                        </a:rPr>
                        <a:t>Index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Block offset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114686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586800408"/>
              </p:ext>
            </p:extLst>
          </p:nvPr>
        </p:nvGraphicFramePr>
        <p:xfrm>
          <a:off x="8096836" y="4687528"/>
          <a:ext cx="1588077" cy="315468"/>
        </p:xfrm>
        <a:graphic>
          <a:graphicData uri="http://schemas.openxmlformats.org/drawingml/2006/table">
            <a:tbl>
              <a:tblPr firstRow="1" firstCol="1" bandRow="1">
                <a:tableStyleId>{5C22544A-7EE6-4342-B048-85BDC9FD1C3A}</a:tableStyleId>
              </a:tblPr>
              <a:tblGrid>
                <a:gridCol w="1588077">
                  <a:extLst>
                    <a:ext uri="{9D8B030D-6E8A-4147-A177-3AD203B41FA5}">
                      <a16:colId xmlns:a16="http://schemas.microsoft.com/office/drawing/2014/main" val="907670879"/>
                    </a:ext>
                  </a:extLst>
                </a:gridCol>
              </a:tblGrid>
              <a:tr h="0">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32-bit address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0780124"/>
                  </a:ext>
                </a:extLst>
              </a:tr>
            </a:tbl>
          </a:graphicData>
        </a:graphic>
      </p:graphicFrame>
      <p:cxnSp>
        <p:nvCxnSpPr>
          <p:cNvPr id="18" name="Straight Arrow Connector 17"/>
          <p:cNvCxnSpPr/>
          <p:nvPr/>
        </p:nvCxnSpPr>
        <p:spPr>
          <a:xfrm flipV="1">
            <a:off x="9684913" y="4834441"/>
            <a:ext cx="991672" cy="12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7418230" y="4834441"/>
            <a:ext cx="6786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67425" y="5631632"/>
            <a:ext cx="11732653"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 number of block frames in CM is 2</a:t>
            </a:r>
            <a:r>
              <a:rPr lang="en-IN" baseline="30000"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and hence 10-bit is required to select a block frame from 2</a:t>
            </a:r>
            <a:r>
              <a:rPr lang="en-IN" baseline="30000"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number of block frames in CM. So the size of index field (index field value determines block frame address in CM) in the address is 10-bit.</a:t>
            </a:r>
          </a:p>
          <a:p>
            <a:r>
              <a:rPr lang="en-IN" dirty="0">
                <a:latin typeface="Times New Roman" panose="02020603050405020304" pitchFamily="18" charset="0"/>
                <a:cs typeface="Times New Roman" panose="02020603050405020304" pitchFamily="18" charset="0"/>
              </a:rPr>
              <a:t>So the size of tag field is (size of address-size of index field-size of block offset field)=(32-10-5)=17-bit.</a:t>
            </a:r>
          </a:p>
        </p:txBody>
      </p:sp>
    </p:spTree>
    <p:extLst>
      <p:ext uri="{BB962C8B-B14F-4D97-AF65-F5344CB8AC3E}">
        <p14:creationId xmlns:p14="http://schemas.microsoft.com/office/powerpoint/2010/main" val="1697974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83335" y="360608"/>
                <a:ext cx="11384924" cy="6626366"/>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2. A 4-way set associative CM consists of 128 block frames. Each block has 64 words. CPU generates an address of size 20-bit for accessing a word from MM. Find the number of bits in the tag, index and block offset field. </a:t>
                </a:r>
                <a:r>
                  <a:rPr lang="en-IN" b="1" dirty="0">
                    <a:latin typeface="Times New Roman" panose="02020603050405020304" pitchFamily="18" charset="0"/>
                    <a:cs typeface="Times New Roman" panose="02020603050405020304" pitchFamily="18" charset="0"/>
                  </a:rPr>
                  <a:t>[size of block in MM and block frame in CM are identical]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Ans. Each block has 64 words. Size of block offset field is log</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(64)=6-bit (use to access 1 word from 64 words of a block) </a:t>
                </a:r>
              </a:p>
              <a:p>
                <a:r>
                  <a:rPr lang="en-IN" dirty="0">
                    <a:latin typeface="Times New Roman" panose="02020603050405020304" pitchFamily="18" charset="0"/>
                    <a:cs typeface="Times New Roman" panose="02020603050405020304" pitchFamily="18" charset="0"/>
                  </a:rPr>
                  <a:t>The number of sets in CM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𝑁𝑢𝑚𝑏𝑒𝑟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𝑏𝑙𝑜𝑐𝑘</m:t>
                        </m:r>
                        <m:r>
                          <a:rPr lang="en-IN" i="1">
                            <a:latin typeface="Cambria Math" panose="02040503050406030204" pitchFamily="18" charset="0"/>
                          </a:rPr>
                          <m:t> </m:t>
                        </m:r>
                        <m:r>
                          <a:rPr lang="en-IN" i="1">
                            <a:latin typeface="Cambria Math" panose="02040503050406030204" pitchFamily="18" charset="0"/>
                          </a:rPr>
                          <m:t>𝑓𝑟𝑎𝑚𝑒𝑠</m:t>
                        </m:r>
                        <m:r>
                          <a:rPr lang="en-IN" i="1">
                            <a:latin typeface="Cambria Math" panose="02040503050406030204" pitchFamily="18" charset="0"/>
                          </a:rPr>
                          <m:t> </m:t>
                        </m:r>
                        <m:r>
                          <a:rPr lang="en-IN" i="1">
                            <a:latin typeface="Cambria Math" panose="02040503050406030204" pitchFamily="18" charset="0"/>
                          </a:rPr>
                          <m:t>𝑖𝑛</m:t>
                        </m:r>
                        <m:r>
                          <a:rPr lang="en-IN" i="1">
                            <a:latin typeface="Cambria Math" panose="02040503050406030204" pitchFamily="18" charset="0"/>
                          </a:rPr>
                          <m:t> </m:t>
                        </m:r>
                        <m:r>
                          <a:rPr lang="en-IN" i="1">
                            <a:latin typeface="Cambria Math" panose="02040503050406030204" pitchFamily="18" charset="0"/>
                          </a:rPr>
                          <m:t>𝐶𝑀</m:t>
                        </m:r>
                      </m:num>
                      <m:den>
                        <m:r>
                          <a:rPr lang="en-IN" i="1">
                            <a:latin typeface="Cambria Math" panose="02040503050406030204" pitchFamily="18" charset="0"/>
                          </a:rPr>
                          <m:t>𝑁𝑢𝑚𝑏𝑒𝑟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𝑏𝑙𝑜𝑐𝑘</m:t>
                        </m:r>
                        <m:r>
                          <a:rPr lang="en-IN" i="1">
                            <a:latin typeface="Cambria Math" panose="02040503050406030204" pitchFamily="18" charset="0"/>
                          </a:rPr>
                          <m:t> </m:t>
                        </m:r>
                        <m:r>
                          <a:rPr lang="en-IN" i="1">
                            <a:latin typeface="Cambria Math" panose="02040503050406030204" pitchFamily="18" charset="0"/>
                          </a:rPr>
                          <m:t>𝑓𝑟𝑎𝑚𝑒𝑠</m:t>
                        </m:r>
                        <m:r>
                          <a:rPr lang="en-IN" i="1">
                            <a:latin typeface="Cambria Math" panose="02040503050406030204" pitchFamily="18" charset="0"/>
                          </a:rPr>
                          <m:t> </m:t>
                        </m:r>
                        <m:r>
                          <a:rPr lang="en-IN" i="1">
                            <a:latin typeface="Cambria Math" panose="02040503050406030204" pitchFamily="18" charset="0"/>
                          </a:rPr>
                          <m:t>𝑝𝑒𝑟</m:t>
                        </m:r>
                        <m:r>
                          <a:rPr lang="en-IN" i="1">
                            <a:latin typeface="Cambria Math" panose="02040503050406030204" pitchFamily="18" charset="0"/>
                          </a:rPr>
                          <m:t> </m:t>
                        </m:r>
                        <m:r>
                          <a:rPr lang="en-IN" i="1">
                            <a:latin typeface="Cambria Math" panose="02040503050406030204" pitchFamily="18" charset="0"/>
                          </a:rPr>
                          <m:t>𝑠𝑒𝑡</m:t>
                        </m:r>
                        <m:r>
                          <a:rPr lang="en-IN" i="1">
                            <a:latin typeface="Cambria Math" panose="02040503050406030204" pitchFamily="18" charset="0"/>
                          </a:rPr>
                          <m:t> </m:t>
                        </m:r>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𝑒</m:t>
                        </m:r>
                        <m:r>
                          <a:rPr lang="en-IN" i="1">
                            <a:latin typeface="Cambria Math" panose="02040503050406030204" pitchFamily="18" charset="0"/>
                          </a:rPr>
                          <m:t>.  </m:t>
                        </m:r>
                        <m:r>
                          <a:rPr lang="en-IN" i="1">
                            <a:latin typeface="Cambria Math" panose="02040503050406030204" pitchFamily="18" charset="0"/>
                          </a:rPr>
                          <m:t>𝑎𝑠𝑠𝑜𝑐𝑖𝑎𝑡𝑖𝑣𝑖𝑡𝑦</m:t>
                        </m:r>
                      </m:den>
                    </m:f>
                  </m:oMath>
                </a14:m>
                <a:r>
                  <a:rPr lang="en-IN"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128</m:t>
                        </m:r>
                      </m:num>
                      <m:den>
                        <m:r>
                          <a:rPr lang="en-IN" i="1">
                            <a:latin typeface="Cambria Math" panose="02040503050406030204" pitchFamily="18" charset="0"/>
                          </a:rPr>
                          <m:t>4</m:t>
                        </m:r>
                      </m:den>
                    </m:f>
                  </m:oMath>
                </a14:m>
                <a:r>
                  <a:rPr lang="en-IN" dirty="0">
                    <a:latin typeface="Times New Roman" panose="02020603050405020304" pitchFamily="18" charset="0"/>
                    <a:cs typeface="Times New Roman" panose="02020603050405020304" pitchFamily="18" charset="0"/>
                  </a:rPr>
                  <a:t>=2</a:t>
                </a:r>
                <a:r>
                  <a:rPr lang="en-IN" baseline="30000"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number of sets in CM is 2</a:t>
                </a:r>
                <a:r>
                  <a:rPr lang="en-IN" baseline="30000"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and hence 5-bit is required to select a set from 2</a:t>
                </a:r>
                <a:r>
                  <a:rPr lang="en-IN" baseline="30000"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number of sets in CM. So the size of index field (index field value determines set address in CM) in the address is 5-bit.</a:t>
                </a:r>
              </a:p>
              <a:p>
                <a:r>
                  <a:rPr lang="en-IN" dirty="0">
                    <a:latin typeface="Times New Roman" panose="02020603050405020304" pitchFamily="18" charset="0"/>
                    <a:cs typeface="Times New Roman" panose="02020603050405020304" pitchFamily="18" charset="0"/>
                  </a:rPr>
                  <a:t>So the size of tag field is (size of address-size of index field-size of block offset field)=(20-5-6)=9-bit.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[Note: As CM in this problem is set associative type so CM is divided into few sets. Moreover, CM is 4-way set associative. So the number of block frames per set is 4.]</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3. The average access time is 140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without level and 30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with level of a two level memory. If the fastest memory access time is 20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what is the hit ratio?</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Ans. The average access time without the level (i.e. the system has only MM no CM) is 140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So tm=140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average access time with level (i.e. the system has both CM and MM) is 30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So </a:t>
                </a:r>
                <a:r>
                  <a:rPr lang="en-IN" dirty="0" err="1">
                    <a:latin typeface="Times New Roman" panose="02020603050405020304" pitchFamily="18" charset="0"/>
                    <a:cs typeface="Times New Roman" panose="02020603050405020304" pitchFamily="18" charset="0"/>
                  </a:rPr>
                  <a:t>t</a:t>
                </a:r>
                <a:r>
                  <a:rPr lang="en-IN" baseline="-25000"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=30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in presence of both CM and MM.</a:t>
                </a:r>
              </a:p>
              <a:p>
                <a:r>
                  <a:rPr lang="en-IN" dirty="0">
                    <a:latin typeface="Times New Roman" panose="02020603050405020304" pitchFamily="18" charset="0"/>
                    <a:cs typeface="Times New Roman" panose="02020603050405020304" pitchFamily="18" charset="0"/>
                  </a:rPr>
                  <a:t>The fastest memory (CM is faster than MM as discussed in the context of memory hierarchy in the class) access time is 20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 So </a:t>
                </a:r>
                <a:r>
                  <a:rPr lang="en-IN"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=20 </a:t>
                </a:r>
                <a:r>
                  <a:rPr lang="en-IN" dirty="0" err="1">
                    <a:latin typeface="Times New Roman" panose="02020603050405020304" pitchFamily="18" charset="0"/>
                    <a:cs typeface="Times New Roman" panose="02020603050405020304" pitchFamily="18" charset="0"/>
                  </a:rPr>
                  <a:t>nsec</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Now </a:t>
                </a:r>
                <a:r>
                  <a:rPr lang="en-IN" dirty="0" err="1">
                    <a:latin typeface="Times New Roman" panose="02020603050405020304" pitchFamily="18" charset="0"/>
                    <a:cs typeface="Times New Roman" panose="02020603050405020304" pitchFamily="18" charset="0"/>
                  </a:rPr>
                  <a:t>t</a:t>
                </a:r>
                <a:r>
                  <a:rPr lang="en-IN" baseline="-25000"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tc</a:t>
                </a:r>
                <a:r>
                  <a:rPr lang="en-IN" dirty="0">
                    <a:latin typeface="Times New Roman" panose="02020603050405020304" pitchFamily="18" charset="0"/>
                    <a:cs typeface="Times New Roman" panose="02020603050405020304" pitchFamily="18" charset="0"/>
                  </a:rPr>
                  <a:t>+(1-H)*tm. So 30=20+(1-H)*140 which gives H=92%</a:t>
                </a:r>
              </a:p>
              <a:p>
                <a:endParaRPr lang="en-IN" dirty="0">
                  <a:latin typeface="Times New Roman" panose="02020603050405020304" pitchFamily="18" charset="0"/>
                  <a:cs typeface="Times New Roman" panose="020206030504050203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83335" y="360608"/>
                <a:ext cx="11384924" cy="6626366"/>
              </a:xfrm>
              <a:prstGeom prst="rect">
                <a:avLst/>
              </a:prstGeom>
              <a:blipFill>
                <a:blip r:embed="rId2"/>
                <a:stretch>
                  <a:fillRect l="-428" t="-460" r="-749"/>
                </a:stretch>
              </a:blipFill>
            </p:spPr>
            <p:txBody>
              <a:bodyPr/>
              <a:lstStyle/>
              <a:p>
                <a:r>
                  <a:rPr lang="en-IN">
                    <a:noFill/>
                  </a:rPr>
                  <a:t> </a:t>
                </a:r>
              </a:p>
            </p:txBody>
          </p:sp>
        </mc:Fallback>
      </mc:AlternateContent>
    </p:spTree>
    <p:extLst>
      <p:ext uri="{BB962C8B-B14F-4D97-AF65-F5344CB8AC3E}">
        <p14:creationId xmlns:p14="http://schemas.microsoft.com/office/powerpoint/2010/main" val="4254146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10981" y="170060"/>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Input register</a:t>
            </a:r>
          </a:p>
        </p:txBody>
      </p:sp>
      <p:sp>
        <p:nvSpPr>
          <p:cNvPr id="4" name="Rectangle 3"/>
          <p:cNvSpPr/>
          <p:nvPr/>
        </p:nvSpPr>
        <p:spPr>
          <a:xfrm>
            <a:off x="6544491" y="271417"/>
            <a:ext cx="862149" cy="548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6493564" y="1145419"/>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Mask</a:t>
            </a:r>
          </a:p>
          <a:p>
            <a:r>
              <a:rPr lang="en-IN" dirty="0">
                <a:latin typeface="Times New Roman" panose="02020603050405020304" pitchFamily="18" charset="0"/>
                <a:cs typeface="Times New Roman" panose="02020603050405020304" pitchFamily="18" charset="0"/>
              </a:rPr>
              <a:t>register</a:t>
            </a:r>
          </a:p>
        </p:txBody>
      </p:sp>
      <p:sp>
        <p:nvSpPr>
          <p:cNvPr id="6" name="Rectangle 5"/>
          <p:cNvSpPr/>
          <p:nvPr/>
        </p:nvSpPr>
        <p:spPr>
          <a:xfrm>
            <a:off x="6527074" y="1246776"/>
            <a:ext cx="862149" cy="548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6506627" y="3104848"/>
            <a:ext cx="10128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Output register</a:t>
            </a:r>
          </a:p>
        </p:txBody>
      </p:sp>
      <p:sp>
        <p:nvSpPr>
          <p:cNvPr id="8" name="Rectangle 7"/>
          <p:cNvSpPr/>
          <p:nvPr/>
        </p:nvSpPr>
        <p:spPr>
          <a:xfrm>
            <a:off x="6540137" y="3206205"/>
            <a:ext cx="862149" cy="548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6075189" y="2189359"/>
            <a:ext cx="197116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Word organized array of CAM cells</a:t>
            </a:r>
          </a:p>
        </p:txBody>
      </p:sp>
      <p:sp>
        <p:nvSpPr>
          <p:cNvPr id="12" name="Rectangle 11"/>
          <p:cNvSpPr/>
          <p:nvPr/>
        </p:nvSpPr>
        <p:spPr>
          <a:xfrm>
            <a:off x="6096000" y="2139406"/>
            <a:ext cx="1898469" cy="661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8439929" y="2046756"/>
            <a:ext cx="90001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Select circuit</a:t>
            </a:r>
          </a:p>
        </p:txBody>
      </p:sp>
      <p:sp>
        <p:nvSpPr>
          <p:cNvPr id="14" name="Rectangle 13"/>
          <p:cNvSpPr/>
          <p:nvPr/>
        </p:nvSpPr>
        <p:spPr>
          <a:xfrm>
            <a:off x="8473439" y="2161175"/>
            <a:ext cx="862149" cy="548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p:cNvCxnSpPr/>
          <p:nvPr/>
        </p:nvCxnSpPr>
        <p:spPr>
          <a:xfrm rot="5400000">
            <a:off x="6707777" y="1022531"/>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5682343" y="1590766"/>
            <a:ext cx="11234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257109" y="1016000"/>
            <a:ext cx="705394" cy="13063"/>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6923314" y="963749"/>
            <a:ext cx="45719" cy="783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p:cNvCxnSpPr/>
          <p:nvPr/>
        </p:nvCxnSpPr>
        <p:spPr>
          <a:xfrm rot="5400000">
            <a:off x="7053150" y="1978297"/>
            <a:ext cx="388325" cy="51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6707777" y="2995022"/>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8007531" y="2348411"/>
            <a:ext cx="48332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0800000">
            <a:off x="7968344" y="2701109"/>
            <a:ext cx="50945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873871" y="2029339"/>
            <a:ext cx="6823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Match</a:t>
            </a:r>
          </a:p>
        </p:txBody>
      </p:sp>
      <p:sp>
        <p:nvSpPr>
          <p:cNvPr id="45" name="TextBox 44"/>
          <p:cNvSpPr txBox="1"/>
          <p:nvPr/>
        </p:nvSpPr>
        <p:spPr>
          <a:xfrm>
            <a:off x="7987083" y="2704252"/>
            <a:ext cx="647466"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Select</a:t>
            </a:r>
          </a:p>
        </p:txBody>
      </p:sp>
      <p:sp>
        <p:nvSpPr>
          <p:cNvPr id="46" name="TextBox 45"/>
          <p:cNvSpPr txBox="1"/>
          <p:nvPr/>
        </p:nvSpPr>
        <p:spPr>
          <a:xfrm>
            <a:off x="7488154" y="460707"/>
            <a:ext cx="2384826" cy="738664"/>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Input data is simultaneously compared with the key field of each word </a:t>
            </a:r>
          </a:p>
        </p:txBody>
      </p:sp>
      <p:sp>
        <p:nvSpPr>
          <p:cNvPr id="47" name="Oval 46"/>
          <p:cNvSpPr/>
          <p:nvPr/>
        </p:nvSpPr>
        <p:spPr>
          <a:xfrm rot="8100000">
            <a:off x="6777020" y="921584"/>
            <a:ext cx="329962" cy="195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9" name="Straight Arrow Connector 48"/>
          <p:cNvCxnSpPr>
            <a:stCxn id="47" idx="1"/>
          </p:cNvCxnSpPr>
          <p:nvPr/>
        </p:nvCxnSpPr>
        <p:spPr>
          <a:xfrm rot="16200000" flipH="1">
            <a:off x="7350343" y="708242"/>
            <a:ext cx="30659" cy="5848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640554" y="1298907"/>
            <a:ext cx="1833646"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Specifies the key field</a:t>
            </a:r>
          </a:p>
        </p:txBody>
      </p:sp>
      <p:cxnSp>
        <p:nvCxnSpPr>
          <p:cNvPr id="53" name="Straight Arrow Connector 52"/>
          <p:cNvCxnSpPr>
            <a:stCxn id="6" idx="3"/>
            <a:endCxn id="51" idx="1"/>
          </p:cNvCxnSpPr>
          <p:nvPr/>
        </p:nvCxnSpPr>
        <p:spPr>
          <a:xfrm flipV="1">
            <a:off x="7389223" y="1452796"/>
            <a:ext cx="251331" cy="683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907254" y="3064207"/>
            <a:ext cx="1960646" cy="523220"/>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Word stored in CAM is </a:t>
            </a:r>
          </a:p>
          <a:p>
            <a:r>
              <a:rPr lang="en-IN" sz="1400" dirty="0">
                <a:latin typeface="Times New Roman" panose="02020603050405020304" pitchFamily="18" charset="0"/>
                <a:cs typeface="Times New Roman" panose="02020603050405020304" pitchFamily="18" charset="0"/>
              </a:rPr>
              <a:t>a pair (key, data)</a:t>
            </a:r>
          </a:p>
        </p:txBody>
      </p:sp>
      <p:sp>
        <p:nvSpPr>
          <p:cNvPr id="55" name="TextBox 54"/>
          <p:cNvSpPr txBox="1"/>
          <p:nvPr/>
        </p:nvSpPr>
        <p:spPr>
          <a:xfrm>
            <a:off x="8580354" y="1565607"/>
            <a:ext cx="1744746" cy="523220"/>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In case of match this signal is generated</a:t>
            </a:r>
          </a:p>
        </p:txBody>
      </p:sp>
      <p:sp>
        <p:nvSpPr>
          <p:cNvPr id="56" name="TextBox 55"/>
          <p:cNvSpPr txBox="1"/>
          <p:nvPr/>
        </p:nvSpPr>
        <p:spPr>
          <a:xfrm>
            <a:off x="9621754" y="1921207"/>
            <a:ext cx="2384826" cy="1169551"/>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Stores the word location(s) for which match has occurred</a:t>
            </a:r>
          </a:p>
          <a:p>
            <a:r>
              <a:rPr lang="en-IN" sz="1400" dirty="0">
                <a:latin typeface="Times New Roman" panose="02020603050405020304" pitchFamily="18" charset="0"/>
                <a:cs typeface="Times New Roman" panose="02020603050405020304" pitchFamily="18" charset="0"/>
              </a:rPr>
              <a:t>Read out the word in a predetermined order for the match position(s)</a:t>
            </a:r>
          </a:p>
        </p:txBody>
      </p:sp>
      <p:cxnSp>
        <p:nvCxnSpPr>
          <p:cNvPr id="58" name="Straight Arrow Connector 57"/>
          <p:cNvCxnSpPr>
            <a:stCxn id="14" idx="3"/>
          </p:cNvCxnSpPr>
          <p:nvPr/>
        </p:nvCxnSpPr>
        <p:spPr>
          <a:xfrm flipV="1">
            <a:off x="9335588" y="2273300"/>
            <a:ext cx="316412" cy="1621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8178800" y="1778000"/>
            <a:ext cx="571500" cy="393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7277100" y="2806700"/>
            <a:ext cx="7493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65100" y="190500"/>
            <a:ext cx="5829300" cy="3693319"/>
          </a:xfrm>
          <a:prstGeom prst="rect">
            <a:avLst/>
          </a:prstGeom>
          <a:noFill/>
        </p:spPr>
        <p:txBody>
          <a:bodyPr wrap="square" rtlCol="0">
            <a:spAutoFit/>
          </a:bodyPr>
          <a:lstStyle/>
          <a:p>
            <a:r>
              <a:rPr lang="en-IN" dirty="0">
                <a:latin typeface="Times New Roman" pitchFamily="18" charset="0"/>
                <a:cs typeface="Times New Roman" pitchFamily="18" charset="0"/>
              </a:rPr>
              <a:t>CAM: Content addressable memory is an associative memory</a:t>
            </a:r>
          </a:p>
          <a:p>
            <a:r>
              <a:rPr lang="en-IN" dirty="0">
                <a:latin typeface="Times New Roman" pitchFamily="18" charset="0"/>
                <a:cs typeface="Times New Roman" pitchFamily="18" charset="0"/>
              </a:rPr>
              <a:t>Any stored item can be accessed directly by using the contents of the item in question</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Format of item stored in associative memory – Key, Data, key is the address and data is the information to be accessed.</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Each unit of stored information is a fixed length word</a:t>
            </a:r>
          </a:p>
          <a:p>
            <a:r>
              <a:rPr lang="en-IN" dirty="0">
                <a:latin typeface="Times New Roman" pitchFamily="18" charset="0"/>
                <a:cs typeface="Times New Roman" pitchFamily="18" charset="0"/>
              </a:rPr>
              <a:t>Key is specified by the mask register and compared simultaneously with all stored words; those which match the key emit a match signal, which enters into a select circuit, select circuit enables the data to be accessed.</a:t>
            </a:r>
          </a:p>
        </p:txBody>
      </p:sp>
      <p:sp>
        <p:nvSpPr>
          <p:cNvPr id="37" name="TextBox 36"/>
          <p:cNvSpPr txBox="1"/>
          <p:nvPr/>
        </p:nvSpPr>
        <p:spPr>
          <a:xfrm>
            <a:off x="203200" y="3949700"/>
            <a:ext cx="11772900" cy="2862322"/>
          </a:xfrm>
          <a:prstGeom prst="rect">
            <a:avLst/>
          </a:prstGeom>
          <a:noFill/>
        </p:spPr>
        <p:txBody>
          <a:bodyPr wrap="square" rtlCol="0">
            <a:spAutoFit/>
          </a:bodyPr>
          <a:lstStyle/>
          <a:p>
            <a:r>
              <a:rPr lang="en-IN" dirty="0">
                <a:latin typeface="Times New Roman" pitchFamily="18" charset="0"/>
                <a:cs typeface="Times New Roman" pitchFamily="18" charset="0"/>
              </a:rPr>
              <a:t>If several entries have the same key, then the select circuit determines which data field is to be read out as per some predefined order.</a:t>
            </a:r>
          </a:p>
          <a:p>
            <a:r>
              <a:rPr lang="en-IN" dirty="0">
                <a:latin typeface="Times New Roman" pitchFamily="18" charset="0"/>
                <a:cs typeface="Times New Roman" pitchFamily="18" charset="0"/>
              </a:rPr>
              <a:t>Since all words in the memory are required to compare their keys with the input key simultaneously, each must have its own match circuit.</a:t>
            </a:r>
          </a:p>
          <a:p>
            <a:r>
              <a:rPr lang="en-IN" u="sng" dirty="0">
                <a:latin typeface="Times New Roman" pitchFamily="18" charset="0"/>
                <a:cs typeface="Times New Roman" pitchFamily="18" charset="0"/>
              </a:rPr>
              <a:t>Advantage over RAM</a:t>
            </a:r>
          </a:p>
          <a:p>
            <a:r>
              <a:rPr lang="en-IN" dirty="0">
                <a:latin typeface="Times New Roman" pitchFamily="18" charset="0"/>
                <a:cs typeface="Times New Roman" pitchFamily="18" charset="0"/>
              </a:rPr>
              <a:t>Capable of performing parallel search and parallel comparison operations</a:t>
            </a:r>
          </a:p>
          <a:p>
            <a:r>
              <a:rPr lang="en-IN" u="sng" dirty="0">
                <a:latin typeface="Times New Roman" pitchFamily="18" charset="0"/>
                <a:cs typeface="Times New Roman" pitchFamily="18" charset="0"/>
              </a:rPr>
              <a:t>Disadvantage</a:t>
            </a:r>
            <a:r>
              <a:rPr lang="en-IN" dirty="0">
                <a:latin typeface="Times New Roman" pitchFamily="18" charset="0"/>
                <a:cs typeface="Times New Roman" pitchFamily="18" charset="0"/>
              </a:rPr>
              <a:t>: High hardware cost </a:t>
            </a:r>
          </a:p>
          <a:p>
            <a:r>
              <a:rPr lang="en-IN" dirty="0">
                <a:latin typeface="Times New Roman" pitchFamily="18" charset="0"/>
                <a:cs typeface="Times New Roman" pitchFamily="18" charset="0"/>
              </a:rPr>
              <a:t>As it is required to compare the input key and the key associated with all the words simultaneously each must have its own match circuit</a:t>
            </a:r>
          </a:p>
          <a:p>
            <a:r>
              <a:rPr lang="en-IN" dirty="0">
                <a:latin typeface="Times New Roman" pitchFamily="18" charset="0"/>
                <a:cs typeface="Times New Roman" pitchFamily="18" charset="0"/>
              </a:rPr>
              <a:t>Match and select circuit make CAM much more complex and expensive </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270" y="170180"/>
            <a:ext cx="11855630" cy="4524315"/>
          </a:xfrm>
          <a:prstGeom prst="rect">
            <a:avLst/>
          </a:prstGeom>
          <a:noFill/>
        </p:spPr>
        <p:txBody>
          <a:bodyPr wrap="square" rtlCol="0">
            <a:spAutoFit/>
          </a:bodyPr>
          <a:lstStyle/>
          <a:p>
            <a:r>
              <a:rPr lang="en-IN" dirty="0">
                <a:latin typeface="Times New Roman" pitchFamily="18" charset="0"/>
                <a:cs typeface="Times New Roman" pitchFamily="18" charset="0"/>
              </a:rPr>
              <a:t>Read/Write operation:</a:t>
            </a:r>
          </a:p>
          <a:p>
            <a:r>
              <a:rPr lang="en-IN" dirty="0">
                <a:latin typeface="Times New Roman" pitchFamily="18" charset="0"/>
                <a:cs typeface="Times New Roman" pitchFamily="18" charset="0"/>
              </a:rPr>
              <a:t>Read/Write operation can be performed on each of the words for which match signal is generated</a:t>
            </a:r>
          </a:p>
          <a:p>
            <a:r>
              <a:rPr lang="en-IN" dirty="0">
                <a:latin typeface="Times New Roman" pitchFamily="18" charset="0"/>
                <a:cs typeface="Times New Roman" pitchFamily="18" charset="0"/>
              </a:rPr>
              <a:t>Read or write instruction is preceded by the match instruction having the format (Match key, Input data)</a:t>
            </a:r>
          </a:p>
          <a:p>
            <a:endParaRPr lang="en-IN" dirty="0">
              <a:latin typeface="Times New Roman" pitchFamily="18" charset="0"/>
              <a:cs typeface="Times New Roman" pitchFamily="18" charset="0"/>
            </a:endParaRPr>
          </a:p>
          <a:p>
            <a:r>
              <a:rPr lang="en-IN" b="1" dirty="0">
                <a:latin typeface="Times New Roman" pitchFamily="18" charset="0"/>
                <a:cs typeface="Times New Roman" pitchFamily="18" charset="0"/>
              </a:rPr>
              <a:t>Key Applications of CAM:</a:t>
            </a:r>
            <a:endParaRPr lang="en-IN" dirty="0">
              <a:latin typeface="Times New Roman" pitchFamily="18" charset="0"/>
              <a:cs typeface="Times New Roman" pitchFamily="18" charset="0"/>
            </a:endParaRPr>
          </a:p>
          <a:p>
            <a:r>
              <a:rPr lang="en-IN" b="1" dirty="0">
                <a:latin typeface="Times New Roman" pitchFamily="18" charset="0"/>
                <a:cs typeface="Times New Roman" pitchFamily="18" charset="0"/>
              </a:rPr>
              <a:t>Networking Hardware:</a:t>
            </a:r>
            <a:r>
              <a:rPr lang="en-IN" dirty="0">
                <a:latin typeface="Times New Roman" pitchFamily="18" charset="0"/>
                <a:cs typeface="Times New Roman" pitchFamily="18" charset="0"/>
              </a:rPr>
              <a:t> Used in network routers and switches (Layer 2/3) for incredibly fast MAC address lookup, packet classification, and forwarding decisions.</a:t>
            </a:r>
          </a:p>
          <a:p>
            <a:r>
              <a:rPr lang="en-IN" b="1" dirty="0">
                <a:latin typeface="Times New Roman" pitchFamily="18" charset="0"/>
                <a:cs typeface="Times New Roman" pitchFamily="18" charset="0"/>
              </a:rPr>
              <a:t>Cache Memory Systems:</a:t>
            </a:r>
            <a:r>
              <a:rPr lang="en-IN" dirty="0">
                <a:latin typeface="Times New Roman" pitchFamily="18" charset="0"/>
                <a:cs typeface="Times New Roman" pitchFamily="18" charset="0"/>
              </a:rPr>
              <a:t> Implemented in CPU cache systems to quickly determine if data exists within the cache (tag lookup), enhancing cache speed.</a:t>
            </a:r>
          </a:p>
          <a:p>
            <a:r>
              <a:rPr lang="en-IN" b="1" dirty="0">
                <a:latin typeface="Times New Roman" pitchFamily="18" charset="0"/>
                <a:cs typeface="Times New Roman" pitchFamily="18" charset="0"/>
              </a:rPr>
              <a:t>Database Accelerators:</a:t>
            </a:r>
            <a:r>
              <a:rPr lang="en-IN" dirty="0">
                <a:latin typeface="Times New Roman" pitchFamily="18" charset="0"/>
                <a:cs typeface="Times New Roman" pitchFamily="18" charset="0"/>
              </a:rPr>
              <a:t> Speeds up database management systems by allowing complex, parallel, and rapid search operations.</a:t>
            </a:r>
          </a:p>
          <a:p>
            <a:r>
              <a:rPr lang="en-IN" b="1" dirty="0">
                <a:latin typeface="Times New Roman" pitchFamily="18" charset="0"/>
                <a:cs typeface="Times New Roman" pitchFamily="18" charset="0"/>
              </a:rPr>
              <a:t>Pattern Recognition &amp; AI:</a:t>
            </a:r>
            <a:r>
              <a:rPr lang="en-IN" dirty="0">
                <a:latin typeface="Times New Roman" pitchFamily="18" charset="0"/>
                <a:cs typeface="Times New Roman" pitchFamily="18" charset="0"/>
              </a:rPr>
              <a:t> Utilized in AI, machine learning, and pattern recognition tasks due to its efficient, high-speed data matching capabilities.</a:t>
            </a: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TotalTime>
  <Words>7111</Words>
  <Application>Microsoft Office PowerPoint</Application>
  <PresentationFormat>Widescreen</PresentationFormat>
  <Paragraphs>495</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Mrigaj Shaw</cp:lastModifiedBy>
  <cp:revision>164</cp:revision>
  <dcterms:created xsi:type="dcterms:W3CDTF">2025-06-24T05:58:55Z</dcterms:created>
  <dcterms:modified xsi:type="dcterms:W3CDTF">2026-04-10T07:08:11Z</dcterms:modified>
</cp:coreProperties>
</file>