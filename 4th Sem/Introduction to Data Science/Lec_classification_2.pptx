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diagrams/layout1.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xls" ContentType="application/vnd.ms-exce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diagrams/quickStyle1.xml" ContentType="application/vnd.openxmlformats-officedocument.drawingml.diagram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95" r:id="rId32"/>
    <p:sldId id="296" r:id="rId33"/>
    <p:sldId id="297" r:id="rId34"/>
    <p:sldId id="287" r:id="rId35"/>
    <p:sldId id="288" r:id="rId36"/>
    <p:sldId id="314" r:id="rId37"/>
    <p:sldId id="315" r:id="rId38"/>
    <p:sldId id="316" r:id="rId39"/>
    <p:sldId id="320" r:id="rId40"/>
    <p:sldId id="317" r:id="rId41"/>
    <p:sldId id="318" r:id="rId42"/>
    <p:sldId id="319" r:id="rId43"/>
    <p:sldId id="289" r:id="rId44"/>
    <p:sldId id="301" r:id="rId45"/>
    <p:sldId id="302" r:id="rId46"/>
    <p:sldId id="313" r:id="rId47"/>
    <p:sldId id="303" r:id="rId48"/>
    <p:sldId id="304" r:id="rId49"/>
    <p:sldId id="305" r:id="rId50"/>
    <p:sldId id="327" r:id="rId51"/>
    <p:sldId id="361" r:id="rId52"/>
    <p:sldId id="362" r:id="rId53"/>
    <p:sldId id="363" r:id="rId54"/>
    <p:sldId id="364" r:id="rId55"/>
    <p:sldId id="365" r:id="rId56"/>
    <p:sldId id="366" r:id="rId57"/>
    <p:sldId id="367" r:id="rId58"/>
    <p:sldId id="321" r:id="rId59"/>
    <p:sldId id="323" r:id="rId60"/>
    <p:sldId id="324" r:id="rId61"/>
    <p:sldId id="325" r:id="rId62"/>
    <p:sldId id="326" r:id="rId63"/>
    <p:sldId id="328" r:id="rId64"/>
    <p:sldId id="307" r:id="rId65"/>
    <p:sldId id="308" r:id="rId66"/>
    <p:sldId id="359" r:id="rId67"/>
    <p:sldId id="309" r:id="rId68"/>
    <p:sldId id="360" r:id="rId69"/>
    <p:sldId id="368" r:id="rId70"/>
    <p:sldId id="369" r:id="rId71"/>
    <p:sldId id="370" r:id="rId72"/>
    <p:sldId id="371" r:id="rId73"/>
    <p:sldId id="372" r:id="rId74"/>
    <p:sldId id="373" r:id="rId75"/>
    <p:sldId id="374" r:id="rId76"/>
    <p:sldId id="310" r:id="rId77"/>
    <p:sldId id="311" r:id="rId78"/>
    <p:sldId id="312" r:id="rId79"/>
    <p:sldId id="292"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75" r:id="rId101"/>
    <p:sldId id="376" r:id="rId102"/>
    <p:sldId id="377" r:id="rId103"/>
    <p:sldId id="378" r:id="rId104"/>
    <p:sldId id="379" r:id="rId105"/>
    <p:sldId id="354" r:id="rId106"/>
    <p:sldId id="350" r:id="rId107"/>
    <p:sldId id="355" r:id="rId108"/>
    <p:sldId id="356" r:id="rId109"/>
    <p:sldId id="357" r:id="rId110"/>
    <p:sldId id="358" r:id="rId111"/>
    <p:sldId id="294" r:id="rId11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9" d="100"/>
          <a:sy n="109" d="100"/>
        </p:scale>
        <p:origin x="-1650"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33EB52-3BAD-467F-8C69-6E001AF47EB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F61DAD39-5797-4C4D-803A-665819E8E419}">
      <dgm:prSet phldrT="[Text]"/>
      <dgm:spPr/>
      <dgm:t>
        <a:bodyPr/>
        <a:lstStyle/>
        <a:p>
          <a:r>
            <a:rPr lang="en-US" dirty="0"/>
            <a:t>Class Imbalance</a:t>
          </a:r>
        </a:p>
      </dgm:t>
    </dgm:pt>
    <dgm:pt modelId="{16C71F75-936A-4729-A800-6C41FAE439CD}" type="parTrans" cxnId="{70578A19-7264-48AA-BD71-CF84069D53E0}">
      <dgm:prSet/>
      <dgm:spPr/>
      <dgm:t>
        <a:bodyPr/>
        <a:lstStyle/>
        <a:p>
          <a:endParaRPr lang="en-US"/>
        </a:p>
      </dgm:t>
    </dgm:pt>
    <dgm:pt modelId="{64525245-91BB-40D5-818A-DD9BE6154A16}" type="sibTrans" cxnId="{70578A19-7264-48AA-BD71-CF84069D53E0}">
      <dgm:prSet/>
      <dgm:spPr/>
      <dgm:t>
        <a:bodyPr/>
        <a:lstStyle/>
        <a:p>
          <a:endParaRPr lang="en-US"/>
        </a:p>
      </dgm:t>
    </dgm:pt>
    <dgm:pt modelId="{69080F20-262B-43AE-B248-AE59E63E905A}">
      <dgm:prSet phldrT="[Text]"/>
      <dgm:spPr/>
      <dgm:t>
        <a:bodyPr/>
        <a:lstStyle/>
        <a:p>
          <a:r>
            <a:rPr lang="en-US" dirty="0"/>
            <a:t>Data Level</a:t>
          </a:r>
        </a:p>
      </dgm:t>
    </dgm:pt>
    <dgm:pt modelId="{00779553-0817-4E33-B537-4BA71749ABD1}" type="parTrans" cxnId="{CC3E2A0C-7BB7-41F5-8CE0-51F40118608C}">
      <dgm:prSet/>
      <dgm:spPr/>
      <dgm:t>
        <a:bodyPr/>
        <a:lstStyle/>
        <a:p>
          <a:endParaRPr lang="en-US"/>
        </a:p>
      </dgm:t>
    </dgm:pt>
    <dgm:pt modelId="{17FC155B-5F38-49FD-87B6-45253FE16CF4}" type="sibTrans" cxnId="{CC3E2A0C-7BB7-41F5-8CE0-51F40118608C}">
      <dgm:prSet/>
      <dgm:spPr/>
      <dgm:t>
        <a:bodyPr/>
        <a:lstStyle/>
        <a:p>
          <a:endParaRPr lang="en-US"/>
        </a:p>
      </dgm:t>
    </dgm:pt>
    <dgm:pt modelId="{2DC526E9-44D6-47AC-B8D1-3101B6C07234}">
      <dgm:prSet phldrT="[Text]"/>
      <dgm:spPr/>
      <dgm:t>
        <a:bodyPr/>
        <a:lstStyle/>
        <a:p>
          <a:r>
            <a:rPr lang="en-US" dirty="0" err="1"/>
            <a:t>Undersampling</a:t>
          </a:r>
          <a:endParaRPr lang="en-US" dirty="0"/>
        </a:p>
      </dgm:t>
    </dgm:pt>
    <dgm:pt modelId="{8E4BE674-8CA6-468D-AAFD-D9111B062F56}" type="parTrans" cxnId="{C9AEC937-DF92-42D6-AE3E-DC62A4560E4E}">
      <dgm:prSet/>
      <dgm:spPr/>
      <dgm:t>
        <a:bodyPr/>
        <a:lstStyle/>
        <a:p>
          <a:endParaRPr lang="en-US"/>
        </a:p>
      </dgm:t>
    </dgm:pt>
    <dgm:pt modelId="{6583020F-B87E-46CA-AEEA-DC46923A9EC2}" type="sibTrans" cxnId="{C9AEC937-DF92-42D6-AE3E-DC62A4560E4E}">
      <dgm:prSet/>
      <dgm:spPr/>
      <dgm:t>
        <a:bodyPr/>
        <a:lstStyle/>
        <a:p>
          <a:endParaRPr lang="en-US"/>
        </a:p>
      </dgm:t>
    </dgm:pt>
    <dgm:pt modelId="{2F86BAD2-2C53-424B-A2A0-83CE1C7B5093}">
      <dgm:prSet phldrT="[Text]"/>
      <dgm:spPr/>
      <dgm:t>
        <a:bodyPr/>
        <a:lstStyle/>
        <a:p>
          <a:r>
            <a:rPr lang="en-US" dirty="0"/>
            <a:t>Oversampling</a:t>
          </a:r>
        </a:p>
      </dgm:t>
    </dgm:pt>
    <dgm:pt modelId="{E9115647-82E1-4B80-B796-74C98910F84E}" type="parTrans" cxnId="{E4AAC9CC-AC49-45A4-8E26-629054FE1953}">
      <dgm:prSet/>
      <dgm:spPr/>
      <dgm:t>
        <a:bodyPr/>
        <a:lstStyle/>
        <a:p>
          <a:endParaRPr lang="en-US"/>
        </a:p>
      </dgm:t>
    </dgm:pt>
    <dgm:pt modelId="{6FF2C2FC-A27F-4894-AFE2-3DBCF14DF2C5}" type="sibTrans" cxnId="{E4AAC9CC-AC49-45A4-8E26-629054FE1953}">
      <dgm:prSet/>
      <dgm:spPr/>
      <dgm:t>
        <a:bodyPr/>
        <a:lstStyle/>
        <a:p>
          <a:endParaRPr lang="en-US"/>
        </a:p>
      </dgm:t>
    </dgm:pt>
    <dgm:pt modelId="{6D605303-214D-4C6A-B052-12C622CD261A}">
      <dgm:prSet phldrT="[Text]"/>
      <dgm:spPr/>
      <dgm:t>
        <a:bodyPr/>
        <a:lstStyle/>
        <a:p>
          <a:r>
            <a:rPr lang="en-US" dirty="0"/>
            <a:t>Algorithm Level</a:t>
          </a:r>
        </a:p>
      </dgm:t>
    </dgm:pt>
    <dgm:pt modelId="{DE446703-B2CB-4668-81C9-3016CF24A7AD}" type="parTrans" cxnId="{BD9AFBB9-EF07-4AA7-B466-10CB9F479573}">
      <dgm:prSet/>
      <dgm:spPr/>
      <dgm:t>
        <a:bodyPr/>
        <a:lstStyle/>
        <a:p>
          <a:endParaRPr lang="en-US"/>
        </a:p>
      </dgm:t>
    </dgm:pt>
    <dgm:pt modelId="{1D982B90-BD8F-4706-9E92-B5BF3B260CD0}" type="sibTrans" cxnId="{BD9AFBB9-EF07-4AA7-B466-10CB9F479573}">
      <dgm:prSet/>
      <dgm:spPr/>
      <dgm:t>
        <a:bodyPr/>
        <a:lstStyle/>
        <a:p>
          <a:endParaRPr lang="en-US"/>
        </a:p>
      </dgm:t>
    </dgm:pt>
    <dgm:pt modelId="{30EC267A-B0C4-4AA8-88EC-EB0E6A93012C}">
      <dgm:prSet phldrT="[Text]"/>
      <dgm:spPr/>
      <dgm:t>
        <a:bodyPr/>
        <a:lstStyle/>
        <a:p>
          <a:r>
            <a:rPr lang="en-US" dirty="0"/>
            <a:t>Ensemble</a:t>
          </a:r>
        </a:p>
      </dgm:t>
    </dgm:pt>
    <dgm:pt modelId="{B20F2A3F-BE23-4F51-A2AF-14358879B4AD}" type="parTrans" cxnId="{5A7AEE36-82A0-4240-B634-EDDD17816FD4}">
      <dgm:prSet/>
      <dgm:spPr/>
      <dgm:t>
        <a:bodyPr/>
        <a:lstStyle/>
        <a:p>
          <a:endParaRPr lang="en-US"/>
        </a:p>
      </dgm:t>
    </dgm:pt>
    <dgm:pt modelId="{9538F6C9-20F4-41EE-A8A5-EF099CA37E63}" type="sibTrans" cxnId="{5A7AEE36-82A0-4240-B634-EDDD17816FD4}">
      <dgm:prSet/>
      <dgm:spPr/>
      <dgm:t>
        <a:bodyPr/>
        <a:lstStyle/>
        <a:p>
          <a:endParaRPr lang="en-US"/>
        </a:p>
      </dgm:t>
    </dgm:pt>
    <dgm:pt modelId="{01AFB4A9-D79F-4E16-B3C5-E1B3F1624286}">
      <dgm:prSet phldrT="[Text]"/>
      <dgm:spPr/>
      <dgm:t>
        <a:bodyPr/>
        <a:lstStyle/>
        <a:p>
          <a:r>
            <a:rPr lang="en-US" dirty="0"/>
            <a:t>Hybrid</a:t>
          </a:r>
        </a:p>
      </dgm:t>
    </dgm:pt>
    <dgm:pt modelId="{BE2535D6-8C35-4759-9C43-D61F8568CAC9}" type="parTrans" cxnId="{3DECB308-3EE4-4008-897F-85FBF5FBD909}">
      <dgm:prSet/>
      <dgm:spPr/>
      <dgm:t>
        <a:bodyPr/>
        <a:lstStyle/>
        <a:p>
          <a:endParaRPr lang="en-US"/>
        </a:p>
      </dgm:t>
    </dgm:pt>
    <dgm:pt modelId="{2186716F-BEC5-4C1F-A37B-57CA7E249EDB}" type="sibTrans" cxnId="{3DECB308-3EE4-4008-897F-85FBF5FBD909}">
      <dgm:prSet/>
      <dgm:spPr/>
      <dgm:t>
        <a:bodyPr/>
        <a:lstStyle/>
        <a:p>
          <a:endParaRPr lang="en-US"/>
        </a:p>
      </dgm:t>
    </dgm:pt>
    <dgm:pt modelId="{4EF0F313-C054-4CFC-BE20-D6E8F80CE187}">
      <dgm:prSet phldrT="[Text]"/>
      <dgm:spPr/>
      <dgm:t>
        <a:bodyPr/>
        <a:lstStyle/>
        <a:p>
          <a:r>
            <a:rPr lang="en-US" dirty="0"/>
            <a:t>Augmentation</a:t>
          </a:r>
        </a:p>
      </dgm:t>
    </dgm:pt>
    <dgm:pt modelId="{E43CE2E4-6C94-4013-B79C-A6B2FA34C5AA}" type="parTrans" cxnId="{5F196CB9-ABF8-4224-94D5-3A3AF4BD9D99}">
      <dgm:prSet/>
      <dgm:spPr/>
      <dgm:t>
        <a:bodyPr/>
        <a:lstStyle/>
        <a:p>
          <a:endParaRPr lang="en-US"/>
        </a:p>
      </dgm:t>
    </dgm:pt>
    <dgm:pt modelId="{7539DB97-C362-49F6-A973-4B28E598E531}" type="sibTrans" cxnId="{5F196CB9-ABF8-4224-94D5-3A3AF4BD9D99}">
      <dgm:prSet/>
      <dgm:spPr/>
      <dgm:t>
        <a:bodyPr/>
        <a:lstStyle/>
        <a:p>
          <a:endParaRPr lang="en-US"/>
        </a:p>
      </dgm:t>
    </dgm:pt>
    <dgm:pt modelId="{1C369FB1-9A91-4E5D-89D1-6FA53E826A70}" type="pres">
      <dgm:prSet presAssocID="{F733EB52-3BAD-467F-8C69-6E001AF47EB4}" presName="hierChild1" presStyleCnt="0">
        <dgm:presLayoutVars>
          <dgm:chPref val="1"/>
          <dgm:dir/>
          <dgm:animOne val="branch"/>
          <dgm:animLvl val="lvl"/>
          <dgm:resizeHandles/>
        </dgm:presLayoutVars>
      </dgm:prSet>
      <dgm:spPr/>
      <dgm:t>
        <a:bodyPr/>
        <a:lstStyle/>
        <a:p>
          <a:endParaRPr lang="en-US"/>
        </a:p>
      </dgm:t>
    </dgm:pt>
    <dgm:pt modelId="{1A1957AF-4AEE-440E-9D04-7030EDBBD14A}" type="pres">
      <dgm:prSet presAssocID="{F61DAD39-5797-4C4D-803A-665819E8E419}" presName="hierRoot1" presStyleCnt="0"/>
      <dgm:spPr/>
    </dgm:pt>
    <dgm:pt modelId="{B0B95BEF-0E1F-49F2-A0D1-8F7208D9E05C}" type="pres">
      <dgm:prSet presAssocID="{F61DAD39-5797-4C4D-803A-665819E8E419}" presName="composite" presStyleCnt="0"/>
      <dgm:spPr/>
    </dgm:pt>
    <dgm:pt modelId="{FD41633F-FC97-443F-90E2-30BCE900F4AB}" type="pres">
      <dgm:prSet presAssocID="{F61DAD39-5797-4C4D-803A-665819E8E419}" presName="background" presStyleLbl="node0" presStyleIdx="0" presStyleCnt="1"/>
      <dgm:spPr/>
    </dgm:pt>
    <dgm:pt modelId="{157D7FD1-E631-4563-B2C5-64BB8074D8C6}" type="pres">
      <dgm:prSet presAssocID="{F61DAD39-5797-4C4D-803A-665819E8E419}" presName="text" presStyleLbl="fgAcc0" presStyleIdx="0" presStyleCnt="1" custLinFactNeighborX="-65488" custLinFactNeighborY="-16763">
        <dgm:presLayoutVars>
          <dgm:chPref val="3"/>
        </dgm:presLayoutVars>
      </dgm:prSet>
      <dgm:spPr/>
      <dgm:t>
        <a:bodyPr/>
        <a:lstStyle/>
        <a:p>
          <a:endParaRPr lang="en-US"/>
        </a:p>
      </dgm:t>
    </dgm:pt>
    <dgm:pt modelId="{BD4E2759-648A-400A-88E2-01548AB3B3D1}" type="pres">
      <dgm:prSet presAssocID="{F61DAD39-5797-4C4D-803A-665819E8E419}" presName="hierChild2" presStyleCnt="0"/>
      <dgm:spPr/>
    </dgm:pt>
    <dgm:pt modelId="{FFDC0265-8AF0-4715-86FA-42827C7534C0}" type="pres">
      <dgm:prSet presAssocID="{00779553-0817-4E33-B537-4BA71749ABD1}" presName="Name10" presStyleLbl="parChTrans1D2" presStyleIdx="0" presStyleCnt="4"/>
      <dgm:spPr/>
      <dgm:t>
        <a:bodyPr/>
        <a:lstStyle/>
        <a:p>
          <a:endParaRPr lang="en-US"/>
        </a:p>
      </dgm:t>
    </dgm:pt>
    <dgm:pt modelId="{0F718F04-E438-4949-8FA6-354D911F456A}" type="pres">
      <dgm:prSet presAssocID="{69080F20-262B-43AE-B248-AE59E63E905A}" presName="hierRoot2" presStyleCnt="0"/>
      <dgm:spPr/>
    </dgm:pt>
    <dgm:pt modelId="{9EC92AF1-B0EA-4409-AB7C-38CBAA195EB1}" type="pres">
      <dgm:prSet presAssocID="{69080F20-262B-43AE-B248-AE59E63E905A}" presName="composite2" presStyleCnt="0"/>
      <dgm:spPr/>
    </dgm:pt>
    <dgm:pt modelId="{D638ACA7-B22E-45A5-A57A-8F57ED4BD177}" type="pres">
      <dgm:prSet presAssocID="{69080F20-262B-43AE-B248-AE59E63E905A}" presName="background2" presStyleLbl="node2" presStyleIdx="0" presStyleCnt="4"/>
      <dgm:spPr/>
    </dgm:pt>
    <dgm:pt modelId="{7E7717A4-186F-4761-AA16-6CF308FD93F4}" type="pres">
      <dgm:prSet presAssocID="{69080F20-262B-43AE-B248-AE59E63E905A}" presName="text2" presStyleLbl="fgAcc2" presStyleIdx="0" presStyleCnt="4" custLinFactNeighborX="10224" custLinFactNeighborY="618">
        <dgm:presLayoutVars>
          <dgm:chPref val="3"/>
        </dgm:presLayoutVars>
      </dgm:prSet>
      <dgm:spPr/>
      <dgm:t>
        <a:bodyPr/>
        <a:lstStyle/>
        <a:p>
          <a:endParaRPr lang="en-US"/>
        </a:p>
      </dgm:t>
    </dgm:pt>
    <dgm:pt modelId="{66E5D313-D9BC-4999-B10D-A96581BE74EA}" type="pres">
      <dgm:prSet presAssocID="{69080F20-262B-43AE-B248-AE59E63E905A}" presName="hierChild3" presStyleCnt="0"/>
      <dgm:spPr/>
    </dgm:pt>
    <dgm:pt modelId="{E0562481-ADF4-4A0B-9D5A-2763AD621EA9}" type="pres">
      <dgm:prSet presAssocID="{8E4BE674-8CA6-468D-AAFD-D9111B062F56}" presName="Name17" presStyleLbl="parChTrans1D3" presStyleIdx="0" presStyleCnt="3"/>
      <dgm:spPr/>
      <dgm:t>
        <a:bodyPr/>
        <a:lstStyle/>
        <a:p>
          <a:endParaRPr lang="en-US"/>
        </a:p>
      </dgm:t>
    </dgm:pt>
    <dgm:pt modelId="{4AEF7AC4-32F5-4E5F-91C4-DCE8623E58E1}" type="pres">
      <dgm:prSet presAssocID="{2DC526E9-44D6-47AC-B8D1-3101B6C07234}" presName="hierRoot3" presStyleCnt="0"/>
      <dgm:spPr/>
    </dgm:pt>
    <dgm:pt modelId="{B076B6BB-DA17-4E20-A200-3B2084FC96E5}" type="pres">
      <dgm:prSet presAssocID="{2DC526E9-44D6-47AC-B8D1-3101B6C07234}" presName="composite3" presStyleCnt="0"/>
      <dgm:spPr/>
    </dgm:pt>
    <dgm:pt modelId="{68493CDA-5F2C-4036-8D8F-E3B7B9357589}" type="pres">
      <dgm:prSet presAssocID="{2DC526E9-44D6-47AC-B8D1-3101B6C07234}" presName="background3" presStyleLbl="node3" presStyleIdx="0" presStyleCnt="3"/>
      <dgm:spPr/>
    </dgm:pt>
    <dgm:pt modelId="{0B238D7C-E759-40AD-83C5-4D2ED63F3C06}" type="pres">
      <dgm:prSet presAssocID="{2DC526E9-44D6-47AC-B8D1-3101B6C07234}" presName="text3" presStyleLbl="fgAcc3" presStyleIdx="0" presStyleCnt="3" custLinFactNeighborX="6499" custLinFactNeighborY="-1321">
        <dgm:presLayoutVars>
          <dgm:chPref val="3"/>
        </dgm:presLayoutVars>
      </dgm:prSet>
      <dgm:spPr/>
      <dgm:t>
        <a:bodyPr/>
        <a:lstStyle/>
        <a:p>
          <a:endParaRPr lang="en-US"/>
        </a:p>
      </dgm:t>
    </dgm:pt>
    <dgm:pt modelId="{B2A3E281-CE9E-49EB-ABA2-0761780B7825}" type="pres">
      <dgm:prSet presAssocID="{2DC526E9-44D6-47AC-B8D1-3101B6C07234}" presName="hierChild4" presStyleCnt="0"/>
      <dgm:spPr/>
    </dgm:pt>
    <dgm:pt modelId="{C324947E-D26F-4D9F-9C5E-9F4A43F69594}" type="pres">
      <dgm:prSet presAssocID="{E9115647-82E1-4B80-B796-74C98910F84E}" presName="Name17" presStyleLbl="parChTrans1D3" presStyleIdx="1" presStyleCnt="3"/>
      <dgm:spPr/>
      <dgm:t>
        <a:bodyPr/>
        <a:lstStyle/>
        <a:p>
          <a:endParaRPr lang="en-US"/>
        </a:p>
      </dgm:t>
    </dgm:pt>
    <dgm:pt modelId="{81C4C49A-C1CA-4754-885E-C1E5492F8C98}" type="pres">
      <dgm:prSet presAssocID="{2F86BAD2-2C53-424B-A2A0-83CE1C7B5093}" presName="hierRoot3" presStyleCnt="0"/>
      <dgm:spPr/>
    </dgm:pt>
    <dgm:pt modelId="{EE1AF56F-1A4C-408A-992B-662E8070CDEB}" type="pres">
      <dgm:prSet presAssocID="{2F86BAD2-2C53-424B-A2A0-83CE1C7B5093}" presName="composite3" presStyleCnt="0"/>
      <dgm:spPr/>
    </dgm:pt>
    <dgm:pt modelId="{A9C47620-7C30-429C-AC2F-9C4F76DAC8AC}" type="pres">
      <dgm:prSet presAssocID="{2F86BAD2-2C53-424B-A2A0-83CE1C7B5093}" presName="background3" presStyleLbl="node3" presStyleIdx="1" presStyleCnt="3"/>
      <dgm:spPr/>
    </dgm:pt>
    <dgm:pt modelId="{E2AFAFE3-0FD0-44BD-8E65-8BDEF3EB5295}" type="pres">
      <dgm:prSet presAssocID="{2F86BAD2-2C53-424B-A2A0-83CE1C7B5093}" presName="text3" presStyleLbl="fgAcc3" presStyleIdx="1" presStyleCnt="3" custLinFactNeighborX="10057" custLinFactNeighborY="-1321">
        <dgm:presLayoutVars>
          <dgm:chPref val="3"/>
        </dgm:presLayoutVars>
      </dgm:prSet>
      <dgm:spPr/>
      <dgm:t>
        <a:bodyPr/>
        <a:lstStyle/>
        <a:p>
          <a:endParaRPr lang="en-US"/>
        </a:p>
      </dgm:t>
    </dgm:pt>
    <dgm:pt modelId="{F84F8BA7-F077-49D1-852E-17C544A50411}" type="pres">
      <dgm:prSet presAssocID="{2F86BAD2-2C53-424B-A2A0-83CE1C7B5093}" presName="hierChild4" presStyleCnt="0"/>
      <dgm:spPr/>
    </dgm:pt>
    <dgm:pt modelId="{31DF54CB-6B83-4B42-B56A-809BA657B69D}" type="pres">
      <dgm:prSet presAssocID="{BE2535D6-8C35-4759-9C43-D61F8568CAC9}" presName="Name17" presStyleLbl="parChTrans1D3" presStyleIdx="2" presStyleCnt="3"/>
      <dgm:spPr/>
      <dgm:t>
        <a:bodyPr/>
        <a:lstStyle/>
        <a:p>
          <a:endParaRPr lang="en-US"/>
        </a:p>
      </dgm:t>
    </dgm:pt>
    <dgm:pt modelId="{95D39DE0-DDDD-4274-B138-8DEAB5117E05}" type="pres">
      <dgm:prSet presAssocID="{01AFB4A9-D79F-4E16-B3C5-E1B3F1624286}" presName="hierRoot3" presStyleCnt="0"/>
      <dgm:spPr/>
    </dgm:pt>
    <dgm:pt modelId="{B79E7ADD-001E-4B5B-A613-46CC1154C514}" type="pres">
      <dgm:prSet presAssocID="{01AFB4A9-D79F-4E16-B3C5-E1B3F1624286}" presName="composite3" presStyleCnt="0"/>
      <dgm:spPr/>
    </dgm:pt>
    <dgm:pt modelId="{EF357F38-6B60-468F-BB9D-635737593FD1}" type="pres">
      <dgm:prSet presAssocID="{01AFB4A9-D79F-4E16-B3C5-E1B3F1624286}" presName="background3" presStyleLbl="node3" presStyleIdx="2" presStyleCnt="3"/>
      <dgm:spPr/>
    </dgm:pt>
    <dgm:pt modelId="{0956CE1A-E2E8-4CBC-9E58-622B73289FE2}" type="pres">
      <dgm:prSet presAssocID="{01AFB4A9-D79F-4E16-B3C5-E1B3F1624286}" presName="text3" presStyleLbl="fgAcc3" presStyleIdx="2" presStyleCnt="3" custLinFactNeighborX="6429" custLinFactNeighborY="-1321">
        <dgm:presLayoutVars>
          <dgm:chPref val="3"/>
        </dgm:presLayoutVars>
      </dgm:prSet>
      <dgm:spPr/>
      <dgm:t>
        <a:bodyPr/>
        <a:lstStyle/>
        <a:p>
          <a:endParaRPr lang="en-US"/>
        </a:p>
      </dgm:t>
    </dgm:pt>
    <dgm:pt modelId="{22DC8005-51C0-42F7-A434-52E154176E63}" type="pres">
      <dgm:prSet presAssocID="{01AFB4A9-D79F-4E16-B3C5-E1B3F1624286}" presName="hierChild4" presStyleCnt="0"/>
      <dgm:spPr/>
    </dgm:pt>
    <dgm:pt modelId="{2478C563-2A9E-4C42-B486-03B85202D6B7}" type="pres">
      <dgm:prSet presAssocID="{DE446703-B2CB-4668-81C9-3016CF24A7AD}" presName="Name10" presStyleLbl="parChTrans1D2" presStyleIdx="1" presStyleCnt="4"/>
      <dgm:spPr/>
      <dgm:t>
        <a:bodyPr/>
        <a:lstStyle/>
        <a:p>
          <a:endParaRPr lang="en-US"/>
        </a:p>
      </dgm:t>
    </dgm:pt>
    <dgm:pt modelId="{AB670B8D-3614-48E4-AC21-1CBD172F563D}" type="pres">
      <dgm:prSet presAssocID="{6D605303-214D-4C6A-B052-12C622CD261A}" presName="hierRoot2" presStyleCnt="0"/>
      <dgm:spPr/>
    </dgm:pt>
    <dgm:pt modelId="{44E3E3E9-B957-48A6-A4FD-4EA65228ADE2}" type="pres">
      <dgm:prSet presAssocID="{6D605303-214D-4C6A-B052-12C622CD261A}" presName="composite2" presStyleCnt="0"/>
      <dgm:spPr/>
    </dgm:pt>
    <dgm:pt modelId="{D3CE11EE-0F77-43B7-8E06-F4E03481523E}" type="pres">
      <dgm:prSet presAssocID="{6D605303-214D-4C6A-B052-12C622CD261A}" presName="background2" presStyleLbl="node2" presStyleIdx="1" presStyleCnt="4"/>
      <dgm:spPr/>
    </dgm:pt>
    <dgm:pt modelId="{744B631B-531A-4247-8648-3D89DE38EA82}" type="pres">
      <dgm:prSet presAssocID="{6D605303-214D-4C6A-B052-12C622CD261A}" presName="text2" presStyleLbl="fgAcc2" presStyleIdx="1" presStyleCnt="4" custLinFactNeighborX="76712" custLinFactNeighborY="618">
        <dgm:presLayoutVars>
          <dgm:chPref val="3"/>
        </dgm:presLayoutVars>
      </dgm:prSet>
      <dgm:spPr/>
      <dgm:t>
        <a:bodyPr/>
        <a:lstStyle/>
        <a:p>
          <a:endParaRPr lang="en-US"/>
        </a:p>
      </dgm:t>
    </dgm:pt>
    <dgm:pt modelId="{B44349A7-10E5-4646-BD9E-445BDF59510B}" type="pres">
      <dgm:prSet presAssocID="{6D605303-214D-4C6A-B052-12C622CD261A}" presName="hierChild3" presStyleCnt="0"/>
      <dgm:spPr/>
    </dgm:pt>
    <dgm:pt modelId="{7A3C53B1-7618-43E5-B796-B97B40C8241C}" type="pres">
      <dgm:prSet presAssocID="{B20F2A3F-BE23-4F51-A2AF-14358879B4AD}" presName="Name10" presStyleLbl="parChTrans1D2" presStyleIdx="2" presStyleCnt="4"/>
      <dgm:spPr/>
      <dgm:t>
        <a:bodyPr/>
        <a:lstStyle/>
        <a:p>
          <a:endParaRPr lang="en-US"/>
        </a:p>
      </dgm:t>
    </dgm:pt>
    <dgm:pt modelId="{5DA2161C-BA9E-4E4C-8764-AD8BB3D8CAEB}" type="pres">
      <dgm:prSet presAssocID="{30EC267A-B0C4-4AA8-88EC-EB0E6A93012C}" presName="hierRoot2" presStyleCnt="0"/>
      <dgm:spPr/>
    </dgm:pt>
    <dgm:pt modelId="{BE3F53DD-8E8D-4191-AC21-09D51DDA323C}" type="pres">
      <dgm:prSet presAssocID="{30EC267A-B0C4-4AA8-88EC-EB0E6A93012C}" presName="composite2" presStyleCnt="0"/>
      <dgm:spPr/>
    </dgm:pt>
    <dgm:pt modelId="{70106605-91F1-4ED1-84B8-538B9BC5BCD4}" type="pres">
      <dgm:prSet presAssocID="{30EC267A-B0C4-4AA8-88EC-EB0E6A93012C}" presName="background2" presStyleLbl="node2" presStyleIdx="2" presStyleCnt="4"/>
      <dgm:spPr/>
    </dgm:pt>
    <dgm:pt modelId="{2B19AB6D-1CBF-4358-912E-7555DFB945C0}" type="pres">
      <dgm:prSet presAssocID="{30EC267A-B0C4-4AA8-88EC-EB0E6A93012C}" presName="text2" presStyleLbl="fgAcc2" presStyleIdx="2" presStyleCnt="4" custLinFactX="1259" custLinFactNeighborX="100000" custLinFactNeighborY="618">
        <dgm:presLayoutVars>
          <dgm:chPref val="3"/>
        </dgm:presLayoutVars>
      </dgm:prSet>
      <dgm:spPr/>
      <dgm:t>
        <a:bodyPr/>
        <a:lstStyle/>
        <a:p>
          <a:endParaRPr lang="en-US"/>
        </a:p>
      </dgm:t>
    </dgm:pt>
    <dgm:pt modelId="{167E8EA7-53DE-4130-9817-8FB5DF8B9B47}" type="pres">
      <dgm:prSet presAssocID="{30EC267A-B0C4-4AA8-88EC-EB0E6A93012C}" presName="hierChild3" presStyleCnt="0"/>
      <dgm:spPr/>
    </dgm:pt>
    <dgm:pt modelId="{7900F5E0-9669-402E-8A28-7A4F17D4FF98}" type="pres">
      <dgm:prSet presAssocID="{E43CE2E4-6C94-4013-B79C-A6B2FA34C5AA}" presName="Name10" presStyleLbl="parChTrans1D2" presStyleIdx="3" presStyleCnt="4"/>
      <dgm:spPr/>
      <dgm:t>
        <a:bodyPr/>
        <a:lstStyle/>
        <a:p>
          <a:endParaRPr lang="en-US"/>
        </a:p>
      </dgm:t>
    </dgm:pt>
    <dgm:pt modelId="{89B87EE2-14C7-4B68-BADF-CC564BE6B375}" type="pres">
      <dgm:prSet presAssocID="{4EF0F313-C054-4CFC-BE20-D6E8F80CE187}" presName="hierRoot2" presStyleCnt="0"/>
      <dgm:spPr/>
    </dgm:pt>
    <dgm:pt modelId="{B8A1D643-3CCB-41A0-8321-2E5286288E00}" type="pres">
      <dgm:prSet presAssocID="{4EF0F313-C054-4CFC-BE20-D6E8F80CE187}" presName="composite2" presStyleCnt="0"/>
      <dgm:spPr/>
    </dgm:pt>
    <dgm:pt modelId="{6B2CD006-AD3F-425D-9BED-274272522347}" type="pres">
      <dgm:prSet presAssocID="{4EF0F313-C054-4CFC-BE20-D6E8F80CE187}" presName="background2" presStyleLbl="node2" presStyleIdx="3" presStyleCnt="4"/>
      <dgm:spPr/>
    </dgm:pt>
    <dgm:pt modelId="{4D96CC27-F8F8-403E-AEBD-A7E608167EA6}" type="pres">
      <dgm:prSet presAssocID="{4EF0F313-C054-4CFC-BE20-D6E8F80CE187}" presName="text2" presStyleLbl="fgAcc2" presStyleIdx="3" presStyleCnt="4" custLinFactX="-205034" custLinFactNeighborX="-300000" custLinFactNeighborY="618">
        <dgm:presLayoutVars>
          <dgm:chPref val="3"/>
        </dgm:presLayoutVars>
      </dgm:prSet>
      <dgm:spPr/>
      <dgm:t>
        <a:bodyPr/>
        <a:lstStyle/>
        <a:p>
          <a:endParaRPr lang="en-US"/>
        </a:p>
      </dgm:t>
    </dgm:pt>
    <dgm:pt modelId="{41395731-3A13-4BDE-BE3F-A178EEA3C33F}" type="pres">
      <dgm:prSet presAssocID="{4EF0F313-C054-4CFC-BE20-D6E8F80CE187}" presName="hierChild3" presStyleCnt="0"/>
      <dgm:spPr/>
    </dgm:pt>
  </dgm:ptLst>
  <dgm:cxnLst>
    <dgm:cxn modelId="{067E820C-12AE-473C-B911-6A2643C8AEFF}" type="presOf" srcId="{F733EB52-3BAD-467F-8C69-6E001AF47EB4}" destId="{1C369FB1-9A91-4E5D-89D1-6FA53E826A70}" srcOrd="0" destOrd="0" presId="urn:microsoft.com/office/officeart/2005/8/layout/hierarchy1"/>
    <dgm:cxn modelId="{65775F6E-1849-4294-BA9D-F6FCC38F21C5}" type="presOf" srcId="{E9115647-82E1-4B80-B796-74C98910F84E}" destId="{C324947E-D26F-4D9F-9C5E-9F4A43F69594}" srcOrd="0" destOrd="0" presId="urn:microsoft.com/office/officeart/2005/8/layout/hierarchy1"/>
    <dgm:cxn modelId="{70578A19-7264-48AA-BD71-CF84069D53E0}" srcId="{F733EB52-3BAD-467F-8C69-6E001AF47EB4}" destId="{F61DAD39-5797-4C4D-803A-665819E8E419}" srcOrd="0" destOrd="0" parTransId="{16C71F75-936A-4729-A800-6C41FAE439CD}" sibTransId="{64525245-91BB-40D5-818A-DD9BE6154A16}"/>
    <dgm:cxn modelId="{396C7671-EB12-4F46-A293-9CD53BFA4DC1}" type="presOf" srcId="{F61DAD39-5797-4C4D-803A-665819E8E419}" destId="{157D7FD1-E631-4563-B2C5-64BB8074D8C6}" srcOrd="0" destOrd="0" presId="urn:microsoft.com/office/officeart/2005/8/layout/hierarchy1"/>
    <dgm:cxn modelId="{1A8F2A67-860E-4EC1-92C5-FDE2CE927825}" type="presOf" srcId="{B20F2A3F-BE23-4F51-A2AF-14358879B4AD}" destId="{7A3C53B1-7618-43E5-B796-B97B40C8241C}" srcOrd="0" destOrd="0" presId="urn:microsoft.com/office/officeart/2005/8/layout/hierarchy1"/>
    <dgm:cxn modelId="{DCB548E6-B7FB-435D-993D-7E3E209DB744}" type="presOf" srcId="{2DC526E9-44D6-47AC-B8D1-3101B6C07234}" destId="{0B238D7C-E759-40AD-83C5-4D2ED63F3C06}" srcOrd="0" destOrd="0" presId="urn:microsoft.com/office/officeart/2005/8/layout/hierarchy1"/>
    <dgm:cxn modelId="{E4AAC9CC-AC49-45A4-8E26-629054FE1953}" srcId="{69080F20-262B-43AE-B248-AE59E63E905A}" destId="{2F86BAD2-2C53-424B-A2A0-83CE1C7B5093}" srcOrd="1" destOrd="0" parTransId="{E9115647-82E1-4B80-B796-74C98910F84E}" sibTransId="{6FF2C2FC-A27F-4894-AFE2-3DBCF14DF2C5}"/>
    <dgm:cxn modelId="{CC3E2A0C-7BB7-41F5-8CE0-51F40118608C}" srcId="{F61DAD39-5797-4C4D-803A-665819E8E419}" destId="{69080F20-262B-43AE-B248-AE59E63E905A}" srcOrd="0" destOrd="0" parTransId="{00779553-0817-4E33-B537-4BA71749ABD1}" sibTransId="{17FC155B-5F38-49FD-87B6-45253FE16CF4}"/>
    <dgm:cxn modelId="{5A7AEE36-82A0-4240-B634-EDDD17816FD4}" srcId="{F61DAD39-5797-4C4D-803A-665819E8E419}" destId="{30EC267A-B0C4-4AA8-88EC-EB0E6A93012C}" srcOrd="2" destOrd="0" parTransId="{B20F2A3F-BE23-4F51-A2AF-14358879B4AD}" sibTransId="{9538F6C9-20F4-41EE-A8A5-EF099CA37E63}"/>
    <dgm:cxn modelId="{C9AEC937-DF92-42D6-AE3E-DC62A4560E4E}" srcId="{69080F20-262B-43AE-B248-AE59E63E905A}" destId="{2DC526E9-44D6-47AC-B8D1-3101B6C07234}" srcOrd="0" destOrd="0" parTransId="{8E4BE674-8CA6-468D-AAFD-D9111B062F56}" sibTransId="{6583020F-B87E-46CA-AEEA-DC46923A9EC2}"/>
    <dgm:cxn modelId="{F1923168-1A06-4163-BC4E-9D56FC9D7E6C}" type="presOf" srcId="{6D605303-214D-4C6A-B052-12C622CD261A}" destId="{744B631B-531A-4247-8648-3D89DE38EA82}" srcOrd="0" destOrd="0" presId="urn:microsoft.com/office/officeart/2005/8/layout/hierarchy1"/>
    <dgm:cxn modelId="{A2E7437F-EAE3-45E7-8FFA-1BFE07AAC439}" type="presOf" srcId="{01AFB4A9-D79F-4E16-B3C5-E1B3F1624286}" destId="{0956CE1A-E2E8-4CBC-9E58-622B73289FE2}" srcOrd="0" destOrd="0" presId="urn:microsoft.com/office/officeart/2005/8/layout/hierarchy1"/>
    <dgm:cxn modelId="{9BF6100D-2692-4A9E-92DC-8D93B6C22A71}" type="presOf" srcId="{DE446703-B2CB-4668-81C9-3016CF24A7AD}" destId="{2478C563-2A9E-4C42-B486-03B85202D6B7}" srcOrd="0" destOrd="0" presId="urn:microsoft.com/office/officeart/2005/8/layout/hierarchy1"/>
    <dgm:cxn modelId="{5F196CB9-ABF8-4224-94D5-3A3AF4BD9D99}" srcId="{F61DAD39-5797-4C4D-803A-665819E8E419}" destId="{4EF0F313-C054-4CFC-BE20-D6E8F80CE187}" srcOrd="3" destOrd="0" parTransId="{E43CE2E4-6C94-4013-B79C-A6B2FA34C5AA}" sibTransId="{7539DB97-C362-49F6-A973-4B28E598E531}"/>
    <dgm:cxn modelId="{3DECB308-3EE4-4008-897F-85FBF5FBD909}" srcId="{69080F20-262B-43AE-B248-AE59E63E905A}" destId="{01AFB4A9-D79F-4E16-B3C5-E1B3F1624286}" srcOrd="2" destOrd="0" parTransId="{BE2535D6-8C35-4759-9C43-D61F8568CAC9}" sibTransId="{2186716F-BEC5-4C1F-A37B-57CA7E249EDB}"/>
    <dgm:cxn modelId="{CA23B780-BE66-4C32-A23F-135635E0526B}" type="presOf" srcId="{2F86BAD2-2C53-424B-A2A0-83CE1C7B5093}" destId="{E2AFAFE3-0FD0-44BD-8E65-8BDEF3EB5295}" srcOrd="0" destOrd="0" presId="urn:microsoft.com/office/officeart/2005/8/layout/hierarchy1"/>
    <dgm:cxn modelId="{93E062D6-1A66-4D9D-894A-C98DA68D2841}" type="presOf" srcId="{69080F20-262B-43AE-B248-AE59E63E905A}" destId="{7E7717A4-186F-4761-AA16-6CF308FD93F4}" srcOrd="0" destOrd="0" presId="urn:microsoft.com/office/officeart/2005/8/layout/hierarchy1"/>
    <dgm:cxn modelId="{7A212716-D309-44A6-AA23-6EBAE49EFEDA}" type="presOf" srcId="{4EF0F313-C054-4CFC-BE20-D6E8F80CE187}" destId="{4D96CC27-F8F8-403E-AEBD-A7E608167EA6}" srcOrd="0" destOrd="0" presId="urn:microsoft.com/office/officeart/2005/8/layout/hierarchy1"/>
    <dgm:cxn modelId="{4E300A9A-73F9-456A-97F3-9F84EC311025}" type="presOf" srcId="{30EC267A-B0C4-4AA8-88EC-EB0E6A93012C}" destId="{2B19AB6D-1CBF-4358-912E-7555DFB945C0}" srcOrd="0" destOrd="0" presId="urn:microsoft.com/office/officeart/2005/8/layout/hierarchy1"/>
    <dgm:cxn modelId="{3F90BAB6-2D0C-4815-A78D-83A86352FFB1}" type="presOf" srcId="{00779553-0817-4E33-B537-4BA71749ABD1}" destId="{FFDC0265-8AF0-4715-86FA-42827C7534C0}" srcOrd="0" destOrd="0" presId="urn:microsoft.com/office/officeart/2005/8/layout/hierarchy1"/>
    <dgm:cxn modelId="{1720591E-DE62-46A3-93C3-0F649B103958}" type="presOf" srcId="{BE2535D6-8C35-4759-9C43-D61F8568CAC9}" destId="{31DF54CB-6B83-4B42-B56A-809BA657B69D}" srcOrd="0" destOrd="0" presId="urn:microsoft.com/office/officeart/2005/8/layout/hierarchy1"/>
    <dgm:cxn modelId="{BD9AFBB9-EF07-4AA7-B466-10CB9F479573}" srcId="{F61DAD39-5797-4C4D-803A-665819E8E419}" destId="{6D605303-214D-4C6A-B052-12C622CD261A}" srcOrd="1" destOrd="0" parTransId="{DE446703-B2CB-4668-81C9-3016CF24A7AD}" sibTransId="{1D982B90-BD8F-4706-9E92-B5BF3B260CD0}"/>
    <dgm:cxn modelId="{E09B70BF-6514-4D91-AE64-BDA2F426B31F}" type="presOf" srcId="{E43CE2E4-6C94-4013-B79C-A6B2FA34C5AA}" destId="{7900F5E0-9669-402E-8A28-7A4F17D4FF98}" srcOrd="0" destOrd="0" presId="urn:microsoft.com/office/officeart/2005/8/layout/hierarchy1"/>
    <dgm:cxn modelId="{8C1123D5-65BA-4C7E-BF88-5B029D213641}" type="presOf" srcId="{8E4BE674-8CA6-468D-AAFD-D9111B062F56}" destId="{E0562481-ADF4-4A0B-9D5A-2763AD621EA9}" srcOrd="0" destOrd="0" presId="urn:microsoft.com/office/officeart/2005/8/layout/hierarchy1"/>
    <dgm:cxn modelId="{C17C5CF1-99B6-403D-9667-6C79756B5DE3}" type="presParOf" srcId="{1C369FB1-9A91-4E5D-89D1-6FA53E826A70}" destId="{1A1957AF-4AEE-440E-9D04-7030EDBBD14A}" srcOrd="0" destOrd="0" presId="urn:microsoft.com/office/officeart/2005/8/layout/hierarchy1"/>
    <dgm:cxn modelId="{09C90099-8FF0-42F3-B21B-FD2F8D9901EF}" type="presParOf" srcId="{1A1957AF-4AEE-440E-9D04-7030EDBBD14A}" destId="{B0B95BEF-0E1F-49F2-A0D1-8F7208D9E05C}" srcOrd="0" destOrd="0" presId="urn:microsoft.com/office/officeart/2005/8/layout/hierarchy1"/>
    <dgm:cxn modelId="{3A377EE3-A132-47ED-9BDA-65B011B56CF0}" type="presParOf" srcId="{B0B95BEF-0E1F-49F2-A0D1-8F7208D9E05C}" destId="{FD41633F-FC97-443F-90E2-30BCE900F4AB}" srcOrd="0" destOrd="0" presId="urn:microsoft.com/office/officeart/2005/8/layout/hierarchy1"/>
    <dgm:cxn modelId="{39D562A0-FD00-4CCE-9F0C-20E11BF7B38B}" type="presParOf" srcId="{B0B95BEF-0E1F-49F2-A0D1-8F7208D9E05C}" destId="{157D7FD1-E631-4563-B2C5-64BB8074D8C6}" srcOrd="1" destOrd="0" presId="urn:microsoft.com/office/officeart/2005/8/layout/hierarchy1"/>
    <dgm:cxn modelId="{D7BA6B0E-E58C-4929-8E6E-FB71B38A0A79}" type="presParOf" srcId="{1A1957AF-4AEE-440E-9D04-7030EDBBD14A}" destId="{BD4E2759-648A-400A-88E2-01548AB3B3D1}" srcOrd="1" destOrd="0" presId="urn:microsoft.com/office/officeart/2005/8/layout/hierarchy1"/>
    <dgm:cxn modelId="{00B25FCA-3DA3-492D-9C50-94E1C23ED57B}" type="presParOf" srcId="{BD4E2759-648A-400A-88E2-01548AB3B3D1}" destId="{FFDC0265-8AF0-4715-86FA-42827C7534C0}" srcOrd="0" destOrd="0" presId="urn:microsoft.com/office/officeart/2005/8/layout/hierarchy1"/>
    <dgm:cxn modelId="{8F9BA516-9F44-4722-AEBA-E8B2F70BC18F}" type="presParOf" srcId="{BD4E2759-648A-400A-88E2-01548AB3B3D1}" destId="{0F718F04-E438-4949-8FA6-354D911F456A}" srcOrd="1" destOrd="0" presId="urn:microsoft.com/office/officeart/2005/8/layout/hierarchy1"/>
    <dgm:cxn modelId="{8C51918A-CB9B-4806-8A29-59017164ECB5}" type="presParOf" srcId="{0F718F04-E438-4949-8FA6-354D911F456A}" destId="{9EC92AF1-B0EA-4409-AB7C-38CBAA195EB1}" srcOrd="0" destOrd="0" presId="urn:microsoft.com/office/officeart/2005/8/layout/hierarchy1"/>
    <dgm:cxn modelId="{C46EEDA3-E18C-461F-8F65-5AE401A29117}" type="presParOf" srcId="{9EC92AF1-B0EA-4409-AB7C-38CBAA195EB1}" destId="{D638ACA7-B22E-45A5-A57A-8F57ED4BD177}" srcOrd="0" destOrd="0" presId="urn:microsoft.com/office/officeart/2005/8/layout/hierarchy1"/>
    <dgm:cxn modelId="{AB1D4AD0-07BB-48A3-9E13-B16FAF43DB63}" type="presParOf" srcId="{9EC92AF1-B0EA-4409-AB7C-38CBAA195EB1}" destId="{7E7717A4-186F-4761-AA16-6CF308FD93F4}" srcOrd="1" destOrd="0" presId="urn:microsoft.com/office/officeart/2005/8/layout/hierarchy1"/>
    <dgm:cxn modelId="{52B1A400-F2D2-4B67-836B-21DAD9759A7D}" type="presParOf" srcId="{0F718F04-E438-4949-8FA6-354D911F456A}" destId="{66E5D313-D9BC-4999-B10D-A96581BE74EA}" srcOrd="1" destOrd="0" presId="urn:microsoft.com/office/officeart/2005/8/layout/hierarchy1"/>
    <dgm:cxn modelId="{3E757AA6-D582-47EA-B162-8A762C95A7C2}" type="presParOf" srcId="{66E5D313-D9BC-4999-B10D-A96581BE74EA}" destId="{E0562481-ADF4-4A0B-9D5A-2763AD621EA9}" srcOrd="0" destOrd="0" presId="urn:microsoft.com/office/officeart/2005/8/layout/hierarchy1"/>
    <dgm:cxn modelId="{8F051662-ADF2-45A2-A172-BC81D4B12BB4}" type="presParOf" srcId="{66E5D313-D9BC-4999-B10D-A96581BE74EA}" destId="{4AEF7AC4-32F5-4E5F-91C4-DCE8623E58E1}" srcOrd="1" destOrd="0" presId="urn:microsoft.com/office/officeart/2005/8/layout/hierarchy1"/>
    <dgm:cxn modelId="{1E92F087-3D13-4489-8ED7-D1E205A463A7}" type="presParOf" srcId="{4AEF7AC4-32F5-4E5F-91C4-DCE8623E58E1}" destId="{B076B6BB-DA17-4E20-A200-3B2084FC96E5}" srcOrd="0" destOrd="0" presId="urn:microsoft.com/office/officeart/2005/8/layout/hierarchy1"/>
    <dgm:cxn modelId="{1A3E41BA-ECB6-42FF-8B02-F61D30ACBBE0}" type="presParOf" srcId="{B076B6BB-DA17-4E20-A200-3B2084FC96E5}" destId="{68493CDA-5F2C-4036-8D8F-E3B7B9357589}" srcOrd="0" destOrd="0" presId="urn:microsoft.com/office/officeart/2005/8/layout/hierarchy1"/>
    <dgm:cxn modelId="{C08E9464-404C-413D-80FE-DE9C43252EF4}" type="presParOf" srcId="{B076B6BB-DA17-4E20-A200-3B2084FC96E5}" destId="{0B238D7C-E759-40AD-83C5-4D2ED63F3C06}" srcOrd="1" destOrd="0" presId="urn:microsoft.com/office/officeart/2005/8/layout/hierarchy1"/>
    <dgm:cxn modelId="{6D12E853-3AA9-4549-AF12-979F6E082359}" type="presParOf" srcId="{4AEF7AC4-32F5-4E5F-91C4-DCE8623E58E1}" destId="{B2A3E281-CE9E-49EB-ABA2-0761780B7825}" srcOrd="1" destOrd="0" presId="urn:microsoft.com/office/officeart/2005/8/layout/hierarchy1"/>
    <dgm:cxn modelId="{0C7BFF7C-B193-462F-87A0-38FE1BF44FAC}" type="presParOf" srcId="{66E5D313-D9BC-4999-B10D-A96581BE74EA}" destId="{C324947E-D26F-4D9F-9C5E-9F4A43F69594}" srcOrd="2" destOrd="0" presId="urn:microsoft.com/office/officeart/2005/8/layout/hierarchy1"/>
    <dgm:cxn modelId="{CE27D2C9-80B9-4231-9CAB-6B036007A703}" type="presParOf" srcId="{66E5D313-D9BC-4999-B10D-A96581BE74EA}" destId="{81C4C49A-C1CA-4754-885E-C1E5492F8C98}" srcOrd="3" destOrd="0" presId="urn:microsoft.com/office/officeart/2005/8/layout/hierarchy1"/>
    <dgm:cxn modelId="{ABA2BEC5-017E-49BF-8566-C2D1322B723E}" type="presParOf" srcId="{81C4C49A-C1CA-4754-885E-C1E5492F8C98}" destId="{EE1AF56F-1A4C-408A-992B-662E8070CDEB}" srcOrd="0" destOrd="0" presId="urn:microsoft.com/office/officeart/2005/8/layout/hierarchy1"/>
    <dgm:cxn modelId="{B88A9E91-4579-4C28-8303-3EB7B9C3EDC9}" type="presParOf" srcId="{EE1AF56F-1A4C-408A-992B-662E8070CDEB}" destId="{A9C47620-7C30-429C-AC2F-9C4F76DAC8AC}" srcOrd="0" destOrd="0" presId="urn:microsoft.com/office/officeart/2005/8/layout/hierarchy1"/>
    <dgm:cxn modelId="{48C2CDDC-AA32-4B6B-88AC-C1365683016E}" type="presParOf" srcId="{EE1AF56F-1A4C-408A-992B-662E8070CDEB}" destId="{E2AFAFE3-0FD0-44BD-8E65-8BDEF3EB5295}" srcOrd="1" destOrd="0" presId="urn:microsoft.com/office/officeart/2005/8/layout/hierarchy1"/>
    <dgm:cxn modelId="{D04C5D41-785E-4B6D-82FE-002F68DB386E}" type="presParOf" srcId="{81C4C49A-C1CA-4754-885E-C1E5492F8C98}" destId="{F84F8BA7-F077-49D1-852E-17C544A50411}" srcOrd="1" destOrd="0" presId="urn:microsoft.com/office/officeart/2005/8/layout/hierarchy1"/>
    <dgm:cxn modelId="{323FAC21-8D16-43C9-AAF4-F5F72DEC266C}" type="presParOf" srcId="{66E5D313-D9BC-4999-B10D-A96581BE74EA}" destId="{31DF54CB-6B83-4B42-B56A-809BA657B69D}" srcOrd="4" destOrd="0" presId="urn:microsoft.com/office/officeart/2005/8/layout/hierarchy1"/>
    <dgm:cxn modelId="{FBA3B6C5-AEAE-4511-B173-114FC2B7EE27}" type="presParOf" srcId="{66E5D313-D9BC-4999-B10D-A96581BE74EA}" destId="{95D39DE0-DDDD-4274-B138-8DEAB5117E05}" srcOrd="5" destOrd="0" presId="urn:microsoft.com/office/officeart/2005/8/layout/hierarchy1"/>
    <dgm:cxn modelId="{2B0708A9-56AA-4445-9B8C-25AC9BC2B71C}" type="presParOf" srcId="{95D39DE0-DDDD-4274-B138-8DEAB5117E05}" destId="{B79E7ADD-001E-4B5B-A613-46CC1154C514}" srcOrd="0" destOrd="0" presId="urn:microsoft.com/office/officeart/2005/8/layout/hierarchy1"/>
    <dgm:cxn modelId="{22230D0F-8C0D-46C1-8501-A770785E61EB}" type="presParOf" srcId="{B79E7ADD-001E-4B5B-A613-46CC1154C514}" destId="{EF357F38-6B60-468F-BB9D-635737593FD1}" srcOrd="0" destOrd="0" presId="urn:microsoft.com/office/officeart/2005/8/layout/hierarchy1"/>
    <dgm:cxn modelId="{E509850F-0B5B-4F5E-B421-0A69EDDA3D09}" type="presParOf" srcId="{B79E7ADD-001E-4B5B-A613-46CC1154C514}" destId="{0956CE1A-E2E8-4CBC-9E58-622B73289FE2}" srcOrd="1" destOrd="0" presId="urn:microsoft.com/office/officeart/2005/8/layout/hierarchy1"/>
    <dgm:cxn modelId="{8EB8C7BA-26CB-4685-9407-43D92E7036CF}" type="presParOf" srcId="{95D39DE0-DDDD-4274-B138-8DEAB5117E05}" destId="{22DC8005-51C0-42F7-A434-52E154176E63}" srcOrd="1" destOrd="0" presId="urn:microsoft.com/office/officeart/2005/8/layout/hierarchy1"/>
    <dgm:cxn modelId="{EBA9A935-7C91-4D92-B845-EE9A986373C1}" type="presParOf" srcId="{BD4E2759-648A-400A-88E2-01548AB3B3D1}" destId="{2478C563-2A9E-4C42-B486-03B85202D6B7}" srcOrd="2" destOrd="0" presId="urn:microsoft.com/office/officeart/2005/8/layout/hierarchy1"/>
    <dgm:cxn modelId="{213B4AA7-D670-4F23-B61B-4A106D71B2EE}" type="presParOf" srcId="{BD4E2759-648A-400A-88E2-01548AB3B3D1}" destId="{AB670B8D-3614-48E4-AC21-1CBD172F563D}" srcOrd="3" destOrd="0" presId="urn:microsoft.com/office/officeart/2005/8/layout/hierarchy1"/>
    <dgm:cxn modelId="{1A759117-B4E0-4DD0-8E5B-4BB99DC8B7EA}" type="presParOf" srcId="{AB670B8D-3614-48E4-AC21-1CBD172F563D}" destId="{44E3E3E9-B957-48A6-A4FD-4EA65228ADE2}" srcOrd="0" destOrd="0" presId="urn:microsoft.com/office/officeart/2005/8/layout/hierarchy1"/>
    <dgm:cxn modelId="{1398DAB1-12A3-410C-BA8F-88161EE74639}" type="presParOf" srcId="{44E3E3E9-B957-48A6-A4FD-4EA65228ADE2}" destId="{D3CE11EE-0F77-43B7-8E06-F4E03481523E}" srcOrd="0" destOrd="0" presId="urn:microsoft.com/office/officeart/2005/8/layout/hierarchy1"/>
    <dgm:cxn modelId="{B4442CF4-DAB8-431C-BDA9-A9AA31F2A8BC}" type="presParOf" srcId="{44E3E3E9-B957-48A6-A4FD-4EA65228ADE2}" destId="{744B631B-531A-4247-8648-3D89DE38EA82}" srcOrd="1" destOrd="0" presId="urn:microsoft.com/office/officeart/2005/8/layout/hierarchy1"/>
    <dgm:cxn modelId="{5F9D739D-76E4-4672-A36F-1C9712D048F3}" type="presParOf" srcId="{AB670B8D-3614-48E4-AC21-1CBD172F563D}" destId="{B44349A7-10E5-4646-BD9E-445BDF59510B}" srcOrd="1" destOrd="0" presId="urn:microsoft.com/office/officeart/2005/8/layout/hierarchy1"/>
    <dgm:cxn modelId="{9CEF6BAA-8203-454A-9183-F1921D2A73DD}" type="presParOf" srcId="{BD4E2759-648A-400A-88E2-01548AB3B3D1}" destId="{7A3C53B1-7618-43E5-B796-B97B40C8241C}" srcOrd="4" destOrd="0" presId="urn:microsoft.com/office/officeart/2005/8/layout/hierarchy1"/>
    <dgm:cxn modelId="{0169917F-4405-4AD1-B1C5-869723BB2F64}" type="presParOf" srcId="{BD4E2759-648A-400A-88E2-01548AB3B3D1}" destId="{5DA2161C-BA9E-4E4C-8764-AD8BB3D8CAEB}" srcOrd="5" destOrd="0" presId="urn:microsoft.com/office/officeart/2005/8/layout/hierarchy1"/>
    <dgm:cxn modelId="{1546E57D-D735-4F8D-A44D-DA871302CD48}" type="presParOf" srcId="{5DA2161C-BA9E-4E4C-8764-AD8BB3D8CAEB}" destId="{BE3F53DD-8E8D-4191-AC21-09D51DDA323C}" srcOrd="0" destOrd="0" presId="urn:microsoft.com/office/officeart/2005/8/layout/hierarchy1"/>
    <dgm:cxn modelId="{AB4A9DB4-47F5-41A0-BD2F-4464DBE158BD}" type="presParOf" srcId="{BE3F53DD-8E8D-4191-AC21-09D51DDA323C}" destId="{70106605-91F1-4ED1-84B8-538B9BC5BCD4}" srcOrd="0" destOrd="0" presId="urn:microsoft.com/office/officeart/2005/8/layout/hierarchy1"/>
    <dgm:cxn modelId="{BFB99945-45BF-4400-B0DD-CAE83EC35E57}" type="presParOf" srcId="{BE3F53DD-8E8D-4191-AC21-09D51DDA323C}" destId="{2B19AB6D-1CBF-4358-912E-7555DFB945C0}" srcOrd="1" destOrd="0" presId="urn:microsoft.com/office/officeart/2005/8/layout/hierarchy1"/>
    <dgm:cxn modelId="{77166E2A-27B8-4762-8A7D-8EDC3D54ABBE}" type="presParOf" srcId="{5DA2161C-BA9E-4E4C-8764-AD8BB3D8CAEB}" destId="{167E8EA7-53DE-4130-9817-8FB5DF8B9B47}" srcOrd="1" destOrd="0" presId="urn:microsoft.com/office/officeart/2005/8/layout/hierarchy1"/>
    <dgm:cxn modelId="{505703C2-BB4D-48AD-A590-7484829830E5}" type="presParOf" srcId="{BD4E2759-648A-400A-88E2-01548AB3B3D1}" destId="{7900F5E0-9669-402E-8A28-7A4F17D4FF98}" srcOrd="6" destOrd="0" presId="urn:microsoft.com/office/officeart/2005/8/layout/hierarchy1"/>
    <dgm:cxn modelId="{19D37478-E2B7-4423-B6EF-B5D59B4A7790}" type="presParOf" srcId="{BD4E2759-648A-400A-88E2-01548AB3B3D1}" destId="{89B87EE2-14C7-4B68-BADF-CC564BE6B375}" srcOrd="7" destOrd="0" presId="urn:microsoft.com/office/officeart/2005/8/layout/hierarchy1"/>
    <dgm:cxn modelId="{1C8A54A5-4F53-42EB-A268-B1EC8A50F8E3}" type="presParOf" srcId="{89B87EE2-14C7-4B68-BADF-CC564BE6B375}" destId="{B8A1D643-3CCB-41A0-8321-2E5286288E00}" srcOrd="0" destOrd="0" presId="urn:microsoft.com/office/officeart/2005/8/layout/hierarchy1"/>
    <dgm:cxn modelId="{861FE6EB-426E-4D5F-AB78-E25FEA93503E}" type="presParOf" srcId="{B8A1D643-3CCB-41A0-8321-2E5286288E00}" destId="{6B2CD006-AD3F-425D-9BED-274272522347}" srcOrd="0" destOrd="0" presId="urn:microsoft.com/office/officeart/2005/8/layout/hierarchy1"/>
    <dgm:cxn modelId="{50950FE7-C9DC-4354-A627-7C03D192C39B}" type="presParOf" srcId="{B8A1D643-3CCB-41A0-8321-2E5286288E00}" destId="{4D96CC27-F8F8-403E-AEBD-A7E608167EA6}" srcOrd="1" destOrd="0" presId="urn:microsoft.com/office/officeart/2005/8/layout/hierarchy1"/>
    <dgm:cxn modelId="{EAD821C2-5E2D-499B-92F0-EA015143A16E}" type="presParOf" srcId="{89B87EE2-14C7-4B68-BADF-CC564BE6B375}" destId="{41395731-3A13-4BDE-BE3F-A178EEA3C33F}" srcOrd="1" destOrd="0" presId="urn:microsoft.com/office/officeart/2005/8/layout/hierarchy1"/>
  </dgm:cxnLst>
  <dgm:bg/>
  <dgm:whole/>
</dgm:dataModel>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image" Target="../media/image26.wmf"/><Relationship Id="rId1" Type="http://schemas.openxmlformats.org/officeDocument/2006/relationships/image" Target="../media/image25.emf"/><Relationship Id="rId6" Type="http://schemas.openxmlformats.org/officeDocument/2006/relationships/image" Target="../media/image30.wmf"/><Relationship Id="rId5" Type="http://schemas.openxmlformats.org/officeDocument/2006/relationships/image" Target="../media/image29.emf"/><Relationship Id="rId4"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C5532496-DC63-48DF-AF1C-5F21B263E0B8}" type="datetimeFigureOut">
              <a:rPr lang="en-US" smtClean="0"/>
              <a:pPr/>
              <a:t>3/26/2026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E9A9A5C-CBDD-41F5-A5B3-B27F3B0BFDC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noChangeArrowheads="1"/>
          </p:cNvSpPr>
          <p:nvPr/>
        </p:nvSpPr>
        <p:spPr bwMode="auto">
          <a:xfrm>
            <a:off x="4144619" y="9120976"/>
            <a:ext cx="3170582" cy="480225"/>
          </a:xfrm>
          <a:prstGeom prst="rect">
            <a:avLst/>
          </a:prstGeom>
          <a:noFill/>
          <a:ln w="9525">
            <a:noFill/>
            <a:miter lim="800000"/>
            <a:headEnd/>
            <a:tailEnd/>
          </a:ln>
        </p:spPr>
        <p:txBody>
          <a:bodyPr lIns="96990" tIns="48497" rIns="96990" bIns="48497" anchor="b"/>
          <a:lstStyle/>
          <a:p>
            <a:pPr algn="r" defTabSz="970072" eaLnBrk="0" hangingPunct="0"/>
            <a:fld id="{02F1AB1C-5595-4A38-8DCC-0643FC80AAF6}" type="slidenum">
              <a:rPr lang="en-US" sz="1300">
                <a:latin typeface="Times New Roman" pitchFamily="18" charset="0"/>
              </a:rPr>
              <a:pPr algn="r" defTabSz="970072" eaLnBrk="0" hangingPunct="0"/>
              <a:t>1</a:t>
            </a:fld>
            <a:endParaRPr lang="en-US" sz="1300" dirty="0">
              <a:latin typeface="Times New Roman" pitchFamily="18" charset="0"/>
            </a:endParaRPr>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8"/>
          <p:cNvSpPr>
            <a:spLocks noGrp="1" noChangeArrowheads="1"/>
          </p:cNvSpPr>
          <p:nvPr>
            <p:ph type="sldNum"/>
          </p:nvPr>
        </p:nvSpPr>
        <p:spPr>
          <a:ln/>
        </p:spPr>
        <p:txBody>
          <a:bodyPr/>
          <a:lstStyle/>
          <a:p>
            <a:fld id="{11B29CA9-DFAB-4C06-A9D3-0556EA5ECFAB}" type="slidenum">
              <a:rPr lang="en-US"/>
              <a:pPr/>
              <a:t>2</a:t>
            </a:fld>
            <a:endParaRPr lang="en-US"/>
          </a:p>
        </p:txBody>
      </p:sp>
      <p:sp>
        <p:nvSpPr>
          <p:cNvPr id="158721" name="Text Box 1"/>
          <p:cNvSpPr txBox="1">
            <a:spLocks noChangeArrowheads="1"/>
          </p:cNvSpPr>
          <p:nvPr/>
        </p:nvSpPr>
        <p:spPr bwMode="auto">
          <a:xfrm>
            <a:off x="4143587" y="9119473"/>
            <a:ext cx="3168226" cy="478393"/>
          </a:xfrm>
          <a:prstGeom prst="rect">
            <a:avLst/>
          </a:prstGeom>
          <a:noFill/>
          <a:ln w="9525">
            <a:noFill/>
            <a:round/>
            <a:headEnd/>
            <a:tailEnd/>
          </a:ln>
          <a:effectLst/>
        </p:spPr>
        <p:txBody>
          <a:bodyPr lIns="93702" tIns="48725" rIns="93702" bIns="48725" anchor="b"/>
          <a:lstStyle/>
          <a:p>
            <a:pPr algn="r">
              <a:tabLst>
                <a:tab pos="0" algn="l"/>
                <a:tab pos="466091" algn="l"/>
                <a:tab pos="933836" algn="l"/>
                <a:tab pos="1401579" algn="l"/>
                <a:tab pos="1869325" algn="l"/>
                <a:tab pos="2337068" algn="l"/>
                <a:tab pos="2804813" algn="l"/>
                <a:tab pos="3272556" algn="l"/>
                <a:tab pos="3740301" algn="l"/>
                <a:tab pos="4208044" algn="l"/>
                <a:tab pos="4675789" algn="l"/>
                <a:tab pos="5143533" algn="l"/>
                <a:tab pos="5611278" algn="l"/>
                <a:tab pos="6079022" algn="l"/>
                <a:tab pos="6546766" algn="l"/>
                <a:tab pos="7014510" algn="l"/>
                <a:tab pos="7482254" algn="l"/>
                <a:tab pos="7949998" algn="l"/>
                <a:tab pos="8417742" algn="l"/>
                <a:tab pos="8885487" algn="l"/>
                <a:tab pos="9353231" algn="l"/>
              </a:tabLst>
            </a:pPr>
            <a:fld id="{224C263F-C648-4D12-9CED-BFE79998023A}" type="slidenum">
              <a:rPr lang="en-US" sz="1300">
                <a:solidFill>
                  <a:srgbClr val="000000"/>
                </a:solidFill>
                <a:latin typeface="Times New Roman" pitchFamily="16" charset="0"/>
              </a:rPr>
              <a:pPr algn="r">
                <a:tabLst>
                  <a:tab pos="0" algn="l"/>
                  <a:tab pos="466091" algn="l"/>
                  <a:tab pos="933836" algn="l"/>
                  <a:tab pos="1401579" algn="l"/>
                  <a:tab pos="1869325" algn="l"/>
                  <a:tab pos="2337068" algn="l"/>
                  <a:tab pos="2804813" algn="l"/>
                  <a:tab pos="3272556" algn="l"/>
                  <a:tab pos="3740301" algn="l"/>
                  <a:tab pos="4208044" algn="l"/>
                  <a:tab pos="4675789" algn="l"/>
                  <a:tab pos="5143533" algn="l"/>
                  <a:tab pos="5611278" algn="l"/>
                  <a:tab pos="6079022" algn="l"/>
                  <a:tab pos="6546766" algn="l"/>
                  <a:tab pos="7014510" algn="l"/>
                  <a:tab pos="7482254" algn="l"/>
                  <a:tab pos="7949998" algn="l"/>
                  <a:tab pos="8417742" algn="l"/>
                  <a:tab pos="8885487" algn="l"/>
                  <a:tab pos="9353231" algn="l"/>
                </a:tabLst>
              </a:pPr>
              <a:t>2</a:t>
            </a:fld>
            <a:endParaRPr lang="en-US" sz="1300" dirty="0">
              <a:solidFill>
                <a:srgbClr val="000000"/>
              </a:solidFill>
              <a:latin typeface="Times New Roman" pitchFamily="16" charset="0"/>
            </a:endParaRPr>
          </a:p>
        </p:txBody>
      </p:sp>
      <p:sp>
        <p:nvSpPr>
          <p:cNvPr id="158722" name="Rectangle 2"/>
          <p:cNvSpPr txBox="1">
            <a:spLocks noGrp="1" noRot="1" noChangeAspect="1" noChangeArrowheads="1"/>
          </p:cNvSpPr>
          <p:nvPr>
            <p:ph type="sldImg"/>
          </p:nvPr>
        </p:nvSpPr>
        <p:spPr bwMode="auto">
          <a:xfrm>
            <a:off x="1255713" y="719138"/>
            <a:ext cx="4803775" cy="3602037"/>
          </a:xfrm>
          <a:prstGeom prst="rect">
            <a:avLst/>
          </a:prstGeom>
          <a:solidFill>
            <a:srgbClr val="FFFFFF"/>
          </a:solidFill>
          <a:ln>
            <a:solidFill>
              <a:srgbClr val="000000"/>
            </a:solidFill>
            <a:miter lim="800000"/>
            <a:headEnd/>
            <a:tailEnd/>
          </a:ln>
        </p:spPr>
      </p:sp>
      <p:sp>
        <p:nvSpPr>
          <p:cNvPr id="158723" name="Rectangle 3"/>
          <p:cNvSpPr txBox="1">
            <a:spLocks noGrp="1" noChangeArrowheads="1"/>
          </p:cNvSpPr>
          <p:nvPr>
            <p:ph type="body" idx="1"/>
          </p:nvPr>
        </p:nvSpPr>
        <p:spPr bwMode="auto">
          <a:xfrm>
            <a:off x="731520" y="4560570"/>
            <a:ext cx="5852160" cy="4320540"/>
          </a:xfrm>
          <a:prstGeom prst="rect">
            <a:avLst/>
          </a:prstGeom>
          <a:noFill/>
          <a:ln>
            <a:round/>
            <a:headEnd/>
            <a:tailEnd/>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p:spPr>
        <p:txBody>
          <a:bodyPr/>
          <a:lstStyle/>
          <a:p>
            <a:fld id="{6C849CA9-6D3C-40B3-A5A2-7D92C76BDF2B}" type="slidenum">
              <a:rPr lang="en-US"/>
              <a:pPr/>
              <a:t>6</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p:spPr>
        <p:txBody>
          <a:bodyPr/>
          <a:lstStyle/>
          <a:p>
            <a:fld id="{6C849CA9-6D3C-40B3-A5A2-7D92C76BDF2B}" type="slidenum">
              <a:rPr lang="en-US"/>
              <a:pPr/>
              <a:t>7</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p:spPr>
        <p:txBody>
          <a:bodyPr/>
          <a:lstStyle/>
          <a:p>
            <a:fld id="{F5D06F73-798A-4084-91E1-CB5AF5B47CD3}" type="slidenum">
              <a:rPr lang="en-US"/>
              <a:pPr/>
              <a:t>8</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a:ln/>
        </p:spPr>
      </p:sp>
      <p:sp>
        <p:nvSpPr>
          <p:cNvPr id="64514" name="Notes Placeholder 2"/>
          <p:cNvSpPr>
            <a:spLocks noGrp="1"/>
          </p:cNvSpPr>
          <p:nvPr>
            <p:ph type="body" idx="1"/>
          </p:nvPr>
        </p:nvSpPr>
        <p:spPr>
          <a:noFill/>
          <a:ln/>
        </p:spPr>
        <p:txBody>
          <a:bodyPr/>
          <a:lstStyle/>
          <a:p>
            <a:endParaRPr lang="en-US" smtClean="0"/>
          </a:p>
        </p:txBody>
      </p:sp>
      <p:sp>
        <p:nvSpPr>
          <p:cNvPr id="64515" name="Slide Number Placeholder 3"/>
          <p:cNvSpPr>
            <a:spLocks noGrp="1"/>
          </p:cNvSpPr>
          <p:nvPr>
            <p:ph type="sldNum" sz="quarter" idx="5"/>
          </p:nvPr>
        </p:nvSpPr>
        <p:spPr>
          <a:noFill/>
        </p:spPr>
        <p:txBody>
          <a:bodyPr/>
          <a:lstStyle/>
          <a:p>
            <a:fld id="{4DD33E7C-4202-4A26-B7C4-2DE31E30D87A}" type="slidenum">
              <a:rPr lang="en-US"/>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p:spPr>
        <p:txBody>
          <a:bodyPr/>
          <a:lstStyle/>
          <a:p>
            <a:fld id="{69DE74DA-F902-4260-80D8-FB45BB1DB08B}" type="slidenum">
              <a:rPr lang="en-US"/>
              <a:pPr/>
              <a:t>28</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p:spPr>
        <p:txBody>
          <a:bodyPr/>
          <a:lstStyle/>
          <a:p>
            <a:r>
              <a:rPr lang="en-US" smtClean="0"/>
              <a:t>I : the expected information needed to classify a given sample</a:t>
            </a:r>
          </a:p>
          <a:p>
            <a:r>
              <a:rPr lang="en-US" smtClean="0"/>
              <a:t>E (entropy) : expected information based on the partitioning into subsets by A</a:t>
            </a:r>
          </a:p>
          <a:p>
            <a:r>
              <a:rPr lang="en-US" smtClean="0"/>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p:spPr>
        <p:txBody>
          <a:bodyPr/>
          <a:lstStyle/>
          <a:p>
            <a:fld id="{0AD1B538-36AC-40EA-8A9C-1136C4B9AFCB}" type="slidenum">
              <a:rPr lang="en-US"/>
              <a:pPr/>
              <a:t>29</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p:spPr>
        <p:txBody>
          <a:bodyPr/>
          <a:lstStyle/>
          <a:p>
            <a:fld id="{3F5F1A86-E169-4AC1-B010-8FBB0F10EF64}" type="slidenum">
              <a:rPr lang="en-US"/>
              <a:pPr/>
              <a:t>30</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p:spPr>
        <p:txBody>
          <a:bodyPr/>
          <a:lstStyle/>
          <a:p>
            <a:fld id="{9BC85AF2-89CD-4047-B89A-632FB0B082A8}" type="slidenum">
              <a:rPr lang="en-US"/>
              <a:pPr/>
              <a:t>34</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p:spPr>
        <p:txBody>
          <a:bodyPr/>
          <a:lstStyle/>
          <a:p>
            <a:fld id="{BB752F87-4D2D-4046-BEAB-575E3B1EF1CB}" type="slidenum">
              <a:rPr lang="en-US"/>
              <a:pPr/>
              <a:t>43</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a:noFill/>
        </p:spPr>
        <p:txBody>
          <a:bodyPr/>
          <a:lstStyle/>
          <a:p>
            <a:fld id="{F6D074EB-2BDD-4F89-B913-80CBA9227352}" type="slidenum">
              <a:rPr lang="en-US"/>
              <a:pPr/>
              <a:t>79</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noRot="1" noChangeAspect="1" noChangeArrowheads="1" noTextEdit="1"/>
          </p:cNvSpPr>
          <p:nvPr>
            <p:ph type="sldImg"/>
          </p:nvPr>
        </p:nvSpPr>
        <p:spPr>
          <a:xfrm>
            <a:off x="1255713" y="719138"/>
            <a:ext cx="4803775" cy="3602037"/>
          </a:xfrm>
          <a:ln/>
        </p:spPr>
      </p:sp>
      <p:sp>
        <p:nvSpPr>
          <p:cNvPr id="12390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BED7873-E921-4CB3-A884-C7453D44CE9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ED7873-E921-4CB3-A884-C7453D44CE9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ED7873-E921-4CB3-A884-C7453D44CE9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BED7873-E921-4CB3-A884-C7453D44CE9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BED7873-E921-4CB3-A884-C7453D44CE99}"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BED7873-E921-4CB3-A884-C7453D44CE99}"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ED7873-E921-4CB3-A884-C7453D44CE9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ED7873-E921-4CB3-A884-C7453D44CE9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ED7873-E921-4CB3-A884-C7453D44CE9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ED7873-E921-4CB3-A884-C7453D44CE9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ED7873-E921-4CB3-A884-C7453D44CE9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52CAC-CF0F-4C8B-87D4-D1F555CEFBD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371600"/>
            <a:ext cx="41529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10100" y="13716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10100" y="40005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061"/>
          <p:cNvSpPr>
            <a:spLocks noGrp="1" noChangeArrowheads="1"/>
          </p:cNvSpPr>
          <p:nvPr>
            <p:ph type="sldNum" sz="quarter" idx="10"/>
          </p:nvPr>
        </p:nvSpPr>
        <p:spPr>
          <a:ln/>
        </p:spPr>
        <p:txBody>
          <a:bodyPr/>
          <a:lstStyle>
            <a:lvl1pPr>
              <a:defRPr/>
            </a:lvl1pPr>
          </a:lstStyle>
          <a:p>
            <a:fld id="{3AE7F48D-0AE6-4E48-9F98-0F65A0174925}" type="slidenum">
              <a:rPr lang="en-US"/>
              <a:pPr/>
              <a:t>‹#›</a:t>
            </a:fld>
            <a:endParaRPr lang="en-US"/>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371600"/>
            <a:ext cx="41529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1529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61"/>
          <p:cNvSpPr>
            <a:spLocks noGrp="1" noChangeArrowheads="1"/>
          </p:cNvSpPr>
          <p:nvPr>
            <p:ph type="sldNum" sz="quarter" idx="10"/>
          </p:nvPr>
        </p:nvSpPr>
        <p:spPr>
          <a:ln/>
        </p:spPr>
        <p:txBody>
          <a:bodyPr/>
          <a:lstStyle>
            <a:lvl1pPr>
              <a:defRPr/>
            </a:lvl1pPr>
          </a:lstStyle>
          <a:p>
            <a:fld id="{7312E291-2DE2-41AB-89C6-59201C6AAB75}" type="slidenum">
              <a:rPr lang="en-US"/>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ED7873-E921-4CB3-A884-C7453D44CE99}" type="datetimeFigureOut">
              <a:rPr lang="en-US" smtClean="0"/>
              <a:pPr/>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52CAC-CF0F-4C8B-87D4-D1F555CEFBD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oleObject" Target="../embeddings/Microsoft_Office_Excel_97-2003_Worksheet1.xls"/></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oleObject" Target="../embeddings/Microsoft_Office_Excel_97-2003_Worksheet2.xls"/></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books.google.de/books/about/Mathematical_Foundations_of_Information.html?id=0uvKF-LT_tMC&amp;redir_esc=y"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Microsoft_Office_Excel_97-2003_Worksheet4.xls"/><Relationship Id="rId3" Type="http://schemas.openxmlformats.org/officeDocument/2006/relationships/notesSlide" Target="../notesSlides/notesSlide8.xml"/><Relationship Id="rId7"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oleObject" Target="../embeddings/oleObject4.bin"/><Relationship Id="rId10" Type="http://schemas.openxmlformats.org/officeDocument/2006/relationships/oleObject" Target="../embeddings/oleObject8.bin"/><Relationship Id="rId4" Type="http://schemas.openxmlformats.org/officeDocument/2006/relationships/oleObject" Target="../embeddings/Microsoft_Office_Excel_97-2003_Worksheet3.xls"/><Relationship Id="rId9" Type="http://schemas.openxmlformats.org/officeDocument/2006/relationships/oleObject" Target="../embeddings/oleObject7.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hyperlink" Target="https://en.wikipedia.org/wiki/Frequency_distribution" TargetMode="External"/><Relationship Id="rId2" Type="http://schemas.openxmlformats.org/officeDocument/2006/relationships/hyperlink" Target="https://en.wikipedia.org/wiki/Economic_inequality" TargetMode="External"/><Relationship Id="rId1" Type="http://schemas.openxmlformats.org/officeDocument/2006/relationships/slideLayout" Target="../slideLayouts/slideLayout2.xml"/><Relationship Id="rId4" Type="http://schemas.openxmlformats.org/officeDocument/2006/relationships/hyperlink" Target="https://en.wikipedia.org/wiki/Income"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emf"/><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8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emf"/><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90.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6"/>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1529C395-B24B-4949-B408-C93E53E4C7FD}" type="slidenum">
              <a:rPr lang="en-US" sz="1400" b="1">
                <a:latin typeface="Calibri" pitchFamily="34" charset="0"/>
              </a:rPr>
              <a:pPr algn="r"/>
              <a:t>1</a:t>
            </a:fld>
            <a:endParaRPr lang="en-US" sz="1400" b="1" dirty="0">
              <a:latin typeface="Calibri" pitchFamily="34" charset="0"/>
            </a:endParaRPr>
          </a:p>
        </p:txBody>
      </p:sp>
      <p:sp>
        <p:nvSpPr>
          <p:cNvPr id="22530" name="Rectangle 2"/>
          <p:cNvSpPr>
            <a:spLocks noGrp="1" noChangeArrowheads="1"/>
          </p:cNvSpPr>
          <p:nvPr>
            <p:ph type="title"/>
          </p:nvPr>
        </p:nvSpPr>
        <p:spPr>
          <a:xfrm>
            <a:off x="0" y="381000"/>
            <a:ext cx="9144000" cy="609600"/>
          </a:xfrm>
          <a:noFill/>
        </p:spPr>
        <p:txBody>
          <a:bodyPr lIns="92075" tIns="46038" rIns="92075" bIns="46038" anchor="ctr">
            <a:normAutofit fontScale="90000"/>
          </a:bodyPr>
          <a:lstStyle/>
          <a:p>
            <a:pPr eaLnBrk="1" hangingPunct="1"/>
            <a:r>
              <a:rPr lang="en-US" dirty="0" smtClean="0"/>
              <a:t>Classification Model</a:t>
            </a:r>
          </a:p>
        </p:txBody>
      </p:sp>
      <p:sp>
        <p:nvSpPr>
          <p:cNvPr id="22531" name="Rectangle 3"/>
          <p:cNvSpPr>
            <a:spLocks noGrp="1" noChangeArrowheads="1"/>
          </p:cNvSpPr>
          <p:nvPr>
            <p:ph type="body" sz="half" idx="1"/>
          </p:nvPr>
        </p:nvSpPr>
        <p:spPr>
          <a:xfrm>
            <a:off x="304800" y="1447800"/>
            <a:ext cx="8382000" cy="5105400"/>
          </a:xfrm>
          <a:noFill/>
        </p:spPr>
        <p:txBody>
          <a:bodyPr lIns="92075" tIns="46038" rIns="92075" bIns="46038">
            <a:normAutofit lnSpcReduction="10000"/>
          </a:bodyPr>
          <a:lstStyle/>
          <a:p>
            <a:pPr>
              <a:lnSpc>
                <a:spcPct val="130000"/>
              </a:lnSpc>
            </a:pPr>
            <a:r>
              <a:rPr lang="en-US" dirty="0" smtClean="0"/>
              <a:t>Classification: Basic Concepts</a:t>
            </a:r>
          </a:p>
          <a:p>
            <a:pPr>
              <a:lnSpc>
                <a:spcPct val="130000"/>
              </a:lnSpc>
            </a:pPr>
            <a:r>
              <a:rPr lang="en-US" dirty="0" smtClean="0"/>
              <a:t>Rule-Based Classification</a:t>
            </a:r>
          </a:p>
          <a:p>
            <a:pPr>
              <a:lnSpc>
                <a:spcPct val="130000"/>
              </a:lnSpc>
            </a:pPr>
            <a:r>
              <a:rPr lang="en-US" dirty="0" smtClean="0"/>
              <a:t>Decision Tree Induction</a:t>
            </a:r>
          </a:p>
          <a:p>
            <a:pPr>
              <a:lnSpc>
                <a:spcPct val="130000"/>
              </a:lnSpc>
            </a:pPr>
            <a:r>
              <a:rPr lang="en-US" dirty="0" err="1" smtClean="0"/>
              <a:t>Bayes</a:t>
            </a:r>
            <a:r>
              <a:rPr lang="en-US" dirty="0" smtClean="0"/>
              <a:t> Classification Methods</a:t>
            </a:r>
          </a:p>
          <a:p>
            <a:pPr>
              <a:lnSpc>
                <a:spcPct val="130000"/>
              </a:lnSpc>
            </a:pPr>
            <a:r>
              <a:rPr lang="en-IN" dirty="0" err="1" smtClean="0"/>
              <a:t>kNN</a:t>
            </a:r>
            <a:r>
              <a:rPr lang="en-IN" dirty="0" smtClean="0"/>
              <a:t> Classifier</a:t>
            </a:r>
            <a:endParaRPr lang="en-US" dirty="0" smtClean="0"/>
          </a:p>
          <a:p>
            <a:pPr>
              <a:lnSpc>
                <a:spcPct val="130000"/>
              </a:lnSpc>
            </a:pPr>
            <a:r>
              <a:rPr lang="en-US" dirty="0" smtClean="0"/>
              <a:t>Performance Evaluation</a:t>
            </a:r>
          </a:p>
          <a:p>
            <a:pPr>
              <a:lnSpc>
                <a:spcPct val="130000"/>
              </a:lnSpc>
            </a:pPr>
            <a:r>
              <a:rPr lang="en-US" dirty="0" smtClean="0"/>
              <a:t>Ensemble Classification</a:t>
            </a:r>
          </a:p>
          <a:p>
            <a:pPr>
              <a:lnSpc>
                <a:spcPct val="130000"/>
              </a:lnSpc>
            </a:pPr>
            <a:r>
              <a:rPr lang="en-US" dirty="0" smtClean="0"/>
              <a:t>Summary</a:t>
            </a:r>
          </a:p>
        </p:txBody>
      </p:sp>
      <p:sp>
        <p:nvSpPr>
          <p:cNvPr id="22532" name="AutoShape 8"/>
          <p:cNvSpPr>
            <a:spLocks noChangeArrowheads="1"/>
          </p:cNvSpPr>
          <p:nvPr/>
        </p:nvSpPr>
        <p:spPr bwMode="auto">
          <a:xfrm rot="9803581">
            <a:off x="4386721" y="2659078"/>
            <a:ext cx="533400" cy="381000"/>
          </a:xfrm>
          <a:prstGeom prst="notchedRightArrow">
            <a:avLst>
              <a:gd name="adj1" fmla="val 50000"/>
              <a:gd name="adj2" fmla="val 35000"/>
            </a:avLst>
          </a:prstGeom>
          <a:solidFill>
            <a:srgbClr val="FF9900"/>
          </a:solidFill>
          <a:ln w="9525">
            <a:solidFill>
              <a:schemeClr val="tx1"/>
            </a:solidFill>
            <a:miter lim="800000"/>
            <a:headEnd/>
            <a:tailEnd/>
          </a:ln>
        </p:spPr>
        <p:txBody>
          <a:bodyPr rot="10800000" wrap="none" anchor="ctr"/>
          <a:lstStyle/>
          <a:p>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1"/>
          <p:cNvSpPr txBox="1">
            <a:spLocks noChangeArrowheads="1"/>
          </p:cNvSpPr>
          <p:nvPr/>
        </p:nvSpPr>
        <p:spPr bwMode="auto">
          <a:xfrm>
            <a:off x="457200" y="320675"/>
            <a:ext cx="7239000" cy="1143000"/>
          </a:xfrm>
          <a:prstGeom prst="rect">
            <a:avLst/>
          </a:prstGeom>
          <a:noFill/>
          <a:ln w="9525">
            <a:noFill/>
            <a:round/>
            <a:headEnd/>
            <a:tailEnd/>
          </a:ln>
          <a:effectLst/>
        </p:spPr>
        <p:txBody>
          <a:bodyPr wrap="none" anchor="ctr"/>
          <a:lstStyle/>
          <a:p>
            <a:endParaRPr lang="en-IN"/>
          </a:p>
        </p:txBody>
      </p:sp>
      <p:sp>
        <p:nvSpPr>
          <p:cNvPr id="2" name="TextBox 1"/>
          <p:cNvSpPr txBox="1"/>
          <p:nvPr/>
        </p:nvSpPr>
        <p:spPr>
          <a:xfrm>
            <a:off x="1475656" y="908720"/>
            <a:ext cx="5518834" cy="646331"/>
          </a:xfrm>
          <a:prstGeom prst="rect">
            <a:avLst/>
          </a:prstGeom>
          <a:noFill/>
        </p:spPr>
        <p:txBody>
          <a:bodyPr wrap="none" rtlCol="0">
            <a:spAutoFit/>
          </a:bodyPr>
          <a:lstStyle/>
          <a:p>
            <a:r>
              <a:rPr lang="en-US" sz="3600" dirty="0" smtClean="0"/>
              <a:t>Basic Steps of Data Analysis</a:t>
            </a:r>
            <a:endParaRPr lang="en-US" sz="3600" dirty="0"/>
          </a:p>
        </p:txBody>
      </p:sp>
      <p:pic>
        <p:nvPicPr>
          <p:cNvPr id="3" name="Picture 2" descr="Untitled Diagram.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187624" y="1988840"/>
            <a:ext cx="6264696" cy="3600400"/>
          </a:xfrm>
          <a:prstGeom prst="rect">
            <a:avLst/>
          </a:prstGeom>
        </p:spPr>
      </p:pic>
    </p:spTree>
    <p:extLst>
      <p:ext uri="{BB962C8B-B14F-4D97-AF65-F5344CB8AC3E}">
        <p14:creationId xmlns:p14="http://schemas.microsoft.com/office/powerpoint/2010/main" xmlns="" val="288369980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590800"/>
            <a:ext cx="8402638" cy="609600"/>
          </a:xfrm>
        </p:spPr>
        <p:txBody>
          <a:bodyPr>
            <a:normAutofit fontScale="90000"/>
          </a:bodyPr>
          <a:lstStyle/>
          <a:p>
            <a:r>
              <a:rPr lang="en-US" dirty="0" smtClean="0"/>
              <a:t>Decision Tree Model</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170981"/>
                </a:solidFill>
              </a:rPr>
              <a:t>Decision Tree</a:t>
            </a:r>
            <a:endParaRPr lang="en-US" dirty="0"/>
          </a:p>
        </p:txBody>
      </p:sp>
      <p:sp>
        <p:nvSpPr>
          <p:cNvPr id="3" name="Content Placeholder 2"/>
          <p:cNvSpPr>
            <a:spLocks noGrp="1"/>
          </p:cNvSpPr>
          <p:nvPr>
            <p:ph idx="1"/>
          </p:nvPr>
        </p:nvSpPr>
        <p:spPr>
          <a:xfrm>
            <a:off x="381000" y="1143000"/>
            <a:ext cx="8458200" cy="5486400"/>
          </a:xfrm>
        </p:spPr>
        <p:txBody>
          <a:bodyPr>
            <a:normAutofit lnSpcReduction="10000"/>
          </a:bodyPr>
          <a:lstStyle/>
          <a:p>
            <a:r>
              <a:rPr lang="en-US" sz="2400" dirty="0" smtClean="0"/>
              <a:t>In principle, there are </a:t>
            </a:r>
            <a:r>
              <a:rPr lang="en-US" sz="2400" dirty="0" smtClean="0">
                <a:solidFill>
                  <a:srgbClr val="FF0000"/>
                </a:solidFill>
              </a:rPr>
              <a:t>exponentially many decision trees </a:t>
            </a:r>
            <a:r>
              <a:rPr lang="en-US" sz="2400" dirty="0" smtClean="0"/>
              <a:t>that can be constructed from a given set of attributes.</a:t>
            </a:r>
          </a:p>
          <a:p>
            <a:r>
              <a:rPr lang="en-US" sz="2400" dirty="0" smtClean="0"/>
              <a:t>Finding the optimal tree (in terms of performance) is computationally </a:t>
            </a:r>
            <a:r>
              <a:rPr lang="en-US" sz="2400" dirty="0" smtClean="0">
                <a:solidFill>
                  <a:srgbClr val="FF0000"/>
                </a:solidFill>
              </a:rPr>
              <a:t>infeasible </a:t>
            </a:r>
            <a:r>
              <a:rPr lang="en-US" sz="2400" dirty="0" smtClean="0"/>
              <a:t>because of the exponential size of the search space. </a:t>
            </a:r>
          </a:p>
          <a:p>
            <a:r>
              <a:rPr lang="en-US" sz="2400" dirty="0" smtClean="0"/>
              <a:t>Efficient algorithms have been developed to induce a reasonably  </a:t>
            </a:r>
            <a:r>
              <a:rPr lang="en-US" sz="2400" dirty="0" smtClean="0">
                <a:solidFill>
                  <a:srgbClr val="FF0000"/>
                </a:solidFill>
              </a:rPr>
              <a:t>accurate</a:t>
            </a:r>
            <a:r>
              <a:rPr lang="en-US" sz="2400" dirty="0" smtClean="0"/>
              <a:t> although </a:t>
            </a:r>
            <a:r>
              <a:rPr lang="en-US" sz="2400" dirty="0" smtClean="0">
                <a:solidFill>
                  <a:srgbClr val="FF0000"/>
                </a:solidFill>
              </a:rPr>
              <a:t>suboptimal </a:t>
            </a:r>
            <a:r>
              <a:rPr lang="en-US" sz="2400" dirty="0" smtClean="0"/>
              <a:t>decision tree in a reasonable amount of time.</a:t>
            </a:r>
          </a:p>
          <a:p>
            <a:r>
              <a:rPr lang="en-US" sz="2400" dirty="0" smtClean="0"/>
              <a:t> These algorithms usually employ a </a:t>
            </a:r>
            <a:r>
              <a:rPr lang="en-US" sz="2400" dirty="0" smtClean="0">
                <a:solidFill>
                  <a:srgbClr val="FF0000"/>
                </a:solidFill>
              </a:rPr>
              <a:t>greedy strategy </a:t>
            </a:r>
            <a:r>
              <a:rPr lang="en-US" sz="2400" dirty="0" smtClean="0"/>
              <a:t>that grows a decision tree by making a series of locally optimum decision about which attribute  to use for partitioning the data. </a:t>
            </a:r>
          </a:p>
          <a:p>
            <a:r>
              <a:rPr lang="en-US" sz="2400" dirty="0" smtClean="0"/>
              <a:t>One such algorithm is Hunt’s algorithm, which is the basis of many decision tree induction algorithms, including ID3, C4.5, and CART.</a:t>
            </a:r>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Hunt’s Algorithm</a:t>
            </a:r>
            <a:endParaRPr lang="en-US" dirty="0"/>
          </a:p>
        </p:txBody>
      </p:sp>
      <p:sp>
        <p:nvSpPr>
          <p:cNvPr id="3" name="Content Placeholder 2"/>
          <p:cNvSpPr>
            <a:spLocks noGrp="1"/>
          </p:cNvSpPr>
          <p:nvPr>
            <p:ph idx="1"/>
          </p:nvPr>
        </p:nvSpPr>
        <p:spPr>
          <a:xfrm>
            <a:off x="304800" y="1066800"/>
            <a:ext cx="8458200" cy="5486400"/>
          </a:xfrm>
        </p:spPr>
        <p:txBody>
          <a:bodyPr>
            <a:normAutofit lnSpcReduction="10000"/>
          </a:bodyPr>
          <a:lstStyle/>
          <a:p>
            <a:r>
              <a:rPr lang="en-IN" sz="2400" dirty="0" smtClean="0"/>
              <a:t>In this algorithm, a decision tree is grown in a recursive fashion by partitioning the training records into successively purer subsets.</a:t>
            </a:r>
          </a:p>
          <a:p>
            <a:r>
              <a:rPr lang="en-IN" sz="2400" dirty="0" smtClean="0"/>
              <a:t>Let </a:t>
            </a:r>
            <a:r>
              <a:rPr lang="en-IN" sz="2400" dirty="0" err="1" smtClean="0"/>
              <a:t>D</a:t>
            </a:r>
            <a:r>
              <a:rPr lang="en-IN" sz="2400" baseline="-25000" dirty="0" err="1" smtClean="0"/>
              <a:t>t</a:t>
            </a:r>
            <a:r>
              <a:rPr lang="en-IN" sz="2400" dirty="0" smtClean="0"/>
              <a:t> be the set of training records that are associated with node t and y={y</a:t>
            </a:r>
            <a:r>
              <a:rPr lang="en-IN" sz="2400" baseline="-25000" dirty="0" smtClean="0"/>
              <a:t>1</a:t>
            </a:r>
            <a:r>
              <a:rPr lang="en-IN" sz="2400" dirty="0" smtClean="0"/>
              <a:t>, y</a:t>
            </a:r>
            <a:r>
              <a:rPr lang="en-IN" sz="2400" baseline="-25000" dirty="0" smtClean="0"/>
              <a:t>2</a:t>
            </a:r>
            <a:r>
              <a:rPr lang="en-IN" sz="2400" dirty="0" smtClean="0"/>
              <a:t>, …, </a:t>
            </a:r>
            <a:r>
              <a:rPr lang="en-IN" sz="2400" dirty="0" err="1" smtClean="0"/>
              <a:t>y</a:t>
            </a:r>
            <a:r>
              <a:rPr lang="en-IN" sz="2400" baseline="-25000" dirty="0" err="1" smtClean="0"/>
              <a:t>c</a:t>
            </a:r>
            <a:r>
              <a:rPr lang="en-IN" sz="2400" dirty="0" smtClean="0"/>
              <a:t>} be the class labels. The following is a recursive definition of Hunt’s algorithm:</a:t>
            </a:r>
          </a:p>
          <a:p>
            <a:pPr lvl="1"/>
            <a:r>
              <a:rPr lang="en-IN" sz="2400" dirty="0" smtClean="0"/>
              <a:t>Step 1: If all the records in </a:t>
            </a:r>
            <a:r>
              <a:rPr lang="en-IN" sz="2400" dirty="0" err="1" smtClean="0"/>
              <a:t>D</a:t>
            </a:r>
            <a:r>
              <a:rPr lang="en-IN" sz="2400" baseline="-25000" dirty="0" err="1" smtClean="0"/>
              <a:t>t</a:t>
            </a:r>
            <a:r>
              <a:rPr lang="en-IN" sz="2400" dirty="0" smtClean="0"/>
              <a:t> belong to the same class </a:t>
            </a:r>
            <a:r>
              <a:rPr lang="en-IN" sz="2400" dirty="0" err="1" smtClean="0"/>
              <a:t>y</a:t>
            </a:r>
            <a:r>
              <a:rPr lang="en-IN" sz="2400" baseline="-25000" dirty="0" err="1" smtClean="0"/>
              <a:t>t</a:t>
            </a:r>
            <a:r>
              <a:rPr lang="en-IN" sz="2400" dirty="0" smtClean="0"/>
              <a:t>, then t is a leaf node labelled as </a:t>
            </a:r>
            <a:r>
              <a:rPr lang="en-IN" sz="2400" dirty="0" err="1" smtClean="0"/>
              <a:t>y</a:t>
            </a:r>
            <a:r>
              <a:rPr lang="en-IN" sz="2400" baseline="-25000" dirty="0" err="1" smtClean="0"/>
              <a:t>t</a:t>
            </a:r>
            <a:r>
              <a:rPr lang="en-IN" sz="2400" dirty="0" smtClean="0"/>
              <a:t>. </a:t>
            </a:r>
          </a:p>
          <a:p>
            <a:pPr lvl="1"/>
            <a:r>
              <a:rPr lang="en-IN" sz="2400" dirty="0" smtClean="0"/>
              <a:t>Step 2: If </a:t>
            </a:r>
            <a:r>
              <a:rPr lang="en-IN" sz="2400" dirty="0" err="1" smtClean="0"/>
              <a:t>D</a:t>
            </a:r>
            <a:r>
              <a:rPr lang="en-IN" sz="2400" baseline="-25000" dirty="0" err="1" smtClean="0"/>
              <a:t>t</a:t>
            </a:r>
            <a:r>
              <a:rPr lang="en-IN" sz="2400" dirty="0" smtClean="0"/>
              <a:t> contains records that belong to more than one class, an </a:t>
            </a:r>
            <a:r>
              <a:rPr lang="en-IN" sz="2400" b="1" dirty="0" smtClean="0"/>
              <a:t>attribute test condition </a:t>
            </a:r>
            <a:r>
              <a:rPr lang="en-IN" sz="2400" dirty="0" smtClean="0"/>
              <a:t>is selected to partition the records into smaller subsets. A child node is created for each outcome of the test condition and the records in </a:t>
            </a:r>
            <a:r>
              <a:rPr lang="en-IN" sz="2400" dirty="0" err="1" smtClean="0"/>
              <a:t>D</a:t>
            </a:r>
            <a:r>
              <a:rPr lang="en-IN" sz="2400" baseline="-25000" dirty="0" err="1" smtClean="0"/>
              <a:t>t</a:t>
            </a:r>
            <a:r>
              <a:rPr lang="en-IN" sz="2400" dirty="0" smtClean="0"/>
              <a:t> are distributed to the children based on the outcomes. </a:t>
            </a:r>
          </a:p>
          <a:p>
            <a:pPr lvl="1"/>
            <a:r>
              <a:rPr lang="en-IN" sz="2400" dirty="0" smtClean="0"/>
              <a:t>The algorithm is then recursively applied to each child node.  </a:t>
            </a:r>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5</a:t>
            </a:fld>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Number Placeholder 4"/>
          <p:cNvSpPr>
            <a:spLocks noGrp="1"/>
          </p:cNvSpPr>
          <p:nvPr>
            <p:ph type="sldNum" sz="quarter" idx="10"/>
          </p:nvPr>
        </p:nvSpPr>
        <p:spPr>
          <a:xfrm>
            <a:off x="7248525" y="6477000"/>
            <a:ext cx="1905000" cy="381000"/>
          </a:xfrm>
          <a:noFill/>
        </p:spPr>
        <p:txBody>
          <a:bodyPr/>
          <a:lstStyle/>
          <a:p>
            <a:fld id="{0C191E1C-607D-4A01-9601-1A11A20668C7}" type="slidenum">
              <a:rPr lang="en-US"/>
              <a:pPr/>
              <a:t>6</a:t>
            </a:fld>
            <a:endParaRPr lang="en-US"/>
          </a:p>
        </p:txBody>
      </p:sp>
      <p:sp>
        <p:nvSpPr>
          <p:cNvPr id="59394" name="Rectangle 2"/>
          <p:cNvSpPr>
            <a:spLocks noGrp="1" noChangeArrowheads="1"/>
          </p:cNvSpPr>
          <p:nvPr>
            <p:ph type="title"/>
          </p:nvPr>
        </p:nvSpPr>
        <p:spPr>
          <a:xfrm>
            <a:off x="0" y="152400"/>
            <a:ext cx="9144000" cy="838200"/>
          </a:xfrm>
          <a:noFill/>
        </p:spPr>
        <p:txBody>
          <a:bodyPr lIns="92075" tIns="46038" rIns="92075" bIns="46038"/>
          <a:lstStyle/>
          <a:p>
            <a:pPr eaLnBrk="1" hangingPunct="1"/>
            <a:r>
              <a:rPr lang="en-US" dirty="0" smtClean="0">
                <a:solidFill>
                  <a:srgbClr val="170981"/>
                </a:solidFill>
              </a:rPr>
              <a:t>Decision Tree Induction: ID3</a:t>
            </a:r>
            <a:endParaRPr lang="en-US" i="1" dirty="0" smtClean="0">
              <a:solidFill>
                <a:srgbClr val="170981"/>
              </a:solidFill>
            </a:endParaRPr>
          </a:p>
        </p:txBody>
      </p:sp>
      <p:graphicFrame>
        <p:nvGraphicFramePr>
          <p:cNvPr id="59396" name="Object 1024"/>
          <p:cNvGraphicFramePr>
            <a:graphicFrameLocks/>
          </p:cNvGraphicFramePr>
          <p:nvPr/>
        </p:nvGraphicFramePr>
        <p:xfrm>
          <a:off x="5029200" y="1600200"/>
          <a:ext cx="3798887" cy="3429000"/>
        </p:xfrm>
        <a:graphic>
          <a:graphicData uri="http://schemas.openxmlformats.org/presentationml/2006/ole">
            <p:oleObj spid="_x0000_s1026" name="Worksheet" r:id="rId4" imgW="5772150" imgH="4457700" progId="Excel.Sheet.8">
              <p:embed/>
            </p:oleObj>
          </a:graphicData>
        </a:graphic>
      </p:graphicFrame>
      <p:sp>
        <p:nvSpPr>
          <p:cNvPr id="59397" name="Rectangle 1"/>
          <p:cNvSpPr>
            <a:spLocks noChangeArrowheads="1"/>
          </p:cNvSpPr>
          <p:nvPr/>
        </p:nvSpPr>
        <p:spPr bwMode="auto">
          <a:xfrm>
            <a:off x="152401" y="1371600"/>
            <a:ext cx="4724399" cy="4524315"/>
          </a:xfrm>
          <a:prstGeom prst="rect">
            <a:avLst/>
          </a:prstGeom>
          <a:noFill/>
          <a:ln w="9525">
            <a:noFill/>
            <a:miter lim="800000"/>
            <a:headEnd/>
            <a:tailEnd/>
          </a:ln>
        </p:spPr>
        <p:txBody>
          <a:bodyPr wrap="square">
            <a:spAutoFit/>
          </a:bodyPr>
          <a:lstStyle/>
          <a:p>
            <a:pPr marL="285750" indent="-285750">
              <a:buClr>
                <a:srgbClr val="170981"/>
              </a:buClr>
              <a:buSzPct val="75000"/>
              <a:buFont typeface="Wingdings" pitchFamily="2" charset="2"/>
              <a:buChar char="q"/>
            </a:pPr>
            <a:r>
              <a:rPr lang="en-US" sz="2400" dirty="0">
                <a:latin typeface="Times New Roman" pitchFamily="18" charset="0"/>
                <a:cs typeface="Times New Roman" pitchFamily="18" charset="0"/>
              </a:rPr>
              <a:t>Training data set: </a:t>
            </a:r>
            <a:r>
              <a:rPr lang="en-US" sz="2400" dirty="0" err="1">
                <a:latin typeface="Times New Roman" pitchFamily="18" charset="0"/>
                <a:cs typeface="Times New Roman" pitchFamily="18" charset="0"/>
              </a:rPr>
              <a:t>Buys_computer</a:t>
            </a:r>
            <a:endParaRPr lang="en-US" sz="2400" dirty="0">
              <a:latin typeface="Times New Roman" pitchFamily="18" charset="0"/>
              <a:cs typeface="Times New Roman" pitchFamily="18" charset="0"/>
            </a:endParaRPr>
          </a:p>
          <a:p>
            <a:pPr marL="285750" indent="-285750">
              <a:buClr>
                <a:srgbClr val="170981"/>
              </a:buClr>
              <a:buSzPct val="75000"/>
              <a:buFont typeface="Wingdings" pitchFamily="2" charset="2"/>
              <a:buChar char="q"/>
            </a:pPr>
            <a:r>
              <a:rPr lang="en-US" sz="2400" dirty="0" smtClean="0">
                <a:latin typeface="Times New Roman" pitchFamily="18" charset="0"/>
                <a:cs typeface="Times New Roman" pitchFamily="18" charset="0"/>
              </a:rPr>
              <a:t>Decision tree model is constructed using the </a:t>
            </a:r>
            <a:r>
              <a:rPr lang="en-US" sz="2400" dirty="0" smtClean="0">
                <a:solidFill>
                  <a:srgbClr val="FF0000"/>
                </a:solidFill>
                <a:latin typeface="Times New Roman" pitchFamily="18" charset="0"/>
                <a:cs typeface="Times New Roman" pitchFamily="18" charset="0"/>
              </a:rPr>
              <a:t>Quinlan ID3 </a:t>
            </a:r>
            <a:r>
              <a:rPr lang="en-US" sz="2400" dirty="0" smtClean="0">
                <a:latin typeface="Times New Roman" pitchFamily="18" charset="0"/>
                <a:cs typeface="Times New Roman" pitchFamily="18" charset="0"/>
              </a:rPr>
              <a:t>algorithm.</a:t>
            </a:r>
          </a:p>
          <a:p>
            <a:pPr marL="285750" indent="-285750">
              <a:buClr>
                <a:srgbClr val="170981"/>
              </a:buClr>
              <a:buSzPct val="75000"/>
              <a:buFont typeface="Wingdings" pitchFamily="2" charset="2"/>
              <a:buChar char="q"/>
            </a:pPr>
            <a:r>
              <a:rPr lang="en-IN" sz="2400" dirty="0" smtClean="0">
                <a:latin typeface="Times New Roman" pitchFamily="18" charset="0"/>
                <a:cs typeface="Times New Roman" pitchFamily="18" charset="0"/>
              </a:rPr>
              <a:t>ID3 </a:t>
            </a:r>
            <a:r>
              <a:rPr lang="en-US" sz="2400" dirty="0" smtClean="0">
                <a:latin typeface="Times New Roman" pitchFamily="18" charset="0"/>
                <a:cs typeface="Times New Roman" pitchFamily="18" charset="0"/>
              </a:rPr>
              <a:t>refers to Iterative </a:t>
            </a:r>
            <a:r>
              <a:rPr lang="en-US" sz="2400" dirty="0" err="1" smtClean="0">
                <a:latin typeface="Times New Roman" pitchFamily="18" charset="0"/>
                <a:cs typeface="Times New Roman" pitchFamily="18" charset="0"/>
              </a:rPr>
              <a:t>Dichotomizer</a:t>
            </a:r>
            <a:r>
              <a:rPr lang="en-US" sz="2400" dirty="0" smtClean="0">
                <a:latin typeface="Times New Roman" pitchFamily="18" charset="0"/>
                <a:cs typeface="Times New Roman" pitchFamily="18" charset="0"/>
              </a:rPr>
              <a:t> 3, and is developed by Ross Quinlan</a:t>
            </a:r>
          </a:p>
          <a:p>
            <a:pPr marL="285750" indent="-285750">
              <a:buClr>
                <a:srgbClr val="170981"/>
              </a:buClr>
              <a:buSzPct val="75000"/>
              <a:buFont typeface="Wingdings" pitchFamily="2" charset="2"/>
              <a:buChar char="q"/>
            </a:pPr>
            <a:r>
              <a:rPr lang="en-US" sz="2400" dirty="0" smtClean="0">
                <a:latin typeface="Times New Roman" pitchFamily="18" charset="0"/>
                <a:cs typeface="Times New Roman" pitchFamily="18" charset="0"/>
              </a:rPr>
              <a:t>It iteratively dichotomizes (divides) the data using a top down greedy approach.</a:t>
            </a:r>
          </a:p>
          <a:p>
            <a:pPr marL="285750" indent="-285750">
              <a:buClr>
                <a:srgbClr val="170981"/>
              </a:buClr>
              <a:buSzPct val="75000"/>
              <a:buFont typeface="Wingdings" pitchFamily="2" charset="2"/>
              <a:buChar char="q"/>
            </a:pPr>
            <a:r>
              <a:rPr lang="en-US" sz="2400" dirty="0" smtClean="0">
                <a:latin typeface="Times New Roman" pitchFamily="18" charset="0"/>
                <a:cs typeface="Times New Roman" pitchFamily="18" charset="0"/>
              </a:rPr>
              <a:t>The algorithm optimizes locally at each iteration.</a:t>
            </a:r>
          </a:p>
          <a:p>
            <a:pPr marL="285750" indent="-285750">
              <a:buClr>
                <a:srgbClr val="170981"/>
              </a:buClr>
              <a:buSzPct val="75000"/>
              <a:buFont typeface="Wingdings" pitchFamily="2" charset="2"/>
              <a:buChar char="q"/>
            </a:pPr>
            <a:endParaRPr lang="en-US" sz="2400" dirty="0">
              <a:latin typeface="Calibri" pitchFamily="34"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Number Placeholder 4"/>
          <p:cNvSpPr>
            <a:spLocks noGrp="1"/>
          </p:cNvSpPr>
          <p:nvPr>
            <p:ph type="sldNum" sz="quarter" idx="10"/>
          </p:nvPr>
        </p:nvSpPr>
        <p:spPr>
          <a:xfrm>
            <a:off x="7248525" y="6477000"/>
            <a:ext cx="1905000" cy="381000"/>
          </a:xfrm>
          <a:noFill/>
        </p:spPr>
        <p:txBody>
          <a:bodyPr/>
          <a:lstStyle/>
          <a:p>
            <a:fld id="{0C191E1C-607D-4A01-9601-1A11A20668C7}" type="slidenum">
              <a:rPr lang="en-US"/>
              <a:pPr/>
              <a:t>7</a:t>
            </a:fld>
            <a:endParaRPr lang="en-US"/>
          </a:p>
        </p:txBody>
      </p:sp>
      <p:sp>
        <p:nvSpPr>
          <p:cNvPr id="59394" name="Rectangle 2"/>
          <p:cNvSpPr>
            <a:spLocks noGrp="1" noChangeArrowheads="1"/>
          </p:cNvSpPr>
          <p:nvPr>
            <p:ph type="title"/>
          </p:nvPr>
        </p:nvSpPr>
        <p:spPr>
          <a:xfrm>
            <a:off x="0" y="152400"/>
            <a:ext cx="9144000" cy="838200"/>
          </a:xfrm>
          <a:noFill/>
        </p:spPr>
        <p:txBody>
          <a:bodyPr lIns="92075" tIns="46038" rIns="92075" bIns="46038"/>
          <a:lstStyle/>
          <a:p>
            <a:pPr eaLnBrk="1" hangingPunct="1"/>
            <a:r>
              <a:rPr lang="en-US" dirty="0" smtClean="0">
                <a:solidFill>
                  <a:srgbClr val="170981"/>
                </a:solidFill>
              </a:rPr>
              <a:t>Decision Tree Induction: ID3</a:t>
            </a:r>
            <a:endParaRPr lang="en-US" i="1" dirty="0" smtClean="0">
              <a:solidFill>
                <a:srgbClr val="170981"/>
              </a:solidFill>
            </a:endParaRPr>
          </a:p>
        </p:txBody>
      </p:sp>
      <p:grpSp>
        <p:nvGrpSpPr>
          <p:cNvPr id="2" name="Group 63"/>
          <p:cNvGrpSpPr>
            <a:grpSpLocks/>
          </p:cNvGrpSpPr>
          <p:nvPr/>
        </p:nvGrpSpPr>
        <p:grpSpPr bwMode="auto">
          <a:xfrm>
            <a:off x="685800" y="3200400"/>
            <a:ext cx="4419600" cy="2895600"/>
            <a:chOff x="768" y="1152"/>
            <a:chExt cx="3972" cy="2400"/>
          </a:xfrm>
        </p:grpSpPr>
        <p:sp>
          <p:nvSpPr>
            <p:cNvPr id="59398" name="Rectangle 3"/>
            <p:cNvSpPr>
              <a:spLocks noChangeArrowheads="1"/>
            </p:cNvSpPr>
            <p:nvPr/>
          </p:nvSpPr>
          <p:spPr bwMode="auto">
            <a:xfrm>
              <a:off x="2387" y="1152"/>
              <a:ext cx="475" cy="296"/>
            </a:xfrm>
            <a:prstGeom prst="rect">
              <a:avLst/>
            </a:prstGeom>
            <a:solidFill>
              <a:srgbClr val="00CCFF"/>
            </a:solidFill>
            <a:ln w="12700">
              <a:solidFill>
                <a:schemeClr val="tx1"/>
              </a:solidFill>
              <a:miter lim="800000"/>
              <a:headEnd/>
              <a:tailEnd/>
            </a:ln>
          </p:spPr>
          <p:txBody>
            <a:bodyPr wrap="none" lIns="92075" tIns="46038" rIns="92075" bIns="46038">
              <a:spAutoFit/>
            </a:bodyPr>
            <a:lstStyle/>
            <a:p>
              <a:pPr algn="ctr" eaLnBrk="0" hangingPunct="0"/>
              <a:r>
                <a:rPr lang="en-US" sz="2400" dirty="0">
                  <a:latin typeface="Times New Roman" pitchFamily="18" charset="0"/>
                </a:rPr>
                <a:t>age?</a:t>
              </a:r>
            </a:p>
          </p:txBody>
        </p:sp>
        <p:sp>
          <p:nvSpPr>
            <p:cNvPr id="59400" name="Rectangle 5"/>
            <p:cNvSpPr>
              <a:spLocks noChangeArrowheads="1"/>
            </p:cNvSpPr>
            <p:nvPr/>
          </p:nvSpPr>
          <p:spPr bwMode="auto">
            <a:xfrm>
              <a:off x="1110" y="2352"/>
              <a:ext cx="1096" cy="383"/>
            </a:xfrm>
            <a:prstGeom prst="rect">
              <a:avLst/>
            </a:prstGeom>
            <a:solidFill>
              <a:srgbClr val="00FFCC"/>
            </a:solidFill>
            <a:ln w="12700">
              <a:solidFill>
                <a:schemeClr val="tx1"/>
              </a:solidFill>
              <a:miter lim="800000"/>
              <a:headEnd/>
              <a:tailEnd/>
            </a:ln>
          </p:spPr>
          <p:txBody>
            <a:bodyPr wrap="square" lIns="92075" tIns="46038" rIns="92075" bIns="46038">
              <a:spAutoFit/>
            </a:bodyPr>
            <a:lstStyle/>
            <a:p>
              <a:pPr algn="ctr" eaLnBrk="0" hangingPunct="0"/>
              <a:r>
                <a:rPr lang="en-US" sz="2400" dirty="0">
                  <a:latin typeface="Times New Roman" pitchFamily="18" charset="0"/>
                </a:rPr>
                <a:t>student?</a:t>
              </a:r>
            </a:p>
          </p:txBody>
        </p:sp>
        <p:sp>
          <p:nvSpPr>
            <p:cNvPr id="59401" name="Rectangle 6"/>
            <p:cNvSpPr>
              <a:spLocks noChangeArrowheads="1"/>
            </p:cNvSpPr>
            <p:nvPr/>
          </p:nvSpPr>
          <p:spPr bwMode="auto">
            <a:xfrm>
              <a:off x="3096" y="2289"/>
              <a:ext cx="1644" cy="383"/>
            </a:xfrm>
            <a:prstGeom prst="rect">
              <a:avLst/>
            </a:prstGeom>
            <a:solidFill>
              <a:srgbClr val="99CCFF"/>
            </a:solidFill>
            <a:ln w="12700">
              <a:solidFill>
                <a:schemeClr val="tx1"/>
              </a:solidFill>
              <a:miter lim="800000"/>
              <a:headEnd/>
              <a:tailEnd/>
            </a:ln>
          </p:spPr>
          <p:txBody>
            <a:bodyPr wrap="square" lIns="92075" tIns="46038" rIns="92075" bIns="46038">
              <a:spAutoFit/>
            </a:bodyPr>
            <a:lstStyle/>
            <a:p>
              <a:pPr algn="ctr" eaLnBrk="0" hangingPunct="0"/>
              <a:r>
                <a:rPr lang="en-US" sz="2400" dirty="0">
                  <a:latin typeface="Times New Roman" pitchFamily="18" charset="0"/>
                </a:rPr>
                <a:t>credit rating?</a:t>
              </a:r>
            </a:p>
          </p:txBody>
        </p:sp>
        <p:sp>
          <p:nvSpPr>
            <p:cNvPr id="59402"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9403"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9404" name="Line 13"/>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9405" name="Rectangle 14"/>
            <p:cNvSpPr>
              <a:spLocks noChangeArrowheads="1"/>
            </p:cNvSpPr>
            <p:nvPr/>
          </p:nvSpPr>
          <p:spPr bwMode="auto">
            <a:xfrm>
              <a:off x="1513" y="1730"/>
              <a:ext cx="534" cy="296"/>
            </a:xfrm>
            <a:prstGeom prst="rect">
              <a:avLst/>
            </a:prstGeom>
            <a:solidFill>
              <a:srgbClr val="FFFF00"/>
            </a:solidFill>
            <a:ln w="12700">
              <a:solidFill>
                <a:schemeClr val="bg1"/>
              </a:solidFill>
              <a:miter lim="800000"/>
              <a:headEnd/>
              <a:tailEnd/>
            </a:ln>
          </p:spPr>
          <p:txBody>
            <a:bodyPr wrap="none" lIns="92075" tIns="46038" rIns="92075" bIns="46038">
              <a:spAutoFit/>
            </a:bodyPr>
            <a:lstStyle/>
            <a:p>
              <a:pPr algn="ctr" eaLnBrk="0" hangingPunct="0"/>
              <a:r>
                <a:rPr lang="en-US" sz="2400" b="1">
                  <a:latin typeface="Times New Roman" pitchFamily="18" charset="0"/>
                </a:rPr>
                <a:t>&lt;=30</a:t>
              </a:r>
              <a:endParaRPr lang="en-US" sz="2400">
                <a:latin typeface="Times New Roman" pitchFamily="18" charset="0"/>
              </a:endParaRPr>
            </a:p>
          </p:txBody>
        </p:sp>
        <p:sp>
          <p:nvSpPr>
            <p:cNvPr id="59406" name="Rectangle 15"/>
            <p:cNvSpPr>
              <a:spLocks noChangeArrowheads="1"/>
            </p:cNvSpPr>
            <p:nvPr/>
          </p:nvSpPr>
          <p:spPr bwMode="auto">
            <a:xfrm>
              <a:off x="3364" y="1804"/>
              <a:ext cx="417"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&gt;40</a:t>
              </a:r>
              <a:endParaRPr lang="en-US" sz="2400">
                <a:latin typeface="Times New Roman" pitchFamily="18" charset="0"/>
              </a:endParaRPr>
            </a:p>
          </p:txBody>
        </p:sp>
        <p:sp>
          <p:nvSpPr>
            <p:cNvPr id="59407" name="Line 16"/>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9408" name="Line 17"/>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9409" name="Line 18"/>
            <p:cNvSpPr>
              <a:spLocks noChangeShapeType="1"/>
            </p:cNvSpPr>
            <p:nvPr/>
          </p:nvSpPr>
          <p:spPr bwMode="auto">
            <a:xfrm flipH="1">
              <a:off x="3360" y="2640"/>
              <a:ext cx="480" cy="576"/>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9410" name="Line 19"/>
            <p:cNvSpPr>
              <a:spLocks noChangeShapeType="1"/>
            </p:cNvSpPr>
            <p:nvPr/>
          </p:nvSpPr>
          <p:spPr bwMode="auto">
            <a:xfrm>
              <a:off x="4128" y="2640"/>
              <a:ext cx="432" cy="576"/>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9411"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9412" name="Rectangle 25"/>
            <p:cNvSpPr>
              <a:spLocks noChangeArrowheads="1"/>
            </p:cNvSpPr>
            <p:nvPr/>
          </p:nvSpPr>
          <p:spPr bwMode="auto">
            <a:xfrm>
              <a:off x="768" y="3264"/>
              <a:ext cx="308" cy="288"/>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dirty="0">
                  <a:latin typeface="Times New Roman" pitchFamily="18" charset="0"/>
                </a:rPr>
                <a:t>no</a:t>
              </a:r>
            </a:p>
          </p:txBody>
        </p:sp>
        <p:sp>
          <p:nvSpPr>
            <p:cNvPr id="59413" name="Rectangle 27"/>
            <p:cNvSpPr>
              <a:spLocks noChangeArrowheads="1"/>
            </p:cNvSpPr>
            <p:nvPr/>
          </p:nvSpPr>
          <p:spPr bwMode="auto">
            <a:xfrm>
              <a:off x="2028" y="3264"/>
              <a:ext cx="372" cy="288"/>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59414" name="Rectangle 28"/>
            <p:cNvSpPr>
              <a:spLocks noChangeArrowheads="1"/>
            </p:cNvSpPr>
            <p:nvPr/>
          </p:nvSpPr>
          <p:spPr bwMode="auto">
            <a:xfrm>
              <a:off x="4368" y="3216"/>
              <a:ext cx="372" cy="288"/>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59415" name="Rectangle 29"/>
            <p:cNvSpPr>
              <a:spLocks noChangeArrowheads="1"/>
            </p:cNvSpPr>
            <p:nvPr/>
          </p:nvSpPr>
          <p:spPr bwMode="auto">
            <a:xfrm>
              <a:off x="2343" y="2344"/>
              <a:ext cx="616" cy="383"/>
            </a:xfrm>
            <a:prstGeom prst="rect">
              <a:avLst/>
            </a:prstGeom>
            <a:solidFill>
              <a:srgbClr val="00FF00"/>
            </a:solidFill>
            <a:ln w="9525">
              <a:noFill/>
              <a:miter lim="800000"/>
              <a:headEnd/>
              <a:tailEnd/>
            </a:ln>
          </p:spPr>
          <p:txBody>
            <a:bodyPr wrap="square" lIns="92075" tIns="46038" rIns="92075" bIns="46038">
              <a:spAutoFit/>
            </a:bodyPr>
            <a:lstStyle/>
            <a:p>
              <a:pPr algn="ctr" eaLnBrk="0" hangingPunct="0"/>
              <a:r>
                <a:rPr lang="en-US" sz="2400" dirty="0">
                  <a:latin typeface="Times New Roman" pitchFamily="18" charset="0"/>
                </a:rPr>
                <a:t>yes</a:t>
              </a:r>
            </a:p>
          </p:txBody>
        </p:sp>
        <p:sp>
          <p:nvSpPr>
            <p:cNvPr id="59416" name="Rectangle 30"/>
            <p:cNvSpPr>
              <a:spLocks noChangeArrowheads="1"/>
            </p:cNvSpPr>
            <p:nvPr/>
          </p:nvSpPr>
          <p:spPr bwMode="auto">
            <a:xfrm>
              <a:off x="2256" y="1824"/>
              <a:ext cx="672" cy="192"/>
            </a:xfrm>
            <a:prstGeom prst="rect">
              <a:avLst/>
            </a:prstGeom>
            <a:solidFill>
              <a:srgbClr val="FFFF00"/>
            </a:solidFill>
            <a:ln w="12700">
              <a:noFill/>
              <a:miter lim="800000"/>
              <a:headEnd type="none" w="sm" len="sm"/>
              <a:tailEnd type="none" w="sm" len="sm"/>
            </a:ln>
          </p:spPr>
          <p:txBody>
            <a:bodyPr wrap="none" anchor="ctr"/>
            <a:lstStyle/>
            <a:p>
              <a:pPr algn="ctr" eaLnBrk="0" hangingPunct="0"/>
              <a:r>
                <a:rPr lang="en-US" sz="2000" b="1">
                  <a:latin typeface="Times New Roman" pitchFamily="18" charset="0"/>
                </a:rPr>
                <a:t>31..40</a:t>
              </a:r>
              <a:endParaRPr lang="en-US">
                <a:latin typeface="Times New Roman" pitchFamily="18" charset="0"/>
              </a:endParaRPr>
            </a:p>
          </p:txBody>
        </p:sp>
        <p:sp>
          <p:nvSpPr>
            <p:cNvPr id="59417" name="Rectangle 62"/>
            <p:cNvSpPr>
              <a:spLocks noChangeArrowheads="1"/>
            </p:cNvSpPr>
            <p:nvPr/>
          </p:nvSpPr>
          <p:spPr bwMode="auto">
            <a:xfrm rot="-143156">
              <a:off x="3168" y="3216"/>
              <a:ext cx="308" cy="288"/>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no</a:t>
              </a:r>
            </a:p>
          </p:txBody>
        </p:sp>
        <p:sp>
          <p:nvSpPr>
            <p:cNvPr id="59418" name="Rectangle 9"/>
            <p:cNvSpPr>
              <a:spLocks noChangeArrowheads="1"/>
            </p:cNvSpPr>
            <p:nvPr/>
          </p:nvSpPr>
          <p:spPr bwMode="auto">
            <a:xfrm>
              <a:off x="4176" y="2784"/>
              <a:ext cx="382"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fair</a:t>
              </a:r>
            </a:p>
          </p:txBody>
        </p:sp>
        <p:sp>
          <p:nvSpPr>
            <p:cNvPr id="59419" name="Rectangle 10"/>
            <p:cNvSpPr>
              <a:spLocks noChangeArrowheads="1"/>
            </p:cNvSpPr>
            <p:nvPr/>
          </p:nvSpPr>
          <p:spPr bwMode="auto">
            <a:xfrm>
              <a:off x="3072" y="2784"/>
              <a:ext cx="807"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excellent</a:t>
              </a:r>
            </a:p>
          </p:txBody>
        </p:sp>
        <p:sp>
          <p:nvSpPr>
            <p:cNvPr id="59420" name="Rectangle 8"/>
            <p:cNvSpPr>
              <a:spLocks noChangeArrowheads="1"/>
            </p:cNvSpPr>
            <p:nvPr/>
          </p:nvSpPr>
          <p:spPr bwMode="auto">
            <a:xfrm>
              <a:off x="1872" y="2832"/>
              <a:ext cx="372"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59421" name="Rectangle 7"/>
            <p:cNvSpPr>
              <a:spLocks noChangeArrowheads="1"/>
            </p:cNvSpPr>
            <p:nvPr/>
          </p:nvSpPr>
          <p:spPr bwMode="auto">
            <a:xfrm>
              <a:off x="960" y="2832"/>
              <a:ext cx="698" cy="383"/>
            </a:xfrm>
            <a:prstGeom prst="rect">
              <a:avLst/>
            </a:prstGeom>
            <a:solidFill>
              <a:srgbClr val="FFFF00"/>
            </a:solidFill>
            <a:ln w="9525">
              <a:noFill/>
              <a:miter lim="800000"/>
              <a:headEnd/>
              <a:tailEnd/>
            </a:ln>
          </p:spPr>
          <p:txBody>
            <a:bodyPr wrap="square" lIns="92075" tIns="46038" rIns="92075" bIns="46038">
              <a:spAutoFit/>
            </a:bodyPr>
            <a:lstStyle/>
            <a:p>
              <a:pPr algn="ctr" eaLnBrk="0" hangingPunct="0"/>
              <a:r>
                <a:rPr lang="en-US" sz="2400" dirty="0">
                  <a:latin typeface="Times New Roman" pitchFamily="18" charset="0"/>
                </a:rPr>
                <a:t>no</a:t>
              </a:r>
            </a:p>
          </p:txBody>
        </p:sp>
      </p:grpSp>
      <p:graphicFrame>
        <p:nvGraphicFramePr>
          <p:cNvPr id="59396" name="Object 1024"/>
          <p:cNvGraphicFramePr>
            <a:graphicFrameLocks/>
          </p:cNvGraphicFramePr>
          <p:nvPr/>
        </p:nvGraphicFramePr>
        <p:xfrm>
          <a:off x="5192713" y="1143000"/>
          <a:ext cx="3722687" cy="3429000"/>
        </p:xfrm>
        <a:graphic>
          <a:graphicData uri="http://schemas.openxmlformats.org/presentationml/2006/ole">
            <p:oleObj spid="_x0000_s2050" name="Worksheet" r:id="rId4" imgW="5772150" imgH="4457700" progId="Excel.Sheet.8">
              <p:embed/>
            </p:oleObj>
          </a:graphicData>
        </a:graphic>
      </p:graphicFrame>
      <p:sp>
        <p:nvSpPr>
          <p:cNvPr id="59397" name="Rectangle 1"/>
          <p:cNvSpPr>
            <a:spLocks noChangeArrowheads="1"/>
          </p:cNvSpPr>
          <p:nvPr/>
        </p:nvSpPr>
        <p:spPr bwMode="auto">
          <a:xfrm>
            <a:off x="152400" y="1066800"/>
            <a:ext cx="4953000" cy="2308324"/>
          </a:xfrm>
          <a:prstGeom prst="rect">
            <a:avLst/>
          </a:prstGeom>
          <a:noFill/>
          <a:ln w="9525">
            <a:noFill/>
            <a:miter lim="800000"/>
            <a:headEnd/>
            <a:tailEnd/>
          </a:ln>
        </p:spPr>
        <p:txBody>
          <a:bodyPr wrap="square">
            <a:spAutoFit/>
          </a:bodyPr>
          <a:lstStyle/>
          <a:p>
            <a:pPr marL="285750" indent="-285750">
              <a:buClr>
                <a:srgbClr val="170981"/>
              </a:buClr>
              <a:buSzPct val="75000"/>
              <a:buFont typeface="Wingdings" pitchFamily="2" charset="2"/>
              <a:buChar char="q"/>
            </a:pPr>
            <a:r>
              <a:rPr lang="en-US" sz="2400" dirty="0" smtClean="0">
                <a:latin typeface="Times New Roman" pitchFamily="18" charset="0"/>
                <a:cs typeface="Times New Roman" pitchFamily="18" charset="0"/>
              </a:rPr>
              <a:t>Root is identified first, then the parents of next label, and so on of the decision tree are identified using entropy theory based  optimization function</a:t>
            </a:r>
          </a:p>
          <a:p>
            <a:pPr marL="285750" indent="-285750">
              <a:buClr>
                <a:srgbClr val="170981"/>
              </a:buClr>
              <a:buSzPct val="75000"/>
              <a:buFont typeface="Wingdings" pitchFamily="2" charset="2"/>
              <a:buChar char="q"/>
            </a:pPr>
            <a:r>
              <a:rPr lang="en-US" sz="2400" dirty="0" smtClean="0">
                <a:latin typeface="Times New Roman" pitchFamily="18" charset="0"/>
                <a:cs typeface="Times New Roman" pitchFamily="18" charset="0"/>
              </a:rPr>
              <a:t>Resulting </a:t>
            </a:r>
            <a:r>
              <a:rPr lang="en-US" sz="2400" dirty="0">
                <a:latin typeface="Times New Roman" pitchFamily="18" charset="0"/>
                <a:cs typeface="Times New Roman" pitchFamily="18" charset="0"/>
              </a:rPr>
              <a:t>tree:</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Number Placeholder 5"/>
          <p:cNvSpPr>
            <a:spLocks noGrp="1"/>
          </p:cNvSpPr>
          <p:nvPr>
            <p:ph type="sldNum" sz="quarter" idx="10"/>
          </p:nvPr>
        </p:nvSpPr>
        <p:spPr>
          <a:noFill/>
        </p:spPr>
        <p:txBody>
          <a:bodyPr/>
          <a:lstStyle/>
          <a:p>
            <a:fld id="{8F4F33DE-E51B-4F61-8B80-D58B77F713B7}" type="slidenum">
              <a:rPr lang="en-US"/>
              <a:pPr/>
              <a:t>8</a:t>
            </a:fld>
            <a:endParaRPr lang="en-US"/>
          </a:p>
        </p:txBody>
      </p:sp>
      <p:sp>
        <p:nvSpPr>
          <p:cNvPr id="61442" name="Rectangle 1026"/>
          <p:cNvSpPr>
            <a:spLocks noGrp="1" noChangeArrowheads="1"/>
          </p:cNvSpPr>
          <p:nvPr>
            <p:ph type="title"/>
          </p:nvPr>
        </p:nvSpPr>
        <p:spPr>
          <a:xfrm>
            <a:off x="685800" y="304800"/>
            <a:ext cx="7620000" cy="609600"/>
          </a:xfrm>
        </p:spPr>
        <p:txBody>
          <a:bodyPr>
            <a:normAutofit fontScale="90000"/>
          </a:bodyPr>
          <a:lstStyle/>
          <a:p>
            <a:pPr eaLnBrk="1" hangingPunct="1"/>
            <a:r>
              <a:rPr lang="en-US" dirty="0" smtClean="0"/>
              <a:t>Algorithm of ID3</a:t>
            </a:r>
          </a:p>
        </p:txBody>
      </p:sp>
      <p:sp>
        <p:nvSpPr>
          <p:cNvPr id="61443" name="Rectangle 1027"/>
          <p:cNvSpPr>
            <a:spLocks noGrp="1" noChangeArrowheads="1"/>
          </p:cNvSpPr>
          <p:nvPr>
            <p:ph type="body" idx="1"/>
          </p:nvPr>
        </p:nvSpPr>
        <p:spPr>
          <a:xfrm>
            <a:off x="304800" y="1219200"/>
            <a:ext cx="8763000" cy="5562600"/>
          </a:xfrm>
        </p:spPr>
        <p:txBody>
          <a:bodyPr>
            <a:normAutofit lnSpcReduction="10000"/>
          </a:bodyPr>
          <a:lstStyle/>
          <a:p>
            <a:pPr eaLnBrk="1" hangingPunct="1">
              <a:spcBef>
                <a:spcPct val="0"/>
              </a:spcBef>
            </a:pPr>
            <a:r>
              <a:rPr lang="en-US" sz="2400" smtClean="0"/>
              <a:t>Basic algorithm (a greedy algorithm)</a:t>
            </a:r>
          </a:p>
          <a:p>
            <a:pPr lvl="1" eaLnBrk="1" hangingPunct="1">
              <a:spcBef>
                <a:spcPct val="0"/>
              </a:spcBef>
            </a:pPr>
            <a:r>
              <a:rPr lang="en-US" sz="2400" smtClean="0"/>
              <a:t>Tree is constructed in a </a:t>
            </a:r>
            <a:r>
              <a:rPr lang="en-US" sz="2400" smtClean="0">
                <a:solidFill>
                  <a:schemeClr val="hlink"/>
                </a:solidFill>
              </a:rPr>
              <a:t>top-down recursive divide-and-conquer manner</a:t>
            </a:r>
          </a:p>
          <a:p>
            <a:pPr lvl="1" eaLnBrk="1" hangingPunct="1">
              <a:spcBef>
                <a:spcPct val="0"/>
              </a:spcBef>
            </a:pPr>
            <a:r>
              <a:rPr lang="en-US" sz="2400" smtClean="0"/>
              <a:t>At start, all the training examples are at the root</a:t>
            </a:r>
          </a:p>
          <a:p>
            <a:pPr lvl="1" eaLnBrk="1" hangingPunct="1">
              <a:spcBef>
                <a:spcPct val="0"/>
              </a:spcBef>
            </a:pPr>
            <a:r>
              <a:rPr lang="en-US" sz="2400" smtClean="0"/>
              <a:t>Attributes are categorical (if continuous-valued, they are discretized in advance)</a:t>
            </a:r>
          </a:p>
          <a:p>
            <a:pPr lvl="1" eaLnBrk="1" hangingPunct="1">
              <a:spcBef>
                <a:spcPct val="0"/>
              </a:spcBef>
            </a:pPr>
            <a:r>
              <a:rPr lang="en-US" sz="2400" smtClean="0"/>
              <a:t>Examples are partitioned recursively based on selected attributes</a:t>
            </a:r>
          </a:p>
          <a:p>
            <a:pPr lvl="1" eaLnBrk="1" hangingPunct="1">
              <a:spcBef>
                <a:spcPct val="0"/>
              </a:spcBef>
            </a:pPr>
            <a:r>
              <a:rPr lang="en-US" sz="2400" smtClean="0"/>
              <a:t>Test attributes are selected on the basis of a heuristic or statistical measure (e.g., </a:t>
            </a:r>
            <a:r>
              <a:rPr lang="en-US" sz="2400" smtClean="0">
                <a:solidFill>
                  <a:schemeClr val="hlink"/>
                </a:solidFill>
              </a:rPr>
              <a:t>information gain</a:t>
            </a:r>
            <a:r>
              <a:rPr lang="en-US" sz="2400" smtClean="0"/>
              <a:t>)</a:t>
            </a:r>
          </a:p>
          <a:p>
            <a:pPr eaLnBrk="1" hangingPunct="1">
              <a:spcBef>
                <a:spcPct val="0"/>
              </a:spcBef>
            </a:pPr>
            <a:r>
              <a:rPr lang="en-US" sz="2400" smtClean="0"/>
              <a:t>Conditions for stopping partitioning</a:t>
            </a:r>
          </a:p>
          <a:p>
            <a:pPr lvl="1" eaLnBrk="1" hangingPunct="1">
              <a:spcBef>
                <a:spcPct val="0"/>
              </a:spcBef>
            </a:pPr>
            <a:r>
              <a:rPr lang="en-US" sz="2400" smtClean="0"/>
              <a:t>All samples for a given node belong to the same class</a:t>
            </a:r>
          </a:p>
          <a:p>
            <a:pPr lvl="1" eaLnBrk="1" hangingPunct="1">
              <a:spcBef>
                <a:spcPct val="0"/>
              </a:spcBef>
            </a:pPr>
            <a:r>
              <a:rPr lang="en-US" sz="2400" smtClean="0"/>
              <a:t>There are no remaining attributes for further partitioning – </a:t>
            </a:r>
            <a:r>
              <a:rPr lang="en-US" sz="2400" smtClean="0">
                <a:solidFill>
                  <a:schemeClr val="hlink"/>
                </a:solidFill>
              </a:rPr>
              <a:t>majority voting</a:t>
            </a:r>
            <a:r>
              <a:rPr lang="en-US" sz="2400" smtClean="0"/>
              <a:t> is employed for classifying the leaf</a:t>
            </a:r>
          </a:p>
          <a:p>
            <a:pPr lvl="1" eaLnBrk="1" hangingPunct="1">
              <a:spcBef>
                <a:spcPct val="0"/>
              </a:spcBef>
            </a:pPr>
            <a:r>
              <a:rPr lang="en-US" sz="2400" smtClean="0"/>
              <a:t>There are no samples left</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304800" y="304800"/>
            <a:ext cx="8402638" cy="762000"/>
          </a:xfrm>
        </p:spPr>
        <p:txBody>
          <a:bodyPr>
            <a:normAutofit fontScale="90000"/>
          </a:bodyPr>
          <a:lstStyle/>
          <a:p>
            <a:r>
              <a:rPr lang="en-US" sz="2800" dirty="0" smtClean="0"/>
              <a:t>Brief Review of Entropy</a:t>
            </a:r>
            <a:r>
              <a:rPr lang="en-US" sz="2000" dirty="0" smtClean="0"/>
              <a:t/>
            </a:r>
            <a:br>
              <a:rPr lang="en-US" sz="2000" dirty="0" smtClean="0"/>
            </a:br>
            <a:r>
              <a:rPr lang="en-US" sz="2000" dirty="0" smtClean="0"/>
              <a:t>(Already discussed in entropy based </a:t>
            </a:r>
            <a:r>
              <a:rPr lang="en-US" sz="2000" dirty="0" err="1" smtClean="0"/>
              <a:t>discretization</a:t>
            </a:r>
            <a:r>
              <a:rPr lang="en-US" sz="2000" dirty="0" smtClean="0"/>
              <a:t> technique)</a:t>
            </a:r>
          </a:p>
        </p:txBody>
      </p:sp>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cstate="print"/>
            <a:stretch>
              <a:fillRect l="-288" t="-1043" r="-1513"/>
            </a:stretch>
          </a:blipFill>
          <a:extLs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a:defRPr/>
            </a:pPr>
            <a:r>
              <a:rPr lang="en-US">
                <a:noFill/>
                <a:ea typeface="+mn-ea"/>
                <a:cs typeface="+mn-cs"/>
              </a:rPr>
              <a:t> </a:t>
            </a:r>
          </a:p>
        </p:txBody>
      </p:sp>
      <p:sp>
        <p:nvSpPr>
          <p:cNvPr id="63491" name="Slide Number Placeholder 3"/>
          <p:cNvSpPr>
            <a:spLocks noGrp="1"/>
          </p:cNvSpPr>
          <p:nvPr>
            <p:ph type="sldNum" sz="quarter" idx="10"/>
          </p:nvPr>
        </p:nvSpPr>
        <p:spPr>
          <a:noFill/>
        </p:spPr>
        <p:txBody>
          <a:bodyPr/>
          <a:lstStyle/>
          <a:p>
            <a:fld id="{D90206C6-101A-4C43-B46A-B9A4426D02B1}" type="slidenum">
              <a:rPr lang="en-US"/>
              <a:pPr/>
              <a:t>9</a:t>
            </a:fld>
            <a:endParaRPr lang="en-US"/>
          </a:p>
        </p:txBody>
      </p:sp>
      <p:pic>
        <p:nvPicPr>
          <p:cNvPr id="63492" name="Picture 2" descr="http://upload.wikimedia.org/wikipedia/commons/thumb/2/22/Binary_entropy_plot.svg/200px-Binary_entropy_plot.svg.png"/>
          <p:cNvPicPr>
            <a:picLocks noChangeAspect="1" noChangeArrowheads="1"/>
          </p:cNvPicPr>
          <p:nvPr/>
        </p:nvPicPr>
        <p:blipFill>
          <a:blip r:embed="rId4"/>
          <a:srcRect/>
          <a:stretch>
            <a:fillRect/>
          </a:stretch>
        </p:blipFill>
        <p:spPr bwMode="auto">
          <a:xfrm>
            <a:off x="6400800" y="3962400"/>
            <a:ext cx="1905000" cy="1838325"/>
          </a:xfrm>
          <a:prstGeom prst="rect">
            <a:avLst/>
          </a:prstGeom>
          <a:noFill/>
          <a:ln w="9525">
            <a:noFill/>
            <a:miter lim="800000"/>
            <a:headEnd/>
            <a:tailEnd/>
          </a:ln>
        </p:spPr>
      </p:pic>
      <p:sp>
        <p:nvSpPr>
          <p:cNvPr id="63493" name="TextBox 4"/>
          <p:cNvSpPr txBox="1">
            <a:spLocks noChangeArrowheads="1"/>
          </p:cNvSpPr>
          <p:nvPr/>
        </p:nvSpPr>
        <p:spPr bwMode="auto">
          <a:xfrm>
            <a:off x="7162800" y="6096000"/>
            <a:ext cx="801688" cy="338138"/>
          </a:xfrm>
          <a:prstGeom prst="rect">
            <a:avLst/>
          </a:prstGeom>
          <a:noFill/>
          <a:ln w="9525">
            <a:noFill/>
            <a:miter lim="800000"/>
            <a:headEnd/>
            <a:tailEnd/>
          </a:ln>
        </p:spPr>
        <p:txBody>
          <a:bodyPr wrap="none">
            <a:spAutoFit/>
          </a:bodyPr>
          <a:lstStyle/>
          <a:p>
            <a:r>
              <a:rPr lang="en-US" sz="1600" b="1"/>
              <a:t>m = 2</a:t>
            </a:r>
          </a:p>
        </p:txBody>
      </p:sp>
      <p:grpSp>
        <p:nvGrpSpPr>
          <p:cNvPr id="2" name="Group 3"/>
          <p:cNvGrpSpPr>
            <a:grpSpLocks/>
          </p:cNvGrpSpPr>
          <p:nvPr/>
        </p:nvGrpSpPr>
        <p:grpSpPr bwMode="auto">
          <a:xfrm>
            <a:off x="5867400" y="6019800"/>
            <a:ext cx="2914650" cy="717550"/>
            <a:chOff x="1960" y="12410"/>
            <a:chExt cx="4590" cy="1130"/>
          </a:xfrm>
        </p:grpSpPr>
        <p:sp>
          <p:nvSpPr>
            <p:cNvPr id="9" name="AutoShape 4"/>
            <p:cNvSpPr>
              <a:spLocks noChangeArrowheads="1"/>
            </p:cNvSpPr>
            <p:nvPr/>
          </p:nvSpPr>
          <p:spPr bwMode="auto">
            <a:xfrm>
              <a:off x="1960" y="12430"/>
              <a:ext cx="4590" cy="1110"/>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Y/(X=x1)   Y/(X=x2)   ……….    Y/(X=x)    Y/( X=x</a:t>
              </a:r>
              <a:r>
                <a:rPr kumimoji="0" lang="en-US" sz="1100" b="0" i="0" u="none" strike="noStrike" cap="none" normalizeH="0" baseline="-25000" smtClean="0">
                  <a:ln>
                    <a:noFill/>
                  </a:ln>
                  <a:solidFill>
                    <a:schemeClr val="tx1"/>
                  </a:solidFill>
                  <a:effectLst/>
                  <a:latin typeface="Calibri" pitchFamily="34" charset="0"/>
                  <a:cs typeface="Arial" pitchFamily="34" charset="0"/>
                </a:rPr>
                <a:t>n</a:t>
              </a:r>
              <a:r>
                <a:rPr kumimoji="0" lang="en-US" sz="1100" b="0" i="0" u="none" strike="noStrike" cap="none" normalizeH="0" baseline="0" smtClean="0">
                  <a:ln>
                    <a:noFill/>
                  </a:ln>
                  <a:solidFill>
                    <a:schemeClr val="tx1"/>
                  </a:solidFill>
                  <a:effectLst/>
                  <a:latin typeface="Calibri" pitchFamily="34" charset="0"/>
                  <a:cs typeface="Arial" pitchFamily="34" charset="0"/>
                </a:rPr>
                <a: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10" name="AutoShape 5"/>
            <p:cNvCxnSpPr>
              <a:cxnSpLocks noChangeShapeType="1"/>
            </p:cNvCxnSpPr>
            <p:nvPr/>
          </p:nvCxnSpPr>
          <p:spPr bwMode="auto">
            <a:xfrm flipH="1">
              <a:off x="2930" y="12430"/>
              <a:ext cx="20" cy="1110"/>
            </a:xfrm>
            <a:prstGeom prst="straightConnector1">
              <a:avLst/>
            </a:prstGeom>
            <a:noFill/>
            <a:ln w="9525">
              <a:solidFill>
                <a:srgbClr val="000000"/>
              </a:solidFill>
              <a:round/>
              <a:headEnd/>
              <a:tailEnd/>
            </a:ln>
          </p:spPr>
        </p:cxnSp>
        <p:cxnSp>
          <p:nvCxnSpPr>
            <p:cNvPr id="11" name="AutoShape 6"/>
            <p:cNvCxnSpPr>
              <a:cxnSpLocks noChangeShapeType="1"/>
            </p:cNvCxnSpPr>
            <p:nvPr/>
          </p:nvCxnSpPr>
          <p:spPr bwMode="auto">
            <a:xfrm flipH="1">
              <a:off x="3870" y="12430"/>
              <a:ext cx="20" cy="1110"/>
            </a:xfrm>
            <a:prstGeom prst="straightConnector1">
              <a:avLst/>
            </a:prstGeom>
            <a:noFill/>
            <a:ln w="9525">
              <a:solidFill>
                <a:srgbClr val="000000"/>
              </a:solidFill>
              <a:round/>
              <a:headEnd/>
              <a:tailEnd/>
            </a:ln>
          </p:spPr>
        </p:cxnSp>
        <p:cxnSp>
          <p:nvCxnSpPr>
            <p:cNvPr id="12" name="AutoShape 7"/>
            <p:cNvCxnSpPr>
              <a:cxnSpLocks noChangeShapeType="1"/>
            </p:cNvCxnSpPr>
            <p:nvPr/>
          </p:nvCxnSpPr>
          <p:spPr bwMode="auto">
            <a:xfrm flipH="1">
              <a:off x="4520" y="12410"/>
              <a:ext cx="10" cy="1110"/>
            </a:xfrm>
            <a:prstGeom prst="straightConnector1">
              <a:avLst/>
            </a:prstGeom>
            <a:noFill/>
            <a:ln w="9525">
              <a:solidFill>
                <a:srgbClr val="000000"/>
              </a:solidFill>
              <a:round/>
              <a:headEnd/>
              <a:tailEnd/>
            </a:ln>
          </p:spPr>
        </p:cxnSp>
        <p:cxnSp>
          <p:nvCxnSpPr>
            <p:cNvPr id="13" name="AutoShape 8"/>
            <p:cNvCxnSpPr>
              <a:cxnSpLocks noChangeShapeType="1"/>
            </p:cNvCxnSpPr>
            <p:nvPr/>
          </p:nvCxnSpPr>
          <p:spPr bwMode="auto">
            <a:xfrm>
              <a:off x="5360" y="12450"/>
              <a:ext cx="20" cy="1060"/>
            </a:xfrm>
            <a:prstGeom prst="straightConnector1">
              <a:avLst/>
            </a:prstGeom>
            <a:noFill/>
            <a:ln w="9525">
              <a:solidFill>
                <a:srgbClr val="000000"/>
              </a:solidFill>
              <a:round/>
              <a:headEnd/>
              <a:tailEnd/>
            </a:ln>
          </p:spPr>
        </p:cxnSp>
      </p:gr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Entropy and uncertainty</a:t>
            </a:r>
            <a:endParaRPr lang="en-US" dirty="0"/>
          </a:p>
        </p:txBody>
      </p:sp>
      <p:sp>
        <p:nvSpPr>
          <p:cNvPr id="3" name="Content Placeholder 2"/>
          <p:cNvSpPr>
            <a:spLocks noGrp="1"/>
          </p:cNvSpPr>
          <p:nvPr>
            <p:ph idx="1"/>
          </p:nvPr>
        </p:nvSpPr>
        <p:spPr>
          <a:xfrm>
            <a:off x="304800" y="1143000"/>
            <a:ext cx="8458200" cy="2819400"/>
          </a:xfrm>
        </p:spPr>
        <p:txBody>
          <a:bodyPr/>
          <a:lstStyle/>
          <a:p>
            <a:r>
              <a:rPr lang="en-US" sz="2400" dirty="0" smtClean="0"/>
              <a:t>Suppose three patients have completed a medical test which, yields one of two possible results: the disease is either present or absent. </a:t>
            </a:r>
          </a:p>
          <a:p>
            <a:r>
              <a:rPr lang="en-US" sz="2400" dirty="0" smtClean="0"/>
              <a:t>Let Patient A has 95% chance that he has the disease. For Patient B and C it is 30% and 50%, respectively. </a:t>
            </a:r>
          </a:p>
          <a:p>
            <a:r>
              <a:rPr lang="en-US" sz="2400" dirty="0" smtClean="0"/>
              <a:t>So, if A, B, and C are in waiting room of a doctor’s office, then the uncertainty of the waiting room is: </a:t>
            </a:r>
          </a:p>
          <a:p>
            <a:endParaRPr lang="en-US" dirty="0" smtClean="0"/>
          </a:p>
        </p:txBody>
      </p:sp>
      <p:sp>
        <p:nvSpPr>
          <p:cNvPr id="4" name="Slide Number Placeholder 3"/>
          <p:cNvSpPr>
            <a:spLocks noGrp="1"/>
          </p:cNvSpPr>
          <p:nvPr>
            <p:ph type="sldNum" sz="quarter" idx="10"/>
          </p:nvPr>
        </p:nvSpPr>
        <p:spPr/>
        <p:txBody>
          <a:bodyPr/>
          <a:lstStyle/>
          <a:p>
            <a:fld id="{D37A8A04-1C0C-4C06-A72C-2BB05733F882}" type="slidenum">
              <a:rPr lang="en-US" smtClean="0"/>
              <a:pPr/>
              <a:t>10</a:t>
            </a:fld>
            <a:endParaRPr lang="en-US"/>
          </a:p>
        </p:txBody>
      </p:sp>
      <p:pic>
        <p:nvPicPr>
          <p:cNvPr id="452610" name="Picture 2" descr="https://miro.medium.com/v2/resize:fit:960/1*dmTs2OeXV05RU-9c3Dljow.png"/>
          <p:cNvPicPr>
            <a:picLocks noChangeAspect="1" noChangeArrowheads="1"/>
          </p:cNvPicPr>
          <p:nvPr/>
        </p:nvPicPr>
        <p:blipFill>
          <a:blip r:embed="rId2"/>
          <a:srcRect/>
          <a:stretch>
            <a:fillRect/>
          </a:stretch>
        </p:blipFill>
        <p:spPr bwMode="auto">
          <a:xfrm>
            <a:off x="2133600" y="3962400"/>
            <a:ext cx="4267200" cy="2743200"/>
          </a:xfrm>
          <a:prstGeom prst="rect">
            <a:avLst/>
          </a:prstGeom>
          <a:noFill/>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Entropy and uncertainty</a:t>
            </a:r>
            <a:endParaRPr lang="en-US" dirty="0"/>
          </a:p>
        </p:txBody>
      </p:sp>
      <p:sp>
        <p:nvSpPr>
          <p:cNvPr id="3" name="Content Placeholder 2"/>
          <p:cNvSpPr>
            <a:spLocks noGrp="1"/>
          </p:cNvSpPr>
          <p:nvPr>
            <p:ph idx="1"/>
          </p:nvPr>
        </p:nvSpPr>
        <p:spPr>
          <a:xfrm>
            <a:off x="304800" y="1066800"/>
            <a:ext cx="8458200" cy="5562600"/>
          </a:xfrm>
        </p:spPr>
        <p:txBody>
          <a:bodyPr>
            <a:normAutofit lnSpcReduction="10000"/>
          </a:bodyPr>
          <a:lstStyle/>
          <a:p>
            <a:r>
              <a:rPr lang="en-US" sz="2400" dirty="0" smtClean="0"/>
              <a:t>All other things being equal, which of the three patients is confronted with the greatest degree of uncertainty?</a:t>
            </a:r>
          </a:p>
          <a:p>
            <a:r>
              <a:rPr lang="en-US" sz="2400" dirty="0" smtClean="0"/>
              <a:t>I think the answer is clear: patient C. </a:t>
            </a:r>
          </a:p>
          <a:p>
            <a:r>
              <a:rPr lang="en-US" sz="2400" dirty="0" smtClean="0"/>
              <a:t>Compare this with patient A. Patient A is experiencing little uncertainty with regard to his medical prospects.</a:t>
            </a:r>
          </a:p>
          <a:p>
            <a:r>
              <a:rPr lang="en-US" sz="2400" dirty="0" smtClean="0"/>
              <a:t>Intuitively speaking, uncertainty of patient B falls in between that of A and C.</a:t>
            </a:r>
          </a:p>
          <a:p>
            <a:r>
              <a:rPr lang="en-US" sz="2400" b="1" dirty="0" smtClean="0"/>
              <a:t>Measuring uncertainty: </a:t>
            </a:r>
            <a:r>
              <a:rPr lang="en-US" sz="2400" dirty="0" smtClean="0">
                <a:solidFill>
                  <a:srgbClr val="FF0000"/>
                </a:solidFill>
              </a:rPr>
              <a:t>Entropy</a:t>
            </a:r>
            <a:r>
              <a:rPr lang="en-US" sz="2400" dirty="0" smtClean="0"/>
              <a:t> is a measure of uncertainty.</a:t>
            </a:r>
          </a:p>
          <a:p>
            <a:r>
              <a:rPr lang="en-US" sz="2400" dirty="0" smtClean="0"/>
              <a:t>Entropy allows us to make precise statements and perform computations with regard to one of life’s most pressing issues: not knowing how things will turn out.</a:t>
            </a:r>
          </a:p>
          <a:p>
            <a:r>
              <a:rPr lang="en-US" sz="2400" dirty="0" smtClean="0"/>
              <a:t>By the term entropy, I will refer to </a:t>
            </a:r>
            <a:r>
              <a:rPr lang="en-US" sz="2400" b="1" dirty="0" smtClean="0"/>
              <a:t>Shannon entropy, </a:t>
            </a:r>
            <a:r>
              <a:rPr lang="en-US" sz="2400" dirty="0" smtClean="0"/>
              <a:t>which is used most frequently in natural language processing and machine learning.</a:t>
            </a:r>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Entropy and uncertainty</a:t>
            </a:r>
            <a:endParaRPr lang="en-US" dirty="0"/>
          </a:p>
        </p:txBody>
      </p:sp>
      <p:sp>
        <p:nvSpPr>
          <p:cNvPr id="3" name="Content Placeholder 2"/>
          <p:cNvSpPr>
            <a:spLocks noGrp="1"/>
          </p:cNvSpPr>
          <p:nvPr>
            <p:ph idx="1"/>
          </p:nvPr>
        </p:nvSpPr>
        <p:spPr>
          <a:xfrm>
            <a:off x="152400" y="1219200"/>
            <a:ext cx="8839200" cy="5257800"/>
          </a:xfrm>
        </p:spPr>
        <p:txBody>
          <a:bodyPr>
            <a:normAutofit fontScale="92500"/>
          </a:bodyPr>
          <a:lstStyle/>
          <a:p>
            <a:r>
              <a:rPr lang="en-US" dirty="0" smtClean="0"/>
              <a:t>The </a:t>
            </a:r>
            <a:r>
              <a:rPr lang="en-US" b="1" dirty="0" smtClean="0"/>
              <a:t>Shannon entropy</a:t>
            </a:r>
            <a:r>
              <a:rPr lang="en-US" dirty="0" smtClean="0"/>
              <a:t> formula for an event  </a:t>
            </a:r>
            <a:r>
              <a:rPr lang="en-US" i="1" dirty="0" smtClean="0"/>
              <a:t>X</a:t>
            </a:r>
            <a:r>
              <a:rPr lang="en-US" dirty="0" smtClean="0"/>
              <a:t> with </a:t>
            </a:r>
            <a:r>
              <a:rPr lang="en-US" i="1" dirty="0" smtClean="0"/>
              <a:t>n </a:t>
            </a:r>
            <a:r>
              <a:rPr lang="en-US" dirty="0" smtClean="0"/>
              <a:t>possible outcomes and probabilities </a:t>
            </a:r>
            <a:r>
              <a:rPr lang="en-US" i="1" dirty="0" smtClean="0"/>
              <a:t>p</a:t>
            </a:r>
            <a:r>
              <a:rPr lang="en-US" i="1" baseline="-25000" dirty="0" smtClean="0"/>
              <a:t>1</a:t>
            </a:r>
            <a:r>
              <a:rPr lang="en-US" i="1" dirty="0" smtClean="0"/>
              <a:t>, …, </a:t>
            </a:r>
            <a:r>
              <a:rPr lang="en-US" i="1" dirty="0" err="1" smtClean="0"/>
              <a:t>p</a:t>
            </a:r>
            <a:r>
              <a:rPr lang="en-US" i="1" baseline="-25000" dirty="0" err="1" smtClean="0"/>
              <a:t>n</a:t>
            </a:r>
            <a:r>
              <a:rPr lang="en-US" dirty="0" smtClean="0"/>
              <a:t>:</a:t>
            </a:r>
          </a:p>
          <a:p>
            <a:pPr>
              <a:buNone/>
            </a:pPr>
            <a:endParaRPr lang="en-US" dirty="0" smtClean="0"/>
          </a:p>
          <a:p>
            <a:endParaRPr lang="en-IN" dirty="0" smtClean="0"/>
          </a:p>
          <a:p>
            <a:endParaRPr lang="en-IN" dirty="0" smtClean="0"/>
          </a:p>
          <a:p>
            <a:r>
              <a:rPr lang="en-US" b="1" dirty="0" smtClean="0"/>
              <a:t>Basic properties of uncertainty:</a:t>
            </a:r>
          </a:p>
          <a:p>
            <a:pPr marL="514350" indent="-514350">
              <a:buNone/>
            </a:pPr>
            <a:r>
              <a:rPr lang="en-US" b="1" dirty="0" smtClean="0"/>
              <a:t>Prop. 1: Uniform distributions have maximum uncertainty</a:t>
            </a:r>
          </a:p>
          <a:p>
            <a:pPr marL="514350" indent="-514350">
              <a:buNone/>
            </a:pPr>
            <a:r>
              <a:rPr lang="en-IN" b="1" dirty="0" smtClean="0"/>
              <a:t>	</a:t>
            </a:r>
            <a:r>
              <a:rPr lang="en-US" dirty="0" smtClean="0"/>
              <a:t> If your goal is to minimize uncertainty, stay away from </a:t>
            </a:r>
            <a:r>
              <a:rPr lang="en-US" b="1" dirty="0" smtClean="0"/>
              <a:t>uniform probability distributions</a:t>
            </a:r>
            <a:r>
              <a:rPr lang="en-US" dirty="0" smtClean="0"/>
              <a:t>.</a:t>
            </a:r>
            <a:endParaRPr lang="en-IN" b="1" dirty="0" smtClean="0"/>
          </a:p>
        </p:txBody>
      </p:sp>
      <p:sp>
        <p:nvSpPr>
          <p:cNvPr id="4" name="Slide Number Placeholder 3"/>
          <p:cNvSpPr>
            <a:spLocks noGrp="1"/>
          </p:cNvSpPr>
          <p:nvPr>
            <p:ph type="sldNum" sz="quarter" idx="10"/>
          </p:nvPr>
        </p:nvSpPr>
        <p:spPr/>
        <p:txBody>
          <a:bodyPr/>
          <a:lstStyle/>
          <a:p>
            <a:fld id="{D37A8A04-1C0C-4C06-A72C-2BB05733F882}" type="slidenum">
              <a:rPr lang="en-US" smtClean="0"/>
              <a:pPr/>
              <a:t>12</a:t>
            </a:fld>
            <a:endParaRPr lang="en-US"/>
          </a:p>
        </p:txBody>
      </p:sp>
      <p:pic>
        <p:nvPicPr>
          <p:cNvPr id="459778" name="Picture 2" descr="https://miro.medium.com/v2/resize:fit:1050/0*a50ZrZrpo_Ny7MGG.png"/>
          <p:cNvPicPr>
            <a:picLocks noChangeAspect="1" noChangeArrowheads="1"/>
          </p:cNvPicPr>
          <p:nvPr/>
        </p:nvPicPr>
        <p:blipFill>
          <a:blip r:embed="rId2"/>
          <a:srcRect/>
          <a:stretch>
            <a:fillRect/>
          </a:stretch>
        </p:blipFill>
        <p:spPr bwMode="auto">
          <a:xfrm>
            <a:off x="990600" y="2590800"/>
            <a:ext cx="5943600" cy="961933"/>
          </a:xfrm>
          <a:prstGeom prst="rect">
            <a:avLst/>
          </a:prstGeom>
          <a:noFill/>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 -1 of uncertainty</a:t>
            </a:r>
            <a:endParaRPr lang="en-US" dirty="0"/>
          </a:p>
        </p:txBody>
      </p:sp>
      <p:sp>
        <p:nvSpPr>
          <p:cNvPr id="3" name="Content Placeholder 2"/>
          <p:cNvSpPr>
            <a:spLocks noGrp="1"/>
          </p:cNvSpPr>
          <p:nvPr>
            <p:ph idx="1"/>
          </p:nvPr>
        </p:nvSpPr>
        <p:spPr>
          <a:xfrm>
            <a:off x="304800" y="1066800"/>
            <a:ext cx="8458200" cy="3200400"/>
          </a:xfrm>
        </p:spPr>
        <p:txBody>
          <a:bodyPr>
            <a:normAutofit fontScale="92500"/>
          </a:bodyPr>
          <a:lstStyle/>
          <a:p>
            <a:r>
              <a:rPr lang="en-US" sz="2400" dirty="0" smtClean="0"/>
              <a:t>A probability distribution is a function that assigns a probability to every possible outcome such that the probabilities add up to 1. </a:t>
            </a:r>
          </a:p>
          <a:p>
            <a:r>
              <a:rPr lang="en-US" sz="2400" dirty="0" smtClean="0"/>
              <a:t>A distribution is uniform when all of the outcomes have the same probability. </a:t>
            </a:r>
          </a:p>
          <a:p>
            <a:r>
              <a:rPr lang="en-US" sz="2400" dirty="0" smtClean="0"/>
              <a:t>For example, fair coins (50% heads, 50% tails) and fair dice (1/6 probability for each of the six faces) follow uniform distributions.</a:t>
            </a: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13</a:t>
            </a:fld>
            <a:endParaRPr lang="en-US"/>
          </a:p>
        </p:txBody>
      </p:sp>
      <p:pic>
        <p:nvPicPr>
          <p:cNvPr id="5" name="Picture 2" descr="https://miro.medium.com/v2/resize:fit:960/1*sYmGmOiSB9XL-rPoqdbnRw.png"/>
          <p:cNvPicPr>
            <a:picLocks noChangeAspect="1" noChangeArrowheads="1"/>
          </p:cNvPicPr>
          <p:nvPr/>
        </p:nvPicPr>
        <p:blipFill>
          <a:blip r:embed="rId2"/>
          <a:srcRect/>
          <a:stretch>
            <a:fillRect/>
          </a:stretch>
        </p:blipFill>
        <p:spPr bwMode="auto">
          <a:xfrm>
            <a:off x="2743200" y="3962400"/>
            <a:ext cx="4251158" cy="2667000"/>
          </a:xfrm>
          <a:prstGeom prst="rect">
            <a:avLst/>
          </a:prstGeom>
          <a:noFill/>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Prop -1 of uncertainty</a:t>
            </a:r>
            <a:endParaRPr lang="en-US" dirty="0"/>
          </a:p>
        </p:txBody>
      </p:sp>
      <p:sp>
        <p:nvSpPr>
          <p:cNvPr id="7" name="Content Placeholder 6"/>
          <p:cNvSpPr>
            <a:spLocks noGrp="1"/>
          </p:cNvSpPr>
          <p:nvPr>
            <p:ph idx="1"/>
          </p:nvPr>
        </p:nvSpPr>
        <p:spPr>
          <a:xfrm>
            <a:off x="304800" y="1219200"/>
            <a:ext cx="8458200" cy="5562600"/>
          </a:xfrm>
        </p:spPr>
        <p:txBody>
          <a:bodyPr/>
          <a:lstStyle/>
          <a:p>
            <a:r>
              <a:rPr lang="en-US" sz="2400" dirty="0" smtClean="0"/>
              <a:t>A good measure of uncertainty achieves its highest values for uniform distributions.  </a:t>
            </a:r>
          </a:p>
          <a:p>
            <a:r>
              <a:rPr lang="en-US" sz="2400" dirty="0" smtClean="0"/>
              <a:t>Entropy satisfies the criterion. Given </a:t>
            </a:r>
            <a:r>
              <a:rPr lang="en-US" sz="2400" i="1" dirty="0" smtClean="0"/>
              <a:t>n </a:t>
            </a:r>
            <a:r>
              <a:rPr lang="en-US" sz="2400" dirty="0" smtClean="0"/>
              <a:t>possible outcomes, maximum entropy is maximized by </a:t>
            </a:r>
            <a:r>
              <a:rPr lang="en-US" sz="2400" dirty="0" err="1" smtClean="0"/>
              <a:t>equiprobable</a:t>
            </a:r>
            <a:r>
              <a:rPr lang="en-US" sz="2400" dirty="0" smtClean="0"/>
              <a:t> outcomes:</a:t>
            </a:r>
          </a:p>
          <a:p>
            <a:endParaRPr lang="en-US" sz="2400" dirty="0" smtClean="0"/>
          </a:p>
          <a:p>
            <a:r>
              <a:rPr lang="en-US" sz="2400" dirty="0" smtClean="0"/>
              <a:t>Here is the plot of the Entropy function as applied to Bernoulli trials (events with two possible outcomes and probabilities </a:t>
            </a:r>
            <a:r>
              <a:rPr lang="en-US" sz="2400" i="1" dirty="0" smtClean="0"/>
              <a:t>p</a:t>
            </a:r>
            <a:r>
              <a:rPr lang="en-US" sz="2400" dirty="0" smtClean="0"/>
              <a:t> and </a:t>
            </a:r>
            <a:r>
              <a:rPr lang="en-US" sz="2400" i="1" dirty="0" smtClean="0"/>
              <a:t>1-p</a:t>
            </a:r>
            <a:r>
              <a:rPr lang="en-US" sz="2400" dirty="0" smtClean="0"/>
              <a:t>):</a:t>
            </a:r>
          </a:p>
          <a:p>
            <a:r>
              <a:rPr lang="en-US" sz="2400" dirty="0" smtClean="0"/>
              <a:t>In the case of Bernoulli trials, </a:t>
            </a:r>
          </a:p>
          <a:p>
            <a:pPr>
              <a:buNone/>
            </a:pPr>
            <a:r>
              <a:rPr lang="en-US" sz="2400" dirty="0" smtClean="0"/>
              <a:t>     entropy reaches its </a:t>
            </a:r>
          </a:p>
          <a:p>
            <a:pPr>
              <a:buNone/>
            </a:pPr>
            <a:r>
              <a:rPr lang="en-US" sz="2400" dirty="0" smtClean="0"/>
              <a:t>     maximum value for p=0.5</a:t>
            </a:r>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14</a:t>
            </a:fld>
            <a:endParaRPr lang="en-US"/>
          </a:p>
        </p:txBody>
      </p:sp>
      <p:pic>
        <p:nvPicPr>
          <p:cNvPr id="461828" name="Picture 4" descr="https://miro.medium.com/v2/resize:fit:632/0*bEhsYxBf_CP4qTI6.png"/>
          <p:cNvPicPr>
            <a:picLocks noChangeAspect="1" noChangeArrowheads="1"/>
          </p:cNvPicPr>
          <p:nvPr/>
        </p:nvPicPr>
        <p:blipFill>
          <a:blip r:embed="rId2"/>
          <a:srcRect/>
          <a:stretch>
            <a:fillRect/>
          </a:stretch>
        </p:blipFill>
        <p:spPr bwMode="auto">
          <a:xfrm>
            <a:off x="2438400" y="2743200"/>
            <a:ext cx="2333625" cy="637452"/>
          </a:xfrm>
          <a:prstGeom prst="rect">
            <a:avLst/>
          </a:prstGeom>
          <a:noFill/>
        </p:spPr>
      </p:pic>
      <p:pic>
        <p:nvPicPr>
          <p:cNvPr id="461830" name="Picture 6" descr="https://miro.medium.com/v2/resize:fit:450/0*8JwLMUrBgGWM7rWr.png"/>
          <p:cNvPicPr>
            <a:picLocks noChangeAspect="1" noChangeArrowheads="1"/>
          </p:cNvPicPr>
          <p:nvPr/>
        </p:nvPicPr>
        <p:blipFill>
          <a:blip r:embed="rId3"/>
          <a:srcRect/>
          <a:stretch>
            <a:fillRect/>
          </a:stretch>
        </p:blipFill>
        <p:spPr bwMode="auto">
          <a:xfrm>
            <a:off x="5029200" y="3886200"/>
            <a:ext cx="3048000" cy="2590800"/>
          </a:xfrm>
          <a:prstGeom prst="rect">
            <a:avLst/>
          </a:prstGeom>
          <a:noFill/>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 -2 of uncertainty</a:t>
            </a:r>
            <a:endParaRPr lang="en-US" dirty="0"/>
          </a:p>
        </p:txBody>
      </p:sp>
      <p:sp>
        <p:nvSpPr>
          <p:cNvPr id="3" name="Content Placeholder 2"/>
          <p:cNvSpPr>
            <a:spLocks noGrp="1"/>
          </p:cNvSpPr>
          <p:nvPr>
            <p:ph idx="1"/>
          </p:nvPr>
        </p:nvSpPr>
        <p:spPr>
          <a:xfrm>
            <a:off x="304800" y="1143000"/>
            <a:ext cx="8458200" cy="5562600"/>
          </a:xfrm>
        </p:spPr>
        <p:txBody>
          <a:bodyPr>
            <a:normAutofit lnSpcReduction="10000"/>
          </a:bodyPr>
          <a:lstStyle/>
          <a:p>
            <a:r>
              <a:rPr lang="en-US" b="1" dirty="0" smtClean="0"/>
              <a:t>Prop-2: Uncertainty is additive for independent events</a:t>
            </a:r>
          </a:p>
          <a:p>
            <a:r>
              <a:rPr lang="en-US" sz="2400" dirty="0" smtClean="0"/>
              <a:t>Let </a:t>
            </a:r>
            <a:r>
              <a:rPr lang="en-US" sz="2400" i="1" dirty="0" smtClean="0"/>
              <a:t>A</a:t>
            </a:r>
            <a:r>
              <a:rPr lang="en-US" sz="2400" dirty="0" smtClean="0"/>
              <a:t> and </a:t>
            </a:r>
            <a:r>
              <a:rPr lang="en-US" sz="2400" i="1" dirty="0" smtClean="0"/>
              <a:t>B</a:t>
            </a:r>
            <a:r>
              <a:rPr lang="en-US" sz="2400" dirty="0" smtClean="0"/>
              <a:t> be independent events. In other words, knowing the outcome of event </a:t>
            </a:r>
            <a:r>
              <a:rPr lang="en-US" sz="2400" i="1" dirty="0" smtClean="0"/>
              <a:t>A</a:t>
            </a:r>
            <a:r>
              <a:rPr lang="en-US" sz="2400" dirty="0" smtClean="0"/>
              <a:t> does not tell us anything about the outcome of event </a:t>
            </a:r>
            <a:r>
              <a:rPr lang="en-US" sz="2400" i="1" dirty="0" smtClean="0"/>
              <a:t>B</a:t>
            </a:r>
            <a:r>
              <a:rPr lang="en-US" sz="2400" dirty="0" smtClean="0"/>
              <a:t>.</a:t>
            </a:r>
          </a:p>
          <a:p>
            <a:r>
              <a:rPr lang="en-US" sz="2400" dirty="0" smtClean="0"/>
              <a:t>The uncertainty associated with both events should be the sum of the individual uncertainties:</a:t>
            </a:r>
          </a:p>
          <a:p>
            <a:endParaRPr lang="en-IN" sz="2400" dirty="0" smtClean="0"/>
          </a:p>
          <a:p>
            <a:r>
              <a:rPr lang="en-US" sz="2400" dirty="0" smtClean="0"/>
              <a:t>Let’s use the example of flipping two coins to make this more concrete. We can either flip both coins simultaneously or first flip one coin and then flip the other one. </a:t>
            </a:r>
          </a:p>
          <a:p>
            <a:r>
              <a:rPr lang="en-US" sz="2400" dirty="0" smtClean="0"/>
              <a:t>In other words, we can either report the outcome of the two coin flips at once or separately. The uncertainty is the same in either case.</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15</a:t>
            </a:fld>
            <a:endParaRPr lang="en-US"/>
          </a:p>
        </p:txBody>
      </p:sp>
      <p:pic>
        <p:nvPicPr>
          <p:cNvPr id="463874" name="Picture 2" descr="https://miro.medium.com/v2/resize:fit:939/0*9VDWro34ADgoajyb.png"/>
          <p:cNvPicPr>
            <a:picLocks noChangeAspect="1" noChangeArrowheads="1"/>
          </p:cNvPicPr>
          <p:nvPr/>
        </p:nvPicPr>
        <p:blipFill>
          <a:blip r:embed="rId2"/>
          <a:srcRect/>
          <a:stretch>
            <a:fillRect/>
          </a:stretch>
        </p:blipFill>
        <p:spPr bwMode="auto">
          <a:xfrm>
            <a:off x="2286000" y="3962400"/>
            <a:ext cx="3581400" cy="320381"/>
          </a:xfrm>
          <a:prstGeom prst="rect">
            <a:avLst/>
          </a:prstGeom>
          <a:noFill/>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 -2 of uncertainty</a:t>
            </a:r>
            <a:endParaRPr lang="en-US" dirty="0"/>
          </a:p>
        </p:txBody>
      </p:sp>
      <p:sp>
        <p:nvSpPr>
          <p:cNvPr id="3" name="Content Placeholder 2"/>
          <p:cNvSpPr>
            <a:spLocks noGrp="1"/>
          </p:cNvSpPr>
          <p:nvPr>
            <p:ph idx="1"/>
          </p:nvPr>
        </p:nvSpPr>
        <p:spPr>
          <a:xfrm>
            <a:off x="304800" y="1219200"/>
            <a:ext cx="8458200" cy="2514600"/>
          </a:xfrm>
        </p:spPr>
        <p:txBody>
          <a:bodyPr/>
          <a:lstStyle/>
          <a:p>
            <a:r>
              <a:rPr lang="en-US" sz="2400" dirty="0" smtClean="0"/>
              <a:t>Ex: Let the first coin lands heads (</a:t>
            </a:r>
            <a:r>
              <a:rPr lang="en-US" sz="2400" i="1" dirty="0" smtClean="0"/>
              <a:t>H</a:t>
            </a:r>
            <a:r>
              <a:rPr lang="en-US" sz="2400" dirty="0" smtClean="0"/>
              <a:t>) up with an 80% probability and tails (</a:t>
            </a:r>
            <a:r>
              <a:rPr lang="en-US" sz="2400" i="1" dirty="0" smtClean="0"/>
              <a:t>T</a:t>
            </a:r>
            <a:r>
              <a:rPr lang="en-US" sz="2400" dirty="0" smtClean="0"/>
              <a:t>) up with a probability of 20%. </a:t>
            </a:r>
          </a:p>
          <a:p>
            <a:r>
              <a:rPr lang="en-US" sz="2400" dirty="0" smtClean="0"/>
              <a:t>The probabilities for the other coin are 60% and 40%.</a:t>
            </a:r>
          </a:p>
          <a:p>
            <a:r>
              <a:rPr lang="en-US" sz="2400" dirty="0" smtClean="0"/>
              <a:t>If we flip both coins simultaneously, there are four possible outcomes: </a:t>
            </a:r>
            <a:r>
              <a:rPr lang="en-US" sz="2400" i="1" dirty="0" smtClean="0"/>
              <a:t>HH</a:t>
            </a:r>
            <a:r>
              <a:rPr lang="en-US" sz="2400" dirty="0" smtClean="0"/>
              <a:t>, </a:t>
            </a:r>
            <a:r>
              <a:rPr lang="en-US" sz="2400" i="1" dirty="0" smtClean="0"/>
              <a:t>HT</a:t>
            </a:r>
            <a:r>
              <a:rPr lang="en-US" sz="2400" dirty="0" smtClean="0"/>
              <a:t>, </a:t>
            </a:r>
            <a:r>
              <a:rPr lang="en-US" sz="2400" i="1" dirty="0" smtClean="0"/>
              <a:t>TH</a:t>
            </a:r>
            <a:r>
              <a:rPr lang="en-US" sz="2400" dirty="0" smtClean="0"/>
              <a:t> and </a:t>
            </a:r>
            <a:r>
              <a:rPr lang="en-US" sz="2400" i="1" dirty="0" smtClean="0"/>
              <a:t>TT</a:t>
            </a:r>
            <a:r>
              <a:rPr lang="en-US" sz="2400" dirty="0" smtClean="0"/>
              <a:t>. The corresponding probabilities are given by </a:t>
            </a:r>
            <a:r>
              <a:rPr lang="en-US" sz="2400" i="1" dirty="0" smtClean="0"/>
              <a:t>[ 0.48, 0.32, 0.12, 0.08 ]</a:t>
            </a:r>
            <a:r>
              <a:rPr lang="en-US" sz="2400" dirty="0" smtClean="0"/>
              <a:t>.</a:t>
            </a:r>
          </a:p>
        </p:txBody>
      </p:sp>
      <p:sp>
        <p:nvSpPr>
          <p:cNvPr id="4" name="Slide Number Placeholder 3"/>
          <p:cNvSpPr>
            <a:spLocks noGrp="1"/>
          </p:cNvSpPr>
          <p:nvPr>
            <p:ph type="sldNum" sz="quarter" idx="10"/>
          </p:nvPr>
        </p:nvSpPr>
        <p:spPr/>
        <p:txBody>
          <a:bodyPr/>
          <a:lstStyle/>
          <a:p>
            <a:fld id="{D37A8A04-1C0C-4C06-A72C-2BB05733F882}" type="slidenum">
              <a:rPr lang="en-US" smtClean="0"/>
              <a:pPr/>
              <a:t>16</a:t>
            </a:fld>
            <a:endParaRPr lang="en-US"/>
          </a:p>
        </p:txBody>
      </p:sp>
      <p:pic>
        <p:nvPicPr>
          <p:cNvPr id="464898" name="Picture 2" descr="https://miro.medium.com/v2/resize:fit:960/1*5bfcQeKVRypkSt3YBU-BHA.png"/>
          <p:cNvPicPr>
            <a:picLocks noChangeAspect="1" noChangeArrowheads="1"/>
          </p:cNvPicPr>
          <p:nvPr/>
        </p:nvPicPr>
        <p:blipFill>
          <a:blip r:embed="rId2"/>
          <a:srcRect/>
          <a:stretch>
            <a:fillRect/>
          </a:stretch>
        </p:blipFill>
        <p:spPr bwMode="auto">
          <a:xfrm>
            <a:off x="4495800" y="3581400"/>
            <a:ext cx="3886200" cy="2914650"/>
          </a:xfrm>
          <a:prstGeom prst="rect">
            <a:avLst/>
          </a:prstGeom>
          <a:noFill/>
        </p:spPr>
      </p:pic>
      <p:sp>
        <p:nvSpPr>
          <p:cNvPr id="6" name="TextBox 5"/>
          <p:cNvSpPr txBox="1"/>
          <p:nvPr/>
        </p:nvSpPr>
        <p:spPr>
          <a:xfrm>
            <a:off x="685800" y="4038600"/>
            <a:ext cx="3657600" cy="1477328"/>
          </a:xfrm>
          <a:prstGeom prst="rect">
            <a:avLst/>
          </a:prstGeom>
          <a:noFill/>
        </p:spPr>
        <p:txBody>
          <a:bodyPr wrap="square" rtlCol="0">
            <a:spAutoFit/>
          </a:bodyPr>
          <a:lstStyle/>
          <a:p>
            <a:pPr>
              <a:buFont typeface="Arial" pitchFamily="34" charset="0"/>
              <a:buChar char="•"/>
            </a:pPr>
            <a:r>
              <a:rPr lang="en-US" dirty="0" smtClean="0"/>
              <a:t> The joint entropy (green) for the two independent events is equal to the sum of the individual events (red and blue).</a:t>
            </a:r>
          </a:p>
          <a:p>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 -2 of uncertainty</a:t>
            </a:r>
            <a:endParaRPr lang="en-US" dirty="0"/>
          </a:p>
        </p:txBody>
      </p:sp>
      <p:sp>
        <p:nvSpPr>
          <p:cNvPr id="3" name="Content Placeholder 2"/>
          <p:cNvSpPr>
            <a:spLocks noGrp="1"/>
          </p:cNvSpPr>
          <p:nvPr>
            <p:ph idx="1"/>
          </p:nvPr>
        </p:nvSpPr>
        <p:spPr/>
        <p:txBody>
          <a:bodyPr/>
          <a:lstStyle/>
          <a:p>
            <a:r>
              <a:rPr lang="en-US" dirty="0" smtClean="0"/>
              <a:t>Plugging the numbers into the entropy formula, we see that:  Just as promised,</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17</a:t>
            </a:fld>
            <a:endParaRPr lang="en-US"/>
          </a:p>
        </p:txBody>
      </p:sp>
      <p:pic>
        <p:nvPicPr>
          <p:cNvPr id="465922" name="Picture 2" descr="https://miro.medium.com/v2/resize:fit:1050/0*1zlK66Cwi8T2q82L.png"/>
          <p:cNvPicPr>
            <a:picLocks noChangeAspect="1" noChangeArrowheads="1"/>
          </p:cNvPicPr>
          <p:nvPr/>
        </p:nvPicPr>
        <p:blipFill>
          <a:blip r:embed="rId2"/>
          <a:srcRect/>
          <a:stretch>
            <a:fillRect/>
          </a:stretch>
        </p:blipFill>
        <p:spPr bwMode="auto">
          <a:xfrm>
            <a:off x="1066800" y="3200400"/>
            <a:ext cx="6496049" cy="685800"/>
          </a:xfrm>
          <a:prstGeom prst="rect">
            <a:avLst/>
          </a:prstGeom>
          <a:noFill/>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 -3 of uncertainty</a:t>
            </a:r>
            <a:endParaRPr lang="en-US" dirty="0"/>
          </a:p>
        </p:txBody>
      </p:sp>
      <p:sp>
        <p:nvSpPr>
          <p:cNvPr id="3" name="Content Placeholder 2"/>
          <p:cNvSpPr>
            <a:spLocks noGrp="1"/>
          </p:cNvSpPr>
          <p:nvPr>
            <p:ph idx="1"/>
          </p:nvPr>
        </p:nvSpPr>
        <p:spPr>
          <a:xfrm>
            <a:off x="304800" y="1219200"/>
            <a:ext cx="8458200" cy="2819400"/>
          </a:xfrm>
        </p:spPr>
        <p:txBody>
          <a:bodyPr/>
          <a:lstStyle/>
          <a:p>
            <a:pPr>
              <a:buNone/>
            </a:pPr>
            <a:r>
              <a:rPr lang="en-US" sz="2400" b="1" dirty="0" smtClean="0"/>
              <a:t>Prop-3: Adding an outcome with zero probability has no effect</a:t>
            </a:r>
          </a:p>
          <a:p>
            <a:r>
              <a:rPr lang="en-US" sz="2400" dirty="0" smtClean="0"/>
              <a:t>Suppose (a) you win whenever outcome #1 occurs and (b) you can choose between two probability distributions, </a:t>
            </a:r>
            <a:r>
              <a:rPr lang="en-US" sz="2400" i="1" dirty="0" smtClean="0"/>
              <a:t>A</a:t>
            </a:r>
            <a:r>
              <a:rPr lang="en-US" sz="2400" dirty="0" smtClean="0"/>
              <a:t> and </a:t>
            </a:r>
            <a:r>
              <a:rPr lang="en-US" sz="2400" i="1" dirty="0" smtClean="0"/>
              <a:t>B</a:t>
            </a:r>
            <a:r>
              <a:rPr lang="en-US" sz="2400" dirty="0" smtClean="0"/>
              <a:t>. </a:t>
            </a:r>
          </a:p>
          <a:p>
            <a:r>
              <a:rPr lang="en-US" sz="2400" dirty="0" smtClean="0"/>
              <a:t>Distribution </a:t>
            </a:r>
            <a:r>
              <a:rPr lang="en-US" sz="2400" i="1" dirty="0" smtClean="0"/>
              <a:t>A</a:t>
            </a:r>
            <a:r>
              <a:rPr lang="en-US" sz="2400" dirty="0" smtClean="0"/>
              <a:t> has two outcomes: say, 80% and 20%. Distribution </a:t>
            </a:r>
            <a:r>
              <a:rPr lang="en-US" sz="2400" i="1" dirty="0" smtClean="0"/>
              <a:t>B</a:t>
            </a:r>
            <a:r>
              <a:rPr lang="en-US" sz="2400" dirty="0" smtClean="0"/>
              <a:t> has three outcomes with probabilities 80%, 20% and 0%.</a:t>
            </a:r>
          </a:p>
          <a:p>
            <a:endParaRPr lang="en-US" b="1" dirty="0" smtClean="0"/>
          </a:p>
        </p:txBody>
      </p:sp>
      <p:sp>
        <p:nvSpPr>
          <p:cNvPr id="4" name="Slide Number Placeholder 3"/>
          <p:cNvSpPr>
            <a:spLocks noGrp="1"/>
          </p:cNvSpPr>
          <p:nvPr>
            <p:ph type="sldNum" sz="quarter" idx="10"/>
          </p:nvPr>
        </p:nvSpPr>
        <p:spPr/>
        <p:txBody>
          <a:bodyPr/>
          <a:lstStyle/>
          <a:p>
            <a:fld id="{D37A8A04-1C0C-4C06-A72C-2BB05733F882}" type="slidenum">
              <a:rPr lang="en-US" smtClean="0"/>
              <a:pPr/>
              <a:t>18</a:t>
            </a:fld>
            <a:endParaRPr lang="en-US"/>
          </a:p>
        </p:txBody>
      </p:sp>
      <p:pic>
        <p:nvPicPr>
          <p:cNvPr id="346114" name="Picture 2" descr="https://miro.medium.com/v2/resize:fit:960/1*zCwXVLPDEybOYKZ4YDVnUw.png"/>
          <p:cNvPicPr>
            <a:picLocks noChangeAspect="1" noChangeArrowheads="1"/>
          </p:cNvPicPr>
          <p:nvPr/>
        </p:nvPicPr>
        <p:blipFill>
          <a:blip r:embed="rId2"/>
          <a:srcRect/>
          <a:stretch>
            <a:fillRect/>
          </a:stretch>
        </p:blipFill>
        <p:spPr bwMode="auto">
          <a:xfrm>
            <a:off x="2438400" y="3657600"/>
            <a:ext cx="4953000" cy="3048000"/>
          </a:xfrm>
          <a:prstGeom prst="rect">
            <a:avLst/>
          </a:prstGeom>
          <a:noFill/>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 -3 of uncertainty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Given the options </a:t>
            </a:r>
            <a:r>
              <a:rPr lang="en-US" i="1" dirty="0" smtClean="0"/>
              <a:t>A</a:t>
            </a:r>
            <a:r>
              <a:rPr lang="en-US" dirty="0" smtClean="0"/>
              <a:t> and </a:t>
            </a:r>
            <a:r>
              <a:rPr lang="en-US" i="1" dirty="0" smtClean="0"/>
              <a:t>B</a:t>
            </a:r>
            <a:r>
              <a:rPr lang="en-US" dirty="0" smtClean="0"/>
              <a:t>, which one would you choose? </a:t>
            </a:r>
          </a:p>
          <a:p>
            <a:r>
              <a:rPr lang="en-US" dirty="0" err="1" smtClean="0"/>
              <a:t>Ans</a:t>
            </a:r>
            <a:r>
              <a:rPr lang="en-US" dirty="0" smtClean="0"/>
              <a:t>: The inclusion of the third outcome neither increases nor decreases the uncertainty associated with the game. </a:t>
            </a:r>
            <a:r>
              <a:rPr lang="en-US" i="1" dirty="0" smtClean="0"/>
              <a:t>A</a:t>
            </a:r>
            <a:r>
              <a:rPr lang="en-US" dirty="0" smtClean="0"/>
              <a:t> or </a:t>
            </a:r>
            <a:r>
              <a:rPr lang="en-US" i="1" dirty="0" smtClean="0"/>
              <a:t>B</a:t>
            </a:r>
            <a:r>
              <a:rPr lang="en-US" dirty="0" smtClean="0"/>
              <a:t>, who cares. It doesn’t matter.</a:t>
            </a:r>
          </a:p>
          <a:p>
            <a:r>
              <a:rPr lang="en-US" dirty="0" smtClean="0"/>
              <a:t>The entropy formula agrees with this assessment:</a:t>
            </a:r>
          </a:p>
          <a:p>
            <a:endParaRPr lang="en-US" dirty="0" smtClean="0"/>
          </a:p>
          <a:p>
            <a:r>
              <a:rPr lang="en-US" dirty="0" smtClean="0"/>
              <a:t>In words, adding an outcome with zero probability has no effect on the measurement of uncertainty.</a:t>
            </a:r>
          </a:p>
          <a:p>
            <a:pPr>
              <a:buNone/>
            </a:pP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19</a:t>
            </a:fld>
            <a:endParaRPr lang="en-US"/>
          </a:p>
        </p:txBody>
      </p:sp>
      <p:pic>
        <p:nvPicPr>
          <p:cNvPr id="468994" name="Picture 2" descr="https://miro.medium.com/v2/resize:fit:1050/0*SVvx3qTzKCBrAvfK.png"/>
          <p:cNvPicPr>
            <a:picLocks noChangeAspect="1" noChangeArrowheads="1"/>
          </p:cNvPicPr>
          <p:nvPr/>
        </p:nvPicPr>
        <p:blipFill>
          <a:blip r:embed="rId2"/>
          <a:srcRect/>
          <a:stretch>
            <a:fillRect/>
          </a:stretch>
        </p:blipFill>
        <p:spPr bwMode="auto">
          <a:xfrm>
            <a:off x="1371600" y="4419600"/>
            <a:ext cx="5848350" cy="456139"/>
          </a:xfrm>
          <a:prstGeom prst="rect">
            <a:avLst/>
          </a:prstGeom>
          <a:noFill/>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 -4 of uncertainty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Prop-4: The measure of uncertainty is continuous in all its arguments</a:t>
            </a:r>
          </a:p>
          <a:p>
            <a:r>
              <a:rPr lang="en-US" sz="2400" dirty="0" smtClean="0"/>
              <a:t>The last of the basic properties is continuity.</a:t>
            </a:r>
          </a:p>
          <a:p>
            <a:r>
              <a:rPr lang="en-US" sz="2400" dirty="0" smtClean="0"/>
              <a:t>Famously, the intuitive explanation of a continuous function is that arbitrarily small changes in the output (uncertainty, in our case) should be achievable through sufficiently small changes in the input (probabilities).</a:t>
            </a:r>
          </a:p>
          <a:p>
            <a:r>
              <a:rPr lang="en-US" sz="2400" dirty="0" smtClean="0"/>
              <a:t>Logarithm functions are continuous at every point for which they are defined. So are sums and products of a finite number of functions that are continuous on a subset. </a:t>
            </a:r>
          </a:p>
          <a:p>
            <a:r>
              <a:rPr lang="en-US" sz="2400" dirty="0" smtClean="0"/>
              <a:t>It follows that the entropy function is continuous in its probability arguments.</a:t>
            </a:r>
            <a:endParaRPr lang="en-US" sz="2400" b="1"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20</a:t>
            </a:fld>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Entropy</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The Uniqueness Theorem: </a:t>
            </a:r>
            <a:r>
              <a:rPr lang="en-US" sz="2400" u="sng" dirty="0" err="1" smtClean="0">
                <a:hlinkClick r:id="rId2"/>
              </a:rPr>
              <a:t>Khinchin</a:t>
            </a:r>
            <a:r>
              <a:rPr lang="en-US" sz="2400" u="sng" dirty="0" smtClean="0">
                <a:hlinkClick r:id="rId2"/>
              </a:rPr>
              <a:t> (1957)</a:t>
            </a:r>
            <a:r>
              <a:rPr lang="en-US" sz="2400" dirty="0" smtClean="0"/>
              <a:t> showed that the only family of functions satisfying the four basic properties described above is of the following form:</a:t>
            </a:r>
          </a:p>
          <a:p>
            <a:endParaRPr lang="en-US" dirty="0" smtClean="0"/>
          </a:p>
          <a:p>
            <a:endParaRPr lang="en-US" dirty="0" smtClean="0"/>
          </a:p>
          <a:p>
            <a:r>
              <a:rPr lang="en-US" sz="2400" dirty="0" smtClean="0"/>
              <a:t>where λ is a positive constant. </a:t>
            </a:r>
            <a:r>
              <a:rPr lang="en-US" sz="2400" dirty="0" err="1" smtClean="0"/>
              <a:t>Khinchin</a:t>
            </a:r>
            <a:r>
              <a:rPr lang="en-US" sz="2400" dirty="0" smtClean="0"/>
              <a:t> referred to this as the </a:t>
            </a:r>
            <a:r>
              <a:rPr lang="en-US" sz="2400" b="1" dirty="0" smtClean="0"/>
              <a:t>Uniqueness Theorem</a:t>
            </a:r>
            <a:r>
              <a:rPr lang="en-US" sz="2400" dirty="0" smtClean="0"/>
              <a:t>. </a:t>
            </a:r>
          </a:p>
          <a:p>
            <a:r>
              <a:rPr lang="en-US" sz="2400" dirty="0" smtClean="0"/>
              <a:t>Setting λ = 1 and using the binary logarithm gives us the Shannon entropy.</a:t>
            </a:r>
          </a:p>
          <a:p>
            <a:r>
              <a:rPr lang="en-US" sz="2400" dirty="0" smtClean="0"/>
              <a:t>To reiterate, entropy is used because it has desirable properties and is the natural choice among the family functions that satisfy all items on the basic properties. </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21</a:t>
            </a:fld>
            <a:endParaRPr lang="en-US"/>
          </a:p>
        </p:txBody>
      </p:sp>
      <p:pic>
        <p:nvPicPr>
          <p:cNvPr id="470018" name="Picture 2" descr="https://miro.medium.com/v2/resize:fit:1050/0*7WTvAHK5AFKX-Gnu.png"/>
          <p:cNvPicPr>
            <a:picLocks noChangeAspect="1" noChangeArrowheads="1"/>
          </p:cNvPicPr>
          <p:nvPr/>
        </p:nvPicPr>
        <p:blipFill>
          <a:blip r:embed="rId3"/>
          <a:srcRect/>
          <a:stretch>
            <a:fillRect/>
          </a:stretch>
        </p:blipFill>
        <p:spPr bwMode="auto">
          <a:xfrm>
            <a:off x="2514600" y="2819400"/>
            <a:ext cx="3695700" cy="754122"/>
          </a:xfrm>
          <a:prstGeom prst="rect">
            <a:avLst/>
          </a:prstGeom>
          <a:noFill/>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Entropy</a:t>
            </a:r>
            <a:endParaRPr lang="en-US" dirty="0"/>
          </a:p>
        </p:txBody>
      </p:sp>
      <p:sp>
        <p:nvSpPr>
          <p:cNvPr id="3" name="Content Placeholder 2"/>
          <p:cNvSpPr>
            <a:spLocks noGrp="1"/>
          </p:cNvSpPr>
          <p:nvPr>
            <p:ph idx="1"/>
          </p:nvPr>
        </p:nvSpPr>
        <p:spPr/>
        <p:txBody>
          <a:bodyPr/>
          <a:lstStyle/>
          <a:p>
            <a:pPr>
              <a:buNone/>
            </a:pPr>
            <a:r>
              <a:rPr lang="en-US" sz="2400" b="1" dirty="0" smtClean="0"/>
              <a:t>Other properties of Entropy: </a:t>
            </a:r>
          </a:p>
          <a:p>
            <a:r>
              <a:rPr lang="en-US" sz="2400" dirty="0" smtClean="0"/>
              <a:t>Entropy has many other properties used in </a:t>
            </a:r>
            <a:r>
              <a:rPr lang="en-US" sz="2400" dirty="0" err="1" smtClean="0"/>
              <a:t>Khinchin’s</a:t>
            </a:r>
            <a:r>
              <a:rPr lang="en-US" sz="2400" dirty="0" smtClean="0"/>
              <a:t> Uniqueness Theorem. Some of them:</a:t>
            </a:r>
          </a:p>
          <a:p>
            <a:pPr>
              <a:buNone/>
            </a:pPr>
            <a:r>
              <a:rPr lang="en-US" sz="2400" b="1" dirty="0" smtClean="0"/>
              <a:t>Prop-5: Uniform distributions with more outcomes have more uncertainty</a:t>
            </a:r>
          </a:p>
          <a:p>
            <a:r>
              <a:rPr lang="en-US" sz="2400" dirty="0" smtClean="0"/>
              <a:t>Suppose you have the choice between a fair coin and a fair die:</a:t>
            </a:r>
          </a:p>
        </p:txBody>
      </p:sp>
      <p:sp>
        <p:nvSpPr>
          <p:cNvPr id="4" name="Slide Number Placeholder 3"/>
          <p:cNvSpPr>
            <a:spLocks noGrp="1"/>
          </p:cNvSpPr>
          <p:nvPr>
            <p:ph type="sldNum" sz="quarter" idx="10"/>
          </p:nvPr>
        </p:nvSpPr>
        <p:spPr/>
        <p:txBody>
          <a:bodyPr/>
          <a:lstStyle/>
          <a:p>
            <a:fld id="{D37A8A04-1C0C-4C06-A72C-2BB05733F882}" type="slidenum">
              <a:rPr lang="en-US" smtClean="0"/>
              <a:pPr/>
              <a:t>22</a:t>
            </a:fld>
            <a:endParaRPr lang="en-US"/>
          </a:p>
        </p:txBody>
      </p:sp>
      <p:pic>
        <p:nvPicPr>
          <p:cNvPr id="473090" name="Picture 2" descr="https://miro.medium.com/v2/resize:fit:960/1*sYmGmOiSB9XL-rPoqdbnRw.png"/>
          <p:cNvPicPr>
            <a:picLocks noChangeAspect="1" noChangeArrowheads="1"/>
          </p:cNvPicPr>
          <p:nvPr/>
        </p:nvPicPr>
        <p:blipFill>
          <a:blip r:embed="rId2"/>
          <a:srcRect/>
          <a:stretch>
            <a:fillRect/>
          </a:stretch>
        </p:blipFill>
        <p:spPr bwMode="auto">
          <a:xfrm>
            <a:off x="4343400" y="4191000"/>
            <a:ext cx="3251200" cy="2438400"/>
          </a:xfrm>
          <a:prstGeom prst="rect">
            <a:avLst/>
          </a:prstGeom>
          <a:noFill/>
        </p:spPr>
      </p:pic>
      <p:sp>
        <p:nvSpPr>
          <p:cNvPr id="6" name="TextBox 5"/>
          <p:cNvSpPr txBox="1"/>
          <p:nvPr/>
        </p:nvSpPr>
        <p:spPr>
          <a:xfrm>
            <a:off x="838200" y="4648200"/>
            <a:ext cx="2346540" cy="369332"/>
          </a:xfrm>
          <a:prstGeom prst="rect">
            <a:avLst/>
          </a:prstGeom>
          <a:noFill/>
        </p:spPr>
        <p:txBody>
          <a:bodyPr wrap="none" rtlCol="0">
            <a:spAutoFit/>
          </a:bodyPr>
          <a:lstStyle/>
          <a:p>
            <a:r>
              <a:rPr lang="en-US" dirty="0" smtClean="0"/>
              <a:t>Fair coin or fair die ? </a:t>
            </a:r>
            <a:endParaRPr 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Entropy</a:t>
            </a:r>
            <a:endParaRPr lang="en-US" dirty="0"/>
          </a:p>
        </p:txBody>
      </p:sp>
      <p:sp>
        <p:nvSpPr>
          <p:cNvPr id="3" name="Content Placeholder 2"/>
          <p:cNvSpPr>
            <a:spLocks noGrp="1"/>
          </p:cNvSpPr>
          <p:nvPr>
            <p:ph idx="1"/>
          </p:nvPr>
        </p:nvSpPr>
        <p:spPr/>
        <p:txBody>
          <a:bodyPr>
            <a:normAutofit fontScale="92500" lnSpcReduction="10000"/>
          </a:bodyPr>
          <a:lstStyle/>
          <a:p>
            <a:r>
              <a:rPr lang="en-US" sz="2400" dirty="0" smtClean="0"/>
              <a:t>And let’s say you win if the coin lands heads up or the die lands on face 1.</a:t>
            </a:r>
          </a:p>
          <a:p>
            <a:r>
              <a:rPr lang="en-US" sz="2400" dirty="0" smtClean="0"/>
              <a:t>Which of the two options would you choose? </a:t>
            </a:r>
          </a:p>
          <a:p>
            <a:pPr>
              <a:buNone/>
            </a:pPr>
            <a:r>
              <a:rPr lang="en-US" sz="2400" i="1" dirty="0" smtClean="0"/>
              <a:t>	(</a:t>
            </a:r>
            <a:r>
              <a:rPr lang="en-US" sz="2400" i="1" dirty="0" err="1" smtClean="0"/>
              <a:t>i</a:t>
            </a:r>
            <a:r>
              <a:rPr lang="en-US" sz="2400" i="1" dirty="0" smtClean="0"/>
              <a:t>) </a:t>
            </a:r>
            <a:r>
              <a:rPr lang="en-US" sz="2400" dirty="0" smtClean="0"/>
              <a:t>if you are a profit </a:t>
            </a:r>
            <a:r>
              <a:rPr lang="en-US" sz="2400" dirty="0" err="1" smtClean="0"/>
              <a:t>maximizer</a:t>
            </a:r>
            <a:r>
              <a:rPr lang="en-US" sz="2400" dirty="0" smtClean="0"/>
              <a:t> and </a:t>
            </a:r>
          </a:p>
          <a:p>
            <a:pPr>
              <a:buNone/>
            </a:pPr>
            <a:r>
              <a:rPr lang="en-US" sz="2400" i="1" dirty="0" smtClean="0"/>
              <a:t>	(ii) </a:t>
            </a:r>
            <a:r>
              <a:rPr lang="en-US" sz="2400" dirty="0" smtClean="0"/>
              <a:t>if you prefer with more variety and uncertainty.</a:t>
            </a:r>
          </a:p>
          <a:p>
            <a:r>
              <a:rPr lang="en-US" sz="2400" dirty="0" smtClean="0"/>
              <a:t>As the number of </a:t>
            </a:r>
            <a:r>
              <a:rPr lang="en-US" sz="2400" dirty="0" err="1" smtClean="0"/>
              <a:t>equiprobable</a:t>
            </a:r>
            <a:r>
              <a:rPr lang="en-US" sz="2400" dirty="0" smtClean="0"/>
              <a:t> outcomes increases, so should our measure of uncertainty.</a:t>
            </a:r>
          </a:p>
          <a:p>
            <a:r>
              <a:rPr lang="en-US" sz="2400" dirty="0" smtClean="0"/>
              <a:t>And this is exactly what Entropy does: H(1/6, 1/6, 1/6, 1/6, 1/6, 1/6) &gt; H(0.5, 0.5).</a:t>
            </a:r>
          </a:p>
          <a:p>
            <a:r>
              <a:rPr lang="en-US" sz="2400" dirty="0" smtClean="0"/>
              <a:t>And, in general, if we let </a:t>
            </a:r>
            <a:r>
              <a:rPr lang="en-US" sz="2400" i="1" dirty="0" smtClean="0"/>
              <a:t>L(k)</a:t>
            </a:r>
            <a:r>
              <a:rPr lang="en-US" sz="2400" dirty="0" smtClean="0"/>
              <a:t> be the entropy of a uniform distribution with </a:t>
            </a:r>
            <a:r>
              <a:rPr lang="en-US" sz="2400" i="1" dirty="0" smtClean="0"/>
              <a:t>k</a:t>
            </a:r>
            <a:r>
              <a:rPr lang="en-US" sz="2400" dirty="0" smtClean="0"/>
              <a:t> possible outcomes, </a:t>
            </a:r>
          </a:p>
          <a:p>
            <a:pPr>
              <a:buNone/>
            </a:pPr>
            <a:r>
              <a:rPr lang="en-US" dirty="0" smtClean="0"/>
              <a:t>                                    for </a:t>
            </a:r>
            <a:r>
              <a:rPr lang="en-US" i="1" dirty="0" smtClean="0"/>
              <a:t>m</a:t>
            </a:r>
            <a:r>
              <a:rPr lang="en-US" dirty="0" smtClean="0"/>
              <a:t>&gt; </a:t>
            </a:r>
            <a:r>
              <a:rPr lang="en-US" i="1" dirty="0" smtClean="0"/>
              <a:t>n</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23</a:t>
            </a:fld>
            <a:endParaRPr lang="en-US"/>
          </a:p>
        </p:txBody>
      </p:sp>
      <p:pic>
        <p:nvPicPr>
          <p:cNvPr id="472066" name="Picture 2" descr="https://miro.medium.com/v2/resize:fit:465/0*vUT1_dOFGNMms4fk.png"/>
          <p:cNvPicPr>
            <a:picLocks noChangeAspect="1" noChangeArrowheads="1"/>
          </p:cNvPicPr>
          <p:nvPr/>
        </p:nvPicPr>
        <p:blipFill>
          <a:blip r:embed="rId2"/>
          <a:srcRect/>
          <a:stretch>
            <a:fillRect/>
          </a:stretch>
        </p:blipFill>
        <p:spPr bwMode="auto">
          <a:xfrm>
            <a:off x="1143000" y="5486400"/>
            <a:ext cx="2114550" cy="381983"/>
          </a:xfrm>
          <a:prstGeom prst="rect">
            <a:avLst/>
          </a:prstGeom>
          <a:noFill/>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Entropy</a:t>
            </a:r>
            <a:endParaRPr lang="en-US" dirty="0"/>
          </a:p>
        </p:txBody>
      </p:sp>
      <p:sp>
        <p:nvSpPr>
          <p:cNvPr id="3" name="Content Placeholder 2"/>
          <p:cNvSpPr>
            <a:spLocks noGrp="1"/>
          </p:cNvSpPr>
          <p:nvPr>
            <p:ph idx="1"/>
          </p:nvPr>
        </p:nvSpPr>
        <p:spPr>
          <a:xfrm>
            <a:off x="304800" y="1219200"/>
            <a:ext cx="8458200" cy="5486400"/>
          </a:xfrm>
        </p:spPr>
        <p:txBody>
          <a:bodyPr/>
          <a:lstStyle/>
          <a:p>
            <a:pPr>
              <a:buNone/>
            </a:pPr>
            <a:r>
              <a:rPr lang="en-US" sz="2400" b="1" dirty="0" smtClean="0"/>
              <a:t>Prop-6: Events have non-negative uncertainty</a:t>
            </a:r>
          </a:p>
          <a:p>
            <a:r>
              <a:rPr lang="en-US" sz="2400" dirty="0" smtClean="0"/>
              <a:t>Do you know what negative uncertainty is? Neither do I.</a:t>
            </a:r>
          </a:p>
          <a:p>
            <a:r>
              <a:rPr lang="en-US" sz="2400" dirty="0" smtClean="0"/>
              <a:t>A user-friendly measure of uncertainty should always return a non-negative quantity, no matter what the input is.</a:t>
            </a:r>
          </a:p>
          <a:p>
            <a:r>
              <a:rPr lang="en-US" sz="2400" dirty="0" smtClean="0"/>
              <a:t>This is yet another criterion that is satisfied by entropy. Let’s take another look at the formula:</a:t>
            </a:r>
          </a:p>
          <a:p>
            <a:r>
              <a:rPr lang="en-US" sz="2400" dirty="0" smtClean="0"/>
              <a:t>Probabilities are, by definition, </a:t>
            </a:r>
          </a:p>
          <a:p>
            <a:pPr>
              <a:buNone/>
            </a:pPr>
            <a:r>
              <a:rPr lang="en-US" sz="2400" dirty="0" smtClean="0"/>
              <a:t>	in the range between 0 and 1 and, therefore, non-negative. </a:t>
            </a:r>
          </a:p>
          <a:p>
            <a:r>
              <a:rPr lang="en-US" sz="2400" dirty="0" smtClean="0"/>
              <a:t>The logarithm of a probability is non-positive. Multiplying the logarithm of a probability with a probability doesn’t change the sign. The sum of non-positive products is non-positive. And finally, the negative of a non-positive value is non-negative.</a:t>
            </a:r>
          </a:p>
          <a:p>
            <a:r>
              <a:rPr lang="en-US" sz="2400" dirty="0" smtClean="0"/>
              <a:t>Entropy is, thus, non-negative for every possible input.</a:t>
            </a:r>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24</a:t>
            </a:fld>
            <a:endParaRPr lang="en-US"/>
          </a:p>
        </p:txBody>
      </p:sp>
      <p:pic>
        <p:nvPicPr>
          <p:cNvPr id="474114" name="Picture 2" descr="https://miro.medium.com/v2/resize:fit:842/0*DkWdyGidNSfdT1Nu.png"/>
          <p:cNvPicPr>
            <a:picLocks noChangeAspect="1" noChangeArrowheads="1"/>
          </p:cNvPicPr>
          <p:nvPr/>
        </p:nvPicPr>
        <p:blipFill>
          <a:blip r:embed="rId2"/>
          <a:srcRect/>
          <a:stretch>
            <a:fillRect/>
          </a:stretch>
        </p:blipFill>
        <p:spPr bwMode="auto">
          <a:xfrm>
            <a:off x="4876800" y="3276600"/>
            <a:ext cx="3070709" cy="826519"/>
          </a:xfrm>
          <a:prstGeom prst="rect">
            <a:avLst/>
          </a:prstGeom>
          <a:noFill/>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Entropy</a:t>
            </a:r>
            <a:endParaRPr lang="en-US" dirty="0"/>
          </a:p>
        </p:txBody>
      </p:sp>
      <p:sp>
        <p:nvSpPr>
          <p:cNvPr id="3" name="Content Placeholder 2"/>
          <p:cNvSpPr>
            <a:spLocks noGrp="1"/>
          </p:cNvSpPr>
          <p:nvPr>
            <p:ph idx="1"/>
          </p:nvPr>
        </p:nvSpPr>
        <p:spPr/>
        <p:txBody>
          <a:bodyPr/>
          <a:lstStyle/>
          <a:p>
            <a:r>
              <a:rPr lang="en-US" b="1" dirty="0" smtClean="0"/>
              <a:t>Prop-7: Events with a certain outcome have zero uncertainty</a:t>
            </a:r>
          </a:p>
          <a:p>
            <a:r>
              <a:rPr lang="en-US" dirty="0" smtClean="0"/>
              <a:t>Suppose you are in possession of a magical coin. No matter how you flip the coin, it always lands head up.</a:t>
            </a:r>
          </a:p>
          <a:p>
            <a:endParaRPr lang="en-US" dirty="0" smtClean="0"/>
          </a:p>
          <a:p>
            <a:pPr>
              <a:buNone/>
            </a:pPr>
            <a:endParaRPr lang="en-US" dirty="0" smtClean="0"/>
          </a:p>
        </p:txBody>
      </p:sp>
      <p:sp>
        <p:nvSpPr>
          <p:cNvPr id="4" name="Slide Number Placeholder 3"/>
          <p:cNvSpPr>
            <a:spLocks noGrp="1"/>
          </p:cNvSpPr>
          <p:nvPr>
            <p:ph type="sldNum" sz="quarter" idx="10"/>
          </p:nvPr>
        </p:nvSpPr>
        <p:spPr/>
        <p:txBody>
          <a:bodyPr/>
          <a:lstStyle/>
          <a:p>
            <a:fld id="{D37A8A04-1C0C-4C06-A72C-2BB05733F882}" type="slidenum">
              <a:rPr lang="en-US" smtClean="0"/>
              <a:pPr/>
              <a:t>25</a:t>
            </a:fld>
            <a:endParaRPr lang="en-US"/>
          </a:p>
        </p:txBody>
      </p:sp>
      <p:pic>
        <p:nvPicPr>
          <p:cNvPr id="475138" name="Picture 2" descr="https://miro.medium.com/v2/resize:fit:960/1*81paMOCPyN8D7nfNbGv52Q.png"/>
          <p:cNvPicPr>
            <a:picLocks noChangeAspect="1" noChangeArrowheads="1"/>
          </p:cNvPicPr>
          <p:nvPr/>
        </p:nvPicPr>
        <p:blipFill>
          <a:blip r:embed="rId2"/>
          <a:srcRect/>
          <a:stretch>
            <a:fillRect/>
          </a:stretch>
        </p:blipFill>
        <p:spPr bwMode="auto">
          <a:xfrm>
            <a:off x="5638800" y="3124200"/>
            <a:ext cx="2844800" cy="2133600"/>
          </a:xfrm>
          <a:prstGeom prst="rect">
            <a:avLst/>
          </a:prstGeom>
          <a:noFill/>
        </p:spPr>
      </p:pic>
      <p:sp>
        <p:nvSpPr>
          <p:cNvPr id="6" name="TextBox 5"/>
          <p:cNvSpPr txBox="1"/>
          <p:nvPr/>
        </p:nvSpPr>
        <p:spPr>
          <a:xfrm>
            <a:off x="762000" y="4191000"/>
            <a:ext cx="4800600" cy="1569660"/>
          </a:xfrm>
          <a:prstGeom prst="rect">
            <a:avLst/>
          </a:prstGeom>
          <a:noFill/>
        </p:spPr>
        <p:txBody>
          <a:bodyPr wrap="square" rtlCol="0">
            <a:spAutoFit/>
          </a:bodyPr>
          <a:lstStyle/>
          <a:p>
            <a:pPr>
              <a:buFont typeface="Arial" pitchFamily="34" charset="0"/>
              <a:buChar char="•"/>
            </a:pPr>
            <a:r>
              <a:rPr lang="en-IN" sz="2400" dirty="0" smtClean="0"/>
              <a:t> </a:t>
            </a:r>
            <a:r>
              <a:rPr lang="en-US" sz="2400" dirty="0" smtClean="0"/>
              <a:t>Suppose that outcome </a:t>
            </a:r>
            <a:r>
              <a:rPr lang="en-US" sz="2400" i="1" dirty="0" err="1" smtClean="0"/>
              <a:t>i</a:t>
            </a:r>
            <a:r>
              <a:rPr lang="en-US" sz="2400" dirty="0" smtClean="0"/>
              <a:t> certain to occur. It follows that </a:t>
            </a:r>
            <a:r>
              <a:rPr lang="en-US" sz="2400" i="1" dirty="0" smtClean="0"/>
              <a:t>pi</a:t>
            </a:r>
            <a:r>
              <a:rPr lang="en-US" sz="2400" dirty="0" smtClean="0"/>
              <a:t>, the probability of outcome </a:t>
            </a:r>
            <a:r>
              <a:rPr lang="en-US" sz="2400" i="1" dirty="0" err="1" smtClean="0"/>
              <a:t>i</a:t>
            </a:r>
            <a:r>
              <a:rPr lang="en-US" sz="2400" dirty="0" smtClean="0"/>
              <a:t>, is equal to 1. </a:t>
            </a:r>
            <a:r>
              <a:rPr lang="en-US" sz="2400" i="1" dirty="0" smtClean="0"/>
              <a:t>H(X),</a:t>
            </a:r>
            <a:r>
              <a:rPr lang="en-US" sz="2400" dirty="0" smtClean="0"/>
              <a:t> thus, simplifies to:</a:t>
            </a:r>
          </a:p>
        </p:txBody>
      </p:sp>
      <p:pic>
        <p:nvPicPr>
          <p:cNvPr id="7" name="Picture 2" descr="https://miro.medium.com/v2/resize:fit:1050/0*yHq88Rtv1qPydTro.png"/>
          <p:cNvPicPr>
            <a:picLocks noChangeAspect="1" noChangeArrowheads="1"/>
          </p:cNvPicPr>
          <p:nvPr/>
        </p:nvPicPr>
        <p:blipFill>
          <a:blip r:embed="rId3"/>
          <a:srcRect/>
          <a:stretch>
            <a:fillRect/>
          </a:stretch>
        </p:blipFill>
        <p:spPr bwMode="auto">
          <a:xfrm>
            <a:off x="609600" y="5685493"/>
            <a:ext cx="7086600" cy="562907"/>
          </a:xfrm>
          <a:prstGeom prst="rect">
            <a:avLst/>
          </a:prstGeom>
          <a:noFill/>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Entropy</a:t>
            </a:r>
            <a:endParaRPr lang="en-US" dirty="0"/>
          </a:p>
        </p:txBody>
      </p:sp>
      <p:sp>
        <p:nvSpPr>
          <p:cNvPr id="3" name="Content Placeholder 2"/>
          <p:cNvSpPr>
            <a:spLocks noGrp="1"/>
          </p:cNvSpPr>
          <p:nvPr>
            <p:ph idx="1"/>
          </p:nvPr>
        </p:nvSpPr>
        <p:spPr/>
        <p:txBody>
          <a:bodyPr/>
          <a:lstStyle/>
          <a:p>
            <a:r>
              <a:rPr lang="en-US" b="1" dirty="0" smtClean="0"/>
              <a:t>Prop-8: Flipping the arguments has no effect</a:t>
            </a:r>
          </a:p>
          <a:p>
            <a:r>
              <a:rPr lang="en-US" dirty="0" smtClean="0"/>
              <a:t>This is another obviously desirable property. Consider two cases. In the first case, the probability of heads and tails are 80% and 20%. In the second case, the probabilities are reversed: heads 20%, tails 80%.</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26</a:t>
            </a:fld>
            <a:endParaRPr lang="en-US"/>
          </a:p>
        </p:txBody>
      </p:sp>
      <p:pic>
        <p:nvPicPr>
          <p:cNvPr id="477186" name="Picture 2" descr="https://miro.medium.com/v2/resize:fit:960/1*Ec5q_ZzsbtCpUOxVmbfRkA.png"/>
          <p:cNvPicPr>
            <a:picLocks noChangeAspect="1" noChangeArrowheads="1"/>
          </p:cNvPicPr>
          <p:nvPr/>
        </p:nvPicPr>
        <p:blipFill>
          <a:blip r:embed="rId2"/>
          <a:srcRect/>
          <a:stretch>
            <a:fillRect/>
          </a:stretch>
        </p:blipFill>
        <p:spPr bwMode="auto">
          <a:xfrm>
            <a:off x="2514600" y="4648200"/>
            <a:ext cx="2641600" cy="1981200"/>
          </a:xfrm>
          <a:prstGeom prst="rect">
            <a:avLst/>
          </a:prstGeom>
          <a:noFill/>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Entropy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Both coin flips are equally uncertain and have the same entropy: </a:t>
            </a:r>
            <a:r>
              <a:rPr lang="en-US" i="1" dirty="0" smtClean="0"/>
              <a:t>H(0.8, 0.2) = H(0.2, 0.8)</a:t>
            </a:r>
            <a:r>
              <a:rPr lang="en-US" dirty="0" smtClean="0"/>
              <a:t>.</a:t>
            </a:r>
          </a:p>
          <a:p>
            <a:r>
              <a:rPr lang="en-US" dirty="0" smtClean="0"/>
              <a:t>In more general terms, for the case of two outcomes, we have:</a:t>
            </a:r>
          </a:p>
          <a:p>
            <a:endParaRPr lang="en-US" dirty="0" smtClean="0"/>
          </a:p>
          <a:p>
            <a:endParaRPr lang="en-US" dirty="0" smtClean="0"/>
          </a:p>
          <a:p>
            <a:r>
              <a:rPr lang="en-US" dirty="0" smtClean="0"/>
              <a:t>This fact applies to any number of outcomes. We can position the arguments (i.e., the probabilities of a distribution) in any order we like. </a:t>
            </a:r>
            <a:r>
              <a:rPr lang="en-US" smtClean="0"/>
              <a:t>The result of the entropy function is always the same.</a:t>
            </a:r>
            <a:endParaRPr lang="en-US"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27</a:t>
            </a:fld>
            <a:endParaRPr lang="en-US"/>
          </a:p>
        </p:txBody>
      </p:sp>
      <p:pic>
        <p:nvPicPr>
          <p:cNvPr id="478210" name="Picture 2" descr="https://miro.medium.com/v2/resize:fit:771/0*XoMOqQNmHioYSvMQ.png"/>
          <p:cNvPicPr>
            <a:picLocks noChangeAspect="1" noChangeArrowheads="1"/>
          </p:cNvPicPr>
          <p:nvPr/>
        </p:nvPicPr>
        <p:blipFill>
          <a:blip r:embed="rId2"/>
          <a:srcRect/>
          <a:stretch>
            <a:fillRect/>
          </a:stretch>
        </p:blipFill>
        <p:spPr bwMode="auto">
          <a:xfrm>
            <a:off x="2057400" y="3429000"/>
            <a:ext cx="4895850" cy="533400"/>
          </a:xfrm>
          <a:prstGeom prst="rect">
            <a:avLst/>
          </a:prstGeom>
          <a:noFill/>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Number Placeholder 3"/>
          <p:cNvSpPr>
            <a:spLocks noGrp="1"/>
          </p:cNvSpPr>
          <p:nvPr>
            <p:ph type="sldNum" sz="quarter" idx="10"/>
          </p:nvPr>
        </p:nvSpPr>
        <p:spPr>
          <a:noFill/>
        </p:spPr>
        <p:txBody>
          <a:bodyPr/>
          <a:lstStyle/>
          <a:p>
            <a:fld id="{B57B826A-8197-41D1-AF51-B13B5FC81D4E}" type="slidenum">
              <a:rPr lang="en-US"/>
              <a:pPr/>
              <a:t>28</a:t>
            </a:fld>
            <a:endParaRPr lang="en-US"/>
          </a:p>
        </p:txBody>
      </p:sp>
      <p:sp>
        <p:nvSpPr>
          <p:cNvPr id="65538" name="Rectangle 2"/>
          <p:cNvSpPr>
            <a:spLocks noChangeArrowheads="1"/>
          </p:cNvSpPr>
          <p:nvPr/>
        </p:nvSpPr>
        <p:spPr bwMode="auto">
          <a:xfrm>
            <a:off x="381000" y="76200"/>
            <a:ext cx="8229600" cy="1066800"/>
          </a:xfrm>
          <a:prstGeom prst="rect">
            <a:avLst/>
          </a:prstGeom>
          <a:noFill/>
          <a:ln w="9525">
            <a:noFill/>
            <a:miter lim="800000"/>
            <a:headEnd/>
            <a:tailEnd/>
          </a:ln>
        </p:spPr>
        <p:txBody>
          <a:bodyPr anchor="b"/>
          <a:lstStyle/>
          <a:p>
            <a:pPr algn="ctr"/>
            <a:r>
              <a:rPr lang="en-US" sz="3600" b="1">
                <a:solidFill>
                  <a:schemeClr val="tx2"/>
                </a:solidFill>
                <a:latin typeface="Berlin Sans FB Demi" pitchFamily="34" charset="0"/>
              </a:rPr>
              <a:t>Attribute Selection Measure: Information Gain (ID3/C4.5)</a:t>
            </a:r>
          </a:p>
        </p:txBody>
      </p:sp>
      <p:sp>
        <p:nvSpPr>
          <p:cNvPr id="65539" name="Rectangle 3"/>
          <p:cNvSpPr>
            <a:spLocks noChangeArrowheads="1"/>
          </p:cNvSpPr>
          <p:nvPr/>
        </p:nvSpPr>
        <p:spPr bwMode="auto">
          <a:xfrm>
            <a:off x="304800" y="1219200"/>
            <a:ext cx="8458200" cy="4953000"/>
          </a:xfrm>
          <a:prstGeom prst="rect">
            <a:avLst/>
          </a:prstGeom>
          <a:noFill/>
          <a:ln w="9525">
            <a:noFill/>
            <a:miter lim="800000"/>
            <a:headEnd/>
            <a:tailEnd/>
          </a:ln>
        </p:spPr>
        <p:txBody>
          <a:bodyPr/>
          <a:lstStyle/>
          <a:p>
            <a:pPr marL="342900" indent="-342900">
              <a:lnSpc>
                <a:spcPct val="110000"/>
              </a:lnSpc>
              <a:spcBef>
                <a:spcPct val="20000"/>
              </a:spcBef>
              <a:buClr>
                <a:schemeClr val="folHlink"/>
              </a:buClr>
              <a:buSzPct val="60000"/>
              <a:buFont typeface="Wingdings" pitchFamily="2" charset="2"/>
              <a:buChar char="n"/>
            </a:pPr>
            <a:r>
              <a:rPr lang="en-US" sz="2400" dirty="0">
                <a:latin typeface="Calibri" pitchFamily="34" charset="0"/>
              </a:rPr>
              <a:t>Select the attribute with the highest information gain</a:t>
            </a:r>
          </a:p>
          <a:p>
            <a:pPr marL="342900" indent="-342900">
              <a:lnSpc>
                <a:spcPct val="110000"/>
              </a:lnSpc>
              <a:spcBef>
                <a:spcPct val="20000"/>
              </a:spcBef>
              <a:buClr>
                <a:schemeClr val="folHlink"/>
              </a:buClr>
              <a:buSzPct val="60000"/>
              <a:buFont typeface="Wingdings" pitchFamily="2" charset="2"/>
              <a:buChar char="n"/>
            </a:pPr>
            <a:r>
              <a:rPr lang="en-US" sz="2400" dirty="0">
                <a:latin typeface="Calibri" pitchFamily="34" charset="0"/>
              </a:rPr>
              <a:t>Let </a:t>
            </a:r>
            <a:r>
              <a:rPr lang="en-US" sz="2400" i="1" dirty="0">
                <a:latin typeface="Calibri" pitchFamily="34" charset="0"/>
              </a:rPr>
              <a:t>p</a:t>
            </a:r>
            <a:r>
              <a:rPr lang="en-US" sz="2400" i="1" baseline="-25000" dirty="0">
                <a:latin typeface="Calibri" pitchFamily="34" charset="0"/>
              </a:rPr>
              <a:t>i</a:t>
            </a:r>
            <a:r>
              <a:rPr lang="en-US" sz="2400" dirty="0">
                <a:latin typeface="Calibri" pitchFamily="34" charset="0"/>
              </a:rPr>
              <a:t> be the probability that an arbitrary </a:t>
            </a:r>
            <a:r>
              <a:rPr lang="en-US" sz="2400" dirty="0" err="1">
                <a:latin typeface="Calibri" pitchFamily="34" charset="0"/>
              </a:rPr>
              <a:t>tuple</a:t>
            </a:r>
            <a:r>
              <a:rPr lang="en-US" sz="2400" dirty="0">
                <a:latin typeface="Calibri" pitchFamily="34" charset="0"/>
              </a:rPr>
              <a:t> in D belongs to class </a:t>
            </a:r>
            <a:r>
              <a:rPr lang="en-US" sz="2400" dirty="0" err="1" smtClean="0">
                <a:latin typeface="Calibri" pitchFamily="34" charset="0"/>
              </a:rPr>
              <a:t>C</a:t>
            </a:r>
            <a:r>
              <a:rPr lang="en-US" sz="2400" baseline="-25000" dirty="0" err="1" smtClean="0">
                <a:latin typeface="Calibri" pitchFamily="34" charset="0"/>
              </a:rPr>
              <a:t>i</a:t>
            </a:r>
            <a:r>
              <a:rPr lang="en-US" sz="2400" baseline="-25000" dirty="0" smtClean="0">
                <a:latin typeface="Calibri" pitchFamily="34" charset="0"/>
              </a:rPr>
              <a:t> </a:t>
            </a:r>
            <a:r>
              <a:rPr lang="en-US" sz="2400" dirty="0" smtClean="0">
                <a:latin typeface="Calibri" pitchFamily="34" charset="0"/>
              </a:rPr>
              <a:t>, </a:t>
            </a:r>
            <a:r>
              <a:rPr lang="en-US" sz="2400" dirty="0">
                <a:latin typeface="Calibri" pitchFamily="34" charset="0"/>
              </a:rPr>
              <a:t>estimated by |</a:t>
            </a:r>
            <a:r>
              <a:rPr lang="en-US" sz="2400" dirty="0" err="1">
                <a:latin typeface="Calibri" pitchFamily="34" charset="0"/>
              </a:rPr>
              <a:t>C</a:t>
            </a:r>
            <a:r>
              <a:rPr lang="en-US" sz="2400" i="1" baseline="-25000" dirty="0" err="1">
                <a:latin typeface="Calibri" pitchFamily="34" charset="0"/>
              </a:rPr>
              <a:t>i</a:t>
            </a:r>
            <a:r>
              <a:rPr lang="en-US" sz="2400" baseline="-25000" dirty="0">
                <a:latin typeface="Calibri" pitchFamily="34" charset="0"/>
              </a:rPr>
              <a:t>, D</a:t>
            </a:r>
            <a:r>
              <a:rPr lang="en-US" sz="2400" dirty="0">
                <a:latin typeface="Calibri" pitchFamily="34" charset="0"/>
              </a:rPr>
              <a:t>|/|D|</a:t>
            </a:r>
          </a:p>
          <a:p>
            <a:pPr marL="342900" indent="-342900">
              <a:lnSpc>
                <a:spcPct val="110000"/>
              </a:lnSpc>
              <a:spcBef>
                <a:spcPct val="20000"/>
              </a:spcBef>
              <a:buClr>
                <a:schemeClr val="folHlink"/>
              </a:buClr>
              <a:buSzPct val="60000"/>
              <a:buFont typeface="Wingdings" pitchFamily="2" charset="2"/>
              <a:buChar char="n"/>
            </a:pPr>
            <a:r>
              <a:rPr lang="en-US" sz="2400" dirty="0">
                <a:solidFill>
                  <a:schemeClr val="hlink"/>
                </a:solidFill>
                <a:latin typeface="Calibri" pitchFamily="34" charset="0"/>
              </a:rPr>
              <a:t>Expected information</a:t>
            </a:r>
            <a:r>
              <a:rPr lang="en-US" sz="2400" dirty="0">
                <a:latin typeface="Calibri" pitchFamily="34" charset="0"/>
              </a:rPr>
              <a:t> (entropy) needed to classify a </a:t>
            </a:r>
            <a:r>
              <a:rPr lang="en-US" sz="2400" dirty="0" err="1">
                <a:latin typeface="Calibri" pitchFamily="34" charset="0"/>
              </a:rPr>
              <a:t>tuple</a:t>
            </a:r>
            <a:r>
              <a:rPr lang="en-US" sz="2400" dirty="0">
                <a:latin typeface="Calibri" pitchFamily="34" charset="0"/>
              </a:rPr>
              <a:t> in D:</a:t>
            </a:r>
          </a:p>
          <a:p>
            <a:pPr marL="342900" indent="-342900">
              <a:lnSpc>
                <a:spcPct val="110000"/>
              </a:lnSpc>
              <a:spcBef>
                <a:spcPct val="20000"/>
              </a:spcBef>
              <a:buClr>
                <a:schemeClr val="folHlink"/>
              </a:buClr>
              <a:buSzPct val="60000"/>
              <a:buFont typeface="Wingdings" pitchFamily="2" charset="2"/>
              <a:buChar char="n"/>
            </a:pPr>
            <a:endParaRPr lang="en-US" sz="2400" dirty="0">
              <a:latin typeface="Calibri" pitchFamily="34" charset="0"/>
            </a:endParaRPr>
          </a:p>
          <a:p>
            <a:pPr marL="342900" indent="-342900">
              <a:lnSpc>
                <a:spcPct val="110000"/>
              </a:lnSpc>
              <a:spcBef>
                <a:spcPct val="20000"/>
              </a:spcBef>
              <a:buClr>
                <a:schemeClr val="folHlink"/>
              </a:buClr>
              <a:buSzPct val="60000"/>
              <a:buFont typeface="Wingdings" pitchFamily="2" charset="2"/>
              <a:buChar char="n"/>
            </a:pPr>
            <a:r>
              <a:rPr lang="en-US" sz="2400" dirty="0">
                <a:solidFill>
                  <a:schemeClr val="hlink"/>
                </a:solidFill>
                <a:latin typeface="Calibri" pitchFamily="34" charset="0"/>
              </a:rPr>
              <a:t>Information</a:t>
            </a:r>
            <a:r>
              <a:rPr lang="en-US" sz="2400" dirty="0">
                <a:latin typeface="Calibri" pitchFamily="34" charset="0"/>
              </a:rPr>
              <a:t> needed (after using A to split D into v partitions) to classify </a:t>
            </a:r>
            <a:r>
              <a:rPr lang="en-US" sz="2400" dirty="0" smtClean="0">
                <a:latin typeface="Calibri" pitchFamily="34" charset="0"/>
              </a:rPr>
              <a:t>a </a:t>
            </a:r>
            <a:r>
              <a:rPr lang="en-US" sz="2400" dirty="0" err="1" smtClean="0">
                <a:latin typeface="Calibri" pitchFamily="34" charset="0"/>
              </a:rPr>
              <a:t>tuple</a:t>
            </a:r>
            <a:r>
              <a:rPr lang="en-US" sz="2400" dirty="0" smtClean="0">
                <a:latin typeface="Calibri" pitchFamily="34" charset="0"/>
              </a:rPr>
              <a:t> in D</a:t>
            </a:r>
            <a:r>
              <a:rPr lang="en-US" sz="2400" dirty="0">
                <a:latin typeface="Calibri" pitchFamily="34" charset="0"/>
              </a:rPr>
              <a:t>:</a:t>
            </a:r>
          </a:p>
          <a:p>
            <a:pPr marL="342900" indent="-342900">
              <a:lnSpc>
                <a:spcPct val="110000"/>
              </a:lnSpc>
              <a:spcBef>
                <a:spcPct val="20000"/>
              </a:spcBef>
              <a:buClr>
                <a:schemeClr val="folHlink"/>
              </a:buClr>
              <a:buSzPct val="60000"/>
              <a:buFont typeface="Wingdings" pitchFamily="2" charset="2"/>
              <a:buChar char="n"/>
            </a:pPr>
            <a:endParaRPr lang="en-US" sz="2400" dirty="0">
              <a:latin typeface="Calibri" pitchFamily="34" charset="0"/>
            </a:endParaRPr>
          </a:p>
          <a:p>
            <a:pPr marL="342900" indent="-342900">
              <a:lnSpc>
                <a:spcPct val="110000"/>
              </a:lnSpc>
              <a:spcBef>
                <a:spcPct val="20000"/>
              </a:spcBef>
              <a:buClr>
                <a:schemeClr val="folHlink"/>
              </a:buClr>
              <a:buSzPct val="60000"/>
              <a:buFont typeface="Wingdings" pitchFamily="2" charset="2"/>
              <a:buChar char="n"/>
            </a:pPr>
            <a:r>
              <a:rPr lang="en-US" sz="2400" dirty="0">
                <a:solidFill>
                  <a:schemeClr val="hlink"/>
                </a:solidFill>
                <a:latin typeface="Calibri" pitchFamily="34" charset="0"/>
              </a:rPr>
              <a:t>Information gained</a:t>
            </a:r>
            <a:r>
              <a:rPr lang="en-US" sz="2400" dirty="0">
                <a:latin typeface="Calibri" pitchFamily="34" charset="0"/>
              </a:rPr>
              <a:t> by branching on attribute A</a:t>
            </a:r>
          </a:p>
          <a:p>
            <a:pPr marL="342900" indent="-342900">
              <a:lnSpc>
                <a:spcPct val="110000"/>
              </a:lnSpc>
              <a:spcBef>
                <a:spcPct val="20000"/>
              </a:spcBef>
              <a:buClr>
                <a:schemeClr val="folHlink"/>
              </a:buClr>
              <a:buSzPct val="60000"/>
              <a:buFont typeface="Wingdings" pitchFamily="2" charset="2"/>
              <a:buChar char="n"/>
            </a:pPr>
            <a:endParaRPr lang="en-US" sz="2400" dirty="0">
              <a:latin typeface="Calibri" pitchFamily="34" charset="0"/>
            </a:endParaRPr>
          </a:p>
        </p:txBody>
      </p:sp>
      <p:graphicFrame>
        <p:nvGraphicFramePr>
          <p:cNvPr id="65540" name="Object 4"/>
          <p:cNvGraphicFramePr>
            <a:graphicFrameLocks noChangeAspect="1"/>
          </p:cNvGraphicFramePr>
          <p:nvPr/>
        </p:nvGraphicFramePr>
        <p:xfrm>
          <a:off x="4572000" y="2895600"/>
          <a:ext cx="3317875" cy="850900"/>
        </p:xfrm>
        <a:graphic>
          <a:graphicData uri="http://schemas.openxmlformats.org/presentationml/2006/ole">
            <p:oleObj spid="_x0000_s3074" name="Equation" r:id="rId4" imgW="1612900" imgH="431800" progId="Equation.3">
              <p:embed/>
            </p:oleObj>
          </a:graphicData>
        </a:graphic>
      </p:graphicFrame>
      <p:graphicFrame>
        <p:nvGraphicFramePr>
          <p:cNvPr id="65541" name="Object 5"/>
          <p:cNvGraphicFramePr>
            <a:graphicFrameLocks noChangeAspect="1"/>
          </p:cNvGraphicFramePr>
          <p:nvPr/>
        </p:nvGraphicFramePr>
        <p:xfrm>
          <a:off x="4267200" y="3962400"/>
          <a:ext cx="4495800" cy="949325"/>
        </p:xfrm>
        <a:graphic>
          <a:graphicData uri="http://schemas.openxmlformats.org/presentationml/2006/ole">
            <p:oleObj spid="_x0000_s3075" name="Equation" r:id="rId5" imgW="1892300" imgH="457200" progId="Equation.3">
              <p:embed/>
            </p:oleObj>
          </a:graphicData>
        </a:graphic>
      </p:graphicFrame>
      <p:graphicFrame>
        <p:nvGraphicFramePr>
          <p:cNvPr id="65542" name="Object 6"/>
          <p:cNvGraphicFramePr>
            <a:graphicFrameLocks noChangeAspect="1"/>
          </p:cNvGraphicFramePr>
          <p:nvPr/>
        </p:nvGraphicFramePr>
        <p:xfrm>
          <a:off x="3886200" y="5334000"/>
          <a:ext cx="4589462" cy="536575"/>
        </p:xfrm>
        <a:graphic>
          <a:graphicData uri="http://schemas.openxmlformats.org/presentationml/2006/ole">
            <p:oleObj spid="_x0000_s3076" name="Equation" r:id="rId6" imgW="1790700" imgH="215900" progId="Equation.3">
              <p:embed/>
            </p:oleObj>
          </a:graphicData>
        </a:graphic>
      </p:graphicFrame>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Number Placeholder 6"/>
          <p:cNvSpPr>
            <a:spLocks noGrp="1"/>
          </p:cNvSpPr>
          <p:nvPr>
            <p:ph type="sldNum" sz="quarter" idx="10"/>
          </p:nvPr>
        </p:nvSpPr>
        <p:spPr>
          <a:noFill/>
        </p:spPr>
        <p:txBody>
          <a:bodyPr/>
          <a:lstStyle/>
          <a:p>
            <a:fld id="{B03EF2F5-D484-465D-A05A-DE20A538356A}" type="slidenum">
              <a:rPr lang="en-US"/>
              <a:pPr/>
              <a:t>29</a:t>
            </a:fld>
            <a:endParaRPr lang="en-US"/>
          </a:p>
        </p:txBody>
      </p:sp>
      <p:sp>
        <p:nvSpPr>
          <p:cNvPr id="67586" name="Rectangle 2"/>
          <p:cNvSpPr>
            <a:spLocks noGrp="1" noChangeArrowheads="1"/>
          </p:cNvSpPr>
          <p:nvPr>
            <p:ph type="title"/>
          </p:nvPr>
        </p:nvSpPr>
        <p:spPr>
          <a:xfrm>
            <a:off x="152400" y="304800"/>
            <a:ext cx="8763000" cy="609600"/>
          </a:xfrm>
        </p:spPr>
        <p:txBody>
          <a:bodyPr>
            <a:normAutofit fontScale="90000"/>
          </a:bodyPr>
          <a:lstStyle/>
          <a:p>
            <a:pPr eaLnBrk="1" hangingPunct="1"/>
            <a:r>
              <a:rPr lang="en-US" smtClean="0"/>
              <a:t>Attribute Selection: Information Gain</a:t>
            </a:r>
          </a:p>
        </p:txBody>
      </p:sp>
      <p:sp>
        <p:nvSpPr>
          <p:cNvPr id="67587" name="Rectangle 3"/>
          <p:cNvSpPr>
            <a:spLocks noGrp="1" noChangeArrowheads="1"/>
          </p:cNvSpPr>
          <p:nvPr>
            <p:ph type="body" sz="half" idx="1"/>
          </p:nvPr>
        </p:nvSpPr>
        <p:spPr>
          <a:xfrm>
            <a:off x="304800" y="1371600"/>
            <a:ext cx="4152900" cy="1600200"/>
          </a:xfrm>
        </p:spPr>
        <p:txBody>
          <a:bodyPr/>
          <a:lstStyle/>
          <a:p>
            <a:pPr eaLnBrk="1" hangingPunct="1">
              <a:lnSpc>
                <a:spcPct val="80000"/>
              </a:lnSpc>
              <a:spcBef>
                <a:spcPct val="30000"/>
              </a:spcBef>
              <a:buSzPct val="80000"/>
              <a:buFont typeface="Marlett" pitchFamily="2" charset="2"/>
              <a:buChar char="g"/>
            </a:pPr>
            <a:r>
              <a:rPr lang="en-US" sz="2000" smtClean="0">
                <a:solidFill>
                  <a:srgbClr val="121328"/>
                </a:solidFill>
              </a:rPr>
              <a:t>Class P: buys_computer = </a:t>
            </a:r>
            <a:r>
              <a:rPr lang="ja-JP" altLang="en-US" sz="2000" smtClean="0">
                <a:solidFill>
                  <a:srgbClr val="121328"/>
                </a:solidFill>
              </a:rPr>
              <a:t>“</a:t>
            </a:r>
            <a:r>
              <a:rPr lang="en-US" altLang="ja-JP" sz="2000" smtClean="0">
                <a:solidFill>
                  <a:srgbClr val="121328"/>
                </a:solidFill>
              </a:rPr>
              <a:t>yes</a:t>
            </a:r>
            <a:r>
              <a:rPr lang="ja-JP" altLang="en-US" sz="2000" smtClean="0">
                <a:solidFill>
                  <a:srgbClr val="121328"/>
                </a:solidFill>
              </a:rPr>
              <a:t>”</a:t>
            </a:r>
            <a:endParaRPr lang="en-US" altLang="ja-JP" sz="2000" smtClean="0">
              <a:solidFill>
                <a:srgbClr val="121328"/>
              </a:solidFill>
            </a:endParaRPr>
          </a:p>
          <a:p>
            <a:pPr eaLnBrk="1" hangingPunct="1">
              <a:lnSpc>
                <a:spcPct val="80000"/>
              </a:lnSpc>
              <a:spcBef>
                <a:spcPct val="30000"/>
              </a:spcBef>
              <a:buSzPct val="80000"/>
              <a:buFont typeface="Marlett" pitchFamily="2" charset="2"/>
              <a:buChar char="g"/>
            </a:pPr>
            <a:r>
              <a:rPr lang="en-US" sz="2000" smtClean="0">
                <a:solidFill>
                  <a:srgbClr val="121328"/>
                </a:solidFill>
              </a:rPr>
              <a:t>Class N: buys_computer = </a:t>
            </a:r>
            <a:r>
              <a:rPr lang="ja-JP" altLang="en-US" sz="2000" smtClean="0">
                <a:solidFill>
                  <a:srgbClr val="121328"/>
                </a:solidFill>
              </a:rPr>
              <a:t>“</a:t>
            </a:r>
            <a:r>
              <a:rPr lang="en-US" altLang="ja-JP" sz="2000" smtClean="0">
                <a:solidFill>
                  <a:srgbClr val="121328"/>
                </a:solidFill>
              </a:rPr>
              <a:t>no</a:t>
            </a:r>
            <a:r>
              <a:rPr lang="ja-JP" altLang="en-US" sz="2000" smtClean="0">
                <a:solidFill>
                  <a:srgbClr val="121328"/>
                </a:solidFill>
              </a:rPr>
              <a:t>”</a:t>
            </a:r>
            <a:endParaRPr lang="en-US" sz="2000" smtClean="0"/>
          </a:p>
        </p:txBody>
      </p:sp>
      <p:sp>
        <p:nvSpPr>
          <p:cNvPr id="67588" name="Rectangle 4"/>
          <p:cNvSpPr>
            <a:spLocks noGrp="1" noChangeArrowheads="1"/>
          </p:cNvSpPr>
          <p:nvPr>
            <p:ph type="body" sz="half" idx="2"/>
          </p:nvPr>
        </p:nvSpPr>
        <p:spPr>
          <a:xfrm>
            <a:off x="4724400" y="2743200"/>
            <a:ext cx="4152900" cy="2209800"/>
          </a:xfrm>
        </p:spPr>
        <p:txBody>
          <a:bodyPr>
            <a:normAutofit lnSpcReduction="10000"/>
          </a:bodyPr>
          <a:lstStyle/>
          <a:p>
            <a:pPr eaLnBrk="1" hangingPunct="1">
              <a:lnSpc>
                <a:spcPct val="130000"/>
              </a:lnSpc>
              <a:buFont typeface="Wingdings" pitchFamily="2" charset="2"/>
              <a:buNone/>
            </a:pPr>
            <a:r>
              <a:rPr lang="en-US" sz="2000" dirty="0" smtClean="0">
                <a:solidFill>
                  <a:srgbClr val="121328"/>
                </a:solidFill>
              </a:rPr>
              <a:t>            means </a:t>
            </a:r>
            <a:r>
              <a:rPr lang="ja-JP" altLang="en-US" sz="2000" smtClean="0">
                <a:solidFill>
                  <a:srgbClr val="121328"/>
                </a:solidFill>
              </a:rPr>
              <a:t>“</a:t>
            </a:r>
            <a:r>
              <a:rPr lang="en-US" altLang="ja-JP" sz="2000" dirty="0" smtClean="0">
                <a:solidFill>
                  <a:srgbClr val="121328"/>
                </a:solidFill>
              </a:rPr>
              <a:t>age &lt;=30</a:t>
            </a:r>
            <a:r>
              <a:rPr lang="ja-JP" altLang="en-US" sz="2000" smtClean="0">
                <a:solidFill>
                  <a:srgbClr val="121328"/>
                </a:solidFill>
              </a:rPr>
              <a:t>”</a:t>
            </a:r>
            <a:r>
              <a:rPr lang="en-US" altLang="ja-JP" sz="2000" dirty="0" smtClean="0">
                <a:solidFill>
                  <a:srgbClr val="121328"/>
                </a:solidFill>
              </a:rPr>
              <a:t> has 5 out of 14 samples, with 2 yes</a:t>
            </a:r>
            <a:r>
              <a:rPr lang="ja-JP" altLang="en-US" sz="2000" smtClean="0">
                <a:solidFill>
                  <a:srgbClr val="121328"/>
                </a:solidFill>
              </a:rPr>
              <a:t>’</a:t>
            </a:r>
            <a:r>
              <a:rPr lang="en-US" altLang="ja-JP" sz="2000" dirty="0" err="1" smtClean="0">
                <a:solidFill>
                  <a:srgbClr val="121328"/>
                </a:solidFill>
              </a:rPr>
              <a:t>es</a:t>
            </a:r>
            <a:r>
              <a:rPr lang="en-US" altLang="ja-JP" sz="2000" dirty="0" smtClean="0">
                <a:solidFill>
                  <a:srgbClr val="121328"/>
                </a:solidFill>
              </a:rPr>
              <a:t>  and 3 no</a:t>
            </a:r>
            <a:r>
              <a:rPr lang="ja-JP" altLang="en-US" sz="2000" smtClean="0">
                <a:solidFill>
                  <a:srgbClr val="121328"/>
                </a:solidFill>
              </a:rPr>
              <a:t>’</a:t>
            </a:r>
            <a:r>
              <a:rPr lang="en-US" altLang="ja-JP" sz="2000" dirty="0" smtClean="0">
                <a:solidFill>
                  <a:srgbClr val="121328"/>
                </a:solidFill>
              </a:rPr>
              <a:t>s.   Hence</a:t>
            </a:r>
            <a:endParaRPr lang="en-US" altLang="ja-JP" sz="2000" dirty="0" smtClean="0"/>
          </a:p>
          <a:p>
            <a:pPr eaLnBrk="1" hangingPunct="1">
              <a:lnSpc>
                <a:spcPct val="90000"/>
              </a:lnSpc>
              <a:buClr>
                <a:schemeClr val="accent1"/>
              </a:buClr>
              <a:buFont typeface="Wingdings 2" pitchFamily="18" charset="2"/>
              <a:buNone/>
            </a:pPr>
            <a:endParaRPr lang="en-US" sz="2000" dirty="0" smtClean="0"/>
          </a:p>
          <a:p>
            <a:pPr eaLnBrk="1" hangingPunct="1">
              <a:lnSpc>
                <a:spcPct val="90000"/>
              </a:lnSpc>
              <a:buClr>
                <a:schemeClr val="accent1"/>
              </a:buClr>
              <a:buFont typeface="Wingdings 2" pitchFamily="18" charset="2"/>
              <a:buNone/>
            </a:pPr>
            <a:endParaRPr lang="en-US" sz="2000" dirty="0" smtClean="0">
              <a:solidFill>
                <a:srgbClr val="121328"/>
              </a:solidFill>
            </a:endParaRPr>
          </a:p>
          <a:p>
            <a:pPr eaLnBrk="1" hangingPunct="1">
              <a:lnSpc>
                <a:spcPct val="90000"/>
              </a:lnSpc>
              <a:buClr>
                <a:schemeClr val="accent1"/>
              </a:buClr>
              <a:buFont typeface="Wingdings 2" pitchFamily="18" charset="2"/>
              <a:buNone/>
            </a:pPr>
            <a:r>
              <a:rPr lang="en-US" sz="2000" dirty="0" smtClean="0">
                <a:solidFill>
                  <a:srgbClr val="121328"/>
                </a:solidFill>
              </a:rPr>
              <a:t>Similarly,</a:t>
            </a:r>
          </a:p>
        </p:txBody>
      </p:sp>
      <p:graphicFrame>
        <p:nvGraphicFramePr>
          <p:cNvPr id="67589" name="Object 5"/>
          <p:cNvGraphicFramePr>
            <a:graphicFrameLocks noChangeAspect="1"/>
          </p:cNvGraphicFramePr>
          <p:nvPr/>
        </p:nvGraphicFramePr>
        <p:xfrm>
          <a:off x="762000" y="2590800"/>
          <a:ext cx="3276600" cy="1406473"/>
        </p:xfrm>
        <a:graphic>
          <a:graphicData uri="http://schemas.openxmlformats.org/presentationml/2006/ole">
            <p:oleObj spid="_x0000_s4098" name="Worksheet" r:id="rId4" imgW="3352800" imgH="1438250" progId="Excel.Sheet.8">
              <p:embed/>
            </p:oleObj>
          </a:graphicData>
        </a:graphic>
      </p:graphicFrame>
      <p:graphicFrame>
        <p:nvGraphicFramePr>
          <p:cNvPr id="67590" name="Object 6"/>
          <p:cNvGraphicFramePr>
            <a:graphicFrameLocks noChangeAspect="1"/>
          </p:cNvGraphicFramePr>
          <p:nvPr/>
        </p:nvGraphicFramePr>
        <p:xfrm>
          <a:off x="4876800" y="1295400"/>
          <a:ext cx="3754438" cy="1371600"/>
        </p:xfrm>
        <a:graphic>
          <a:graphicData uri="http://schemas.openxmlformats.org/presentationml/2006/ole">
            <p:oleObj spid="_x0000_s4099" name="Equation" r:id="rId5" imgW="2044700" imgH="812800" progId="Equation.3">
              <p:embed/>
            </p:oleObj>
          </a:graphicData>
        </a:graphic>
      </p:graphicFrame>
      <p:graphicFrame>
        <p:nvGraphicFramePr>
          <p:cNvPr id="67591" name="Object 7"/>
          <p:cNvGraphicFramePr>
            <a:graphicFrameLocks noChangeAspect="1"/>
          </p:cNvGraphicFramePr>
          <p:nvPr/>
        </p:nvGraphicFramePr>
        <p:xfrm>
          <a:off x="5029200" y="5257800"/>
          <a:ext cx="3594100" cy="1193800"/>
        </p:xfrm>
        <a:graphic>
          <a:graphicData uri="http://schemas.openxmlformats.org/presentationml/2006/ole">
            <p:oleObj spid="_x0000_s4100" name="Equation" r:id="rId6" imgW="3594100" imgH="1193800" progId="Equation.3">
              <p:embed/>
            </p:oleObj>
          </a:graphicData>
        </a:graphic>
      </p:graphicFrame>
      <p:graphicFrame>
        <p:nvGraphicFramePr>
          <p:cNvPr id="67592" name="Object 8"/>
          <p:cNvGraphicFramePr>
            <a:graphicFrameLocks noChangeAspect="1"/>
          </p:cNvGraphicFramePr>
          <p:nvPr/>
        </p:nvGraphicFramePr>
        <p:xfrm>
          <a:off x="4724400" y="4114800"/>
          <a:ext cx="4271963" cy="388938"/>
        </p:xfrm>
        <a:graphic>
          <a:graphicData uri="http://schemas.openxmlformats.org/presentationml/2006/ole">
            <p:oleObj spid="_x0000_s4101" name="Equation" r:id="rId7" imgW="2552700" imgH="241300" progId="Equation.3">
              <p:embed/>
            </p:oleObj>
          </a:graphicData>
        </a:graphic>
      </p:graphicFrame>
      <p:graphicFrame>
        <p:nvGraphicFramePr>
          <p:cNvPr id="67593" name="Object 9"/>
          <p:cNvGraphicFramePr>
            <a:graphicFrameLocks/>
          </p:cNvGraphicFramePr>
          <p:nvPr/>
        </p:nvGraphicFramePr>
        <p:xfrm>
          <a:off x="381000" y="4038600"/>
          <a:ext cx="4114800" cy="2362200"/>
        </p:xfrm>
        <a:graphic>
          <a:graphicData uri="http://schemas.openxmlformats.org/presentationml/2006/ole">
            <p:oleObj spid="_x0000_s4102" name="Worksheet" r:id="rId8" imgW="5778000" imgH="3948840" progId="Excel.Sheet.8">
              <p:embed/>
            </p:oleObj>
          </a:graphicData>
        </a:graphic>
      </p:graphicFrame>
      <p:graphicFrame>
        <p:nvGraphicFramePr>
          <p:cNvPr id="67594" name="Object 10"/>
          <p:cNvGraphicFramePr>
            <a:graphicFrameLocks noChangeAspect="1"/>
          </p:cNvGraphicFramePr>
          <p:nvPr/>
        </p:nvGraphicFramePr>
        <p:xfrm>
          <a:off x="4419600" y="2667000"/>
          <a:ext cx="1073150" cy="665163"/>
        </p:xfrm>
        <a:graphic>
          <a:graphicData uri="http://schemas.openxmlformats.org/presentationml/2006/ole">
            <p:oleObj spid="_x0000_s4103" name="Equation" r:id="rId9" imgW="583947" imgH="393529" progId="Equation.3">
              <p:embed/>
            </p:oleObj>
          </a:graphicData>
        </a:graphic>
      </p:graphicFrame>
      <p:graphicFrame>
        <p:nvGraphicFramePr>
          <p:cNvPr id="67595" name="Object 11"/>
          <p:cNvGraphicFramePr>
            <a:graphicFrameLocks noChangeAspect="1"/>
          </p:cNvGraphicFramePr>
          <p:nvPr/>
        </p:nvGraphicFramePr>
        <p:xfrm>
          <a:off x="76200" y="2057400"/>
          <a:ext cx="4800600" cy="523875"/>
        </p:xfrm>
        <a:graphic>
          <a:graphicData uri="http://schemas.openxmlformats.org/presentationml/2006/ole">
            <p:oleObj spid="_x0000_s4104" name="Equation" r:id="rId10" imgW="3314700" imgH="393700" progId="Equation.3">
              <p:embed/>
            </p:oleObj>
          </a:graphicData>
        </a:graphic>
      </p:graphicFrame>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Number Placeholder 5"/>
          <p:cNvSpPr>
            <a:spLocks noGrp="1"/>
          </p:cNvSpPr>
          <p:nvPr>
            <p:ph type="sldNum" sz="quarter" idx="10"/>
          </p:nvPr>
        </p:nvSpPr>
        <p:spPr>
          <a:noFill/>
        </p:spPr>
        <p:txBody>
          <a:bodyPr/>
          <a:lstStyle/>
          <a:p>
            <a:fld id="{BBD85FE6-F73C-4D1E-B97A-ACDE881D49A4}" type="slidenum">
              <a:rPr lang="en-US"/>
              <a:pPr/>
              <a:t>30</a:t>
            </a:fld>
            <a:endParaRPr lang="en-US"/>
          </a:p>
        </p:txBody>
      </p:sp>
      <p:sp>
        <p:nvSpPr>
          <p:cNvPr id="69634" name="Rectangle 2"/>
          <p:cNvSpPr>
            <a:spLocks noGrp="1" noChangeArrowheads="1"/>
          </p:cNvSpPr>
          <p:nvPr>
            <p:ph type="title"/>
          </p:nvPr>
        </p:nvSpPr>
        <p:spPr>
          <a:xfrm>
            <a:off x="533400" y="152400"/>
            <a:ext cx="8153400" cy="990600"/>
          </a:xfrm>
        </p:spPr>
        <p:txBody>
          <a:bodyPr>
            <a:normAutofit fontScale="90000"/>
          </a:bodyPr>
          <a:lstStyle/>
          <a:p>
            <a:pPr eaLnBrk="1" hangingPunct="1"/>
            <a:r>
              <a:rPr lang="en-US" smtClean="0"/>
              <a:t>Computing Information-Gain for Continuous-Valued Attributes</a:t>
            </a:r>
            <a:endParaRPr lang="en-US" i="1" smtClean="0">
              <a:solidFill>
                <a:srgbClr val="CC0000"/>
              </a:solidFill>
            </a:endParaRPr>
          </a:p>
        </p:txBody>
      </p:sp>
      <p:sp>
        <p:nvSpPr>
          <p:cNvPr id="69635" name="Rectangle 3"/>
          <p:cNvSpPr>
            <a:spLocks noGrp="1" noChangeArrowheads="1"/>
          </p:cNvSpPr>
          <p:nvPr>
            <p:ph type="body" idx="1"/>
          </p:nvPr>
        </p:nvSpPr>
        <p:spPr>
          <a:xfrm>
            <a:off x="304800" y="1295400"/>
            <a:ext cx="8610600" cy="5273675"/>
          </a:xfrm>
        </p:spPr>
        <p:txBody>
          <a:bodyPr/>
          <a:lstStyle/>
          <a:p>
            <a:pPr eaLnBrk="1" hangingPunct="1">
              <a:lnSpc>
                <a:spcPct val="115000"/>
              </a:lnSpc>
              <a:spcBef>
                <a:spcPct val="25000"/>
              </a:spcBef>
            </a:pPr>
            <a:r>
              <a:rPr lang="en-US" sz="2400" dirty="0" smtClean="0"/>
              <a:t>Let attribute A be a continuous-valued attribute</a:t>
            </a:r>
          </a:p>
          <a:p>
            <a:pPr eaLnBrk="1" hangingPunct="1">
              <a:lnSpc>
                <a:spcPct val="115000"/>
              </a:lnSpc>
              <a:spcBef>
                <a:spcPct val="25000"/>
              </a:spcBef>
            </a:pPr>
            <a:r>
              <a:rPr lang="en-US" sz="2400" dirty="0" smtClean="0"/>
              <a:t>Must determine the </a:t>
            </a:r>
            <a:r>
              <a:rPr lang="en-US" sz="2400" i="1" dirty="0" smtClean="0">
                <a:solidFill>
                  <a:schemeClr val="hlink"/>
                </a:solidFill>
              </a:rPr>
              <a:t>best split point</a:t>
            </a:r>
            <a:r>
              <a:rPr lang="en-US" sz="2400" dirty="0" smtClean="0"/>
              <a:t> for A</a:t>
            </a:r>
          </a:p>
          <a:p>
            <a:pPr lvl="1" eaLnBrk="1" hangingPunct="1">
              <a:lnSpc>
                <a:spcPct val="115000"/>
              </a:lnSpc>
              <a:spcBef>
                <a:spcPct val="25000"/>
              </a:spcBef>
            </a:pPr>
            <a:r>
              <a:rPr lang="en-US" sz="2400" dirty="0" smtClean="0"/>
              <a:t>Sort the value A in increasing order</a:t>
            </a:r>
          </a:p>
          <a:p>
            <a:pPr lvl="1" eaLnBrk="1" hangingPunct="1">
              <a:lnSpc>
                <a:spcPct val="115000"/>
              </a:lnSpc>
              <a:spcBef>
                <a:spcPct val="25000"/>
              </a:spcBef>
            </a:pPr>
            <a:r>
              <a:rPr lang="en-US" sz="2400" dirty="0" smtClean="0"/>
              <a:t>Typically, the midpoint between each pair of adjacent values is considered as a possible </a:t>
            </a:r>
            <a:r>
              <a:rPr lang="en-US" sz="2400" i="1" dirty="0" smtClean="0"/>
              <a:t>split point</a:t>
            </a:r>
          </a:p>
          <a:p>
            <a:pPr lvl="2" eaLnBrk="1" hangingPunct="1">
              <a:lnSpc>
                <a:spcPct val="115000"/>
              </a:lnSpc>
              <a:spcBef>
                <a:spcPct val="25000"/>
              </a:spcBef>
            </a:pPr>
            <a:r>
              <a:rPr lang="en-US" sz="2000" dirty="0" smtClean="0"/>
              <a:t>(a</a:t>
            </a:r>
            <a:r>
              <a:rPr lang="en-US" sz="2000" baseline="-25000" dirty="0" smtClean="0"/>
              <a:t>i</a:t>
            </a:r>
            <a:r>
              <a:rPr lang="en-US" sz="2000" dirty="0" smtClean="0"/>
              <a:t>+a</a:t>
            </a:r>
            <a:r>
              <a:rPr lang="en-US" sz="2000" baseline="-25000" dirty="0" smtClean="0"/>
              <a:t>i+1</a:t>
            </a:r>
            <a:r>
              <a:rPr lang="en-US" sz="2000" dirty="0" smtClean="0"/>
              <a:t>)/2 is the midpoint between the values of </a:t>
            </a:r>
            <a:r>
              <a:rPr lang="en-US" sz="2000" dirty="0" err="1" smtClean="0"/>
              <a:t>a</a:t>
            </a:r>
            <a:r>
              <a:rPr lang="en-US" sz="2000" baseline="-25000" dirty="0" err="1" smtClean="0"/>
              <a:t>i</a:t>
            </a:r>
            <a:r>
              <a:rPr lang="en-US" sz="2000" dirty="0" smtClean="0"/>
              <a:t> and a</a:t>
            </a:r>
            <a:r>
              <a:rPr lang="en-US" sz="2000" baseline="-25000" dirty="0" smtClean="0"/>
              <a:t>i+1</a:t>
            </a:r>
          </a:p>
          <a:p>
            <a:pPr lvl="1" eaLnBrk="1" hangingPunct="1">
              <a:lnSpc>
                <a:spcPct val="115000"/>
              </a:lnSpc>
              <a:spcBef>
                <a:spcPct val="25000"/>
              </a:spcBef>
            </a:pPr>
            <a:r>
              <a:rPr lang="en-US" sz="2400" dirty="0" smtClean="0"/>
              <a:t>The point with the </a:t>
            </a:r>
            <a:r>
              <a:rPr lang="en-US" sz="2400" i="1" dirty="0" smtClean="0"/>
              <a:t>minimum expected information requirement</a:t>
            </a:r>
            <a:r>
              <a:rPr lang="en-US" sz="2400" dirty="0" smtClean="0"/>
              <a:t> for A is selected as the split-point for A</a:t>
            </a:r>
          </a:p>
          <a:p>
            <a:pPr eaLnBrk="1" hangingPunct="1">
              <a:lnSpc>
                <a:spcPct val="115000"/>
              </a:lnSpc>
            </a:pPr>
            <a:r>
              <a:rPr lang="en-US" sz="2400" dirty="0" smtClean="0"/>
              <a:t>Split:</a:t>
            </a:r>
          </a:p>
          <a:p>
            <a:pPr lvl="1" eaLnBrk="1" hangingPunct="1">
              <a:lnSpc>
                <a:spcPct val="115000"/>
              </a:lnSpc>
            </a:pPr>
            <a:r>
              <a:rPr lang="en-US" sz="2400" dirty="0" smtClean="0"/>
              <a:t>D1 is the set of </a:t>
            </a:r>
            <a:r>
              <a:rPr lang="en-US" sz="2400" dirty="0" err="1" smtClean="0"/>
              <a:t>tuples</a:t>
            </a:r>
            <a:r>
              <a:rPr lang="en-US" sz="2400" dirty="0" smtClean="0"/>
              <a:t> in D satisfying A ≤ split-point, and D2 is the set of </a:t>
            </a:r>
            <a:r>
              <a:rPr lang="en-US" sz="2400" dirty="0" err="1" smtClean="0"/>
              <a:t>tuples</a:t>
            </a:r>
            <a:r>
              <a:rPr lang="en-US" sz="2400" dirty="0" smtClean="0"/>
              <a:t> in D satisfying A &gt; split-point</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Gain Ratio</a:t>
            </a:r>
            <a:endParaRPr lang="en-US"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r>
              <a:rPr lang="en-US" b="1" dirty="0" smtClean="0"/>
              <a:t>Gain Ratio</a:t>
            </a:r>
            <a:r>
              <a:rPr lang="en-US" dirty="0" smtClean="0"/>
              <a:t> is an improved version of </a:t>
            </a:r>
            <a:r>
              <a:rPr lang="en-US" b="1" dirty="0" smtClean="0"/>
              <a:t>Information Gain</a:t>
            </a:r>
            <a:r>
              <a:rPr lang="en-US" dirty="0" smtClean="0"/>
              <a:t>, </a:t>
            </a:r>
          </a:p>
          <a:p>
            <a:r>
              <a:rPr lang="en-US" dirty="0" smtClean="0"/>
              <a:t>In decision trees, it helps mitigate a bias that Information Gain has towards attributes with many values. </a:t>
            </a:r>
          </a:p>
          <a:p>
            <a:r>
              <a:rPr lang="en-US" dirty="0" smtClean="0"/>
              <a:t>Gain Ratio is often better:</a:t>
            </a:r>
          </a:p>
          <a:p>
            <a:pPr>
              <a:buNone/>
            </a:pPr>
            <a:r>
              <a:rPr lang="en-US" b="1" dirty="0" smtClean="0"/>
              <a:t>1. Bias in Information Gain</a:t>
            </a:r>
          </a:p>
          <a:p>
            <a:r>
              <a:rPr lang="en-US" dirty="0" smtClean="0"/>
              <a:t>Information Gain measures how much uncertainty (entropy) is reduced when splitting the data based on a particular attribute.</a:t>
            </a:r>
          </a:p>
          <a:p>
            <a:r>
              <a:rPr lang="en-US" dirty="0" smtClean="0"/>
              <a:t>However, it tends to favor attributes with a large number of distinct values (e.g., unique IDs, timestamps), even if they are not meaningful for classification.</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Gain Ratio</a:t>
            </a:r>
            <a:endParaRPr lang="en-US" dirty="0"/>
          </a:p>
        </p:txBody>
      </p:sp>
      <p:sp>
        <p:nvSpPr>
          <p:cNvPr id="3" name="Content Placeholder 2"/>
          <p:cNvSpPr>
            <a:spLocks noGrp="1"/>
          </p:cNvSpPr>
          <p:nvPr>
            <p:ph idx="1"/>
          </p:nvPr>
        </p:nvSpPr>
        <p:spPr>
          <a:xfrm>
            <a:off x="457200" y="1143000"/>
            <a:ext cx="8229600" cy="4983163"/>
          </a:xfrm>
        </p:spPr>
        <p:txBody>
          <a:bodyPr/>
          <a:lstStyle/>
          <a:p>
            <a:pPr>
              <a:buNone/>
            </a:pPr>
            <a:r>
              <a:rPr lang="en-US" b="1" dirty="0" smtClean="0"/>
              <a:t>2. Gain Ratio Normalization</a:t>
            </a:r>
          </a:p>
          <a:p>
            <a:r>
              <a:rPr lang="en-US" dirty="0" smtClean="0"/>
              <a:t>Gain Ratio adjusts Information Gain by dividing it by the </a:t>
            </a:r>
            <a:r>
              <a:rPr lang="en-US" b="1" dirty="0" smtClean="0"/>
              <a:t>Split Information</a:t>
            </a:r>
            <a:r>
              <a:rPr lang="en-US" dirty="0" smtClean="0"/>
              <a:t>, which represents how broadly the data is split.</a:t>
            </a:r>
          </a:p>
          <a:p>
            <a:endParaRPr lang="en-US" dirty="0" smtClean="0"/>
          </a:p>
          <a:p>
            <a:endParaRPr lang="en-US" dirty="0" smtClean="0"/>
          </a:p>
          <a:p>
            <a:pPr marL="342900" lvl="1" indent="-342900">
              <a:buFont typeface="Arial" pitchFamily="34" charset="0"/>
              <a:buChar char="•"/>
            </a:pPr>
            <a:r>
              <a:rPr lang="en-US" sz="2400" dirty="0" err="1" smtClean="0"/>
              <a:t>GainRatio</a:t>
            </a:r>
            <a:r>
              <a:rPr lang="en-US" sz="2400" dirty="0" smtClean="0"/>
              <a:t>(A) = Gain(A)/</a:t>
            </a:r>
            <a:r>
              <a:rPr lang="en-US" sz="2400" dirty="0" err="1" smtClean="0"/>
              <a:t>SplitInfo</a:t>
            </a:r>
            <a:r>
              <a:rPr lang="en-US" sz="2400" dirty="0" smtClean="0"/>
              <a:t>(A)</a:t>
            </a:r>
          </a:p>
          <a:p>
            <a:endParaRPr lang="en-US" dirty="0" smtClean="0"/>
          </a:p>
          <a:p>
            <a:endParaRPr lang="en-US" dirty="0"/>
          </a:p>
        </p:txBody>
      </p:sp>
      <p:graphicFrame>
        <p:nvGraphicFramePr>
          <p:cNvPr id="62466" name="Object 2048"/>
          <p:cNvGraphicFramePr>
            <a:graphicFrameLocks noChangeAspect="1"/>
          </p:cNvGraphicFramePr>
          <p:nvPr/>
        </p:nvGraphicFramePr>
        <p:xfrm>
          <a:off x="1905000" y="3581400"/>
          <a:ext cx="4343400" cy="831850"/>
        </p:xfrm>
        <a:graphic>
          <a:graphicData uri="http://schemas.openxmlformats.org/presentationml/2006/ole">
            <p:oleObj spid="_x0000_s62466" name="Equation" r:id="rId3" imgW="2387600" imgH="457200" progId="Equation.3">
              <p:embed/>
            </p:oleObj>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Gain Ratio</a:t>
            </a:r>
            <a:endParaRPr lang="en-US" dirty="0"/>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pPr>
              <a:buNone/>
            </a:pPr>
            <a:r>
              <a:rPr lang="en-US" b="1" dirty="0" smtClean="0"/>
              <a:t>3. Effect of Gain Ratio</a:t>
            </a:r>
          </a:p>
          <a:p>
            <a:r>
              <a:rPr lang="en-US" dirty="0" smtClean="0"/>
              <a:t>By penalizing splits that create many small partitions (high Split Information), Gain Ratio avoids favoring attributes with numerous unique values.</a:t>
            </a:r>
          </a:p>
          <a:p>
            <a:r>
              <a:rPr lang="en-US" dirty="0" smtClean="0"/>
              <a:t>It ensures the selected attribute provides meaningful splits rather than just dividing the data into very small subsets.</a:t>
            </a:r>
          </a:p>
          <a:p>
            <a:r>
              <a:rPr lang="en-US" b="1" dirty="0" smtClean="0"/>
              <a:t>Example: </a:t>
            </a:r>
            <a:r>
              <a:rPr lang="en-US" dirty="0" smtClean="0"/>
              <a:t>Imagine a dataset where: (</a:t>
            </a:r>
            <a:r>
              <a:rPr lang="en-US" dirty="0" err="1" smtClean="0"/>
              <a:t>i</a:t>
            </a:r>
            <a:r>
              <a:rPr lang="en-US" dirty="0" smtClean="0"/>
              <a:t>) </a:t>
            </a:r>
            <a:r>
              <a:rPr lang="en-US" b="1" dirty="0" smtClean="0"/>
              <a:t>Attribute A</a:t>
            </a:r>
            <a:r>
              <a:rPr lang="en-US" dirty="0" smtClean="0"/>
              <a:t> has 3 categories (low, medium, high) and (ii) </a:t>
            </a:r>
            <a:r>
              <a:rPr lang="en-US" b="1" dirty="0" smtClean="0"/>
              <a:t>Attribute B</a:t>
            </a:r>
            <a:r>
              <a:rPr lang="en-US" dirty="0" smtClean="0"/>
              <a:t> is an ID number (each value is unique).</a:t>
            </a:r>
          </a:p>
          <a:p>
            <a:r>
              <a:rPr lang="en-US" dirty="0" smtClean="0"/>
              <a:t>If we use </a:t>
            </a:r>
            <a:r>
              <a:rPr lang="en-US" b="1" dirty="0" smtClean="0"/>
              <a:t>Information Gain</a:t>
            </a:r>
            <a:r>
              <a:rPr lang="en-US" dirty="0" smtClean="0"/>
              <a:t>, Attribute B might have the highest score because every split is "pure," but it doesn’t generalize well. However, </a:t>
            </a:r>
            <a:r>
              <a:rPr lang="en-US" b="1" dirty="0" smtClean="0"/>
              <a:t>Gain Ratio</a:t>
            </a:r>
            <a:r>
              <a:rPr lang="en-US" dirty="0" smtClean="0"/>
              <a:t> would favor Attribute A because it provides useful, </a:t>
            </a:r>
            <a:r>
              <a:rPr lang="en-US" dirty="0" err="1" smtClean="0"/>
              <a:t>generalizable</a:t>
            </a:r>
            <a:r>
              <a:rPr lang="en-US" dirty="0" smtClean="0"/>
              <a:t> splits.</a:t>
            </a:r>
          </a:p>
          <a:p>
            <a:pPr>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Number Placeholder 7"/>
          <p:cNvSpPr>
            <a:spLocks noGrp="1"/>
          </p:cNvSpPr>
          <p:nvPr>
            <p:ph type="sldNum" sz="quarter" idx="10"/>
          </p:nvPr>
        </p:nvSpPr>
        <p:spPr>
          <a:noFill/>
        </p:spPr>
        <p:txBody>
          <a:bodyPr/>
          <a:lstStyle/>
          <a:p>
            <a:fld id="{4DD7F1E7-BB7B-4A91-8E92-140AF4D7F9E4}" type="slidenum">
              <a:rPr lang="en-US"/>
              <a:pPr/>
              <a:t>34</a:t>
            </a:fld>
            <a:endParaRPr lang="en-US"/>
          </a:p>
        </p:txBody>
      </p:sp>
      <p:sp>
        <p:nvSpPr>
          <p:cNvPr id="71682" name="Rectangle 2050"/>
          <p:cNvSpPr>
            <a:spLocks noGrp="1" noChangeArrowheads="1"/>
          </p:cNvSpPr>
          <p:nvPr>
            <p:ph type="title"/>
          </p:nvPr>
        </p:nvSpPr>
        <p:spPr>
          <a:xfrm>
            <a:off x="304800" y="381000"/>
            <a:ext cx="8534400" cy="609600"/>
          </a:xfrm>
        </p:spPr>
        <p:txBody>
          <a:bodyPr>
            <a:normAutofit fontScale="90000"/>
          </a:bodyPr>
          <a:lstStyle/>
          <a:p>
            <a:pPr eaLnBrk="1" hangingPunct="1"/>
            <a:r>
              <a:rPr lang="en-US" smtClean="0"/>
              <a:t>Gain Ratio for Attribute Selection (C4.5)</a:t>
            </a:r>
            <a:endParaRPr lang="en-US" i="1" smtClean="0">
              <a:solidFill>
                <a:srgbClr val="CC0000"/>
              </a:solidFill>
            </a:endParaRPr>
          </a:p>
        </p:txBody>
      </p:sp>
      <p:sp>
        <p:nvSpPr>
          <p:cNvPr id="71683" name="Rectangle 2051"/>
          <p:cNvSpPr>
            <a:spLocks noGrp="1" noChangeArrowheads="1"/>
          </p:cNvSpPr>
          <p:nvPr>
            <p:ph type="body" sz="half" idx="1"/>
          </p:nvPr>
        </p:nvSpPr>
        <p:spPr>
          <a:xfrm>
            <a:off x="304800" y="1219200"/>
            <a:ext cx="8458200" cy="5105400"/>
          </a:xfrm>
        </p:spPr>
        <p:txBody>
          <a:bodyPr>
            <a:normAutofit/>
          </a:bodyPr>
          <a:lstStyle/>
          <a:p>
            <a:r>
              <a:rPr lang="en-US" sz="2400" dirty="0" smtClean="0"/>
              <a:t>Gain Ratio improves upon Information Gain by normalizing the effect of many-valued attributes, leading to more balanced and meaningful decision trees. </a:t>
            </a:r>
          </a:p>
          <a:p>
            <a:r>
              <a:rPr lang="en-US" sz="2400" dirty="0" smtClean="0"/>
              <a:t>It is particularly useful when attributes have significantly different cardinalities.</a:t>
            </a:r>
          </a:p>
          <a:p>
            <a:pPr eaLnBrk="1" hangingPunct="1"/>
            <a:r>
              <a:rPr lang="en-US" sz="2400" dirty="0" smtClean="0"/>
              <a:t>C4.5 (a successor of ID3) uses gain ratio to overcome this problem</a:t>
            </a:r>
          </a:p>
          <a:p>
            <a:pPr eaLnBrk="1" hangingPunct="1"/>
            <a:r>
              <a:rPr lang="en-US" sz="2400" dirty="0" smtClean="0"/>
              <a:t>Ex.</a:t>
            </a:r>
          </a:p>
          <a:p>
            <a:pPr lvl="1" eaLnBrk="1" hangingPunct="1"/>
            <a:endParaRPr lang="en-US" sz="2400" dirty="0" smtClean="0"/>
          </a:p>
          <a:p>
            <a:pPr lvl="1" eaLnBrk="1" hangingPunct="1"/>
            <a:r>
              <a:rPr lang="en-US" sz="2400" dirty="0" err="1" smtClean="0"/>
              <a:t>gain_ratio</a:t>
            </a:r>
            <a:r>
              <a:rPr lang="en-US" sz="2400" dirty="0" smtClean="0"/>
              <a:t>(income) = 0.029/1.557 = 0.019</a:t>
            </a:r>
          </a:p>
          <a:p>
            <a:pPr eaLnBrk="1" hangingPunct="1"/>
            <a:r>
              <a:rPr lang="en-US" sz="2400" dirty="0" smtClean="0"/>
              <a:t>The attribute with the maximum gain ratio is selected as the splitting attribute</a:t>
            </a:r>
          </a:p>
        </p:txBody>
      </p:sp>
      <p:pic>
        <p:nvPicPr>
          <p:cNvPr id="71685" name="Picture 10" descr="8splitinfo"/>
          <p:cNvPicPr>
            <a:picLocks noChangeAspect="1" noChangeArrowheads="1"/>
          </p:cNvPicPr>
          <p:nvPr/>
        </p:nvPicPr>
        <p:blipFill>
          <a:blip r:embed="rId3"/>
          <a:srcRect/>
          <a:stretch>
            <a:fillRect/>
          </a:stretch>
        </p:blipFill>
        <p:spPr bwMode="auto">
          <a:xfrm>
            <a:off x="1219200" y="4038600"/>
            <a:ext cx="7239000" cy="524944"/>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74638"/>
            <a:ext cx="8229600" cy="487362"/>
          </a:xfrm>
        </p:spPr>
        <p:txBody>
          <a:bodyPr>
            <a:normAutofit fontScale="90000"/>
          </a:bodyPr>
          <a:lstStyle/>
          <a:p>
            <a:r>
              <a:rPr lang="en-US" dirty="0" smtClean="0"/>
              <a:t>CART : Based on </a:t>
            </a:r>
            <a:r>
              <a:rPr lang="en-US" dirty="0" err="1" smtClean="0"/>
              <a:t>Gini</a:t>
            </a:r>
            <a:r>
              <a:rPr lang="en-US" dirty="0" smtClean="0"/>
              <a:t> Index</a:t>
            </a:r>
            <a:endParaRPr lang="en-US" dirty="0"/>
          </a:p>
        </p:txBody>
      </p:sp>
      <p:sp>
        <p:nvSpPr>
          <p:cNvPr id="8" name="Content Placeholder 7"/>
          <p:cNvSpPr>
            <a:spLocks noGrp="1"/>
          </p:cNvSpPr>
          <p:nvPr>
            <p:ph idx="1"/>
          </p:nvPr>
        </p:nvSpPr>
        <p:spPr>
          <a:xfrm>
            <a:off x="304800" y="838200"/>
            <a:ext cx="8458200" cy="5791200"/>
          </a:xfrm>
        </p:spPr>
        <p:txBody>
          <a:bodyPr>
            <a:normAutofit/>
          </a:bodyPr>
          <a:lstStyle/>
          <a:p>
            <a:r>
              <a:rPr lang="en-US" sz="2600" dirty="0" smtClean="0"/>
              <a:t>The </a:t>
            </a:r>
            <a:r>
              <a:rPr lang="en-US" sz="2600" dirty="0" err="1" smtClean="0"/>
              <a:t>Gini</a:t>
            </a:r>
            <a:r>
              <a:rPr lang="en-US" sz="2600" dirty="0" smtClean="0"/>
              <a:t> coefficient measures the </a:t>
            </a:r>
            <a:r>
              <a:rPr lang="en-US" sz="2600" dirty="0" smtClean="0">
                <a:hlinkClick r:id="rId2" tooltip="Economic inequality"/>
              </a:rPr>
              <a:t>inequality</a:t>
            </a:r>
            <a:r>
              <a:rPr lang="en-US" sz="2600" dirty="0" smtClean="0"/>
              <a:t> among the values of a </a:t>
            </a:r>
            <a:r>
              <a:rPr lang="en-US" sz="2600" dirty="0" smtClean="0">
                <a:hlinkClick r:id="rId3" tooltip="Frequency distribution"/>
              </a:rPr>
              <a:t>frequency distribution</a:t>
            </a:r>
            <a:r>
              <a:rPr lang="en-US" sz="2600" dirty="0" smtClean="0"/>
              <a:t>, such as levels of </a:t>
            </a:r>
            <a:r>
              <a:rPr lang="en-US" sz="2600" dirty="0" smtClean="0">
                <a:hlinkClick r:id="rId4" tooltip="Income"/>
              </a:rPr>
              <a:t>income</a:t>
            </a:r>
            <a:r>
              <a:rPr lang="en-US" sz="2600" dirty="0" smtClean="0"/>
              <a:t>. </a:t>
            </a:r>
          </a:p>
          <a:p>
            <a:r>
              <a:rPr lang="en-US" sz="2600" dirty="0" smtClean="0"/>
              <a:t>In machine learning, it is utilized as an impurity measure in decision tree algorithms for classification tasks. </a:t>
            </a:r>
          </a:p>
          <a:p>
            <a:r>
              <a:rPr lang="en-US" sz="2600" dirty="0" smtClean="0"/>
              <a:t>The </a:t>
            </a:r>
            <a:r>
              <a:rPr lang="en-US" sz="2600" dirty="0" err="1" smtClean="0"/>
              <a:t>Gini</a:t>
            </a:r>
            <a:r>
              <a:rPr lang="en-US" sz="2600" dirty="0" smtClean="0"/>
              <a:t> index is the most commonly used measure of inequality. It was developed by Italian statistician </a:t>
            </a:r>
            <a:r>
              <a:rPr lang="en-US" sz="2600" dirty="0" err="1" smtClean="0"/>
              <a:t>Corrado</a:t>
            </a:r>
            <a:r>
              <a:rPr lang="en-US" sz="2600" dirty="0" smtClean="0"/>
              <a:t> </a:t>
            </a:r>
            <a:r>
              <a:rPr lang="en-US" sz="2600" dirty="0" err="1" smtClean="0"/>
              <a:t>Gini</a:t>
            </a:r>
            <a:r>
              <a:rPr lang="en-US" sz="2600" dirty="0" smtClean="0"/>
              <a:t> and is named after him.</a:t>
            </a:r>
          </a:p>
          <a:p>
            <a:r>
              <a:rPr lang="en-US" sz="2600" dirty="0" smtClean="0"/>
              <a:t>A </a:t>
            </a:r>
            <a:r>
              <a:rPr lang="en-US" sz="2600" dirty="0" err="1" smtClean="0"/>
              <a:t>Gini</a:t>
            </a:r>
            <a:r>
              <a:rPr lang="en-US" sz="2600" dirty="0" smtClean="0"/>
              <a:t> coefficient of 0 reflects perfect equality, where all income or wealth values are the same.</a:t>
            </a:r>
          </a:p>
          <a:p>
            <a:r>
              <a:rPr lang="en-US" sz="2600" dirty="0" smtClean="0"/>
              <a:t>A </a:t>
            </a:r>
            <a:r>
              <a:rPr lang="en-US" sz="2600" dirty="0" err="1" smtClean="0"/>
              <a:t>Gini</a:t>
            </a:r>
            <a:r>
              <a:rPr lang="en-US" sz="2600" dirty="0" smtClean="0"/>
              <a:t> coefficient of 1 (or 100%) reflects maximal inequality among values, a situation where a single individual has all the income while all others have none.</a:t>
            </a:r>
          </a:p>
        </p:txBody>
      </p:sp>
      <p:sp>
        <p:nvSpPr>
          <p:cNvPr id="6" name="Slide Number Placeholder 5"/>
          <p:cNvSpPr>
            <a:spLocks noGrp="1"/>
          </p:cNvSpPr>
          <p:nvPr>
            <p:ph type="sldNum" sz="quarter" idx="10"/>
          </p:nvPr>
        </p:nvSpPr>
        <p:spPr/>
        <p:txBody>
          <a:bodyPr/>
          <a:lstStyle/>
          <a:p>
            <a:fld id="{3AE7F48D-0AE6-4E48-9F98-0F65A0174925}" type="slidenum">
              <a:rPr lang="en-US" smtClean="0"/>
              <a:pPr/>
              <a:t>35</a:t>
            </a:fld>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err="1" smtClean="0"/>
              <a:t>Gini</a:t>
            </a:r>
            <a:r>
              <a:rPr lang="en-US" dirty="0" smtClean="0"/>
              <a:t> Index</a:t>
            </a:r>
            <a:endParaRPr lang="en-US" dirty="0"/>
          </a:p>
        </p:txBody>
      </p:sp>
      <p:sp>
        <p:nvSpPr>
          <p:cNvPr id="3" name="Content Placeholder 2"/>
          <p:cNvSpPr>
            <a:spLocks noGrp="1"/>
          </p:cNvSpPr>
          <p:nvPr>
            <p:ph idx="1"/>
          </p:nvPr>
        </p:nvSpPr>
        <p:spPr>
          <a:xfrm>
            <a:off x="457200" y="990600"/>
            <a:ext cx="8229600" cy="5135563"/>
          </a:xfrm>
        </p:spPr>
        <p:txBody>
          <a:bodyPr>
            <a:normAutofit fontScale="92500" lnSpcReduction="10000"/>
          </a:bodyPr>
          <a:lstStyle/>
          <a:p>
            <a:r>
              <a:rPr lang="en-US" sz="2600" dirty="0" smtClean="0"/>
              <a:t>The </a:t>
            </a:r>
            <a:r>
              <a:rPr lang="en-US" sz="2600" b="1" dirty="0" err="1" smtClean="0"/>
              <a:t>Gini</a:t>
            </a:r>
            <a:r>
              <a:rPr lang="en-US" sz="2600" b="1" dirty="0" smtClean="0"/>
              <a:t> Index</a:t>
            </a:r>
            <a:r>
              <a:rPr lang="en-US" sz="2600" dirty="0" smtClean="0"/>
              <a:t>, also known as </a:t>
            </a:r>
            <a:r>
              <a:rPr lang="en-US" sz="2600" b="1" dirty="0" err="1" smtClean="0"/>
              <a:t>Gini</a:t>
            </a:r>
            <a:r>
              <a:rPr lang="en-US" sz="2600" b="1" dirty="0" smtClean="0"/>
              <a:t> Impurity</a:t>
            </a:r>
            <a:r>
              <a:rPr lang="en-US" sz="2600" dirty="0" smtClean="0"/>
              <a:t>, is a measure used in decision tree algorithms (like CART – Classification and Regression Trees) to determine the best attribute for splitting data. </a:t>
            </a:r>
          </a:p>
          <a:p>
            <a:r>
              <a:rPr lang="en-US" sz="2600" dirty="0" smtClean="0"/>
              <a:t>It is calculated especially in terms of class probabilities as: </a:t>
            </a:r>
          </a:p>
          <a:p>
            <a:endParaRPr lang="en-IN" dirty="0" smtClean="0"/>
          </a:p>
          <a:p>
            <a:pPr>
              <a:buNone/>
            </a:pPr>
            <a:endParaRPr lang="en-IN" sz="2400" dirty="0" smtClean="0"/>
          </a:p>
          <a:p>
            <a:endParaRPr lang="en-IN" sz="2400" dirty="0" smtClean="0"/>
          </a:p>
          <a:p>
            <a:r>
              <a:rPr lang="en-IN" sz="2400" dirty="0" smtClean="0"/>
              <a:t>Which is equivalent to</a:t>
            </a:r>
            <a:endParaRPr lang="en-US" sz="2400" dirty="0" smtClean="0"/>
          </a:p>
          <a:p>
            <a:endParaRPr lang="en-IN" dirty="0" smtClean="0"/>
          </a:p>
          <a:p>
            <a:endParaRPr lang="en-US" sz="2600" dirty="0" smtClean="0"/>
          </a:p>
          <a:p>
            <a:r>
              <a:rPr lang="en-US" sz="2600" dirty="0" smtClean="0"/>
              <a:t>Where, n is the number of classes, and p</a:t>
            </a:r>
            <a:r>
              <a:rPr lang="en-US" sz="2600" baseline="-25000" dirty="0" smtClean="0"/>
              <a:t>i</a:t>
            </a:r>
            <a:r>
              <a:rPr lang="en-US" sz="2600" dirty="0" smtClean="0"/>
              <a:t>​ is the probability of an instance belonging to class </a:t>
            </a:r>
            <a:r>
              <a:rPr lang="en-US" sz="2600" dirty="0" err="1" smtClean="0"/>
              <a:t>i</a:t>
            </a:r>
            <a:r>
              <a:rPr lang="en-US" sz="2600" dirty="0" smtClean="0"/>
              <a:t>.</a:t>
            </a:r>
          </a:p>
          <a:p>
            <a:endParaRPr lang="en-US" dirty="0"/>
          </a:p>
        </p:txBody>
      </p:sp>
      <p:pic>
        <p:nvPicPr>
          <p:cNvPr id="72706" name="Picture 2"/>
          <p:cNvPicPr>
            <a:picLocks noChangeAspect="1" noChangeArrowheads="1"/>
          </p:cNvPicPr>
          <p:nvPr/>
        </p:nvPicPr>
        <p:blipFill>
          <a:blip r:embed="rId2"/>
          <a:srcRect/>
          <a:stretch>
            <a:fillRect/>
          </a:stretch>
        </p:blipFill>
        <p:spPr bwMode="auto">
          <a:xfrm>
            <a:off x="685800" y="2819400"/>
            <a:ext cx="3048000" cy="1057275"/>
          </a:xfrm>
          <a:prstGeom prst="rect">
            <a:avLst/>
          </a:prstGeom>
          <a:noFill/>
          <a:ln w="9525">
            <a:noFill/>
            <a:miter lim="800000"/>
            <a:headEnd/>
            <a:tailEnd/>
          </a:ln>
          <a:effectLst/>
        </p:spPr>
      </p:pic>
      <p:pic>
        <p:nvPicPr>
          <p:cNvPr id="72707" name="Picture 3"/>
          <p:cNvPicPr>
            <a:picLocks noChangeAspect="1" noChangeArrowheads="1"/>
          </p:cNvPicPr>
          <p:nvPr/>
        </p:nvPicPr>
        <p:blipFill>
          <a:blip r:embed="rId3"/>
          <a:srcRect/>
          <a:stretch>
            <a:fillRect/>
          </a:stretch>
        </p:blipFill>
        <p:spPr bwMode="auto">
          <a:xfrm>
            <a:off x="3657600" y="3733800"/>
            <a:ext cx="4000500" cy="112395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Key Properties of </a:t>
            </a:r>
            <a:r>
              <a:rPr lang="en-US" b="1" dirty="0" err="1" smtClean="0"/>
              <a:t>Gini</a:t>
            </a:r>
            <a:r>
              <a:rPr lang="en-US" b="1" dirty="0" smtClean="0"/>
              <a:t> Index</a:t>
            </a:r>
            <a:endParaRPr lang="en-US" dirty="0"/>
          </a:p>
        </p:txBody>
      </p:sp>
      <p:sp>
        <p:nvSpPr>
          <p:cNvPr id="3" name="Content Placeholder 2"/>
          <p:cNvSpPr>
            <a:spLocks noGrp="1"/>
          </p:cNvSpPr>
          <p:nvPr>
            <p:ph idx="1"/>
          </p:nvPr>
        </p:nvSpPr>
        <p:spPr>
          <a:xfrm>
            <a:off x="457200" y="1066800"/>
            <a:ext cx="8229600" cy="5257800"/>
          </a:xfrm>
        </p:spPr>
        <p:txBody>
          <a:bodyPr>
            <a:normAutofit lnSpcReduction="10000"/>
          </a:bodyPr>
          <a:lstStyle/>
          <a:p>
            <a:r>
              <a:rPr lang="en-US" dirty="0" smtClean="0"/>
              <a:t>A </a:t>
            </a:r>
            <a:r>
              <a:rPr lang="en-US" b="1" dirty="0" smtClean="0"/>
              <a:t>lower </a:t>
            </a:r>
            <a:r>
              <a:rPr lang="en-US" b="1" dirty="0" err="1" smtClean="0"/>
              <a:t>Gini</a:t>
            </a:r>
            <a:r>
              <a:rPr lang="en-US" b="1" dirty="0" smtClean="0"/>
              <a:t> Index</a:t>
            </a:r>
            <a:r>
              <a:rPr lang="en-US" dirty="0" smtClean="0"/>
              <a:t> indicates a purer node (better classification), while a </a:t>
            </a:r>
            <a:r>
              <a:rPr lang="en-US" b="1" dirty="0" smtClean="0"/>
              <a:t>higher </a:t>
            </a:r>
            <a:r>
              <a:rPr lang="en-US" b="1" dirty="0" err="1" smtClean="0"/>
              <a:t>Gini</a:t>
            </a:r>
            <a:r>
              <a:rPr lang="en-US" b="1" dirty="0" smtClean="0"/>
              <a:t> Index</a:t>
            </a:r>
            <a:r>
              <a:rPr lang="en-US" dirty="0" smtClean="0"/>
              <a:t> means more impurity (mixed classes).</a:t>
            </a:r>
            <a:endParaRPr lang="en-US" b="1" dirty="0" smtClean="0"/>
          </a:p>
          <a:p>
            <a:r>
              <a:rPr lang="en-US" b="1" dirty="0" smtClean="0"/>
              <a:t>Range</a:t>
            </a:r>
            <a:r>
              <a:rPr lang="en-US" dirty="0" smtClean="0"/>
              <a:t>:</a:t>
            </a:r>
          </a:p>
          <a:p>
            <a:pPr lvl="1"/>
            <a:r>
              <a:rPr lang="en-US" dirty="0" smtClean="0"/>
              <a:t>The </a:t>
            </a:r>
            <a:r>
              <a:rPr lang="en-US" dirty="0" err="1" smtClean="0"/>
              <a:t>Gini</a:t>
            </a:r>
            <a:r>
              <a:rPr lang="en-US" dirty="0" smtClean="0"/>
              <a:t> Index ranges from </a:t>
            </a:r>
            <a:r>
              <a:rPr lang="en-US" b="1" dirty="0" smtClean="0"/>
              <a:t>0 to 1</a:t>
            </a:r>
            <a:r>
              <a:rPr lang="en-US" dirty="0" smtClean="0"/>
              <a:t>.</a:t>
            </a:r>
          </a:p>
          <a:p>
            <a:pPr lvl="1"/>
            <a:r>
              <a:rPr lang="en-US" dirty="0" err="1" smtClean="0"/>
              <a:t>Gini</a:t>
            </a:r>
            <a:r>
              <a:rPr lang="en-US" dirty="0" smtClean="0"/>
              <a:t>=0 → Pure node (all instances belong to one class).</a:t>
            </a:r>
          </a:p>
          <a:p>
            <a:pPr lvl="1"/>
            <a:r>
              <a:rPr lang="en-US" dirty="0" err="1" smtClean="0"/>
              <a:t>Gini</a:t>
            </a:r>
            <a:r>
              <a:rPr lang="en-US" dirty="0" smtClean="0"/>
              <a:t>=1 → Maximum impurity (instances are evenly distributed among all classes).</a:t>
            </a:r>
          </a:p>
          <a:p>
            <a:pPr marL="342900" lvl="1" indent="-342900">
              <a:buFont typeface="Arial" pitchFamily="34" charset="0"/>
              <a:buChar char="•"/>
            </a:pPr>
            <a:r>
              <a:rPr lang="en-US" dirty="0" smtClean="0"/>
              <a:t>The attribute with the lowest </a:t>
            </a:r>
            <a:r>
              <a:rPr lang="en-US" dirty="0" err="1" smtClean="0"/>
              <a:t>Gini</a:t>
            </a:r>
            <a:r>
              <a:rPr lang="en-US" dirty="0" smtClean="0"/>
              <a:t> Index is chosen for the split, as it results in purer child nodes.</a:t>
            </a:r>
          </a:p>
          <a:p>
            <a:pPr>
              <a:buNone/>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err="1" smtClean="0"/>
              <a:t>Gini</a:t>
            </a:r>
            <a:r>
              <a:rPr lang="en-US" b="1" dirty="0" smtClean="0"/>
              <a:t> Index</a:t>
            </a:r>
            <a:endParaRPr lang="en-US" dirty="0"/>
          </a:p>
        </p:txBody>
      </p:sp>
      <p:sp>
        <p:nvSpPr>
          <p:cNvPr id="3" name="Content Placeholder 2"/>
          <p:cNvSpPr>
            <a:spLocks noGrp="1"/>
          </p:cNvSpPr>
          <p:nvPr>
            <p:ph idx="1"/>
          </p:nvPr>
        </p:nvSpPr>
        <p:spPr>
          <a:xfrm>
            <a:off x="457200" y="990600"/>
            <a:ext cx="8229600" cy="5638800"/>
          </a:xfrm>
        </p:spPr>
        <p:txBody>
          <a:bodyPr>
            <a:normAutofit/>
          </a:bodyPr>
          <a:lstStyle/>
          <a:p>
            <a:r>
              <a:rPr lang="en-US" sz="2800" dirty="0" smtClean="0"/>
              <a:t>For a </a:t>
            </a:r>
            <a:r>
              <a:rPr lang="en-US" sz="2800" b="1" dirty="0" smtClean="0"/>
              <a:t>binary classification problem</a:t>
            </a:r>
            <a:r>
              <a:rPr lang="en-US" sz="2800" dirty="0" smtClean="0"/>
              <a:t>, the </a:t>
            </a:r>
            <a:r>
              <a:rPr lang="en-US" sz="2800" dirty="0" err="1" smtClean="0"/>
              <a:t>Gini</a:t>
            </a:r>
            <a:r>
              <a:rPr lang="en-US" sz="2800" dirty="0" smtClean="0"/>
              <a:t> Index ranges from </a:t>
            </a:r>
            <a:r>
              <a:rPr lang="en-US" sz="2800" b="1" dirty="0" smtClean="0"/>
              <a:t>0 to 0.5</a:t>
            </a:r>
            <a:r>
              <a:rPr lang="en-US" sz="2800" dirty="0" smtClean="0"/>
              <a:t>, where:</a:t>
            </a:r>
          </a:p>
          <a:p>
            <a:r>
              <a:rPr lang="en-US" sz="2800" b="1" dirty="0" smtClean="0"/>
              <a:t>0</a:t>
            </a:r>
            <a:r>
              <a:rPr lang="en-US" sz="2800" dirty="0" smtClean="0"/>
              <a:t> occurs when all samples belong to one class.</a:t>
            </a:r>
          </a:p>
          <a:p>
            <a:r>
              <a:rPr lang="en-US" sz="2800" b="1" dirty="0" smtClean="0"/>
              <a:t>0.5</a:t>
            </a:r>
            <a:r>
              <a:rPr lang="en-US" sz="2800" dirty="0" smtClean="0"/>
              <a:t> occurs when classes are perfectly split (e.g., 50% in each class).</a:t>
            </a:r>
          </a:p>
          <a:p>
            <a:r>
              <a:rPr lang="en-US" sz="2800" dirty="0" smtClean="0"/>
              <a:t>Example: Consider a dataset with 2 classes: Yes and No</a:t>
            </a:r>
          </a:p>
          <a:p>
            <a:r>
              <a:rPr lang="en-US" sz="2800" dirty="0" smtClean="0"/>
              <a:t>Let, there are 10 instances with all 10 of class “Yes” and no instance of class “No”. </a:t>
            </a:r>
          </a:p>
          <a:p>
            <a:pPr>
              <a:buNone/>
            </a:pPr>
            <a:r>
              <a:rPr lang="en-US" sz="2800" dirty="0" smtClean="0"/>
              <a:t>  Then,</a:t>
            </a:r>
          </a:p>
          <a:p>
            <a:endParaRPr lang="en-US" dirty="0" smtClean="0"/>
          </a:p>
          <a:p>
            <a:endParaRPr lang="en-US" dirty="0"/>
          </a:p>
        </p:txBody>
      </p:sp>
      <p:pic>
        <p:nvPicPr>
          <p:cNvPr id="75778" name="Picture 2"/>
          <p:cNvPicPr>
            <a:picLocks noChangeAspect="1" noChangeArrowheads="1"/>
          </p:cNvPicPr>
          <p:nvPr/>
        </p:nvPicPr>
        <p:blipFill>
          <a:blip r:embed="rId2"/>
          <a:srcRect/>
          <a:stretch>
            <a:fillRect/>
          </a:stretch>
        </p:blipFill>
        <p:spPr bwMode="auto">
          <a:xfrm>
            <a:off x="1981200" y="5334000"/>
            <a:ext cx="3048000" cy="1191779"/>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err="1" smtClean="0"/>
              <a:t>Gini</a:t>
            </a:r>
            <a:r>
              <a:rPr lang="en-US" b="1" dirty="0" smtClean="0"/>
              <a:t> Index</a:t>
            </a:r>
            <a:endParaRPr lang="en-US" dirty="0"/>
          </a:p>
        </p:txBody>
      </p:sp>
      <p:sp>
        <p:nvSpPr>
          <p:cNvPr id="3" name="Content Placeholder 2"/>
          <p:cNvSpPr>
            <a:spLocks noGrp="1"/>
          </p:cNvSpPr>
          <p:nvPr>
            <p:ph idx="1"/>
          </p:nvPr>
        </p:nvSpPr>
        <p:spPr>
          <a:xfrm>
            <a:off x="457200" y="990600"/>
            <a:ext cx="8229600" cy="5135563"/>
          </a:xfrm>
        </p:spPr>
        <p:txBody>
          <a:bodyPr>
            <a:normAutofit fontScale="62500" lnSpcReduction="20000"/>
          </a:bodyPr>
          <a:lstStyle/>
          <a:p>
            <a:r>
              <a:rPr lang="en-US" sz="3800" dirty="0" smtClean="0"/>
              <a:t>Let, there are 10 instances with 8 </a:t>
            </a:r>
          </a:p>
          <a:p>
            <a:pPr>
              <a:buNone/>
            </a:pPr>
            <a:r>
              <a:rPr lang="en-US" sz="3800" dirty="0" smtClean="0"/>
              <a:t>of class “Yes” and 2 of class “No”. </a:t>
            </a:r>
          </a:p>
          <a:p>
            <a:pPr>
              <a:buNone/>
            </a:pPr>
            <a:r>
              <a:rPr lang="en-US" sz="3800" dirty="0" smtClean="0"/>
              <a:t>Then, </a:t>
            </a:r>
          </a:p>
          <a:p>
            <a:pPr>
              <a:buNone/>
            </a:pPr>
            <a:endParaRPr lang="en-US" sz="3000" dirty="0" smtClean="0"/>
          </a:p>
          <a:p>
            <a:endParaRPr lang="en-US" sz="3000" dirty="0" smtClean="0"/>
          </a:p>
          <a:p>
            <a:endParaRPr lang="en-US" sz="3000" dirty="0" smtClean="0"/>
          </a:p>
          <a:p>
            <a:r>
              <a:rPr lang="en-US" sz="3800" dirty="0" smtClean="0"/>
              <a:t>Let, there are 10 instances with </a:t>
            </a:r>
          </a:p>
          <a:p>
            <a:pPr>
              <a:buNone/>
            </a:pPr>
            <a:r>
              <a:rPr lang="en-US" sz="3800" dirty="0" smtClean="0"/>
              <a:t>6 of class “Yes” and 4 of class “No”. </a:t>
            </a:r>
          </a:p>
          <a:p>
            <a:pPr>
              <a:buNone/>
            </a:pPr>
            <a:r>
              <a:rPr lang="en-US" sz="3800" dirty="0" smtClean="0"/>
              <a:t>Then, </a:t>
            </a:r>
          </a:p>
          <a:p>
            <a:pPr>
              <a:buNone/>
            </a:pPr>
            <a:endParaRPr lang="en-US" sz="2400" dirty="0" smtClean="0"/>
          </a:p>
          <a:p>
            <a:pPr>
              <a:buNone/>
            </a:pPr>
            <a:endParaRPr lang="en-US" dirty="0" smtClean="0"/>
          </a:p>
          <a:p>
            <a:endParaRPr lang="en-US" dirty="0" smtClean="0"/>
          </a:p>
          <a:p>
            <a:r>
              <a:rPr lang="en-US" sz="3800" dirty="0" smtClean="0"/>
              <a:t>Let, there are 10 instances with 5 </a:t>
            </a:r>
          </a:p>
          <a:p>
            <a:pPr>
              <a:buNone/>
            </a:pPr>
            <a:r>
              <a:rPr lang="en-US" sz="3800" dirty="0" smtClean="0"/>
              <a:t> of class “Yes” and 5 of class “No”. </a:t>
            </a:r>
          </a:p>
          <a:p>
            <a:pPr>
              <a:buNone/>
            </a:pPr>
            <a:r>
              <a:rPr lang="en-US" sz="3800" dirty="0" smtClean="0"/>
              <a:t>  Then,</a:t>
            </a:r>
          </a:p>
          <a:p>
            <a:endParaRPr lang="en-US" dirty="0"/>
          </a:p>
        </p:txBody>
      </p:sp>
      <p:pic>
        <p:nvPicPr>
          <p:cNvPr id="63490" name="Picture 2"/>
          <p:cNvPicPr>
            <a:picLocks noChangeAspect="1" noChangeArrowheads="1"/>
          </p:cNvPicPr>
          <p:nvPr/>
        </p:nvPicPr>
        <p:blipFill>
          <a:blip r:embed="rId2"/>
          <a:srcRect/>
          <a:stretch>
            <a:fillRect/>
          </a:stretch>
        </p:blipFill>
        <p:spPr bwMode="auto">
          <a:xfrm>
            <a:off x="5334000" y="2819400"/>
            <a:ext cx="3448050" cy="1466850"/>
          </a:xfrm>
          <a:prstGeom prst="rect">
            <a:avLst/>
          </a:prstGeom>
          <a:noFill/>
          <a:ln w="9525">
            <a:noFill/>
            <a:miter lim="800000"/>
            <a:headEnd/>
            <a:tailEnd/>
          </a:ln>
          <a:effectLst/>
        </p:spPr>
      </p:pic>
      <p:pic>
        <p:nvPicPr>
          <p:cNvPr id="63491" name="Picture 3"/>
          <p:cNvPicPr>
            <a:picLocks noChangeAspect="1" noChangeArrowheads="1"/>
          </p:cNvPicPr>
          <p:nvPr/>
        </p:nvPicPr>
        <p:blipFill>
          <a:blip r:embed="rId3"/>
          <a:srcRect/>
          <a:stretch>
            <a:fillRect/>
          </a:stretch>
        </p:blipFill>
        <p:spPr bwMode="auto">
          <a:xfrm>
            <a:off x="5638800" y="4876800"/>
            <a:ext cx="2990850" cy="1066800"/>
          </a:xfrm>
          <a:prstGeom prst="rect">
            <a:avLst/>
          </a:prstGeom>
          <a:noFill/>
          <a:ln w="9525">
            <a:noFill/>
            <a:miter lim="800000"/>
            <a:headEnd/>
            <a:tailEnd/>
          </a:ln>
          <a:effectLst/>
        </p:spPr>
      </p:pic>
      <p:pic>
        <p:nvPicPr>
          <p:cNvPr id="63492" name="Picture 4"/>
          <p:cNvPicPr>
            <a:picLocks noChangeAspect="1" noChangeArrowheads="1"/>
          </p:cNvPicPr>
          <p:nvPr/>
        </p:nvPicPr>
        <p:blipFill>
          <a:blip r:embed="rId4"/>
          <a:srcRect/>
          <a:stretch>
            <a:fillRect/>
          </a:stretch>
        </p:blipFill>
        <p:spPr bwMode="auto">
          <a:xfrm>
            <a:off x="5715000" y="914400"/>
            <a:ext cx="2352675" cy="14097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Gini</a:t>
            </a:r>
            <a:r>
              <a:rPr lang="en-US" b="1" dirty="0" smtClean="0"/>
              <a:t> Index</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For </a:t>
            </a:r>
            <a:r>
              <a:rPr lang="en-US" b="1" dirty="0" smtClean="0"/>
              <a:t>multi-class classification</a:t>
            </a:r>
            <a:r>
              <a:rPr lang="en-US" dirty="0" smtClean="0"/>
              <a:t>, the </a:t>
            </a:r>
            <a:r>
              <a:rPr lang="en-US" dirty="0" err="1" smtClean="0"/>
              <a:t>Gini</a:t>
            </a:r>
            <a:r>
              <a:rPr lang="en-US" dirty="0" smtClean="0"/>
              <a:t> Index can be closer to </a:t>
            </a:r>
            <a:r>
              <a:rPr lang="en-US" b="1" dirty="0" smtClean="0"/>
              <a:t>1</a:t>
            </a:r>
            <a:r>
              <a:rPr lang="en-US" dirty="0" smtClean="0"/>
              <a:t>, depending on the number of classes and their distribution.</a:t>
            </a:r>
          </a:p>
          <a:p>
            <a:r>
              <a:rPr lang="en-US" dirty="0" smtClean="0"/>
              <a:t>The </a:t>
            </a:r>
            <a:r>
              <a:rPr lang="en-US" b="1" dirty="0" err="1" smtClean="0"/>
              <a:t>Gini</a:t>
            </a:r>
            <a:r>
              <a:rPr lang="en-US" b="1" dirty="0" smtClean="0"/>
              <a:t> Index</a:t>
            </a:r>
            <a:r>
              <a:rPr lang="en-US" dirty="0" smtClean="0"/>
              <a:t> is exactly </a:t>
            </a:r>
            <a:r>
              <a:rPr lang="en-US" b="1" dirty="0" smtClean="0"/>
              <a:t>1</a:t>
            </a:r>
            <a:r>
              <a:rPr lang="en-US" dirty="0" smtClean="0"/>
              <a:t> when the classes are </a:t>
            </a:r>
            <a:r>
              <a:rPr lang="en-US" b="1" dirty="0" smtClean="0"/>
              <a:t>infinitely and equally distributed</a:t>
            </a:r>
          </a:p>
          <a:p>
            <a:r>
              <a:rPr lang="en-US" b="1" dirty="0" smtClean="0"/>
              <a:t>That means</a:t>
            </a:r>
            <a:r>
              <a:rPr lang="en-US" dirty="0" smtClean="0"/>
              <a:t> that every possible class has an equal probability and there are infinitely many classes. </a:t>
            </a:r>
          </a:p>
          <a:p>
            <a:r>
              <a:rPr lang="en-US" dirty="0" smtClean="0"/>
              <a:t>However, in practical scenarios with a finite number of classes, the maximum </a:t>
            </a:r>
            <a:r>
              <a:rPr lang="en-US" dirty="0" err="1" smtClean="0"/>
              <a:t>Gini</a:t>
            </a:r>
            <a:r>
              <a:rPr lang="en-US" dirty="0" smtClean="0"/>
              <a:t> Index approaches but does not reach </a:t>
            </a:r>
            <a:r>
              <a:rPr lang="en-US" b="1" dirty="0" smtClean="0"/>
              <a:t>1</a:t>
            </a:r>
            <a:r>
              <a:rPr lang="en-US" dirty="0" smtClean="0"/>
              <a: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err="1" smtClean="0"/>
              <a:t>Gini</a:t>
            </a:r>
            <a:r>
              <a:rPr lang="en-US" b="1" dirty="0" smtClean="0"/>
              <a:t> Index</a:t>
            </a:r>
            <a:endParaRPr lang="en-US" dirty="0"/>
          </a:p>
        </p:txBody>
      </p:sp>
      <p:sp>
        <p:nvSpPr>
          <p:cNvPr id="3" name="Content Placeholder 2"/>
          <p:cNvSpPr>
            <a:spLocks noGrp="1"/>
          </p:cNvSpPr>
          <p:nvPr>
            <p:ph idx="1"/>
          </p:nvPr>
        </p:nvSpPr>
        <p:spPr>
          <a:xfrm>
            <a:off x="457200" y="1066800"/>
            <a:ext cx="8229600" cy="4602163"/>
          </a:xfrm>
        </p:spPr>
        <p:txBody>
          <a:bodyPr/>
          <a:lstStyle/>
          <a:p>
            <a:r>
              <a:rPr lang="en-US" sz="2400" dirty="0" smtClean="0"/>
              <a:t>For example, let's assume an </a:t>
            </a:r>
            <a:r>
              <a:rPr lang="en-US" sz="2400" b="1" dirty="0" smtClean="0"/>
              <a:t>infinitely large number of classes</a:t>
            </a:r>
            <a:r>
              <a:rPr lang="en-US" sz="2400" dirty="0" smtClean="0"/>
              <a:t>, each with an equal probability:</a:t>
            </a:r>
          </a:p>
          <a:p>
            <a:pPr>
              <a:buNone/>
            </a:pPr>
            <a:endParaRPr lang="en-IN" dirty="0" smtClean="0"/>
          </a:p>
          <a:p>
            <a:endParaRPr lang="en-US" sz="2400" dirty="0" smtClean="0"/>
          </a:p>
          <a:p>
            <a:r>
              <a:rPr lang="en-US" sz="2400" dirty="0" smtClean="0"/>
              <a:t>Then, the </a:t>
            </a:r>
            <a:r>
              <a:rPr lang="en-US" sz="2400" dirty="0" err="1" smtClean="0"/>
              <a:t>Gini</a:t>
            </a:r>
            <a:r>
              <a:rPr lang="en-US" sz="2400" dirty="0" smtClean="0"/>
              <a:t> Index formula:</a:t>
            </a:r>
            <a:endParaRPr lang="en-US" sz="2400" dirty="0"/>
          </a:p>
        </p:txBody>
      </p:sp>
      <p:pic>
        <p:nvPicPr>
          <p:cNvPr id="73730" name="Picture 2"/>
          <p:cNvPicPr>
            <a:picLocks noChangeAspect="1" noChangeArrowheads="1"/>
          </p:cNvPicPr>
          <p:nvPr/>
        </p:nvPicPr>
        <p:blipFill>
          <a:blip r:embed="rId2"/>
          <a:srcRect/>
          <a:stretch>
            <a:fillRect/>
          </a:stretch>
        </p:blipFill>
        <p:spPr bwMode="auto">
          <a:xfrm>
            <a:off x="1371600" y="1905000"/>
            <a:ext cx="3981450" cy="819150"/>
          </a:xfrm>
          <a:prstGeom prst="rect">
            <a:avLst/>
          </a:prstGeom>
          <a:noFill/>
          <a:ln w="9525">
            <a:noFill/>
            <a:miter lim="800000"/>
            <a:headEnd/>
            <a:tailEnd/>
          </a:ln>
          <a:effectLst/>
        </p:spPr>
      </p:pic>
      <p:pic>
        <p:nvPicPr>
          <p:cNvPr id="73731" name="Picture 3"/>
          <p:cNvPicPr>
            <a:picLocks noChangeAspect="1" noChangeArrowheads="1"/>
          </p:cNvPicPr>
          <p:nvPr/>
        </p:nvPicPr>
        <p:blipFill>
          <a:blip r:embed="rId3"/>
          <a:srcRect/>
          <a:stretch>
            <a:fillRect/>
          </a:stretch>
        </p:blipFill>
        <p:spPr bwMode="auto">
          <a:xfrm>
            <a:off x="990600" y="3352800"/>
            <a:ext cx="3581400" cy="3019612"/>
          </a:xfrm>
          <a:prstGeom prst="rect">
            <a:avLst/>
          </a:prstGeom>
          <a:noFill/>
          <a:ln w="9525">
            <a:noFill/>
            <a:miter lim="800000"/>
            <a:headEnd/>
            <a:tailEnd/>
          </a:ln>
          <a:effectLst/>
        </p:spPr>
      </p:pic>
      <p:sp>
        <p:nvSpPr>
          <p:cNvPr id="6" name="Rectangle 5"/>
          <p:cNvSpPr/>
          <p:nvPr/>
        </p:nvSpPr>
        <p:spPr>
          <a:xfrm>
            <a:off x="3581400" y="5867400"/>
            <a:ext cx="3505200" cy="461665"/>
          </a:xfrm>
          <a:prstGeom prst="rect">
            <a:avLst/>
          </a:prstGeom>
        </p:spPr>
        <p:txBody>
          <a:bodyPr wrap="square">
            <a:spAutoFit/>
          </a:bodyPr>
          <a:lstStyle/>
          <a:p>
            <a:r>
              <a:rPr lang="en-US" sz="2400" dirty="0" smtClean="0"/>
              <a:t>As n→∞, we get: Gini→1</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err="1" smtClean="0"/>
              <a:t>Gini</a:t>
            </a:r>
            <a:r>
              <a:rPr lang="en-US" b="1" dirty="0" smtClean="0"/>
              <a:t> Index</a:t>
            </a:r>
            <a:endParaRPr lang="en-US" dirty="0"/>
          </a:p>
        </p:txBody>
      </p:sp>
      <p:sp>
        <p:nvSpPr>
          <p:cNvPr id="3" name="Content Placeholder 2"/>
          <p:cNvSpPr>
            <a:spLocks noGrp="1"/>
          </p:cNvSpPr>
          <p:nvPr>
            <p:ph idx="1"/>
          </p:nvPr>
        </p:nvSpPr>
        <p:spPr>
          <a:xfrm>
            <a:off x="457200" y="1143000"/>
            <a:ext cx="8229600" cy="5334000"/>
          </a:xfrm>
        </p:spPr>
        <p:txBody>
          <a:bodyPr>
            <a:normAutofit fontScale="92500"/>
          </a:bodyPr>
          <a:lstStyle/>
          <a:p>
            <a:r>
              <a:rPr lang="en-US" sz="2400" b="1" dirty="0" smtClean="0"/>
              <a:t>Real-World Example (Approaching 1 but Not Exactly)</a:t>
            </a:r>
          </a:p>
          <a:p>
            <a:r>
              <a:rPr lang="en-US" sz="2400" dirty="0" smtClean="0"/>
              <a:t>For a </a:t>
            </a:r>
            <a:r>
              <a:rPr lang="en-US" sz="2400" b="1" dirty="0" smtClean="0"/>
              <a:t>finite number of classes</a:t>
            </a:r>
            <a:r>
              <a:rPr lang="en-US" sz="2400" dirty="0" smtClean="0"/>
              <a:t>, the highest possible </a:t>
            </a:r>
            <a:r>
              <a:rPr lang="en-US" sz="2400" dirty="0" err="1" smtClean="0"/>
              <a:t>Gini</a:t>
            </a:r>
            <a:r>
              <a:rPr lang="en-US" sz="2400" dirty="0" smtClean="0"/>
              <a:t> Index occurs when there are </a:t>
            </a:r>
            <a:r>
              <a:rPr lang="en-US" sz="2400" b="1" dirty="0" smtClean="0"/>
              <a:t>many classes with equal probabilities</a:t>
            </a:r>
            <a:r>
              <a:rPr lang="en-US" sz="2400" dirty="0" smtClean="0"/>
              <a:t>, but it never reaches exactly </a:t>
            </a:r>
            <a:r>
              <a:rPr lang="en-US" sz="2400" b="1" dirty="0" smtClean="0"/>
              <a:t>1</a:t>
            </a:r>
            <a:r>
              <a:rPr lang="en-US" sz="2400" dirty="0" smtClean="0"/>
              <a:t>.</a:t>
            </a:r>
          </a:p>
          <a:p>
            <a:r>
              <a:rPr lang="en-US" sz="2400" dirty="0" smtClean="0"/>
              <a:t>For example, if we have </a:t>
            </a:r>
            <a:r>
              <a:rPr lang="en-US" sz="2400" b="1" dirty="0" smtClean="0"/>
              <a:t>4 classes</a:t>
            </a:r>
            <a:r>
              <a:rPr lang="en-US" sz="2400" dirty="0" smtClean="0"/>
              <a:t> with equal probabilities:</a:t>
            </a:r>
          </a:p>
          <a:p>
            <a:endParaRPr lang="en-IN" sz="2400" dirty="0" smtClean="0"/>
          </a:p>
          <a:p>
            <a:endParaRPr lang="en-IN" sz="2400" dirty="0" smtClean="0"/>
          </a:p>
          <a:p>
            <a:endParaRPr lang="en-IN" sz="2400" dirty="0" smtClean="0"/>
          </a:p>
          <a:p>
            <a:endParaRPr lang="en-IN" sz="2400" dirty="0" smtClean="0"/>
          </a:p>
          <a:p>
            <a:endParaRPr lang="en-IN" sz="2400" dirty="0" smtClean="0"/>
          </a:p>
          <a:p>
            <a:endParaRPr lang="en-IN" sz="2400" dirty="0" smtClean="0"/>
          </a:p>
          <a:p>
            <a:r>
              <a:rPr lang="en-US" sz="2400" dirty="0" smtClean="0"/>
              <a:t>Thus, the </a:t>
            </a:r>
            <a:r>
              <a:rPr lang="en-US" sz="2400" dirty="0" err="1" smtClean="0"/>
              <a:t>Gini</a:t>
            </a:r>
            <a:r>
              <a:rPr lang="en-US" sz="2400" dirty="0" smtClean="0"/>
              <a:t> Index never actually reaches </a:t>
            </a:r>
            <a:r>
              <a:rPr lang="en-US" sz="2400" b="1" dirty="0" smtClean="0"/>
              <a:t>1</a:t>
            </a:r>
            <a:r>
              <a:rPr lang="en-US" sz="2400" dirty="0" smtClean="0"/>
              <a:t> in a practical scenario but gets closer as the number of equally probable classes increases.</a:t>
            </a:r>
          </a:p>
          <a:p>
            <a:endParaRPr lang="en-US" dirty="0"/>
          </a:p>
        </p:txBody>
      </p:sp>
      <p:pic>
        <p:nvPicPr>
          <p:cNvPr id="74754" name="Picture 2"/>
          <p:cNvPicPr>
            <a:picLocks noChangeAspect="1" noChangeArrowheads="1"/>
          </p:cNvPicPr>
          <p:nvPr/>
        </p:nvPicPr>
        <p:blipFill>
          <a:blip r:embed="rId2"/>
          <a:srcRect/>
          <a:stretch>
            <a:fillRect/>
          </a:stretch>
        </p:blipFill>
        <p:spPr bwMode="auto">
          <a:xfrm>
            <a:off x="990600" y="3048000"/>
            <a:ext cx="5876925" cy="238125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Number Placeholder 6"/>
          <p:cNvSpPr>
            <a:spLocks noGrp="1"/>
          </p:cNvSpPr>
          <p:nvPr>
            <p:ph type="sldNum" sz="quarter" idx="10"/>
          </p:nvPr>
        </p:nvSpPr>
        <p:spPr>
          <a:noFill/>
        </p:spPr>
        <p:txBody>
          <a:bodyPr/>
          <a:lstStyle/>
          <a:p>
            <a:fld id="{78DBFDCC-F150-4664-8B03-D8AE3F50877C}" type="slidenum">
              <a:rPr lang="en-US"/>
              <a:pPr/>
              <a:t>43</a:t>
            </a:fld>
            <a:endParaRPr lang="en-US"/>
          </a:p>
        </p:txBody>
      </p:sp>
      <p:sp>
        <p:nvSpPr>
          <p:cNvPr id="73730" name="Rectangle 1026"/>
          <p:cNvSpPr>
            <a:spLocks noGrp="1" noChangeArrowheads="1"/>
          </p:cNvSpPr>
          <p:nvPr>
            <p:ph type="title"/>
          </p:nvPr>
        </p:nvSpPr>
        <p:spPr>
          <a:noFill/>
        </p:spPr>
        <p:txBody>
          <a:bodyPr lIns="92075" tIns="46038" rIns="92075" bIns="46038">
            <a:normAutofit fontScale="90000"/>
          </a:bodyPr>
          <a:lstStyle/>
          <a:p>
            <a:pPr eaLnBrk="1" hangingPunct="1"/>
            <a:r>
              <a:rPr lang="en-US" dirty="0" err="1" smtClean="0"/>
              <a:t>Gini</a:t>
            </a:r>
            <a:r>
              <a:rPr lang="en-US" dirty="0" smtClean="0"/>
              <a:t> Index</a:t>
            </a:r>
          </a:p>
        </p:txBody>
      </p:sp>
      <p:sp>
        <p:nvSpPr>
          <p:cNvPr id="73731" name="Rectangle 1027"/>
          <p:cNvSpPr>
            <a:spLocks noGrp="1" noChangeArrowheads="1"/>
          </p:cNvSpPr>
          <p:nvPr>
            <p:ph type="body" sz="half" idx="1"/>
          </p:nvPr>
        </p:nvSpPr>
        <p:spPr>
          <a:xfrm>
            <a:off x="304800" y="1371600"/>
            <a:ext cx="8534400" cy="5105400"/>
          </a:xfrm>
          <a:noFill/>
        </p:spPr>
        <p:txBody>
          <a:bodyPr lIns="92075" tIns="46038" rIns="92075" bIns="46038"/>
          <a:lstStyle/>
          <a:p>
            <a:pPr eaLnBrk="1" hangingPunct="1">
              <a:spcBef>
                <a:spcPts val="600"/>
              </a:spcBef>
              <a:spcAft>
                <a:spcPts val="200"/>
              </a:spcAft>
            </a:pPr>
            <a:r>
              <a:rPr lang="en-US" sz="2400" dirty="0" smtClean="0"/>
              <a:t>If a data set </a:t>
            </a:r>
            <a:r>
              <a:rPr lang="en-US" sz="2400" i="1" dirty="0" smtClean="0"/>
              <a:t>D </a:t>
            </a:r>
            <a:r>
              <a:rPr lang="en-US" sz="2400" dirty="0" smtClean="0"/>
              <a:t>contains examples from </a:t>
            </a:r>
            <a:r>
              <a:rPr lang="en-US" sz="2400" i="1" dirty="0" smtClean="0"/>
              <a:t>n</a:t>
            </a:r>
            <a:r>
              <a:rPr lang="en-US" sz="2400" dirty="0" smtClean="0"/>
              <a:t> classes, </a:t>
            </a:r>
            <a:r>
              <a:rPr lang="en-US" sz="2400" dirty="0" err="1" smtClean="0"/>
              <a:t>gini</a:t>
            </a:r>
            <a:r>
              <a:rPr lang="en-US" sz="2400" dirty="0" smtClean="0"/>
              <a:t> index, </a:t>
            </a:r>
            <a:r>
              <a:rPr lang="en-US" sz="2400" i="1" dirty="0" err="1" smtClean="0"/>
              <a:t>gini</a:t>
            </a:r>
            <a:r>
              <a:rPr lang="en-US" sz="2400" dirty="0" smtClean="0"/>
              <a:t>(</a:t>
            </a:r>
            <a:r>
              <a:rPr lang="en-US" sz="2400" i="1" dirty="0" smtClean="0"/>
              <a:t>D</a:t>
            </a:r>
            <a:r>
              <a:rPr lang="en-US" sz="2400" dirty="0" smtClean="0"/>
              <a:t>) is defined as</a:t>
            </a:r>
          </a:p>
          <a:p>
            <a:pPr eaLnBrk="1" hangingPunct="1">
              <a:spcBef>
                <a:spcPts val="600"/>
              </a:spcBef>
              <a:spcAft>
                <a:spcPts val="200"/>
              </a:spcAft>
            </a:pPr>
            <a:endParaRPr lang="en-US" sz="2400" dirty="0" smtClean="0"/>
          </a:p>
          <a:p>
            <a:pPr eaLnBrk="1" hangingPunct="1">
              <a:spcBef>
                <a:spcPts val="600"/>
              </a:spcBef>
              <a:spcAft>
                <a:spcPts val="200"/>
              </a:spcAft>
              <a:buFont typeface="Wingdings" pitchFamily="2" charset="2"/>
              <a:buNone/>
            </a:pPr>
            <a:r>
              <a:rPr lang="en-US" sz="2400" dirty="0" smtClean="0"/>
              <a:t>    		where </a:t>
            </a:r>
            <a:r>
              <a:rPr lang="en-US" sz="2400" i="1" dirty="0" err="1" smtClean="0"/>
              <a:t>p</a:t>
            </a:r>
            <a:r>
              <a:rPr lang="en-US" sz="2400" i="1" baseline="-25000" dirty="0" err="1" smtClean="0"/>
              <a:t>j</a:t>
            </a:r>
            <a:r>
              <a:rPr lang="en-US" sz="2400" dirty="0" smtClean="0"/>
              <a:t> is the relative frequency of class </a:t>
            </a:r>
            <a:r>
              <a:rPr lang="en-US" sz="2400" i="1" dirty="0" smtClean="0"/>
              <a:t>j</a:t>
            </a:r>
            <a:r>
              <a:rPr lang="en-US" sz="2400" dirty="0" smtClean="0"/>
              <a:t> in </a:t>
            </a:r>
            <a:r>
              <a:rPr lang="en-US" sz="2400" i="1" dirty="0" smtClean="0"/>
              <a:t>D</a:t>
            </a:r>
          </a:p>
          <a:p>
            <a:pPr eaLnBrk="1" hangingPunct="1">
              <a:spcBef>
                <a:spcPts val="600"/>
              </a:spcBef>
              <a:spcAft>
                <a:spcPts val="200"/>
              </a:spcAft>
            </a:pPr>
            <a:r>
              <a:rPr lang="en-US" sz="2400" dirty="0" smtClean="0"/>
              <a:t>If a data set </a:t>
            </a:r>
            <a:r>
              <a:rPr lang="en-US" sz="2400" i="1" dirty="0" smtClean="0"/>
              <a:t>D</a:t>
            </a:r>
            <a:r>
              <a:rPr lang="en-US" sz="2400" dirty="0" smtClean="0"/>
              <a:t>  is split on A into two subsets </a:t>
            </a:r>
            <a:r>
              <a:rPr lang="en-US" sz="2400" i="1" dirty="0" smtClean="0"/>
              <a:t>D</a:t>
            </a:r>
            <a:r>
              <a:rPr lang="en-US" sz="2400" i="1" baseline="-25000" dirty="0" smtClean="0"/>
              <a:t>1</a:t>
            </a:r>
            <a:r>
              <a:rPr lang="en-US" sz="2400" dirty="0" smtClean="0"/>
              <a:t> and </a:t>
            </a:r>
            <a:r>
              <a:rPr lang="en-US" sz="2400" i="1" dirty="0" smtClean="0"/>
              <a:t>D</a:t>
            </a:r>
            <a:r>
              <a:rPr lang="en-US" sz="2400" i="1" baseline="-25000" dirty="0" smtClean="0"/>
              <a:t>2</a:t>
            </a:r>
            <a:r>
              <a:rPr lang="en-US" sz="2400" dirty="0" smtClean="0"/>
              <a:t>, the </a:t>
            </a:r>
            <a:r>
              <a:rPr lang="en-US" sz="2400" i="1" dirty="0" err="1" smtClean="0"/>
              <a:t>gini</a:t>
            </a:r>
            <a:r>
              <a:rPr lang="en-US" sz="2400" dirty="0" smtClean="0"/>
              <a:t> index </a:t>
            </a:r>
            <a:r>
              <a:rPr lang="en-US" sz="2400" i="1" dirty="0" err="1" smtClean="0"/>
              <a:t>gini</a:t>
            </a:r>
            <a:r>
              <a:rPr lang="en-US" sz="2400" dirty="0" smtClean="0"/>
              <a:t>(</a:t>
            </a:r>
            <a:r>
              <a:rPr lang="en-US" sz="2400" i="1" dirty="0" smtClean="0"/>
              <a:t>D</a:t>
            </a:r>
            <a:r>
              <a:rPr lang="en-US" sz="2400" dirty="0" smtClean="0"/>
              <a:t>) is defined as</a:t>
            </a:r>
          </a:p>
          <a:p>
            <a:pPr eaLnBrk="1" hangingPunct="1">
              <a:spcBef>
                <a:spcPts val="600"/>
              </a:spcBef>
              <a:spcAft>
                <a:spcPts val="200"/>
              </a:spcAft>
            </a:pPr>
            <a:endParaRPr lang="en-US" sz="2400" dirty="0" smtClean="0"/>
          </a:p>
          <a:p>
            <a:pPr eaLnBrk="1" hangingPunct="1">
              <a:spcBef>
                <a:spcPts val="600"/>
              </a:spcBef>
              <a:spcAft>
                <a:spcPts val="200"/>
              </a:spcAft>
            </a:pPr>
            <a:r>
              <a:rPr lang="en-US" sz="2400" dirty="0" smtClean="0"/>
              <a:t>Reduction in Impurity:</a:t>
            </a:r>
          </a:p>
          <a:p>
            <a:pPr eaLnBrk="1" hangingPunct="1">
              <a:spcBef>
                <a:spcPts val="600"/>
              </a:spcBef>
              <a:spcAft>
                <a:spcPts val="200"/>
              </a:spcAft>
            </a:pPr>
            <a:endParaRPr lang="en-US" sz="2400" dirty="0" smtClean="0"/>
          </a:p>
          <a:p>
            <a:pPr eaLnBrk="1" hangingPunct="1">
              <a:spcBef>
                <a:spcPts val="600"/>
              </a:spcBef>
              <a:spcAft>
                <a:spcPts val="200"/>
              </a:spcAft>
            </a:pPr>
            <a:r>
              <a:rPr lang="en-US" sz="2400" dirty="0" smtClean="0"/>
              <a:t>The attribute provides the largest reduction in impurity is chosen to split the node.</a:t>
            </a:r>
          </a:p>
        </p:txBody>
      </p:sp>
      <p:graphicFrame>
        <p:nvGraphicFramePr>
          <p:cNvPr id="73732" name="Object 1024"/>
          <p:cNvGraphicFramePr>
            <a:graphicFrameLocks/>
          </p:cNvGraphicFramePr>
          <p:nvPr/>
        </p:nvGraphicFramePr>
        <p:xfrm>
          <a:off x="3886200" y="1828800"/>
          <a:ext cx="2895600" cy="838200"/>
        </p:xfrm>
        <a:graphic>
          <a:graphicData uri="http://schemas.openxmlformats.org/presentationml/2006/ole">
            <p:oleObj spid="_x0000_s6146" name="Equation" r:id="rId4" imgW="1777229" imgH="761669" progId="Equation.3">
              <p:embed/>
            </p:oleObj>
          </a:graphicData>
        </a:graphic>
      </p:graphicFrame>
      <p:graphicFrame>
        <p:nvGraphicFramePr>
          <p:cNvPr id="73733" name="Object 1025"/>
          <p:cNvGraphicFramePr>
            <a:graphicFrameLocks noChangeAspect="1"/>
          </p:cNvGraphicFramePr>
          <p:nvPr/>
        </p:nvGraphicFramePr>
        <p:xfrm>
          <a:off x="3124200" y="3717925"/>
          <a:ext cx="5703888" cy="854075"/>
        </p:xfrm>
        <a:graphic>
          <a:graphicData uri="http://schemas.openxmlformats.org/presentationml/2006/ole">
            <p:oleObj spid="_x0000_s6147" name="Equation" r:id="rId5" imgW="3441700" imgH="596900" progId="Equation.3">
              <p:embed/>
            </p:oleObj>
          </a:graphicData>
        </a:graphic>
      </p:graphicFrame>
      <p:graphicFrame>
        <p:nvGraphicFramePr>
          <p:cNvPr id="73734" name="Object 1026"/>
          <p:cNvGraphicFramePr>
            <a:graphicFrameLocks noChangeAspect="1"/>
          </p:cNvGraphicFramePr>
          <p:nvPr>
            <p:ph sz="half" idx="2"/>
          </p:nvPr>
        </p:nvGraphicFramePr>
        <p:xfrm>
          <a:off x="3657600" y="4811713"/>
          <a:ext cx="4618038" cy="522287"/>
        </p:xfrm>
        <a:graphic>
          <a:graphicData uri="http://schemas.openxmlformats.org/presentationml/2006/ole">
            <p:oleObj spid="_x0000_s6148" name="Equation" r:id="rId6" imgW="2692400" imgH="304800" progId="Equation.3">
              <p:embed/>
            </p:oleObj>
          </a:graphicData>
        </a:graphic>
      </p:graphicFrame>
    </p:spTree>
  </p:cSld>
  <p:clrMapOvr>
    <a:masterClrMapping/>
  </p:clrMapOvr>
  <p:transition>
    <p:zo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200" b="1" dirty="0" smtClean="0"/>
              <a:t>Constructing CART (a Decision Tree) Using </a:t>
            </a:r>
            <a:r>
              <a:rPr lang="en-US" sz="3200" b="1" dirty="0" err="1" smtClean="0"/>
              <a:t>Gini</a:t>
            </a:r>
            <a:r>
              <a:rPr lang="en-US" sz="3200" b="1" dirty="0" smtClean="0"/>
              <a:t> Index</a:t>
            </a:r>
            <a:endParaRPr lang="en-US" sz="3200" dirty="0"/>
          </a:p>
        </p:txBody>
      </p:sp>
      <p:sp>
        <p:nvSpPr>
          <p:cNvPr id="3" name="Content Placeholder 2"/>
          <p:cNvSpPr>
            <a:spLocks noGrp="1"/>
          </p:cNvSpPr>
          <p:nvPr>
            <p:ph idx="1"/>
          </p:nvPr>
        </p:nvSpPr>
        <p:spPr>
          <a:xfrm>
            <a:off x="457200" y="990600"/>
            <a:ext cx="8229600" cy="5135563"/>
          </a:xfrm>
        </p:spPr>
        <p:txBody>
          <a:bodyPr/>
          <a:lstStyle/>
          <a:p>
            <a:r>
              <a:rPr lang="en-US" sz="2400" dirty="0" smtClean="0"/>
              <a:t>Consider a dataset of loan applicants, where we want to predict if a person will default on a loan (</a:t>
            </a:r>
            <a:r>
              <a:rPr lang="en-US" sz="2400" b="1" dirty="0" smtClean="0"/>
              <a:t>Yes</a:t>
            </a:r>
            <a:r>
              <a:rPr lang="en-US" sz="2400" dirty="0" smtClean="0"/>
              <a:t> or </a:t>
            </a:r>
            <a:r>
              <a:rPr lang="en-US" sz="2400" b="1" dirty="0" smtClean="0"/>
              <a:t>No</a:t>
            </a:r>
            <a:r>
              <a:rPr lang="en-US" sz="2400" dirty="0" smtClean="0"/>
              <a:t>) based on two attributes: </a:t>
            </a:r>
            <a:r>
              <a:rPr lang="en-US" sz="2400" b="1" dirty="0" smtClean="0"/>
              <a:t>Credit Score (High/Low)</a:t>
            </a:r>
            <a:r>
              <a:rPr lang="en-US" sz="2400" dirty="0" smtClean="0"/>
              <a:t> and </a:t>
            </a:r>
            <a:r>
              <a:rPr lang="en-US" sz="2400" b="1" dirty="0" smtClean="0"/>
              <a:t>Income (High/Low)</a:t>
            </a:r>
            <a:r>
              <a:rPr lang="en-US" sz="2400" dirty="0" smtClean="0"/>
              <a:t>.</a:t>
            </a:r>
          </a:p>
          <a:p>
            <a:endParaRPr lang="en-US" dirty="0"/>
          </a:p>
        </p:txBody>
      </p:sp>
      <p:pic>
        <p:nvPicPr>
          <p:cNvPr id="5122" name="Picture 2"/>
          <p:cNvPicPr>
            <a:picLocks noChangeAspect="1" noChangeArrowheads="1"/>
          </p:cNvPicPr>
          <p:nvPr/>
        </p:nvPicPr>
        <p:blipFill>
          <a:blip r:embed="rId2"/>
          <a:srcRect/>
          <a:stretch>
            <a:fillRect/>
          </a:stretch>
        </p:blipFill>
        <p:spPr bwMode="auto">
          <a:xfrm>
            <a:off x="990600" y="2743200"/>
            <a:ext cx="7200900" cy="289560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smtClean="0"/>
              <a:t>CART</a:t>
            </a:r>
            <a:endParaRPr lang="en-US" dirty="0"/>
          </a:p>
        </p:txBody>
      </p:sp>
      <p:pic>
        <p:nvPicPr>
          <p:cNvPr id="6146" name="Picture 2"/>
          <p:cNvPicPr>
            <a:picLocks noChangeAspect="1" noChangeArrowheads="1"/>
          </p:cNvPicPr>
          <p:nvPr/>
        </p:nvPicPr>
        <p:blipFill>
          <a:blip r:embed="rId2"/>
          <a:srcRect/>
          <a:stretch>
            <a:fillRect/>
          </a:stretch>
        </p:blipFill>
        <p:spPr bwMode="auto">
          <a:xfrm>
            <a:off x="762000" y="1219200"/>
            <a:ext cx="7315200" cy="403860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CART</a:t>
            </a:r>
            <a:endParaRPr lang="en-US" dirty="0"/>
          </a:p>
        </p:txBody>
      </p:sp>
      <p:pic>
        <p:nvPicPr>
          <p:cNvPr id="64514" name="Picture 2"/>
          <p:cNvPicPr>
            <a:picLocks noChangeAspect="1" noChangeArrowheads="1"/>
          </p:cNvPicPr>
          <p:nvPr/>
        </p:nvPicPr>
        <p:blipFill>
          <a:blip r:embed="rId2"/>
          <a:srcRect/>
          <a:stretch>
            <a:fillRect/>
          </a:stretch>
        </p:blipFill>
        <p:spPr bwMode="auto">
          <a:xfrm>
            <a:off x="838200" y="1524000"/>
            <a:ext cx="7543800" cy="44958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CART</a:t>
            </a:r>
            <a:endParaRPr lang="en-US" dirty="0"/>
          </a:p>
        </p:txBody>
      </p:sp>
      <p:sp>
        <p:nvSpPr>
          <p:cNvPr id="5" name="Rectangle 4"/>
          <p:cNvSpPr/>
          <p:nvPr/>
        </p:nvSpPr>
        <p:spPr>
          <a:xfrm>
            <a:off x="381000" y="4038600"/>
            <a:ext cx="7772400" cy="2031325"/>
          </a:xfrm>
          <a:prstGeom prst="rect">
            <a:avLst/>
          </a:prstGeom>
        </p:spPr>
        <p:txBody>
          <a:bodyPr wrap="square">
            <a:spAutoFit/>
          </a:bodyPr>
          <a:lstStyle/>
          <a:p>
            <a:r>
              <a:rPr lang="en-US" b="1" dirty="0" smtClean="0"/>
              <a:t>Step 3: Select the Best Attribute for Splitting</a:t>
            </a:r>
          </a:p>
          <a:p>
            <a:r>
              <a:rPr lang="en-US" b="1" dirty="0" smtClean="0"/>
              <a:t>	- </a:t>
            </a:r>
            <a:r>
              <a:rPr lang="en-US" b="1" dirty="0" err="1" smtClean="0"/>
              <a:t>Gini</a:t>
            </a:r>
            <a:r>
              <a:rPr lang="en-US" b="1" dirty="0" smtClean="0"/>
              <a:t>(Credit Score) = 0.222 and </a:t>
            </a:r>
            <a:r>
              <a:rPr lang="en-US" b="1" dirty="0" err="1" smtClean="0"/>
              <a:t>Gini</a:t>
            </a:r>
            <a:r>
              <a:rPr lang="en-US" b="1" dirty="0" smtClean="0"/>
              <a:t>(Income) = 0.222</a:t>
            </a:r>
          </a:p>
          <a:p>
            <a:r>
              <a:rPr lang="en-US" b="1" dirty="0" smtClean="0"/>
              <a:t>	- Reduction in Impurity (Credit Score) = 0.445 – 0.222 = 0.223</a:t>
            </a:r>
          </a:p>
          <a:p>
            <a:r>
              <a:rPr lang="en-US" b="1" dirty="0" smtClean="0"/>
              <a:t>	- Reduction in Impurity (Income) = 0.445 – 0.222 = 0.223</a:t>
            </a:r>
          </a:p>
          <a:p>
            <a:endParaRPr lang="en-US" dirty="0" smtClean="0"/>
          </a:p>
          <a:p>
            <a:r>
              <a:rPr lang="en-US" dirty="0" smtClean="0"/>
              <a:t>Since both attributes have the same </a:t>
            </a:r>
            <a:r>
              <a:rPr lang="en-US" dirty="0" err="1" smtClean="0"/>
              <a:t>Gini</a:t>
            </a:r>
            <a:r>
              <a:rPr lang="en-US" dirty="0" smtClean="0"/>
              <a:t> Index, so reduction in impurities are same =&gt;  we can choose any one, say </a:t>
            </a:r>
            <a:r>
              <a:rPr lang="en-US" b="1" dirty="0" smtClean="0"/>
              <a:t>Credit Score</a:t>
            </a:r>
            <a:r>
              <a:rPr lang="en-US" dirty="0" smtClean="0"/>
              <a:t> for the first </a:t>
            </a:r>
            <a:r>
              <a:rPr lang="en-US" dirty="0" err="1" smtClean="0"/>
              <a:t>spliting</a:t>
            </a:r>
            <a:r>
              <a:rPr lang="en-US" dirty="0" smtClean="0"/>
              <a:t> arbitrarily.</a:t>
            </a:r>
            <a:endParaRPr lang="en-US" dirty="0"/>
          </a:p>
        </p:txBody>
      </p:sp>
      <p:pic>
        <p:nvPicPr>
          <p:cNvPr id="65538" name="Picture 2"/>
          <p:cNvPicPr>
            <a:picLocks noChangeAspect="1" noChangeArrowheads="1"/>
          </p:cNvPicPr>
          <p:nvPr/>
        </p:nvPicPr>
        <p:blipFill>
          <a:blip r:embed="rId2"/>
          <a:srcRect/>
          <a:stretch>
            <a:fillRect/>
          </a:stretch>
        </p:blipFill>
        <p:spPr bwMode="auto">
          <a:xfrm>
            <a:off x="457200" y="1066800"/>
            <a:ext cx="6705600" cy="26670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CART</a:t>
            </a:r>
            <a:endParaRPr lang="en-US" dirty="0"/>
          </a:p>
        </p:txBody>
      </p:sp>
      <p:sp>
        <p:nvSpPr>
          <p:cNvPr id="3" name="Content Placeholder 2"/>
          <p:cNvSpPr>
            <a:spLocks noGrp="1"/>
          </p:cNvSpPr>
          <p:nvPr>
            <p:ph idx="1"/>
          </p:nvPr>
        </p:nvSpPr>
        <p:spPr/>
        <p:txBody>
          <a:bodyPr/>
          <a:lstStyle/>
          <a:p>
            <a:pPr>
              <a:buNone/>
            </a:pPr>
            <a:r>
              <a:rPr lang="en-US" dirty="0" smtClean="0"/>
              <a:t>Step 4: Create the First Split in the Decision Tree</a:t>
            </a:r>
            <a:endParaRPr lang="en-US" dirty="0"/>
          </a:p>
        </p:txBody>
      </p:sp>
      <p:sp>
        <p:nvSpPr>
          <p:cNvPr id="8194" name="Rectangle 2"/>
          <p:cNvSpPr>
            <a:spLocks noChangeArrowheads="1"/>
          </p:cNvSpPr>
          <p:nvPr/>
        </p:nvSpPr>
        <p:spPr bwMode="auto">
          <a:xfrm rot="10800000" flipV="1">
            <a:off x="381000" y="4495800"/>
            <a:ext cx="84582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charset="0"/>
                <a:cs typeface="Arial" charset="0"/>
              </a:rPr>
              <a:t>Left Node (High Credit Score)</a:t>
            </a:r>
            <a:r>
              <a:rPr kumimoji="0" lang="en-US" sz="1800" b="0" i="0" u="none" strike="noStrike" cap="none" normalizeH="0" baseline="0" dirty="0" smtClean="0">
                <a:ln>
                  <a:noFill/>
                </a:ln>
                <a:solidFill>
                  <a:schemeClr val="tx1"/>
                </a:solidFill>
                <a:effectLst/>
                <a:latin typeface="Arial" charset="0"/>
                <a:cs typeface="Arial" charset="0"/>
              </a:rPr>
              <a:t> is pure (</a:t>
            </a:r>
            <a:r>
              <a:rPr kumimoji="0" lang="en-US" sz="1800" b="0" i="0" u="none" strike="noStrike" cap="none" normalizeH="0" baseline="0" dirty="0" err="1" smtClean="0">
                <a:ln>
                  <a:noFill/>
                </a:ln>
                <a:solidFill>
                  <a:schemeClr val="tx1"/>
                </a:solidFill>
                <a:effectLst/>
                <a:latin typeface="Arial" charset="0"/>
                <a:cs typeface="Arial" charset="0"/>
              </a:rPr>
              <a:t>Gini</a:t>
            </a:r>
            <a:r>
              <a:rPr kumimoji="0" lang="en-US" sz="1800" b="0" i="0" u="none" strike="noStrike" cap="none" normalizeH="0" baseline="0" dirty="0" smtClean="0">
                <a:ln>
                  <a:noFill/>
                </a:ln>
                <a:solidFill>
                  <a:schemeClr val="tx1"/>
                </a:solidFill>
                <a:effectLst/>
                <a:latin typeface="Arial" charset="0"/>
                <a:cs typeface="Arial" charset="0"/>
              </a:rPr>
              <a:t> = 0), so it becomes a leaf node labeled </a:t>
            </a:r>
            <a:r>
              <a:rPr kumimoji="0" lang="en-US" sz="1800" b="1" i="0" u="none" strike="noStrike" cap="none" normalizeH="0" baseline="0" dirty="0" smtClean="0">
                <a:ln>
                  <a:noFill/>
                </a:ln>
                <a:solidFill>
                  <a:schemeClr val="tx1"/>
                </a:solidFill>
                <a:effectLst/>
                <a:latin typeface="Arial" charset="0"/>
                <a:cs typeface="Arial" charset="0"/>
              </a:rPr>
              <a:t>"No"</a:t>
            </a:r>
            <a:r>
              <a:rPr kumimoji="0" lang="en-US" sz="18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charset="0"/>
                <a:cs typeface="Arial" charset="0"/>
              </a:rPr>
              <a:t>Right Node (Low Credit Score)</a:t>
            </a:r>
            <a:r>
              <a:rPr kumimoji="0" lang="en-US" sz="1800" b="0" i="0" u="none" strike="noStrike" cap="none" normalizeH="0" baseline="0" dirty="0" smtClean="0">
                <a:ln>
                  <a:noFill/>
                </a:ln>
                <a:solidFill>
                  <a:schemeClr val="tx1"/>
                </a:solidFill>
                <a:effectLst/>
                <a:latin typeface="Arial" charset="0"/>
                <a:cs typeface="Arial" charset="0"/>
              </a:rPr>
              <a:t> is still impure (</a:t>
            </a:r>
            <a:r>
              <a:rPr kumimoji="0" lang="en-US" sz="1800" b="0" i="0" u="none" strike="noStrike" cap="none" normalizeH="0" baseline="0" dirty="0" err="1" smtClean="0">
                <a:ln>
                  <a:noFill/>
                </a:ln>
                <a:solidFill>
                  <a:schemeClr val="tx1"/>
                </a:solidFill>
                <a:effectLst/>
                <a:latin typeface="Arial" charset="0"/>
                <a:cs typeface="Arial" charset="0"/>
              </a:rPr>
              <a:t>Gini</a:t>
            </a:r>
            <a:r>
              <a:rPr kumimoji="0" lang="en-US" sz="1800" b="0" i="0" u="none" strike="noStrike" cap="none" normalizeH="0" baseline="0" dirty="0" smtClean="0">
                <a:ln>
                  <a:noFill/>
                </a:ln>
                <a:solidFill>
                  <a:schemeClr val="tx1"/>
                </a:solidFill>
                <a:effectLst/>
                <a:latin typeface="Arial" charset="0"/>
                <a:cs typeface="Arial" charset="0"/>
              </a:rPr>
              <a:t> = 0.445), so we split it further. </a:t>
            </a:r>
          </a:p>
        </p:txBody>
      </p:sp>
      <p:pic>
        <p:nvPicPr>
          <p:cNvPr id="66562" name="Picture 2"/>
          <p:cNvPicPr>
            <a:picLocks noChangeAspect="1" noChangeArrowheads="1"/>
          </p:cNvPicPr>
          <p:nvPr/>
        </p:nvPicPr>
        <p:blipFill>
          <a:blip r:embed="rId2"/>
          <a:srcRect/>
          <a:stretch>
            <a:fillRect/>
          </a:stretch>
        </p:blipFill>
        <p:spPr bwMode="auto">
          <a:xfrm>
            <a:off x="1295400" y="2286000"/>
            <a:ext cx="3314700" cy="1838325"/>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smtClean="0"/>
              <a:t>CART</a:t>
            </a:r>
            <a:endParaRPr lang="en-US" dirty="0"/>
          </a:p>
        </p:txBody>
      </p:sp>
      <p:sp>
        <p:nvSpPr>
          <p:cNvPr id="3" name="Content Placeholder 2"/>
          <p:cNvSpPr>
            <a:spLocks noGrp="1"/>
          </p:cNvSpPr>
          <p:nvPr>
            <p:ph idx="1"/>
          </p:nvPr>
        </p:nvSpPr>
        <p:spPr>
          <a:xfrm>
            <a:off x="457200" y="990600"/>
            <a:ext cx="8229600" cy="5135563"/>
          </a:xfrm>
        </p:spPr>
        <p:txBody>
          <a:bodyPr/>
          <a:lstStyle/>
          <a:p>
            <a:r>
              <a:rPr lang="en-US" sz="2400" b="1" dirty="0" smtClean="0"/>
              <a:t>Step 5: Further Splitting on "Income" (For Low Credit Score Branch)</a:t>
            </a:r>
          </a:p>
          <a:p>
            <a:r>
              <a:rPr lang="en-US" sz="2400" b="1" dirty="0" smtClean="0"/>
              <a:t>Income = High</a:t>
            </a:r>
            <a:r>
              <a:rPr lang="en-US" sz="2400" dirty="0" smtClean="0"/>
              <a:t> → { No } → </a:t>
            </a:r>
            <a:r>
              <a:rPr lang="en-US" sz="2400" dirty="0" err="1" smtClean="0"/>
              <a:t>Gini</a:t>
            </a:r>
            <a:r>
              <a:rPr lang="en-US" sz="2400" dirty="0" smtClean="0"/>
              <a:t> = 0 (Pure)</a:t>
            </a:r>
          </a:p>
          <a:p>
            <a:r>
              <a:rPr lang="en-US" sz="2400" b="1" dirty="0" smtClean="0"/>
              <a:t>Income = Low</a:t>
            </a:r>
            <a:r>
              <a:rPr lang="en-US" sz="2400" dirty="0" smtClean="0"/>
              <a:t> → { Yes, Yes } → </a:t>
            </a:r>
            <a:r>
              <a:rPr lang="en-US" sz="2400" dirty="0" err="1" smtClean="0"/>
              <a:t>Gini</a:t>
            </a:r>
            <a:r>
              <a:rPr lang="en-US" sz="2400" dirty="0" smtClean="0"/>
              <a:t> = 0 (Pure)</a:t>
            </a:r>
          </a:p>
          <a:p>
            <a:r>
              <a:rPr lang="en-US" sz="2400" dirty="0" smtClean="0"/>
              <a:t>Final Decision Tree</a:t>
            </a:r>
          </a:p>
          <a:p>
            <a:pPr>
              <a:buNone/>
            </a:pPr>
            <a:endParaRPr lang="en-US" sz="2400" dirty="0" smtClean="0"/>
          </a:p>
          <a:p>
            <a:endParaRPr lang="en-US" dirty="0"/>
          </a:p>
        </p:txBody>
      </p:sp>
      <p:pic>
        <p:nvPicPr>
          <p:cNvPr id="67586" name="Picture 2"/>
          <p:cNvPicPr>
            <a:picLocks noChangeAspect="1" noChangeArrowheads="1"/>
          </p:cNvPicPr>
          <p:nvPr/>
        </p:nvPicPr>
        <p:blipFill>
          <a:blip r:embed="rId2"/>
          <a:srcRect/>
          <a:stretch>
            <a:fillRect/>
          </a:stretch>
        </p:blipFill>
        <p:spPr bwMode="auto">
          <a:xfrm>
            <a:off x="1524000" y="3048001"/>
            <a:ext cx="4953000" cy="3257136"/>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Which One to Use?</a:t>
            </a:r>
            <a:endParaRPr lang="en-US" dirty="0"/>
          </a:p>
        </p:txBody>
      </p:sp>
      <p:sp>
        <p:nvSpPr>
          <p:cNvPr id="3" name="Content Placeholder 2"/>
          <p:cNvSpPr>
            <a:spLocks noGrp="1"/>
          </p:cNvSpPr>
          <p:nvPr>
            <p:ph idx="1"/>
          </p:nvPr>
        </p:nvSpPr>
        <p:spPr/>
        <p:txBody>
          <a:bodyPr/>
          <a:lstStyle/>
          <a:p>
            <a:r>
              <a:rPr lang="en-US" b="1" dirty="0" smtClean="0"/>
              <a:t>If computational efficiency is a priority</a:t>
            </a:r>
            <a:r>
              <a:rPr lang="en-US" dirty="0" smtClean="0"/>
              <a:t> → </a:t>
            </a:r>
            <a:r>
              <a:rPr lang="en-US" b="1" dirty="0" smtClean="0"/>
              <a:t>Use </a:t>
            </a:r>
            <a:r>
              <a:rPr lang="en-US" b="1" dirty="0" err="1" smtClean="0"/>
              <a:t>Gini</a:t>
            </a:r>
            <a:r>
              <a:rPr lang="en-US" b="1" dirty="0" smtClean="0"/>
              <a:t> Index</a:t>
            </a:r>
            <a:r>
              <a:rPr lang="en-US" dirty="0" smtClean="0"/>
              <a:t> (CART).</a:t>
            </a:r>
          </a:p>
          <a:p>
            <a:r>
              <a:rPr lang="en-US" b="1" dirty="0" smtClean="0"/>
              <a:t>If you want a more theoretically sound measure</a:t>
            </a:r>
            <a:r>
              <a:rPr lang="en-US" dirty="0" smtClean="0"/>
              <a:t> that accounts for </a:t>
            </a:r>
            <a:r>
              <a:rPr lang="en-US" b="1" dirty="0" smtClean="0"/>
              <a:t>information gain</a:t>
            </a:r>
            <a:r>
              <a:rPr lang="en-US" dirty="0" smtClean="0"/>
              <a:t> → </a:t>
            </a:r>
            <a:r>
              <a:rPr lang="en-US" b="1" dirty="0" smtClean="0"/>
              <a:t>Use Entropy</a:t>
            </a:r>
            <a:r>
              <a:rPr lang="en-US" dirty="0" smtClean="0"/>
              <a:t> (ID3, C4.5).</a:t>
            </a:r>
          </a:p>
          <a:p>
            <a:r>
              <a:rPr lang="en-US" b="1" dirty="0" smtClean="0"/>
              <a:t>Both perform similarly in practice</a:t>
            </a:r>
            <a:r>
              <a:rPr lang="en-US" dirty="0" smtClean="0"/>
              <a:t>, but </a:t>
            </a:r>
            <a:r>
              <a:rPr lang="en-US" dirty="0" err="1" smtClean="0"/>
              <a:t>Gini</a:t>
            </a:r>
            <a:r>
              <a:rPr lang="en-US" dirty="0" smtClean="0"/>
              <a:t> is preferred when speed is a concern.</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Information Gain VS </a:t>
            </a:r>
            <a:r>
              <a:rPr lang="en-US" b="1" dirty="0" err="1" smtClean="0"/>
              <a:t>Gini</a:t>
            </a:r>
            <a:r>
              <a:rPr lang="en-US" b="1" dirty="0" smtClean="0"/>
              <a:t> Index</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1. Information Gain</a:t>
            </a:r>
            <a:endParaRPr lang="en-US" dirty="0" smtClean="0"/>
          </a:p>
          <a:p>
            <a:pPr lvl="0"/>
            <a:r>
              <a:rPr lang="en-US" dirty="0" smtClean="0"/>
              <a:t>Based on the concept of </a:t>
            </a:r>
            <a:r>
              <a:rPr lang="en-US" b="1" dirty="0" smtClean="0"/>
              <a:t>Entropy</a:t>
            </a:r>
            <a:r>
              <a:rPr lang="en-US" dirty="0" smtClean="0"/>
              <a:t> from </a:t>
            </a:r>
            <a:r>
              <a:rPr lang="en-US" b="1" dirty="0" smtClean="0"/>
              <a:t>Claude Shannon</a:t>
            </a:r>
            <a:r>
              <a:rPr lang="en-US" dirty="0" smtClean="0"/>
              <a:t>.</a:t>
            </a:r>
          </a:p>
          <a:p>
            <a:pPr lvl="0"/>
            <a:r>
              <a:rPr lang="en-US" dirty="0" smtClean="0"/>
              <a:t>Measures </a:t>
            </a:r>
            <a:r>
              <a:rPr lang="en-US" b="1" dirty="0" smtClean="0"/>
              <a:t>how much uncertainty is reduced</a:t>
            </a:r>
            <a:r>
              <a:rPr lang="en-US" dirty="0" smtClean="0"/>
              <a:t> after splitting the dataset.</a:t>
            </a:r>
          </a:p>
          <a:p>
            <a:pPr lvl="0"/>
            <a:r>
              <a:rPr lang="en-US" dirty="0" smtClean="0"/>
              <a:t>Used mainly in algorithms like </a:t>
            </a:r>
            <a:r>
              <a:rPr lang="en-US" b="1" dirty="0" smtClean="0"/>
              <a:t>ID3</a:t>
            </a:r>
            <a:r>
              <a:rPr lang="en-US" dirty="0" smtClean="0"/>
              <a:t> and </a:t>
            </a:r>
            <a:r>
              <a:rPr lang="en-US" b="1" dirty="0" smtClean="0"/>
              <a:t>C4.5</a:t>
            </a:r>
            <a:r>
              <a:rPr lang="en-US" dirty="0" smtClean="0"/>
              <a:t>.</a:t>
            </a:r>
          </a:p>
          <a:p>
            <a:pPr lvl="0"/>
            <a:r>
              <a:rPr lang="en-US" dirty="0" smtClean="0"/>
              <a:t>The attribute with the </a:t>
            </a:r>
            <a:r>
              <a:rPr lang="en-US" b="1" dirty="0" smtClean="0"/>
              <a:t>highest information gain</a:t>
            </a:r>
            <a:r>
              <a:rPr lang="en-US" dirty="0" smtClean="0"/>
              <a:t> is selected for the split.</a:t>
            </a:r>
          </a:p>
          <a:p>
            <a:r>
              <a:rPr lang="en-US" b="1" dirty="0" smtClean="0"/>
              <a:t>Idea:</a:t>
            </a:r>
            <a:r>
              <a:rPr lang="en-US" dirty="0" smtClean="0"/>
              <a:t/>
            </a:r>
            <a:br>
              <a:rPr lang="en-US" dirty="0" smtClean="0"/>
            </a:br>
            <a:r>
              <a:rPr lang="en-US" dirty="0" smtClean="0"/>
              <a:t>More reduction in entropy → Better split.</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Information Gain VS </a:t>
            </a:r>
            <a:r>
              <a:rPr lang="en-US" b="1" dirty="0" err="1" smtClean="0"/>
              <a:t>Gini</a:t>
            </a:r>
            <a:r>
              <a:rPr lang="en-US" b="1" dirty="0" smtClean="0"/>
              <a:t> Index</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None/>
            </a:pPr>
            <a:r>
              <a:rPr lang="en-US" b="1" dirty="0" smtClean="0"/>
              <a:t>2. </a:t>
            </a:r>
            <a:r>
              <a:rPr lang="en-US" b="1" dirty="0" err="1" smtClean="0"/>
              <a:t>Gini</a:t>
            </a:r>
            <a:r>
              <a:rPr lang="en-US" b="1" dirty="0" smtClean="0"/>
              <a:t> Index</a:t>
            </a:r>
            <a:endParaRPr lang="en-US" dirty="0" smtClean="0"/>
          </a:p>
          <a:p>
            <a:pPr lvl="0"/>
            <a:r>
              <a:rPr lang="en-US" dirty="0" smtClean="0"/>
              <a:t>Measures </a:t>
            </a:r>
            <a:r>
              <a:rPr lang="en-US" b="1" dirty="0" smtClean="0"/>
              <a:t>impurity of a dataset</a:t>
            </a:r>
            <a:r>
              <a:rPr lang="en-US" dirty="0" smtClean="0"/>
              <a:t>.</a:t>
            </a:r>
          </a:p>
          <a:p>
            <a:pPr lvl="0"/>
            <a:r>
              <a:rPr lang="en-US" dirty="0" smtClean="0"/>
              <a:t>Used mainly in the </a:t>
            </a:r>
            <a:r>
              <a:rPr lang="en-US" b="1" dirty="0" smtClean="0"/>
              <a:t>CART</a:t>
            </a:r>
            <a:r>
              <a:rPr lang="en-US" dirty="0" smtClean="0"/>
              <a:t> algorithm.</a:t>
            </a:r>
          </a:p>
          <a:p>
            <a:pPr lvl="0"/>
            <a:r>
              <a:rPr lang="en-US" dirty="0" smtClean="0"/>
              <a:t>The attribute with the </a:t>
            </a:r>
            <a:r>
              <a:rPr lang="en-US" b="1" dirty="0" smtClean="0"/>
              <a:t>lowest </a:t>
            </a:r>
            <a:r>
              <a:rPr lang="en-US" b="1" dirty="0" err="1" smtClean="0"/>
              <a:t>Gini</a:t>
            </a:r>
            <a:r>
              <a:rPr lang="en-US" b="1" dirty="0" smtClean="0"/>
              <a:t> index</a:t>
            </a:r>
            <a:r>
              <a:rPr lang="en-US" dirty="0" smtClean="0"/>
              <a:t> is chosen for splitting.</a:t>
            </a:r>
          </a:p>
          <a:p>
            <a:r>
              <a:rPr lang="en-US" b="1" dirty="0" smtClean="0"/>
              <a:t>Idea:</a:t>
            </a:r>
            <a:r>
              <a:rPr lang="en-US" dirty="0" smtClean="0"/>
              <a:t/>
            </a:r>
            <a:br>
              <a:rPr lang="en-US" dirty="0" smtClean="0"/>
            </a:br>
            <a:r>
              <a:rPr lang="en-US" dirty="0" smtClean="0"/>
              <a:t>Lower impurity → Better split.</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Information Gain VS </a:t>
            </a:r>
            <a:r>
              <a:rPr lang="en-US" b="1" dirty="0" err="1" smtClean="0"/>
              <a:t>Gini</a:t>
            </a:r>
            <a:r>
              <a:rPr lang="en-US" b="1" dirty="0" smtClean="0"/>
              <a:t> Index</a:t>
            </a:r>
            <a:endParaRPr lang="en-US" dirty="0"/>
          </a:p>
        </p:txBody>
      </p:sp>
      <p:sp>
        <p:nvSpPr>
          <p:cNvPr id="3" name="Content Placeholder 2"/>
          <p:cNvSpPr>
            <a:spLocks noGrp="1"/>
          </p:cNvSpPr>
          <p:nvPr>
            <p:ph idx="1"/>
          </p:nvPr>
        </p:nvSpPr>
        <p:spPr/>
        <p:txBody>
          <a:bodyPr>
            <a:normAutofit lnSpcReduction="10000"/>
          </a:bodyPr>
          <a:lstStyle/>
          <a:p>
            <a:pPr lvl="0"/>
            <a:r>
              <a:rPr lang="en-US" b="1" dirty="0" smtClean="0"/>
              <a:t>Information Gain:</a:t>
            </a:r>
            <a:r>
              <a:rPr lang="en-US" dirty="0" smtClean="0"/>
              <a:t> measures </a:t>
            </a:r>
            <a:r>
              <a:rPr lang="en-US" b="1" dirty="0" smtClean="0"/>
              <a:t>reduction in randomness</a:t>
            </a:r>
            <a:r>
              <a:rPr lang="en-US" dirty="0" smtClean="0"/>
              <a:t>.</a:t>
            </a:r>
          </a:p>
          <a:p>
            <a:pPr lvl="0"/>
            <a:r>
              <a:rPr lang="en-US" b="1" dirty="0" err="1" smtClean="0"/>
              <a:t>Gini</a:t>
            </a:r>
            <a:r>
              <a:rPr lang="en-US" b="1" dirty="0" smtClean="0"/>
              <a:t> Index:</a:t>
            </a:r>
            <a:r>
              <a:rPr lang="en-US" dirty="0" smtClean="0"/>
              <a:t> measures </a:t>
            </a:r>
            <a:r>
              <a:rPr lang="en-US" b="1" dirty="0" smtClean="0"/>
              <a:t>how mixed the classes are</a:t>
            </a:r>
            <a:r>
              <a:rPr lang="en-US" dirty="0" smtClean="0"/>
              <a:t>.</a:t>
            </a:r>
          </a:p>
          <a:p>
            <a:r>
              <a:rPr lang="en-US" dirty="0" smtClean="0"/>
              <a:t>The </a:t>
            </a:r>
            <a:r>
              <a:rPr lang="en-US" b="1" dirty="0" smtClean="0"/>
              <a:t>difference between uncertainty and impurity</a:t>
            </a:r>
            <a:r>
              <a:rPr lang="en-US" dirty="0" smtClean="0"/>
              <a:t> is subtle but important. Both describe how </a:t>
            </a:r>
            <a:r>
              <a:rPr lang="en-US" b="1" dirty="0" smtClean="0"/>
              <a:t>mixed or unpredictable the class labels are</a:t>
            </a:r>
            <a:r>
              <a:rPr lang="en-US" dirty="0" smtClean="0"/>
              <a:t>, but they come from </a:t>
            </a:r>
            <a:r>
              <a:rPr lang="en-US" b="1" dirty="0" smtClean="0"/>
              <a:t>different theoretical perspectives</a:t>
            </a:r>
            <a:r>
              <a:rPr lang="en-US" dirty="0" smtClean="0"/>
              <a:t>.</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Information Gain VS </a:t>
            </a:r>
            <a:r>
              <a:rPr lang="en-US" b="1" dirty="0" err="1" smtClean="0"/>
              <a:t>Gini</a:t>
            </a:r>
            <a:r>
              <a:rPr lang="en-US" b="1" dirty="0" smtClean="0"/>
              <a:t> Index</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1. Uncertainty (Entropy / Information Gain)</a:t>
            </a:r>
          </a:p>
          <a:p>
            <a:pPr lvl="0"/>
            <a:r>
              <a:rPr lang="en-US" dirty="0" smtClean="0"/>
              <a:t>Comes from </a:t>
            </a:r>
            <a:r>
              <a:rPr lang="en-US" b="1" dirty="0" smtClean="0"/>
              <a:t>Entropy</a:t>
            </a:r>
            <a:r>
              <a:rPr lang="en-US" dirty="0" smtClean="0"/>
              <a:t> in </a:t>
            </a:r>
            <a:r>
              <a:rPr lang="en-US" b="1" dirty="0" smtClean="0"/>
              <a:t>Information Theory</a:t>
            </a:r>
            <a:r>
              <a:rPr lang="en-US" dirty="0" smtClean="0"/>
              <a:t>.</a:t>
            </a:r>
          </a:p>
          <a:p>
            <a:pPr lvl="0"/>
            <a:r>
              <a:rPr lang="en-US" dirty="0" smtClean="0"/>
              <a:t>Measures </a:t>
            </a:r>
            <a:r>
              <a:rPr lang="en-US" b="1" dirty="0" smtClean="0"/>
              <a:t>how uncertain we are about predicting the class label</a:t>
            </a:r>
            <a:r>
              <a:rPr lang="en-US" dirty="0" smtClean="0"/>
              <a:t>.</a:t>
            </a:r>
          </a:p>
          <a:p>
            <a:pPr lvl="0"/>
            <a:r>
              <a:rPr lang="en-US" dirty="0" smtClean="0"/>
              <a:t>If all samples belong to one class → </a:t>
            </a:r>
            <a:r>
              <a:rPr lang="en-US" b="1" dirty="0" smtClean="0"/>
              <a:t>uncertainty = 0</a:t>
            </a:r>
            <a:r>
              <a:rPr lang="en-US" dirty="0" smtClean="0"/>
              <a:t>.</a:t>
            </a:r>
          </a:p>
          <a:p>
            <a:pPr lvl="0"/>
            <a:r>
              <a:rPr lang="en-US" dirty="0" smtClean="0"/>
              <a:t>If classes are evenly mixed → </a:t>
            </a:r>
            <a:r>
              <a:rPr lang="en-US" b="1" dirty="0" smtClean="0"/>
              <a:t>uncertainty is maximum</a:t>
            </a:r>
            <a:r>
              <a:rPr lang="en-US" dirty="0" smtClean="0"/>
              <a:t>.</a:t>
            </a:r>
          </a:p>
          <a:p>
            <a:r>
              <a:rPr lang="en-US" b="1" dirty="0" smtClean="0"/>
              <a:t>Example:</a:t>
            </a:r>
            <a:endParaRPr lang="en-US" dirty="0" smtClean="0"/>
          </a:p>
          <a:p>
            <a:pPr lvl="0"/>
            <a:r>
              <a:rPr lang="en-US" dirty="0" smtClean="0"/>
              <a:t>Dataset: 50% Yes, 50% No</a:t>
            </a:r>
          </a:p>
          <a:p>
            <a:pPr lvl="0"/>
            <a:r>
              <a:rPr lang="en-US" dirty="0" smtClean="0"/>
              <a:t>We are </a:t>
            </a:r>
            <a:r>
              <a:rPr lang="en-US" b="1" dirty="0" smtClean="0"/>
              <a:t>very uncertain</a:t>
            </a:r>
            <a:r>
              <a:rPr lang="en-US" dirty="0" smtClean="0"/>
              <a:t> about predicting the class.</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Information Gain VS </a:t>
            </a:r>
            <a:r>
              <a:rPr lang="en-US" b="1" dirty="0" err="1" smtClean="0"/>
              <a:t>Gini</a:t>
            </a:r>
            <a:r>
              <a:rPr lang="en-US" b="1" dirty="0" smtClean="0"/>
              <a:t> Index</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2. Impurity (</a:t>
            </a:r>
            <a:r>
              <a:rPr lang="en-US" b="1" dirty="0" err="1" smtClean="0"/>
              <a:t>Gini</a:t>
            </a:r>
            <a:r>
              <a:rPr lang="en-US" b="1" dirty="0" smtClean="0"/>
              <a:t> Index)</a:t>
            </a:r>
          </a:p>
          <a:p>
            <a:pPr lvl="0"/>
            <a:r>
              <a:rPr lang="en-US" dirty="0" smtClean="0"/>
              <a:t>Measures </a:t>
            </a:r>
            <a:r>
              <a:rPr lang="en-US" b="1" dirty="0" smtClean="0"/>
              <a:t>how mixed the classes are within a node</a:t>
            </a:r>
            <a:r>
              <a:rPr lang="en-US" dirty="0" smtClean="0"/>
              <a:t>.</a:t>
            </a:r>
          </a:p>
          <a:p>
            <a:pPr lvl="0"/>
            <a:r>
              <a:rPr lang="en-US" dirty="0" smtClean="0"/>
              <a:t>It represents the </a:t>
            </a:r>
            <a:r>
              <a:rPr lang="en-US" b="1" dirty="0" smtClean="0"/>
              <a:t>probability of misclassifying a randomly chosen sample</a:t>
            </a:r>
            <a:r>
              <a:rPr lang="en-US" dirty="0" smtClean="0"/>
              <a:t>.</a:t>
            </a:r>
          </a:p>
          <a:p>
            <a:r>
              <a:rPr lang="en-US" b="1" dirty="0" smtClean="0"/>
              <a:t>Example:</a:t>
            </a:r>
            <a:endParaRPr lang="en-US" dirty="0" smtClean="0"/>
          </a:p>
          <a:p>
            <a:pPr lvl="0"/>
            <a:r>
              <a:rPr lang="en-US" dirty="0" smtClean="0"/>
              <a:t>Dataset: 50% Yes, 50% No</a:t>
            </a:r>
          </a:p>
          <a:p>
            <a:pPr lvl="0"/>
            <a:r>
              <a:rPr lang="en-US" dirty="0" smtClean="0"/>
              <a:t>High impurity because samples belong to different classes.</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Information Gain VS </a:t>
            </a:r>
            <a:r>
              <a:rPr lang="en-US" b="1" dirty="0" err="1" smtClean="0"/>
              <a:t>Gini</a:t>
            </a:r>
            <a:r>
              <a:rPr lang="en-US" b="1" dirty="0" smtClean="0"/>
              <a:t> Index</a:t>
            </a:r>
            <a:endParaRPr lang="en-US" dirty="0"/>
          </a:p>
        </p:txBody>
      </p:sp>
      <p:sp>
        <p:nvSpPr>
          <p:cNvPr id="3" name="Content Placeholder 2"/>
          <p:cNvSpPr>
            <a:spLocks noGrp="1"/>
          </p:cNvSpPr>
          <p:nvPr>
            <p:ph idx="1"/>
          </p:nvPr>
        </p:nvSpPr>
        <p:spPr/>
        <p:txBody>
          <a:bodyPr>
            <a:normAutofit fontScale="92500" lnSpcReduction="10000"/>
          </a:bodyPr>
          <a:lstStyle/>
          <a:p>
            <a:pPr lvl="0"/>
            <a:r>
              <a:rPr lang="en-US" b="1" dirty="0" smtClean="0"/>
              <a:t>Uncertainty:</a:t>
            </a:r>
            <a:r>
              <a:rPr lang="en-US" dirty="0" smtClean="0"/>
              <a:t> “How unsure am I about the class label?”</a:t>
            </a:r>
          </a:p>
          <a:p>
            <a:pPr lvl="0"/>
            <a:r>
              <a:rPr lang="en-US" b="1" dirty="0" smtClean="0"/>
              <a:t>Impurity:</a:t>
            </a:r>
            <a:r>
              <a:rPr lang="en-US" dirty="0" smtClean="0"/>
              <a:t> “How mixed are the classes in this node?”</a:t>
            </a:r>
          </a:p>
          <a:p>
            <a:r>
              <a:rPr lang="en-US" dirty="0" smtClean="0"/>
              <a:t>In practice, both measure </a:t>
            </a:r>
            <a:r>
              <a:rPr lang="en-US" b="1" dirty="0" smtClean="0"/>
              <a:t>how good a split is in a decision tree</a:t>
            </a:r>
            <a:r>
              <a:rPr lang="en-US" dirty="0" smtClean="0"/>
              <a:t>, and they usually produce </a:t>
            </a:r>
            <a:r>
              <a:rPr lang="en-US" b="1" dirty="0" smtClean="0"/>
              <a:t>very similar results</a:t>
            </a:r>
            <a:r>
              <a:rPr lang="en-US" dirty="0" smtClean="0"/>
              <a:t>.</a:t>
            </a:r>
          </a:p>
          <a:p>
            <a:r>
              <a:rPr lang="en-US" dirty="0" smtClean="0"/>
              <a:t>In a </a:t>
            </a:r>
            <a:r>
              <a:rPr lang="en-US" b="1" dirty="0" smtClean="0"/>
              <a:t>decision tree</a:t>
            </a:r>
            <a:r>
              <a:rPr lang="en-US" dirty="0" smtClean="0"/>
              <a:t>, a </a:t>
            </a:r>
            <a:r>
              <a:rPr lang="en-US" b="1" dirty="0" smtClean="0"/>
              <a:t>node</a:t>
            </a:r>
            <a:r>
              <a:rPr lang="en-US" dirty="0" smtClean="0"/>
              <a:t> is a </a:t>
            </a:r>
            <a:r>
              <a:rPr lang="en-US" b="1" dirty="0" smtClean="0"/>
              <a:t>point where the data is evaluated or split</a:t>
            </a:r>
            <a:r>
              <a:rPr lang="en-US" dirty="0" smtClean="0"/>
              <a:t> based on a feature (attribute).</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Information Gain VS </a:t>
            </a:r>
            <a:r>
              <a:rPr lang="en-US" b="1" dirty="0" err="1" smtClean="0"/>
              <a:t>Gini</a:t>
            </a:r>
            <a:r>
              <a:rPr lang="en-US" b="1" dirty="0" smtClean="0"/>
              <a:t> Index</a:t>
            </a:r>
            <a:endParaRPr lang="en-US" dirty="0"/>
          </a:p>
        </p:txBody>
      </p:sp>
      <p:sp>
        <p:nvSpPr>
          <p:cNvPr id="3" name="Content Placeholder 2"/>
          <p:cNvSpPr>
            <a:spLocks noGrp="1"/>
          </p:cNvSpPr>
          <p:nvPr>
            <p:ph idx="1"/>
          </p:nvPr>
        </p:nvSpPr>
        <p:spPr/>
        <p:txBody>
          <a:bodyPr/>
          <a:lstStyle/>
          <a:p>
            <a:pPr lvl="0"/>
            <a:r>
              <a:rPr lang="en-US" dirty="0" smtClean="0"/>
              <a:t>Each </a:t>
            </a:r>
            <a:r>
              <a:rPr lang="en-US" b="1" dirty="0" smtClean="0"/>
              <a:t>node contains a subset of the dataset</a:t>
            </a:r>
            <a:r>
              <a:rPr lang="en-US" dirty="0" smtClean="0"/>
              <a:t>.</a:t>
            </a:r>
          </a:p>
          <a:p>
            <a:pPr lvl="0"/>
            <a:r>
              <a:rPr lang="en-US" dirty="0" smtClean="0"/>
              <a:t>Measures like </a:t>
            </a:r>
            <a:r>
              <a:rPr lang="en-US" b="1" dirty="0" smtClean="0"/>
              <a:t>Information Gain</a:t>
            </a:r>
            <a:r>
              <a:rPr lang="en-US" dirty="0" smtClean="0"/>
              <a:t> and </a:t>
            </a:r>
            <a:r>
              <a:rPr lang="en-US" b="1" dirty="0" err="1" smtClean="0"/>
              <a:t>Gini</a:t>
            </a:r>
            <a:r>
              <a:rPr lang="en-US" b="1" dirty="0" smtClean="0"/>
              <a:t> Index</a:t>
            </a:r>
            <a:r>
              <a:rPr lang="en-US" dirty="0" smtClean="0"/>
              <a:t> are used to decide </a:t>
            </a:r>
            <a:r>
              <a:rPr lang="en-US" b="1" dirty="0" smtClean="0"/>
              <a:t>how to split a node into child nodes</a:t>
            </a:r>
            <a:r>
              <a:rPr lang="en-US" dirty="0" smtClean="0"/>
              <a:t>.</a:t>
            </a:r>
          </a:p>
          <a:p>
            <a:r>
              <a:rPr lang="en-US" dirty="0" smtClean="0"/>
              <a:t>A </a:t>
            </a:r>
            <a:r>
              <a:rPr lang="en-US" b="1" dirty="0" smtClean="0"/>
              <a:t>node is a point in the decision tree where data is stored and a decision or split is made.</a:t>
            </a:r>
            <a:endParaRPr lang="en-US" dirty="0" smtClean="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err="1" smtClean="0"/>
              <a:t>Gini</a:t>
            </a:r>
            <a:r>
              <a:rPr lang="en-US" dirty="0" smtClean="0"/>
              <a:t> Index vs. Entropy</a:t>
            </a:r>
            <a:endParaRPr lang="en-US" dirty="0"/>
          </a:p>
        </p:txBody>
      </p:sp>
      <p:graphicFrame>
        <p:nvGraphicFramePr>
          <p:cNvPr id="4" name="Table 3"/>
          <p:cNvGraphicFramePr>
            <a:graphicFrameLocks noGrp="1"/>
          </p:cNvGraphicFramePr>
          <p:nvPr/>
        </p:nvGraphicFramePr>
        <p:xfrm>
          <a:off x="762000" y="990602"/>
          <a:ext cx="7772400" cy="5181597"/>
        </p:xfrm>
        <a:graphic>
          <a:graphicData uri="http://schemas.openxmlformats.org/drawingml/2006/table">
            <a:tbl>
              <a:tblPr/>
              <a:tblGrid>
                <a:gridCol w="1750395"/>
                <a:gridCol w="2764387"/>
                <a:gridCol w="3257618"/>
              </a:tblGrid>
              <a:tr h="345440">
                <a:tc>
                  <a:txBody>
                    <a:bodyPr/>
                    <a:lstStyle/>
                    <a:p>
                      <a:pPr>
                        <a:lnSpc>
                          <a:spcPct val="107000"/>
                        </a:lnSpc>
                        <a:spcAft>
                          <a:spcPts val="0"/>
                        </a:spcAft>
                      </a:pPr>
                      <a:r>
                        <a:rPr lang="en-US" sz="1800" b="1" dirty="0">
                          <a:latin typeface="Calibri"/>
                          <a:ea typeface="Calibri"/>
                          <a:cs typeface="Times New Roman"/>
                        </a:rPr>
                        <a:t>Feature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b="1" dirty="0">
                          <a:latin typeface="Calibri"/>
                          <a:ea typeface="Calibri"/>
                          <a:cs typeface="Times New Roman"/>
                        </a:rPr>
                        <a:t>Entropy</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b="1">
                          <a:latin typeface="Calibri"/>
                          <a:ea typeface="Calibri"/>
                          <a:cs typeface="Times New Roman"/>
                        </a:rPr>
                        <a:t>Gini Index</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5440">
                <a:tc>
                  <a:txBody>
                    <a:bodyPr/>
                    <a:lstStyle/>
                    <a:p>
                      <a:pPr>
                        <a:lnSpc>
                          <a:spcPct val="107000"/>
                        </a:lnSpc>
                        <a:spcAft>
                          <a:spcPts val="0"/>
                        </a:spcAft>
                      </a:pPr>
                      <a:r>
                        <a:rPr lang="en-US" sz="1800" b="1">
                          <a:latin typeface="Calibri"/>
                          <a:ea typeface="Calibri"/>
                          <a:cs typeface="Times New Roman"/>
                        </a:rPr>
                        <a:t>Formula</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dirty="0">
                          <a:latin typeface="Calibri"/>
                          <a:ea typeface="Calibri"/>
                          <a:cs typeface="Times New Roman"/>
                        </a:rPr>
                        <a:t>Entropy=−∑p</a:t>
                      </a:r>
                      <a:r>
                        <a:rPr lang="en-US" sz="1800" baseline="-25000" dirty="0">
                          <a:latin typeface="Calibri"/>
                          <a:ea typeface="Calibri"/>
                          <a:cs typeface="Times New Roman"/>
                        </a:rPr>
                        <a:t>i</a:t>
                      </a:r>
                      <a:r>
                        <a:rPr lang="en-US" sz="1800" dirty="0">
                          <a:latin typeface="Calibri"/>
                          <a:ea typeface="Calibri"/>
                          <a:cs typeface="Times New Roman"/>
                        </a:rPr>
                        <a:t>log</a:t>
                      </a:r>
                      <a:r>
                        <a:rPr lang="en-US" sz="1800" baseline="-25000" dirty="0">
                          <a:latin typeface="Calibri"/>
                          <a:ea typeface="Calibri"/>
                          <a:cs typeface="Calibri"/>
                        </a:rPr>
                        <a:t>2</a:t>
                      </a:r>
                      <a:r>
                        <a:rPr lang="en-US" sz="1800" dirty="0">
                          <a:latin typeface="Calibri"/>
                          <a:ea typeface="Calibri"/>
                          <a:cs typeface="Calibri"/>
                        </a:rPr>
                        <a:t>p</a:t>
                      </a:r>
                      <a:r>
                        <a:rPr lang="en-US" sz="1800" baseline="-25000" dirty="0">
                          <a:latin typeface="Calibri"/>
                          <a:ea typeface="Calibri"/>
                          <a:cs typeface="Calibri"/>
                        </a:rPr>
                        <a:t>i</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a:latin typeface="Calibri"/>
                          <a:ea typeface="Calibri"/>
                          <a:cs typeface="Times New Roman"/>
                        </a:rPr>
                        <a:t>Gini=1−∑p</a:t>
                      </a:r>
                      <a:r>
                        <a:rPr lang="en-US" sz="1800" baseline="-25000">
                          <a:latin typeface="Calibri"/>
                          <a:ea typeface="Calibri"/>
                          <a:cs typeface="Times New Roman"/>
                        </a:rPr>
                        <a:t>i</a:t>
                      </a:r>
                      <a:r>
                        <a:rPr lang="en-US" sz="1800" baseline="30000">
                          <a:latin typeface="Calibri"/>
                          <a:ea typeface="Calibri"/>
                          <a:cs typeface="Times New Roman"/>
                        </a:rPr>
                        <a:t>2</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0879">
                <a:tc>
                  <a:txBody>
                    <a:bodyPr/>
                    <a:lstStyle/>
                    <a:p>
                      <a:pPr>
                        <a:lnSpc>
                          <a:spcPct val="107000"/>
                        </a:lnSpc>
                        <a:spcAft>
                          <a:spcPts val="0"/>
                        </a:spcAft>
                      </a:pPr>
                      <a:r>
                        <a:rPr lang="en-US" sz="1800" b="1">
                          <a:latin typeface="Calibri"/>
                          <a:ea typeface="Calibri"/>
                          <a:cs typeface="Times New Roman"/>
                        </a:rPr>
                        <a:t>Range</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dirty="0">
                          <a:latin typeface="Calibri"/>
                          <a:ea typeface="Calibri"/>
                          <a:cs typeface="Times New Roman"/>
                        </a:rPr>
                        <a:t>0 to log</a:t>
                      </a:r>
                      <a:r>
                        <a:rPr lang="en-US" sz="1800" baseline="-25000" dirty="0">
                          <a:latin typeface="Calibri"/>
                          <a:ea typeface="Calibri"/>
                          <a:cs typeface="Calibri"/>
                        </a:rPr>
                        <a:t>2</a:t>
                      </a:r>
                      <a:r>
                        <a:rPr lang="en-US" sz="1800" dirty="0">
                          <a:latin typeface="Calibri"/>
                          <a:ea typeface="Calibri"/>
                          <a:cs typeface="Calibri"/>
                        </a:rPr>
                        <a:t>(n)</a:t>
                      </a:r>
                      <a:r>
                        <a:rPr lang="en-US" sz="1800" dirty="0">
                          <a:latin typeface="Calibri"/>
                          <a:ea typeface="Calibri"/>
                          <a:cs typeface="Times New Roman"/>
                        </a:rPr>
                        <a:t> </a:t>
                      </a:r>
                    </a:p>
                    <a:p>
                      <a:pPr>
                        <a:lnSpc>
                          <a:spcPct val="107000"/>
                        </a:lnSpc>
                        <a:spcAft>
                          <a:spcPts val="0"/>
                        </a:spcAft>
                      </a:pPr>
                      <a:r>
                        <a:rPr lang="en-US" sz="1800" dirty="0">
                          <a:latin typeface="Calibri"/>
                          <a:ea typeface="Calibri"/>
                          <a:cs typeface="Times New Roman"/>
                        </a:rPr>
                        <a:t>(Binary case: 0 to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dirty="0">
                          <a:latin typeface="Calibri"/>
                          <a:ea typeface="Calibri"/>
                          <a:cs typeface="Times New Roman"/>
                        </a:rPr>
                        <a:t>0 to 1 (Binary case: 0 to 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0879">
                <a:tc>
                  <a:txBody>
                    <a:bodyPr/>
                    <a:lstStyle/>
                    <a:p>
                      <a:pPr>
                        <a:lnSpc>
                          <a:spcPct val="107000"/>
                        </a:lnSpc>
                        <a:spcAft>
                          <a:spcPts val="0"/>
                        </a:spcAft>
                      </a:pPr>
                      <a:r>
                        <a:rPr lang="en-US" sz="1800" b="1">
                          <a:latin typeface="Calibri"/>
                          <a:ea typeface="Calibri"/>
                          <a:cs typeface="Times New Roman"/>
                        </a:rPr>
                        <a:t>Meaning</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a:latin typeface="Calibri"/>
                          <a:ea typeface="Calibri"/>
                          <a:cs typeface="Times New Roman"/>
                        </a:rPr>
                        <a:t>Measure of information gain (uncertainty)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dirty="0">
                          <a:latin typeface="Calibri"/>
                          <a:ea typeface="Calibri"/>
                          <a:cs typeface="Times New Roman"/>
                        </a:rPr>
                        <a:t>Probability of incorrect classification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0879">
                <a:tc>
                  <a:txBody>
                    <a:bodyPr/>
                    <a:lstStyle/>
                    <a:p>
                      <a:pPr>
                        <a:lnSpc>
                          <a:spcPct val="107000"/>
                        </a:lnSpc>
                        <a:spcAft>
                          <a:spcPts val="0"/>
                        </a:spcAft>
                      </a:pPr>
                      <a:r>
                        <a:rPr lang="en-US" sz="1800" b="1">
                          <a:latin typeface="Calibri"/>
                          <a:ea typeface="Calibri"/>
                          <a:cs typeface="Times New Roman"/>
                        </a:rPr>
                        <a:t>Impurity Interpretation</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a:latin typeface="Calibri"/>
                          <a:ea typeface="Calibri"/>
                          <a:cs typeface="Times New Roman"/>
                        </a:rPr>
                        <a:t>Lower Entropy means less randomness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dirty="0">
                          <a:latin typeface="Calibri"/>
                          <a:ea typeface="Calibri"/>
                          <a:cs typeface="Times New Roman"/>
                        </a:rPr>
                        <a:t>Lower </a:t>
                      </a:r>
                      <a:r>
                        <a:rPr lang="en-US" sz="1800" dirty="0" err="1">
                          <a:latin typeface="Calibri"/>
                          <a:ea typeface="Calibri"/>
                          <a:cs typeface="Times New Roman"/>
                        </a:rPr>
                        <a:t>Gini</a:t>
                      </a:r>
                      <a:r>
                        <a:rPr lang="en-US" sz="1800" dirty="0">
                          <a:latin typeface="Calibri"/>
                          <a:ea typeface="Calibri"/>
                          <a:cs typeface="Times New Roman"/>
                        </a:rPr>
                        <a:t> means purer node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0879">
                <a:tc>
                  <a:txBody>
                    <a:bodyPr/>
                    <a:lstStyle/>
                    <a:p>
                      <a:pPr>
                        <a:lnSpc>
                          <a:spcPct val="107000"/>
                        </a:lnSpc>
                        <a:spcAft>
                          <a:spcPts val="0"/>
                        </a:spcAft>
                      </a:pPr>
                      <a:r>
                        <a:rPr lang="en-US" sz="1800" b="1">
                          <a:latin typeface="Calibri"/>
                          <a:ea typeface="Calibri"/>
                          <a:cs typeface="Times New Roman"/>
                        </a:rPr>
                        <a:t>Computation</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a:latin typeface="Calibri"/>
                          <a:ea typeface="Calibri"/>
                          <a:cs typeface="Times New Roman"/>
                        </a:rPr>
                        <a:t>Slower (logarithm calculations)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dirty="0">
                          <a:latin typeface="Calibri"/>
                          <a:ea typeface="Calibri"/>
                          <a:cs typeface="Times New Roman"/>
                        </a:rPr>
                        <a:t>Faster (no logarithm)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0879">
                <a:tc>
                  <a:txBody>
                    <a:bodyPr/>
                    <a:lstStyle/>
                    <a:p>
                      <a:pPr>
                        <a:lnSpc>
                          <a:spcPct val="107000"/>
                        </a:lnSpc>
                        <a:spcAft>
                          <a:spcPts val="0"/>
                        </a:spcAft>
                      </a:pPr>
                      <a:r>
                        <a:rPr lang="en-US" sz="1800" b="1">
                          <a:latin typeface="Calibri"/>
                          <a:ea typeface="Calibri"/>
                          <a:cs typeface="Times New Roman"/>
                        </a:rPr>
                        <a:t>Decision Tree Algorithm</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a:latin typeface="Calibri"/>
                          <a:ea typeface="Calibri"/>
                          <a:cs typeface="Times New Roman"/>
                        </a:rPr>
                        <a:t>Used in </a:t>
                      </a:r>
                      <a:r>
                        <a:rPr lang="en-US" sz="1800" b="1">
                          <a:latin typeface="Calibri"/>
                          <a:ea typeface="Calibri"/>
                          <a:cs typeface="Times New Roman"/>
                        </a:rPr>
                        <a:t>ID3</a:t>
                      </a:r>
                      <a:r>
                        <a:rPr lang="en-US" sz="1800">
                          <a:latin typeface="Calibri"/>
                          <a:ea typeface="Calibri"/>
                          <a:cs typeface="Times New Roman"/>
                        </a:rPr>
                        <a:t>, </a:t>
                      </a:r>
                      <a:r>
                        <a:rPr lang="en-US" sz="1800" b="1">
                          <a:latin typeface="Calibri"/>
                          <a:ea typeface="Calibri"/>
                          <a:cs typeface="Times New Roman"/>
                        </a:rPr>
                        <a:t>C4.5</a:t>
                      </a:r>
                      <a:r>
                        <a:rPr lang="en-US" sz="1800">
                          <a:latin typeface="Calibri"/>
                          <a:ea typeface="Calibri"/>
                          <a:cs typeface="Times New Roman"/>
                        </a:rPr>
                        <a:t>, and </a:t>
                      </a:r>
                      <a:r>
                        <a:rPr lang="en-US" sz="1800" b="1">
                          <a:latin typeface="Calibri"/>
                          <a:ea typeface="Calibri"/>
                          <a:cs typeface="Times New Roman"/>
                        </a:rPr>
                        <a:t>C5.0</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dirty="0">
                          <a:latin typeface="Calibri"/>
                          <a:ea typeface="Calibri"/>
                          <a:cs typeface="Times New Roman"/>
                        </a:rPr>
                        <a:t>Used in </a:t>
                      </a:r>
                      <a:r>
                        <a:rPr lang="en-US" sz="1800" b="1" dirty="0">
                          <a:latin typeface="Calibri"/>
                          <a:ea typeface="Calibri"/>
                          <a:cs typeface="Times New Roman"/>
                        </a:rPr>
                        <a:t>CART</a:t>
                      </a:r>
                      <a:r>
                        <a:rPr lang="en-US" sz="1800" dirty="0">
                          <a:latin typeface="Calibri"/>
                          <a:ea typeface="Calibri"/>
                          <a:cs typeface="Times New Roman"/>
                        </a:rPr>
                        <a:t> (Classification and Regression Trees)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36322">
                <a:tc>
                  <a:txBody>
                    <a:bodyPr/>
                    <a:lstStyle/>
                    <a:p>
                      <a:pPr>
                        <a:lnSpc>
                          <a:spcPct val="107000"/>
                        </a:lnSpc>
                        <a:spcAft>
                          <a:spcPts val="0"/>
                        </a:spcAft>
                      </a:pPr>
                      <a:r>
                        <a:rPr lang="en-US" sz="1800" b="1">
                          <a:latin typeface="Calibri"/>
                          <a:ea typeface="Calibri"/>
                          <a:cs typeface="Times New Roman"/>
                        </a:rPr>
                        <a:t>Splitting Preference</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a:latin typeface="Calibri"/>
                          <a:ea typeface="Calibri"/>
                          <a:cs typeface="Times New Roman"/>
                        </a:rPr>
                        <a:t>More sensitive to class distribution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dirty="0">
                          <a:latin typeface="Calibri"/>
                          <a:ea typeface="Calibri"/>
                          <a:cs typeface="Times New Roman"/>
                        </a:rPr>
                        <a:t>Prefers </a:t>
                      </a:r>
                      <a:r>
                        <a:rPr lang="en-US" sz="1800" b="1" dirty="0">
                          <a:latin typeface="Calibri"/>
                          <a:ea typeface="Calibri"/>
                          <a:cs typeface="Times New Roman"/>
                        </a:rPr>
                        <a:t>larger class proportions</a:t>
                      </a:r>
                      <a:r>
                        <a:rPr lang="en-US" sz="1800" dirty="0">
                          <a:latin typeface="Calibri"/>
                          <a:ea typeface="Calibri"/>
                          <a:cs typeface="Times New Roman"/>
                        </a:rPr>
                        <a:t> (biased toward majority class)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01762"/>
          </a:xfrm>
        </p:spPr>
        <p:txBody>
          <a:bodyPr>
            <a:noAutofit/>
          </a:bodyPr>
          <a:lstStyle/>
          <a:p>
            <a:r>
              <a:rPr lang="en-US" sz="4800" b="1" dirty="0" smtClean="0"/>
              <a:t>Entropy is more sensitive to class distribution than </a:t>
            </a:r>
            <a:r>
              <a:rPr lang="en-US" sz="4800" b="1" dirty="0" err="1" smtClean="0"/>
              <a:t>Gini</a:t>
            </a:r>
            <a:endParaRPr lang="en-US" sz="4800" b="1" dirty="0"/>
          </a:p>
        </p:txBody>
      </p:sp>
      <p:sp>
        <p:nvSpPr>
          <p:cNvPr id="3" name="Content Placeholder 2"/>
          <p:cNvSpPr>
            <a:spLocks noGrp="1"/>
          </p:cNvSpPr>
          <p:nvPr>
            <p:ph idx="1"/>
          </p:nvPr>
        </p:nvSpPr>
        <p:spPr>
          <a:xfrm>
            <a:off x="457200" y="1905000"/>
            <a:ext cx="8229600" cy="4221163"/>
          </a:xfrm>
        </p:spPr>
        <p:txBody>
          <a:bodyPr/>
          <a:lstStyle/>
          <a:p>
            <a:r>
              <a:rPr lang="en-US" b="1" dirty="0" smtClean="0"/>
              <a:t>Entropy reacts more strongly to changes in class probabilities</a:t>
            </a:r>
            <a:r>
              <a:rPr lang="en-US" dirty="0" smtClean="0"/>
              <a:t> than </a:t>
            </a:r>
            <a:r>
              <a:rPr lang="en-US" dirty="0" err="1" smtClean="0"/>
              <a:t>Gini</a:t>
            </a:r>
            <a:r>
              <a:rPr lang="en-US" dirty="0" smtClean="0"/>
              <a:t> Index does. </a:t>
            </a:r>
          </a:p>
          <a:p>
            <a:r>
              <a:rPr lang="en-US" dirty="0" smtClean="0"/>
              <a:t>In other words, Entropy values </a:t>
            </a:r>
            <a:r>
              <a:rPr lang="en-US" b="1" dirty="0" smtClean="0"/>
              <a:t>change more significantly</a:t>
            </a:r>
            <a:r>
              <a:rPr lang="en-US" dirty="0" smtClean="0"/>
              <a:t> when class probabilities become more imbalanced, while </a:t>
            </a:r>
            <a:r>
              <a:rPr lang="en-US" dirty="0" err="1" smtClean="0"/>
              <a:t>Gini</a:t>
            </a:r>
            <a:r>
              <a:rPr lang="en-US" dirty="0" smtClean="0"/>
              <a:t> changes more gradually.</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sz="2400" b="1" dirty="0" smtClean="0"/>
              <a:t>Entropy is more sensitive to class distribution than </a:t>
            </a:r>
            <a:r>
              <a:rPr lang="en-US" sz="2400" b="1" dirty="0" err="1" smtClean="0"/>
              <a:t>Gini</a:t>
            </a:r>
            <a:endParaRPr lang="en-US" sz="2400" dirty="0"/>
          </a:p>
        </p:txBody>
      </p:sp>
      <p:sp>
        <p:nvSpPr>
          <p:cNvPr id="3" name="Content Placeholder 2"/>
          <p:cNvSpPr>
            <a:spLocks noGrp="1"/>
          </p:cNvSpPr>
          <p:nvPr>
            <p:ph idx="1"/>
          </p:nvPr>
        </p:nvSpPr>
        <p:spPr>
          <a:xfrm>
            <a:off x="457200" y="914400"/>
            <a:ext cx="8229600" cy="5211763"/>
          </a:xfrm>
        </p:spPr>
        <p:txBody>
          <a:bodyPr/>
          <a:lstStyle/>
          <a:p>
            <a:r>
              <a:rPr lang="en-US" sz="2400" b="1" dirty="0" smtClean="0"/>
              <a:t>Example: Two-Class Classification (Binary Case)</a:t>
            </a:r>
          </a:p>
          <a:p>
            <a:r>
              <a:rPr lang="en-US" sz="2400" dirty="0" smtClean="0"/>
              <a:t>Suppose we have </a:t>
            </a:r>
            <a:r>
              <a:rPr lang="en-US" sz="2400" b="1" dirty="0" smtClean="0"/>
              <a:t>a node in a decision tree </a:t>
            </a:r>
            <a:r>
              <a:rPr lang="en-US" sz="2400" dirty="0" smtClean="0"/>
              <a:t>with two classes: </a:t>
            </a:r>
            <a:r>
              <a:rPr lang="en-US" sz="2400" b="1" dirty="0" smtClean="0"/>
              <a:t>Class A and Class B</a:t>
            </a:r>
            <a:r>
              <a:rPr lang="en-US" sz="2400" dirty="0" smtClean="0"/>
              <a:t>. The probabilities of these classes are </a:t>
            </a:r>
            <a:r>
              <a:rPr lang="en-US" sz="2400" b="1" dirty="0" smtClean="0"/>
              <a:t>p and 1−p</a:t>
            </a:r>
            <a:r>
              <a:rPr lang="en-US" sz="2400" dirty="0" smtClean="0"/>
              <a:t>.</a:t>
            </a:r>
          </a:p>
          <a:p>
            <a:r>
              <a:rPr lang="en-IN" sz="2400" dirty="0" smtClean="0"/>
              <a:t>Then,</a:t>
            </a:r>
          </a:p>
          <a:p>
            <a:pPr>
              <a:buNone/>
            </a:pPr>
            <a:r>
              <a:rPr lang="en-IN" sz="2400" dirty="0" smtClean="0"/>
              <a:t>      and  </a:t>
            </a:r>
          </a:p>
          <a:p>
            <a:r>
              <a:rPr lang="en-US" sz="2400" dirty="0" smtClean="0"/>
              <a:t>Now, let’s see how these values change for different probabilities:</a:t>
            </a:r>
            <a:endParaRPr lang="en-IN" sz="2400" dirty="0" smtClean="0"/>
          </a:p>
          <a:p>
            <a:endParaRPr lang="en-US" dirty="0" smtClean="0"/>
          </a:p>
          <a:p>
            <a:endParaRPr lang="en-US" dirty="0"/>
          </a:p>
        </p:txBody>
      </p:sp>
      <p:pic>
        <p:nvPicPr>
          <p:cNvPr id="99330" name="Picture 2"/>
          <p:cNvPicPr>
            <a:picLocks noChangeAspect="1" noChangeArrowheads="1"/>
          </p:cNvPicPr>
          <p:nvPr/>
        </p:nvPicPr>
        <p:blipFill>
          <a:blip r:embed="rId2"/>
          <a:srcRect/>
          <a:stretch>
            <a:fillRect/>
          </a:stretch>
        </p:blipFill>
        <p:spPr bwMode="auto">
          <a:xfrm>
            <a:off x="1600200" y="2514600"/>
            <a:ext cx="5829300" cy="600075"/>
          </a:xfrm>
          <a:prstGeom prst="rect">
            <a:avLst/>
          </a:prstGeom>
          <a:noFill/>
          <a:ln w="9525">
            <a:noFill/>
            <a:miter lim="800000"/>
            <a:headEnd/>
            <a:tailEnd/>
          </a:ln>
          <a:effectLst/>
        </p:spPr>
      </p:pic>
      <p:pic>
        <p:nvPicPr>
          <p:cNvPr id="99331" name="Picture 3"/>
          <p:cNvPicPr>
            <a:picLocks noChangeAspect="1" noChangeArrowheads="1"/>
          </p:cNvPicPr>
          <p:nvPr/>
        </p:nvPicPr>
        <p:blipFill>
          <a:blip r:embed="rId3"/>
          <a:srcRect/>
          <a:stretch>
            <a:fillRect/>
          </a:stretch>
        </p:blipFill>
        <p:spPr bwMode="auto">
          <a:xfrm>
            <a:off x="1600200" y="3048000"/>
            <a:ext cx="3638550" cy="514350"/>
          </a:xfrm>
          <a:prstGeom prst="rect">
            <a:avLst/>
          </a:prstGeom>
          <a:noFill/>
          <a:ln w="9525">
            <a:noFill/>
            <a:miter lim="800000"/>
            <a:headEnd/>
            <a:tailEnd/>
          </a:ln>
          <a:effectLst/>
        </p:spPr>
      </p:pic>
      <p:graphicFrame>
        <p:nvGraphicFramePr>
          <p:cNvPr id="6" name="Table 5"/>
          <p:cNvGraphicFramePr>
            <a:graphicFrameLocks noGrp="1"/>
          </p:cNvGraphicFramePr>
          <p:nvPr/>
        </p:nvGraphicFramePr>
        <p:xfrm>
          <a:off x="2819400" y="4038600"/>
          <a:ext cx="5029201" cy="2348105"/>
        </p:xfrm>
        <a:graphic>
          <a:graphicData uri="http://schemas.openxmlformats.org/drawingml/2006/table">
            <a:tbl>
              <a:tblPr/>
              <a:tblGrid>
                <a:gridCol w="2497737"/>
                <a:gridCol w="1265732"/>
                <a:gridCol w="1265732"/>
              </a:tblGrid>
              <a:tr h="320040">
                <a:tc>
                  <a:txBody>
                    <a:bodyPr/>
                    <a:lstStyle/>
                    <a:p>
                      <a:pPr>
                        <a:lnSpc>
                          <a:spcPct val="107000"/>
                        </a:lnSpc>
                        <a:spcAft>
                          <a:spcPts val="0"/>
                        </a:spcAft>
                      </a:pPr>
                      <a:r>
                        <a:rPr lang="en-IN" sz="2400" b="1" dirty="0">
                          <a:latin typeface="Calibri"/>
                          <a:ea typeface="Calibri"/>
                          <a:cs typeface="Times New Roman"/>
                        </a:rPr>
                        <a:t>p (Probability of class A)</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b="1" dirty="0">
                          <a:latin typeface="Calibri"/>
                          <a:ea typeface="Calibri"/>
                          <a:cs typeface="Times New Roman"/>
                        </a:rPr>
                        <a:t>Entropy</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b="1">
                          <a:latin typeface="Calibri"/>
                          <a:ea typeface="Calibri"/>
                          <a:cs typeface="Times New Roman"/>
                        </a:rPr>
                        <a:t>Gini Index</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0040">
                <a:tc>
                  <a:txBody>
                    <a:bodyPr/>
                    <a:lstStyle/>
                    <a:p>
                      <a:pPr>
                        <a:lnSpc>
                          <a:spcPct val="107000"/>
                        </a:lnSpc>
                        <a:spcAft>
                          <a:spcPts val="0"/>
                        </a:spcAft>
                      </a:pPr>
                      <a:r>
                        <a:rPr lang="en-IN" sz="2400">
                          <a:latin typeface="Calibri"/>
                          <a:ea typeface="Calibri"/>
                          <a:cs typeface="Times New Roman"/>
                        </a:rPr>
                        <a:t>0.5</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a:latin typeface="Calibri"/>
                          <a:ea typeface="Calibri"/>
                          <a:cs typeface="Times New Roman"/>
                        </a:rPr>
                        <a:t>1.00</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dirty="0">
                          <a:latin typeface="Calibri"/>
                          <a:ea typeface="Calibri"/>
                          <a:cs typeface="Times New Roman"/>
                        </a:rPr>
                        <a:t>0.50</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0040">
                <a:tc>
                  <a:txBody>
                    <a:bodyPr/>
                    <a:lstStyle/>
                    <a:p>
                      <a:pPr>
                        <a:lnSpc>
                          <a:spcPct val="107000"/>
                        </a:lnSpc>
                        <a:spcAft>
                          <a:spcPts val="0"/>
                        </a:spcAft>
                      </a:pPr>
                      <a:r>
                        <a:rPr lang="en-IN" sz="2400">
                          <a:latin typeface="Calibri"/>
                          <a:ea typeface="Calibri"/>
                          <a:cs typeface="Times New Roman"/>
                        </a:rPr>
                        <a:t>0.7</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a:latin typeface="Calibri"/>
                          <a:ea typeface="Calibri"/>
                          <a:cs typeface="Times New Roman"/>
                        </a:rPr>
                        <a:t>0.88</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dirty="0">
                          <a:latin typeface="Calibri"/>
                          <a:ea typeface="Calibri"/>
                          <a:cs typeface="Times New Roman"/>
                        </a:rPr>
                        <a:t>0.42</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0040">
                <a:tc>
                  <a:txBody>
                    <a:bodyPr/>
                    <a:lstStyle/>
                    <a:p>
                      <a:pPr>
                        <a:lnSpc>
                          <a:spcPct val="107000"/>
                        </a:lnSpc>
                        <a:spcAft>
                          <a:spcPts val="0"/>
                        </a:spcAft>
                      </a:pPr>
                      <a:r>
                        <a:rPr lang="en-IN" sz="2400">
                          <a:latin typeface="Calibri"/>
                          <a:ea typeface="Calibri"/>
                          <a:cs typeface="Times New Roman"/>
                        </a:rPr>
                        <a:t>0.9</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a:latin typeface="Calibri"/>
                          <a:ea typeface="Calibri"/>
                          <a:cs typeface="Times New Roman"/>
                        </a:rPr>
                        <a:t>0.47</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dirty="0">
                          <a:latin typeface="Calibri"/>
                          <a:ea typeface="Calibri"/>
                          <a:cs typeface="Times New Roman"/>
                        </a:rPr>
                        <a:t>0.18</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0040">
                <a:tc>
                  <a:txBody>
                    <a:bodyPr/>
                    <a:lstStyle/>
                    <a:p>
                      <a:pPr>
                        <a:lnSpc>
                          <a:spcPct val="107000"/>
                        </a:lnSpc>
                        <a:spcAft>
                          <a:spcPts val="0"/>
                        </a:spcAft>
                      </a:pPr>
                      <a:r>
                        <a:rPr lang="en-IN" sz="2400">
                          <a:latin typeface="Calibri"/>
                          <a:ea typeface="Calibri"/>
                          <a:cs typeface="Times New Roman"/>
                        </a:rPr>
                        <a:t>0.99</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a:latin typeface="Calibri"/>
                          <a:ea typeface="Calibri"/>
                          <a:cs typeface="Times New Roman"/>
                        </a:rPr>
                        <a:t>0.08</a:t>
                      </a:r>
                      <a:endParaRPr lang="en-US"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2400" dirty="0">
                          <a:latin typeface="Calibri"/>
                          <a:ea typeface="Calibri"/>
                          <a:cs typeface="Times New Roman"/>
                        </a:rPr>
                        <a:t>0.02</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
            </a:r>
            <a:br>
              <a:rPr lang="en-US" b="1" dirty="0" smtClean="0"/>
            </a:br>
            <a:r>
              <a:rPr lang="en-US" b="1" dirty="0" smtClean="0"/>
              <a:t>What does it Mean?</a:t>
            </a:r>
            <a:br>
              <a:rPr lang="en-US" b="1" dirty="0" smtClean="0"/>
            </a:br>
            <a:endParaRPr lang="en-US" dirty="0"/>
          </a:p>
        </p:txBody>
      </p:sp>
      <p:sp>
        <p:nvSpPr>
          <p:cNvPr id="3" name="Content Placeholder 2"/>
          <p:cNvSpPr>
            <a:spLocks noGrp="1"/>
          </p:cNvSpPr>
          <p:nvPr>
            <p:ph idx="1"/>
          </p:nvPr>
        </p:nvSpPr>
        <p:spPr>
          <a:xfrm>
            <a:off x="457200" y="990600"/>
            <a:ext cx="8305800" cy="5135563"/>
          </a:xfrm>
        </p:spPr>
        <p:txBody>
          <a:bodyPr>
            <a:normAutofit fontScale="85000" lnSpcReduction="10000"/>
          </a:bodyPr>
          <a:lstStyle/>
          <a:p>
            <a:r>
              <a:rPr lang="en-US" b="1" dirty="0" smtClean="0"/>
              <a:t>Entropy decreases more sharply as one class becomes dominant.</a:t>
            </a:r>
            <a:endParaRPr lang="en-US" dirty="0" smtClean="0"/>
          </a:p>
          <a:p>
            <a:pPr lvl="1"/>
            <a:r>
              <a:rPr lang="en-US" dirty="0" smtClean="0"/>
              <a:t>At </a:t>
            </a:r>
            <a:r>
              <a:rPr lang="en-US" b="1" dirty="0" smtClean="0"/>
              <a:t>p=0.9</a:t>
            </a:r>
            <a:r>
              <a:rPr lang="en-US" dirty="0" smtClean="0"/>
              <a:t>, Entropy drops to </a:t>
            </a:r>
            <a:r>
              <a:rPr lang="en-US" b="1" dirty="0" smtClean="0"/>
              <a:t>0.47</a:t>
            </a:r>
            <a:r>
              <a:rPr lang="en-US" dirty="0" smtClean="0"/>
              <a:t>, while </a:t>
            </a:r>
            <a:r>
              <a:rPr lang="en-US" dirty="0" err="1" smtClean="0"/>
              <a:t>Gini</a:t>
            </a:r>
            <a:r>
              <a:rPr lang="en-US" dirty="0" smtClean="0"/>
              <a:t> is still </a:t>
            </a:r>
            <a:r>
              <a:rPr lang="en-US" b="1" dirty="0" smtClean="0"/>
              <a:t>0.18</a:t>
            </a:r>
            <a:r>
              <a:rPr lang="en-US" dirty="0" smtClean="0"/>
              <a:t>.</a:t>
            </a:r>
          </a:p>
          <a:p>
            <a:pPr lvl="1"/>
            <a:r>
              <a:rPr lang="en-US" dirty="0" smtClean="0"/>
              <a:t>At </a:t>
            </a:r>
            <a:r>
              <a:rPr lang="en-US" b="1" dirty="0" smtClean="0"/>
              <a:t>p=0.99</a:t>
            </a:r>
            <a:r>
              <a:rPr lang="en-US" dirty="0" smtClean="0"/>
              <a:t>, Entropy is almost </a:t>
            </a:r>
            <a:r>
              <a:rPr lang="en-US" b="1" dirty="0" smtClean="0"/>
              <a:t>0.08</a:t>
            </a:r>
            <a:r>
              <a:rPr lang="en-US" dirty="0" smtClean="0"/>
              <a:t>, whereas </a:t>
            </a:r>
            <a:r>
              <a:rPr lang="en-US" dirty="0" err="1" smtClean="0"/>
              <a:t>Gini</a:t>
            </a:r>
            <a:r>
              <a:rPr lang="en-US" dirty="0" smtClean="0"/>
              <a:t> is </a:t>
            </a:r>
            <a:r>
              <a:rPr lang="en-US" b="1" dirty="0" smtClean="0"/>
              <a:t>0.02</a:t>
            </a:r>
            <a:r>
              <a:rPr lang="en-US" dirty="0" smtClean="0"/>
              <a:t>.</a:t>
            </a:r>
          </a:p>
          <a:p>
            <a:r>
              <a:rPr lang="en-US" b="1" dirty="0" err="1" smtClean="0"/>
              <a:t>Gini</a:t>
            </a:r>
            <a:r>
              <a:rPr lang="en-US" b="1" dirty="0" smtClean="0"/>
              <a:t> Index decreases more gradually</a:t>
            </a:r>
            <a:r>
              <a:rPr lang="en-US" dirty="0" smtClean="0"/>
              <a:t> as class imbalance increases.</a:t>
            </a:r>
          </a:p>
          <a:p>
            <a:r>
              <a:rPr lang="en-US" dirty="0" smtClean="0"/>
              <a:t>Thus, </a:t>
            </a:r>
            <a:r>
              <a:rPr lang="en-US" b="1" dirty="0" smtClean="0"/>
              <a:t>Entropy is more sensitive</a:t>
            </a:r>
            <a:r>
              <a:rPr lang="en-US" dirty="0" smtClean="0"/>
              <a:t> because it penalizes uncertainty more heavily. </a:t>
            </a:r>
          </a:p>
          <a:p>
            <a:r>
              <a:rPr lang="en-US" dirty="0" smtClean="0"/>
              <a:t>If the class distribution is highly imbalanced, Entropy drops significantly, while </a:t>
            </a:r>
            <a:r>
              <a:rPr lang="en-US" dirty="0" err="1" smtClean="0"/>
              <a:t>Gini</a:t>
            </a:r>
            <a:r>
              <a:rPr lang="en-US" dirty="0" smtClean="0"/>
              <a:t> decreases more smoothly.</a:t>
            </a:r>
          </a:p>
          <a:p>
            <a:r>
              <a:rPr lang="en-IN" dirty="0" smtClean="0"/>
              <a:t>So, for </a:t>
            </a:r>
            <a:r>
              <a:rPr lang="en-US" dirty="0" smtClean="0"/>
              <a:t>highly imbalanced datasets, </a:t>
            </a:r>
            <a:r>
              <a:rPr lang="en-US" dirty="0" err="1" smtClean="0"/>
              <a:t>Gini</a:t>
            </a:r>
            <a:r>
              <a:rPr lang="en-US" dirty="0" smtClean="0"/>
              <a:t> Index is generally a better choice than Entropy.</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dirty="0" smtClean="0"/>
              <a:t>For </a:t>
            </a:r>
            <a:r>
              <a:rPr lang="en-US" dirty="0" smtClean="0"/>
              <a:t>Highly Imbalanced Datasets</a:t>
            </a:r>
            <a:endParaRPr lang="en-US" dirty="0"/>
          </a:p>
        </p:txBody>
      </p:sp>
      <p:sp>
        <p:nvSpPr>
          <p:cNvPr id="3" name="Content Placeholder 2"/>
          <p:cNvSpPr>
            <a:spLocks noGrp="1"/>
          </p:cNvSpPr>
          <p:nvPr>
            <p:ph idx="1"/>
          </p:nvPr>
        </p:nvSpPr>
        <p:spPr>
          <a:xfrm>
            <a:off x="457200" y="1066800"/>
            <a:ext cx="8229600" cy="5059363"/>
          </a:xfrm>
        </p:spPr>
        <p:txBody>
          <a:bodyPr>
            <a:normAutofit lnSpcReduction="10000"/>
          </a:bodyPr>
          <a:lstStyle/>
          <a:p>
            <a:r>
              <a:rPr lang="en-US" b="1" dirty="0" smtClean="0"/>
              <a:t>Entropy penalizes impurity more aggressively</a:t>
            </a:r>
            <a:r>
              <a:rPr lang="en-US" dirty="0" smtClean="0"/>
              <a:t>, which can lead to deeper trees with more splits to separate the minority class completely.</a:t>
            </a:r>
          </a:p>
          <a:p>
            <a:r>
              <a:rPr lang="en-US" b="1" dirty="0" smtClean="0"/>
              <a:t>Issue with Entropy in Imbalanced Datasets:</a:t>
            </a:r>
            <a:endParaRPr lang="en-US" dirty="0" smtClean="0"/>
          </a:p>
          <a:p>
            <a:pPr>
              <a:buNone/>
            </a:pPr>
            <a:r>
              <a:rPr lang="en-US" dirty="0" smtClean="0"/>
              <a:t>	- Since Entropy reacts more strongly to class imbalance, it may create a </a:t>
            </a:r>
            <a:r>
              <a:rPr lang="en-US" b="1" dirty="0" smtClean="0"/>
              <a:t>very deep tree</a:t>
            </a:r>
            <a:r>
              <a:rPr lang="en-US" dirty="0" smtClean="0"/>
              <a:t> to minimize uncertainty.</a:t>
            </a:r>
          </a:p>
          <a:p>
            <a:pPr>
              <a:buNone/>
            </a:pPr>
            <a:r>
              <a:rPr lang="en-US" dirty="0" smtClean="0"/>
              <a:t>	- This can lead to </a:t>
            </a:r>
            <a:r>
              <a:rPr lang="en-US" b="1" dirty="0" err="1" smtClean="0"/>
              <a:t>overfitting</a:t>
            </a:r>
            <a:r>
              <a:rPr lang="en-US" dirty="0" smtClean="0"/>
              <a:t>, where the tree models noise instead of patterns.</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smtClean="0"/>
              <a:t>For </a:t>
            </a:r>
            <a:r>
              <a:rPr lang="en-US" dirty="0" smtClean="0"/>
              <a:t>Highly Imbalanced Datasets</a:t>
            </a:r>
            <a:endParaRPr lang="en-US"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r>
              <a:rPr lang="en-US" dirty="0" smtClean="0"/>
              <a:t>If your dataset is highly imbalanced:</a:t>
            </a:r>
            <a:br>
              <a:rPr lang="en-US" dirty="0" smtClean="0"/>
            </a:br>
            <a:r>
              <a:rPr lang="en-US" dirty="0" smtClean="0"/>
              <a:t>- </a:t>
            </a:r>
            <a:r>
              <a:rPr lang="en-US" b="1" dirty="0" smtClean="0"/>
              <a:t>Use </a:t>
            </a:r>
            <a:r>
              <a:rPr lang="en-US" b="1" dirty="0" err="1" smtClean="0"/>
              <a:t>Gini</a:t>
            </a:r>
            <a:r>
              <a:rPr lang="en-US" b="1" dirty="0" smtClean="0"/>
              <a:t> Index</a:t>
            </a:r>
            <a:r>
              <a:rPr lang="en-US" dirty="0" smtClean="0"/>
              <a:t> if you prioritize computational efficiency and want a balanced tree.</a:t>
            </a:r>
            <a:br>
              <a:rPr lang="en-US" dirty="0" smtClean="0"/>
            </a:br>
            <a:r>
              <a:rPr lang="en-US" dirty="0" smtClean="0"/>
              <a:t>- </a:t>
            </a:r>
            <a:r>
              <a:rPr lang="en-US" b="1" dirty="0" smtClean="0"/>
              <a:t>Use Entropy</a:t>
            </a:r>
            <a:r>
              <a:rPr lang="en-US" dirty="0" smtClean="0"/>
              <a:t> if you want to aggressively separate the minority class (but beware of </a:t>
            </a:r>
            <a:r>
              <a:rPr lang="en-US" dirty="0" err="1" smtClean="0"/>
              <a:t>overfitting</a:t>
            </a:r>
            <a:r>
              <a:rPr lang="en-US" dirty="0" smtClean="0"/>
              <a:t>).</a:t>
            </a:r>
          </a:p>
          <a:p>
            <a:r>
              <a:rPr lang="en-US" b="1" dirty="0" smtClean="0"/>
              <a:t>Alternative Approaches to Handle Imbalance:</a:t>
            </a:r>
            <a:r>
              <a:rPr lang="en-US" dirty="0" smtClean="0"/>
              <a:t/>
            </a:r>
            <a:br>
              <a:rPr lang="en-US" dirty="0" smtClean="0"/>
            </a:br>
            <a:r>
              <a:rPr lang="en-US" dirty="0" smtClean="0"/>
              <a:t>Regardless of </a:t>
            </a:r>
            <a:r>
              <a:rPr lang="en-US" dirty="0" err="1" smtClean="0"/>
              <a:t>Gini</a:t>
            </a:r>
            <a:r>
              <a:rPr lang="en-US" dirty="0" smtClean="0"/>
              <a:t> or Entropy, you should also consider:</a:t>
            </a:r>
          </a:p>
          <a:p>
            <a:pPr>
              <a:buNone/>
            </a:pPr>
            <a:r>
              <a:rPr lang="en-US" b="1" dirty="0" smtClean="0"/>
              <a:t>	- Balancing the dataset</a:t>
            </a:r>
            <a:r>
              <a:rPr lang="en-US" dirty="0" smtClean="0"/>
              <a:t> (e.g., SMOTE, oversampling, </a:t>
            </a:r>
            <a:r>
              <a:rPr lang="en-US" dirty="0" err="1" smtClean="0"/>
              <a:t>undersampling</a:t>
            </a:r>
            <a:r>
              <a:rPr lang="en-US" dirty="0" smtClean="0"/>
              <a:t>).</a:t>
            </a:r>
          </a:p>
          <a:p>
            <a:pPr>
              <a:buNone/>
            </a:pPr>
            <a:r>
              <a:rPr lang="en-US" b="1" dirty="0" smtClean="0"/>
              <a:t>	- Cost-sensitive learning</a:t>
            </a:r>
            <a:r>
              <a:rPr lang="en-US" dirty="0" smtClean="0"/>
              <a:t> (assigning higher weights to the minority class).</a:t>
            </a:r>
          </a:p>
          <a:p>
            <a:pPr>
              <a:buNone/>
            </a:pPr>
            <a:r>
              <a:rPr lang="en-IN" dirty="0" smtClean="0"/>
              <a:t>	- </a:t>
            </a:r>
            <a:r>
              <a:rPr lang="en-IN" b="1" dirty="0" smtClean="0"/>
              <a:t>Ensemble</a:t>
            </a:r>
            <a:r>
              <a:rPr lang="en-IN" dirty="0" smtClean="0"/>
              <a:t> of decision trees</a:t>
            </a:r>
            <a:endParaRPr lang="en-US" dirty="0" smtClean="0"/>
          </a:p>
          <a:p>
            <a:r>
              <a:rPr lang="en-US" b="1" dirty="0" smtClean="0"/>
              <a:t>Pruning the decision tree</a:t>
            </a:r>
            <a:r>
              <a:rPr lang="en-US" dirty="0" smtClean="0"/>
              <a:t> to prevent </a:t>
            </a:r>
            <a:r>
              <a:rPr lang="en-US" dirty="0" err="1" smtClean="0"/>
              <a:t>overfitting</a:t>
            </a:r>
            <a:r>
              <a:rPr lang="en-US" dirty="0" smtClean="0"/>
              <a:t>.</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What is </a:t>
            </a:r>
            <a:r>
              <a:rPr lang="en-US" b="1" dirty="0" err="1" smtClean="0"/>
              <a:t>Overfitting</a:t>
            </a:r>
            <a:r>
              <a:rPr lang="en-US" b="1" dirty="0" smtClean="0"/>
              <a:t> in Decision Trees?</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r>
              <a:rPr lang="en-US" dirty="0" err="1" smtClean="0"/>
              <a:t>Overfitting</a:t>
            </a:r>
            <a:r>
              <a:rPr lang="en-US" dirty="0" smtClean="0"/>
              <a:t> occurs when a decision tree model learns not only the underlying pattern in the training data but also </a:t>
            </a:r>
            <a:r>
              <a:rPr lang="en-US" b="1" dirty="0" smtClean="0"/>
              <a:t>irrelevant details or noise</a:t>
            </a:r>
            <a:r>
              <a:rPr lang="en-US" dirty="0" smtClean="0"/>
              <a:t>, making it </a:t>
            </a:r>
            <a:r>
              <a:rPr lang="en-US" b="1" dirty="0" smtClean="0"/>
              <a:t>too complex and highly specific</a:t>
            </a:r>
            <a:r>
              <a:rPr lang="en-US" dirty="0" smtClean="0"/>
              <a:t> to the training dataset. </a:t>
            </a:r>
          </a:p>
          <a:p>
            <a:pPr marL="342900" lvl="1" indent="-342900">
              <a:buFont typeface="Arial" pitchFamily="34" charset="0"/>
              <a:buChar char="•"/>
            </a:pPr>
            <a:r>
              <a:rPr lang="en-US" sz="3200" dirty="0" smtClean="0"/>
              <a:t>As a result, the model performs exceptionally well on training data but </a:t>
            </a:r>
            <a:r>
              <a:rPr lang="en-US" sz="3200" b="1" dirty="0" smtClean="0"/>
              <a:t>generalizes poorly</a:t>
            </a:r>
            <a:r>
              <a:rPr lang="en-US" sz="3200" dirty="0" smtClean="0"/>
              <a:t> to unseen test data, i.e., Poor accuracy for unseen samples.</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pPr marL="342900" lvl="0" indent="-342900">
              <a:spcBef>
                <a:spcPct val="20000"/>
              </a:spcBef>
            </a:pPr>
            <a:r>
              <a:rPr lang="en-US" sz="2200" b="1" dirty="0">
                <a:solidFill>
                  <a:prstClr val="black"/>
                </a:solidFill>
                <a:ea typeface="+mn-ea"/>
                <a:cs typeface="+mn-cs"/>
              </a:rPr>
              <a:t>Causes of </a:t>
            </a:r>
            <a:r>
              <a:rPr lang="en-US" sz="2200" b="1" dirty="0" err="1">
                <a:solidFill>
                  <a:prstClr val="black"/>
                </a:solidFill>
                <a:ea typeface="+mn-ea"/>
                <a:cs typeface="+mn-cs"/>
              </a:rPr>
              <a:t>Overfitting</a:t>
            </a:r>
            <a:r>
              <a:rPr lang="en-US" sz="2200" b="1" dirty="0">
                <a:solidFill>
                  <a:prstClr val="black"/>
                </a:solidFill>
                <a:ea typeface="+mn-ea"/>
                <a:cs typeface="+mn-cs"/>
              </a:rPr>
              <a:t> in Decision </a:t>
            </a:r>
            <a:r>
              <a:rPr lang="en-US" sz="2200" b="1" dirty="0" smtClean="0">
                <a:solidFill>
                  <a:prstClr val="black"/>
                </a:solidFill>
                <a:ea typeface="+mn-ea"/>
                <a:cs typeface="+mn-cs"/>
              </a:rPr>
              <a:t>Trees</a:t>
            </a:r>
            <a:endParaRPr lang="en-US"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r>
              <a:rPr lang="en-US" b="1" dirty="0" smtClean="0"/>
              <a:t>Excessive Depth (Too Many Splits)</a:t>
            </a:r>
            <a:endParaRPr lang="en-US" dirty="0" smtClean="0"/>
          </a:p>
          <a:p>
            <a:pPr lvl="1"/>
            <a:r>
              <a:rPr lang="en-US" sz="3200" dirty="0" smtClean="0"/>
              <a:t>Decision trees tend to grow deep when they attempt to capture every minor variation in the training data, leading to an overly complex structure.</a:t>
            </a:r>
          </a:p>
          <a:p>
            <a:r>
              <a:rPr lang="en-US" b="1" dirty="0" smtClean="0"/>
              <a:t>Small Leaf Nodes (Few Samples Per Leaf)</a:t>
            </a:r>
            <a:endParaRPr lang="en-US" dirty="0" smtClean="0"/>
          </a:p>
          <a:p>
            <a:pPr lvl="1"/>
            <a:r>
              <a:rPr lang="en-US" sz="3200" dirty="0" smtClean="0"/>
              <a:t>If each leaf node contains very few training samples, the model memorizes the training data instead of learning a </a:t>
            </a:r>
            <a:r>
              <a:rPr lang="en-US" sz="3200" dirty="0" err="1" smtClean="0"/>
              <a:t>generalizable</a:t>
            </a:r>
            <a:r>
              <a:rPr lang="en-US" sz="3200" dirty="0" smtClean="0"/>
              <a:t> rule.</a:t>
            </a:r>
          </a:p>
          <a:p>
            <a:r>
              <a:rPr lang="en-US" b="1" dirty="0" smtClean="0"/>
              <a:t>High Variance in the Data (Noisy Features)</a:t>
            </a:r>
            <a:endParaRPr lang="en-US" dirty="0" smtClean="0"/>
          </a:p>
          <a:p>
            <a:pPr lvl="1"/>
            <a:r>
              <a:rPr lang="en-US" sz="3200" dirty="0" smtClean="0"/>
              <a:t>Decision trees are sensitive to noise, and they may </a:t>
            </a:r>
            <a:r>
              <a:rPr lang="en-US" sz="3200" b="1" dirty="0" smtClean="0"/>
              <a:t>split excessively</a:t>
            </a:r>
            <a:r>
              <a:rPr lang="en-US" sz="3200" dirty="0" smtClean="0"/>
              <a:t> based on noisy or irrelevant features rather than meaningful patterns.</a:t>
            </a: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b="1" dirty="0" smtClean="0">
                <a:solidFill>
                  <a:prstClr val="black"/>
                </a:solidFill>
              </a:rPr>
              <a:t>Causes of </a:t>
            </a:r>
            <a:r>
              <a:rPr lang="en-US" sz="2200" b="1" dirty="0" err="1" smtClean="0">
                <a:solidFill>
                  <a:prstClr val="black"/>
                </a:solidFill>
              </a:rPr>
              <a:t>Overfitting</a:t>
            </a:r>
            <a:r>
              <a:rPr lang="en-US" sz="2200" b="1" dirty="0" smtClean="0">
                <a:solidFill>
                  <a:prstClr val="black"/>
                </a:solidFill>
              </a:rPr>
              <a:t> in Decision Trees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Imbalanced Datasets</a:t>
            </a:r>
            <a:endParaRPr lang="en-US" dirty="0" smtClean="0"/>
          </a:p>
          <a:p>
            <a:pPr lvl="1"/>
            <a:r>
              <a:rPr lang="en-US" sz="3200" dirty="0" smtClean="0"/>
              <a:t>If certain classes dominate the dataset, the decision tree may </a:t>
            </a:r>
            <a:r>
              <a:rPr lang="en-US" sz="3200" b="1" dirty="0" smtClean="0"/>
              <a:t>focus too much on those</a:t>
            </a:r>
            <a:r>
              <a:rPr lang="en-US" sz="3200" dirty="0" smtClean="0"/>
              <a:t> and fail to generalize well for underrepresented classes.</a:t>
            </a:r>
          </a:p>
          <a:p>
            <a:r>
              <a:rPr lang="en-US" b="1" dirty="0" smtClean="0"/>
              <a:t>Lack of Feature Selection</a:t>
            </a:r>
            <a:endParaRPr lang="en-US" dirty="0" smtClean="0"/>
          </a:p>
          <a:p>
            <a:pPr lvl="1"/>
            <a:r>
              <a:rPr lang="en-US" sz="3200" dirty="0" smtClean="0"/>
              <a:t>Using </a:t>
            </a:r>
            <a:r>
              <a:rPr lang="en-US" sz="3200" b="1" dirty="0" smtClean="0"/>
              <a:t>all available features</a:t>
            </a:r>
            <a:r>
              <a:rPr lang="en-US" sz="3200" dirty="0" smtClean="0"/>
              <a:t> without evaluating their importance can lead to </a:t>
            </a:r>
            <a:r>
              <a:rPr lang="en-US" sz="3200" b="1" dirty="0" smtClean="0"/>
              <a:t>redundant or irrelevant splits</a:t>
            </a:r>
            <a:r>
              <a:rPr lang="en-US" sz="3200" dirty="0" smtClean="0"/>
              <a:t>, making the tree unnecessarily complex.</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pPr marL="342900" lvl="0" indent="-342900">
              <a:spcBef>
                <a:spcPct val="20000"/>
              </a:spcBef>
            </a:pPr>
            <a:r>
              <a:rPr lang="en-US" sz="2000" b="1" dirty="0">
                <a:solidFill>
                  <a:prstClr val="black"/>
                </a:solidFill>
                <a:ea typeface="+mn-ea"/>
                <a:cs typeface="+mn-cs"/>
              </a:rPr>
              <a:t>Methods to Prevent </a:t>
            </a:r>
            <a:r>
              <a:rPr lang="en-US" sz="2000" b="1" dirty="0" err="1">
                <a:solidFill>
                  <a:prstClr val="black"/>
                </a:solidFill>
                <a:ea typeface="+mn-ea"/>
                <a:cs typeface="+mn-cs"/>
              </a:rPr>
              <a:t>Overfitting</a:t>
            </a:r>
            <a:r>
              <a:rPr lang="en-US" sz="2000" b="1" dirty="0">
                <a:solidFill>
                  <a:prstClr val="black"/>
                </a:solidFill>
                <a:ea typeface="+mn-ea"/>
                <a:cs typeface="+mn-cs"/>
              </a:rPr>
              <a:t> in Decision </a:t>
            </a:r>
            <a:r>
              <a:rPr lang="en-US" sz="2000" b="1" dirty="0" smtClean="0">
                <a:solidFill>
                  <a:prstClr val="black"/>
                </a:solidFill>
                <a:ea typeface="+mn-ea"/>
                <a:cs typeface="+mn-cs"/>
              </a:rPr>
              <a:t>Trees</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20000"/>
          </a:bodyPr>
          <a:lstStyle/>
          <a:p>
            <a:pPr>
              <a:buNone/>
            </a:pPr>
            <a:r>
              <a:rPr lang="en-US" b="1" dirty="0" smtClean="0"/>
              <a:t>1. Pruning (Post-Pruning and Pre-Pruning)</a:t>
            </a:r>
          </a:p>
          <a:p>
            <a:r>
              <a:rPr lang="en-US" dirty="0" smtClean="0"/>
              <a:t>Pruning is a technique used to </a:t>
            </a:r>
            <a:r>
              <a:rPr lang="en-US" b="1" dirty="0" smtClean="0"/>
              <a:t>reduce the complexity</a:t>
            </a:r>
            <a:r>
              <a:rPr lang="en-US" dirty="0" smtClean="0"/>
              <a:t> of a decision tree by </a:t>
            </a:r>
            <a:r>
              <a:rPr lang="en-US" b="1" dirty="0" smtClean="0"/>
              <a:t>removing unnecessary branches</a:t>
            </a:r>
            <a:r>
              <a:rPr lang="en-US" dirty="0" smtClean="0"/>
              <a:t> that do not contribute significantly to decision-making.</a:t>
            </a:r>
          </a:p>
          <a:p>
            <a:r>
              <a:rPr lang="en-US" b="1" dirty="0" smtClean="0"/>
              <a:t>Pre-Pruning (Early Stopping)</a:t>
            </a:r>
            <a:endParaRPr lang="en-US" dirty="0" smtClean="0"/>
          </a:p>
          <a:p>
            <a:pPr lvl="1"/>
            <a:r>
              <a:rPr lang="en-US" dirty="0" smtClean="0"/>
              <a:t>Stop the tree from growing too deep by limiting its complexity </a:t>
            </a:r>
            <a:r>
              <a:rPr lang="en-US" b="1" dirty="0" smtClean="0"/>
              <a:t>during training</a:t>
            </a:r>
            <a:r>
              <a:rPr lang="en-US" dirty="0" smtClean="0"/>
              <a:t>.</a:t>
            </a:r>
          </a:p>
          <a:p>
            <a:pPr lvl="1"/>
            <a:r>
              <a:rPr lang="en-US" b="1" dirty="0" smtClean="0"/>
              <a:t>Techniques:</a:t>
            </a:r>
            <a:endParaRPr lang="en-US" dirty="0" smtClean="0"/>
          </a:p>
          <a:p>
            <a:pPr lvl="2"/>
            <a:r>
              <a:rPr lang="en-US" b="1" dirty="0" smtClean="0"/>
              <a:t>Max Depth:</a:t>
            </a:r>
            <a:r>
              <a:rPr lang="en-US" dirty="0" smtClean="0"/>
              <a:t> Set a limit on how deep the tree can grow.</a:t>
            </a:r>
          </a:p>
          <a:p>
            <a:pPr lvl="2"/>
            <a:r>
              <a:rPr lang="en-US" b="1" dirty="0" smtClean="0"/>
              <a:t>Min Samples per Leaf:</a:t>
            </a:r>
            <a:r>
              <a:rPr lang="en-US" dirty="0" smtClean="0"/>
              <a:t> Specify the minimum number of samples required in a leaf node.</a:t>
            </a:r>
          </a:p>
          <a:p>
            <a:pPr lvl="2"/>
            <a:r>
              <a:rPr lang="en-US" b="1" dirty="0" smtClean="0"/>
              <a:t>Min Samples per Split:</a:t>
            </a:r>
            <a:r>
              <a:rPr lang="en-US" dirty="0" smtClean="0"/>
              <a:t> Ensure a minimum number of samples required to split a node.</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prstClr val="black"/>
                </a:solidFill>
              </a:rPr>
              <a:t>Methods to Prevent </a:t>
            </a:r>
            <a:r>
              <a:rPr lang="en-US" b="1" dirty="0" err="1" smtClean="0">
                <a:solidFill>
                  <a:prstClr val="black"/>
                </a:solidFill>
              </a:rPr>
              <a:t>Overfitting</a:t>
            </a:r>
            <a:r>
              <a:rPr lang="en-US" b="1" dirty="0" smtClean="0">
                <a:solidFill>
                  <a:prstClr val="black"/>
                </a:solidFill>
              </a:rPr>
              <a:t> in Decision Trees</a:t>
            </a:r>
            <a:endParaRPr lang="en-US" dirty="0"/>
          </a:p>
        </p:txBody>
      </p:sp>
      <p:sp>
        <p:nvSpPr>
          <p:cNvPr id="3" name="Content Placeholder 2"/>
          <p:cNvSpPr>
            <a:spLocks noGrp="1"/>
          </p:cNvSpPr>
          <p:nvPr>
            <p:ph idx="1"/>
          </p:nvPr>
        </p:nvSpPr>
        <p:spPr/>
        <p:txBody>
          <a:bodyPr/>
          <a:lstStyle/>
          <a:p>
            <a:r>
              <a:rPr lang="en-US" b="1" dirty="0" smtClean="0"/>
              <a:t>Post-Pruning (Cost Complexity Pruning or Reduced Error Pruning)</a:t>
            </a:r>
            <a:endParaRPr lang="en-US" dirty="0" smtClean="0"/>
          </a:p>
          <a:p>
            <a:pPr lvl="1"/>
            <a:r>
              <a:rPr lang="en-US" dirty="0" smtClean="0"/>
              <a:t>Grow the full tree first and then </a:t>
            </a:r>
            <a:r>
              <a:rPr lang="en-US" b="1" dirty="0" smtClean="0"/>
              <a:t>remove branches</a:t>
            </a:r>
            <a:r>
              <a:rPr lang="en-US" dirty="0" smtClean="0"/>
              <a:t> that do not improve test accuracy.</a:t>
            </a:r>
          </a:p>
          <a:p>
            <a:pPr lvl="1"/>
            <a:r>
              <a:rPr lang="en-US" b="1" dirty="0" smtClean="0"/>
              <a:t>Techniques:</a:t>
            </a:r>
            <a:endParaRPr lang="en-US" dirty="0" smtClean="0"/>
          </a:p>
          <a:p>
            <a:pPr lvl="2"/>
            <a:r>
              <a:rPr lang="en-US" dirty="0" smtClean="0"/>
              <a:t>Use </a:t>
            </a:r>
            <a:r>
              <a:rPr lang="en-US" b="1" dirty="0" smtClean="0"/>
              <a:t>cross-validation</a:t>
            </a:r>
            <a:r>
              <a:rPr lang="en-US" dirty="0" smtClean="0"/>
              <a:t> to decide which branches to prune.</a:t>
            </a:r>
          </a:p>
          <a:p>
            <a:pPr lvl="2"/>
            <a:r>
              <a:rPr lang="en-US" dirty="0" smtClean="0"/>
              <a:t>Set a pruning parameter </a:t>
            </a:r>
            <a:r>
              <a:rPr lang="en-US" b="1" dirty="0" smtClean="0"/>
              <a:t>α</a:t>
            </a:r>
            <a:r>
              <a:rPr lang="en-US" dirty="0" smtClean="0"/>
              <a:t> (alpha) in </a:t>
            </a:r>
            <a:r>
              <a:rPr lang="en-US" b="1" dirty="0" smtClean="0"/>
              <a:t>Cost Complexity Pruning (CCP)</a:t>
            </a:r>
            <a:r>
              <a:rPr lang="en-US" dirty="0" smtClean="0"/>
              <a:t> to penalize tree complexity.</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marL="342900" lvl="0" indent="-342900">
              <a:spcBef>
                <a:spcPct val="20000"/>
              </a:spcBef>
            </a:pPr>
            <a:r>
              <a:rPr lang="en-US" sz="3200" b="1" dirty="0" smtClean="0">
                <a:solidFill>
                  <a:prstClr val="black"/>
                </a:solidFill>
                <a:ea typeface="+mn-ea"/>
                <a:cs typeface="+mn-cs"/>
              </a:rPr>
              <a:t>What is Cost Complexity Pruning (CCP)?</a:t>
            </a:r>
            <a:endParaRPr lang="en-US" dirty="0"/>
          </a:p>
        </p:txBody>
      </p:sp>
      <p:sp>
        <p:nvSpPr>
          <p:cNvPr id="3" name="Content Placeholder 2"/>
          <p:cNvSpPr>
            <a:spLocks noGrp="1"/>
          </p:cNvSpPr>
          <p:nvPr>
            <p:ph idx="1"/>
          </p:nvPr>
        </p:nvSpPr>
        <p:spPr>
          <a:xfrm>
            <a:off x="457200" y="1066800"/>
            <a:ext cx="8229600" cy="5059363"/>
          </a:xfrm>
        </p:spPr>
        <p:txBody>
          <a:bodyPr/>
          <a:lstStyle/>
          <a:p>
            <a:r>
              <a:rPr lang="en-US" dirty="0" smtClean="0"/>
              <a:t>In decision trees, we don’t just want accuracy—we also want </a:t>
            </a:r>
            <a:r>
              <a:rPr lang="en-US" b="1" dirty="0" smtClean="0"/>
              <a:t>simplicity</a:t>
            </a:r>
            <a:r>
              <a:rPr lang="en-US" dirty="0" smtClean="0"/>
              <a:t> (to avoid </a:t>
            </a:r>
            <a:r>
              <a:rPr lang="en-US" dirty="0" err="1" smtClean="0"/>
              <a:t>overfitting</a:t>
            </a:r>
            <a:r>
              <a:rPr lang="en-US" dirty="0" smtClean="0"/>
              <a:t>).</a:t>
            </a:r>
          </a:p>
          <a:p>
            <a:r>
              <a:rPr lang="en-US" dirty="0" smtClean="0"/>
              <a:t>CCP balances both using this formula:</a:t>
            </a:r>
          </a:p>
          <a:p>
            <a:endParaRPr lang="en-US" dirty="0" smtClean="0"/>
          </a:p>
          <a:p>
            <a:r>
              <a:rPr lang="en-US" b="1" dirty="0" smtClean="0"/>
              <a:t>R(T)</a:t>
            </a:r>
            <a:r>
              <a:rPr lang="en-US" dirty="0" smtClean="0"/>
              <a:t> → Error of the tree (how wrong it is)</a:t>
            </a:r>
          </a:p>
          <a:p>
            <a:r>
              <a:rPr lang="en-US" b="1" dirty="0" smtClean="0"/>
              <a:t>∣T∣</a:t>
            </a:r>
            <a:r>
              <a:rPr lang="en-US" dirty="0" smtClean="0"/>
              <a:t> → Number of leaf nodes (tree size / complexity)</a:t>
            </a:r>
          </a:p>
          <a:p>
            <a:r>
              <a:rPr lang="en-US" b="1" dirty="0" smtClean="0"/>
              <a:t>α</a:t>
            </a:r>
            <a:r>
              <a:rPr lang="en-US" dirty="0" smtClean="0"/>
              <a:t>→ Penalty for complexity</a:t>
            </a:r>
          </a:p>
          <a:p>
            <a:endParaRPr lang="en-US" dirty="0" smtClean="0"/>
          </a:p>
          <a:p>
            <a:endParaRPr lang="en-US" dirty="0"/>
          </a:p>
        </p:txBody>
      </p:sp>
      <p:pic>
        <p:nvPicPr>
          <p:cNvPr id="79874" name="Picture 2"/>
          <p:cNvPicPr>
            <a:picLocks noChangeAspect="1" noChangeArrowheads="1"/>
          </p:cNvPicPr>
          <p:nvPr/>
        </p:nvPicPr>
        <p:blipFill>
          <a:blip r:embed="rId2"/>
          <a:srcRect/>
          <a:stretch>
            <a:fillRect/>
          </a:stretch>
        </p:blipFill>
        <p:spPr bwMode="auto">
          <a:xfrm>
            <a:off x="1447800" y="3200400"/>
            <a:ext cx="2047875" cy="419100"/>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prstClr val="black"/>
                </a:solidFill>
              </a:rPr>
              <a:t>What is Cost Complexity Pruning (CCP)?</a:t>
            </a:r>
            <a:endParaRPr lang="en-US" dirty="0"/>
          </a:p>
        </p:txBody>
      </p:sp>
      <p:sp>
        <p:nvSpPr>
          <p:cNvPr id="3" name="Content Placeholder 2"/>
          <p:cNvSpPr>
            <a:spLocks noGrp="1"/>
          </p:cNvSpPr>
          <p:nvPr>
            <p:ph idx="1"/>
          </p:nvPr>
        </p:nvSpPr>
        <p:spPr/>
        <p:txBody>
          <a:bodyPr/>
          <a:lstStyle/>
          <a:p>
            <a:r>
              <a:rPr lang="en-US" b="1" dirty="0" smtClean="0"/>
              <a:t>What does α (alpha) actually do?</a:t>
            </a:r>
          </a:p>
          <a:p>
            <a:r>
              <a:rPr lang="en-US" dirty="0" smtClean="0"/>
              <a:t>Think of α as a </a:t>
            </a:r>
            <a:r>
              <a:rPr lang="en-US" b="1" dirty="0" smtClean="0"/>
              <a:t>“simplicity preference knob”</a:t>
            </a:r>
            <a:r>
              <a:rPr lang="en-US" dirty="0" smtClean="0"/>
              <a:t>:</a:t>
            </a:r>
          </a:p>
          <a:p>
            <a:r>
              <a:rPr lang="en-US" b="1" dirty="0" smtClean="0"/>
              <a:t>When α = 0</a:t>
            </a:r>
          </a:p>
          <a:p>
            <a:pPr>
              <a:buNone/>
            </a:pPr>
            <a:r>
              <a:rPr lang="en-US" dirty="0" smtClean="0"/>
              <a:t>	- No penalty for complexity</a:t>
            </a:r>
          </a:p>
          <a:p>
            <a:pPr>
              <a:buNone/>
            </a:pPr>
            <a:r>
              <a:rPr lang="en-US" dirty="0" smtClean="0"/>
              <a:t>	- Tree grows as large as possible</a:t>
            </a:r>
          </a:p>
          <a:p>
            <a:pPr>
              <a:buNone/>
            </a:pPr>
            <a:r>
              <a:rPr lang="en-US" dirty="0" smtClean="0"/>
              <a:t>	- Likely </a:t>
            </a:r>
            <a:r>
              <a:rPr lang="en-US" b="1" dirty="0" err="1" smtClean="0"/>
              <a:t>overfitting</a:t>
            </a:r>
            <a:endParaRPr lang="en-US" dirty="0" smtClean="0"/>
          </a:p>
          <a:p>
            <a:endParaRPr lang="en-US" dirty="0"/>
          </a:p>
        </p:txBody>
      </p:sp>
      <p:pic>
        <p:nvPicPr>
          <p:cNvPr id="4" name="Picture 2"/>
          <p:cNvPicPr>
            <a:picLocks noChangeAspect="1" noChangeArrowheads="1"/>
          </p:cNvPicPr>
          <p:nvPr/>
        </p:nvPicPr>
        <p:blipFill>
          <a:blip r:embed="rId2"/>
          <a:srcRect/>
          <a:stretch>
            <a:fillRect/>
          </a:stretch>
        </p:blipFill>
        <p:spPr bwMode="auto">
          <a:xfrm>
            <a:off x="6553200" y="3429000"/>
            <a:ext cx="2047875" cy="41910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smtClean="0">
                <a:solidFill>
                  <a:prstClr val="black"/>
                </a:solidFill>
              </a:rPr>
              <a:t>What is Cost Complexity Pruning (CCP)?</a:t>
            </a:r>
            <a:endParaRPr lang="en-US" dirty="0"/>
          </a:p>
        </p:txBody>
      </p:sp>
      <p:sp>
        <p:nvSpPr>
          <p:cNvPr id="3" name="Content Placeholder 2"/>
          <p:cNvSpPr>
            <a:spLocks noGrp="1"/>
          </p:cNvSpPr>
          <p:nvPr>
            <p:ph idx="1"/>
          </p:nvPr>
        </p:nvSpPr>
        <p:spPr>
          <a:xfrm>
            <a:off x="457200" y="1143000"/>
            <a:ext cx="8229600" cy="4983163"/>
          </a:xfrm>
        </p:spPr>
        <p:txBody>
          <a:bodyPr>
            <a:normAutofit/>
          </a:bodyPr>
          <a:lstStyle/>
          <a:p>
            <a:r>
              <a:rPr lang="en-US" b="1" dirty="0" smtClean="0"/>
              <a:t>When α is small (e.g., 0.001)</a:t>
            </a:r>
          </a:p>
          <a:p>
            <a:pPr>
              <a:buNone/>
            </a:pPr>
            <a:r>
              <a:rPr lang="en-US" dirty="0" smtClean="0"/>
              <a:t>	- Slight penalty</a:t>
            </a:r>
          </a:p>
          <a:p>
            <a:pPr>
              <a:buNone/>
            </a:pPr>
            <a:r>
              <a:rPr lang="en-US" dirty="0" smtClean="0"/>
              <a:t>	- Keeps most splits</a:t>
            </a:r>
          </a:p>
          <a:p>
            <a:pPr>
              <a:buNone/>
            </a:pPr>
            <a:r>
              <a:rPr lang="en-US" dirty="0" smtClean="0"/>
              <a:t>	- Mild pruning</a:t>
            </a:r>
          </a:p>
          <a:p>
            <a:r>
              <a:rPr lang="en-US" b="1" dirty="0" smtClean="0"/>
              <a:t>When α is large</a:t>
            </a:r>
          </a:p>
          <a:p>
            <a:pPr>
              <a:buNone/>
            </a:pPr>
            <a:r>
              <a:rPr lang="en-US" dirty="0" smtClean="0"/>
              <a:t>	- Heavy penalty on tree size</a:t>
            </a:r>
          </a:p>
          <a:p>
            <a:pPr>
              <a:buNone/>
            </a:pPr>
            <a:r>
              <a:rPr lang="en-US" dirty="0" smtClean="0"/>
              <a:t>	- Many branches removed</a:t>
            </a:r>
          </a:p>
          <a:p>
            <a:pPr>
              <a:buNone/>
            </a:pPr>
            <a:r>
              <a:rPr lang="en-US" dirty="0" smtClean="0"/>
              <a:t>	- Simpler tree → may </a:t>
            </a:r>
            <a:r>
              <a:rPr lang="en-US" b="1" dirty="0" err="1" smtClean="0"/>
              <a:t>underfit</a:t>
            </a:r>
            <a:endParaRPr lang="en-US" dirty="0" smtClean="0"/>
          </a:p>
          <a:p>
            <a:endParaRPr lang="en-US" dirty="0"/>
          </a:p>
        </p:txBody>
      </p:sp>
      <p:pic>
        <p:nvPicPr>
          <p:cNvPr id="4" name="Picture 2"/>
          <p:cNvPicPr>
            <a:picLocks noChangeAspect="1" noChangeArrowheads="1"/>
          </p:cNvPicPr>
          <p:nvPr/>
        </p:nvPicPr>
        <p:blipFill>
          <a:blip r:embed="rId2"/>
          <a:srcRect/>
          <a:stretch>
            <a:fillRect/>
          </a:stretch>
        </p:blipFill>
        <p:spPr bwMode="auto">
          <a:xfrm>
            <a:off x="5562600" y="2133600"/>
            <a:ext cx="2047875" cy="419100"/>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err="1" smtClean="0"/>
              <a:t>Underfitting</a:t>
            </a:r>
            <a:endParaRPr lang="en-US"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r>
              <a:rPr lang="en-US" dirty="0" err="1" smtClean="0"/>
              <a:t>Underfitting</a:t>
            </a:r>
            <a:r>
              <a:rPr lang="en-US" dirty="0" smtClean="0"/>
              <a:t> = model is too simple and fails to learn the data.</a:t>
            </a:r>
            <a:endParaRPr lang="en-US" b="1" dirty="0" smtClean="0"/>
          </a:p>
          <a:p>
            <a:r>
              <a:rPr lang="en-US" b="1" dirty="0" err="1" smtClean="0"/>
              <a:t>Underfitting</a:t>
            </a:r>
            <a:r>
              <a:rPr lang="en-US" dirty="0" smtClean="0"/>
              <a:t> happens when a model is </a:t>
            </a:r>
            <a:r>
              <a:rPr lang="en-US" b="1" dirty="0" smtClean="0"/>
              <a:t>too simple to capture the real patterns</a:t>
            </a:r>
            <a:r>
              <a:rPr lang="en-US" dirty="0" smtClean="0"/>
              <a:t> in the data.</a:t>
            </a:r>
          </a:p>
          <a:p>
            <a:r>
              <a:rPr lang="en-US" dirty="0" smtClean="0"/>
              <a:t>It’s like trying to fit a straight line to data that clearly curves.</a:t>
            </a:r>
          </a:p>
          <a:p>
            <a:r>
              <a:rPr lang="en-US" dirty="0" smtClean="0"/>
              <a:t>The model </a:t>
            </a:r>
            <a:r>
              <a:rPr lang="en-US" b="1" dirty="0" smtClean="0"/>
              <a:t>misses important relationships</a:t>
            </a:r>
            <a:r>
              <a:rPr lang="en-US" dirty="0" smtClean="0"/>
              <a:t>, so it performs poorly.</a:t>
            </a:r>
          </a:p>
          <a:p>
            <a:r>
              <a:rPr lang="en-US" b="1" dirty="0" smtClean="0"/>
              <a:t>Key characteristics</a:t>
            </a:r>
          </a:p>
          <a:p>
            <a:pPr>
              <a:buNone/>
            </a:pPr>
            <a:r>
              <a:rPr lang="en-US" dirty="0" smtClean="0"/>
              <a:t>	- High error on </a:t>
            </a:r>
            <a:r>
              <a:rPr lang="en-US" b="1" dirty="0" smtClean="0"/>
              <a:t>training data</a:t>
            </a:r>
            <a:endParaRPr lang="en-US" dirty="0" smtClean="0"/>
          </a:p>
          <a:p>
            <a:pPr>
              <a:buNone/>
            </a:pPr>
            <a:r>
              <a:rPr lang="en-US" dirty="0" smtClean="0"/>
              <a:t>	- High error on </a:t>
            </a:r>
            <a:r>
              <a:rPr lang="en-US" b="1" dirty="0" smtClean="0"/>
              <a:t>test data</a:t>
            </a:r>
            <a:endParaRPr lang="en-US" dirty="0" smtClean="0"/>
          </a:p>
          <a:p>
            <a:pPr>
              <a:buNone/>
            </a:pPr>
            <a:r>
              <a:rPr lang="en-US" dirty="0" smtClean="0"/>
              <a:t>	- Model is </a:t>
            </a:r>
            <a:r>
              <a:rPr lang="en-US" b="1" dirty="0" smtClean="0"/>
              <a:t>too simple</a:t>
            </a:r>
            <a:endParaRPr lang="en-US" dirty="0" smtClean="0"/>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err="1" smtClean="0"/>
              <a:t>Underfitting</a:t>
            </a:r>
            <a:endParaRPr lang="en-US" dirty="0"/>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r>
              <a:rPr lang="en-US" b="1" dirty="0" smtClean="0"/>
              <a:t>In decision trees</a:t>
            </a:r>
            <a:r>
              <a:rPr lang="en-US" dirty="0" smtClean="0"/>
              <a:t> </a:t>
            </a:r>
            <a:r>
              <a:rPr lang="en-US" dirty="0" err="1" smtClean="0"/>
              <a:t>Underfitting</a:t>
            </a:r>
            <a:r>
              <a:rPr lang="en-US" dirty="0" smtClean="0"/>
              <a:t> can happen if:</a:t>
            </a:r>
          </a:p>
          <a:p>
            <a:pPr>
              <a:buNone/>
            </a:pPr>
            <a:r>
              <a:rPr lang="en-US" dirty="0" smtClean="0"/>
              <a:t>	- Tree is too shallow (low depth)</a:t>
            </a:r>
          </a:p>
          <a:p>
            <a:pPr>
              <a:buNone/>
            </a:pPr>
            <a:r>
              <a:rPr lang="en-US" dirty="0" smtClean="0"/>
              <a:t>	- High </a:t>
            </a:r>
            <a:r>
              <a:rPr lang="en-US" dirty="0" err="1" smtClean="0"/>
              <a:t>min_samples_split</a:t>
            </a:r>
            <a:endParaRPr lang="en-US" dirty="0" smtClean="0"/>
          </a:p>
          <a:p>
            <a:pPr>
              <a:buNone/>
            </a:pPr>
            <a:r>
              <a:rPr lang="en-US" dirty="0" smtClean="0"/>
              <a:t>	- High </a:t>
            </a:r>
            <a:r>
              <a:rPr lang="en-US" dirty="0" err="1" smtClean="0"/>
              <a:t>min_samples_leaf</a:t>
            </a:r>
            <a:endParaRPr lang="en-US" dirty="0" smtClean="0"/>
          </a:p>
          <a:p>
            <a:pPr>
              <a:buNone/>
            </a:pPr>
            <a:r>
              <a:rPr lang="en-US" dirty="0" smtClean="0"/>
              <a:t>	- High pruning parameter (α)</a:t>
            </a:r>
          </a:p>
          <a:p>
            <a:r>
              <a:rPr lang="en-US" dirty="0" smtClean="0"/>
              <a:t>The tree becomes </a:t>
            </a:r>
            <a:r>
              <a:rPr lang="en-US" b="1" dirty="0" smtClean="0"/>
              <a:t>too small</a:t>
            </a:r>
            <a:r>
              <a:rPr lang="en-US" dirty="0" smtClean="0"/>
              <a:t> to capture patterns.</a:t>
            </a:r>
          </a:p>
          <a:p>
            <a:r>
              <a:rPr lang="en-US" b="1" dirty="0" smtClean="0"/>
              <a:t>Fixing </a:t>
            </a:r>
            <a:r>
              <a:rPr lang="en-US" b="1" dirty="0" err="1" smtClean="0"/>
              <a:t>underfitting</a:t>
            </a:r>
            <a:r>
              <a:rPr lang="en-US" b="1" dirty="0" smtClean="0"/>
              <a:t>: </a:t>
            </a:r>
            <a:r>
              <a:rPr lang="en-US" dirty="0" smtClean="0"/>
              <a:t>Increase model complexity</a:t>
            </a:r>
          </a:p>
          <a:p>
            <a:r>
              <a:rPr lang="en-US" dirty="0" smtClean="0"/>
              <a:t>For trees:</a:t>
            </a:r>
          </a:p>
          <a:p>
            <a:pPr lvl="1"/>
            <a:r>
              <a:rPr lang="en-US" dirty="0" smtClean="0"/>
              <a:t>Increase depth</a:t>
            </a:r>
          </a:p>
          <a:p>
            <a:pPr lvl="1"/>
            <a:r>
              <a:rPr lang="en-US" dirty="0" smtClean="0"/>
              <a:t>Reduce pruning (lower α)</a:t>
            </a:r>
          </a:p>
          <a:p>
            <a:pPr lvl="1"/>
            <a:r>
              <a:rPr lang="en-US" dirty="0" smtClean="0"/>
              <a:t>Lower </a:t>
            </a:r>
            <a:r>
              <a:rPr lang="en-US" dirty="0" err="1" smtClean="0"/>
              <a:t>min_samples_leaf</a:t>
            </a:r>
            <a:r>
              <a:rPr lang="en-US" dirty="0" smtClean="0"/>
              <a:t> / </a:t>
            </a:r>
            <a:r>
              <a:rPr lang="en-US" dirty="0" err="1" smtClean="0"/>
              <a:t>min_samples_split</a:t>
            </a:r>
            <a:endParaRPr lang="en-US" dirty="0" smtClean="0"/>
          </a:p>
          <a:p>
            <a:endParaRPr lang="en-US" dirty="0" smtClean="0"/>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Parameters </a:t>
            </a:r>
            <a:r>
              <a:rPr lang="en-US" dirty="0" err="1" smtClean="0"/>
              <a:t>vs</a:t>
            </a:r>
            <a:r>
              <a:rPr lang="en-US" dirty="0" smtClean="0"/>
              <a:t> </a:t>
            </a:r>
            <a:r>
              <a:rPr lang="en-US" dirty="0" err="1" smtClean="0"/>
              <a:t>Hyperparameters</a:t>
            </a:r>
            <a:r>
              <a:rPr lang="en-US" dirty="0" smtClean="0"/>
              <a:t> in a Decision Tree</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1. Parameters (learned from data)</a:t>
            </a:r>
          </a:p>
          <a:p>
            <a:r>
              <a:rPr lang="en-US" dirty="0" smtClean="0"/>
              <a:t>These are </a:t>
            </a:r>
            <a:r>
              <a:rPr lang="en-US" b="1" dirty="0" smtClean="0"/>
              <a:t>automatically learned by the model during training</a:t>
            </a:r>
            <a:r>
              <a:rPr lang="en-US" dirty="0" smtClean="0"/>
              <a:t>.</a:t>
            </a:r>
          </a:p>
          <a:p>
            <a:r>
              <a:rPr lang="en-US" dirty="0" smtClean="0"/>
              <a:t>In a decision tree, parameters include:</a:t>
            </a:r>
          </a:p>
          <a:p>
            <a:pPr>
              <a:buNone/>
            </a:pPr>
            <a:r>
              <a:rPr lang="en-US" b="1" dirty="0" smtClean="0"/>
              <a:t>	- Split rule LIKE </a:t>
            </a:r>
            <a:r>
              <a:rPr lang="en-US" i="1" dirty="0" smtClean="0"/>
              <a:t>feature A ≤ 5.3</a:t>
            </a:r>
            <a:endParaRPr lang="en-US" dirty="0" smtClean="0"/>
          </a:p>
          <a:p>
            <a:pPr>
              <a:buNone/>
            </a:pPr>
            <a:r>
              <a:rPr lang="en-US" b="1" dirty="0" smtClean="0"/>
              <a:t>	- Feature chosen at each node</a:t>
            </a:r>
            <a:endParaRPr lang="en-US" dirty="0" smtClean="0"/>
          </a:p>
          <a:p>
            <a:pPr>
              <a:buNone/>
            </a:pPr>
            <a:r>
              <a:rPr lang="en-US" b="1" dirty="0" smtClean="0"/>
              <a:t>	- Threshold values</a:t>
            </a:r>
            <a:endParaRPr lang="en-US" dirty="0" smtClean="0"/>
          </a:p>
          <a:p>
            <a:pPr>
              <a:buNone/>
            </a:pPr>
            <a:r>
              <a:rPr lang="en-US" b="1" dirty="0" smtClean="0"/>
              <a:t>	- Tree structure</a:t>
            </a:r>
            <a:r>
              <a:rPr lang="en-US" dirty="0" smtClean="0"/>
              <a:t> (which nodes split, how deep it goes)</a:t>
            </a:r>
          </a:p>
          <a:p>
            <a:pPr>
              <a:buNone/>
            </a:pPr>
            <a:r>
              <a:rPr lang="en-US" b="1" dirty="0" smtClean="0"/>
              <a:t>	- Leaf predictions</a:t>
            </a:r>
            <a:r>
              <a:rPr lang="en-US" dirty="0" smtClean="0"/>
              <a:t> (class labels or values)</a:t>
            </a:r>
          </a:p>
          <a:p>
            <a:r>
              <a:rPr lang="en-US" dirty="0" smtClean="0"/>
              <a:t>You </a:t>
            </a:r>
            <a:r>
              <a:rPr lang="en-US" b="1" dirty="0" smtClean="0"/>
              <a:t>do NOT set these manually</a:t>
            </a:r>
            <a:r>
              <a:rPr lang="en-US" dirty="0" smtClean="0"/>
              <a:t>—the algorithm figures them out.</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Parameters </a:t>
            </a:r>
            <a:r>
              <a:rPr lang="en-US" dirty="0" err="1" smtClean="0"/>
              <a:t>vs</a:t>
            </a:r>
            <a:r>
              <a:rPr lang="en-US" dirty="0" smtClean="0"/>
              <a:t> </a:t>
            </a:r>
            <a:r>
              <a:rPr lang="en-US" dirty="0" err="1" smtClean="0"/>
              <a:t>Hyperparameters</a:t>
            </a:r>
            <a:r>
              <a:rPr lang="en-US" dirty="0" smtClean="0"/>
              <a:t> in a Decision Tree</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2. </a:t>
            </a:r>
            <a:r>
              <a:rPr lang="en-US" b="1" dirty="0" err="1" smtClean="0"/>
              <a:t>Hyperparameters</a:t>
            </a:r>
            <a:r>
              <a:rPr lang="en-US" b="1" dirty="0" smtClean="0"/>
              <a:t> (set before training)</a:t>
            </a:r>
          </a:p>
          <a:p>
            <a:r>
              <a:rPr lang="en-US" dirty="0" smtClean="0"/>
              <a:t>These are </a:t>
            </a:r>
            <a:r>
              <a:rPr lang="en-US" b="1" dirty="0" smtClean="0"/>
              <a:t>controls you set to guide how the tree is built</a:t>
            </a:r>
            <a:r>
              <a:rPr lang="en-US" dirty="0" smtClean="0"/>
              <a:t>.</a:t>
            </a:r>
          </a:p>
          <a:p>
            <a:r>
              <a:rPr lang="en-US" b="1" dirty="0" smtClean="0"/>
              <a:t>Common Decision Tree </a:t>
            </a:r>
            <a:r>
              <a:rPr lang="en-US" b="1" dirty="0" err="1" smtClean="0"/>
              <a:t>Hyperparameters</a:t>
            </a:r>
            <a:endParaRPr lang="en-US" b="1" dirty="0" smtClean="0"/>
          </a:p>
          <a:p>
            <a:pPr>
              <a:buNone/>
            </a:pPr>
            <a:r>
              <a:rPr lang="en-US" b="1" dirty="0" smtClean="0"/>
              <a:t>	- Tree size &amp; shape</a:t>
            </a:r>
          </a:p>
          <a:p>
            <a:pPr>
              <a:buNone/>
            </a:pPr>
            <a:r>
              <a:rPr lang="en-US" b="1" dirty="0" smtClean="0"/>
              <a:t>	- </a:t>
            </a:r>
            <a:r>
              <a:rPr lang="en-US" b="1" dirty="0" err="1" smtClean="0"/>
              <a:t>max_depth</a:t>
            </a:r>
            <a:r>
              <a:rPr lang="en-US" dirty="0" smtClean="0"/>
              <a:t> → Maximum depth of the tree</a:t>
            </a:r>
          </a:p>
          <a:p>
            <a:pPr>
              <a:buNone/>
            </a:pPr>
            <a:r>
              <a:rPr lang="en-US" b="1" dirty="0" smtClean="0"/>
              <a:t>	- </a:t>
            </a:r>
            <a:r>
              <a:rPr lang="en-US" b="1" dirty="0" err="1" smtClean="0"/>
              <a:t>min_samples_split</a:t>
            </a:r>
            <a:r>
              <a:rPr lang="en-US" dirty="0" smtClean="0"/>
              <a:t> → Minimum samples required to split a node</a:t>
            </a:r>
          </a:p>
          <a:p>
            <a:pPr>
              <a:buNone/>
            </a:pPr>
            <a:r>
              <a:rPr lang="en-US" b="1" dirty="0" smtClean="0"/>
              <a:t>	- </a:t>
            </a:r>
            <a:r>
              <a:rPr lang="en-US" b="1" dirty="0" err="1" smtClean="0"/>
              <a:t>min_samples_leaf</a:t>
            </a:r>
            <a:r>
              <a:rPr lang="en-US" dirty="0" smtClean="0"/>
              <a:t> → Minimum samples required in a leaf</a:t>
            </a:r>
          </a:p>
          <a:p>
            <a:pPr>
              <a:buNone/>
            </a:pPr>
            <a:r>
              <a:rPr lang="en-US" b="1" dirty="0" smtClean="0"/>
              <a:t>	- </a:t>
            </a:r>
            <a:r>
              <a:rPr lang="en-US" b="1" dirty="0" err="1" smtClean="0"/>
              <a:t>max_leaf_nodes</a:t>
            </a:r>
            <a:r>
              <a:rPr lang="en-US" dirty="0" smtClean="0"/>
              <a:t> → Maximum number of leaf nodes</a:t>
            </a:r>
          </a:p>
          <a:p>
            <a:pPr>
              <a:buNone/>
            </a:pPr>
            <a:r>
              <a:rPr lang="en-US" b="1" dirty="0" smtClean="0"/>
              <a:t>	- Pruning / Regularization: </a:t>
            </a:r>
            <a:r>
              <a:rPr lang="en-US" b="1" dirty="0" err="1" smtClean="0"/>
              <a:t>ccp_alpha</a:t>
            </a:r>
            <a:r>
              <a:rPr lang="en-US" b="1" dirty="0" smtClean="0"/>
              <a:t> (α)</a:t>
            </a:r>
            <a:r>
              <a:rPr lang="en-US" dirty="0" smtClean="0"/>
              <a:t> → Controls pruning strength</a:t>
            </a:r>
            <a:br>
              <a:rPr lang="en-US" dirty="0" smtClean="0"/>
            </a:br>
            <a:r>
              <a:rPr lang="en-US" dirty="0" smtClean="0"/>
              <a:t>(higher = simpler tree)</a:t>
            </a:r>
          </a:p>
          <a:p>
            <a:pPr>
              <a:buNone/>
            </a:pPr>
            <a:endParaRPr lang="en-US" dirty="0" smtClean="0"/>
          </a:p>
          <a:p>
            <a:pPr>
              <a:buNone/>
            </a:pPr>
            <a:endParaRPr lang="en-US" dirty="0" smtClean="0"/>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sz="2000" b="1" dirty="0">
                <a:solidFill>
                  <a:prstClr val="black"/>
                </a:solidFill>
              </a:rPr>
              <a:t>Methods to Prevent </a:t>
            </a:r>
            <a:r>
              <a:rPr lang="en-US" sz="2000" b="1" dirty="0" err="1">
                <a:solidFill>
                  <a:prstClr val="black"/>
                </a:solidFill>
              </a:rPr>
              <a:t>Overfitting</a:t>
            </a:r>
            <a:r>
              <a:rPr lang="en-US" sz="2000" b="1" dirty="0">
                <a:solidFill>
                  <a:prstClr val="black"/>
                </a:solidFill>
              </a:rPr>
              <a:t> in Decision Trees</a:t>
            </a:r>
            <a:endParaRPr lang="en-US" dirty="0"/>
          </a:p>
        </p:txBody>
      </p:sp>
      <p:sp>
        <p:nvSpPr>
          <p:cNvPr id="3" name="Content Placeholder 2"/>
          <p:cNvSpPr>
            <a:spLocks noGrp="1"/>
          </p:cNvSpPr>
          <p:nvPr>
            <p:ph idx="1"/>
          </p:nvPr>
        </p:nvSpPr>
        <p:spPr>
          <a:xfrm>
            <a:off x="457200" y="838200"/>
            <a:ext cx="8229600" cy="5287963"/>
          </a:xfrm>
        </p:spPr>
        <p:txBody>
          <a:bodyPr>
            <a:normAutofit fontScale="92500" lnSpcReduction="20000"/>
          </a:bodyPr>
          <a:lstStyle/>
          <a:p>
            <a:pPr>
              <a:buNone/>
            </a:pPr>
            <a:r>
              <a:rPr lang="en-US" b="1" dirty="0" smtClean="0"/>
              <a:t>2. Using Ensemble Methods</a:t>
            </a:r>
          </a:p>
          <a:p>
            <a:r>
              <a:rPr lang="en-US" dirty="0" smtClean="0"/>
              <a:t>Instead of relying on a single decision tree, ensemble methods build </a:t>
            </a:r>
            <a:r>
              <a:rPr lang="en-US" b="1" dirty="0" smtClean="0"/>
              <a:t>multiple trees</a:t>
            </a:r>
            <a:r>
              <a:rPr lang="en-US" dirty="0" smtClean="0"/>
              <a:t> and combine their results for better generalization.</a:t>
            </a:r>
          </a:p>
          <a:p>
            <a:r>
              <a:rPr lang="en-US" b="1" dirty="0" smtClean="0"/>
              <a:t>Random Forest</a:t>
            </a:r>
            <a:endParaRPr lang="en-US" dirty="0" smtClean="0"/>
          </a:p>
          <a:p>
            <a:pPr lvl="1"/>
            <a:r>
              <a:rPr lang="en-US" dirty="0" smtClean="0"/>
              <a:t>Constructs multiple decision trees and </a:t>
            </a:r>
            <a:r>
              <a:rPr lang="en-US" b="1" dirty="0" smtClean="0"/>
              <a:t>averages their predictions</a:t>
            </a:r>
            <a:r>
              <a:rPr lang="en-US" dirty="0" smtClean="0"/>
              <a:t>, reducing variance.</a:t>
            </a:r>
          </a:p>
          <a:p>
            <a:pPr lvl="1"/>
            <a:r>
              <a:rPr lang="en-US" dirty="0" smtClean="0"/>
              <a:t>Uses </a:t>
            </a:r>
            <a:r>
              <a:rPr lang="en-US" b="1" dirty="0" smtClean="0"/>
              <a:t>feature randomness</a:t>
            </a:r>
            <a:r>
              <a:rPr lang="en-US" dirty="0" smtClean="0"/>
              <a:t> to prevent </a:t>
            </a:r>
            <a:r>
              <a:rPr lang="en-US" dirty="0" err="1" smtClean="0"/>
              <a:t>overfitting</a:t>
            </a:r>
            <a:r>
              <a:rPr lang="en-US" dirty="0" smtClean="0"/>
              <a:t>.</a:t>
            </a:r>
          </a:p>
          <a:p>
            <a:r>
              <a:rPr lang="en-US" b="1" dirty="0" smtClean="0"/>
              <a:t>Gradient Boosting Trees (</a:t>
            </a:r>
            <a:r>
              <a:rPr lang="en-US" b="1" dirty="0" err="1" smtClean="0"/>
              <a:t>XGBoost</a:t>
            </a:r>
            <a:r>
              <a:rPr lang="en-US" b="1" dirty="0" smtClean="0"/>
              <a:t>, </a:t>
            </a:r>
            <a:r>
              <a:rPr lang="en-US" b="1" dirty="0" err="1" smtClean="0"/>
              <a:t>LightGBM</a:t>
            </a:r>
            <a:r>
              <a:rPr lang="en-US" b="1" dirty="0" smtClean="0"/>
              <a:t>, </a:t>
            </a:r>
            <a:r>
              <a:rPr lang="en-US" b="1" dirty="0" err="1" smtClean="0"/>
              <a:t>CatBoost</a:t>
            </a:r>
            <a:r>
              <a:rPr lang="en-US" b="1" dirty="0" smtClean="0"/>
              <a:t>)</a:t>
            </a:r>
            <a:endParaRPr lang="en-US" dirty="0" smtClean="0"/>
          </a:p>
          <a:p>
            <a:pPr lvl="1"/>
            <a:r>
              <a:rPr lang="en-US" dirty="0" smtClean="0"/>
              <a:t>Boosting algorithms build multiple trees sequentially, each correcting errors of the previous tree.</a:t>
            </a:r>
          </a:p>
          <a:p>
            <a:pPr lvl="1"/>
            <a:r>
              <a:rPr lang="en-US" dirty="0" smtClean="0"/>
              <a:t>Regularization methods help prevent </a:t>
            </a:r>
            <a:r>
              <a:rPr lang="en-US" dirty="0" err="1" smtClean="0"/>
              <a:t>overfitting</a:t>
            </a:r>
            <a:r>
              <a:rPr lang="en-US" dirty="0" smtClean="0"/>
              <a:t>.</a:t>
            </a:r>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a:bodyPr>
          <a:lstStyle/>
          <a:p>
            <a:r>
              <a:rPr lang="en-US" sz="2000" b="1" dirty="0">
                <a:solidFill>
                  <a:prstClr val="black"/>
                </a:solidFill>
              </a:rPr>
              <a:t>Methods to Prevent </a:t>
            </a:r>
            <a:r>
              <a:rPr lang="en-US" sz="2000" b="1" dirty="0" err="1">
                <a:solidFill>
                  <a:prstClr val="black"/>
                </a:solidFill>
              </a:rPr>
              <a:t>Overfitting</a:t>
            </a:r>
            <a:r>
              <a:rPr lang="en-US" sz="2000" b="1" dirty="0">
                <a:solidFill>
                  <a:prstClr val="black"/>
                </a:solidFill>
              </a:rPr>
              <a:t> in Decision Trees</a:t>
            </a:r>
            <a:endParaRPr lang="en-US" dirty="0"/>
          </a:p>
        </p:txBody>
      </p:sp>
      <p:sp>
        <p:nvSpPr>
          <p:cNvPr id="3" name="Content Placeholder 2"/>
          <p:cNvSpPr>
            <a:spLocks noGrp="1"/>
          </p:cNvSpPr>
          <p:nvPr>
            <p:ph idx="1"/>
          </p:nvPr>
        </p:nvSpPr>
        <p:spPr>
          <a:xfrm>
            <a:off x="457200" y="914400"/>
            <a:ext cx="8229600" cy="5211763"/>
          </a:xfrm>
        </p:spPr>
        <p:txBody>
          <a:bodyPr>
            <a:normAutofit fontScale="70000" lnSpcReduction="20000"/>
          </a:bodyPr>
          <a:lstStyle/>
          <a:p>
            <a:pPr>
              <a:buNone/>
            </a:pPr>
            <a:r>
              <a:rPr lang="en-US" b="1" dirty="0" smtClean="0"/>
              <a:t>3. Feature Selection and Engineering</a:t>
            </a:r>
          </a:p>
          <a:p>
            <a:r>
              <a:rPr lang="en-US" dirty="0" smtClean="0"/>
              <a:t>Remove irrelevant or redundant features to simplify the tree.</a:t>
            </a:r>
          </a:p>
          <a:p>
            <a:r>
              <a:rPr lang="en-US" dirty="0" smtClean="0"/>
              <a:t>Use correlation analysis to identify and remove highly correlated features.</a:t>
            </a:r>
          </a:p>
          <a:p>
            <a:pPr>
              <a:buNone/>
            </a:pPr>
            <a:r>
              <a:rPr lang="en-US" b="1" dirty="0" smtClean="0"/>
              <a:t>4. Regularization (</a:t>
            </a:r>
            <a:r>
              <a:rPr lang="en-US" b="1" dirty="0" err="1" smtClean="0"/>
              <a:t>Hyperparameter</a:t>
            </a:r>
            <a:r>
              <a:rPr lang="en-US" b="1" dirty="0" smtClean="0"/>
              <a:t> Tuning)</a:t>
            </a:r>
          </a:p>
          <a:p>
            <a:r>
              <a:rPr lang="en-US" dirty="0" smtClean="0"/>
              <a:t>Max Depth – Limits the depth of the tree.</a:t>
            </a:r>
          </a:p>
          <a:p>
            <a:r>
              <a:rPr lang="en-US" dirty="0" smtClean="0"/>
              <a:t>Min Samples per Split – Ensures a minimum number of samples are required to split a node.</a:t>
            </a:r>
          </a:p>
          <a:p>
            <a:r>
              <a:rPr lang="en-US" dirty="0" smtClean="0"/>
              <a:t>Min Samples per Leaf – Prevents the tree from creating too many small leaf nodes.</a:t>
            </a:r>
          </a:p>
          <a:p>
            <a:r>
              <a:rPr lang="en-US" dirty="0" smtClean="0"/>
              <a:t>Max Features – Limits the number of features considered for each split.</a:t>
            </a:r>
          </a:p>
          <a:p>
            <a:pPr>
              <a:buNone/>
            </a:pPr>
            <a:r>
              <a:rPr lang="en-US" b="1" dirty="0" smtClean="0"/>
              <a:t>5. Cross-Validation for </a:t>
            </a:r>
            <a:r>
              <a:rPr lang="en-US" b="1" dirty="0" err="1" smtClean="0"/>
              <a:t>Hyperparameter</a:t>
            </a:r>
            <a:r>
              <a:rPr lang="en-US" b="1" dirty="0" smtClean="0"/>
              <a:t> Tuning</a:t>
            </a:r>
          </a:p>
          <a:p>
            <a:r>
              <a:rPr lang="en-US" dirty="0" smtClean="0"/>
              <a:t>Use k-fold cross-validation to evaluate model performance on different data splits and prevent </a:t>
            </a:r>
            <a:r>
              <a:rPr lang="en-US" dirty="0" err="1" smtClean="0"/>
              <a:t>overfitting</a:t>
            </a:r>
            <a:r>
              <a:rPr lang="en-US" dirty="0" smtClean="0"/>
              <a:t>.</a:t>
            </a: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Summary</a:t>
            </a:r>
            <a:endParaRPr lang="en-US" dirty="0"/>
          </a:p>
        </p:txBody>
      </p:sp>
      <p:sp>
        <p:nvSpPr>
          <p:cNvPr id="3" name="Content Placeholder 2"/>
          <p:cNvSpPr>
            <a:spLocks noGrp="1"/>
          </p:cNvSpPr>
          <p:nvPr>
            <p:ph idx="1"/>
          </p:nvPr>
        </p:nvSpPr>
        <p:spPr>
          <a:xfrm>
            <a:off x="457200" y="4572000"/>
            <a:ext cx="8229600" cy="1554163"/>
          </a:xfrm>
        </p:spPr>
        <p:txBody>
          <a:bodyPr>
            <a:noAutofit/>
          </a:bodyPr>
          <a:lstStyle/>
          <a:p>
            <a:r>
              <a:rPr lang="en-US" sz="2400" dirty="0" smtClean="0"/>
              <a:t>By implementing </a:t>
            </a:r>
            <a:r>
              <a:rPr lang="en-US" sz="2400" b="1" dirty="0" smtClean="0"/>
              <a:t>pruning, regularization, feature selection, and ensemble learning techniques</a:t>
            </a:r>
            <a:r>
              <a:rPr lang="en-US" sz="2400" dirty="0" smtClean="0"/>
              <a:t>, we can effectively </a:t>
            </a:r>
            <a:r>
              <a:rPr lang="en-US" sz="2400" b="1" dirty="0" smtClean="0"/>
              <a:t>reduce </a:t>
            </a:r>
            <a:r>
              <a:rPr lang="en-US" sz="2400" b="1" dirty="0" err="1" smtClean="0"/>
              <a:t>overfitting</a:t>
            </a:r>
            <a:r>
              <a:rPr lang="en-US" sz="2400" dirty="0" smtClean="0"/>
              <a:t> in decision trees, ensuring better generalization to unseen data.</a:t>
            </a:r>
            <a:endParaRPr lang="en-US" sz="2400" dirty="0"/>
          </a:p>
        </p:txBody>
      </p:sp>
      <p:pic>
        <p:nvPicPr>
          <p:cNvPr id="24578" name="Picture 2"/>
          <p:cNvPicPr>
            <a:picLocks noChangeAspect="1" noChangeArrowheads="1"/>
          </p:cNvPicPr>
          <p:nvPr/>
        </p:nvPicPr>
        <p:blipFill>
          <a:blip r:embed="rId2"/>
          <a:srcRect/>
          <a:stretch>
            <a:fillRect/>
          </a:stretch>
        </p:blipFill>
        <p:spPr bwMode="auto">
          <a:xfrm>
            <a:off x="762000" y="1066800"/>
            <a:ext cx="7848599" cy="3240088"/>
          </a:xfrm>
          <a:prstGeom prst="rect">
            <a:avLst/>
          </a:prstGeom>
          <a:noFill/>
          <a:ln w="9525">
            <a:noFill/>
            <a:miter lim="800000"/>
            <a:headEnd/>
            <a:tailEnd/>
          </a:ln>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Number Placeholder 5"/>
          <p:cNvSpPr>
            <a:spLocks noGrp="1"/>
          </p:cNvSpPr>
          <p:nvPr>
            <p:ph type="sldNum" sz="quarter" idx="10"/>
          </p:nvPr>
        </p:nvSpPr>
        <p:spPr>
          <a:noFill/>
        </p:spPr>
        <p:txBody>
          <a:bodyPr/>
          <a:lstStyle/>
          <a:p>
            <a:fld id="{A5974DDB-A3F5-4179-A368-B8FCA5767B7D}" type="slidenum">
              <a:rPr lang="en-US"/>
              <a:pPr/>
              <a:t>79</a:t>
            </a:fld>
            <a:endParaRPr lang="en-US"/>
          </a:p>
        </p:txBody>
      </p:sp>
      <p:sp>
        <p:nvSpPr>
          <p:cNvPr id="79874" name="Rectangle 2"/>
          <p:cNvSpPr>
            <a:spLocks noGrp="1" noChangeArrowheads="1"/>
          </p:cNvSpPr>
          <p:nvPr>
            <p:ph type="title"/>
          </p:nvPr>
        </p:nvSpPr>
        <p:spPr>
          <a:xfrm>
            <a:off x="0" y="304800"/>
            <a:ext cx="9144000" cy="685800"/>
          </a:xfrm>
          <a:noFill/>
        </p:spPr>
        <p:txBody>
          <a:bodyPr lIns="92075" tIns="46038" rIns="92075" bIns="46038" anchor="ctr">
            <a:normAutofit fontScale="90000"/>
          </a:bodyPr>
          <a:lstStyle/>
          <a:p>
            <a:pPr eaLnBrk="1" hangingPunct="1"/>
            <a:r>
              <a:rPr lang="en-US" smtClean="0"/>
              <a:t>Other Attribute Selection Measures</a:t>
            </a:r>
            <a:endParaRPr lang="en-US" sz="3200" smtClean="0"/>
          </a:p>
        </p:txBody>
      </p:sp>
      <p:sp>
        <p:nvSpPr>
          <p:cNvPr id="79875" name="Rectangle 3"/>
          <p:cNvSpPr>
            <a:spLocks noGrp="1" noChangeArrowheads="1"/>
          </p:cNvSpPr>
          <p:nvPr>
            <p:ph type="body" idx="1"/>
          </p:nvPr>
        </p:nvSpPr>
        <p:spPr>
          <a:xfrm>
            <a:off x="304800" y="1295400"/>
            <a:ext cx="8458200" cy="5257800"/>
          </a:xfrm>
          <a:noFill/>
        </p:spPr>
        <p:txBody>
          <a:bodyPr lIns="92075" tIns="46038" rIns="92075" bIns="46038">
            <a:normAutofit lnSpcReduction="10000"/>
          </a:bodyPr>
          <a:lstStyle/>
          <a:p>
            <a:pPr eaLnBrk="1" hangingPunct="1">
              <a:lnSpc>
                <a:spcPct val="130000"/>
              </a:lnSpc>
            </a:pPr>
            <a:r>
              <a:rPr lang="en-US" sz="2000" u="sng" smtClean="0"/>
              <a:t>CHAID</a:t>
            </a:r>
            <a:r>
              <a:rPr lang="en-US" sz="2000" smtClean="0"/>
              <a:t>: a popular decision tree algorithm, measure based on </a:t>
            </a:r>
            <a:r>
              <a:rPr lang="el-GR" sz="2000" smtClean="0"/>
              <a:t>χ</a:t>
            </a:r>
            <a:r>
              <a:rPr lang="en-US" sz="2000" baseline="30000" smtClean="0"/>
              <a:t>2</a:t>
            </a:r>
            <a:r>
              <a:rPr lang="en-US" sz="2000" smtClean="0"/>
              <a:t> test for independence</a:t>
            </a:r>
          </a:p>
          <a:p>
            <a:pPr eaLnBrk="1" hangingPunct="1">
              <a:lnSpc>
                <a:spcPct val="130000"/>
              </a:lnSpc>
            </a:pPr>
            <a:r>
              <a:rPr lang="en-US" sz="2000" u="sng" smtClean="0"/>
              <a:t>C-SEP</a:t>
            </a:r>
            <a:r>
              <a:rPr lang="en-US" sz="2000" smtClean="0"/>
              <a:t>: performs better than info. gain and gini index in certain cases</a:t>
            </a:r>
          </a:p>
          <a:p>
            <a:pPr eaLnBrk="1" hangingPunct="1">
              <a:lnSpc>
                <a:spcPct val="130000"/>
              </a:lnSpc>
            </a:pPr>
            <a:r>
              <a:rPr lang="en-US" sz="2000" u="sng" smtClean="0"/>
              <a:t>G-statistic</a:t>
            </a:r>
            <a:r>
              <a:rPr lang="en-US" sz="2000" smtClean="0"/>
              <a:t>: has a close approximation to </a:t>
            </a:r>
            <a:r>
              <a:rPr lang="el-GR" sz="2000" smtClean="0"/>
              <a:t>χ</a:t>
            </a:r>
            <a:r>
              <a:rPr lang="en-US" sz="2000" baseline="30000" smtClean="0"/>
              <a:t>2</a:t>
            </a:r>
            <a:r>
              <a:rPr lang="en-US" sz="2000" smtClean="0"/>
              <a:t> distribution </a:t>
            </a:r>
          </a:p>
          <a:p>
            <a:pPr eaLnBrk="1" hangingPunct="1">
              <a:lnSpc>
                <a:spcPct val="130000"/>
              </a:lnSpc>
            </a:pPr>
            <a:r>
              <a:rPr lang="en-US" sz="2000" u="sng" smtClean="0"/>
              <a:t>MDL (Minimal Description Length) principle</a:t>
            </a:r>
            <a:r>
              <a:rPr lang="en-US" sz="2000" smtClean="0"/>
              <a:t> (i.e., the simplest solution is preferred): </a:t>
            </a:r>
          </a:p>
          <a:p>
            <a:pPr lvl="1" eaLnBrk="1" hangingPunct="1">
              <a:lnSpc>
                <a:spcPct val="130000"/>
              </a:lnSpc>
            </a:pPr>
            <a:r>
              <a:rPr lang="en-US" sz="2000" smtClean="0"/>
              <a:t>The best tree as the one that requires the fewest # of bits to both (1) encode the tree, and (2) encode the exceptions to the tree</a:t>
            </a:r>
          </a:p>
          <a:p>
            <a:pPr eaLnBrk="1" hangingPunct="1">
              <a:lnSpc>
                <a:spcPct val="130000"/>
              </a:lnSpc>
            </a:pPr>
            <a:r>
              <a:rPr lang="en-US" sz="2000" smtClean="0"/>
              <a:t>Multivariate splits (partition based on multiple variable combinations)</a:t>
            </a:r>
          </a:p>
          <a:p>
            <a:pPr lvl="1" eaLnBrk="1" hangingPunct="1">
              <a:lnSpc>
                <a:spcPct val="130000"/>
              </a:lnSpc>
            </a:pPr>
            <a:r>
              <a:rPr lang="en-US" sz="2000" u="sng" smtClean="0"/>
              <a:t>CART</a:t>
            </a:r>
            <a:r>
              <a:rPr lang="en-US" sz="2000" smtClean="0"/>
              <a:t>: finds multivariate splits based on a linear comb. of attrs.</a:t>
            </a:r>
          </a:p>
          <a:p>
            <a:pPr eaLnBrk="1" hangingPunct="1">
              <a:lnSpc>
                <a:spcPct val="130000"/>
              </a:lnSpc>
            </a:pPr>
            <a:r>
              <a:rPr lang="en-US" sz="2000" smtClean="0"/>
              <a:t>Which attribute selection measure is the best?</a:t>
            </a:r>
          </a:p>
          <a:p>
            <a:pPr lvl="1" eaLnBrk="1" hangingPunct="1">
              <a:lnSpc>
                <a:spcPct val="130000"/>
              </a:lnSpc>
            </a:pPr>
            <a:r>
              <a:rPr lang="en-US" sz="2000" smtClean="0"/>
              <a:t> Most give good results, none is significantly superior than others</a:t>
            </a: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348" y="357166"/>
            <a:ext cx="7772400" cy="319070"/>
          </a:xfrm>
        </p:spPr>
        <p:txBody>
          <a:bodyPr>
            <a:normAutofit fontScale="90000"/>
          </a:bodyPr>
          <a:lstStyle/>
          <a:p>
            <a:r>
              <a:rPr lang="en-IN" dirty="0" smtClean="0"/>
              <a:t>Introduction</a:t>
            </a:r>
            <a:endParaRPr lang="en-US" dirty="0"/>
          </a:p>
        </p:txBody>
      </p:sp>
      <p:sp>
        <p:nvSpPr>
          <p:cNvPr id="6" name="Content Placeholder 5"/>
          <p:cNvSpPr>
            <a:spLocks noGrp="1"/>
          </p:cNvSpPr>
          <p:nvPr>
            <p:ph idx="1"/>
          </p:nvPr>
        </p:nvSpPr>
        <p:spPr>
          <a:xfrm>
            <a:off x="685800" y="857232"/>
            <a:ext cx="7772400" cy="5429288"/>
          </a:xfrm>
        </p:spPr>
        <p:txBody>
          <a:bodyPr/>
          <a:lstStyle/>
          <a:p>
            <a:pPr algn="just"/>
            <a:r>
              <a:rPr lang="en-US" sz="2000" dirty="0" smtClean="0"/>
              <a:t>Class imbalance is a common problem in machine learning, especially in classification tasks, where the number of examples in one class is significantly higher or lower than in the other classes.</a:t>
            </a:r>
          </a:p>
          <a:p>
            <a:pPr algn="just"/>
            <a:r>
              <a:rPr lang="en-US" sz="2000" dirty="0" smtClean="0"/>
              <a:t>A </a:t>
            </a:r>
            <a:r>
              <a:rPr lang="en-US" sz="2000" b="1" dirty="0" smtClean="0"/>
              <a:t>class imbalanced dataset</a:t>
            </a:r>
            <a:r>
              <a:rPr lang="en-US" sz="2000" dirty="0" smtClean="0"/>
              <a:t> is one in which the distribution of classes is not uniform. The dataset may contain one or more than one Minority class where the number of samples is significantly less than the Majority class.</a:t>
            </a:r>
          </a:p>
        </p:txBody>
      </p:sp>
      <p:sp>
        <p:nvSpPr>
          <p:cNvPr id="4" name="TextBox 3">
            <a:extLst>
              <a:ext uri="{FF2B5EF4-FFF2-40B4-BE49-F238E27FC236}">
                <a16:creationId xmlns:a16="http://schemas.microsoft.com/office/drawing/2014/main" xmlns="" id="{365C0471-0BD9-48C1-03E8-59F2E9DBB434}"/>
              </a:ext>
            </a:extLst>
          </p:cNvPr>
          <p:cNvSpPr txBox="1"/>
          <p:nvPr/>
        </p:nvSpPr>
        <p:spPr>
          <a:xfrm>
            <a:off x="357158" y="6286520"/>
            <a:ext cx="8609023" cy="27699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1200" b="0" i="0" dirty="0">
                <a:solidFill>
                  <a:srgbClr val="222222"/>
                </a:solidFill>
                <a:effectLst/>
                <a:latin typeface="Arial" panose="020B0604020202020204" pitchFamily="34" charset="0"/>
              </a:rPr>
              <a:t>Johnson, J. M., &amp; </a:t>
            </a:r>
            <a:r>
              <a:rPr lang="en-US" sz="1200" b="0" i="0" dirty="0" err="1">
                <a:solidFill>
                  <a:srgbClr val="222222"/>
                </a:solidFill>
                <a:effectLst/>
                <a:latin typeface="Arial" panose="020B0604020202020204" pitchFamily="34" charset="0"/>
              </a:rPr>
              <a:t>Khoshgoftaar</a:t>
            </a:r>
            <a:r>
              <a:rPr lang="en-US" sz="1200" b="0" i="0" dirty="0">
                <a:solidFill>
                  <a:srgbClr val="222222"/>
                </a:solidFill>
                <a:effectLst/>
                <a:latin typeface="Arial" panose="020B0604020202020204" pitchFamily="34" charset="0"/>
              </a:rPr>
              <a:t>, T. M. (2019). Survey on deep learning with class imbalance. </a:t>
            </a:r>
            <a:r>
              <a:rPr lang="en-US" sz="1200" b="0" i="1" dirty="0">
                <a:solidFill>
                  <a:srgbClr val="222222"/>
                </a:solidFill>
                <a:effectLst/>
                <a:latin typeface="Arial" panose="020B0604020202020204" pitchFamily="34" charset="0"/>
              </a:rPr>
              <a:t>Journal of Big Data</a:t>
            </a:r>
            <a:r>
              <a:rPr lang="en-US" sz="1200" b="0" i="0" dirty="0">
                <a:solidFill>
                  <a:srgbClr val="222222"/>
                </a:solidFill>
                <a:effectLst/>
                <a:latin typeface="Arial" panose="020B0604020202020204" pitchFamily="34" charset="0"/>
              </a:rPr>
              <a:t>, </a:t>
            </a:r>
            <a:r>
              <a:rPr lang="en-US" sz="1200" b="0" i="1" dirty="0">
                <a:solidFill>
                  <a:srgbClr val="222222"/>
                </a:solidFill>
                <a:effectLst/>
                <a:latin typeface="Arial" panose="020B0604020202020204" pitchFamily="34" charset="0"/>
              </a:rPr>
              <a:t>6</a:t>
            </a:r>
            <a:r>
              <a:rPr lang="en-US" sz="1200" b="0" i="0" dirty="0">
                <a:solidFill>
                  <a:srgbClr val="222222"/>
                </a:solidFill>
                <a:effectLst/>
                <a:latin typeface="Arial" panose="020B0604020202020204" pitchFamily="34" charset="0"/>
              </a:rPr>
              <a:t>(1), 1-54.</a:t>
            </a:r>
            <a:endParaRPr lang="en-US" sz="1200" dirty="0"/>
          </a:p>
        </p:txBody>
      </p:sp>
      <p:pic>
        <p:nvPicPr>
          <p:cNvPr id="7" name="Picture 4"/>
          <p:cNvPicPr>
            <a:picLocks noChangeAspect="1" noChangeArrowheads="1"/>
          </p:cNvPicPr>
          <p:nvPr/>
        </p:nvPicPr>
        <p:blipFill>
          <a:blip r:embed="rId2"/>
          <a:srcRect/>
          <a:stretch>
            <a:fillRect/>
          </a:stretch>
        </p:blipFill>
        <p:spPr bwMode="auto">
          <a:xfrm>
            <a:off x="642910" y="3357562"/>
            <a:ext cx="4286250" cy="2028825"/>
          </a:xfrm>
          <a:prstGeom prst="rect">
            <a:avLst/>
          </a:prstGeom>
          <a:noFill/>
          <a:ln w="9525">
            <a:noFill/>
            <a:miter lim="800000"/>
            <a:headEnd/>
            <a:tailEnd/>
          </a:ln>
          <a:effectLst/>
        </p:spPr>
      </p:pic>
      <p:pic>
        <p:nvPicPr>
          <p:cNvPr id="8" name="Picture 3"/>
          <p:cNvPicPr>
            <a:picLocks noChangeAspect="1" noChangeArrowheads="1"/>
          </p:cNvPicPr>
          <p:nvPr/>
        </p:nvPicPr>
        <p:blipFill>
          <a:blip r:embed="rId3"/>
          <a:srcRect/>
          <a:stretch>
            <a:fillRect/>
          </a:stretch>
        </p:blipFill>
        <p:spPr bwMode="auto">
          <a:xfrm>
            <a:off x="5214942" y="3000372"/>
            <a:ext cx="3005134" cy="2613160"/>
          </a:xfrm>
          <a:prstGeom prst="rect">
            <a:avLst/>
          </a:prstGeom>
          <a:noFill/>
          <a:ln w="9525">
            <a:noFill/>
            <a:miter lim="800000"/>
            <a:headEnd/>
            <a:tailEnd/>
          </a:ln>
          <a:effec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390508"/>
          </a:xfrm>
        </p:spPr>
        <p:txBody>
          <a:bodyPr>
            <a:normAutofit fontScale="90000"/>
          </a:bodyPr>
          <a:lstStyle/>
          <a:p>
            <a:r>
              <a:rPr lang="en-IN" dirty="0" smtClean="0"/>
              <a:t>Introduction</a:t>
            </a:r>
            <a:endParaRPr lang="en-US" dirty="0"/>
          </a:p>
        </p:txBody>
      </p:sp>
      <p:sp>
        <p:nvSpPr>
          <p:cNvPr id="3" name="Content Placeholder 2"/>
          <p:cNvSpPr>
            <a:spLocks noGrp="1"/>
          </p:cNvSpPr>
          <p:nvPr>
            <p:ph idx="1"/>
          </p:nvPr>
        </p:nvSpPr>
        <p:spPr>
          <a:xfrm>
            <a:off x="428596" y="1214422"/>
            <a:ext cx="8286808" cy="5286412"/>
          </a:xfrm>
        </p:spPr>
        <p:txBody>
          <a:bodyPr/>
          <a:lstStyle/>
          <a:p>
            <a:pPr algn="just"/>
            <a:r>
              <a:rPr lang="en-US" sz="2800" dirty="0" smtClean="0"/>
              <a:t>Class imbalance is present in almost all real life data</a:t>
            </a:r>
          </a:p>
          <a:p>
            <a:pPr lvl="1" algn="just"/>
            <a:r>
              <a:rPr lang="en-US" dirty="0" smtClean="0"/>
              <a:t>Detection of Disease (Usually less number of data present in disease class)</a:t>
            </a:r>
          </a:p>
          <a:p>
            <a:pPr lvl="1" algn="just"/>
            <a:r>
              <a:rPr lang="en-US" dirty="0" smtClean="0"/>
              <a:t>Credit card fraud detection (Few number of fraudulent transactions)</a:t>
            </a:r>
          </a:p>
          <a:p>
            <a:pPr lvl="1" algn="just"/>
            <a:r>
              <a:rPr lang="en-US" dirty="0" smtClean="0"/>
              <a:t>Hardware fault detection (Usually number of fault is less)</a:t>
            </a:r>
          </a:p>
          <a:p>
            <a:pPr lvl="1" algn="just"/>
            <a:r>
              <a:rPr lang="en-US" dirty="0" smtClean="0"/>
              <a:t>Sentiment Detection (Data of particular sentiment can be less)</a:t>
            </a:r>
          </a:p>
          <a:p>
            <a:pPr lvl="1" algn="just"/>
            <a:r>
              <a:rPr lang="en-US" dirty="0" smtClean="0"/>
              <a:t>Traffic Accident prediction (Number of accident cases are less)</a:t>
            </a:r>
          </a:p>
          <a:p>
            <a:endParaRPr lang="en-US" dirty="0" smtClean="0"/>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428604"/>
            <a:ext cx="7772400" cy="533384"/>
          </a:xfrm>
        </p:spPr>
        <p:txBody>
          <a:bodyPr>
            <a:normAutofit fontScale="90000"/>
          </a:bodyPr>
          <a:lstStyle/>
          <a:p>
            <a:r>
              <a:rPr lang="en-IN" sz="3600" dirty="0" smtClean="0">
                <a:solidFill>
                  <a:srgbClr val="000000"/>
                </a:solidFill>
              </a:rPr>
              <a:t>Challenges in Imbalanced Dataset</a:t>
            </a:r>
            <a:endParaRPr lang="en-US" sz="3600" dirty="0"/>
          </a:p>
        </p:txBody>
      </p:sp>
      <p:sp>
        <p:nvSpPr>
          <p:cNvPr id="3" name="Content Placeholder 2"/>
          <p:cNvSpPr>
            <a:spLocks noGrp="1"/>
          </p:cNvSpPr>
          <p:nvPr>
            <p:ph idx="1"/>
          </p:nvPr>
        </p:nvSpPr>
        <p:spPr>
          <a:xfrm>
            <a:off x="714348" y="1285836"/>
            <a:ext cx="7772400" cy="5143560"/>
          </a:xfrm>
        </p:spPr>
        <p:txBody>
          <a:bodyPr/>
          <a:lstStyle/>
          <a:p>
            <a:pPr marL="571500" indent="-571500">
              <a:buAutoNum type="romanLcParenBoth"/>
            </a:pPr>
            <a:r>
              <a:rPr lang="en-US" sz="2800" b="1" dirty="0" smtClean="0"/>
              <a:t>Bias towards majority class</a:t>
            </a:r>
            <a:r>
              <a:rPr lang="en-US" sz="2800" dirty="0" smtClean="0"/>
              <a:t>: Most models aim to achieve maximize the overall accuracy, so they tend to favor the majority class, resulting in poor performance on the minority class.</a:t>
            </a:r>
          </a:p>
          <a:p>
            <a:pPr marL="571500" indent="-571500">
              <a:buFontTx/>
              <a:buAutoNum type="romanLcParenBoth"/>
            </a:pPr>
            <a:r>
              <a:rPr lang="en-US" sz="2800" b="1" dirty="0" smtClean="0"/>
              <a:t>Underrepresentation of the Minority Class: </a:t>
            </a:r>
            <a:r>
              <a:rPr lang="en-US" sz="2800" dirty="0" smtClean="0"/>
              <a:t>Critical features of the minority class may not be learned well due to insufficient samples.</a:t>
            </a:r>
          </a:p>
          <a:p>
            <a:pPr marL="571500" indent="-571500">
              <a:buFontTx/>
              <a:buAutoNum type="romanLcParenBoth"/>
            </a:pPr>
            <a:r>
              <a:rPr lang="en-US" sz="2800" b="1" dirty="0" smtClean="0"/>
              <a:t>Poor Metrics for Evaluation: </a:t>
            </a:r>
            <a:r>
              <a:rPr lang="en-US" sz="2800" dirty="0" smtClean="0"/>
              <a:t>Accuracy alone is misleading. Precision, recall, F1-score, and other metrics are more informative in these scenarios.</a:t>
            </a:r>
          </a:p>
          <a:p>
            <a:endParaRPr lang="en-US" sz="2800" dirty="0" smtClean="0"/>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428604"/>
            <a:ext cx="7772400" cy="676260"/>
          </a:xfrm>
        </p:spPr>
        <p:txBody>
          <a:bodyPr/>
          <a:lstStyle/>
          <a:p>
            <a:r>
              <a:rPr lang="en-IN" sz="3600" dirty="0" smtClean="0"/>
              <a:t>Challenges in Imbalanced Dataset</a:t>
            </a:r>
            <a:endParaRPr lang="en-US" sz="3600" dirty="0"/>
          </a:p>
        </p:txBody>
      </p:sp>
      <p:sp>
        <p:nvSpPr>
          <p:cNvPr id="3" name="Content Placeholder 2"/>
          <p:cNvSpPr>
            <a:spLocks noGrp="1"/>
          </p:cNvSpPr>
          <p:nvPr>
            <p:ph sz="half" idx="1"/>
          </p:nvPr>
        </p:nvSpPr>
        <p:spPr>
          <a:xfrm>
            <a:off x="685800" y="1142984"/>
            <a:ext cx="3810000" cy="3857652"/>
          </a:xfrm>
        </p:spPr>
        <p:txBody>
          <a:bodyPr/>
          <a:lstStyle/>
          <a:p>
            <a:pPr>
              <a:buNone/>
            </a:pPr>
            <a:r>
              <a:rPr lang="en-US" sz="2400" b="1" dirty="0" smtClean="0"/>
              <a:t>(iv) Poor Decision Boundaries</a:t>
            </a:r>
            <a:r>
              <a:rPr lang="en-US" sz="2400" dirty="0" smtClean="0"/>
              <a:t>: In imbalanced datasets, decision boundaries can be poorly defined, as the model learns to optimize for accuracy on the majority class, ignoring the correct classification of the minority class. </a:t>
            </a:r>
            <a:endParaRPr lang="en-US" sz="2800" dirty="0" smtClean="0"/>
          </a:p>
          <a:p>
            <a:pPr>
              <a:buNone/>
            </a:pPr>
            <a:endParaRPr lang="en-US" sz="2400" dirty="0" smtClean="0"/>
          </a:p>
          <a:p>
            <a:pPr marL="514350" indent="-514350">
              <a:buAutoNum type="romanLcParenBoth"/>
            </a:pPr>
            <a:endParaRPr lang="en-US" sz="2400" dirty="0" smtClean="0"/>
          </a:p>
        </p:txBody>
      </p:sp>
      <p:pic>
        <p:nvPicPr>
          <p:cNvPr id="5" name="Picture 2"/>
          <p:cNvPicPr>
            <a:picLocks noChangeAspect="1" noChangeArrowheads="1"/>
          </p:cNvPicPr>
          <p:nvPr/>
        </p:nvPicPr>
        <p:blipFill>
          <a:blip r:embed="rId2"/>
          <a:srcRect/>
          <a:stretch>
            <a:fillRect/>
          </a:stretch>
        </p:blipFill>
        <p:spPr bwMode="auto">
          <a:xfrm>
            <a:off x="4500562" y="1142984"/>
            <a:ext cx="4214810" cy="3286148"/>
          </a:xfrm>
          <a:prstGeom prst="rect">
            <a:avLst/>
          </a:prstGeom>
          <a:noFill/>
          <a:ln w="9525">
            <a:noFill/>
            <a:miter lim="800000"/>
            <a:headEnd/>
            <a:tailEnd/>
          </a:ln>
          <a:effectLst/>
        </p:spPr>
      </p:pic>
      <p:sp>
        <p:nvSpPr>
          <p:cNvPr id="6" name="TextBox 5"/>
          <p:cNvSpPr txBox="1"/>
          <p:nvPr/>
        </p:nvSpPr>
        <p:spPr>
          <a:xfrm>
            <a:off x="857224" y="5214950"/>
            <a:ext cx="8001056" cy="830997"/>
          </a:xfrm>
          <a:prstGeom prst="rect">
            <a:avLst/>
          </a:prstGeom>
          <a:noFill/>
        </p:spPr>
        <p:txBody>
          <a:bodyPr wrap="square" rtlCol="0">
            <a:spAutoFit/>
          </a:bodyPr>
          <a:lstStyle/>
          <a:p>
            <a:pPr>
              <a:buFont typeface="Arial" pitchFamily="34" charset="0"/>
              <a:buChar char="•"/>
            </a:pPr>
            <a:r>
              <a:rPr lang="en-IN" dirty="0" smtClean="0"/>
              <a:t> </a:t>
            </a:r>
            <a:r>
              <a:rPr lang="en-US" dirty="0" smtClean="0"/>
              <a:t>When the new majority samples are added arbitrarily, they affect the decision boundaries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428604"/>
            <a:ext cx="7772400" cy="461946"/>
          </a:xfrm>
        </p:spPr>
        <p:txBody>
          <a:bodyPr>
            <a:normAutofit fontScale="90000"/>
          </a:bodyPr>
          <a:lstStyle/>
          <a:p>
            <a:r>
              <a:rPr lang="en-IN" sz="3600" dirty="0" smtClean="0">
                <a:solidFill>
                  <a:srgbClr val="000000"/>
                </a:solidFill>
              </a:rPr>
              <a:t>Challenges in Imbalanced Dataset</a:t>
            </a:r>
            <a:endParaRPr lang="en-US" dirty="0"/>
          </a:p>
        </p:txBody>
      </p:sp>
      <p:sp>
        <p:nvSpPr>
          <p:cNvPr id="3" name="Content Placeholder 2"/>
          <p:cNvSpPr>
            <a:spLocks noGrp="1"/>
          </p:cNvSpPr>
          <p:nvPr>
            <p:ph sz="half" idx="1"/>
          </p:nvPr>
        </p:nvSpPr>
        <p:spPr>
          <a:xfrm>
            <a:off x="685800" y="1071546"/>
            <a:ext cx="4243390" cy="4857784"/>
          </a:xfrm>
        </p:spPr>
        <p:txBody>
          <a:bodyPr/>
          <a:lstStyle/>
          <a:p>
            <a:r>
              <a:rPr lang="en-US" sz="2400" dirty="0" smtClean="0"/>
              <a:t>The decision boundaries learned on majority samples tend to be increasingly biased towards the majority class, leading to the neglect of minority class data samples.</a:t>
            </a:r>
          </a:p>
          <a:p>
            <a:pPr>
              <a:buFont typeface="Arial" pitchFamily="34" charset="0"/>
              <a:buChar char="•"/>
            </a:pPr>
            <a:r>
              <a:rPr lang="en-US" sz="2400" dirty="0" smtClean="0"/>
              <a:t> This results:</a:t>
            </a:r>
          </a:p>
          <a:p>
            <a:pPr>
              <a:buNone/>
            </a:pPr>
            <a:r>
              <a:rPr lang="en-US" sz="2400" dirty="0" smtClean="0"/>
              <a:t>  - in model </a:t>
            </a:r>
            <a:r>
              <a:rPr lang="en-US" sz="2400" dirty="0" err="1" smtClean="0"/>
              <a:t>overfitting</a:t>
            </a:r>
            <a:r>
              <a:rPr lang="en-US" sz="2400" dirty="0" smtClean="0"/>
              <a:t> for majority class samples</a:t>
            </a:r>
          </a:p>
          <a:p>
            <a:pPr>
              <a:buNone/>
            </a:pPr>
            <a:r>
              <a:rPr lang="en-US" sz="2400" dirty="0" smtClean="0"/>
              <a:t>  - often leading to low generalization to minority class samples.</a:t>
            </a:r>
          </a:p>
          <a:p>
            <a:endParaRPr lang="en-US" sz="2400" dirty="0" smtClean="0"/>
          </a:p>
          <a:p>
            <a:endParaRPr lang="en-US" sz="2400" dirty="0"/>
          </a:p>
        </p:txBody>
      </p:sp>
      <p:pic>
        <p:nvPicPr>
          <p:cNvPr id="5" name="Picture 2"/>
          <p:cNvPicPr>
            <a:picLocks noChangeAspect="1" noChangeArrowheads="1"/>
          </p:cNvPicPr>
          <p:nvPr/>
        </p:nvPicPr>
        <p:blipFill>
          <a:blip r:embed="rId2"/>
          <a:srcRect/>
          <a:stretch>
            <a:fillRect/>
          </a:stretch>
        </p:blipFill>
        <p:spPr bwMode="auto">
          <a:xfrm>
            <a:off x="5072066" y="1500174"/>
            <a:ext cx="3643306" cy="3357586"/>
          </a:xfrm>
          <a:prstGeom prst="rect">
            <a:avLst/>
          </a:prstGeom>
          <a:noFill/>
          <a:ln w="9525">
            <a:noFill/>
            <a:miter lim="800000"/>
            <a:headEnd/>
            <a:tailEnd/>
          </a:ln>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33384"/>
          </a:xfrm>
        </p:spPr>
        <p:txBody>
          <a:bodyPr>
            <a:normAutofit fontScale="90000"/>
          </a:bodyPr>
          <a:lstStyle/>
          <a:p>
            <a:r>
              <a:rPr lang="en-IN" sz="3600" dirty="0" smtClean="0">
                <a:solidFill>
                  <a:srgbClr val="000000"/>
                </a:solidFill>
              </a:rPr>
              <a:t>Challenges in Imbalanced Dataset</a:t>
            </a:r>
            <a:endParaRPr lang="en-US" dirty="0"/>
          </a:p>
        </p:txBody>
      </p:sp>
      <p:sp>
        <p:nvSpPr>
          <p:cNvPr id="3" name="Content Placeholder 2"/>
          <p:cNvSpPr>
            <a:spLocks noGrp="1"/>
          </p:cNvSpPr>
          <p:nvPr>
            <p:ph sz="half" idx="1"/>
          </p:nvPr>
        </p:nvSpPr>
        <p:spPr>
          <a:xfrm>
            <a:off x="685800" y="1285860"/>
            <a:ext cx="3810000" cy="2857520"/>
          </a:xfrm>
        </p:spPr>
        <p:txBody>
          <a:bodyPr/>
          <a:lstStyle/>
          <a:p>
            <a:r>
              <a:rPr lang="en-US" sz="2400" dirty="0" smtClean="0"/>
              <a:t>Over time, the model may treat minority class patterns as noise, and misclassifying them because it has learned to prioritize the majority class patterns.</a:t>
            </a:r>
          </a:p>
          <a:p>
            <a:pPr>
              <a:buNone/>
            </a:pPr>
            <a:endParaRPr lang="en-US" sz="2400" dirty="0" smtClean="0"/>
          </a:p>
          <a:p>
            <a:endParaRPr lang="en-US" dirty="0"/>
          </a:p>
        </p:txBody>
      </p:sp>
      <p:pic>
        <p:nvPicPr>
          <p:cNvPr id="1026" name="Picture 2"/>
          <p:cNvPicPr>
            <a:picLocks noChangeAspect="1" noChangeArrowheads="1"/>
          </p:cNvPicPr>
          <p:nvPr/>
        </p:nvPicPr>
        <p:blipFill>
          <a:blip r:embed="rId2"/>
          <a:srcRect/>
          <a:stretch>
            <a:fillRect/>
          </a:stretch>
        </p:blipFill>
        <p:spPr bwMode="auto">
          <a:xfrm>
            <a:off x="4786314" y="1357298"/>
            <a:ext cx="3786214" cy="3000396"/>
          </a:xfrm>
          <a:prstGeom prst="rect">
            <a:avLst/>
          </a:prstGeom>
          <a:noFill/>
          <a:ln w="9525">
            <a:noFill/>
            <a:miter lim="800000"/>
            <a:headEnd/>
            <a:tailEnd/>
          </a:ln>
          <a:effectLst/>
        </p:spPr>
      </p:pic>
      <p:sp>
        <p:nvSpPr>
          <p:cNvPr id="5" name="Rectangle 4"/>
          <p:cNvSpPr/>
          <p:nvPr/>
        </p:nvSpPr>
        <p:spPr>
          <a:xfrm>
            <a:off x="428596" y="6429396"/>
            <a:ext cx="8072494" cy="261610"/>
          </a:xfrm>
          <a:prstGeom prst="rect">
            <a:avLst/>
          </a:prstGeom>
        </p:spPr>
        <p:txBody>
          <a:bodyPr wrap="square">
            <a:spAutoFit/>
          </a:bodyPr>
          <a:lstStyle/>
          <a:p>
            <a:r>
              <a:rPr lang="en-US" sz="1100" b="1" dirty="0" smtClean="0">
                <a:solidFill>
                  <a:schemeClr val="tx2"/>
                </a:solidFill>
              </a:rPr>
              <a:t>https://www.researchgate.net/figure</a:t>
            </a:r>
            <a:endParaRPr lang="en-US" sz="1100" b="1" dirty="0">
              <a:solidFill>
                <a:schemeClr val="tx2"/>
              </a:solidFill>
            </a:endParaRPr>
          </a:p>
        </p:txBody>
      </p:sp>
      <p:sp>
        <p:nvSpPr>
          <p:cNvPr id="7" name="TextBox 6"/>
          <p:cNvSpPr txBox="1"/>
          <p:nvPr/>
        </p:nvSpPr>
        <p:spPr>
          <a:xfrm>
            <a:off x="714348" y="4429132"/>
            <a:ext cx="7643865" cy="1569660"/>
          </a:xfrm>
          <a:prstGeom prst="rect">
            <a:avLst/>
          </a:prstGeom>
          <a:noFill/>
        </p:spPr>
        <p:txBody>
          <a:bodyPr wrap="square" rtlCol="0">
            <a:spAutoFit/>
          </a:bodyPr>
          <a:lstStyle/>
          <a:p>
            <a:r>
              <a:rPr lang="en-US" b="1" dirty="0" smtClean="0"/>
              <a:t>(vi) Over-reliance on Majority Samples in Loss Function</a:t>
            </a:r>
            <a:r>
              <a:rPr lang="en-US" dirty="0" smtClean="0"/>
              <a:t>: If the loss function does not take imbalance into account, it becomes heavily influenced by the majority class samples, reinforcing their patterns and resulting in </a:t>
            </a:r>
            <a:r>
              <a:rPr lang="en-US" dirty="0" err="1" smtClean="0"/>
              <a:t>overfitting</a:t>
            </a:r>
            <a:r>
              <a:rPr lang="en-US" dirty="0" smtClean="0"/>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33384"/>
          </a:xfrm>
        </p:spPr>
        <p:txBody>
          <a:bodyPr>
            <a:normAutofit fontScale="90000"/>
          </a:bodyPr>
          <a:lstStyle/>
          <a:p>
            <a:r>
              <a:rPr lang="en-US" sz="3200" dirty="0" smtClean="0"/>
              <a:t>Class Overlapping</a:t>
            </a:r>
            <a:endParaRPr lang="en-US" sz="3200" dirty="0"/>
          </a:p>
        </p:txBody>
      </p:sp>
      <p:sp>
        <p:nvSpPr>
          <p:cNvPr id="3" name="Content Placeholder 2"/>
          <p:cNvSpPr>
            <a:spLocks noGrp="1"/>
          </p:cNvSpPr>
          <p:nvPr>
            <p:ph idx="1"/>
          </p:nvPr>
        </p:nvSpPr>
        <p:spPr>
          <a:xfrm>
            <a:off x="685800" y="1357298"/>
            <a:ext cx="7772400" cy="1785950"/>
          </a:xfrm>
        </p:spPr>
        <p:txBody>
          <a:bodyPr/>
          <a:lstStyle/>
          <a:p>
            <a:r>
              <a:rPr lang="en-US" sz="2400" dirty="0" smtClean="0"/>
              <a:t>Handling class imbalance is more difficult in presence of class overlapping.</a:t>
            </a:r>
          </a:p>
          <a:p>
            <a:r>
              <a:rPr lang="en-US" sz="2400" dirty="0" smtClean="0"/>
              <a:t>Overlapping has more effect on classifier performance than imbalance.</a:t>
            </a:r>
          </a:p>
        </p:txBody>
      </p:sp>
      <p:pic>
        <p:nvPicPr>
          <p:cNvPr id="4" name="Picture 3">
            <a:extLst>
              <a:ext uri="{FF2B5EF4-FFF2-40B4-BE49-F238E27FC236}">
                <a16:creationId xmlns:a16="http://schemas.microsoft.com/office/drawing/2014/main" xmlns="" id="{AF966019-88C8-0267-D569-64C3802FBB77}"/>
              </a:ext>
            </a:extLst>
          </p:cNvPr>
          <p:cNvPicPr>
            <a:picLocks noChangeAspect="1"/>
          </p:cNvPicPr>
          <p:nvPr/>
        </p:nvPicPr>
        <p:blipFill>
          <a:blip r:embed="rId2"/>
          <a:stretch>
            <a:fillRect/>
          </a:stretch>
        </p:blipFill>
        <p:spPr>
          <a:xfrm>
            <a:off x="428596" y="3214686"/>
            <a:ext cx="8262942" cy="2428892"/>
          </a:xfrm>
          <a:prstGeom prst="rect">
            <a:avLst/>
          </a:prstGeom>
        </p:spPr>
      </p:pic>
      <p:sp>
        <p:nvSpPr>
          <p:cNvPr id="5" name="Rectangle 4"/>
          <p:cNvSpPr/>
          <p:nvPr/>
        </p:nvSpPr>
        <p:spPr>
          <a:xfrm>
            <a:off x="928662" y="5681979"/>
            <a:ext cx="7643866" cy="461665"/>
          </a:xfrm>
          <a:prstGeom prst="rect">
            <a:avLst/>
          </a:prstGeom>
        </p:spPr>
        <p:txBody>
          <a:bodyPr wrap="square">
            <a:spAutoFit/>
          </a:bodyPr>
          <a:lstStyle/>
          <a:p>
            <a:r>
              <a:rPr lang="en-US" dirty="0" smtClean="0"/>
              <a:t> (a)		       (b)			(c)		(d)</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47698"/>
          </a:xfrm>
        </p:spPr>
        <p:txBody>
          <a:bodyPr>
            <a:normAutofit fontScale="90000"/>
          </a:bodyPr>
          <a:lstStyle/>
          <a:p>
            <a:r>
              <a:rPr lang="en-IN" dirty="0" smtClean="0"/>
              <a:t>Classifier Evaluation</a:t>
            </a:r>
            <a:endParaRPr lang="en-US" dirty="0"/>
          </a:p>
        </p:txBody>
      </p:sp>
      <p:pic>
        <p:nvPicPr>
          <p:cNvPr id="156674" name="Picture 2"/>
          <p:cNvPicPr>
            <a:picLocks noChangeAspect="1" noChangeArrowheads="1"/>
          </p:cNvPicPr>
          <p:nvPr/>
        </p:nvPicPr>
        <p:blipFill>
          <a:blip r:embed="rId2"/>
          <a:srcRect/>
          <a:stretch>
            <a:fillRect/>
          </a:stretch>
        </p:blipFill>
        <p:spPr bwMode="auto">
          <a:xfrm>
            <a:off x="1000100" y="1500174"/>
            <a:ext cx="7429552" cy="4605342"/>
          </a:xfrm>
          <a:prstGeom prst="rect">
            <a:avLst/>
          </a:prstGeom>
          <a:noFill/>
          <a:ln w="9525">
            <a:noFill/>
            <a:miter lim="800000"/>
            <a:headEnd/>
            <a:tailEnd/>
          </a:ln>
          <a:effec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28604"/>
            <a:ext cx="7772400" cy="571504"/>
          </a:xfrm>
        </p:spPr>
        <p:txBody>
          <a:bodyPr/>
          <a:lstStyle/>
          <a:p>
            <a:r>
              <a:rPr lang="en-US" sz="2800" dirty="0" smtClean="0">
                <a:solidFill>
                  <a:srgbClr val="333399"/>
                </a:solidFill>
              </a:rPr>
              <a:t>Classifier Evaluation Metrics: Confusion Matrix</a:t>
            </a:r>
            <a:endParaRPr lang="en-US" dirty="0"/>
          </a:p>
        </p:txBody>
      </p:sp>
      <p:sp>
        <p:nvSpPr>
          <p:cNvPr id="5" name="Content Placeholder 4"/>
          <p:cNvSpPr>
            <a:spLocks noGrp="1"/>
          </p:cNvSpPr>
          <p:nvPr>
            <p:ph idx="1"/>
          </p:nvPr>
        </p:nvSpPr>
        <p:spPr>
          <a:xfrm>
            <a:off x="304800" y="1571612"/>
            <a:ext cx="8458200" cy="4829188"/>
          </a:xfrm>
        </p:spPr>
        <p:txBody>
          <a:bodyPr>
            <a:normAutofit lnSpcReduction="10000"/>
          </a:bodyPr>
          <a:lstStyle/>
          <a:p>
            <a:endParaRPr lang="en-IN" dirty="0" smtClean="0"/>
          </a:p>
          <a:p>
            <a:pPr lvl="1" algn="just">
              <a:spcBef>
                <a:spcPts val="0"/>
              </a:spcBef>
              <a:buClr>
                <a:srgbClr val="000000"/>
              </a:buClr>
              <a:buNone/>
              <a:defRPr/>
            </a:pPr>
            <a:endParaRPr lang="en-IN" sz="1800" dirty="0" smtClean="0">
              <a:solidFill>
                <a:srgbClr val="000000"/>
              </a:solidFill>
              <a:sym typeface="Candara" charset="0"/>
            </a:endParaRPr>
          </a:p>
          <a:p>
            <a:pPr lvl="1" algn="just">
              <a:spcBef>
                <a:spcPts val="0"/>
              </a:spcBef>
              <a:buClr>
                <a:srgbClr val="000000"/>
              </a:buClr>
              <a:buNone/>
              <a:defRPr/>
            </a:pPr>
            <a:endParaRPr lang="en-IN" sz="1800" dirty="0" smtClean="0">
              <a:solidFill>
                <a:srgbClr val="000000"/>
              </a:solidFill>
              <a:sym typeface="Candara" charset="0"/>
            </a:endParaRPr>
          </a:p>
          <a:p>
            <a:pPr lvl="1" algn="just">
              <a:spcBef>
                <a:spcPts val="0"/>
              </a:spcBef>
              <a:buClr>
                <a:srgbClr val="000000"/>
              </a:buClr>
              <a:buNone/>
              <a:defRPr/>
            </a:pPr>
            <a:endParaRPr lang="en-US" sz="1800" dirty="0" smtClean="0">
              <a:solidFill>
                <a:srgbClr val="000000"/>
              </a:solidFill>
              <a:sym typeface="Candara" charset="0"/>
            </a:endParaRPr>
          </a:p>
          <a:p>
            <a:pPr marL="342900" lvl="1" indent="-342900">
              <a:lnSpc>
                <a:spcPct val="90000"/>
              </a:lnSpc>
              <a:buClr>
                <a:schemeClr val="folHlink"/>
              </a:buClr>
              <a:buSzPct val="60000"/>
            </a:pPr>
            <a:r>
              <a:rPr lang="en-US" sz="2400" b="1" dirty="0" smtClean="0"/>
              <a:t>Precision</a:t>
            </a:r>
            <a:r>
              <a:rPr lang="en-US" sz="2400" dirty="0" smtClean="0"/>
              <a:t>: exactness – what % of </a:t>
            </a:r>
            <a:r>
              <a:rPr lang="en-US" sz="2400" dirty="0" err="1" smtClean="0"/>
              <a:t>tuples</a:t>
            </a:r>
            <a:r>
              <a:rPr lang="en-US" sz="2400" dirty="0" smtClean="0"/>
              <a:t> that the classifier labeled as positive are actually positive? </a:t>
            </a:r>
          </a:p>
          <a:p>
            <a:pPr marL="342900" lvl="1" indent="-342900">
              <a:lnSpc>
                <a:spcPct val="90000"/>
              </a:lnSpc>
              <a:buClr>
                <a:schemeClr val="folHlink"/>
              </a:buClr>
              <a:buSzPct val="60000"/>
            </a:pPr>
            <a:endParaRPr lang="en-US" sz="2400" dirty="0" smtClean="0">
              <a:solidFill>
                <a:srgbClr val="000000"/>
              </a:solidFill>
              <a:sym typeface="Candara" charset="0"/>
            </a:endParaRPr>
          </a:p>
          <a:p>
            <a:pPr marL="342900" lvl="1" indent="-342900">
              <a:lnSpc>
                <a:spcPct val="90000"/>
              </a:lnSpc>
              <a:buClr>
                <a:schemeClr val="folHlink"/>
              </a:buClr>
              <a:buSzPct val="60000"/>
              <a:buNone/>
            </a:pPr>
            <a:endParaRPr lang="en-US" sz="2400" b="1" dirty="0" smtClean="0"/>
          </a:p>
          <a:p>
            <a:pPr marL="342900" lvl="1" indent="-342900">
              <a:lnSpc>
                <a:spcPct val="90000"/>
              </a:lnSpc>
              <a:buClr>
                <a:schemeClr val="folHlink"/>
              </a:buClr>
              <a:buSzPct val="60000"/>
            </a:pPr>
            <a:r>
              <a:rPr lang="en-US" sz="2400" b="1" dirty="0" smtClean="0"/>
              <a:t>Recall: </a:t>
            </a:r>
            <a:r>
              <a:rPr lang="en-US" sz="2400" dirty="0" smtClean="0"/>
              <a:t>completeness – what % of positive </a:t>
            </a:r>
            <a:r>
              <a:rPr lang="en-US" sz="2400" dirty="0" err="1" smtClean="0"/>
              <a:t>tuples</a:t>
            </a:r>
            <a:r>
              <a:rPr lang="en-US" sz="2400" dirty="0" smtClean="0"/>
              <a:t> did the classifier label as positive?</a:t>
            </a:r>
            <a:endParaRPr lang="en-US" sz="2400" dirty="0" smtClean="0">
              <a:solidFill>
                <a:srgbClr val="000000"/>
              </a:solidFill>
              <a:sym typeface="Candara" charset="0"/>
            </a:endParaRPr>
          </a:p>
          <a:p>
            <a:pPr marL="342900" lvl="1" indent="-342900">
              <a:lnSpc>
                <a:spcPct val="90000"/>
              </a:lnSpc>
              <a:buClr>
                <a:schemeClr val="folHlink"/>
              </a:buClr>
              <a:buSzPct val="60000"/>
              <a:buNone/>
            </a:pPr>
            <a:endParaRPr lang="en-IN" sz="2400" dirty="0" smtClean="0">
              <a:solidFill>
                <a:srgbClr val="000000"/>
              </a:solidFill>
              <a:sym typeface="Candara" charset="0"/>
            </a:endParaRPr>
          </a:p>
          <a:p>
            <a:pPr marL="342900" lvl="1" indent="-342900">
              <a:lnSpc>
                <a:spcPct val="90000"/>
              </a:lnSpc>
              <a:buClr>
                <a:schemeClr val="folHlink"/>
              </a:buClr>
              <a:buSzPct val="60000"/>
              <a:buNone/>
            </a:pPr>
            <a:endParaRPr lang="en-US" sz="2400" dirty="0" smtClean="0">
              <a:solidFill>
                <a:srgbClr val="000000"/>
              </a:solidFill>
              <a:sym typeface="Candara" charset="0"/>
            </a:endParaRPr>
          </a:p>
          <a:p>
            <a:pPr marL="342900" lvl="1" indent="-342900">
              <a:lnSpc>
                <a:spcPct val="90000"/>
              </a:lnSpc>
              <a:buClr>
                <a:schemeClr val="folHlink"/>
              </a:buClr>
              <a:buSzPct val="60000"/>
            </a:pPr>
            <a:r>
              <a:rPr lang="en-US" sz="2400" dirty="0" smtClean="0"/>
              <a:t>Perfect score of Precision and Recall is 1.0</a:t>
            </a:r>
          </a:p>
          <a:p>
            <a:pPr>
              <a:lnSpc>
                <a:spcPct val="90000"/>
              </a:lnSpc>
            </a:pPr>
            <a:endParaRPr lang="en-US" sz="2400" b="1" dirty="0" smtClean="0"/>
          </a:p>
          <a:p>
            <a:pPr>
              <a:lnSpc>
                <a:spcPct val="90000"/>
              </a:lnSpc>
            </a:pPr>
            <a:endParaRPr lang="en-US" sz="2400" dirty="0" smtClean="0"/>
          </a:p>
          <a:p>
            <a:pPr lvl="1" algn="just">
              <a:spcBef>
                <a:spcPts val="0"/>
              </a:spcBef>
              <a:buClr>
                <a:srgbClr val="000000"/>
              </a:buClr>
              <a:buNone/>
              <a:defRPr/>
            </a:pPr>
            <a:endParaRPr lang="en-IN" sz="2400" dirty="0" smtClean="0">
              <a:solidFill>
                <a:srgbClr val="000000"/>
              </a:solidFill>
              <a:cs typeface="Arial" charset="0"/>
              <a:sym typeface="Arial" charset="0"/>
            </a:endParaRPr>
          </a:p>
          <a:p>
            <a:pPr lvl="1" algn="just">
              <a:spcBef>
                <a:spcPts val="0"/>
              </a:spcBef>
              <a:buClr>
                <a:srgbClr val="000000"/>
              </a:buClr>
              <a:buNone/>
              <a:defRPr/>
            </a:pPr>
            <a:endParaRPr lang="en-IN" sz="2400" dirty="0" smtClean="0">
              <a:solidFill>
                <a:srgbClr val="000000"/>
              </a:solidFill>
              <a:cs typeface="Arial" charset="0"/>
              <a:sym typeface="Arial" charset="0"/>
            </a:endParaRPr>
          </a:p>
          <a:p>
            <a:pPr lvl="1" algn="just">
              <a:spcBef>
                <a:spcPts val="0"/>
              </a:spcBef>
              <a:buClr>
                <a:srgbClr val="000000"/>
              </a:buClr>
              <a:buNone/>
              <a:defRPr/>
            </a:pPr>
            <a:endParaRPr lang="en-US" sz="1800" dirty="0" smtClean="0">
              <a:solidFill>
                <a:srgbClr val="000000"/>
              </a:solidFill>
              <a:cs typeface="Arial" charset="0"/>
              <a:sym typeface="Arial" charset="0"/>
            </a:endParaRPr>
          </a:p>
          <a:p>
            <a:endParaRPr lang="en-US" dirty="0"/>
          </a:p>
        </p:txBody>
      </p:sp>
      <p:pic>
        <p:nvPicPr>
          <p:cNvPr id="4" name="Picture 3"/>
          <p:cNvPicPr>
            <a:picLocks noChangeAspect="1"/>
          </p:cNvPicPr>
          <p:nvPr/>
        </p:nvPicPr>
        <p:blipFill>
          <a:blip r:embed="rId2"/>
          <a:stretch>
            <a:fillRect/>
          </a:stretch>
        </p:blipFill>
        <p:spPr>
          <a:xfrm>
            <a:off x="2357422" y="1285860"/>
            <a:ext cx="4876800" cy="1447800"/>
          </a:xfrm>
          <a:prstGeom prst="rect">
            <a:avLst/>
          </a:prstGeom>
        </p:spPr>
      </p:pic>
      <p:sp>
        <p:nvSpPr>
          <p:cNvPr id="1617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1793"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714480" y="3714752"/>
            <a:ext cx="2357454" cy="587139"/>
          </a:xfrm>
          <a:prstGeom prst="rect">
            <a:avLst/>
          </a:prstGeom>
          <a:noFill/>
        </p:spPr>
      </p:pic>
      <p:sp>
        <p:nvSpPr>
          <p:cNvPr id="16179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1795"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057400" y="4876800"/>
            <a:ext cx="2214578" cy="641062"/>
          </a:xfrm>
          <a:prstGeom prst="rect">
            <a:avLst/>
          </a:prstGeom>
          <a:noFill/>
        </p:spPr>
      </p:pic>
    </p:spTree>
    <p:extLst>
      <p:ext uri="{BB962C8B-B14F-4D97-AF65-F5344CB8AC3E}">
        <p14:creationId xmlns:p14="http://schemas.microsoft.com/office/powerpoint/2010/main" xmlns="" val="3709682856"/>
      </p:ext>
    </p:extLst>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390508"/>
          </a:xfrm>
        </p:spPr>
        <p:txBody>
          <a:bodyPr>
            <a:normAutofit fontScale="90000"/>
          </a:bodyPr>
          <a:lstStyle/>
          <a:p>
            <a:r>
              <a:rPr lang="en-US" sz="2800" dirty="0" smtClean="0">
                <a:solidFill>
                  <a:srgbClr val="333399"/>
                </a:solidFill>
              </a:rPr>
              <a:t>Classifier Evaluation Metrics: Confusion Matrix</a:t>
            </a:r>
            <a:endParaRPr lang="en-US" dirty="0"/>
          </a:p>
        </p:txBody>
      </p:sp>
      <p:sp>
        <p:nvSpPr>
          <p:cNvPr id="5" name="Content Placeholder 4"/>
          <p:cNvSpPr>
            <a:spLocks noGrp="1"/>
          </p:cNvSpPr>
          <p:nvPr>
            <p:ph idx="1"/>
          </p:nvPr>
        </p:nvSpPr>
        <p:spPr>
          <a:xfrm>
            <a:off x="304800" y="1143000"/>
            <a:ext cx="8458200" cy="5257800"/>
          </a:xfrm>
        </p:spPr>
        <p:txBody>
          <a:bodyPr/>
          <a:lstStyle/>
          <a:p>
            <a:endParaRPr lang="en-IN" dirty="0" smtClean="0"/>
          </a:p>
          <a:p>
            <a:pPr lvl="1" algn="just">
              <a:spcBef>
                <a:spcPts val="0"/>
              </a:spcBef>
              <a:buClr>
                <a:srgbClr val="000000"/>
              </a:buClr>
              <a:buNone/>
              <a:defRPr/>
            </a:pPr>
            <a:endParaRPr lang="en-IN" sz="1800" dirty="0" smtClean="0">
              <a:solidFill>
                <a:srgbClr val="000000"/>
              </a:solidFill>
              <a:sym typeface="Candara" charset="0"/>
            </a:endParaRPr>
          </a:p>
          <a:p>
            <a:pPr lvl="1" algn="just">
              <a:spcBef>
                <a:spcPts val="0"/>
              </a:spcBef>
              <a:buClr>
                <a:srgbClr val="000000"/>
              </a:buClr>
              <a:buNone/>
              <a:defRPr/>
            </a:pPr>
            <a:endParaRPr lang="en-IN" sz="1800" dirty="0" smtClean="0">
              <a:solidFill>
                <a:srgbClr val="000000"/>
              </a:solidFill>
              <a:sym typeface="Candara" charset="0"/>
            </a:endParaRPr>
          </a:p>
          <a:p>
            <a:pPr marL="342900" lvl="1" indent="-342900">
              <a:lnSpc>
                <a:spcPct val="90000"/>
              </a:lnSpc>
              <a:buClr>
                <a:schemeClr val="folHlink"/>
              </a:buClr>
              <a:buSzPct val="60000"/>
              <a:buNone/>
            </a:pPr>
            <a:endParaRPr lang="en-US" sz="2400" dirty="0" smtClean="0"/>
          </a:p>
          <a:p>
            <a:pPr>
              <a:lnSpc>
                <a:spcPct val="90000"/>
              </a:lnSpc>
            </a:pPr>
            <a:r>
              <a:rPr lang="en-US" sz="2400" b="1" dirty="0" smtClean="0"/>
              <a:t>Classifier Accuracy, </a:t>
            </a:r>
            <a:r>
              <a:rPr lang="en-US" sz="2400" dirty="0" smtClean="0"/>
              <a:t>or recognition rate: percentage of test set </a:t>
            </a:r>
            <a:r>
              <a:rPr lang="en-US" sz="2400" dirty="0" err="1" smtClean="0"/>
              <a:t>tuples</a:t>
            </a:r>
            <a:r>
              <a:rPr lang="en-US" sz="2400" dirty="0" smtClean="0"/>
              <a:t> that are correctly classified</a:t>
            </a:r>
            <a:endParaRPr lang="en-US" sz="2400" b="1" i="1" dirty="0" smtClean="0"/>
          </a:p>
          <a:p>
            <a:pPr>
              <a:lnSpc>
                <a:spcPct val="90000"/>
              </a:lnSpc>
            </a:pPr>
            <a:endParaRPr lang="en-US" sz="2400" b="1" i="1" dirty="0" smtClean="0"/>
          </a:p>
          <a:p>
            <a:pPr>
              <a:lnSpc>
                <a:spcPct val="90000"/>
              </a:lnSpc>
            </a:pPr>
            <a:endParaRPr lang="en-US" sz="2400" b="1" i="1" dirty="0" smtClean="0"/>
          </a:p>
          <a:p>
            <a:pPr>
              <a:lnSpc>
                <a:spcPct val="90000"/>
              </a:lnSpc>
            </a:pPr>
            <a:endParaRPr lang="en-US" sz="2400" b="1" i="1" dirty="0" smtClean="0"/>
          </a:p>
          <a:p>
            <a:pPr>
              <a:lnSpc>
                <a:spcPct val="90000"/>
              </a:lnSpc>
            </a:pPr>
            <a:r>
              <a:rPr lang="en-US" sz="2400" b="1" i="1" dirty="0" smtClean="0"/>
              <a:t>F-M</a:t>
            </a:r>
            <a:r>
              <a:rPr lang="en-US" sz="2400" b="1" dirty="0" smtClean="0"/>
              <a:t>easure (</a:t>
            </a:r>
            <a:r>
              <a:rPr lang="en-US" sz="2400" b="1" i="1" dirty="0" smtClean="0"/>
              <a:t>F</a:t>
            </a:r>
            <a:r>
              <a:rPr lang="en-US" sz="2400" b="1" i="1" baseline="-25000" dirty="0" smtClean="0"/>
              <a:t>1 </a:t>
            </a:r>
            <a:r>
              <a:rPr lang="en-US" sz="2400" b="1" i="1" dirty="0" smtClean="0"/>
              <a:t>- S</a:t>
            </a:r>
            <a:r>
              <a:rPr lang="en-US" sz="2400" b="1" dirty="0" smtClean="0"/>
              <a:t>core)</a:t>
            </a:r>
            <a:r>
              <a:rPr lang="en-US" sz="2400" dirty="0" smtClean="0"/>
              <a:t>: harmonic mean of precision and recall. </a:t>
            </a:r>
            <a:endParaRPr lang="en-US" sz="2400" b="1" i="1" dirty="0" smtClean="0"/>
          </a:p>
          <a:p>
            <a:pPr>
              <a:lnSpc>
                <a:spcPct val="90000"/>
              </a:lnSpc>
            </a:pPr>
            <a:endParaRPr lang="en-US" sz="2400" b="1" i="1" dirty="0" smtClean="0"/>
          </a:p>
          <a:p>
            <a:pPr>
              <a:lnSpc>
                <a:spcPct val="90000"/>
              </a:lnSpc>
              <a:buNone/>
            </a:pPr>
            <a:endParaRPr lang="en-US" sz="2400" b="1" i="1" dirty="0" smtClean="0"/>
          </a:p>
          <a:p>
            <a:pPr>
              <a:lnSpc>
                <a:spcPct val="80000"/>
              </a:lnSpc>
            </a:pPr>
            <a:endParaRPr lang="en-IN" sz="2400" dirty="0" smtClean="0">
              <a:cs typeface="Tahoma" pitchFamily="34" charset="0"/>
            </a:endParaRPr>
          </a:p>
          <a:p>
            <a:pPr>
              <a:lnSpc>
                <a:spcPct val="80000"/>
              </a:lnSpc>
              <a:buNone/>
            </a:pPr>
            <a:endParaRPr lang="en-IN" sz="2400" dirty="0" smtClean="0">
              <a:cs typeface="Tahoma" pitchFamily="34" charset="0"/>
            </a:endParaRPr>
          </a:p>
          <a:p>
            <a:pPr>
              <a:lnSpc>
                <a:spcPct val="80000"/>
              </a:lnSpc>
            </a:pPr>
            <a:endParaRPr lang="en-IN" sz="2400" dirty="0" smtClean="0">
              <a:cs typeface="Tahoma" pitchFamily="34" charset="0"/>
            </a:endParaRPr>
          </a:p>
          <a:p>
            <a:pPr>
              <a:lnSpc>
                <a:spcPct val="80000"/>
              </a:lnSpc>
            </a:pPr>
            <a:endParaRPr lang="en-US" sz="2400" dirty="0" smtClean="0"/>
          </a:p>
          <a:p>
            <a:pPr>
              <a:lnSpc>
                <a:spcPct val="90000"/>
              </a:lnSpc>
            </a:pPr>
            <a:endParaRPr lang="en-US" sz="2400" dirty="0" smtClean="0"/>
          </a:p>
          <a:p>
            <a:pPr>
              <a:lnSpc>
                <a:spcPct val="90000"/>
              </a:lnSpc>
            </a:pPr>
            <a:endParaRPr lang="en-US" sz="2400" b="1" dirty="0" smtClean="0"/>
          </a:p>
          <a:p>
            <a:pPr>
              <a:lnSpc>
                <a:spcPct val="90000"/>
              </a:lnSpc>
            </a:pPr>
            <a:endParaRPr lang="en-US" sz="2400" dirty="0" smtClean="0"/>
          </a:p>
          <a:p>
            <a:pPr lvl="1" algn="just">
              <a:spcBef>
                <a:spcPts val="0"/>
              </a:spcBef>
              <a:buClr>
                <a:srgbClr val="000000"/>
              </a:buClr>
              <a:buNone/>
              <a:defRPr/>
            </a:pPr>
            <a:endParaRPr lang="en-IN" sz="2400" dirty="0" smtClean="0">
              <a:solidFill>
                <a:srgbClr val="000000"/>
              </a:solidFill>
              <a:cs typeface="Arial" charset="0"/>
              <a:sym typeface="Arial" charset="0"/>
            </a:endParaRPr>
          </a:p>
        </p:txBody>
      </p:sp>
      <p:pic>
        <p:nvPicPr>
          <p:cNvPr id="4" name="Picture 3"/>
          <p:cNvPicPr>
            <a:picLocks noChangeAspect="1"/>
          </p:cNvPicPr>
          <p:nvPr/>
        </p:nvPicPr>
        <p:blipFill>
          <a:blip r:embed="rId2"/>
          <a:stretch>
            <a:fillRect/>
          </a:stretch>
        </p:blipFill>
        <p:spPr>
          <a:xfrm>
            <a:off x="2362200" y="1143000"/>
            <a:ext cx="4876800" cy="1447800"/>
          </a:xfrm>
          <a:prstGeom prst="rect">
            <a:avLst/>
          </a:prstGeom>
        </p:spPr>
      </p:pic>
      <p:sp>
        <p:nvSpPr>
          <p:cNvPr id="160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0769"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571604" y="5214950"/>
            <a:ext cx="4429156" cy="614396"/>
          </a:xfrm>
          <a:prstGeom prst="rect">
            <a:avLst/>
          </a:prstGeom>
          <a:noFill/>
        </p:spPr>
      </p:pic>
      <p:sp>
        <p:nvSpPr>
          <p:cNvPr id="1607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0771"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714480" y="3571876"/>
            <a:ext cx="3857652" cy="627106"/>
          </a:xfrm>
          <a:prstGeom prst="rect">
            <a:avLst/>
          </a:prstGeom>
          <a:noFill/>
        </p:spPr>
      </p:pic>
    </p:spTree>
    <p:extLst>
      <p:ext uri="{BB962C8B-B14F-4D97-AF65-F5344CB8AC3E}">
        <p14:creationId xmlns:p14="http://schemas.microsoft.com/office/powerpoint/2010/main" xmlns="" val="3709682856"/>
      </p:ext>
    </p:extLst>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500042"/>
            <a:ext cx="7772400" cy="533384"/>
          </a:xfrm>
        </p:spPr>
        <p:txBody>
          <a:bodyPr/>
          <a:lstStyle/>
          <a:p>
            <a:r>
              <a:rPr lang="en-US" sz="2800" dirty="0" smtClean="0">
                <a:solidFill>
                  <a:srgbClr val="333399"/>
                </a:solidFill>
              </a:rPr>
              <a:t>Importance of Recall</a:t>
            </a:r>
            <a:endParaRPr lang="en-US" dirty="0"/>
          </a:p>
        </p:txBody>
      </p:sp>
      <p:sp>
        <p:nvSpPr>
          <p:cNvPr id="3" name="Content Placeholder 2"/>
          <p:cNvSpPr>
            <a:spLocks noGrp="1"/>
          </p:cNvSpPr>
          <p:nvPr>
            <p:ph idx="1"/>
          </p:nvPr>
        </p:nvSpPr>
        <p:spPr>
          <a:xfrm>
            <a:off x="642910" y="2643182"/>
            <a:ext cx="7772400" cy="3738570"/>
          </a:xfrm>
        </p:spPr>
        <p:txBody>
          <a:bodyPr/>
          <a:lstStyle/>
          <a:p>
            <a:r>
              <a:rPr lang="en-IN" sz="2400" dirty="0" smtClean="0"/>
              <a:t>Let, a dataset contains 90 negative (majority) samples and 10 positive (minority) samples. </a:t>
            </a:r>
          </a:p>
          <a:p>
            <a:r>
              <a:rPr lang="en-IN" sz="2400" dirty="0" smtClean="0"/>
              <a:t>Let a classifier gives TP=2, FN=8, FP=0, TN=90</a:t>
            </a:r>
          </a:p>
          <a:p>
            <a:r>
              <a:rPr lang="en-IN" sz="2400" dirty="0" smtClean="0"/>
              <a:t>Here, Accuracy=92%, Precision = 100%, Recall=20%</a:t>
            </a:r>
          </a:p>
          <a:p>
            <a:r>
              <a:rPr lang="en-US" sz="2400" dirty="0" smtClean="0"/>
              <a:t>In a disease dataset, </a:t>
            </a:r>
            <a:r>
              <a:rPr lang="en-US" sz="2400" b="1" dirty="0" smtClean="0"/>
              <a:t>Recall</a:t>
            </a:r>
            <a:r>
              <a:rPr lang="en-US" sz="2400" dirty="0" smtClean="0"/>
              <a:t> is crucial because it's important to minimize false negatives, ensuring that most (if not all) actual cases are identified. </a:t>
            </a:r>
          </a:p>
          <a:p>
            <a:r>
              <a:rPr lang="en-US" sz="2400" dirty="0" smtClean="0"/>
              <a:t>Missing a disease case (false negative) could have severe consequences for patient health.</a:t>
            </a:r>
            <a:endParaRPr lang="en-US" sz="2400" dirty="0"/>
          </a:p>
        </p:txBody>
      </p:sp>
      <p:pic>
        <p:nvPicPr>
          <p:cNvPr id="4" name="Picture 3"/>
          <p:cNvPicPr>
            <a:picLocks noChangeAspect="1"/>
          </p:cNvPicPr>
          <p:nvPr/>
        </p:nvPicPr>
        <p:blipFill>
          <a:blip r:embed="rId2"/>
          <a:stretch>
            <a:fillRect/>
          </a:stretch>
        </p:blipFill>
        <p:spPr>
          <a:xfrm>
            <a:off x="2362200" y="1143000"/>
            <a:ext cx="4876800" cy="14478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28604"/>
            <a:ext cx="7772400" cy="428628"/>
          </a:xfrm>
        </p:spPr>
        <p:txBody>
          <a:bodyPr>
            <a:normAutofit fontScale="90000"/>
          </a:bodyPr>
          <a:lstStyle/>
          <a:p>
            <a:r>
              <a:rPr lang="en-US" dirty="0" smtClean="0">
                <a:solidFill>
                  <a:srgbClr val="333399"/>
                </a:solidFill>
              </a:rPr>
              <a:t>Importance of Precision</a:t>
            </a:r>
            <a:endParaRPr lang="en-US" dirty="0"/>
          </a:p>
        </p:txBody>
      </p:sp>
      <p:sp>
        <p:nvSpPr>
          <p:cNvPr id="3" name="Content Placeholder 2"/>
          <p:cNvSpPr>
            <a:spLocks noGrp="1"/>
          </p:cNvSpPr>
          <p:nvPr>
            <p:ph idx="1"/>
          </p:nvPr>
        </p:nvSpPr>
        <p:spPr>
          <a:xfrm>
            <a:off x="571472" y="2428868"/>
            <a:ext cx="7772400" cy="3929090"/>
          </a:xfrm>
        </p:spPr>
        <p:txBody>
          <a:bodyPr/>
          <a:lstStyle/>
          <a:p>
            <a:r>
              <a:rPr lang="en-IN" sz="2000" dirty="0" smtClean="0"/>
              <a:t>Let, a dataset contains 10 positive (minority) samples and 90 negative (majority) samples. </a:t>
            </a:r>
          </a:p>
          <a:p>
            <a:r>
              <a:rPr lang="en-IN" sz="2000" dirty="0" smtClean="0"/>
              <a:t>Let a classifier gives TP=10, FN=0, FP=50, TN=40</a:t>
            </a:r>
          </a:p>
          <a:p>
            <a:r>
              <a:rPr lang="en-IN" sz="2000" dirty="0" smtClean="0"/>
              <a:t>Here, Accuracy=50%, Precision = 1/6=17%, Recall=100%</a:t>
            </a:r>
          </a:p>
          <a:p>
            <a:r>
              <a:rPr lang="en-US" sz="2000" b="1" dirty="0" smtClean="0"/>
              <a:t>Precision</a:t>
            </a:r>
            <a:r>
              <a:rPr lang="en-US" sz="2000" dirty="0" smtClean="0"/>
              <a:t> is very important in </a:t>
            </a:r>
            <a:r>
              <a:rPr lang="en-US" sz="2000" b="1" dirty="0" smtClean="0"/>
              <a:t>fraud detection</a:t>
            </a:r>
            <a:r>
              <a:rPr lang="en-US" sz="2000" dirty="0" smtClean="0"/>
              <a:t>. </a:t>
            </a:r>
          </a:p>
          <a:p>
            <a:r>
              <a:rPr lang="en-US" sz="2000" dirty="0" smtClean="0"/>
              <a:t>In this scenario, misclassifying an innocent transaction (negative sample) as fraudulent (false positive) can inconvenience customers and damage trust.</a:t>
            </a:r>
          </a:p>
          <a:p>
            <a:r>
              <a:rPr lang="en-US" sz="2000" dirty="0" smtClean="0"/>
              <a:t>High precision in fraud detection ensures that only truly fraudulent transactions are identified, minimizing unnecessary intervention.</a:t>
            </a:r>
            <a:endParaRPr lang="en-US" sz="2000" dirty="0"/>
          </a:p>
        </p:txBody>
      </p:sp>
      <p:pic>
        <p:nvPicPr>
          <p:cNvPr id="4" name="Picture 3"/>
          <p:cNvPicPr>
            <a:picLocks noChangeAspect="1"/>
          </p:cNvPicPr>
          <p:nvPr/>
        </p:nvPicPr>
        <p:blipFill>
          <a:blip r:embed="rId2"/>
          <a:stretch>
            <a:fillRect/>
          </a:stretch>
        </p:blipFill>
        <p:spPr>
          <a:xfrm>
            <a:off x="2362200" y="1071546"/>
            <a:ext cx="4876800" cy="14478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ChangeArrowheads="1"/>
          </p:cNvSpPr>
          <p:nvPr>
            <p:ph type="title"/>
          </p:nvPr>
        </p:nvSpPr>
        <p:spPr>
          <a:xfrm>
            <a:off x="685800" y="609600"/>
            <a:ext cx="7772400" cy="390508"/>
          </a:xfrm>
        </p:spPr>
        <p:txBody>
          <a:bodyPr>
            <a:normAutofit fontScale="90000"/>
          </a:bodyPr>
          <a:lstStyle/>
          <a:p>
            <a:r>
              <a:rPr lang="en-US" sz="2400" dirty="0" smtClean="0"/>
              <a:t>Classifier Evaluation Metrics: Sensitivity and Specificity</a:t>
            </a:r>
          </a:p>
        </p:txBody>
      </p:sp>
      <p:sp>
        <p:nvSpPr>
          <p:cNvPr id="6" name="Content Placeholder 5"/>
          <p:cNvSpPr>
            <a:spLocks noGrp="1"/>
          </p:cNvSpPr>
          <p:nvPr>
            <p:ph idx="1"/>
          </p:nvPr>
        </p:nvSpPr>
        <p:spPr>
          <a:xfrm>
            <a:off x="304800" y="1714488"/>
            <a:ext cx="8458200" cy="4686312"/>
          </a:xfrm>
        </p:spPr>
        <p:txBody>
          <a:bodyPr/>
          <a:lstStyle/>
          <a:p>
            <a:endParaRPr lang="en-IN" dirty="0" smtClean="0"/>
          </a:p>
          <a:p>
            <a:pPr>
              <a:spcBef>
                <a:spcPts val="0"/>
              </a:spcBef>
            </a:pPr>
            <a:r>
              <a:rPr lang="en-IN" sz="2400" b="1" dirty="0" smtClean="0"/>
              <a:t>S</a:t>
            </a:r>
            <a:r>
              <a:rPr lang="en-US" sz="2400" b="1" dirty="0" err="1" smtClean="0"/>
              <a:t>ensitivity</a:t>
            </a:r>
            <a:r>
              <a:rPr lang="en-US" sz="2400" dirty="0" smtClean="0"/>
              <a:t>: True Positive recognition rate </a:t>
            </a:r>
            <a:r>
              <a:rPr lang="en-US" b="1" dirty="0" smtClean="0"/>
              <a:t>=                 </a:t>
            </a:r>
          </a:p>
          <a:p>
            <a:pPr>
              <a:spcBef>
                <a:spcPts val="0"/>
              </a:spcBef>
              <a:buNone/>
            </a:pPr>
            <a:r>
              <a:rPr lang="en-US" b="1" dirty="0" smtClean="0"/>
              <a:t>    = </a:t>
            </a:r>
            <a:r>
              <a:rPr lang="en-US" sz="2400" b="1" dirty="0" smtClean="0"/>
              <a:t>Recall</a:t>
            </a:r>
          </a:p>
          <a:p>
            <a:pPr>
              <a:spcBef>
                <a:spcPts val="0"/>
              </a:spcBef>
            </a:pPr>
            <a:r>
              <a:rPr lang="en-US" sz="2400" b="1" dirty="0" smtClean="0"/>
              <a:t>Specificity</a:t>
            </a:r>
            <a:r>
              <a:rPr lang="en-US" sz="2400" dirty="0" smtClean="0"/>
              <a:t>: True Negative recognition rate </a:t>
            </a:r>
            <a:r>
              <a:rPr lang="en-US" b="1" dirty="0" smtClean="0"/>
              <a:t>= </a:t>
            </a:r>
          </a:p>
          <a:p>
            <a:endParaRPr lang="en-US" dirty="0"/>
          </a:p>
        </p:txBody>
      </p:sp>
      <p:sp>
        <p:nvSpPr>
          <p:cNvPr id="122911"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C67AAADB-C5FD-4207-B42B-6BEC445F437A}" type="slidenum">
              <a:rPr lang="en-US" sz="1200" b="1">
                <a:latin typeface="Calibri" pitchFamily="34" charset="0"/>
              </a:rPr>
              <a:pPr algn="r"/>
              <a:t>92</a:t>
            </a:fld>
            <a:endParaRPr lang="en-US" sz="1200" b="1">
              <a:latin typeface="Calibri" pitchFamily="34" charset="0"/>
            </a:endParaRPr>
          </a:p>
        </p:txBody>
      </p:sp>
      <p:pic>
        <p:nvPicPr>
          <p:cNvPr id="5" name="Picture 4"/>
          <p:cNvPicPr>
            <a:picLocks noChangeAspect="1"/>
          </p:cNvPicPr>
          <p:nvPr/>
        </p:nvPicPr>
        <p:blipFill>
          <a:blip r:embed="rId3"/>
          <a:stretch>
            <a:fillRect/>
          </a:stretch>
        </p:blipFill>
        <p:spPr>
          <a:xfrm>
            <a:off x="2362200" y="1143000"/>
            <a:ext cx="4495800" cy="1334691"/>
          </a:xfrm>
          <a:prstGeom prst="rect">
            <a:avLst/>
          </a:prstGeom>
        </p:spPr>
      </p:pic>
      <p:sp>
        <p:nvSpPr>
          <p:cNvPr id="4515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51585" name="Picture 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6357950" y="2285992"/>
            <a:ext cx="1295400" cy="481149"/>
          </a:xfrm>
          <a:prstGeom prst="rect">
            <a:avLst/>
          </a:prstGeom>
          <a:noFill/>
        </p:spPr>
      </p:pic>
      <p:sp>
        <p:nvSpPr>
          <p:cNvPr id="45158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51587" name="Picture 3"/>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6496072" y="3125408"/>
            <a:ext cx="1219200" cy="446468"/>
          </a:xfrm>
          <a:prstGeom prst="rect">
            <a:avLst/>
          </a:prstGeom>
          <a:noFill/>
        </p:spPr>
      </p:pic>
      <p:graphicFrame>
        <p:nvGraphicFramePr>
          <p:cNvPr id="11" name="Group 54"/>
          <p:cNvGraphicFramePr>
            <a:graphicFrameLocks noGrp="1"/>
          </p:cNvGraphicFramePr>
          <p:nvPr/>
        </p:nvGraphicFramePr>
        <p:xfrm>
          <a:off x="609600" y="3733800"/>
          <a:ext cx="7467600" cy="2458305"/>
        </p:xfrm>
        <a:graphic>
          <a:graphicData uri="http://schemas.openxmlformats.org/drawingml/2006/table">
            <a:tbl>
              <a:tblPr/>
              <a:tblGrid>
                <a:gridCol w="1600200"/>
                <a:gridCol w="990600"/>
                <a:gridCol w="1066800"/>
                <a:gridCol w="914400"/>
                <a:gridCol w="2895600"/>
              </a:tblGrid>
              <a:tr h="5798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Actual Class \ Predicted class</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yes</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no</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Total</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Recognition(%)</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8647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cancer = yes</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Calibri" pitchFamily="34" charset="0"/>
                        </a:rPr>
                        <a:t>90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Calibri" pitchFamily="34" charset="0"/>
                        </a:rPr>
                        <a:t>210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300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Sensitivity = 30.00</a:t>
                      </a:r>
                      <a:endParaRPr kumimoji="0" lang="en-US" sz="1800" b="0" i="1"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4510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no</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Calibri" pitchFamily="34" charset="0"/>
                        </a:rPr>
                        <a:t>140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9560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9700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Specificity = 98.56</a:t>
                      </a:r>
                      <a:endParaRPr kumimoji="0" lang="en-US" sz="1800" b="0" i="1"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3640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Total</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230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9770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10000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Accuracy=96.40</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629505">
                <a:tc gridSpan="5">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IN" sz="1800" b="0" i="0" u="none" strike="noStrike" cap="none" normalizeH="0" baseline="0" dirty="0" smtClean="0">
                          <a:ln>
                            <a:noFill/>
                          </a:ln>
                          <a:solidFill>
                            <a:schemeClr val="tx1"/>
                          </a:solidFill>
                          <a:effectLst/>
                          <a:latin typeface="Calibri" pitchFamily="34" charset="0"/>
                        </a:rPr>
                        <a:t>Precision=90/230 = 39.13,         Recall=90/300=30.00,       F-Score=33.96</a:t>
                      </a: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142852"/>
            <a:ext cx="7772400" cy="533384"/>
          </a:xfrm>
        </p:spPr>
        <p:txBody>
          <a:bodyPr>
            <a:normAutofit fontScale="90000"/>
          </a:bodyPr>
          <a:lstStyle/>
          <a:p>
            <a:r>
              <a:rPr lang="en-US" b="1" dirty="0" smtClean="0"/>
              <a:t>Mitigation Strategies</a:t>
            </a:r>
            <a:endParaRPr lang="en-US" dirty="0"/>
          </a:p>
        </p:txBody>
      </p:sp>
      <p:sp>
        <p:nvSpPr>
          <p:cNvPr id="3" name="Content Placeholder 2"/>
          <p:cNvSpPr>
            <a:spLocks noGrp="1"/>
          </p:cNvSpPr>
          <p:nvPr>
            <p:ph idx="1"/>
          </p:nvPr>
        </p:nvSpPr>
        <p:spPr>
          <a:xfrm>
            <a:off x="685800" y="857232"/>
            <a:ext cx="8029604" cy="5715040"/>
          </a:xfrm>
        </p:spPr>
        <p:txBody>
          <a:bodyPr/>
          <a:lstStyle/>
          <a:p>
            <a:r>
              <a:rPr lang="en-US" sz="2400" b="1" dirty="0" smtClean="0"/>
              <a:t>Class Weights</a:t>
            </a:r>
            <a:r>
              <a:rPr lang="en-US" sz="2400" dirty="0" smtClean="0"/>
              <a:t>: Adjust the loss function by assigning higher weights to minority class samples, making errors on minority samples more significant.</a:t>
            </a:r>
          </a:p>
          <a:p>
            <a:r>
              <a:rPr lang="en-US" sz="2400" b="1" dirty="0" err="1" smtClean="0"/>
              <a:t>Resampling</a:t>
            </a:r>
            <a:r>
              <a:rPr lang="en-US" sz="2400" dirty="0" smtClean="0"/>
              <a:t>: Use techniques like oversampling the minority class or </a:t>
            </a:r>
            <a:r>
              <a:rPr lang="en-US" sz="2400" dirty="0" err="1" smtClean="0"/>
              <a:t>undersampling</a:t>
            </a:r>
            <a:r>
              <a:rPr lang="en-US" sz="2400" dirty="0" smtClean="0"/>
              <a:t> the majority class to balance the dataset.</a:t>
            </a:r>
          </a:p>
          <a:p>
            <a:r>
              <a:rPr lang="en-US" sz="2400" b="1" dirty="0" smtClean="0"/>
              <a:t>Use Advanced Models</a:t>
            </a:r>
            <a:r>
              <a:rPr lang="en-US" sz="2400" dirty="0" smtClean="0"/>
              <a:t>: Ensemble methods, such as random forests or gradient boosting, can help by creating multiple classifiers that may handle the imbalance better.</a:t>
            </a:r>
          </a:p>
          <a:p>
            <a:r>
              <a:rPr lang="en-US" sz="2400" dirty="0" smtClean="0"/>
              <a:t>By applying these techniques, the model can achieve better generalization across classes and reduce the risk of </a:t>
            </a:r>
            <a:r>
              <a:rPr lang="en-US" sz="2400" dirty="0" err="1" smtClean="0"/>
              <a:t>overfitting</a:t>
            </a:r>
            <a:r>
              <a:rPr lang="en-US" sz="2400" dirty="0" smtClean="0"/>
              <a:t> to the majority class in imbalanced datasets.</a:t>
            </a:r>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461946"/>
          </a:xfrm>
        </p:spPr>
        <p:txBody>
          <a:bodyPr>
            <a:normAutofit fontScale="90000"/>
          </a:bodyPr>
          <a:lstStyle/>
          <a:p>
            <a:r>
              <a:rPr lang="en-US" sz="2800" dirty="0" smtClean="0"/>
              <a:t>Taxonomy of Existing Solutions for Class Imbalance</a:t>
            </a:r>
            <a:endParaRPr lang="en-US" dirty="0"/>
          </a:p>
        </p:txBody>
      </p:sp>
      <p:graphicFrame>
        <p:nvGraphicFramePr>
          <p:cNvPr id="4" name="Content Placeholder 3">
            <a:extLst>
              <a:ext uri="{FF2B5EF4-FFF2-40B4-BE49-F238E27FC236}">
                <a16:creationId xmlns:a16="http://schemas.microsoft.com/office/drawing/2014/main" xmlns="" id="{7807D245-31F5-F96C-170D-9C5EB9D93161}"/>
              </a:ext>
            </a:extLst>
          </p:cNvPr>
          <p:cNvGraphicFramePr>
            <a:graphicFrameLocks noGrp="1"/>
          </p:cNvGraphicFramePr>
          <p:nvPr>
            <p:ph idx="1"/>
            <p:extLst>
              <p:ext uri="{D42A27DB-BD31-4B8C-83A1-F6EECF244321}">
                <p14:modId xmlns:p14="http://schemas.microsoft.com/office/powerpoint/2010/main" xmlns="" val="718035943"/>
              </p:ext>
            </p:extLst>
          </p:nvPr>
        </p:nvGraphicFramePr>
        <p:xfrm>
          <a:off x="500034" y="1428736"/>
          <a:ext cx="8340395" cy="4357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xmlns="" id="{57AE1CFA-A4A5-0D3B-46A0-408D3C141168}"/>
              </a:ext>
            </a:extLst>
          </p:cNvPr>
          <p:cNvSpPr txBox="1"/>
          <p:nvPr/>
        </p:nvSpPr>
        <p:spPr>
          <a:xfrm>
            <a:off x="285720" y="6215082"/>
            <a:ext cx="8606995" cy="230832"/>
          </a:xfrm>
          <a:prstGeom prst="rect">
            <a:avLst/>
          </a:prstGeom>
          <a:noFill/>
        </p:spPr>
        <p:txBody>
          <a:bodyPr wrap="square" rtlCol="0">
            <a:spAutoFit/>
          </a:bodyPr>
          <a:lstStyle/>
          <a:p>
            <a:r>
              <a:rPr lang="en-US" sz="900" b="1" i="0" dirty="0" err="1">
                <a:solidFill>
                  <a:srgbClr val="222222"/>
                </a:solidFill>
                <a:effectLst/>
                <a:latin typeface="Arial" panose="020B0604020202020204" pitchFamily="34" charset="0"/>
              </a:rPr>
              <a:t>Prati</a:t>
            </a:r>
            <a:r>
              <a:rPr lang="en-US" sz="900" b="1" i="0" dirty="0">
                <a:solidFill>
                  <a:srgbClr val="222222"/>
                </a:solidFill>
                <a:effectLst/>
                <a:latin typeface="Arial" panose="020B0604020202020204" pitchFamily="34" charset="0"/>
              </a:rPr>
              <a:t>, R. C., Batista, G. E., &amp; </a:t>
            </a:r>
            <a:r>
              <a:rPr lang="en-US" sz="900" b="1" i="0" dirty="0" err="1">
                <a:solidFill>
                  <a:srgbClr val="222222"/>
                </a:solidFill>
                <a:effectLst/>
                <a:latin typeface="Arial" panose="020B0604020202020204" pitchFamily="34" charset="0"/>
              </a:rPr>
              <a:t>Monard</a:t>
            </a:r>
            <a:r>
              <a:rPr lang="en-US" sz="900" b="1" i="0" dirty="0">
                <a:solidFill>
                  <a:srgbClr val="222222"/>
                </a:solidFill>
                <a:effectLst/>
                <a:latin typeface="Arial" panose="020B0604020202020204" pitchFamily="34" charset="0"/>
              </a:rPr>
              <a:t>, M. C. (2004). Class imbalances versus class overlapping: an analysis of a learning system behavior. In </a:t>
            </a:r>
            <a:r>
              <a:rPr lang="en-US" sz="900" b="1" i="1" dirty="0">
                <a:solidFill>
                  <a:srgbClr val="222222"/>
                </a:solidFill>
                <a:effectLst/>
                <a:latin typeface="Arial" panose="020B0604020202020204" pitchFamily="34" charset="0"/>
              </a:rPr>
              <a:t>MICAI 2004</a:t>
            </a:r>
            <a:endParaRPr lang="en-US" sz="900" b="1"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74F1A5-35FE-9914-F3D5-0A599E5870B2}"/>
              </a:ext>
            </a:extLst>
          </p:cNvPr>
          <p:cNvSpPr>
            <a:spLocks noGrp="1"/>
          </p:cNvSpPr>
          <p:nvPr>
            <p:ph type="title"/>
          </p:nvPr>
        </p:nvSpPr>
        <p:spPr>
          <a:xfrm>
            <a:off x="0" y="1"/>
            <a:ext cx="9144000" cy="928670"/>
          </a:xfrm>
        </p:spPr>
        <p:style>
          <a:lnRef idx="1">
            <a:schemeClr val="accent1"/>
          </a:lnRef>
          <a:fillRef idx="3">
            <a:schemeClr val="accent1"/>
          </a:fillRef>
          <a:effectRef idx="2">
            <a:schemeClr val="accent1"/>
          </a:effectRef>
          <a:fontRef idx="minor">
            <a:schemeClr val="lt1"/>
          </a:fontRef>
        </p:style>
        <p:txBody>
          <a:bodyPr/>
          <a:lstStyle/>
          <a:p>
            <a:pPr algn="ctr"/>
            <a:r>
              <a:rPr lang="en-US" sz="3200" dirty="0"/>
              <a:t>Data Level Methods for Class Imbalance</a:t>
            </a:r>
          </a:p>
        </p:txBody>
      </p:sp>
      <p:sp>
        <p:nvSpPr>
          <p:cNvPr id="10" name="TextBox 9">
            <a:extLst>
              <a:ext uri="{FF2B5EF4-FFF2-40B4-BE49-F238E27FC236}">
                <a16:creationId xmlns:a16="http://schemas.microsoft.com/office/drawing/2014/main" xmlns="" id="{5E5DC460-E6EC-1083-D7C7-D8185CCB2F19}"/>
              </a:ext>
            </a:extLst>
          </p:cNvPr>
          <p:cNvSpPr txBox="1"/>
          <p:nvPr/>
        </p:nvSpPr>
        <p:spPr>
          <a:xfrm>
            <a:off x="285720" y="6000768"/>
            <a:ext cx="842968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900" b="1" i="0" dirty="0">
                <a:solidFill>
                  <a:srgbClr val="222222"/>
                </a:solidFill>
                <a:effectLst/>
                <a:latin typeface="Arial" panose="020B0604020202020204" pitchFamily="34" charset="0"/>
              </a:rPr>
              <a:t>García, V., Sánchez, J. S., Marqués, A. I., Florencia, R., &amp; Rivera, G. (2020). Understanding the apparent superiority of over-sampling through an analysis of local information for class-imbalanced data. </a:t>
            </a:r>
            <a:r>
              <a:rPr lang="en-US" sz="900" b="1" i="1" dirty="0">
                <a:solidFill>
                  <a:srgbClr val="222222"/>
                </a:solidFill>
                <a:effectLst/>
                <a:latin typeface="Arial" panose="020B0604020202020204" pitchFamily="34" charset="0"/>
              </a:rPr>
              <a:t>Expert Systems with Applications</a:t>
            </a:r>
            <a:r>
              <a:rPr lang="en-US" sz="900" b="1" i="0" dirty="0">
                <a:solidFill>
                  <a:srgbClr val="222222"/>
                </a:solidFill>
                <a:effectLst/>
                <a:latin typeface="Arial" panose="020B0604020202020204" pitchFamily="34" charset="0"/>
              </a:rPr>
              <a:t>, </a:t>
            </a:r>
            <a:r>
              <a:rPr lang="en-US" sz="900" b="1" i="1" dirty="0">
                <a:solidFill>
                  <a:srgbClr val="222222"/>
                </a:solidFill>
                <a:effectLst/>
                <a:latin typeface="Arial" panose="020B0604020202020204" pitchFamily="34" charset="0"/>
              </a:rPr>
              <a:t>158</a:t>
            </a:r>
            <a:r>
              <a:rPr lang="en-US" sz="900" b="1" i="0" dirty="0">
                <a:solidFill>
                  <a:srgbClr val="222222"/>
                </a:solidFill>
                <a:effectLst/>
                <a:latin typeface="Arial" panose="020B0604020202020204" pitchFamily="34" charset="0"/>
              </a:rPr>
              <a:t>, 113026.</a:t>
            </a:r>
            <a:endParaRPr lang="en-US" sz="900" b="1" dirty="0"/>
          </a:p>
        </p:txBody>
      </p:sp>
      <p:graphicFrame>
        <p:nvGraphicFramePr>
          <p:cNvPr id="6" name="Table 5"/>
          <p:cNvGraphicFramePr>
            <a:graphicFrameLocks noGrp="1"/>
          </p:cNvGraphicFramePr>
          <p:nvPr/>
        </p:nvGraphicFramePr>
        <p:xfrm>
          <a:off x="428596" y="1142984"/>
          <a:ext cx="7786741" cy="4234060"/>
        </p:xfrm>
        <a:graphic>
          <a:graphicData uri="http://schemas.openxmlformats.org/drawingml/2006/table">
            <a:tbl>
              <a:tblPr/>
              <a:tblGrid>
                <a:gridCol w="2856206"/>
                <a:gridCol w="2631248"/>
                <a:gridCol w="2299287"/>
              </a:tblGrid>
              <a:tr h="972700">
                <a:tc>
                  <a:txBody>
                    <a:bodyPr/>
                    <a:lstStyle/>
                    <a:p>
                      <a:pPr>
                        <a:spcAft>
                          <a:spcPts val="0"/>
                        </a:spcAft>
                      </a:pPr>
                      <a:r>
                        <a:rPr lang="en-US" sz="2000" b="1" dirty="0" err="1">
                          <a:solidFill>
                            <a:srgbClr val="000000"/>
                          </a:solidFill>
                          <a:latin typeface="Times New Roman"/>
                          <a:ea typeface="+mn-ea"/>
                          <a:cs typeface="+mn-cs"/>
                        </a:rPr>
                        <a:t>Undersampling</a:t>
                      </a:r>
                      <a:r>
                        <a:rPr lang="en-US" sz="2000" b="1" dirty="0">
                          <a:solidFill>
                            <a:srgbClr val="000000"/>
                          </a:solidFill>
                          <a:latin typeface="Times New Roman"/>
                          <a:ea typeface="+mn-ea"/>
                          <a:cs typeface="+mn-cs"/>
                        </a:rPr>
                        <a:t> </a:t>
                      </a: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2000" b="1" dirty="0">
                          <a:solidFill>
                            <a:srgbClr val="000000"/>
                          </a:solidFill>
                          <a:latin typeface="Times New Roman"/>
                          <a:ea typeface="+mn-ea"/>
                          <a:cs typeface="+mn-cs"/>
                        </a:rPr>
                        <a:t>Oversampling </a:t>
                      </a: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2000" b="1">
                          <a:solidFill>
                            <a:srgbClr val="000000"/>
                          </a:solidFill>
                          <a:latin typeface="Times New Roman"/>
                          <a:ea typeface="+mn-ea"/>
                          <a:cs typeface="+mn-cs"/>
                        </a:rPr>
                        <a:t>Hybrid </a:t>
                      </a: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18493">
                <a:tc>
                  <a:txBody>
                    <a:bodyPr/>
                    <a:lstStyle/>
                    <a:p>
                      <a:pPr marL="342900" lvl="0" indent="-342900">
                        <a:lnSpc>
                          <a:spcPct val="107000"/>
                        </a:lnSpc>
                        <a:spcAft>
                          <a:spcPts val="0"/>
                        </a:spcAft>
                        <a:buFont typeface="Symbol"/>
                        <a:buChar char=""/>
                      </a:pPr>
                      <a:r>
                        <a:rPr lang="en-US" sz="2000">
                          <a:latin typeface="Calibri"/>
                          <a:ea typeface="Calibri"/>
                          <a:cs typeface="Times New Roman"/>
                        </a:rPr>
                        <a:t>Random Undersampling </a:t>
                      </a:r>
                    </a:p>
                    <a:p>
                      <a:pPr marL="342900" lvl="0" indent="-342900">
                        <a:lnSpc>
                          <a:spcPct val="107000"/>
                        </a:lnSpc>
                        <a:spcAft>
                          <a:spcPts val="0"/>
                        </a:spcAft>
                        <a:buFont typeface="Symbol"/>
                        <a:buChar char=""/>
                      </a:pPr>
                      <a:r>
                        <a:rPr lang="en-US" sz="2000">
                          <a:latin typeface="Calibri"/>
                          <a:ea typeface="Calibri"/>
                          <a:cs typeface="Times New Roman"/>
                        </a:rPr>
                        <a:t>Condensed Nearest Neighbor</a:t>
                      </a:r>
                    </a:p>
                    <a:p>
                      <a:pPr marL="342900" lvl="0" indent="-342900">
                        <a:lnSpc>
                          <a:spcPct val="107000"/>
                        </a:lnSpc>
                        <a:spcAft>
                          <a:spcPts val="0"/>
                        </a:spcAft>
                        <a:buFont typeface="Symbol"/>
                        <a:buChar char=""/>
                      </a:pPr>
                      <a:r>
                        <a:rPr lang="en-US" sz="2000">
                          <a:latin typeface="Calibri"/>
                          <a:ea typeface="Calibri"/>
                          <a:cs typeface="Times New Roman"/>
                        </a:rPr>
                        <a:t>Tomek Links</a:t>
                      </a:r>
                    </a:p>
                    <a:p>
                      <a:pPr marL="342900" lvl="0" indent="-342900">
                        <a:lnSpc>
                          <a:spcPct val="107000"/>
                        </a:lnSpc>
                        <a:spcAft>
                          <a:spcPts val="0"/>
                        </a:spcAft>
                        <a:buFont typeface="Symbol"/>
                        <a:buChar char=""/>
                      </a:pPr>
                      <a:r>
                        <a:rPr lang="en-US" sz="2000">
                          <a:latin typeface="Calibri"/>
                          <a:ea typeface="Calibri"/>
                          <a:cs typeface="Times New Roman"/>
                        </a:rPr>
                        <a:t>One Sided Selection</a:t>
                      </a:r>
                    </a:p>
                    <a:p>
                      <a:pPr marL="342900" lvl="0" indent="-342900">
                        <a:lnSpc>
                          <a:spcPct val="107000"/>
                        </a:lnSpc>
                        <a:spcAft>
                          <a:spcPts val="0"/>
                        </a:spcAft>
                        <a:buFont typeface="Symbol"/>
                        <a:buChar char=""/>
                      </a:pPr>
                      <a:r>
                        <a:rPr lang="en-US" sz="2000">
                          <a:latin typeface="Calibri"/>
                          <a:ea typeface="Calibri"/>
                          <a:cs typeface="Times New Roman"/>
                        </a:rPr>
                        <a:t>Neighborhood Cleaning Rule</a:t>
                      </a:r>
                    </a:p>
                    <a:p>
                      <a:pPr marL="342900" lvl="0" indent="-342900">
                        <a:lnSpc>
                          <a:spcPct val="107000"/>
                        </a:lnSpc>
                        <a:spcAft>
                          <a:spcPts val="0"/>
                        </a:spcAft>
                        <a:buFont typeface="Symbol"/>
                        <a:buChar char=""/>
                      </a:pPr>
                      <a:r>
                        <a:rPr lang="en-US" sz="2000">
                          <a:latin typeface="Calibri"/>
                          <a:ea typeface="Calibri"/>
                          <a:cs typeface="Times New Roman"/>
                        </a:rPr>
                        <a:t>Undersampling Based on Clustering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nSpc>
                          <a:spcPct val="107000"/>
                        </a:lnSpc>
                        <a:spcAft>
                          <a:spcPts val="0"/>
                        </a:spcAft>
                        <a:buFont typeface="Symbol"/>
                        <a:buChar char=""/>
                      </a:pPr>
                      <a:r>
                        <a:rPr lang="en-US" sz="2000" dirty="0">
                          <a:latin typeface="Calibri"/>
                          <a:ea typeface="Calibri"/>
                          <a:cs typeface="Times New Roman"/>
                        </a:rPr>
                        <a:t>Random Oversampling</a:t>
                      </a:r>
                    </a:p>
                    <a:p>
                      <a:pPr marL="342900" lvl="0" indent="-342900">
                        <a:lnSpc>
                          <a:spcPct val="107000"/>
                        </a:lnSpc>
                        <a:spcAft>
                          <a:spcPts val="0"/>
                        </a:spcAft>
                        <a:buFont typeface="Symbol"/>
                        <a:buChar char=""/>
                      </a:pPr>
                      <a:r>
                        <a:rPr lang="en-US" sz="2000" dirty="0">
                          <a:latin typeface="Calibri"/>
                          <a:ea typeface="Calibri"/>
                          <a:cs typeface="Times New Roman"/>
                        </a:rPr>
                        <a:t>SMOTE</a:t>
                      </a:r>
                    </a:p>
                    <a:p>
                      <a:pPr marL="342900" lvl="0" indent="-342900">
                        <a:lnSpc>
                          <a:spcPct val="107000"/>
                        </a:lnSpc>
                        <a:spcAft>
                          <a:spcPts val="0"/>
                        </a:spcAft>
                        <a:buFont typeface="Symbol"/>
                        <a:buChar char=""/>
                      </a:pPr>
                      <a:r>
                        <a:rPr lang="en-US" sz="2000" dirty="0">
                          <a:latin typeface="Calibri"/>
                          <a:ea typeface="Calibri"/>
                          <a:cs typeface="Times New Roman"/>
                        </a:rPr>
                        <a:t>Borderline-SMOTE</a:t>
                      </a:r>
                    </a:p>
                    <a:p>
                      <a:pPr marL="342900" lvl="0" indent="-342900">
                        <a:lnSpc>
                          <a:spcPct val="107000"/>
                        </a:lnSpc>
                        <a:spcAft>
                          <a:spcPts val="0"/>
                        </a:spcAft>
                        <a:buFont typeface="Symbol"/>
                        <a:buChar char=""/>
                      </a:pPr>
                      <a:r>
                        <a:rPr lang="en-US" sz="2000" dirty="0">
                          <a:latin typeface="Calibri"/>
                          <a:ea typeface="Calibri"/>
                          <a:cs typeface="Times New Roman"/>
                        </a:rPr>
                        <a:t>Safe Level SMOTE</a:t>
                      </a:r>
                    </a:p>
                    <a:p>
                      <a:pPr marL="342900" lvl="0" indent="-342900">
                        <a:lnSpc>
                          <a:spcPct val="107000"/>
                        </a:lnSpc>
                        <a:spcAft>
                          <a:spcPts val="0"/>
                        </a:spcAft>
                        <a:buFont typeface="Symbol"/>
                        <a:buChar char=""/>
                      </a:pPr>
                      <a:r>
                        <a:rPr lang="en-US" sz="2000" dirty="0">
                          <a:latin typeface="Calibri"/>
                          <a:ea typeface="Calibri"/>
                          <a:cs typeface="Times New Roman"/>
                        </a:rPr>
                        <a:t>ADASYN</a:t>
                      </a:r>
                    </a:p>
                    <a:p>
                      <a:pPr marL="342900" lvl="0" indent="-342900">
                        <a:lnSpc>
                          <a:spcPct val="107000"/>
                        </a:lnSpc>
                        <a:spcAft>
                          <a:spcPts val="0"/>
                        </a:spcAft>
                        <a:buFont typeface="Symbol"/>
                        <a:buChar char=""/>
                      </a:pPr>
                      <a:r>
                        <a:rPr lang="en-US" sz="2000" dirty="0">
                          <a:latin typeface="Calibri"/>
                          <a:ea typeface="Calibri"/>
                          <a:cs typeface="Times New Roman"/>
                        </a:rPr>
                        <a:t>CLUSBUS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nSpc>
                          <a:spcPct val="107000"/>
                        </a:lnSpc>
                        <a:spcAft>
                          <a:spcPts val="0"/>
                        </a:spcAft>
                        <a:buFont typeface="Symbol"/>
                        <a:buChar char=""/>
                      </a:pPr>
                      <a:r>
                        <a:rPr lang="en-US" sz="2000" dirty="0">
                          <a:latin typeface="Calibri"/>
                          <a:ea typeface="Calibri"/>
                          <a:cs typeface="Times New Roman"/>
                        </a:rPr>
                        <a:t>SMOTE-ENN</a:t>
                      </a:r>
                    </a:p>
                    <a:p>
                      <a:pPr marL="342900" lvl="0" indent="-342900">
                        <a:lnSpc>
                          <a:spcPct val="107000"/>
                        </a:lnSpc>
                        <a:spcAft>
                          <a:spcPts val="0"/>
                        </a:spcAft>
                        <a:buFont typeface="Symbol"/>
                        <a:buChar char=""/>
                      </a:pPr>
                      <a:r>
                        <a:rPr lang="en-US" sz="2000" dirty="0">
                          <a:latin typeface="Calibri"/>
                          <a:ea typeface="Calibri"/>
                          <a:cs typeface="Times New Roman"/>
                        </a:rPr>
                        <a:t>SMOTE-</a:t>
                      </a:r>
                      <a:r>
                        <a:rPr lang="en-US" sz="2000" dirty="0" err="1">
                          <a:latin typeface="Calibri"/>
                          <a:ea typeface="Calibri"/>
                          <a:cs typeface="Times New Roman"/>
                        </a:rPr>
                        <a:t>Tomek</a:t>
                      </a:r>
                      <a:endParaRPr lang="en-US" sz="2000" dirty="0">
                        <a:latin typeface="Calibri"/>
                        <a:ea typeface="Calibri"/>
                        <a:cs typeface="Times New Roman"/>
                      </a:endParaRPr>
                    </a:p>
                    <a:p>
                      <a:pPr marL="342900" lvl="0" indent="-342900">
                        <a:lnSpc>
                          <a:spcPct val="107000"/>
                        </a:lnSpc>
                        <a:spcAft>
                          <a:spcPts val="0"/>
                        </a:spcAft>
                        <a:buFont typeface="Symbol"/>
                        <a:buChar char=""/>
                      </a:pPr>
                      <a:r>
                        <a:rPr lang="en-US" sz="2000" dirty="0">
                          <a:latin typeface="Calibri"/>
                          <a:ea typeface="Calibri"/>
                          <a:cs typeface="Times New Roman"/>
                        </a:rPr>
                        <a:t>SPIDER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13997335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428604"/>
            <a:ext cx="7772400" cy="714380"/>
          </a:xfrm>
        </p:spPr>
        <p:txBody>
          <a:bodyPr>
            <a:normAutofit fontScale="90000"/>
          </a:bodyPr>
          <a:lstStyle/>
          <a:p>
            <a:r>
              <a:rPr lang="en-IN" dirty="0" err="1" smtClean="0"/>
              <a:t>Undersampling</a:t>
            </a:r>
            <a:r>
              <a:rPr lang="en-IN" dirty="0" smtClean="0"/>
              <a:t>: </a:t>
            </a:r>
            <a:r>
              <a:rPr lang="en-US" dirty="0" err="1" smtClean="0"/>
              <a:t>Tomek</a:t>
            </a:r>
            <a:r>
              <a:rPr lang="en-US" dirty="0" smtClean="0"/>
              <a:t> links </a:t>
            </a:r>
            <a:endParaRPr lang="en-US" dirty="0"/>
          </a:p>
        </p:txBody>
      </p:sp>
      <p:sp>
        <p:nvSpPr>
          <p:cNvPr id="6" name="Content Placeholder 5"/>
          <p:cNvSpPr>
            <a:spLocks noGrp="1"/>
          </p:cNvSpPr>
          <p:nvPr>
            <p:ph idx="1"/>
          </p:nvPr>
        </p:nvSpPr>
        <p:spPr>
          <a:xfrm>
            <a:off x="685800" y="1214422"/>
            <a:ext cx="7772400" cy="4881578"/>
          </a:xfrm>
        </p:spPr>
        <p:txBody>
          <a:bodyPr/>
          <a:lstStyle/>
          <a:p>
            <a:r>
              <a:rPr lang="en-US" sz="2800" dirty="0" err="1" smtClean="0"/>
              <a:t>Tomek</a:t>
            </a:r>
            <a:r>
              <a:rPr lang="en-US" sz="2800" dirty="0" smtClean="0"/>
              <a:t> Links are a technique used in imbalanced classification problems to remove borderline or noisy instances, helping improve classifier performance.</a:t>
            </a:r>
          </a:p>
          <a:p>
            <a:r>
              <a:rPr lang="en-US" sz="2800" dirty="0" smtClean="0"/>
              <a:t>They were introduced by Ivan </a:t>
            </a:r>
            <a:r>
              <a:rPr lang="en-US" sz="2800" dirty="0" err="1" smtClean="0"/>
              <a:t>Tomek</a:t>
            </a:r>
            <a:r>
              <a:rPr lang="en-US" sz="2800" dirty="0" smtClean="0"/>
              <a:t> in 1976 as a method for data cleaning.</a:t>
            </a:r>
          </a:p>
          <a:p>
            <a:r>
              <a:rPr lang="en-US" sz="2800" dirty="0" smtClean="0"/>
              <a:t>A </a:t>
            </a:r>
            <a:r>
              <a:rPr lang="en-US" sz="2800" b="1" dirty="0" err="1" smtClean="0"/>
              <a:t>Tomek</a:t>
            </a:r>
            <a:r>
              <a:rPr lang="en-US" sz="2800" b="1" dirty="0" smtClean="0"/>
              <a:t> Link</a:t>
            </a:r>
            <a:r>
              <a:rPr lang="en-US" sz="2800" dirty="0" smtClean="0"/>
              <a:t> exists between two instances </a:t>
            </a:r>
            <a:r>
              <a:rPr lang="en-US" sz="2800" b="1" dirty="0" smtClean="0"/>
              <a:t>(𝑥₁, 𝑥₂)</a:t>
            </a:r>
            <a:r>
              <a:rPr lang="en-US" sz="2800" dirty="0" smtClean="0"/>
              <a:t> from different classes if:</a:t>
            </a:r>
            <a:r>
              <a:rPr lang="en-US" sz="2800" b="1" dirty="0" smtClean="0"/>
              <a:t>𝑥₁ is the nearest neighbor of 𝑥₂</a:t>
            </a:r>
            <a:r>
              <a:rPr lang="en-US" sz="2800" dirty="0" smtClean="0"/>
              <a:t>, and </a:t>
            </a:r>
            <a:r>
              <a:rPr lang="en-US" sz="2800" b="1" dirty="0" smtClean="0"/>
              <a:t>𝑥₂ is the nearest neighbor of 𝑥₁</a:t>
            </a:r>
            <a:r>
              <a:rPr lang="en-US" sz="2800" dirty="0" smtClean="0"/>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57166"/>
            <a:ext cx="7772400" cy="428628"/>
          </a:xfrm>
        </p:spPr>
        <p:txBody>
          <a:bodyPr>
            <a:normAutofit fontScale="90000"/>
          </a:bodyPr>
          <a:lstStyle/>
          <a:p>
            <a:r>
              <a:rPr lang="en-IN" sz="3200" b="1" dirty="0" err="1" smtClean="0"/>
              <a:t>Undersampling</a:t>
            </a:r>
            <a:r>
              <a:rPr lang="en-IN" sz="3200" b="1" dirty="0" smtClean="0"/>
              <a:t>: </a:t>
            </a:r>
            <a:r>
              <a:rPr lang="en-US" sz="3200" b="1" dirty="0" err="1" smtClean="0"/>
              <a:t>Tomek</a:t>
            </a:r>
            <a:r>
              <a:rPr lang="en-US" sz="3200" b="1" dirty="0" smtClean="0"/>
              <a:t> link </a:t>
            </a:r>
            <a:endParaRPr lang="en-US" sz="3200" b="1" dirty="0"/>
          </a:p>
        </p:txBody>
      </p:sp>
      <p:sp>
        <p:nvSpPr>
          <p:cNvPr id="3" name="Content Placeholder 2"/>
          <p:cNvSpPr>
            <a:spLocks noGrp="1"/>
          </p:cNvSpPr>
          <p:nvPr>
            <p:ph sz="half" idx="1"/>
          </p:nvPr>
        </p:nvSpPr>
        <p:spPr>
          <a:xfrm>
            <a:off x="714348" y="857232"/>
            <a:ext cx="3810000" cy="3786214"/>
          </a:xfrm>
        </p:spPr>
        <p:txBody>
          <a:bodyPr/>
          <a:lstStyle/>
          <a:p>
            <a:r>
              <a:rPr lang="en-US" sz="2400" dirty="0" err="1" smtClean="0"/>
              <a:t>Tomek</a:t>
            </a:r>
            <a:r>
              <a:rPr lang="en-US" sz="2400" dirty="0" smtClean="0"/>
              <a:t> links are used to:</a:t>
            </a:r>
          </a:p>
          <a:p>
            <a:pPr>
              <a:buNone/>
            </a:pPr>
            <a:r>
              <a:rPr lang="en-US" sz="2400" b="1" dirty="0" smtClean="0"/>
              <a:t>(</a:t>
            </a:r>
            <a:r>
              <a:rPr lang="en-US" sz="2400" b="1" dirty="0" err="1" smtClean="0"/>
              <a:t>i</a:t>
            </a:r>
            <a:r>
              <a:rPr lang="en-US" sz="2400" b="1" dirty="0" smtClean="0"/>
              <a:t>) Identify and remove overlapping instances:</a:t>
            </a:r>
            <a:r>
              <a:rPr lang="en-US" sz="2400" dirty="0" smtClean="0"/>
              <a:t> By eliminating majority class instance in each </a:t>
            </a:r>
            <a:r>
              <a:rPr lang="en-US" sz="2400" dirty="0" err="1" smtClean="0"/>
              <a:t>Tomek</a:t>
            </a:r>
            <a:r>
              <a:rPr lang="en-US" sz="2400" dirty="0" smtClean="0"/>
              <a:t> link, one can reduce the overlap between classes, leading to better-defined class boundaries.</a:t>
            </a:r>
          </a:p>
        </p:txBody>
      </p:sp>
      <p:pic>
        <p:nvPicPr>
          <p:cNvPr id="59395" name="Picture 3"/>
          <p:cNvPicPr>
            <a:picLocks noChangeAspect="1" noChangeArrowheads="1"/>
          </p:cNvPicPr>
          <p:nvPr/>
        </p:nvPicPr>
        <p:blipFill>
          <a:blip r:embed="rId2"/>
          <a:srcRect/>
          <a:stretch>
            <a:fillRect/>
          </a:stretch>
        </p:blipFill>
        <p:spPr bwMode="auto">
          <a:xfrm>
            <a:off x="4500562" y="1000108"/>
            <a:ext cx="3357586" cy="3143272"/>
          </a:xfrm>
          <a:prstGeom prst="rect">
            <a:avLst/>
          </a:prstGeom>
          <a:noFill/>
          <a:ln w="9525">
            <a:noFill/>
            <a:miter lim="800000"/>
            <a:headEnd/>
            <a:tailEnd/>
          </a:ln>
          <a:effectLst/>
        </p:spPr>
      </p:pic>
      <p:sp>
        <p:nvSpPr>
          <p:cNvPr id="6" name="TextBox 5"/>
          <p:cNvSpPr txBox="1"/>
          <p:nvPr/>
        </p:nvSpPr>
        <p:spPr>
          <a:xfrm>
            <a:off x="642910" y="4643446"/>
            <a:ext cx="8072494" cy="1569660"/>
          </a:xfrm>
          <a:prstGeom prst="rect">
            <a:avLst/>
          </a:prstGeom>
          <a:noFill/>
        </p:spPr>
        <p:txBody>
          <a:bodyPr wrap="square" rtlCol="0">
            <a:spAutoFit/>
          </a:bodyPr>
          <a:lstStyle/>
          <a:p>
            <a:r>
              <a:rPr lang="en-US" b="1" dirty="0" smtClean="0"/>
              <a:t>(ii) Clean the dataset:</a:t>
            </a:r>
            <a:r>
              <a:rPr lang="en-US" dirty="0" smtClean="0"/>
              <a:t> The idea is that such pairs lie close to the decision boundary and might represent </a:t>
            </a:r>
            <a:r>
              <a:rPr lang="en-US" b="1" dirty="0" smtClean="0"/>
              <a:t>noise or borderline cases</a:t>
            </a:r>
            <a:r>
              <a:rPr lang="en-US" dirty="0" smtClean="0"/>
              <a:t>. Removing </a:t>
            </a:r>
            <a:r>
              <a:rPr lang="en-US" dirty="0" err="1" smtClean="0"/>
              <a:t>Tomek</a:t>
            </a:r>
            <a:r>
              <a:rPr lang="en-US" dirty="0" smtClean="0"/>
              <a:t> links helps in getting rid of noisy instances that may adversely affect the classifier's performance.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461946"/>
          </a:xfrm>
        </p:spPr>
        <p:txBody>
          <a:bodyPr>
            <a:normAutofit fontScale="90000"/>
          </a:bodyPr>
          <a:lstStyle/>
          <a:p>
            <a:r>
              <a:rPr lang="en-IN" sz="3600" dirty="0" err="1" smtClean="0"/>
              <a:t>Undersampling</a:t>
            </a:r>
            <a:r>
              <a:rPr lang="en-IN" sz="3600" dirty="0" smtClean="0"/>
              <a:t>: </a:t>
            </a:r>
            <a:r>
              <a:rPr lang="en-US" sz="3600" dirty="0" smtClean="0"/>
              <a:t>Based on Clustering</a:t>
            </a:r>
            <a:endParaRPr lang="en-US" sz="3600" dirty="0"/>
          </a:p>
        </p:txBody>
      </p:sp>
      <p:sp>
        <p:nvSpPr>
          <p:cNvPr id="3" name="Content Placeholder 2"/>
          <p:cNvSpPr>
            <a:spLocks noGrp="1"/>
          </p:cNvSpPr>
          <p:nvPr>
            <p:ph idx="1"/>
          </p:nvPr>
        </p:nvSpPr>
        <p:spPr>
          <a:xfrm>
            <a:off x="685800" y="1285860"/>
            <a:ext cx="7772400" cy="2286016"/>
          </a:xfrm>
        </p:spPr>
        <p:txBody>
          <a:bodyPr>
            <a:normAutofit lnSpcReduction="10000"/>
          </a:bodyPr>
          <a:lstStyle/>
          <a:p>
            <a:pPr eaLnBrk="1" hangingPunct="1">
              <a:lnSpc>
                <a:spcPct val="89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Sampling: obtaining a small sample </a:t>
            </a:r>
            <a:r>
              <a:rPr lang="en-GB" sz="2400" i="1" dirty="0" smtClean="0"/>
              <a:t>s</a:t>
            </a:r>
            <a:r>
              <a:rPr lang="en-GB" sz="2400" dirty="0" smtClean="0"/>
              <a:t> to represent the whole data set </a:t>
            </a:r>
            <a:r>
              <a:rPr lang="en-GB" sz="2400" i="1" dirty="0" smtClean="0"/>
              <a:t>N</a:t>
            </a:r>
          </a:p>
          <a:p>
            <a:pPr eaLnBrk="1" hangingPunct="1">
              <a:lnSpc>
                <a:spcPct val="89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Cluster the majority samples into different groups </a:t>
            </a:r>
          </a:p>
          <a:p>
            <a:pPr marL="342900" lvl="1" indent="-342900" eaLnBrk="1" hangingPunct="1">
              <a:lnSpc>
                <a:spcPct val="89000"/>
              </a:lnSpc>
              <a:spcBef>
                <a:spcPts val="600"/>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Stratified sampling: Approximate the percentage of each group in the overall dataset so that the </a:t>
            </a:r>
            <a:r>
              <a:rPr lang="en-US" sz="2400" dirty="0" smtClean="0"/>
              <a:t>distribution in each group is approximately the same as that in the initial set</a:t>
            </a:r>
            <a:endParaRPr lang="en-GB" sz="2400" dirty="0" smtClean="0"/>
          </a:p>
          <a:p>
            <a:endParaRPr lang="en-US" dirty="0"/>
          </a:p>
        </p:txBody>
      </p:sp>
      <p:grpSp>
        <p:nvGrpSpPr>
          <p:cNvPr id="4" name="Group 3"/>
          <p:cNvGrpSpPr>
            <a:grpSpLocks/>
          </p:cNvGrpSpPr>
          <p:nvPr/>
        </p:nvGrpSpPr>
        <p:grpSpPr bwMode="auto">
          <a:xfrm>
            <a:off x="1523999" y="3643314"/>
            <a:ext cx="2690811" cy="1997076"/>
            <a:chOff x="328" y="1700"/>
            <a:chExt cx="2362" cy="2108"/>
          </a:xfrm>
        </p:grpSpPr>
        <p:sp>
          <p:nvSpPr>
            <p:cNvPr id="5" name="AutoShape 5"/>
            <p:cNvSpPr>
              <a:spLocks noChangeArrowheads="1"/>
            </p:cNvSpPr>
            <p:nvPr/>
          </p:nvSpPr>
          <p:spPr bwMode="auto">
            <a:xfrm>
              <a:off x="328" y="1700"/>
              <a:ext cx="2363" cy="2109"/>
            </a:xfrm>
            <a:prstGeom prst="roundRect">
              <a:avLst>
                <a:gd name="adj" fmla="val 46"/>
              </a:avLst>
            </a:prstGeom>
            <a:noFill/>
            <a:ln w="9360">
              <a:solidFill>
                <a:srgbClr val="000000"/>
              </a:solidFill>
              <a:round/>
              <a:headEnd/>
              <a:tailEnd/>
            </a:ln>
          </p:spPr>
          <p:txBody>
            <a:bodyPr wrap="none" anchor="ctr"/>
            <a:lstStyle/>
            <a:p>
              <a:endParaRPr lang="en-US"/>
            </a:p>
          </p:txBody>
        </p:sp>
        <p:sp>
          <p:nvSpPr>
            <p:cNvPr id="6" name="Freeform 5"/>
            <p:cNvSpPr>
              <a:spLocks noChangeArrowheads="1"/>
            </p:cNvSpPr>
            <p:nvPr/>
          </p:nvSpPr>
          <p:spPr bwMode="auto">
            <a:xfrm>
              <a:off x="1663" y="2275"/>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7" name="Freeform 6"/>
            <p:cNvSpPr>
              <a:spLocks noChangeArrowheads="1"/>
            </p:cNvSpPr>
            <p:nvPr/>
          </p:nvSpPr>
          <p:spPr bwMode="auto">
            <a:xfrm>
              <a:off x="1620" y="2598"/>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8" name="Freeform 7"/>
            <p:cNvSpPr>
              <a:spLocks noChangeArrowheads="1"/>
            </p:cNvSpPr>
            <p:nvPr/>
          </p:nvSpPr>
          <p:spPr bwMode="auto">
            <a:xfrm>
              <a:off x="1765" y="241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9" name="Freeform 8"/>
            <p:cNvSpPr>
              <a:spLocks noChangeArrowheads="1"/>
            </p:cNvSpPr>
            <p:nvPr/>
          </p:nvSpPr>
          <p:spPr bwMode="auto">
            <a:xfrm>
              <a:off x="1564" y="2450"/>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0" name="Freeform 9"/>
            <p:cNvSpPr>
              <a:spLocks noChangeArrowheads="1"/>
            </p:cNvSpPr>
            <p:nvPr/>
          </p:nvSpPr>
          <p:spPr bwMode="auto">
            <a:xfrm>
              <a:off x="1998" y="2477"/>
              <a:ext cx="56" cy="75"/>
            </a:xfrm>
            <a:custGeom>
              <a:avLst/>
              <a:gdLst>
                <a:gd name="T0" fmla="*/ 0 w 248"/>
                <a:gd name="T1" fmla="*/ 0 h 329"/>
                <a:gd name="T2" fmla="*/ 0 w 248"/>
                <a:gd name="T3" fmla="*/ 0 h 329"/>
                <a:gd name="T4" fmla="*/ 0 w 248"/>
                <a:gd name="T5" fmla="*/ 0 h 329"/>
                <a:gd name="T6" fmla="*/ 0 w 248"/>
                <a:gd name="T7" fmla="*/ 0 h 329"/>
                <a:gd name="T8" fmla="*/ 0 w 248"/>
                <a:gd name="T9" fmla="*/ 0 h 329"/>
                <a:gd name="T10" fmla="*/ 0 w 248"/>
                <a:gd name="T11" fmla="*/ 0 h 329"/>
                <a:gd name="T12" fmla="*/ 0 60000 65536"/>
                <a:gd name="T13" fmla="*/ 0 60000 65536"/>
                <a:gd name="T14" fmla="*/ 0 60000 65536"/>
                <a:gd name="T15" fmla="*/ 0 60000 65536"/>
                <a:gd name="T16" fmla="*/ 0 60000 65536"/>
                <a:gd name="T17" fmla="*/ 0 60000 65536"/>
                <a:gd name="T18" fmla="*/ 0 w 248"/>
                <a:gd name="T19" fmla="*/ 0 h 329"/>
                <a:gd name="T20" fmla="*/ 248 w 248"/>
                <a:gd name="T21" fmla="*/ 329 h 329"/>
              </a:gdLst>
              <a:ahLst/>
              <a:cxnLst>
                <a:cxn ang="T12">
                  <a:pos x="T0" y="T1"/>
                </a:cxn>
                <a:cxn ang="T13">
                  <a:pos x="T2" y="T3"/>
                </a:cxn>
                <a:cxn ang="T14">
                  <a:pos x="T4" y="T5"/>
                </a:cxn>
                <a:cxn ang="T15">
                  <a:pos x="T6" y="T7"/>
                </a:cxn>
                <a:cxn ang="T16">
                  <a:pos x="T8" y="T9"/>
                </a:cxn>
                <a:cxn ang="T17">
                  <a:pos x="T10" y="T11"/>
                </a:cxn>
              </a:cxnLst>
              <a:rect l="T18" t="T19" r="T20" b="T21"/>
              <a:pathLst>
                <a:path w="248" h="329">
                  <a:moveTo>
                    <a:pt x="123" y="0"/>
                  </a:moveTo>
                  <a:cubicBezTo>
                    <a:pt x="193" y="0"/>
                    <a:pt x="247" y="71"/>
                    <a:pt x="247" y="164"/>
                  </a:cubicBezTo>
                  <a:cubicBezTo>
                    <a:pt x="247" y="257"/>
                    <a:pt x="193" y="328"/>
                    <a:pt x="123" y="328"/>
                  </a:cubicBezTo>
                  <a:cubicBezTo>
                    <a:pt x="53" y="328"/>
                    <a:pt x="0" y="257"/>
                    <a:pt x="0" y="164"/>
                  </a:cubicBezTo>
                  <a:cubicBezTo>
                    <a:pt x="0" y="71"/>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1" name="Freeform 10"/>
            <p:cNvSpPr>
              <a:spLocks noChangeArrowheads="1"/>
            </p:cNvSpPr>
            <p:nvPr/>
          </p:nvSpPr>
          <p:spPr bwMode="auto">
            <a:xfrm>
              <a:off x="1928" y="263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2" name="Freeform 11"/>
            <p:cNvSpPr>
              <a:spLocks noChangeArrowheads="1"/>
            </p:cNvSpPr>
            <p:nvPr/>
          </p:nvSpPr>
          <p:spPr bwMode="auto">
            <a:xfrm>
              <a:off x="1794" y="2675"/>
              <a:ext cx="57" cy="76"/>
            </a:xfrm>
            <a:custGeom>
              <a:avLst/>
              <a:gdLst>
                <a:gd name="T0" fmla="*/ 0 w 253"/>
                <a:gd name="T1" fmla="*/ 0 h 333"/>
                <a:gd name="T2" fmla="*/ 0 w 253"/>
                <a:gd name="T3" fmla="*/ 0 h 333"/>
                <a:gd name="T4" fmla="*/ 0 w 253"/>
                <a:gd name="T5" fmla="*/ 0 h 333"/>
                <a:gd name="T6" fmla="*/ 0 w 253"/>
                <a:gd name="T7" fmla="*/ 0 h 333"/>
                <a:gd name="T8" fmla="*/ 0 w 253"/>
                <a:gd name="T9" fmla="*/ 0 h 333"/>
                <a:gd name="T10" fmla="*/ 0 w 253"/>
                <a:gd name="T11" fmla="*/ 0 h 333"/>
                <a:gd name="T12" fmla="*/ 0 60000 65536"/>
                <a:gd name="T13" fmla="*/ 0 60000 65536"/>
                <a:gd name="T14" fmla="*/ 0 60000 65536"/>
                <a:gd name="T15" fmla="*/ 0 60000 65536"/>
                <a:gd name="T16" fmla="*/ 0 60000 65536"/>
                <a:gd name="T17" fmla="*/ 0 60000 65536"/>
                <a:gd name="T18" fmla="*/ 0 w 253"/>
                <a:gd name="T19" fmla="*/ 0 h 333"/>
                <a:gd name="T20" fmla="*/ 253 w 253"/>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3" h="333">
                  <a:moveTo>
                    <a:pt x="126" y="0"/>
                  </a:moveTo>
                  <a:cubicBezTo>
                    <a:pt x="197" y="0"/>
                    <a:pt x="252" y="72"/>
                    <a:pt x="252" y="166"/>
                  </a:cubicBezTo>
                  <a:cubicBezTo>
                    <a:pt x="252" y="260"/>
                    <a:pt x="197" y="332"/>
                    <a:pt x="126" y="332"/>
                  </a:cubicBezTo>
                  <a:cubicBezTo>
                    <a:pt x="55" y="332"/>
                    <a:pt x="0" y="260"/>
                    <a:pt x="0" y="166"/>
                  </a:cubicBezTo>
                  <a:cubicBezTo>
                    <a:pt x="0" y="72"/>
                    <a:pt x="55" y="0"/>
                    <a:pt x="126" y="0"/>
                  </a:cubicBezTo>
                </a:path>
              </a:pathLst>
            </a:custGeom>
            <a:solidFill>
              <a:srgbClr val="FFFFFF"/>
            </a:solidFill>
            <a:ln w="9360">
              <a:solidFill>
                <a:srgbClr val="000000"/>
              </a:solidFill>
              <a:round/>
              <a:headEnd/>
              <a:tailEnd/>
            </a:ln>
          </p:spPr>
          <p:txBody>
            <a:bodyPr wrap="none" anchor="ctr"/>
            <a:lstStyle/>
            <a:p>
              <a:endParaRPr lang="en-US"/>
            </a:p>
          </p:txBody>
        </p:sp>
        <p:sp>
          <p:nvSpPr>
            <p:cNvPr id="13" name="Freeform 12"/>
            <p:cNvSpPr>
              <a:spLocks noChangeArrowheads="1"/>
            </p:cNvSpPr>
            <p:nvPr/>
          </p:nvSpPr>
          <p:spPr bwMode="auto">
            <a:xfrm>
              <a:off x="1487" y="2127"/>
              <a:ext cx="56" cy="74"/>
            </a:xfrm>
            <a:custGeom>
              <a:avLst/>
              <a:gdLst>
                <a:gd name="T0" fmla="*/ 0 w 249"/>
                <a:gd name="T1" fmla="*/ 0 h 328"/>
                <a:gd name="T2" fmla="*/ 0 w 249"/>
                <a:gd name="T3" fmla="*/ 0 h 328"/>
                <a:gd name="T4" fmla="*/ 0 w 249"/>
                <a:gd name="T5" fmla="*/ 0 h 328"/>
                <a:gd name="T6" fmla="*/ 0 w 249"/>
                <a:gd name="T7" fmla="*/ 0 h 328"/>
                <a:gd name="T8" fmla="*/ 0 w 249"/>
                <a:gd name="T9" fmla="*/ 0 h 328"/>
                <a:gd name="T10" fmla="*/ 0 w 249"/>
                <a:gd name="T11" fmla="*/ 0 h 328"/>
                <a:gd name="T12" fmla="*/ 0 60000 65536"/>
                <a:gd name="T13" fmla="*/ 0 60000 65536"/>
                <a:gd name="T14" fmla="*/ 0 60000 65536"/>
                <a:gd name="T15" fmla="*/ 0 60000 65536"/>
                <a:gd name="T16" fmla="*/ 0 60000 65536"/>
                <a:gd name="T17" fmla="*/ 0 60000 65536"/>
                <a:gd name="T18" fmla="*/ 0 w 249"/>
                <a:gd name="T19" fmla="*/ 0 h 328"/>
                <a:gd name="T20" fmla="*/ 249 w 249"/>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249" h="328">
                  <a:moveTo>
                    <a:pt x="124" y="0"/>
                  </a:moveTo>
                  <a:cubicBezTo>
                    <a:pt x="194" y="0"/>
                    <a:pt x="248" y="71"/>
                    <a:pt x="248" y="163"/>
                  </a:cubicBezTo>
                  <a:cubicBezTo>
                    <a:pt x="248" y="255"/>
                    <a:pt x="194" y="327"/>
                    <a:pt x="124" y="327"/>
                  </a:cubicBezTo>
                  <a:cubicBezTo>
                    <a:pt x="53" y="327"/>
                    <a:pt x="0" y="255"/>
                    <a:pt x="0" y="163"/>
                  </a:cubicBezTo>
                  <a:cubicBezTo>
                    <a:pt x="0" y="71"/>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14" name="Freeform 13"/>
            <p:cNvSpPr>
              <a:spLocks noChangeArrowheads="1"/>
            </p:cNvSpPr>
            <p:nvPr/>
          </p:nvSpPr>
          <p:spPr bwMode="auto">
            <a:xfrm>
              <a:off x="1430" y="2045"/>
              <a:ext cx="686" cy="877"/>
            </a:xfrm>
            <a:custGeom>
              <a:avLst/>
              <a:gdLst>
                <a:gd name="T0" fmla="*/ 0 w 3027"/>
                <a:gd name="T1" fmla="*/ 0 h 3869"/>
                <a:gd name="T2" fmla="*/ 0 w 3027"/>
                <a:gd name="T3" fmla="*/ 0 h 3869"/>
                <a:gd name="T4" fmla="*/ 0 w 3027"/>
                <a:gd name="T5" fmla="*/ 0 h 3869"/>
                <a:gd name="T6" fmla="*/ 0 w 3027"/>
                <a:gd name="T7" fmla="*/ 0 h 3869"/>
                <a:gd name="T8" fmla="*/ 0 w 3027"/>
                <a:gd name="T9" fmla="*/ 0 h 3869"/>
                <a:gd name="T10" fmla="*/ 0 w 3027"/>
                <a:gd name="T11" fmla="*/ 0 h 3869"/>
                <a:gd name="T12" fmla="*/ 0 w 3027"/>
                <a:gd name="T13" fmla="*/ 0 h 3869"/>
                <a:gd name="T14" fmla="*/ 0 w 3027"/>
                <a:gd name="T15" fmla="*/ 0 h 3869"/>
                <a:gd name="T16" fmla="*/ 0 w 3027"/>
                <a:gd name="T17" fmla="*/ 0 h 3869"/>
                <a:gd name="T18" fmla="*/ 0 w 3027"/>
                <a:gd name="T19" fmla="*/ 0 h 3869"/>
                <a:gd name="T20" fmla="*/ 0 w 3027"/>
                <a:gd name="T21" fmla="*/ 0 h 3869"/>
                <a:gd name="T22" fmla="*/ 0 w 3027"/>
                <a:gd name="T23" fmla="*/ 0 h 3869"/>
                <a:gd name="T24" fmla="*/ 0 w 3027"/>
                <a:gd name="T25" fmla="*/ 0 h 3869"/>
                <a:gd name="T26" fmla="*/ 0 w 3027"/>
                <a:gd name="T27" fmla="*/ 0 h 3869"/>
                <a:gd name="T28" fmla="*/ 0 w 3027"/>
                <a:gd name="T29" fmla="*/ 0 h 3869"/>
                <a:gd name="T30" fmla="*/ 0 w 3027"/>
                <a:gd name="T31" fmla="*/ 0 h 3869"/>
                <a:gd name="T32" fmla="*/ 0 w 3027"/>
                <a:gd name="T33" fmla="*/ 0 h 3869"/>
                <a:gd name="T34" fmla="*/ 0 w 3027"/>
                <a:gd name="T35" fmla="*/ 0 h 3869"/>
                <a:gd name="T36" fmla="*/ 0 w 3027"/>
                <a:gd name="T37" fmla="*/ 0 h 3869"/>
                <a:gd name="T38" fmla="*/ 0 w 3027"/>
                <a:gd name="T39" fmla="*/ 0 h 3869"/>
                <a:gd name="T40" fmla="*/ 0 w 3027"/>
                <a:gd name="T41" fmla="*/ 0 h 38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27"/>
                <a:gd name="T64" fmla="*/ 0 h 3869"/>
                <a:gd name="T65" fmla="*/ 3027 w 3027"/>
                <a:gd name="T66" fmla="*/ 3869 h 386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27" h="3869">
                  <a:moveTo>
                    <a:pt x="2862" y="1056"/>
                  </a:moveTo>
                  <a:cubicBezTo>
                    <a:pt x="2919" y="1282"/>
                    <a:pt x="2941" y="1505"/>
                    <a:pt x="2961" y="1742"/>
                  </a:cubicBezTo>
                  <a:cubicBezTo>
                    <a:pt x="2947" y="2302"/>
                    <a:pt x="3026" y="2863"/>
                    <a:pt x="2785" y="3340"/>
                  </a:cubicBezTo>
                  <a:cubicBezTo>
                    <a:pt x="2752" y="3470"/>
                    <a:pt x="2705" y="3653"/>
                    <a:pt x="2611" y="3736"/>
                  </a:cubicBezTo>
                  <a:cubicBezTo>
                    <a:pt x="2529" y="3807"/>
                    <a:pt x="2430" y="3825"/>
                    <a:pt x="2337" y="3865"/>
                  </a:cubicBezTo>
                  <a:cubicBezTo>
                    <a:pt x="1861" y="3836"/>
                    <a:pt x="1927" y="3868"/>
                    <a:pt x="1636" y="3736"/>
                  </a:cubicBezTo>
                  <a:cubicBezTo>
                    <a:pt x="1529" y="3685"/>
                    <a:pt x="1449" y="3617"/>
                    <a:pt x="1336" y="3570"/>
                  </a:cubicBezTo>
                  <a:cubicBezTo>
                    <a:pt x="1311" y="3560"/>
                    <a:pt x="1262" y="3538"/>
                    <a:pt x="1262" y="3538"/>
                  </a:cubicBezTo>
                  <a:cubicBezTo>
                    <a:pt x="1147" y="3387"/>
                    <a:pt x="1015" y="3272"/>
                    <a:pt x="885" y="3146"/>
                  </a:cubicBezTo>
                  <a:cubicBezTo>
                    <a:pt x="789" y="3053"/>
                    <a:pt x="745" y="2931"/>
                    <a:pt x="638" y="2884"/>
                  </a:cubicBezTo>
                  <a:cubicBezTo>
                    <a:pt x="539" y="2758"/>
                    <a:pt x="361" y="2608"/>
                    <a:pt x="285" y="2460"/>
                  </a:cubicBezTo>
                  <a:cubicBezTo>
                    <a:pt x="153" y="2194"/>
                    <a:pt x="57" y="1925"/>
                    <a:pt x="10" y="1612"/>
                  </a:cubicBezTo>
                  <a:cubicBezTo>
                    <a:pt x="19" y="1232"/>
                    <a:pt x="0" y="847"/>
                    <a:pt x="35" y="467"/>
                  </a:cubicBezTo>
                  <a:cubicBezTo>
                    <a:pt x="60" y="215"/>
                    <a:pt x="383" y="118"/>
                    <a:pt x="512" y="75"/>
                  </a:cubicBezTo>
                  <a:cubicBezTo>
                    <a:pt x="545" y="64"/>
                    <a:pt x="611" y="43"/>
                    <a:pt x="611" y="43"/>
                  </a:cubicBezTo>
                  <a:cubicBezTo>
                    <a:pt x="795" y="53"/>
                    <a:pt x="995" y="0"/>
                    <a:pt x="1160" y="107"/>
                  </a:cubicBezTo>
                  <a:cubicBezTo>
                    <a:pt x="1300" y="201"/>
                    <a:pt x="1443" y="276"/>
                    <a:pt x="1586" y="370"/>
                  </a:cubicBezTo>
                  <a:cubicBezTo>
                    <a:pt x="1702" y="445"/>
                    <a:pt x="1801" y="549"/>
                    <a:pt x="1911" y="632"/>
                  </a:cubicBezTo>
                  <a:cubicBezTo>
                    <a:pt x="1974" y="678"/>
                    <a:pt x="2048" y="689"/>
                    <a:pt x="2111" y="729"/>
                  </a:cubicBezTo>
                  <a:cubicBezTo>
                    <a:pt x="2320" y="862"/>
                    <a:pt x="2625" y="1056"/>
                    <a:pt x="2862" y="1056"/>
                  </a:cubicBezTo>
                </a:path>
              </a:pathLst>
            </a:custGeom>
            <a:noFill/>
            <a:ln w="9360">
              <a:solidFill>
                <a:srgbClr val="000000"/>
              </a:solidFill>
              <a:round/>
              <a:headEnd/>
              <a:tailEnd/>
            </a:ln>
          </p:spPr>
          <p:txBody>
            <a:bodyPr wrap="none" anchor="ctr"/>
            <a:lstStyle/>
            <a:p>
              <a:endParaRPr lang="en-US"/>
            </a:p>
          </p:txBody>
        </p:sp>
        <p:sp>
          <p:nvSpPr>
            <p:cNvPr id="15" name="Freeform 14"/>
            <p:cNvSpPr>
              <a:spLocks noChangeArrowheads="1"/>
            </p:cNvSpPr>
            <p:nvPr/>
          </p:nvSpPr>
          <p:spPr bwMode="auto">
            <a:xfrm>
              <a:off x="1158" y="2866"/>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6" name="Freeform 15"/>
            <p:cNvSpPr>
              <a:spLocks noChangeArrowheads="1"/>
            </p:cNvSpPr>
            <p:nvPr/>
          </p:nvSpPr>
          <p:spPr bwMode="auto">
            <a:xfrm>
              <a:off x="1445" y="2929"/>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7" name="Freeform 16"/>
            <p:cNvSpPr>
              <a:spLocks noChangeArrowheads="1"/>
            </p:cNvSpPr>
            <p:nvPr/>
          </p:nvSpPr>
          <p:spPr bwMode="auto">
            <a:xfrm>
              <a:off x="1340" y="3185"/>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8" name="Freeform 17"/>
            <p:cNvSpPr>
              <a:spLocks noChangeArrowheads="1"/>
            </p:cNvSpPr>
            <p:nvPr/>
          </p:nvSpPr>
          <p:spPr bwMode="auto">
            <a:xfrm>
              <a:off x="1399" y="3077"/>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9" name="Freeform 18"/>
            <p:cNvSpPr>
              <a:spLocks noChangeArrowheads="1"/>
            </p:cNvSpPr>
            <p:nvPr/>
          </p:nvSpPr>
          <p:spPr bwMode="auto">
            <a:xfrm>
              <a:off x="1225" y="3034"/>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0" name="Freeform 19"/>
            <p:cNvSpPr>
              <a:spLocks noChangeArrowheads="1"/>
            </p:cNvSpPr>
            <p:nvPr/>
          </p:nvSpPr>
          <p:spPr bwMode="auto">
            <a:xfrm>
              <a:off x="1222" y="3157"/>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1" name="Freeform 20"/>
            <p:cNvSpPr>
              <a:spLocks noChangeArrowheads="1"/>
            </p:cNvSpPr>
            <p:nvPr/>
          </p:nvSpPr>
          <p:spPr bwMode="auto">
            <a:xfrm>
              <a:off x="1278" y="278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2" name="Freeform 21"/>
            <p:cNvSpPr>
              <a:spLocks noChangeArrowheads="1"/>
            </p:cNvSpPr>
            <p:nvPr/>
          </p:nvSpPr>
          <p:spPr bwMode="auto">
            <a:xfrm>
              <a:off x="1343" y="2910"/>
              <a:ext cx="56" cy="74"/>
            </a:xfrm>
            <a:custGeom>
              <a:avLst/>
              <a:gdLst>
                <a:gd name="T0" fmla="*/ 0 w 248"/>
                <a:gd name="T1" fmla="*/ 0 h 328"/>
                <a:gd name="T2" fmla="*/ 0 w 248"/>
                <a:gd name="T3" fmla="*/ 0 h 328"/>
                <a:gd name="T4" fmla="*/ 0 w 248"/>
                <a:gd name="T5" fmla="*/ 0 h 328"/>
                <a:gd name="T6" fmla="*/ 0 w 248"/>
                <a:gd name="T7" fmla="*/ 0 h 328"/>
                <a:gd name="T8" fmla="*/ 0 w 248"/>
                <a:gd name="T9" fmla="*/ 0 h 328"/>
                <a:gd name="T10" fmla="*/ 0 w 248"/>
                <a:gd name="T11" fmla="*/ 0 h 328"/>
                <a:gd name="T12" fmla="*/ 0 60000 65536"/>
                <a:gd name="T13" fmla="*/ 0 60000 65536"/>
                <a:gd name="T14" fmla="*/ 0 60000 65536"/>
                <a:gd name="T15" fmla="*/ 0 60000 65536"/>
                <a:gd name="T16" fmla="*/ 0 60000 65536"/>
                <a:gd name="T17" fmla="*/ 0 60000 65536"/>
                <a:gd name="T18" fmla="*/ 0 w 248"/>
                <a:gd name="T19" fmla="*/ 0 h 328"/>
                <a:gd name="T20" fmla="*/ 248 w 248"/>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248" h="328">
                  <a:moveTo>
                    <a:pt x="123" y="0"/>
                  </a:moveTo>
                  <a:cubicBezTo>
                    <a:pt x="193" y="0"/>
                    <a:pt x="247" y="71"/>
                    <a:pt x="247" y="163"/>
                  </a:cubicBezTo>
                  <a:cubicBezTo>
                    <a:pt x="247" y="255"/>
                    <a:pt x="193" y="327"/>
                    <a:pt x="123" y="327"/>
                  </a:cubicBezTo>
                  <a:cubicBezTo>
                    <a:pt x="53" y="327"/>
                    <a:pt x="0" y="255"/>
                    <a:pt x="0" y="163"/>
                  </a:cubicBezTo>
                  <a:cubicBezTo>
                    <a:pt x="0" y="71"/>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3" name="Freeform 22"/>
            <p:cNvSpPr>
              <a:spLocks noChangeArrowheads="1"/>
            </p:cNvSpPr>
            <p:nvPr/>
          </p:nvSpPr>
          <p:spPr bwMode="auto">
            <a:xfrm>
              <a:off x="1483" y="3164"/>
              <a:ext cx="56" cy="76"/>
            </a:xfrm>
            <a:custGeom>
              <a:avLst/>
              <a:gdLst>
                <a:gd name="T0" fmla="*/ 0 w 249"/>
                <a:gd name="T1" fmla="*/ 0 h 333"/>
                <a:gd name="T2" fmla="*/ 0 w 249"/>
                <a:gd name="T3" fmla="*/ 0 h 333"/>
                <a:gd name="T4" fmla="*/ 0 w 249"/>
                <a:gd name="T5" fmla="*/ 0 h 333"/>
                <a:gd name="T6" fmla="*/ 0 w 249"/>
                <a:gd name="T7" fmla="*/ 0 h 333"/>
                <a:gd name="T8" fmla="*/ 0 w 249"/>
                <a:gd name="T9" fmla="*/ 0 h 333"/>
                <a:gd name="T10" fmla="*/ 0 w 249"/>
                <a:gd name="T11" fmla="*/ 0 h 333"/>
                <a:gd name="T12" fmla="*/ 0 60000 65536"/>
                <a:gd name="T13" fmla="*/ 0 60000 65536"/>
                <a:gd name="T14" fmla="*/ 0 60000 65536"/>
                <a:gd name="T15" fmla="*/ 0 60000 65536"/>
                <a:gd name="T16" fmla="*/ 0 60000 65536"/>
                <a:gd name="T17" fmla="*/ 0 60000 65536"/>
                <a:gd name="T18" fmla="*/ 0 w 249"/>
                <a:gd name="T19" fmla="*/ 0 h 333"/>
                <a:gd name="T20" fmla="*/ 249 w 249"/>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9" h="333">
                  <a:moveTo>
                    <a:pt x="124" y="0"/>
                  </a:moveTo>
                  <a:cubicBezTo>
                    <a:pt x="194" y="0"/>
                    <a:pt x="248" y="72"/>
                    <a:pt x="248" y="166"/>
                  </a:cubicBezTo>
                  <a:cubicBezTo>
                    <a:pt x="248" y="260"/>
                    <a:pt x="194" y="332"/>
                    <a:pt x="124" y="332"/>
                  </a:cubicBezTo>
                  <a:cubicBezTo>
                    <a:pt x="53" y="332"/>
                    <a:pt x="0" y="260"/>
                    <a:pt x="0" y="166"/>
                  </a:cubicBezTo>
                  <a:cubicBezTo>
                    <a:pt x="0" y="72"/>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24" name="Freeform 23"/>
            <p:cNvSpPr>
              <a:spLocks noChangeArrowheads="1"/>
            </p:cNvSpPr>
            <p:nvPr/>
          </p:nvSpPr>
          <p:spPr bwMode="auto">
            <a:xfrm>
              <a:off x="1115" y="2655"/>
              <a:ext cx="573" cy="785"/>
            </a:xfrm>
            <a:custGeom>
              <a:avLst/>
              <a:gdLst>
                <a:gd name="T0" fmla="*/ 0 w 2528"/>
                <a:gd name="T1" fmla="*/ 0 h 3463"/>
                <a:gd name="T2" fmla="*/ 0 w 2528"/>
                <a:gd name="T3" fmla="*/ 0 h 3463"/>
                <a:gd name="T4" fmla="*/ 0 w 2528"/>
                <a:gd name="T5" fmla="*/ 0 h 3463"/>
                <a:gd name="T6" fmla="*/ 0 w 2528"/>
                <a:gd name="T7" fmla="*/ 0 h 3463"/>
                <a:gd name="T8" fmla="*/ 0 w 2528"/>
                <a:gd name="T9" fmla="*/ 0 h 3463"/>
                <a:gd name="T10" fmla="*/ 0 w 2528"/>
                <a:gd name="T11" fmla="*/ 0 h 3463"/>
                <a:gd name="T12" fmla="*/ 0 w 2528"/>
                <a:gd name="T13" fmla="*/ 0 h 3463"/>
                <a:gd name="T14" fmla="*/ 0 w 2528"/>
                <a:gd name="T15" fmla="*/ 0 h 3463"/>
                <a:gd name="T16" fmla="*/ 0 w 2528"/>
                <a:gd name="T17" fmla="*/ 0 h 3463"/>
                <a:gd name="T18" fmla="*/ 0 w 2528"/>
                <a:gd name="T19" fmla="*/ 0 h 3463"/>
                <a:gd name="T20" fmla="*/ 0 w 2528"/>
                <a:gd name="T21" fmla="*/ 0 h 3463"/>
                <a:gd name="T22" fmla="*/ 0 w 2528"/>
                <a:gd name="T23" fmla="*/ 0 h 3463"/>
                <a:gd name="T24" fmla="*/ 0 w 2528"/>
                <a:gd name="T25" fmla="*/ 0 h 3463"/>
                <a:gd name="T26" fmla="*/ 0 w 2528"/>
                <a:gd name="T27" fmla="*/ 0 h 3463"/>
                <a:gd name="T28" fmla="*/ 0 w 2528"/>
                <a:gd name="T29" fmla="*/ 0 h 3463"/>
                <a:gd name="T30" fmla="*/ 0 w 2528"/>
                <a:gd name="T31" fmla="*/ 0 h 3463"/>
                <a:gd name="T32" fmla="*/ 0 w 2528"/>
                <a:gd name="T33" fmla="*/ 0 h 3463"/>
                <a:gd name="T34" fmla="*/ 0 w 2528"/>
                <a:gd name="T35" fmla="*/ 0 h 3463"/>
                <a:gd name="T36" fmla="*/ 0 w 2528"/>
                <a:gd name="T37" fmla="*/ 0 h 3463"/>
                <a:gd name="T38" fmla="*/ 0 w 2528"/>
                <a:gd name="T39" fmla="*/ 0 h 3463"/>
                <a:gd name="T40" fmla="*/ 0 w 2528"/>
                <a:gd name="T41" fmla="*/ 0 h 3463"/>
                <a:gd name="T42" fmla="*/ 0 w 2528"/>
                <a:gd name="T43" fmla="*/ 0 h 3463"/>
                <a:gd name="T44" fmla="*/ 0 w 2528"/>
                <a:gd name="T45" fmla="*/ 0 h 3463"/>
                <a:gd name="T46" fmla="*/ 0 w 2528"/>
                <a:gd name="T47" fmla="*/ 0 h 3463"/>
                <a:gd name="T48" fmla="*/ 0 w 2528"/>
                <a:gd name="T49" fmla="*/ 0 h 3463"/>
                <a:gd name="T50" fmla="*/ 0 w 2528"/>
                <a:gd name="T51" fmla="*/ 0 h 346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28"/>
                <a:gd name="T79" fmla="*/ 0 h 3463"/>
                <a:gd name="T80" fmla="*/ 2528 w 2528"/>
                <a:gd name="T81" fmla="*/ 3463 h 346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28" h="3463">
                  <a:moveTo>
                    <a:pt x="624" y="2935"/>
                  </a:moveTo>
                  <a:cubicBezTo>
                    <a:pt x="489" y="2878"/>
                    <a:pt x="594" y="2949"/>
                    <a:pt x="525" y="2806"/>
                  </a:cubicBezTo>
                  <a:cubicBezTo>
                    <a:pt x="484" y="2716"/>
                    <a:pt x="396" y="2677"/>
                    <a:pt x="324" y="2644"/>
                  </a:cubicBezTo>
                  <a:cubicBezTo>
                    <a:pt x="291" y="2598"/>
                    <a:pt x="253" y="2562"/>
                    <a:pt x="222" y="2512"/>
                  </a:cubicBezTo>
                  <a:cubicBezTo>
                    <a:pt x="187" y="2451"/>
                    <a:pt x="123" y="2318"/>
                    <a:pt x="123" y="2318"/>
                  </a:cubicBezTo>
                  <a:cubicBezTo>
                    <a:pt x="82" y="2099"/>
                    <a:pt x="27" y="1887"/>
                    <a:pt x="0" y="1665"/>
                  </a:cubicBezTo>
                  <a:cubicBezTo>
                    <a:pt x="8" y="1349"/>
                    <a:pt x="2" y="1033"/>
                    <a:pt x="24" y="717"/>
                  </a:cubicBezTo>
                  <a:cubicBezTo>
                    <a:pt x="30" y="628"/>
                    <a:pt x="203" y="498"/>
                    <a:pt x="222" y="488"/>
                  </a:cubicBezTo>
                  <a:cubicBezTo>
                    <a:pt x="421" y="362"/>
                    <a:pt x="611" y="78"/>
                    <a:pt x="801" y="0"/>
                  </a:cubicBezTo>
                  <a:cubicBezTo>
                    <a:pt x="864" y="10"/>
                    <a:pt x="1001" y="17"/>
                    <a:pt x="1076" y="64"/>
                  </a:cubicBezTo>
                  <a:cubicBezTo>
                    <a:pt x="1183" y="132"/>
                    <a:pt x="1227" y="165"/>
                    <a:pt x="1351" y="197"/>
                  </a:cubicBezTo>
                  <a:cubicBezTo>
                    <a:pt x="1527" y="351"/>
                    <a:pt x="1757" y="358"/>
                    <a:pt x="1903" y="588"/>
                  </a:cubicBezTo>
                  <a:cubicBezTo>
                    <a:pt x="2093" y="889"/>
                    <a:pt x="1831" y="495"/>
                    <a:pt x="1977" y="782"/>
                  </a:cubicBezTo>
                  <a:cubicBezTo>
                    <a:pt x="1996" y="821"/>
                    <a:pt x="2029" y="846"/>
                    <a:pt x="2051" y="882"/>
                  </a:cubicBezTo>
                  <a:cubicBezTo>
                    <a:pt x="2120" y="997"/>
                    <a:pt x="2153" y="1144"/>
                    <a:pt x="2227" y="1241"/>
                  </a:cubicBezTo>
                  <a:cubicBezTo>
                    <a:pt x="2285" y="1471"/>
                    <a:pt x="2247" y="1378"/>
                    <a:pt x="2327" y="1532"/>
                  </a:cubicBezTo>
                  <a:cubicBezTo>
                    <a:pt x="2343" y="1639"/>
                    <a:pt x="2357" y="1751"/>
                    <a:pt x="2376" y="1858"/>
                  </a:cubicBezTo>
                  <a:cubicBezTo>
                    <a:pt x="2398" y="1970"/>
                    <a:pt x="2434" y="2074"/>
                    <a:pt x="2450" y="2185"/>
                  </a:cubicBezTo>
                  <a:cubicBezTo>
                    <a:pt x="2483" y="2390"/>
                    <a:pt x="2478" y="2576"/>
                    <a:pt x="2527" y="2773"/>
                  </a:cubicBezTo>
                  <a:cubicBezTo>
                    <a:pt x="2505" y="3032"/>
                    <a:pt x="2489" y="3233"/>
                    <a:pt x="2277" y="3326"/>
                  </a:cubicBezTo>
                  <a:cubicBezTo>
                    <a:pt x="2211" y="3355"/>
                    <a:pt x="2142" y="3373"/>
                    <a:pt x="2076" y="3394"/>
                  </a:cubicBezTo>
                  <a:cubicBezTo>
                    <a:pt x="2043" y="3405"/>
                    <a:pt x="1977" y="3427"/>
                    <a:pt x="1977" y="3427"/>
                  </a:cubicBezTo>
                  <a:cubicBezTo>
                    <a:pt x="1839" y="3423"/>
                    <a:pt x="1271" y="3462"/>
                    <a:pt x="974" y="3362"/>
                  </a:cubicBezTo>
                  <a:cubicBezTo>
                    <a:pt x="869" y="3326"/>
                    <a:pt x="748" y="3197"/>
                    <a:pt x="674" y="3100"/>
                  </a:cubicBezTo>
                  <a:cubicBezTo>
                    <a:pt x="635" y="3050"/>
                    <a:pt x="528" y="2935"/>
                    <a:pt x="624" y="2935"/>
                  </a:cubicBezTo>
                </a:path>
              </a:pathLst>
            </a:custGeom>
            <a:noFill/>
            <a:ln w="9360">
              <a:solidFill>
                <a:srgbClr val="000000"/>
              </a:solidFill>
              <a:round/>
              <a:headEnd/>
              <a:tailEnd/>
            </a:ln>
          </p:spPr>
          <p:txBody>
            <a:bodyPr wrap="none" anchor="ctr"/>
            <a:lstStyle/>
            <a:p>
              <a:endParaRPr lang="en-US"/>
            </a:p>
          </p:txBody>
        </p:sp>
        <p:grpSp>
          <p:nvGrpSpPr>
            <p:cNvPr id="25" name="Group 24"/>
            <p:cNvGrpSpPr>
              <a:grpSpLocks/>
            </p:cNvGrpSpPr>
            <p:nvPr/>
          </p:nvGrpSpPr>
          <p:grpSpPr bwMode="auto">
            <a:xfrm>
              <a:off x="605" y="2078"/>
              <a:ext cx="546" cy="954"/>
              <a:chOff x="605" y="2078"/>
              <a:chExt cx="546" cy="954"/>
            </a:xfrm>
          </p:grpSpPr>
          <p:sp>
            <p:nvSpPr>
              <p:cNvPr id="26" name="Freeform 25"/>
              <p:cNvSpPr>
                <a:spLocks noChangeArrowheads="1"/>
              </p:cNvSpPr>
              <p:nvPr/>
            </p:nvSpPr>
            <p:spPr bwMode="auto">
              <a:xfrm>
                <a:off x="782" y="27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5" y="0"/>
                      <a:pt x="249" y="72"/>
                      <a:pt x="249" y="166"/>
                    </a:cubicBezTo>
                    <a:cubicBezTo>
                      <a:pt x="249" y="260"/>
                      <a:pt x="195" y="332"/>
                      <a:pt x="124" y="332"/>
                    </a:cubicBezTo>
                    <a:cubicBezTo>
                      <a:pt x="54" y="332"/>
                      <a:pt x="0" y="260"/>
                      <a:pt x="0" y="166"/>
                    </a:cubicBezTo>
                    <a:cubicBezTo>
                      <a:pt x="0" y="72"/>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27" name="Freeform 26"/>
              <p:cNvSpPr>
                <a:spLocks noChangeArrowheads="1"/>
              </p:cNvSpPr>
              <p:nvPr/>
            </p:nvSpPr>
            <p:spPr bwMode="auto">
              <a:xfrm>
                <a:off x="706" y="26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4" y="0"/>
                      <a:pt x="249" y="72"/>
                      <a:pt x="249" y="166"/>
                    </a:cubicBezTo>
                    <a:cubicBezTo>
                      <a:pt x="249"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28" name="Freeform 27"/>
              <p:cNvSpPr>
                <a:spLocks noChangeArrowheads="1"/>
              </p:cNvSpPr>
              <p:nvPr/>
            </p:nvSpPr>
            <p:spPr bwMode="auto">
              <a:xfrm>
                <a:off x="904" y="2687"/>
                <a:ext cx="56" cy="75"/>
              </a:xfrm>
              <a:custGeom>
                <a:avLst/>
                <a:gdLst>
                  <a:gd name="T0" fmla="*/ 0 w 249"/>
                  <a:gd name="T1" fmla="*/ 0 h 329"/>
                  <a:gd name="T2" fmla="*/ 0 w 249"/>
                  <a:gd name="T3" fmla="*/ 0 h 329"/>
                  <a:gd name="T4" fmla="*/ 0 w 249"/>
                  <a:gd name="T5" fmla="*/ 0 h 329"/>
                  <a:gd name="T6" fmla="*/ 0 w 249"/>
                  <a:gd name="T7" fmla="*/ 0 h 329"/>
                  <a:gd name="T8" fmla="*/ 0 w 249"/>
                  <a:gd name="T9" fmla="*/ 0 h 329"/>
                  <a:gd name="T10" fmla="*/ 0 w 249"/>
                  <a:gd name="T11" fmla="*/ 0 h 329"/>
                  <a:gd name="T12" fmla="*/ 0 60000 65536"/>
                  <a:gd name="T13" fmla="*/ 0 60000 65536"/>
                  <a:gd name="T14" fmla="*/ 0 60000 65536"/>
                  <a:gd name="T15" fmla="*/ 0 60000 65536"/>
                  <a:gd name="T16" fmla="*/ 0 60000 65536"/>
                  <a:gd name="T17" fmla="*/ 0 60000 65536"/>
                  <a:gd name="T18" fmla="*/ 0 w 249"/>
                  <a:gd name="T19" fmla="*/ 0 h 329"/>
                  <a:gd name="T20" fmla="*/ 249 w 249"/>
                  <a:gd name="T21" fmla="*/ 329 h 329"/>
                </a:gdLst>
                <a:ahLst/>
                <a:cxnLst>
                  <a:cxn ang="T12">
                    <a:pos x="T0" y="T1"/>
                  </a:cxn>
                  <a:cxn ang="T13">
                    <a:pos x="T2" y="T3"/>
                  </a:cxn>
                  <a:cxn ang="T14">
                    <a:pos x="T4" y="T5"/>
                  </a:cxn>
                  <a:cxn ang="T15">
                    <a:pos x="T6" y="T7"/>
                  </a:cxn>
                  <a:cxn ang="T16">
                    <a:pos x="T8" y="T9"/>
                  </a:cxn>
                  <a:cxn ang="T17">
                    <a:pos x="T10" y="T11"/>
                  </a:cxn>
                </a:cxnLst>
                <a:rect l="T18" t="T19" r="T20" b="T21"/>
                <a:pathLst>
                  <a:path w="249" h="329">
                    <a:moveTo>
                      <a:pt x="124" y="0"/>
                    </a:moveTo>
                    <a:cubicBezTo>
                      <a:pt x="194" y="0"/>
                      <a:pt x="248" y="71"/>
                      <a:pt x="248" y="164"/>
                    </a:cubicBezTo>
                    <a:cubicBezTo>
                      <a:pt x="248" y="257"/>
                      <a:pt x="194" y="328"/>
                      <a:pt x="124" y="328"/>
                    </a:cubicBezTo>
                    <a:cubicBezTo>
                      <a:pt x="53" y="328"/>
                      <a:pt x="0" y="257"/>
                      <a:pt x="0" y="164"/>
                    </a:cubicBezTo>
                    <a:cubicBezTo>
                      <a:pt x="0" y="71"/>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29" name="Freeform 28"/>
              <p:cNvSpPr>
                <a:spLocks noChangeArrowheads="1"/>
              </p:cNvSpPr>
              <p:nvPr/>
            </p:nvSpPr>
            <p:spPr bwMode="auto">
              <a:xfrm>
                <a:off x="808" y="2512"/>
                <a:ext cx="58" cy="75"/>
              </a:xfrm>
              <a:custGeom>
                <a:avLst/>
                <a:gdLst>
                  <a:gd name="T0" fmla="*/ 0 w 255"/>
                  <a:gd name="T1" fmla="*/ 0 h 330"/>
                  <a:gd name="T2" fmla="*/ 0 w 255"/>
                  <a:gd name="T3" fmla="*/ 0 h 330"/>
                  <a:gd name="T4" fmla="*/ 0 w 255"/>
                  <a:gd name="T5" fmla="*/ 0 h 330"/>
                  <a:gd name="T6" fmla="*/ 0 w 255"/>
                  <a:gd name="T7" fmla="*/ 0 h 330"/>
                  <a:gd name="T8" fmla="*/ 0 w 255"/>
                  <a:gd name="T9" fmla="*/ 0 h 330"/>
                  <a:gd name="T10" fmla="*/ 0 w 255"/>
                  <a:gd name="T11" fmla="*/ 0 h 330"/>
                  <a:gd name="T12" fmla="*/ 0 60000 65536"/>
                  <a:gd name="T13" fmla="*/ 0 60000 65536"/>
                  <a:gd name="T14" fmla="*/ 0 60000 65536"/>
                  <a:gd name="T15" fmla="*/ 0 60000 65536"/>
                  <a:gd name="T16" fmla="*/ 0 60000 65536"/>
                  <a:gd name="T17" fmla="*/ 0 60000 65536"/>
                  <a:gd name="T18" fmla="*/ 0 w 255"/>
                  <a:gd name="T19" fmla="*/ 0 h 330"/>
                  <a:gd name="T20" fmla="*/ 255 w 255"/>
                  <a:gd name="T21" fmla="*/ 330 h 330"/>
                </a:gdLst>
                <a:ahLst/>
                <a:cxnLst>
                  <a:cxn ang="T12">
                    <a:pos x="T0" y="T1"/>
                  </a:cxn>
                  <a:cxn ang="T13">
                    <a:pos x="T2" y="T3"/>
                  </a:cxn>
                  <a:cxn ang="T14">
                    <a:pos x="T4" y="T5"/>
                  </a:cxn>
                  <a:cxn ang="T15">
                    <a:pos x="T6" y="T7"/>
                  </a:cxn>
                  <a:cxn ang="T16">
                    <a:pos x="T8" y="T9"/>
                  </a:cxn>
                  <a:cxn ang="T17">
                    <a:pos x="T10" y="T11"/>
                  </a:cxn>
                </a:cxnLst>
                <a:rect l="T18" t="T19" r="T20" b="T21"/>
                <a:pathLst>
                  <a:path w="255" h="330">
                    <a:moveTo>
                      <a:pt x="127" y="0"/>
                    </a:moveTo>
                    <a:cubicBezTo>
                      <a:pt x="198" y="0"/>
                      <a:pt x="254" y="72"/>
                      <a:pt x="254" y="165"/>
                    </a:cubicBezTo>
                    <a:cubicBezTo>
                      <a:pt x="254" y="257"/>
                      <a:pt x="198" y="329"/>
                      <a:pt x="127" y="329"/>
                    </a:cubicBezTo>
                    <a:cubicBezTo>
                      <a:pt x="55" y="329"/>
                      <a:pt x="0" y="257"/>
                      <a:pt x="0" y="165"/>
                    </a:cubicBezTo>
                    <a:cubicBezTo>
                      <a:pt x="0" y="72"/>
                      <a:pt x="55" y="0"/>
                      <a:pt x="127" y="0"/>
                    </a:cubicBezTo>
                  </a:path>
                </a:pathLst>
              </a:custGeom>
              <a:solidFill>
                <a:srgbClr val="00E4A8"/>
              </a:solidFill>
              <a:ln w="9360">
                <a:solidFill>
                  <a:srgbClr val="000000"/>
                </a:solidFill>
                <a:round/>
                <a:headEnd/>
                <a:tailEnd/>
              </a:ln>
            </p:spPr>
            <p:txBody>
              <a:bodyPr wrap="none" anchor="ctr"/>
              <a:lstStyle/>
              <a:p>
                <a:endParaRPr lang="en-US"/>
              </a:p>
            </p:txBody>
          </p:sp>
          <p:sp>
            <p:nvSpPr>
              <p:cNvPr id="30" name="Freeform 29"/>
              <p:cNvSpPr>
                <a:spLocks noChangeArrowheads="1"/>
              </p:cNvSpPr>
              <p:nvPr/>
            </p:nvSpPr>
            <p:spPr bwMode="auto">
              <a:xfrm>
                <a:off x="669" y="2790"/>
                <a:ext cx="57" cy="75"/>
              </a:xfrm>
              <a:custGeom>
                <a:avLst/>
                <a:gdLst>
                  <a:gd name="T0" fmla="*/ 0 w 250"/>
                  <a:gd name="T1" fmla="*/ 0 h 331"/>
                  <a:gd name="T2" fmla="*/ 0 w 250"/>
                  <a:gd name="T3" fmla="*/ 0 h 331"/>
                  <a:gd name="T4" fmla="*/ 0 w 250"/>
                  <a:gd name="T5" fmla="*/ 0 h 331"/>
                  <a:gd name="T6" fmla="*/ 0 w 250"/>
                  <a:gd name="T7" fmla="*/ 0 h 331"/>
                  <a:gd name="T8" fmla="*/ 0 w 250"/>
                  <a:gd name="T9" fmla="*/ 0 h 331"/>
                  <a:gd name="T10" fmla="*/ 0 w 250"/>
                  <a:gd name="T11" fmla="*/ 0 h 331"/>
                  <a:gd name="T12" fmla="*/ 0 60000 65536"/>
                  <a:gd name="T13" fmla="*/ 0 60000 65536"/>
                  <a:gd name="T14" fmla="*/ 0 60000 65536"/>
                  <a:gd name="T15" fmla="*/ 0 60000 65536"/>
                  <a:gd name="T16" fmla="*/ 0 60000 65536"/>
                  <a:gd name="T17" fmla="*/ 0 60000 65536"/>
                  <a:gd name="T18" fmla="*/ 0 w 250"/>
                  <a:gd name="T19" fmla="*/ 0 h 331"/>
                  <a:gd name="T20" fmla="*/ 250 w 250"/>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50" h="331">
                    <a:moveTo>
                      <a:pt x="124" y="0"/>
                    </a:moveTo>
                    <a:cubicBezTo>
                      <a:pt x="194" y="0"/>
                      <a:pt x="249" y="72"/>
                      <a:pt x="249" y="165"/>
                    </a:cubicBezTo>
                    <a:cubicBezTo>
                      <a:pt x="249" y="258"/>
                      <a:pt x="194" y="330"/>
                      <a:pt x="124" y="330"/>
                    </a:cubicBezTo>
                    <a:cubicBezTo>
                      <a:pt x="53" y="330"/>
                      <a:pt x="0" y="258"/>
                      <a:pt x="0" y="165"/>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1" name="Freeform 30"/>
              <p:cNvSpPr>
                <a:spLocks noChangeArrowheads="1"/>
              </p:cNvSpPr>
              <p:nvPr/>
            </p:nvSpPr>
            <p:spPr bwMode="auto">
              <a:xfrm>
                <a:off x="724" y="2550"/>
                <a:ext cx="56" cy="75"/>
              </a:xfrm>
              <a:custGeom>
                <a:avLst/>
                <a:gdLst>
                  <a:gd name="T0" fmla="*/ 0 w 249"/>
                  <a:gd name="T1" fmla="*/ 0 h 332"/>
                  <a:gd name="T2" fmla="*/ 0 w 249"/>
                  <a:gd name="T3" fmla="*/ 0 h 332"/>
                  <a:gd name="T4" fmla="*/ 0 w 249"/>
                  <a:gd name="T5" fmla="*/ 0 h 332"/>
                  <a:gd name="T6" fmla="*/ 0 w 249"/>
                  <a:gd name="T7" fmla="*/ 0 h 332"/>
                  <a:gd name="T8" fmla="*/ 0 w 249"/>
                  <a:gd name="T9" fmla="*/ 0 h 332"/>
                  <a:gd name="T10" fmla="*/ 0 w 249"/>
                  <a:gd name="T11" fmla="*/ 0 h 332"/>
                  <a:gd name="T12" fmla="*/ 0 60000 65536"/>
                  <a:gd name="T13" fmla="*/ 0 60000 65536"/>
                  <a:gd name="T14" fmla="*/ 0 60000 65536"/>
                  <a:gd name="T15" fmla="*/ 0 60000 65536"/>
                  <a:gd name="T16" fmla="*/ 0 60000 65536"/>
                  <a:gd name="T17" fmla="*/ 0 60000 65536"/>
                  <a:gd name="T18" fmla="*/ 0 w 249"/>
                  <a:gd name="T19" fmla="*/ 0 h 332"/>
                  <a:gd name="T20" fmla="*/ 249 w 249"/>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49" h="332">
                    <a:moveTo>
                      <a:pt x="123" y="0"/>
                    </a:moveTo>
                    <a:cubicBezTo>
                      <a:pt x="194" y="0"/>
                      <a:pt x="248" y="71"/>
                      <a:pt x="248" y="165"/>
                    </a:cubicBezTo>
                    <a:cubicBezTo>
                      <a:pt x="248" y="259"/>
                      <a:pt x="194" y="331"/>
                      <a:pt x="123" y="331"/>
                    </a:cubicBezTo>
                    <a:cubicBezTo>
                      <a:pt x="53" y="331"/>
                      <a:pt x="0" y="259"/>
                      <a:pt x="0" y="165"/>
                    </a:cubicBezTo>
                    <a:cubicBezTo>
                      <a:pt x="0" y="71"/>
                      <a:pt x="53" y="0"/>
                      <a:pt x="123" y="0"/>
                    </a:cubicBezTo>
                  </a:path>
                </a:pathLst>
              </a:custGeom>
              <a:solidFill>
                <a:srgbClr val="00E4A8"/>
              </a:solidFill>
              <a:ln w="9360">
                <a:solidFill>
                  <a:srgbClr val="000000"/>
                </a:solidFill>
                <a:round/>
                <a:headEnd/>
                <a:tailEnd/>
              </a:ln>
            </p:spPr>
            <p:txBody>
              <a:bodyPr wrap="none" anchor="ctr"/>
              <a:lstStyle/>
              <a:p>
                <a:endParaRPr lang="en-US"/>
              </a:p>
            </p:txBody>
          </p:sp>
          <p:sp>
            <p:nvSpPr>
              <p:cNvPr id="32" name="Freeform 31"/>
              <p:cNvSpPr>
                <a:spLocks noChangeArrowheads="1"/>
              </p:cNvSpPr>
              <p:nvPr/>
            </p:nvSpPr>
            <p:spPr bwMode="auto">
              <a:xfrm>
                <a:off x="913" y="2848"/>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4" y="0"/>
                      <a:pt x="249" y="72"/>
                      <a:pt x="249" y="166"/>
                    </a:cubicBezTo>
                    <a:cubicBezTo>
                      <a:pt x="249"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3" name="Freeform 32"/>
              <p:cNvSpPr>
                <a:spLocks noChangeArrowheads="1"/>
              </p:cNvSpPr>
              <p:nvPr/>
            </p:nvSpPr>
            <p:spPr bwMode="auto">
              <a:xfrm>
                <a:off x="981" y="2542"/>
                <a:ext cx="57" cy="75"/>
              </a:xfrm>
              <a:custGeom>
                <a:avLst/>
                <a:gdLst>
                  <a:gd name="T0" fmla="*/ 0 w 250"/>
                  <a:gd name="T1" fmla="*/ 0 h 332"/>
                  <a:gd name="T2" fmla="*/ 0 w 250"/>
                  <a:gd name="T3" fmla="*/ 0 h 332"/>
                  <a:gd name="T4" fmla="*/ 0 w 250"/>
                  <a:gd name="T5" fmla="*/ 0 h 332"/>
                  <a:gd name="T6" fmla="*/ 0 w 250"/>
                  <a:gd name="T7" fmla="*/ 0 h 332"/>
                  <a:gd name="T8" fmla="*/ 0 w 250"/>
                  <a:gd name="T9" fmla="*/ 0 h 332"/>
                  <a:gd name="T10" fmla="*/ 0 w 250"/>
                  <a:gd name="T11" fmla="*/ 0 h 332"/>
                  <a:gd name="T12" fmla="*/ 0 60000 65536"/>
                  <a:gd name="T13" fmla="*/ 0 60000 65536"/>
                  <a:gd name="T14" fmla="*/ 0 60000 65536"/>
                  <a:gd name="T15" fmla="*/ 0 60000 65536"/>
                  <a:gd name="T16" fmla="*/ 0 60000 65536"/>
                  <a:gd name="T17" fmla="*/ 0 60000 65536"/>
                  <a:gd name="T18" fmla="*/ 0 w 250"/>
                  <a:gd name="T19" fmla="*/ 0 h 332"/>
                  <a:gd name="T20" fmla="*/ 250 w 250"/>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50" h="332">
                    <a:moveTo>
                      <a:pt x="124" y="0"/>
                    </a:moveTo>
                    <a:cubicBezTo>
                      <a:pt x="194" y="0"/>
                      <a:pt x="249" y="71"/>
                      <a:pt x="249" y="165"/>
                    </a:cubicBezTo>
                    <a:cubicBezTo>
                      <a:pt x="249" y="259"/>
                      <a:pt x="194" y="331"/>
                      <a:pt x="124" y="331"/>
                    </a:cubicBezTo>
                    <a:cubicBezTo>
                      <a:pt x="53" y="331"/>
                      <a:pt x="0" y="259"/>
                      <a:pt x="0" y="165"/>
                    </a:cubicBezTo>
                    <a:cubicBezTo>
                      <a:pt x="0" y="71"/>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4" name="Freeform 33"/>
              <p:cNvSpPr>
                <a:spLocks noChangeArrowheads="1"/>
              </p:cNvSpPr>
              <p:nvPr/>
            </p:nvSpPr>
            <p:spPr bwMode="auto">
              <a:xfrm>
                <a:off x="987" y="23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5" y="0"/>
                      <a:pt x="249" y="72"/>
                      <a:pt x="249" y="166"/>
                    </a:cubicBezTo>
                    <a:cubicBezTo>
                      <a:pt x="249" y="260"/>
                      <a:pt x="195" y="332"/>
                      <a:pt x="124" y="332"/>
                    </a:cubicBezTo>
                    <a:cubicBezTo>
                      <a:pt x="54" y="332"/>
                      <a:pt x="0" y="260"/>
                      <a:pt x="0" y="166"/>
                    </a:cubicBezTo>
                    <a:cubicBezTo>
                      <a:pt x="0" y="72"/>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5" name="Freeform 34"/>
              <p:cNvSpPr>
                <a:spLocks noChangeArrowheads="1"/>
              </p:cNvSpPr>
              <p:nvPr/>
            </p:nvSpPr>
            <p:spPr bwMode="auto">
              <a:xfrm>
                <a:off x="937" y="2227"/>
                <a:ext cx="56" cy="76"/>
              </a:xfrm>
              <a:custGeom>
                <a:avLst/>
                <a:gdLst>
                  <a:gd name="T0" fmla="*/ 0 w 249"/>
                  <a:gd name="T1" fmla="*/ 0 h 333"/>
                  <a:gd name="T2" fmla="*/ 0 w 249"/>
                  <a:gd name="T3" fmla="*/ 0 h 333"/>
                  <a:gd name="T4" fmla="*/ 0 w 249"/>
                  <a:gd name="T5" fmla="*/ 0 h 333"/>
                  <a:gd name="T6" fmla="*/ 0 w 249"/>
                  <a:gd name="T7" fmla="*/ 0 h 333"/>
                  <a:gd name="T8" fmla="*/ 0 w 249"/>
                  <a:gd name="T9" fmla="*/ 0 h 333"/>
                  <a:gd name="T10" fmla="*/ 0 w 249"/>
                  <a:gd name="T11" fmla="*/ 0 h 333"/>
                  <a:gd name="T12" fmla="*/ 0 60000 65536"/>
                  <a:gd name="T13" fmla="*/ 0 60000 65536"/>
                  <a:gd name="T14" fmla="*/ 0 60000 65536"/>
                  <a:gd name="T15" fmla="*/ 0 60000 65536"/>
                  <a:gd name="T16" fmla="*/ 0 60000 65536"/>
                  <a:gd name="T17" fmla="*/ 0 60000 65536"/>
                  <a:gd name="T18" fmla="*/ 0 w 249"/>
                  <a:gd name="T19" fmla="*/ 0 h 333"/>
                  <a:gd name="T20" fmla="*/ 249 w 249"/>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9" h="333">
                    <a:moveTo>
                      <a:pt x="124" y="0"/>
                    </a:moveTo>
                    <a:cubicBezTo>
                      <a:pt x="194" y="0"/>
                      <a:pt x="248" y="72"/>
                      <a:pt x="248" y="166"/>
                    </a:cubicBezTo>
                    <a:cubicBezTo>
                      <a:pt x="248"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6" name="Freeform 35"/>
              <p:cNvSpPr>
                <a:spLocks noChangeArrowheads="1"/>
              </p:cNvSpPr>
              <p:nvPr/>
            </p:nvSpPr>
            <p:spPr bwMode="auto">
              <a:xfrm>
                <a:off x="605" y="2078"/>
                <a:ext cx="546" cy="954"/>
              </a:xfrm>
              <a:custGeom>
                <a:avLst/>
                <a:gdLst>
                  <a:gd name="T0" fmla="*/ 0 w 2408"/>
                  <a:gd name="T1" fmla="*/ 0 h 4208"/>
                  <a:gd name="T2" fmla="*/ 0 w 2408"/>
                  <a:gd name="T3" fmla="*/ 0 h 4208"/>
                  <a:gd name="T4" fmla="*/ 0 w 2408"/>
                  <a:gd name="T5" fmla="*/ 0 h 4208"/>
                  <a:gd name="T6" fmla="*/ 0 w 2408"/>
                  <a:gd name="T7" fmla="*/ 0 h 4208"/>
                  <a:gd name="T8" fmla="*/ 0 w 2408"/>
                  <a:gd name="T9" fmla="*/ 0 h 4208"/>
                  <a:gd name="T10" fmla="*/ 0 w 2408"/>
                  <a:gd name="T11" fmla="*/ 0 h 4208"/>
                  <a:gd name="T12" fmla="*/ 0 w 2408"/>
                  <a:gd name="T13" fmla="*/ 0 h 4208"/>
                  <a:gd name="T14" fmla="*/ 0 w 2408"/>
                  <a:gd name="T15" fmla="*/ 0 h 4208"/>
                  <a:gd name="T16" fmla="*/ 0 w 2408"/>
                  <a:gd name="T17" fmla="*/ 0 h 4208"/>
                  <a:gd name="T18" fmla="*/ 0 w 2408"/>
                  <a:gd name="T19" fmla="*/ 0 h 4208"/>
                  <a:gd name="T20" fmla="*/ 0 w 2408"/>
                  <a:gd name="T21" fmla="*/ 0 h 4208"/>
                  <a:gd name="T22" fmla="*/ 0 w 2408"/>
                  <a:gd name="T23" fmla="*/ 0 h 4208"/>
                  <a:gd name="T24" fmla="*/ 0 w 2408"/>
                  <a:gd name="T25" fmla="*/ 0 h 4208"/>
                  <a:gd name="T26" fmla="*/ 0 w 2408"/>
                  <a:gd name="T27" fmla="*/ 0 h 4208"/>
                  <a:gd name="T28" fmla="*/ 0 w 2408"/>
                  <a:gd name="T29" fmla="*/ 0 h 4208"/>
                  <a:gd name="T30" fmla="*/ 0 w 2408"/>
                  <a:gd name="T31" fmla="*/ 0 h 4208"/>
                  <a:gd name="T32" fmla="*/ 0 w 2408"/>
                  <a:gd name="T33" fmla="*/ 0 h 4208"/>
                  <a:gd name="T34" fmla="*/ 0 w 2408"/>
                  <a:gd name="T35" fmla="*/ 0 h 4208"/>
                  <a:gd name="T36" fmla="*/ 0 w 2408"/>
                  <a:gd name="T37" fmla="*/ 0 h 4208"/>
                  <a:gd name="T38" fmla="*/ 0 w 2408"/>
                  <a:gd name="T39" fmla="*/ 0 h 4208"/>
                  <a:gd name="T40" fmla="*/ 0 w 2408"/>
                  <a:gd name="T41" fmla="*/ 0 h 4208"/>
                  <a:gd name="T42" fmla="*/ 0 w 2408"/>
                  <a:gd name="T43" fmla="*/ 0 h 4208"/>
                  <a:gd name="T44" fmla="*/ 0 w 2408"/>
                  <a:gd name="T45" fmla="*/ 0 h 4208"/>
                  <a:gd name="T46" fmla="*/ 0 w 2408"/>
                  <a:gd name="T47" fmla="*/ 0 h 42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408"/>
                  <a:gd name="T73" fmla="*/ 0 h 4208"/>
                  <a:gd name="T74" fmla="*/ 2408 w 2408"/>
                  <a:gd name="T75" fmla="*/ 4208 h 42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408" h="4208">
                    <a:moveTo>
                      <a:pt x="2088" y="2836"/>
                    </a:moveTo>
                    <a:cubicBezTo>
                      <a:pt x="2058" y="3033"/>
                      <a:pt x="2025" y="3224"/>
                      <a:pt x="1936" y="3389"/>
                    </a:cubicBezTo>
                    <a:cubicBezTo>
                      <a:pt x="1894" y="3554"/>
                      <a:pt x="1852" y="3715"/>
                      <a:pt x="1811" y="3880"/>
                    </a:cubicBezTo>
                    <a:cubicBezTo>
                      <a:pt x="1794" y="3945"/>
                      <a:pt x="1797" y="4024"/>
                      <a:pt x="1761" y="4074"/>
                    </a:cubicBezTo>
                    <a:cubicBezTo>
                      <a:pt x="1745" y="4095"/>
                      <a:pt x="1734" y="4128"/>
                      <a:pt x="1711" y="4142"/>
                    </a:cubicBezTo>
                    <a:cubicBezTo>
                      <a:pt x="1664" y="4174"/>
                      <a:pt x="1559" y="4207"/>
                      <a:pt x="1559" y="4207"/>
                    </a:cubicBezTo>
                    <a:cubicBezTo>
                      <a:pt x="1304" y="4189"/>
                      <a:pt x="1049" y="4196"/>
                      <a:pt x="802" y="4106"/>
                    </a:cubicBezTo>
                    <a:cubicBezTo>
                      <a:pt x="639" y="4049"/>
                      <a:pt x="503" y="3934"/>
                      <a:pt x="351" y="3848"/>
                    </a:cubicBezTo>
                    <a:cubicBezTo>
                      <a:pt x="257" y="3794"/>
                      <a:pt x="166" y="3726"/>
                      <a:pt x="100" y="3618"/>
                    </a:cubicBezTo>
                    <a:cubicBezTo>
                      <a:pt x="63" y="3557"/>
                      <a:pt x="0" y="3424"/>
                      <a:pt x="0" y="3424"/>
                    </a:cubicBezTo>
                    <a:cubicBezTo>
                      <a:pt x="30" y="2886"/>
                      <a:pt x="91" y="2309"/>
                      <a:pt x="223" y="1793"/>
                    </a:cubicBezTo>
                    <a:cubicBezTo>
                      <a:pt x="255" y="1478"/>
                      <a:pt x="274" y="1162"/>
                      <a:pt x="301" y="846"/>
                    </a:cubicBezTo>
                    <a:cubicBezTo>
                      <a:pt x="312" y="706"/>
                      <a:pt x="326" y="631"/>
                      <a:pt x="426" y="588"/>
                    </a:cubicBezTo>
                    <a:cubicBezTo>
                      <a:pt x="535" y="441"/>
                      <a:pt x="407" y="591"/>
                      <a:pt x="554" y="487"/>
                    </a:cubicBezTo>
                    <a:cubicBezTo>
                      <a:pt x="667" y="408"/>
                      <a:pt x="736" y="312"/>
                      <a:pt x="856" y="261"/>
                    </a:cubicBezTo>
                    <a:cubicBezTo>
                      <a:pt x="949" y="132"/>
                      <a:pt x="853" y="243"/>
                      <a:pt x="981" y="161"/>
                    </a:cubicBezTo>
                    <a:cubicBezTo>
                      <a:pt x="1060" y="107"/>
                      <a:pt x="1093" y="39"/>
                      <a:pt x="1182" y="0"/>
                    </a:cubicBezTo>
                    <a:cubicBezTo>
                      <a:pt x="1440" y="82"/>
                      <a:pt x="1734" y="104"/>
                      <a:pt x="1963" y="294"/>
                    </a:cubicBezTo>
                    <a:cubicBezTo>
                      <a:pt x="2044" y="448"/>
                      <a:pt x="2118" y="617"/>
                      <a:pt x="2240" y="717"/>
                    </a:cubicBezTo>
                    <a:cubicBezTo>
                      <a:pt x="2273" y="782"/>
                      <a:pt x="2321" y="839"/>
                      <a:pt x="2340" y="914"/>
                    </a:cubicBezTo>
                    <a:cubicBezTo>
                      <a:pt x="2357" y="979"/>
                      <a:pt x="2390" y="1108"/>
                      <a:pt x="2390" y="1108"/>
                    </a:cubicBezTo>
                    <a:cubicBezTo>
                      <a:pt x="2376" y="1564"/>
                      <a:pt x="2407" y="2137"/>
                      <a:pt x="2188" y="2542"/>
                    </a:cubicBezTo>
                    <a:cubicBezTo>
                      <a:pt x="2180" y="2571"/>
                      <a:pt x="2149" y="2836"/>
                      <a:pt x="2088" y="2836"/>
                    </a:cubicBezTo>
                  </a:path>
                </a:pathLst>
              </a:custGeom>
              <a:noFill/>
              <a:ln w="9360">
                <a:solidFill>
                  <a:srgbClr val="000000"/>
                </a:solidFill>
                <a:round/>
                <a:headEnd/>
                <a:tailEnd/>
              </a:ln>
            </p:spPr>
            <p:txBody>
              <a:bodyPr wrap="none" anchor="ctr"/>
              <a:lstStyle/>
              <a:p>
                <a:endParaRPr lang="en-US"/>
              </a:p>
            </p:txBody>
          </p:sp>
        </p:grpSp>
      </p:grpSp>
      <p:grpSp>
        <p:nvGrpSpPr>
          <p:cNvPr id="37" name="Group 36"/>
          <p:cNvGrpSpPr>
            <a:grpSpLocks/>
          </p:cNvGrpSpPr>
          <p:nvPr/>
        </p:nvGrpSpPr>
        <p:grpSpPr bwMode="auto">
          <a:xfrm>
            <a:off x="5181600" y="3643314"/>
            <a:ext cx="2176482" cy="1778000"/>
            <a:chOff x="3302" y="2032"/>
            <a:chExt cx="1510" cy="1394"/>
          </a:xfrm>
        </p:grpSpPr>
        <p:sp>
          <p:nvSpPr>
            <p:cNvPr id="38" name="Freeform 37"/>
            <p:cNvSpPr>
              <a:spLocks noChangeArrowheads="1"/>
            </p:cNvSpPr>
            <p:nvPr/>
          </p:nvSpPr>
          <p:spPr bwMode="auto">
            <a:xfrm>
              <a:off x="3367" y="2777"/>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9" name="Freeform 38"/>
            <p:cNvSpPr>
              <a:spLocks noChangeArrowheads="1"/>
            </p:cNvSpPr>
            <p:nvPr/>
          </p:nvSpPr>
          <p:spPr bwMode="auto">
            <a:xfrm>
              <a:off x="3421" y="2534"/>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4" y="336"/>
                    <a:pt x="0" y="263"/>
                    <a:pt x="0" y="168"/>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0" name="Freeform 39"/>
            <p:cNvSpPr>
              <a:spLocks noChangeArrowheads="1"/>
            </p:cNvSpPr>
            <p:nvPr/>
          </p:nvSpPr>
          <p:spPr bwMode="auto">
            <a:xfrm>
              <a:off x="4370" y="2256"/>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4" y="0"/>
                  </a:moveTo>
                  <a:cubicBezTo>
                    <a:pt x="195" y="0"/>
                    <a:pt x="250" y="73"/>
                    <a:pt x="250" y="168"/>
                  </a:cubicBezTo>
                  <a:cubicBezTo>
                    <a:pt x="250" y="263"/>
                    <a:pt x="195" y="336"/>
                    <a:pt x="124" y="336"/>
                  </a:cubicBezTo>
                  <a:cubicBezTo>
                    <a:pt x="54" y="336"/>
                    <a:pt x="0" y="263"/>
                    <a:pt x="0" y="168"/>
                  </a:cubicBezTo>
                  <a:cubicBezTo>
                    <a:pt x="0" y="73"/>
                    <a:pt x="54"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41" name="Freeform 40"/>
            <p:cNvSpPr>
              <a:spLocks noChangeArrowheads="1"/>
            </p:cNvSpPr>
            <p:nvPr/>
          </p:nvSpPr>
          <p:spPr bwMode="auto">
            <a:xfrm>
              <a:off x="4327" y="2583"/>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5" y="0"/>
                  </a:moveTo>
                  <a:cubicBezTo>
                    <a:pt x="195" y="0"/>
                    <a:pt x="250" y="73"/>
                    <a:pt x="250" y="168"/>
                  </a:cubicBezTo>
                  <a:cubicBezTo>
                    <a:pt x="250" y="263"/>
                    <a:pt x="195" y="336"/>
                    <a:pt x="125" y="336"/>
                  </a:cubicBezTo>
                  <a:cubicBezTo>
                    <a:pt x="54" y="336"/>
                    <a:pt x="0" y="263"/>
                    <a:pt x="0" y="168"/>
                  </a:cubicBezTo>
                  <a:cubicBezTo>
                    <a:pt x="0" y="73"/>
                    <a:pt x="54" y="0"/>
                    <a:pt x="125" y="0"/>
                  </a:cubicBezTo>
                </a:path>
              </a:pathLst>
            </a:custGeom>
            <a:solidFill>
              <a:srgbClr val="FFFFFF"/>
            </a:solidFill>
            <a:ln w="9360">
              <a:solidFill>
                <a:srgbClr val="000000"/>
              </a:solidFill>
              <a:round/>
              <a:headEnd/>
              <a:tailEnd/>
            </a:ln>
          </p:spPr>
          <p:txBody>
            <a:bodyPr wrap="none" anchor="ctr"/>
            <a:lstStyle/>
            <a:p>
              <a:endParaRPr lang="en-US"/>
            </a:p>
          </p:txBody>
        </p:sp>
        <p:sp>
          <p:nvSpPr>
            <p:cNvPr id="42" name="Freeform 41"/>
            <p:cNvSpPr>
              <a:spLocks noChangeArrowheads="1"/>
            </p:cNvSpPr>
            <p:nvPr/>
          </p:nvSpPr>
          <p:spPr bwMode="auto">
            <a:xfrm>
              <a:off x="4709" y="2460"/>
              <a:ext cx="57" cy="75"/>
            </a:xfrm>
            <a:custGeom>
              <a:avLst/>
              <a:gdLst>
                <a:gd name="T0" fmla="*/ 0 w 250"/>
                <a:gd name="T1" fmla="*/ 0 h 332"/>
                <a:gd name="T2" fmla="*/ 0 w 250"/>
                <a:gd name="T3" fmla="*/ 0 h 332"/>
                <a:gd name="T4" fmla="*/ 0 w 250"/>
                <a:gd name="T5" fmla="*/ 0 h 332"/>
                <a:gd name="T6" fmla="*/ 0 w 250"/>
                <a:gd name="T7" fmla="*/ 0 h 332"/>
                <a:gd name="T8" fmla="*/ 0 w 250"/>
                <a:gd name="T9" fmla="*/ 0 h 332"/>
                <a:gd name="T10" fmla="*/ 0 w 250"/>
                <a:gd name="T11" fmla="*/ 0 h 332"/>
                <a:gd name="T12" fmla="*/ 0 60000 65536"/>
                <a:gd name="T13" fmla="*/ 0 60000 65536"/>
                <a:gd name="T14" fmla="*/ 0 60000 65536"/>
                <a:gd name="T15" fmla="*/ 0 60000 65536"/>
                <a:gd name="T16" fmla="*/ 0 60000 65536"/>
                <a:gd name="T17" fmla="*/ 0 60000 65536"/>
                <a:gd name="T18" fmla="*/ 0 w 250"/>
                <a:gd name="T19" fmla="*/ 0 h 332"/>
                <a:gd name="T20" fmla="*/ 250 w 250"/>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50" h="332">
                  <a:moveTo>
                    <a:pt x="124" y="0"/>
                  </a:moveTo>
                  <a:cubicBezTo>
                    <a:pt x="194" y="0"/>
                    <a:pt x="249" y="72"/>
                    <a:pt x="249" y="165"/>
                  </a:cubicBezTo>
                  <a:cubicBezTo>
                    <a:pt x="249" y="258"/>
                    <a:pt x="194" y="331"/>
                    <a:pt x="124" y="331"/>
                  </a:cubicBezTo>
                  <a:cubicBezTo>
                    <a:pt x="53" y="331"/>
                    <a:pt x="0" y="258"/>
                    <a:pt x="0" y="165"/>
                  </a:cubicBezTo>
                  <a:cubicBezTo>
                    <a:pt x="0" y="72"/>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43" name="Freeform 42"/>
            <p:cNvSpPr>
              <a:spLocks noChangeArrowheads="1"/>
            </p:cNvSpPr>
            <p:nvPr/>
          </p:nvSpPr>
          <p:spPr bwMode="auto">
            <a:xfrm>
              <a:off x="3611" y="2836"/>
              <a:ext cx="57" cy="76"/>
            </a:xfrm>
            <a:custGeom>
              <a:avLst/>
              <a:gdLst>
                <a:gd name="T0" fmla="*/ 0 w 250"/>
                <a:gd name="T1" fmla="*/ 0 h 334"/>
                <a:gd name="T2" fmla="*/ 0 w 250"/>
                <a:gd name="T3" fmla="*/ 0 h 334"/>
                <a:gd name="T4" fmla="*/ 0 w 250"/>
                <a:gd name="T5" fmla="*/ 0 h 334"/>
                <a:gd name="T6" fmla="*/ 0 w 250"/>
                <a:gd name="T7" fmla="*/ 0 h 334"/>
                <a:gd name="T8" fmla="*/ 0 w 250"/>
                <a:gd name="T9" fmla="*/ 0 h 334"/>
                <a:gd name="T10" fmla="*/ 0 w 250"/>
                <a:gd name="T11" fmla="*/ 0 h 334"/>
                <a:gd name="T12" fmla="*/ 0 60000 65536"/>
                <a:gd name="T13" fmla="*/ 0 60000 65536"/>
                <a:gd name="T14" fmla="*/ 0 60000 65536"/>
                <a:gd name="T15" fmla="*/ 0 60000 65536"/>
                <a:gd name="T16" fmla="*/ 0 60000 65536"/>
                <a:gd name="T17" fmla="*/ 0 60000 65536"/>
                <a:gd name="T18" fmla="*/ 0 w 250"/>
                <a:gd name="T19" fmla="*/ 0 h 334"/>
                <a:gd name="T20" fmla="*/ 250 w 250"/>
                <a:gd name="T21" fmla="*/ 334 h 334"/>
              </a:gdLst>
              <a:ahLst/>
              <a:cxnLst>
                <a:cxn ang="T12">
                  <a:pos x="T0" y="T1"/>
                </a:cxn>
                <a:cxn ang="T13">
                  <a:pos x="T2" y="T3"/>
                </a:cxn>
                <a:cxn ang="T14">
                  <a:pos x="T4" y="T5"/>
                </a:cxn>
                <a:cxn ang="T15">
                  <a:pos x="T6" y="T7"/>
                </a:cxn>
                <a:cxn ang="T16">
                  <a:pos x="T8" y="T9"/>
                </a:cxn>
                <a:cxn ang="T17">
                  <a:pos x="T10" y="T11"/>
                </a:cxn>
              </a:cxnLst>
              <a:rect l="T18" t="T19" r="T20" b="T21"/>
              <a:pathLst>
                <a:path w="250" h="334">
                  <a:moveTo>
                    <a:pt x="124" y="0"/>
                  </a:moveTo>
                  <a:cubicBezTo>
                    <a:pt x="195" y="0"/>
                    <a:pt x="249" y="73"/>
                    <a:pt x="249" y="167"/>
                  </a:cubicBezTo>
                  <a:cubicBezTo>
                    <a:pt x="249" y="261"/>
                    <a:pt x="195" y="333"/>
                    <a:pt x="124" y="333"/>
                  </a:cubicBezTo>
                  <a:cubicBezTo>
                    <a:pt x="54" y="333"/>
                    <a:pt x="0" y="261"/>
                    <a:pt x="0" y="167"/>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4" name="Freeform 43"/>
            <p:cNvSpPr>
              <a:spLocks noChangeArrowheads="1"/>
            </p:cNvSpPr>
            <p:nvPr/>
          </p:nvSpPr>
          <p:spPr bwMode="auto">
            <a:xfrm>
              <a:off x="4044" y="3177"/>
              <a:ext cx="57" cy="76"/>
            </a:xfrm>
            <a:custGeom>
              <a:avLst/>
              <a:gdLst>
                <a:gd name="T0" fmla="*/ 0 w 251"/>
                <a:gd name="T1" fmla="*/ 0 h 334"/>
                <a:gd name="T2" fmla="*/ 0 w 251"/>
                <a:gd name="T3" fmla="*/ 0 h 334"/>
                <a:gd name="T4" fmla="*/ 0 w 251"/>
                <a:gd name="T5" fmla="*/ 0 h 334"/>
                <a:gd name="T6" fmla="*/ 0 w 251"/>
                <a:gd name="T7" fmla="*/ 0 h 334"/>
                <a:gd name="T8" fmla="*/ 0 w 251"/>
                <a:gd name="T9" fmla="*/ 0 h 334"/>
                <a:gd name="T10" fmla="*/ 0 w 251"/>
                <a:gd name="T11" fmla="*/ 0 h 334"/>
                <a:gd name="T12" fmla="*/ 0 60000 65536"/>
                <a:gd name="T13" fmla="*/ 0 60000 65536"/>
                <a:gd name="T14" fmla="*/ 0 60000 65536"/>
                <a:gd name="T15" fmla="*/ 0 60000 65536"/>
                <a:gd name="T16" fmla="*/ 0 60000 65536"/>
                <a:gd name="T17" fmla="*/ 0 60000 65536"/>
                <a:gd name="T18" fmla="*/ 0 w 251"/>
                <a:gd name="T19" fmla="*/ 0 h 334"/>
                <a:gd name="T20" fmla="*/ 251 w 251"/>
                <a:gd name="T21" fmla="*/ 334 h 334"/>
              </a:gdLst>
              <a:ahLst/>
              <a:cxnLst>
                <a:cxn ang="T12">
                  <a:pos x="T0" y="T1"/>
                </a:cxn>
                <a:cxn ang="T13">
                  <a:pos x="T2" y="T3"/>
                </a:cxn>
                <a:cxn ang="T14">
                  <a:pos x="T4" y="T5"/>
                </a:cxn>
                <a:cxn ang="T15">
                  <a:pos x="T6" y="T7"/>
                </a:cxn>
                <a:cxn ang="T16">
                  <a:pos x="T8" y="T9"/>
                </a:cxn>
                <a:cxn ang="T17">
                  <a:pos x="T10" y="T11"/>
                </a:cxn>
              </a:cxnLst>
              <a:rect l="T18" t="T19" r="T20" b="T21"/>
              <a:pathLst>
                <a:path w="251" h="334">
                  <a:moveTo>
                    <a:pt x="125" y="0"/>
                  </a:moveTo>
                  <a:cubicBezTo>
                    <a:pt x="195" y="0"/>
                    <a:pt x="250" y="72"/>
                    <a:pt x="250" y="166"/>
                  </a:cubicBezTo>
                  <a:cubicBezTo>
                    <a:pt x="250" y="261"/>
                    <a:pt x="195" y="333"/>
                    <a:pt x="125" y="333"/>
                  </a:cubicBezTo>
                  <a:cubicBezTo>
                    <a:pt x="54" y="333"/>
                    <a:pt x="0" y="261"/>
                    <a:pt x="0" y="166"/>
                  </a:cubicBezTo>
                  <a:cubicBezTo>
                    <a:pt x="0" y="72"/>
                    <a:pt x="54" y="0"/>
                    <a:pt x="125" y="0"/>
                  </a:cubicBezTo>
                </a:path>
              </a:pathLst>
            </a:custGeom>
            <a:solidFill>
              <a:srgbClr val="333399"/>
            </a:solidFill>
            <a:ln w="9360">
              <a:solidFill>
                <a:srgbClr val="000000"/>
              </a:solidFill>
              <a:round/>
              <a:headEnd/>
              <a:tailEnd/>
            </a:ln>
          </p:spPr>
          <p:txBody>
            <a:bodyPr wrap="none" anchor="ctr"/>
            <a:lstStyle/>
            <a:p>
              <a:endParaRPr lang="en-US"/>
            </a:p>
          </p:txBody>
        </p:sp>
        <p:sp>
          <p:nvSpPr>
            <p:cNvPr id="45" name="Freeform 44"/>
            <p:cNvSpPr>
              <a:spLocks noChangeArrowheads="1"/>
            </p:cNvSpPr>
            <p:nvPr/>
          </p:nvSpPr>
          <p:spPr bwMode="auto">
            <a:xfrm>
              <a:off x="4104" y="3067"/>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46" name="Freeform 45"/>
            <p:cNvSpPr>
              <a:spLocks noChangeArrowheads="1"/>
            </p:cNvSpPr>
            <p:nvPr/>
          </p:nvSpPr>
          <p:spPr bwMode="auto">
            <a:xfrm>
              <a:off x="3679" y="2526"/>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7" name="Freeform 46"/>
            <p:cNvSpPr>
              <a:spLocks noChangeArrowheads="1"/>
            </p:cNvSpPr>
            <p:nvPr/>
          </p:nvSpPr>
          <p:spPr bwMode="auto">
            <a:xfrm>
              <a:off x="3928" y="3024"/>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4" y="0"/>
                    <a:pt x="249" y="73"/>
                    <a:pt x="249" y="168"/>
                  </a:cubicBezTo>
                  <a:cubicBezTo>
                    <a:pt x="249" y="263"/>
                    <a:pt x="194" y="336"/>
                    <a:pt x="124" y="336"/>
                  </a:cubicBezTo>
                  <a:cubicBezTo>
                    <a:pt x="53" y="336"/>
                    <a:pt x="0" y="263"/>
                    <a:pt x="0" y="168"/>
                  </a:cubicBezTo>
                  <a:cubicBezTo>
                    <a:pt x="0" y="73"/>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48" name="Freeform 47"/>
            <p:cNvSpPr>
              <a:spLocks noChangeArrowheads="1"/>
            </p:cNvSpPr>
            <p:nvPr/>
          </p:nvSpPr>
          <p:spPr bwMode="auto">
            <a:xfrm>
              <a:off x="3686" y="2356"/>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4" y="0"/>
                  </a:moveTo>
                  <a:cubicBezTo>
                    <a:pt x="195" y="0"/>
                    <a:pt x="250" y="73"/>
                    <a:pt x="250" y="168"/>
                  </a:cubicBezTo>
                  <a:cubicBezTo>
                    <a:pt x="250" y="263"/>
                    <a:pt x="195" y="336"/>
                    <a:pt x="124" y="336"/>
                  </a:cubicBezTo>
                  <a:cubicBezTo>
                    <a:pt x="54" y="336"/>
                    <a:pt x="0" y="263"/>
                    <a:pt x="0" y="168"/>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9" name="Freeform 48"/>
            <p:cNvSpPr>
              <a:spLocks noChangeArrowheads="1"/>
            </p:cNvSpPr>
            <p:nvPr/>
          </p:nvSpPr>
          <p:spPr bwMode="auto">
            <a:xfrm>
              <a:off x="4193" y="2106"/>
              <a:ext cx="57" cy="75"/>
            </a:xfrm>
            <a:custGeom>
              <a:avLst/>
              <a:gdLst>
                <a:gd name="T0" fmla="*/ 0 w 250"/>
                <a:gd name="T1" fmla="*/ 0 h 331"/>
                <a:gd name="T2" fmla="*/ 0 w 250"/>
                <a:gd name="T3" fmla="*/ 0 h 331"/>
                <a:gd name="T4" fmla="*/ 0 w 250"/>
                <a:gd name="T5" fmla="*/ 0 h 331"/>
                <a:gd name="T6" fmla="*/ 0 w 250"/>
                <a:gd name="T7" fmla="*/ 0 h 331"/>
                <a:gd name="T8" fmla="*/ 0 w 250"/>
                <a:gd name="T9" fmla="*/ 0 h 331"/>
                <a:gd name="T10" fmla="*/ 0 w 250"/>
                <a:gd name="T11" fmla="*/ 0 h 331"/>
                <a:gd name="T12" fmla="*/ 0 60000 65536"/>
                <a:gd name="T13" fmla="*/ 0 60000 65536"/>
                <a:gd name="T14" fmla="*/ 0 60000 65536"/>
                <a:gd name="T15" fmla="*/ 0 60000 65536"/>
                <a:gd name="T16" fmla="*/ 0 60000 65536"/>
                <a:gd name="T17" fmla="*/ 0 60000 65536"/>
                <a:gd name="T18" fmla="*/ 0 w 250"/>
                <a:gd name="T19" fmla="*/ 0 h 331"/>
                <a:gd name="T20" fmla="*/ 250 w 250"/>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50" h="331">
                  <a:moveTo>
                    <a:pt x="124" y="0"/>
                  </a:moveTo>
                  <a:cubicBezTo>
                    <a:pt x="195" y="0"/>
                    <a:pt x="249" y="71"/>
                    <a:pt x="249" y="165"/>
                  </a:cubicBezTo>
                  <a:cubicBezTo>
                    <a:pt x="249" y="258"/>
                    <a:pt x="195" y="330"/>
                    <a:pt x="124" y="330"/>
                  </a:cubicBezTo>
                  <a:cubicBezTo>
                    <a:pt x="53" y="330"/>
                    <a:pt x="0" y="258"/>
                    <a:pt x="0" y="165"/>
                  </a:cubicBezTo>
                  <a:cubicBezTo>
                    <a:pt x="0" y="71"/>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50" name="Freeform 49"/>
            <p:cNvSpPr>
              <a:spLocks noChangeArrowheads="1"/>
            </p:cNvSpPr>
            <p:nvPr/>
          </p:nvSpPr>
          <p:spPr bwMode="auto">
            <a:xfrm>
              <a:off x="3982" y="2773"/>
              <a:ext cx="57" cy="76"/>
            </a:xfrm>
            <a:custGeom>
              <a:avLst/>
              <a:gdLst>
                <a:gd name="T0" fmla="*/ 0 w 250"/>
                <a:gd name="T1" fmla="*/ 0 h 336"/>
                <a:gd name="T2" fmla="*/ 0 w 250"/>
                <a:gd name="T3" fmla="*/ 0 h 336"/>
                <a:gd name="T4" fmla="*/ 0 w 250"/>
                <a:gd name="T5" fmla="*/ 0 h 336"/>
                <a:gd name="T6" fmla="*/ 0 w 250"/>
                <a:gd name="T7" fmla="*/ 0 h 336"/>
                <a:gd name="T8" fmla="*/ 0 w 250"/>
                <a:gd name="T9" fmla="*/ 0 h 336"/>
                <a:gd name="T10" fmla="*/ 0 w 250"/>
                <a:gd name="T11" fmla="*/ 0 h 336"/>
                <a:gd name="T12" fmla="*/ 0 60000 65536"/>
                <a:gd name="T13" fmla="*/ 0 60000 65536"/>
                <a:gd name="T14" fmla="*/ 0 60000 65536"/>
                <a:gd name="T15" fmla="*/ 0 60000 65536"/>
                <a:gd name="T16" fmla="*/ 0 60000 65536"/>
                <a:gd name="T17" fmla="*/ 0 60000 65536"/>
                <a:gd name="T18" fmla="*/ 0 w 250"/>
                <a:gd name="T19" fmla="*/ 0 h 336"/>
                <a:gd name="T20" fmla="*/ 250 w 250"/>
                <a:gd name="T21" fmla="*/ 336 h 336"/>
              </a:gdLst>
              <a:ahLst/>
              <a:cxnLst>
                <a:cxn ang="T12">
                  <a:pos x="T0" y="T1"/>
                </a:cxn>
                <a:cxn ang="T13">
                  <a:pos x="T2" y="T3"/>
                </a:cxn>
                <a:cxn ang="T14">
                  <a:pos x="T4" y="T5"/>
                </a:cxn>
                <a:cxn ang="T15">
                  <a:pos x="T6" y="T7"/>
                </a:cxn>
                <a:cxn ang="T16">
                  <a:pos x="T8" y="T9"/>
                </a:cxn>
                <a:cxn ang="T17">
                  <a:pos x="T10" y="T11"/>
                </a:cxn>
              </a:cxnLst>
              <a:rect l="T18" t="T19" r="T20" b="T21"/>
              <a:pathLst>
                <a:path w="250" h="336">
                  <a:moveTo>
                    <a:pt x="124" y="0"/>
                  </a:moveTo>
                  <a:cubicBezTo>
                    <a:pt x="195" y="0"/>
                    <a:pt x="249" y="72"/>
                    <a:pt x="249" y="168"/>
                  </a:cubicBezTo>
                  <a:cubicBezTo>
                    <a:pt x="249" y="263"/>
                    <a:pt x="195" y="335"/>
                    <a:pt x="124" y="335"/>
                  </a:cubicBezTo>
                  <a:cubicBezTo>
                    <a:pt x="53" y="335"/>
                    <a:pt x="0" y="263"/>
                    <a:pt x="0" y="168"/>
                  </a:cubicBezTo>
                  <a:cubicBezTo>
                    <a:pt x="0" y="72"/>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51" name="Freeform 50"/>
            <p:cNvSpPr>
              <a:spLocks noChangeArrowheads="1"/>
            </p:cNvSpPr>
            <p:nvPr/>
          </p:nvSpPr>
          <p:spPr bwMode="auto">
            <a:xfrm>
              <a:off x="4135" y="2024"/>
              <a:ext cx="693" cy="887"/>
            </a:xfrm>
            <a:custGeom>
              <a:avLst/>
              <a:gdLst>
                <a:gd name="T0" fmla="*/ 0 w 3056"/>
                <a:gd name="T1" fmla="*/ 0 h 3912"/>
                <a:gd name="T2" fmla="*/ 0 w 3056"/>
                <a:gd name="T3" fmla="*/ 0 h 3912"/>
                <a:gd name="T4" fmla="*/ 0 w 3056"/>
                <a:gd name="T5" fmla="*/ 0 h 3912"/>
                <a:gd name="T6" fmla="*/ 0 w 3056"/>
                <a:gd name="T7" fmla="*/ 0 h 3912"/>
                <a:gd name="T8" fmla="*/ 0 w 3056"/>
                <a:gd name="T9" fmla="*/ 0 h 3912"/>
                <a:gd name="T10" fmla="*/ 0 w 3056"/>
                <a:gd name="T11" fmla="*/ 0 h 3912"/>
                <a:gd name="T12" fmla="*/ 0 w 3056"/>
                <a:gd name="T13" fmla="*/ 0 h 3912"/>
                <a:gd name="T14" fmla="*/ 0 w 3056"/>
                <a:gd name="T15" fmla="*/ 0 h 3912"/>
                <a:gd name="T16" fmla="*/ 0 w 3056"/>
                <a:gd name="T17" fmla="*/ 0 h 3912"/>
                <a:gd name="T18" fmla="*/ 0 w 3056"/>
                <a:gd name="T19" fmla="*/ 0 h 3912"/>
                <a:gd name="T20" fmla="*/ 0 w 3056"/>
                <a:gd name="T21" fmla="*/ 0 h 3912"/>
                <a:gd name="T22" fmla="*/ 0 w 3056"/>
                <a:gd name="T23" fmla="*/ 0 h 3912"/>
                <a:gd name="T24" fmla="*/ 0 w 3056"/>
                <a:gd name="T25" fmla="*/ 0 h 3912"/>
                <a:gd name="T26" fmla="*/ 0 w 3056"/>
                <a:gd name="T27" fmla="*/ 0 h 3912"/>
                <a:gd name="T28" fmla="*/ 0 w 3056"/>
                <a:gd name="T29" fmla="*/ 0 h 3912"/>
                <a:gd name="T30" fmla="*/ 0 w 3056"/>
                <a:gd name="T31" fmla="*/ 0 h 3912"/>
                <a:gd name="T32" fmla="*/ 0 w 3056"/>
                <a:gd name="T33" fmla="*/ 0 h 3912"/>
                <a:gd name="T34" fmla="*/ 0 w 3056"/>
                <a:gd name="T35" fmla="*/ 0 h 3912"/>
                <a:gd name="T36" fmla="*/ 0 w 3056"/>
                <a:gd name="T37" fmla="*/ 0 h 3912"/>
                <a:gd name="T38" fmla="*/ 0 w 3056"/>
                <a:gd name="T39" fmla="*/ 0 h 3912"/>
                <a:gd name="T40" fmla="*/ 0 w 3056"/>
                <a:gd name="T41" fmla="*/ 0 h 39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56"/>
                <a:gd name="T64" fmla="*/ 0 h 3912"/>
                <a:gd name="T65" fmla="*/ 3056 w 3056"/>
                <a:gd name="T66" fmla="*/ 3912 h 391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56" h="3912">
                  <a:moveTo>
                    <a:pt x="2889" y="1067"/>
                  </a:moveTo>
                  <a:cubicBezTo>
                    <a:pt x="2947" y="1296"/>
                    <a:pt x="2969" y="1521"/>
                    <a:pt x="2989" y="1760"/>
                  </a:cubicBezTo>
                  <a:cubicBezTo>
                    <a:pt x="2975" y="2328"/>
                    <a:pt x="3055" y="2894"/>
                    <a:pt x="2811" y="3377"/>
                  </a:cubicBezTo>
                  <a:cubicBezTo>
                    <a:pt x="2778" y="3508"/>
                    <a:pt x="2731" y="3693"/>
                    <a:pt x="2636" y="3777"/>
                  </a:cubicBezTo>
                  <a:cubicBezTo>
                    <a:pt x="2553" y="3849"/>
                    <a:pt x="2453" y="3867"/>
                    <a:pt x="2359" y="3907"/>
                  </a:cubicBezTo>
                  <a:cubicBezTo>
                    <a:pt x="1878" y="3878"/>
                    <a:pt x="1945" y="3911"/>
                    <a:pt x="1651" y="3777"/>
                  </a:cubicBezTo>
                  <a:cubicBezTo>
                    <a:pt x="1543" y="3725"/>
                    <a:pt x="1462" y="3657"/>
                    <a:pt x="1348" y="3609"/>
                  </a:cubicBezTo>
                  <a:cubicBezTo>
                    <a:pt x="1323" y="3599"/>
                    <a:pt x="1274" y="3577"/>
                    <a:pt x="1274" y="3577"/>
                  </a:cubicBezTo>
                  <a:cubicBezTo>
                    <a:pt x="1157" y="3424"/>
                    <a:pt x="1024" y="3308"/>
                    <a:pt x="893" y="3181"/>
                  </a:cubicBezTo>
                  <a:cubicBezTo>
                    <a:pt x="796" y="3086"/>
                    <a:pt x="751" y="2963"/>
                    <a:pt x="643" y="2915"/>
                  </a:cubicBezTo>
                  <a:cubicBezTo>
                    <a:pt x="544" y="2789"/>
                    <a:pt x="364" y="2636"/>
                    <a:pt x="288" y="2487"/>
                  </a:cubicBezTo>
                  <a:cubicBezTo>
                    <a:pt x="155" y="2218"/>
                    <a:pt x="58" y="1946"/>
                    <a:pt x="10" y="1630"/>
                  </a:cubicBezTo>
                  <a:cubicBezTo>
                    <a:pt x="19" y="1245"/>
                    <a:pt x="0" y="856"/>
                    <a:pt x="36" y="471"/>
                  </a:cubicBezTo>
                  <a:cubicBezTo>
                    <a:pt x="61" y="217"/>
                    <a:pt x="386" y="119"/>
                    <a:pt x="516" y="75"/>
                  </a:cubicBezTo>
                  <a:cubicBezTo>
                    <a:pt x="550" y="64"/>
                    <a:pt x="616" y="43"/>
                    <a:pt x="616" y="43"/>
                  </a:cubicBezTo>
                  <a:cubicBezTo>
                    <a:pt x="802" y="53"/>
                    <a:pt x="1004" y="0"/>
                    <a:pt x="1171" y="108"/>
                  </a:cubicBezTo>
                  <a:cubicBezTo>
                    <a:pt x="1312" y="203"/>
                    <a:pt x="1456" y="279"/>
                    <a:pt x="1601" y="373"/>
                  </a:cubicBezTo>
                  <a:cubicBezTo>
                    <a:pt x="1718" y="450"/>
                    <a:pt x="1818" y="555"/>
                    <a:pt x="1929" y="639"/>
                  </a:cubicBezTo>
                  <a:cubicBezTo>
                    <a:pt x="1992" y="685"/>
                    <a:pt x="2067" y="696"/>
                    <a:pt x="2131" y="737"/>
                  </a:cubicBezTo>
                  <a:cubicBezTo>
                    <a:pt x="2342" y="870"/>
                    <a:pt x="2650" y="1067"/>
                    <a:pt x="2889" y="1067"/>
                  </a:cubicBezTo>
                </a:path>
              </a:pathLst>
            </a:custGeom>
            <a:noFill/>
            <a:ln w="9360">
              <a:solidFill>
                <a:srgbClr val="000000"/>
              </a:solidFill>
              <a:round/>
              <a:headEnd/>
              <a:tailEnd/>
            </a:ln>
          </p:spPr>
          <p:txBody>
            <a:bodyPr wrap="none" anchor="ctr"/>
            <a:lstStyle/>
            <a:p>
              <a:endParaRPr lang="en-US"/>
            </a:p>
          </p:txBody>
        </p:sp>
        <p:sp>
          <p:nvSpPr>
            <p:cNvPr id="52" name="Freeform 51"/>
            <p:cNvSpPr>
              <a:spLocks noChangeArrowheads="1"/>
            </p:cNvSpPr>
            <p:nvPr/>
          </p:nvSpPr>
          <p:spPr bwMode="auto">
            <a:xfrm>
              <a:off x="3817" y="2640"/>
              <a:ext cx="579" cy="794"/>
            </a:xfrm>
            <a:custGeom>
              <a:avLst/>
              <a:gdLst>
                <a:gd name="T0" fmla="*/ 0 w 2553"/>
                <a:gd name="T1" fmla="*/ 0 h 3502"/>
                <a:gd name="T2" fmla="*/ 0 w 2553"/>
                <a:gd name="T3" fmla="*/ 0 h 3502"/>
                <a:gd name="T4" fmla="*/ 0 w 2553"/>
                <a:gd name="T5" fmla="*/ 0 h 3502"/>
                <a:gd name="T6" fmla="*/ 0 w 2553"/>
                <a:gd name="T7" fmla="*/ 0 h 3502"/>
                <a:gd name="T8" fmla="*/ 0 w 2553"/>
                <a:gd name="T9" fmla="*/ 0 h 3502"/>
                <a:gd name="T10" fmla="*/ 0 w 2553"/>
                <a:gd name="T11" fmla="*/ 0 h 3502"/>
                <a:gd name="T12" fmla="*/ 0 w 2553"/>
                <a:gd name="T13" fmla="*/ 0 h 3502"/>
                <a:gd name="T14" fmla="*/ 0 w 2553"/>
                <a:gd name="T15" fmla="*/ 0 h 3502"/>
                <a:gd name="T16" fmla="*/ 0 w 2553"/>
                <a:gd name="T17" fmla="*/ 0 h 3502"/>
                <a:gd name="T18" fmla="*/ 0 w 2553"/>
                <a:gd name="T19" fmla="*/ 0 h 3502"/>
                <a:gd name="T20" fmla="*/ 0 w 2553"/>
                <a:gd name="T21" fmla="*/ 0 h 3502"/>
                <a:gd name="T22" fmla="*/ 0 w 2553"/>
                <a:gd name="T23" fmla="*/ 0 h 3502"/>
                <a:gd name="T24" fmla="*/ 0 w 2553"/>
                <a:gd name="T25" fmla="*/ 0 h 3502"/>
                <a:gd name="T26" fmla="*/ 0 w 2553"/>
                <a:gd name="T27" fmla="*/ 0 h 3502"/>
                <a:gd name="T28" fmla="*/ 0 w 2553"/>
                <a:gd name="T29" fmla="*/ 0 h 3502"/>
                <a:gd name="T30" fmla="*/ 0 w 2553"/>
                <a:gd name="T31" fmla="*/ 0 h 3502"/>
                <a:gd name="T32" fmla="*/ 0 w 2553"/>
                <a:gd name="T33" fmla="*/ 0 h 3502"/>
                <a:gd name="T34" fmla="*/ 0 w 2553"/>
                <a:gd name="T35" fmla="*/ 0 h 3502"/>
                <a:gd name="T36" fmla="*/ 0 w 2553"/>
                <a:gd name="T37" fmla="*/ 0 h 3502"/>
                <a:gd name="T38" fmla="*/ 0 w 2553"/>
                <a:gd name="T39" fmla="*/ 0 h 3502"/>
                <a:gd name="T40" fmla="*/ 0 w 2553"/>
                <a:gd name="T41" fmla="*/ 0 h 3502"/>
                <a:gd name="T42" fmla="*/ 0 w 2553"/>
                <a:gd name="T43" fmla="*/ 0 h 3502"/>
                <a:gd name="T44" fmla="*/ 0 w 2553"/>
                <a:gd name="T45" fmla="*/ 0 h 3502"/>
                <a:gd name="T46" fmla="*/ 0 w 2553"/>
                <a:gd name="T47" fmla="*/ 0 h 3502"/>
                <a:gd name="T48" fmla="*/ 0 w 2553"/>
                <a:gd name="T49" fmla="*/ 0 h 3502"/>
                <a:gd name="T50" fmla="*/ 0 w 2553"/>
                <a:gd name="T51" fmla="*/ 0 h 350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53"/>
                <a:gd name="T79" fmla="*/ 0 h 3502"/>
                <a:gd name="T80" fmla="*/ 2553 w 2553"/>
                <a:gd name="T81" fmla="*/ 3502 h 350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53" h="3502">
                  <a:moveTo>
                    <a:pt x="631" y="2968"/>
                  </a:moveTo>
                  <a:cubicBezTo>
                    <a:pt x="495" y="2911"/>
                    <a:pt x="600" y="2983"/>
                    <a:pt x="530" y="2838"/>
                  </a:cubicBezTo>
                  <a:cubicBezTo>
                    <a:pt x="489" y="2747"/>
                    <a:pt x="400" y="2707"/>
                    <a:pt x="327" y="2674"/>
                  </a:cubicBezTo>
                  <a:cubicBezTo>
                    <a:pt x="294" y="2628"/>
                    <a:pt x="255" y="2591"/>
                    <a:pt x="225" y="2541"/>
                  </a:cubicBezTo>
                  <a:cubicBezTo>
                    <a:pt x="189" y="2479"/>
                    <a:pt x="124" y="2344"/>
                    <a:pt x="124" y="2344"/>
                  </a:cubicBezTo>
                  <a:cubicBezTo>
                    <a:pt x="83" y="2123"/>
                    <a:pt x="27" y="1908"/>
                    <a:pt x="0" y="1684"/>
                  </a:cubicBezTo>
                  <a:cubicBezTo>
                    <a:pt x="8" y="1364"/>
                    <a:pt x="2" y="1045"/>
                    <a:pt x="24" y="725"/>
                  </a:cubicBezTo>
                  <a:cubicBezTo>
                    <a:pt x="30" y="635"/>
                    <a:pt x="205" y="504"/>
                    <a:pt x="225" y="494"/>
                  </a:cubicBezTo>
                  <a:cubicBezTo>
                    <a:pt x="425" y="366"/>
                    <a:pt x="617" y="79"/>
                    <a:pt x="809" y="0"/>
                  </a:cubicBezTo>
                  <a:cubicBezTo>
                    <a:pt x="872" y="10"/>
                    <a:pt x="1012" y="17"/>
                    <a:pt x="1086" y="65"/>
                  </a:cubicBezTo>
                  <a:cubicBezTo>
                    <a:pt x="1195" y="134"/>
                    <a:pt x="1240" y="167"/>
                    <a:pt x="1365" y="199"/>
                  </a:cubicBezTo>
                  <a:cubicBezTo>
                    <a:pt x="1543" y="355"/>
                    <a:pt x="1773" y="362"/>
                    <a:pt x="1920" y="595"/>
                  </a:cubicBezTo>
                  <a:cubicBezTo>
                    <a:pt x="2112" y="899"/>
                    <a:pt x="1849" y="501"/>
                    <a:pt x="1996" y="791"/>
                  </a:cubicBezTo>
                  <a:cubicBezTo>
                    <a:pt x="2015" y="830"/>
                    <a:pt x="2048" y="856"/>
                    <a:pt x="2071" y="892"/>
                  </a:cubicBezTo>
                  <a:cubicBezTo>
                    <a:pt x="2140" y="1008"/>
                    <a:pt x="2174" y="1157"/>
                    <a:pt x="2248" y="1255"/>
                  </a:cubicBezTo>
                  <a:cubicBezTo>
                    <a:pt x="2307" y="1488"/>
                    <a:pt x="2269" y="1394"/>
                    <a:pt x="2348" y="1549"/>
                  </a:cubicBezTo>
                  <a:cubicBezTo>
                    <a:pt x="2366" y="1658"/>
                    <a:pt x="2380" y="1771"/>
                    <a:pt x="2399" y="1879"/>
                  </a:cubicBezTo>
                  <a:cubicBezTo>
                    <a:pt x="2421" y="1992"/>
                    <a:pt x="2457" y="2098"/>
                    <a:pt x="2474" y="2210"/>
                  </a:cubicBezTo>
                  <a:cubicBezTo>
                    <a:pt x="2507" y="2417"/>
                    <a:pt x="2502" y="2605"/>
                    <a:pt x="2552" y="2805"/>
                  </a:cubicBezTo>
                  <a:cubicBezTo>
                    <a:pt x="2529" y="3066"/>
                    <a:pt x="2513" y="3270"/>
                    <a:pt x="2299" y="3364"/>
                  </a:cubicBezTo>
                  <a:cubicBezTo>
                    <a:pt x="2232" y="3393"/>
                    <a:pt x="2163" y="3411"/>
                    <a:pt x="2096" y="3433"/>
                  </a:cubicBezTo>
                  <a:cubicBezTo>
                    <a:pt x="2063" y="3444"/>
                    <a:pt x="1996" y="3466"/>
                    <a:pt x="1996" y="3466"/>
                  </a:cubicBezTo>
                  <a:cubicBezTo>
                    <a:pt x="1857" y="3462"/>
                    <a:pt x="1284" y="3501"/>
                    <a:pt x="983" y="3400"/>
                  </a:cubicBezTo>
                  <a:cubicBezTo>
                    <a:pt x="878" y="3364"/>
                    <a:pt x="756" y="3233"/>
                    <a:pt x="680" y="3135"/>
                  </a:cubicBezTo>
                  <a:cubicBezTo>
                    <a:pt x="642" y="3085"/>
                    <a:pt x="533" y="2968"/>
                    <a:pt x="631" y="2968"/>
                  </a:cubicBezTo>
                </a:path>
              </a:pathLst>
            </a:custGeom>
            <a:noFill/>
            <a:ln w="9360">
              <a:solidFill>
                <a:srgbClr val="000000"/>
              </a:solidFill>
              <a:round/>
              <a:headEnd/>
              <a:tailEnd/>
            </a:ln>
          </p:spPr>
          <p:txBody>
            <a:bodyPr wrap="none" anchor="ctr"/>
            <a:lstStyle/>
            <a:p>
              <a:endParaRPr lang="en-US"/>
            </a:p>
          </p:txBody>
        </p:sp>
        <p:sp>
          <p:nvSpPr>
            <p:cNvPr id="53" name="Freeform 52"/>
            <p:cNvSpPr>
              <a:spLocks noChangeArrowheads="1"/>
            </p:cNvSpPr>
            <p:nvPr/>
          </p:nvSpPr>
          <p:spPr bwMode="auto">
            <a:xfrm>
              <a:off x="3302" y="2057"/>
              <a:ext cx="548" cy="965"/>
            </a:xfrm>
            <a:custGeom>
              <a:avLst/>
              <a:gdLst>
                <a:gd name="T0" fmla="*/ 0 w 2415"/>
                <a:gd name="T1" fmla="*/ 0 h 4257"/>
                <a:gd name="T2" fmla="*/ 0 w 2415"/>
                <a:gd name="T3" fmla="*/ 0 h 4257"/>
                <a:gd name="T4" fmla="*/ 0 w 2415"/>
                <a:gd name="T5" fmla="*/ 0 h 4257"/>
                <a:gd name="T6" fmla="*/ 0 w 2415"/>
                <a:gd name="T7" fmla="*/ 0 h 4257"/>
                <a:gd name="T8" fmla="*/ 0 w 2415"/>
                <a:gd name="T9" fmla="*/ 0 h 4257"/>
                <a:gd name="T10" fmla="*/ 0 w 2415"/>
                <a:gd name="T11" fmla="*/ 0 h 4257"/>
                <a:gd name="T12" fmla="*/ 0 w 2415"/>
                <a:gd name="T13" fmla="*/ 0 h 4257"/>
                <a:gd name="T14" fmla="*/ 0 w 2415"/>
                <a:gd name="T15" fmla="*/ 0 h 4257"/>
                <a:gd name="T16" fmla="*/ 0 w 2415"/>
                <a:gd name="T17" fmla="*/ 0 h 4257"/>
                <a:gd name="T18" fmla="*/ 0 w 2415"/>
                <a:gd name="T19" fmla="*/ 0 h 4257"/>
                <a:gd name="T20" fmla="*/ 0 w 2415"/>
                <a:gd name="T21" fmla="*/ 0 h 4257"/>
                <a:gd name="T22" fmla="*/ 0 w 2415"/>
                <a:gd name="T23" fmla="*/ 0 h 4257"/>
                <a:gd name="T24" fmla="*/ 0 w 2415"/>
                <a:gd name="T25" fmla="*/ 0 h 4257"/>
                <a:gd name="T26" fmla="*/ 0 w 2415"/>
                <a:gd name="T27" fmla="*/ 0 h 4257"/>
                <a:gd name="T28" fmla="*/ 0 w 2415"/>
                <a:gd name="T29" fmla="*/ 0 h 4257"/>
                <a:gd name="T30" fmla="*/ 0 w 2415"/>
                <a:gd name="T31" fmla="*/ 0 h 4257"/>
                <a:gd name="T32" fmla="*/ 0 w 2415"/>
                <a:gd name="T33" fmla="*/ 0 h 4257"/>
                <a:gd name="T34" fmla="*/ 0 w 2415"/>
                <a:gd name="T35" fmla="*/ 0 h 4257"/>
                <a:gd name="T36" fmla="*/ 0 w 2415"/>
                <a:gd name="T37" fmla="*/ 0 h 4257"/>
                <a:gd name="T38" fmla="*/ 0 w 2415"/>
                <a:gd name="T39" fmla="*/ 0 h 4257"/>
                <a:gd name="T40" fmla="*/ 0 w 2415"/>
                <a:gd name="T41" fmla="*/ 0 h 4257"/>
                <a:gd name="T42" fmla="*/ 0 w 2415"/>
                <a:gd name="T43" fmla="*/ 0 h 4257"/>
                <a:gd name="T44" fmla="*/ 0 w 2415"/>
                <a:gd name="T45" fmla="*/ 0 h 4257"/>
                <a:gd name="T46" fmla="*/ 0 w 2415"/>
                <a:gd name="T47" fmla="*/ 0 h 42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415"/>
                <a:gd name="T73" fmla="*/ 0 h 4257"/>
                <a:gd name="T74" fmla="*/ 2415 w 2415"/>
                <a:gd name="T75" fmla="*/ 4257 h 425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415" h="4257">
                  <a:moveTo>
                    <a:pt x="2094" y="2869"/>
                  </a:moveTo>
                  <a:cubicBezTo>
                    <a:pt x="2064" y="3069"/>
                    <a:pt x="2031" y="3262"/>
                    <a:pt x="1942" y="3429"/>
                  </a:cubicBezTo>
                  <a:cubicBezTo>
                    <a:pt x="1899" y="3596"/>
                    <a:pt x="1858" y="3758"/>
                    <a:pt x="1816" y="3925"/>
                  </a:cubicBezTo>
                  <a:cubicBezTo>
                    <a:pt x="1799" y="3991"/>
                    <a:pt x="1802" y="4071"/>
                    <a:pt x="1766" y="4121"/>
                  </a:cubicBezTo>
                  <a:cubicBezTo>
                    <a:pt x="1750" y="4143"/>
                    <a:pt x="1739" y="4176"/>
                    <a:pt x="1716" y="4190"/>
                  </a:cubicBezTo>
                  <a:cubicBezTo>
                    <a:pt x="1669" y="4223"/>
                    <a:pt x="1564" y="4256"/>
                    <a:pt x="1564" y="4256"/>
                  </a:cubicBezTo>
                  <a:cubicBezTo>
                    <a:pt x="1308" y="4238"/>
                    <a:pt x="1052" y="4245"/>
                    <a:pt x="805" y="4154"/>
                  </a:cubicBezTo>
                  <a:cubicBezTo>
                    <a:pt x="641" y="4096"/>
                    <a:pt x="505" y="3980"/>
                    <a:pt x="352" y="3893"/>
                  </a:cubicBezTo>
                  <a:cubicBezTo>
                    <a:pt x="257" y="3838"/>
                    <a:pt x="167" y="3770"/>
                    <a:pt x="100" y="3660"/>
                  </a:cubicBezTo>
                  <a:cubicBezTo>
                    <a:pt x="64" y="3599"/>
                    <a:pt x="0" y="3464"/>
                    <a:pt x="0" y="3464"/>
                  </a:cubicBezTo>
                  <a:cubicBezTo>
                    <a:pt x="30" y="2920"/>
                    <a:pt x="91" y="2336"/>
                    <a:pt x="224" y="1814"/>
                  </a:cubicBezTo>
                  <a:cubicBezTo>
                    <a:pt x="255" y="1495"/>
                    <a:pt x="275" y="1175"/>
                    <a:pt x="302" y="856"/>
                  </a:cubicBezTo>
                  <a:cubicBezTo>
                    <a:pt x="313" y="714"/>
                    <a:pt x="327" y="638"/>
                    <a:pt x="427" y="595"/>
                  </a:cubicBezTo>
                  <a:cubicBezTo>
                    <a:pt x="536" y="446"/>
                    <a:pt x="408" y="598"/>
                    <a:pt x="555" y="493"/>
                  </a:cubicBezTo>
                  <a:cubicBezTo>
                    <a:pt x="669" y="413"/>
                    <a:pt x="738" y="316"/>
                    <a:pt x="858" y="264"/>
                  </a:cubicBezTo>
                  <a:cubicBezTo>
                    <a:pt x="952" y="134"/>
                    <a:pt x="855" y="246"/>
                    <a:pt x="983" y="163"/>
                  </a:cubicBezTo>
                  <a:cubicBezTo>
                    <a:pt x="1063" y="108"/>
                    <a:pt x="1097" y="40"/>
                    <a:pt x="1185" y="0"/>
                  </a:cubicBezTo>
                  <a:cubicBezTo>
                    <a:pt x="1444" y="83"/>
                    <a:pt x="1739" y="105"/>
                    <a:pt x="1969" y="298"/>
                  </a:cubicBezTo>
                  <a:cubicBezTo>
                    <a:pt x="2050" y="453"/>
                    <a:pt x="2124" y="624"/>
                    <a:pt x="2247" y="725"/>
                  </a:cubicBezTo>
                  <a:cubicBezTo>
                    <a:pt x="2280" y="791"/>
                    <a:pt x="2327" y="849"/>
                    <a:pt x="2347" y="925"/>
                  </a:cubicBezTo>
                  <a:cubicBezTo>
                    <a:pt x="2364" y="990"/>
                    <a:pt x="2397" y="1121"/>
                    <a:pt x="2397" y="1121"/>
                  </a:cubicBezTo>
                  <a:cubicBezTo>
                    <a:pt x="2383" y="1582"/>
                    <a:pt x="2414" y="2162"/>
                    <a:pt x="2194" y="2572"/>
                  </a:cubicBezTo>
                  <a:cubicBezTo>
                    <a:pt x="2186" y="2601"/>
                    <a:pt x="2156" y="2869"/>
                    <a:pt x="2094" y="2869"/>
                  </a:cubicBezTo>
                </a:path>
              </a:pathLst>
            </a:custGeom>
            <a:noFill/>
            <a:ln w="9360">
              <a:solidFill>
                <a:srgbClr val="000000"/>
              </a:solidFill>
              <a:round/>
              <a:headEnd/>
              <a:tailEnd/>
            </a:ln>
          </p:spPr>
          <p:txBody>
            <a:bodyPr wrap="none" anchor="ctr"/>
            <a:lstStyle/>
            <a:p>
              <a:endParaRPr lang="en-US"/>
            </a:p>
          </p:txBody>
        </p:sp>
      </p:grpSp>
      <p:sp>
        <p:nvSpPr>
          <p:cNvPr id="54" name="TextBox 53"/>
          <p:cNvSpPr txBox="1"/>
          <p:nvPr/>
        </p:nvSpPr>
        <p:spPr>
          <a:xfrm>
            <a:off x="1214414" y="5786454"/>
            <a:ext cx="3709670" cy="461665"/>
          </a:xfrm>
          <a:prstGeom prst="rect">
            <a:avLst/>
          </a:prstGeom>
          <a:noFill/>
        </p:spPr>
        <p:txBody>
          <a:bodyPr wrap="none" rtlCol="0">
            <a:spAutoFit/>
          </a:bodyPr>
          <a:lstStyle/>
          <a:p>
            <a:r>
              <a:rPr lang="en-IN" dirty="0" smtClean="0"/>
              <a:t>Cluster the majority samples</a:t>
            </a:r>
            <a:endParaRPr lang="en-US" dirty="0"/>
          </a:p>
        </p:txBody>
      </p:sp>
      <p:sp>
        <p:nvSpPr>
          <p:cNvPr id="55" name="TextBox 54"/>
          <p:cNvSpPr txBox="1"/>
          <p:nvPr/>
        </p:nvSpPr>
        <p:spPr>
          <a:xfrm>
            <a:off x="5143504" y="5715016"/>
            <a:ext cx="3557384" cy="461665"/>
          </a:xfrm>
          <a:prstGeom prst="rect">
            <a:avLst/>
          </a:prstGeom>
          <a:noFill/>
        </p:spPr>
        <p:txBody>
          <a:bodyPr wrap="none" rtlCol="0">
            <a:spAutoFit/>
          </a:bodyPr>
          <a:lstStyle/>
          <a:p>
            <a:r>
              <a:rPr lang="en-IN" dirty="0" smtClean="0"/>
              <a:t>Apply the stratify sampling</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604822"/>
          </a:xfrm>
        </p:spPr>
        <p:txBody>
          <a:bodyPr>
            <a:normAutofit fontScale="90000"/>
          </a:bodyPr>
          <a:lstStyle/>
          <a:p>
            <a:r>
              <a:rPr lang="en-IN" dirty="0" smtClean="0"/>
              <a:t>Oversampling: SMOTE</a:t>
            </a:r>
            <a:endParaRPr lang="en-US" dirty="0"/>
          </a:p>
        </p:txBody>
      </p:sp>
      <p:sp>
        <p:nvSpPr>
          <p:cNvPr id="3" name="Content Placeholder 2"/>
          <p:cNvSpPr>
            <a:spLocks noGrp="1"/>
          </p:cNvSpPr>
          <p:nvPr>
            <p:ph idx="1"/>
          </p:nvPr>
        </p:nvSpPr>
        <p:spPr>
          <a:xfrm>
            <a:off x="685800" y="1357298"/>
            <a:ext cx="8029604" cy="4714908"/>
          </a:xfrm>
        </p:spPr>
        <p:txBody>
          <a:bodyPr/>
          <a:lstStyle/>
          <a:p>
            <a:r>
              <a:rPr lang="en-US" sz="2400" b="1" dirty="0" smtClean="0"/>
              <a:t>SMOTE (Synthetic Minority Over-sampling Technique)</a:t>
            </a:r>
            <a:r>
              <a:rPr lang="en-US" sz="2400" dirty="0" smtClean="0"/>
              <a:t> is a popular method used in machine learning to address the problem of imbalanced datasets.</a:t>
            </a:r>
          </a:p>
          <a:p>
            <a:r>
              <a:rPr lang="en-US" sz="2400" b="1" dirty="0" smtClean="0"/>
              <a:t>Selecting Minority Class Samples</a:t>
            </a:r>
            <a:r>
              <a:rPr lang="en-US" sz="2400" dirty="0" smtClean="0"/>
              <a:t>: For each minority sample, it finds its k-nearest neighbors in the minority class.</a:t>
            </a:r>
          </a:p>
          <a:p>
            <a:r>
              <a:rPr lang="en-US" sz="2400" dirty="0" smtClean="0"/>
              <a:t>It picks one of the neighbors randomly and creates a synthetic sample along the line segment between the minority sample and its chosen neighbor.</a:t>
            </a:r>
          </a:p>
          <a:p>
            <a:r>
              <a:rPr lang="en-US" sz="2400" dirty="0" smtClean="0"/>
              <a:t>The synthetic sample is generated as a weighted combination of the two points: </a:t>
            </a:r>
          </a:p>
          <a:p>
            <a:pPr>
              <a:buNone/>
            </a:pPr>
            <a:r>
              <a:rPr lang="en-US" sz="2400" dirty="0" smtClean="0"/>
              <a:t>	</a:t>
            </a:r>
            <a:r>
              <a:rPr lang="en-US" sz="2400" dirty="0" err="1" smtClean="0"/>
              <a:t>new</a:t>
            </a:r>
            <a:r>
              <a:rPr lang="en-US" sz="2400" baseline="-25000" dirty="0" err="1" smtClean="0"/>
              <a:t>sample</a:t>
            </a:r>
            <a:r>
              <a:rPr lang="en-US" sz="2400" dirty="0" smtClean="0"/>
              <a:t> = sample + random(0, 1) ×(neighbor – sample)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33384"/>
          </a:xfrm>
        </p:spPr>
        <p:txBody>
          <a:bodyPr>
            <a:normAutofit fontScale="90000"/>
          </a:bodyPr>
          <a:lstStyle/>
          <a:p>
            <a:r>
              <a:rPr lang="en-IN" dirty="0" smtClean="0"/>
              <a:t>Key Points in SMOTE</a:t>
            </a:r>
            <a:endParaRPr lang="en-US" dirty="0"/>
          </a:p>
        </p:txBody>
      </p:sp>
      <p:sp>
        <p:nvSpPr>
          <p:cNvPr id="3" name="Content Placeholder 2"/>
          <p:cNvSpPr>
            <a:spLocks noGrp="1"/>
          </p:cNvSpPr>
          <p:nvPr>
            <p:ph idx="1"/>
          </p:nvPr>
        </p:nvSpPr>
        <p:spPr>
          <a:xfrm>
            <a:off x="685800" y="1285860"/>
            <a:ext cx="7772400" cy="5143536"/>
          </a:xfrm>
        </p:spPr>
        <p:txBody>
          <a:bodyPr>
            <a:normAutofit/>
          </a:bodyPr>
          <a:lstStyle/>
          <a:p>
            <a:r>
              <a:rPr lang="en-US" sz="2400" b="1" dirty="0" smtClean="0"/>
              <a:t>Synthetic Sampling</a:t>
            </a:r>
            <a:r>
              <a:rPr lang="en-US" sz="2400" dirty="0" smtClean="0"/>
              <a:t>: Unlike simple oversampling, SMOTE doesn't just duplicate samples. Instead, it creates new, synthetic samples that are similar but not identical to existing ones.</a:t>
            </a:r>
          </a:p>
          <a:p>
            <a:r>
              <a:rPr lang="en-US" sz="2400" b="1" dirty="0" smtClean="0"/>
              <a:t>Better Generalization</a:t>
            </a:r>
            <a:r>
              <a:rPr lang="en-US" sz="2400" dirty="0" smtClean="0"/>
              <a:t>: SMOTE often leads to better model generalization because the model gets a more balanced view of the minority class.</a:t>
            </a:r>
          </a:p>
          <a:p>
            <a:r>
              <a:rPr lang="en-US" sz="2400" b="1" dirty="0" smtClean="0"/>
              <a:t>Use with Caution</a:t>
            </a:r>
            <a:r>
              <a:rPr lang="en-US" sz="2400" dirty="0" smtClean="0"/>
              <a:t>: SMOTE may sometimes introduce noise, especially if the minority class samples are spread across a wide feature space or overlap significantly with the majority class.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85728"/>
            <a:ext cx="7772400" cy="604822"/>
          </a:xfrm>
        </p:spPr>
        <p:txBody>
          <a:bodyPr>
            <a:normAutofit fontScale="90000"/>
          </a:bodyPr>
          <a:lstStyle/>
          <a:p>
            <a:r>
              <a:rPr lang="en-IN" dirty="0" smtClean="0"/>
              <a:t>Oversampling : </a:t>
            </a:r>
            <a:r>
              <a:rPr lang="en-US" b="1" dirty="0" smtClean="0"/>
              <a:t>Borderline-SMOTE</a:t>
            </a:r>
            <a:endParaRPr lang="en-US" dirty="0"/>
          </a:p>
        </p:txBody>
      </p:sp>
      <p:sp>
        <p:nvSpPr>
          <p:cNvPr id="3" name="Content Placeholder 2"/>
          <p:cNvSpPr>
            <a:spLocks noGrp="1"/>
          </p:cNvSpPr>
          <p:nvPr>
            <p:ph idx="1"/>
          </p:nvPr>
        </p:nvSpPr>
        <p:spPr>
          <a:xfrm>
            <a:off x="500034" y="1000108"/>
            <a:ext cx="8358246" cy="5500726"/>
          </a:xfrm>
        </p:spPr>
        <p:txBody>
          <a:bodyPr>
            <a:normAutofit/>
          </a:bodyPr>
          <a:lstStyle/>
          <a:p>
            <a:r>
              <a:rPr lang="en-US" sz="2400" b="1" dirty="0" smtClean="0"/>
              <a:t>Borderline-SMOTE</a:t>
            </a:r>
            <a:r>
              <a:rPr lang="en-US" sz="2400" dirty="0" smtClean="0"/>
              <a:t>: It is a variation of SMOTE designed to </a:t>
            </a:r>
            <a:r>
              <a:rPr lang="en-US" sz="2400" b="1" dirty="0" smtClean="0"/>
              <a:t>focus on samples near the decision boundary</a:t>
            </a:r>
            <a:r>
              <a:rPr lang="en-US" sz="2400" dirty="0" smtClean="0"/>
              <a:t> rather than generating synthetic data randomly across the minority class. </a:t>
            </a:r>
          </a:p>
          <a:p>
            <a:pPr>
              <a:buNone/>
            </a:pPr>
            <a:endParaRPr lang="en-US" sz="2400" dirty="0" smtClean="0"/>
          </a:p>
          <a:p>
            <a:r>
              <a:rPr lang="en-US" sz="2400" dirty="0" smtClean="0"/>
              <a:t>This improves model performance by </a:t>
            </a:r>
            <a:r>
              <a:rPr lang="en-US" sz="2400" b="1" dirty="0" smtClean="0"/>
              <a:t>strengthening the decision boundary</a:t>
            </a:r>
            <a:r>
              <a:rPr lang="en-US" sz="2400" dirty="0" smtClean="0"/>
              <a:t>.</a:t>
            </a:r>
          </a:p>
          <a:p>
            <a:pPr>
              <a:buNone/>
            </a:pPr>
            <a:endParaRPr lang="en-US" sz="2400" dirty="0" smtClean="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14290"/>
            <a:ext cx="7772400" cy="642942"/>
          </a:xfrm>
        </p:spPr>
        <p:txBody>
          <a:bodyPr/>
          <a:lstStyle/>
          <a:p>
            <a:r>
              <a:rPr lang="en-US" sz="3600" b="1" dirty="0" smtClean="0"/>
              <a:t>Borderline-SMOTE</a:t>
            </a:r>
            <a:endParaRPr lang="en-US" sz="3600" dirty="0"/>
          </a:p>
        </p:txBody>
      </p:sp>
      <p:sp>
        <p:nvSpPr>
          <p:cNvPr id="3" name="Content Placeholder 2"/>
          <p:cNvSpPr>
            <a:spLocks noGrp="1"/>
          </p:cNvSpPr>
          <p:nvPr>
            <p:ph idx="1"/>
          </p:nvPr>
        </p:nvSpPr>
        <p:spPr>
          <a:xfrm>
            <a:off x="685800" y="1000108"/>
            <a:ext cx="7386662" cy="5095892"/>
          </a:xfrm>
        </p:spPr>
        <p:txBody>
          <a:bodyPr/>
          <a:lstStyle/>
          <a:p>
            <a:pPr>
              <a:buNone/>
            </a:pPr>
            <a:r>
              <a:rPr lang="en-US" sz="2800" b="1" dirty="0" smtClean="0"/>
              <a:t>1. Identify Borderline Instances</a:t>
            </a:r>
            <a:endParaRPr lang="en-US" sz="2800" dirty="0" smtClean="0"/>
          </a:p>
          <a:p>
            <a:pPr lvl="1"/>
            <a:r>
              <a:rPr lang="en-US" sz="2400" dirty="0" smtClean="0"/>
              <a:t>For each minority-class instance, find its </a:t>
            </a:r>
            <a:r>
              <a:rPr lang="en-US" sz="2400" b="1" dirty="0" smtClean="0"/>
              <a:t>k-nearest neighbors</a:t>
            </a:r>
            <a:r>
              <a:rPr lang="en-US" sz="2400" dirty="0" smtClean="0"/>
              <a:t>.</a:t>
            </a:r>
          </a:p>
          <a:p>
            <a:pPr lvl="1"/>
            <a:r>
              <a:rPr lang="en-US" sz="2400" dirty="0" smtClean="0"/>
              <a:t>Count how many of these neighbors belong to the </a:t>
            </a:r>
            <a:r>
              <a:rPr lang="en-US" sz="2400" b="1" dirty="0" smtClean="0"/>
              <a:t>majority class</a:t>
            </a:r>
            <a:r>
              <a:rPr lang="en-US" sz="2400" dirty="0" smtClean="0"/>
              <a:t>.</a:t>
            </a:r>
          </a:p>
          <a:p>
            <a:pPr lvl="1"/>
            <a:r>
              <a:rPr lang="en-US" sz="2400" dirty="0" smtClean="0"/>
              <a:t>If </a:t>
            </a:r>
            <a:r>
              <a:rPr lang="en-US" sz="2400" b="1" dirty="0" smtClean="0"/>
              <a:t>most of the k-nearest neighbors</a:t>
            </a:r>
            <a:r>
              <a:rPr lang="en-US" sz="2400" dirty="0" smtClean="0"/>
              <a:t> are from the majority class, the minority instance is considered borderline instances which are </a:t>
            </a:r>
            <a:r>
              <a:rPr lang="en-US" sz="2400" b="1" dirty="0" smtClean="0"/>
              <a:t>"hard to classify"</a:t>
            </a:r>
            <a:r>
              <a:rPr lang="en-US" sz="2400" dirty="0" smtClean="0"/>
              <a:t> (i.e., close to the decision boundary).</a:t>
            </a:r>
          </a:p>
          <a:p>
            <a:pPr lvl="1"/>
            <a:r>
              <a:rPr lang="en-US" sz="2400" dirty="0" smtClean="0"/>
              <a:t>These borderline instances are selected for oversampling.</a:t>
            </a:r>
          </a:p>
          <a:p>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57166"/>
            <a:ext cx="7772400" cy="642942"/>
          </a:xfrm>
        </p:spPr>
        <p:txBody>
          <a:bodyPr>
            <a:normAutofit fontScale="90000"/>
          </a:bodyPr>
          <a:lstStyle/>
          <a:p>
            <a:r>
              <a:rPr lang="en-US" b="1" dirty="0" smtClean="0"/>
              <a:t>Borderline-SMOTE</a:t>
            </a:r>
            <a:endParaRPr lang="en-US" dirty="0"/>
          </a:p>
        </p:txBody>
      </p:sp>
      <p:sp>
        <p:nvSpPr>
          <p:cNvPr id="3" name="Content Placeholder 2"/>
          <p:cNvSpPr>
            <a:spLocks noGrp="1"/>
          </p:cNvSpPr>
          <p:nvPr>
            <p:ph idx="1"/>
          </p:nvPr>
        </p:nvSpPr>
        <p:spPr>
          <a:xfrm>
            <a:off x="685800" y="1142984"/>
            <a:ext cx="7772400" cy="4953016"/>
          </a:xfrm>
        </p:spPr>
        <p:txBody>
          <a:bodyPr/>
          <a:lstStyle/>
          <a:p>
            <a:pPr>
              <a:buNone/>
            </a:pPr>
            <a:r>
              <a:rPr lang="en-IN" dirty="0" smtClean="0"/>
              <a:t>2. </a:t>
            </a:r>
            <a:r>
              <a:rPr lang="en-US" b="1" dirty="0" smtClean="0"/>
              <a:t>Generate Synthetic Samples</a:t>
            </a:r>
            <a:endParaRPr lang="en-US" dirty="0" smtClean="0"/>
          </a:p>
          <a:p>
            <a:r>
              <a:rPr lang="en-US" dirty="0" smtClean="0"/>
              <a:t>Similar to SMOTE, synthetic points are created </a:t>
            </a:r>
            <a:r>
              <a:rPr lang="en-US" b="1" dirty="0" smtClean="0"/>
              <a:t>only for borderline instances</a:t>
            </a:r>
            <a:r>
              <a:rPr lang="en-US" dirty="0" smtClean="0"/>
              <a:t>.</a:t>
            </a:r>
          </a:p>
          <a:p>
            <a:r>
              <a:rPr lang="en-US" dirty="0" smtClean="0"/>
              <a:t>A new sample is generated along the line segment between the borderline instance and one of its k minority-class neighbors: </a:t>
            </a:r>
            <a:r>
              <a:rPr lang="en-US" dirty="0" err="1" smtClean="0"/>
              <a:t>X</a:t>
            </a:r>
            <a:r>
              <a:rPr lang="en-US" baseline="-25000" dirty="0" err="1" smtClean="0"/>
              <a:t>new</a:t>
            </a:r>
            <a:r>
              <a:rPr lang="en-US" dirty="0" smtClean="0"/>
              <a:t>=</a:t>
            </a:r>
            <a:r>
              <a:rPr lang="en-US" dirty="0" err="1" smtClean="0"/>
              <a:t>X</a:t>
            </a:r>
            <a:r>
              <a:rPr lang="en-US" baseline="-25000" dirty="0" err="1" smtClean="0"/>
              <a:t>original</a:t>
            </a:r>
            <a:r>
              <a:rPr lang="en-US" dirty="0" smtClean="0"/>
              <a:t>+ </a:t>
            </a:r>
            <a:r>
              <a:rPr lang="el-GR" dirty="0" smtClean="0"/>
              <a:t>λ×(</a:t>
            </a:r>
            <a:r>
              <a:rPr lang="en-US" dirty="0" err="1" smtClean="0"/>
              <a:t>X</a:t>
            </a:r>
            <a:r>
              <a:rPr lang="en-US" baseline="-25000" dirty="0" err="1" smtClean="0"/>
              <a:t>neighbor</a:t>
            </a:r>
            <a:r>
              <a:rPr lang="en-US" dirty="0" err="1" smtClean="0"/>
              <a:t>−X</a:t>
            </a:r>
            <a:r>
              <a:rPr lang="en-US" baseline="-25000" dirty="0" err="1" smtClean="0"/>
              <a:t>original</a:t>
            </a:r>
            <a:r>
              <a:rPr lang="en-US" dirty="0" smtClean="0"/>
              <a:t>), where </a:t>
            </a:r>
            <a:r>
              <a:rPr lang="el-GR" dirty="0" smtClean="0"/>
              <a:t>λ </a:t>
            </a:r>
            <a:r>
              <a:rPr lang="en-US" dirty="0" smtClean="0"/>
              <a:t>is a random number between 0 and 1.</a:t>
            </a:r>
          </a:p>
          <a:p>
            <a:pPr>
              <a:buNone/>
            </a:pP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33384"/>
          </a:xfrm>
        </p:spPr>
        <p:txBody>
          <a:bodyPr>
            <a:normAutofit fontScale="90000"/>
          </a:bodyPr>
          <a:lstStyle/>
          <a:p>
            <a:r>
              <a:rPr lang="en-US" b="1" dirty="0" smtClean="0"/>
              <a:t>Borderline-SMOTE</a:t>
            </a:r>
            <a:endParaRPr lang="en-US" dirty="0"/>
          </a:p>
        </p:txBody>
      </p:sp>
      <p:sp>
        <p:nvSpPr>
          <p:cNvPr id="3" name="Content Placeholder 2"/>
          <p:cNvSpPr>
            <a:spLocks noGrp="1"/>
          </p:cNvSpPr>
          <p:nvPr>
            <p:ph idx="1"/>
          </p:nvPr>
        </p:nvSpPr>
        <p:spPr>
          <a:xfrm>
            <a:off x="685800" y="1285860"/>
            <a:ext cx="7772400" cy="4810140"/>
          </a:xfrm>
        </p:spPr>
        <p:txBody>
          <a:bodyPr/>
          <a:lstStyle/>
          <a:p>
            <a:r>
              <a:rPr lang="en-US" dirty="0" smtClean="0"/>
              <a:t>There are two Types of Borderline-SMOTE</a:t>
            </a:r>
          </a:p>
          <a:p>
            <a:pPr>
              <a:buNone/>
            </a:pPr>
            <a:r>
              <a:rPr lang="en-US" b="1" dirty="0" smtClean="0"/>
              <a:t>	(</a:t>
            </a:r>
            <a:r>
              <a:rPr lang="en-US" b="1" dirty="0" err="1" smtClean="0"/>
              <a:t>i</a:t>
            </a:r>
            <a:r>
              <a:rPr lang="en-US" b="1" dirty="0" smtClean="0"/>
              <a:t>) Borderline-SMOTE1</a:t>
            </a:r>
            <a:r>
              <a:rPr lang="en-US" dirty="0" smtClean="0"/>
              <a:t>: Only oversamples the identified borderline minority instances.</a:t>
            </a:r>
          </a:p>
          <a:p>
            <a:pPr>
              <a:buNone/>
            </a:pPr>
            <a:r>
              <a:rPr lang="en-US" b="1" dirty="0" smtClean="0"/>
              <a:t>	(ii) Borderline-SMOTE2</a:t>
            </a:r>
            <a:r>
              <a:rPr lang="en-US" dirty="0" smtClean="0"/>
              <a:t>: Generates more synthetic points </a:t>
            </a:r>
            <a:r>
              <a:rPr lang="en-US" b="1" dirty="0" smtClean="0"/>
              <a:t>between the minority instances and majority-class neighbors</a:t>
            </a:r>
            <a:r>
              <a:rPr lang="en-US" dirty="0" smtClean="0"/>
              <a:t>, further strengthening the decision boundary.</a:t>
            </a:r>
          </a:p>
          <a:p>
            <a:pPr>
              <a:buNone/>
            </a:pP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500042"/>
            <a:ext cx="7772400" cy="1143000"/>
          </a:xfrm>
        </p:spPr>
        <p:txBody>
          <a:bodyPr/>
          <a:lstStyle/>
          <a:p>
            <a:r>
              <a:rPr lang="en-US" sz="2800" dirty="0" smtClean="0"/>
              <a:t>Differences between Borderline-SMOTE1 vs. Borderline-SMOTE2 </a:t>
            </a:r>
            <a:endParaRPr lang="en-US" sz="2800" dirty="0"/>
          </a:p>
        </p:txBody>
      </p:sp>
      <p:pic>
        <p:nvPicPr>
          <p:cNvPr id="1026" name="Picture 2"/>
          <p:cNvPicPr>
            <a:picLocks noChangeAspect="1" noChangeArrowheads="1"/>
          </p:cNvPicPr>
          <p:nvPr/>
        </p:nvPicPr>
        <p:blipFill>
          <a:blip r:embed="rId2"/>
          <a:srcRect/>
          <a:stretch>
            <a:fillRect/>
          </a:stretch>
        </p:blipFill>
        <p:spPr bwMode="auto">
          <a:xfrm>
            <a:off x="428596" y="1714488"/>
            <a:ext cx="8234388" cy="4643470"/>
          </a:xfrm>
          <a:prstGeom prst="rect">
            <a:avLst/>
          </a:prstGeom>
          <a:noFill/>
          <a:ln w="9525">
            <a:noFill/>
            <a:miter lim="800000"/>
            <a:headEnd/>
            <a:tailEnd/>
          </a:ln>
          <a:effec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85728"/>
            <a:ext cx="7772400" cy="604822"/>
          </a:xfrm>
        </p:spPr>
        <p:txBody>
          <a:bodyPr>
            <a:normAutofit fontScale="90000"/>
          </a:bodyPr>
          <a:lstStyle/>
          <a:p>
            <a:r>
              <a:rPr lang="en-US" b="1" dirty="0" smtClean="0"/>
              <a:t>Hybrid Sampling</a:t>
            </a:r>
            <a:endParaRPr lang="en-US" dirty="0"/>
          </a:p>
        </p:txBody>
      </p:sp>
      <p:sp>
        <p:nvSpPr>
          <p:cNvPr id="3" name="Content Placeholder 2"/>
          <p:cNvSpPr>
            <a:spLocks noGrp="1"/>
          </p:cNvSpPr>
          <p:nvPr>
            <p:ph idx="1"/>
          </p:nvPr>
        </p:nvSpPr>
        <p:spPr>
          <a:xfrm>
            <a:off x="500034" y="1000108"/>
            <a:ext cx="8358246" cy="5500726"/>
          </a:xfrm>
        </p:spPr>
        <p:txBody>
          <a:bodyPr>
            <a:normAutofit/>
          </a:bodyPr>
          <a:lstStyle/>
          <a:p>
            <a:pPr>
              <a:buNone/>
            </a:pPr>
            <a:r>
              <a:rPr lang="en-IN" sz="2800" dirty="0" smtClean="0"/>
              <a:t>1. </a:t>
            </a:r>
            <a:r>
              <a:rPr lang="en-US" sz="2800" b="1" dirty="0" smtClean="0"/>
              <a:t>SMOTE-</a:t>
            </a:r>
            <a:r>
              <a:rPr lang="en-US" sz="2800" b="1" dirty="0" err="1" smtClean="0"/>
              <a:t>Tomek</a:t>
            </a:r>
            <a:endParaRPr lang="en-US" sz="2800" dirty="0" smtClean="0"/>
          </a:p>
          <a:p>
            <a:r>
              <a:rPr lang="en-US" sz="2800" dirty="0" err="1" smtClean="0"/>
              <a:t>Tomek</a:t>
            </a:r>
            <a:r>
              <a:rPr lang="en-US" sz="2800" dirty="0" smtClean="0"/>
              <a:t> links are often used in combination with other techniques to address class imbalance. </a:t>
            </a:r>
          </a:p>
          <a:p>
            <a:r>
              <a:rPr lang="en-US" sz="2800" dirty="0" smtClean="0"/>
              <a:t>For instance, the </a:t>
            </a:r>
            <a:r>
              <a:rPr lang="en-US" sz="2800" b="1" dirty="0" smtClean="0"/>
              <a:t>SMOTE-</a:t>
            </a:r>
            <a:r>
              <a:rPr lang="en-US" sz="2800" b="1" dirty="0" err="1" smtClean="0"/>
              <a:t>Tomek</a:t>
            </a:r>
            <a:r>
              <a:rPr lang="en-US" sz="2800" b="1" dirty="0" smtClean="0"/>
              <a:t> Links</a:t>
            </a:r>
            <a:r>
              <a:rPr lang="en-US" sz="2800" dirty="0" smtClean="0"/>
              <a:t> method first applies the Synthetic Minority Over-sampling Technique (SMOTE) to generate synthetic samples for the minority class and </a:t>
            </a:r>
          </a:p>
          <a:p>
            <a:r>
              <a:rPr lang="en-US" sz="2800" dirty="0" smtClean="0"/>
              <a:t>Then uses </a:t>
            </a:r>
            <a:r>
              <a:rPr lang="en-US" sz="2800" dirty="0" err="1" smtClean="0"/>
              <a:t>Tomek</a:t>
            </a:r>
            <a:r>
              <a:rPr lang="en-US" sz="2800" dirty="0" smtClean="0"/>
              <a:t> links to clean the resulting dataset by removing overlapping instances.</a:t>
            </a:r>
          </a:p>
          <a:p>
            <a:pPr>
              <a:buNone/>
            </a:pPr>
            <a:endParaRPr lang="en-US" sz="2400" dirty="0" smtClean="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47698"/>
          </a:xfrm>
        </p:spPr>
        <p:txBody>
          <a:bodyPr>
            <a:normAutofit fontScale="90000"/>
          </a:bodyPr>
          <a:lstStyle/>
          <a:p>
            <a:r>
              <a:rPr lang="en-US" b="1" dirty="0" smtClean="0"/>
              <a:t>Hybrid </a:t>
            </a:r>
            <a:r>
              <a:rPr lang="en-US" b="1" dirty="0" smtClean="0"/>
              <a:t>Sampling</a:t>
            </a:r>
            <a:endParaRPr lang="en-US" dirty="0"/>
          </a:p>
        </p:txBody>
      </p:sp>
      <p:sp>
        <p:nvSpPr>
          <p:cNvPr id="3" name="Content Placeholder 2"/>
          <p:cNvSpPr>
            <a:spLocks noGrp="1"/>
          </p:cNvSpPr>
          <p:nvPr>
            <p:ph idx="1"/>
          </p:nvPr>
        </p:nvSpPr>
        <p:spPr>
          <a:xfrm>
            <a:off x="685800" y="1357298"/>
            <a:ext cx="7772400" cy="4738702"/>
          </a:xfrm>
        </p:spPr>
        <p:txBody>
          <a:bodyPr/>
          <a:lstStyle/>
          <a:p>
            <a:pPr>
              <a:buNone/>
            </a:pPr>
            <a:r>
              <a:rPr lang="en-US" sz="2400" dirty="0" smtClean="0"/>
              <a:t>2. </a:t>
            </a:r>
            <a:r>
              <a:rPr lang="en-US" sz="2400" b="1" dirty="0" smtClean="0"/>
              <a:t>SMOTE-ENN:</a:t>
            </a:r>
            <a:endParaRPr lang="en-US" sz="2400" dirty="0" smtClean="0"/>
          </a:p>
          <a:p>
            <a:r>
              <a:rPr lang="en-US" sz="2400" dirty="0" smtClean="0"/>
              <a:t>SMOTE-ENN </a:t>
            </a:r>
            <a:r>
              <a:rPr lang="en-US" sz="2400" dirty="0" smtClean="0"/>
              <a:t>(Synthetic Minority Over-sampling Technique + Edited Nearest Neighbors) is a hybrid sampling technique.</a:t>
            </a:r>
          </a:p>
          <a:p>
            <a:r>
              <a:rPr lang="en-US" sz="2400" dirty="0" smtClean="0"/>
              <a:t>It first oversamples the minority class using SMOTE and then cleans the dataset using Edited Nearest Neighbors (ENN).</a:t>
            </a:r>
          </a:p>
          <a:p>
            <a:r>
              <a:rPr lang="en-US" sz="2400" dirty="0" smtClean="0"/>
              <a:t>This combination helps improve class balance while removing noisy and borderline instances, leading to better classification performance.</a:t>
            </a:r>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357166"/>
            <a:ext cx="7772400" cy="533384"/>
          </a:xfrm>
        </p:spPr>
        <p:txBody>
          <a:bodyPr/>
          <a:lstStyle/>
          <a:p>
            <a:r>
              <a:rPr lang="en-US" sz="2800" b="1" dirty="0" smtClean="0"/>
              <a:t>How SMOTE-ENN Works</a:t>
            </a:r>
            <a:endParaRPr lang="en-US" sz="2800" b="1" dirty="0"/>
          </a:p>
        </p:txBody>
      </p:sp>
      <p:sp>
        <p:nvSpPr>
          <p:cNvPr id="3" name="Content Placeholder 2"/>
          <p:cNvSpPr>
            <a:spLocks noGrp="1"/>
          </p:cNvSpPr>
          <p:nvPr>
            <p:ph idx="1"/>
          </p:nvPr>
        </p:nvSpPr>
        <p:spPr>
          <a:xfrm>
            <a:off x="685800" y="857232"/>
            <a:ext cx="7772400" cy="5572164"/>
          </a:xfrm>
        </p:spPr>
        <p:txBody>
          <a:bodyPr>
            <a:normAutofit lnSpcReduction="10000"/>
          </a:bodyPr>
          <a:lstStyle/>
          <a:p>
            <a:pPr>
              <a:buNone/>
            </a:pPr>
            <a:r>
              <a:rPr lang="en-US" b="1" dirty="0" smtClean="0"/>
              <a:t>Step 1: Apply SMOTE (Oversampling)</a:t>
            </a:r>
            <a:endParaRPr lang="en-US" dirty="0" smtClean="0"/>
          </a:p>
          <a:p>
            <a:r>
              <a:rPr lang="en-US" dirty="0" smtClean="0"/>
              <a:t>SMOTE creates synthetic minority class samples by interpolating between existing minority instances.</a:t>
            </a:r>
          </a:p>
          <a:p>
            <a:r>
              <a:rPr lang="en-US" dirty="0" smtClean="0"/>
              <a:t>This helps balance the dataset by increasing the number of minority samples.</a:t>
            </a:r>
          </a:p>
          <a:p>
            <a:pPr>
              <a:buNone/>
            </a:pPr>
            <a:r>
              <a:rPr lang="en-US" b="1" dirty="0" smtClean="0"/>
              <a:t>Step 2: Apply ENN (</a:t>
            </a:r>
            <a:r>
              <a:rPr lang="en-US" b="1" dirty="0" err="1" smtClean="0"/>
              <a:t>Undersampling</a:t>
            </a:r>
            <a:r>
              <a:rPr lang="en-US" b="1" dirty="0" smtClean="0"/>
              <a:t>)</a:t>
            </a:r>
            <a:endParaRPr lang="en-US" dirty="0" smtClean="0"/>
          </a:p>
          <a:p>
            <a:r>
              <a:rPr lang="en-US" dirty="0" smtClean="0"/>
              <a:t>ENN removes samples (both majority and minority class instances) that are misclassified by their k-nearest neighbors (k-NN, usually k=3).</a:t>
            </a:r>
          </a:p>
          <a:p>
            <a:pPr>
              <a:buNone/>
            </a:pPr>
            <a:endParaRPr lang="en-US" sz="2400" dirty="0" smtClean="0"/>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Advantages of SMOTE-ENN</a:t>
            </a:r>
            <a:endParaRPr lang="en-US"/>
          </a:p>
        </p:txBody>
      </p:sp>
      <p:sp>
        <p:nvSpPr>
          <p:cNvPr id="3" name="Content Placeholder 2"/>
          <p:cNvSpPr>
            <a:spLocks noGrp="1"/>
          </p:cNvSpPr>
          <p:nvPr>
            <p:ph idx="1"/>
          </p:nvPr>
        </p:nvSpPr>
        <p:spPr>
          <a:xfrm>
            <a:off x="642910" y="1643050"/>
            <a:ext cx="7772400" cy="4714908"/>
          </a:xfrm>
        </p:spPr>
        <p:txBody>
          <a:bodyPr/>
          <a:lstStyle/>
          <a:p>
            <a:r>
              <a:rPr lang="en-US" b="1" dirty="0" smtClean="0"/>
              <a:t>Better class balance</a:t>
            </a:r>
            <a:r>
              <a:rPr lang="en-US" dirty="0" smtClean="0"/>
              <a:t> – Increases minority samples while also removing irrelevant majority samples.</a:t>
            </a:r>
          </a:p>
          <a:p>
            <a:r>
              <a:rPr lang="en-US" b="1" dirty="0" smtClean="0"/>
              <a:t>Reduces noise</a:t>
            </a:r>
            <a:r>
              <a:rPr lang="en-US" dirty="0" smtClean="0"/>
              <a:t> – ENN removes misclassified or ambiguous points, improving data quality.</a:t>
            </a:r>
          </a:p>
          <a:p>
            <a:r>
              <a:rPr lang="en-US" b="1" dirty="0" smtClean="0"/>
              <a:t>Stronger decision boundary</a:t>
            </a:r>
            <a:r>
              <a:rPr lang="en-US" dirty="0" smtClean="0"/>
              <a:t> – Helps classifiers perform better by removing confusing samples.</a:t>
            </a:r>
          </a:p>
          <a:p>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428604"/>
            <a:ext cx="7772400" cy="533384"/>
          </a:xfrm>
        </p:spPr>
        <p:txBody>
          <a:bodyPr>
            <a:normAutofit fontScale="90000"/>
          </a:bodyPr>
          <a:lstStyle/>
          <a:p>
            <a:r>
              <a:rPr lang="en-IN" sz="4000" dirty="0" smtClean="0"/>
              <a:t>Deep Learning based Oversampling</a:t>
            </a:r>
            <a:endParaRPr lang="en-US" sz="4000" dirty="0"/>
          </a:p>
        </p:txBody>
      </p:sp>
      <p:sp>
        <p:nvSpPr>
          <p:cNvPr id="3" name="Content Placeholder 2"/>
          <p:cNvSpPr>
            <a:spLocks noGrp="1"/>
          </p:cNvSpPr>
          <p:nvPr>
            <p:ph idx="1"/>
          </p:nvPr>
        </p:nvSpPr>
        <p:spPr>
          <a:xfrm>
            <a:off x="685800" y="1071546"/>
            <a:ext cx="7772400" cy="5024454"/>
          </a:xfrm>
        </p:spPr>
        <p:txBody>
          <a:bodyPr>
            <a:normAutofit fontScale="92500"/>
          </a:bodyPr>
          <a:lstStyle/>
          <a:p>
            <a:r>
              <a:rPr lang="en-US" sz="2400" dirty="0" smtClean="0"/>
              <a:t>Deep learning techniques can be useful for oversampling, particularly when dealing with complex, high-dimensional data where traditional oversampling methods (like SMOTE) might fall short. </a:t>
            </a:r>
          </a:p>
          <a:p>
            <a:r>
              <a:rPr lang="en-US" sz="2400" dirty="0" smtClean="0"/>
              <a:t>Deep learning-based oversampling approaches are more sophisticated and can generate realistic synthetic samples, preserving the complexity of the minority class distribution. </a:t>
            </a:r>
          </a:p>
          <a:p>
            <a:r>
              <a:rPr lang="en-US" sz="2400" dirty="0" smtClean="0"/>
              <a:t>The following deep learning techniques are applied in oversampling:</a:t>
            </a:r>
          </a:p>
          <a:p>
            <a:pPr marL="571500" indent="-571500">
              <a:buAutoNum type="romanLcParenBoth"/>
            </a:pPr>
            <a:r>
              <a:rPr lang="en-US" sz="2400" dirty="0" smtClean="0"/>
              <a:t>Generative Adversarial Networks (GANs)</a:t>
            </a:r>
          </a:p>
          <a:p>
            <a:pPr marL="571500" indent="-571500">
              <a:buAutoNum type="romanLcParenBoth"/>
            </a:pPr>
            <a:r>
              <a:rPr lang="en-US" sz="2400" dirty="0" err="1" smtClean="0"/>
              <a:t>Variational</a:t>
            </a:r>
            <a:r>
              <a:rPr lang="en-US" sz="2400" dirty="0" smtClean="0"/>
              <a:t> </a:t>
            </a:r>
            <a:r>
              <a:rPr lang="en-US" sz="2400" dirty="0" err="1" smtClean="0"/>
              <a:t>Autoencoders</a:t>
            </a:r>
            <a:r>
              <a:rPr lang="en-US" sz="2400" dirty="0" smtClean="0"/>
              <a:t> (VAEs)</a:t>
            </a:r>
          </a:p>
          <a:p>
            <a:pPr marL="571500" indent="-571500">
              <a:buAutoNum type="romanLcParenBoth"/>
            </a:pPr>
            <a:r>
              <a:rPr lang="en-US" sz="2400" dirty="0" smtClean="0"/>
              <a:t>Reinforcement Learning for Data Augmentation</a:t>
            </a:r>
          </a:p>
          <a:p>
            <a:pPr marL="571500" indent="-571500">
              <a:buAutoNum type="romanLcParenBoth"/>
            </a:pPr>
            <a:r>
              <a:rPr lang="en-US" sz="2400" dirty="0" err="1" smtClean="0"/>
              <a:t>Autoencoders</a:t>
            </a:r>
            <a:r>
              <a:rPr lang="en-US" sz="2400" dirty="0" smtClean="0"/>
              <a:t> with Clustering Techniques</a:t>
            </a:r>
          </a:p>
          <a:p>
            <a:pPr marL="571500" indent="-571500">
              <a:buAutoNum type="romanLcParenBoth"/>
            </a:pP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819400"/>
            <a:ext cx="8229600" cy="1143000"/>
          </a:xfrm>
        </p:spPr>
        <p:txBody>
          <a:bodyPr>
            <a:noAutofit/>
          </a:bodyPr>
          <a:lstStyle/>
          <a:p>
            <a:r>
              <a:rPr lang="en-US" sz="8000" b="1" dirty="0" smtClean="0"/>
              <a:t>Thank You</a:t>
            </a:r>
            <a:endParaRPr lang="en-US" sz="80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628</TotalTime>
  <Words>6483</Words>
  <Application>Microsoft Office PowerPoint</Application>
  <PresentationFormat>On-screen Show (4:3)</PresentationFormat>
  <Paragraphs>823</Paragraphs>
  <Slides>111</Slides>
  <Notes>13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111</vt:i4>
      </vt:variant>
    </vt:vector>
  </HeadingPairs>
  <TitlesOfParts>
    <vt:vector size="114" baseType="lpstr">
      <vt:lpstr>Office Theme</vt:lpstr>
      <vt:lpstr>Worksheet</vt:lpstr>
      <vt:lpstr>Equation</vt:lpstr>
      <vt:lpstr>Classification Model</vt:lpstr>
      <vt:lpstr>Slide 2</vt:lpstr>
      <vt:lpstr>Decision Tree Model</vt:lpstr>
      <vt:lpstr>Decision Tree</vt:lpstr>
      <vt:lpstr>Hunt’s Algorithm</vt:lpstr>
      <vt:lpstr>Decision Tree Induction: ID3</vt:lpstr>
      <vt:lpstr>Decision Tree Induction: ID3</vt:lpstr>
      <vt:lpstr>Algorithm of ID3</vt:lpstr>
      <vt:lpstr>Brief Review of Entropy (Already discussed in entropy based discretization technique)</vt:lpstr>
      <vt:lpstr>Entropy and uncertainty</vt:lpstr>
      <vt:lpstr>Entropy and uncertainty</vt:lpstr>
      <vt:lpstr>Entropy and uncertainty</vt:lpstr>
      <vt:lpstr>Prop -1 of uncertainty</vt:lpstr>
      <vt:lpstr>Prop -1 of uncertainty</vt:lpstr>
      <vt:lpstr>Prop -2 of uncertainty</vt:lpstr>
      <vt:lpstr>Prop -2 of uncertainty</vt:lpstr>
      <vt:lpstr>Prop -2 of uncertainty</vt:lpstr>
      <vt:lpstr>Prop -3 of uncertainty</vt:lpstr>
      <vt:lpstr>Prop -3 of uncertainty</vt:lpstr>
      <vt:lpstr>Prop -4 of uncertainty</vt:lpstr>
      <vt:lpstr>Entropy</vt:lpstr>
      <vt:lpstr>Entropy</vt:lpstr>
      <vt:lpstr>Entropy</vt:lpstr>
      <vt:lpstr>Entropy</vt:lpstr>
      <vt:lpstr>Entropy</vt:lpstr>
      <vt:lpstr>Entropy</vt:lpstr>
      <vt:lpstr>Entropy</vt:lpstr>
      <vt:lpstr>Slide 28</vt:lpstr>
      <vt:lpstr>Attribute Selection: Information Gain</vt:lpstr>
      <vt:lpstr>Computing Information-Gain for Continuous-Valued Attributes</vt:lpstr>
      <vt:lpstr>Gain Ratio</vt:lpstr>
      <vt:lpstr>Gain Ratio</vt:lpstr>
      <vt:lpstr>Gain Ratio</vt:lpstr>
      <vt:lpstr>Gain Ratio for Attribute Selection (C4.5)</vt:lpstr>
      <vt:lpstr>CART : Based on Gini Index</vt:lpstr>
      <vt:lpstr>Gini Index</vt:lpstr>
      <vt:lpstr>Key Properties of Gini Index</vt:lpstr>
      <vt:lpstr>Gini Index</vt:lpstr>
      <vt:lpstr>Gini Index</vt:lpstr>
      <vt:lpstr>Gini Index</vt:lpstr>
      <vt:lpstr>Gini Index</vt:lpstr>
      <vt:lpstr>Gini Index</vt:lpstr>
      <vt:lpstr>Gini Index</vt:lpstr>
      <vt:lpstr>Constructing CART (a Decision Tree) Using Gini Index</vt:lpstr>
      <vt:lpstr>CART</vt:lpstr>
      <vt:lpstr>CART</vt:lpstr>
      <vt:lpstr>CART</vt:lpstr>
      <vt:lpstr>CART</vt:lpstr>
      <vt:lpstr>CART</vt:lpstr>
      <vt:lpstr>Which One to Use?</vt:lpstr>
      <vt:lpstr>Information Gain VS Gini Index </vt:lpstr>
      <vt:lpstr>Information Gain VS Gini Index </vt:lpstr>
      <vt:lpstr>Information Gain VS Gini Index</vt:lpstr>
      <vt:lpstr>Information Gain VS Gini Index</vt:lpstr>
      <vt:lpstr>Information Gain VS Gini Index</vt:lpstr>
      <vt:lpstr>Information Gain VS Gini Index</vt:lpstr>
      <vt:lpstr>Information Gain VS Gini Index</vt:lpstr>
      <vt:lpstr>Gini Index vs. Entropy</vt:lpstr>
      <vt:lpstr>Entropy is more sensitive to class distribution than Gini</vt:lpstr>
      <vt:lpstr>Entropy is more sensitive to class distribution than Gini</vt:lpstr>
      <vt:lpstr> What does it Mean? </vt:lpstr>
      <vt:lpstr>For Highly Imbalanced Datasets</vt:lpstr>
      <vt:lpstr>For Highly Imbalanced Datasets</vt:lpstr>
      <vt:lpstr>What is Overfitting in Decision Trees?</vt:lpstr>
      <vt:lpstr>Causes of Overfitting in Decision Trees</vt:lpstr>
      <vt:lpstr>Causes of Overfitting in Decision Trees</vt:lpstr>
      <vt:lpstr>Methods to Prevent Overfitting in Decision Trees</vt:lpstr>
      <vt:lpstr>Methods to Prevent Overfitting in Decision Trees</vt:lpstr>
      <vt:lpstr>What is Cost Complexity Pruning (CCP)?</vt:lpstr>
      <vt:lpstr>What is Cost Complexity Pruning (CCP)?</vt:lpstr>
      <vt:lpstr>What is Cost Complexity Pruning (CCP)?</vt:lpstr>
      <vt:lpstr>Underfitting</vt:lpstr>
      <vt:lpstr>Underfitting</vt:lpstr>
      <vt:lpstr>Parameters vs Hyperparameters in a Decision Tree</vt:lpstr>
      <vt:lpstr>Parameters vs Hyperparameters in a Decision Tree</vt:lpstr>
      <vt:lpstr>Methods to Prevent Overfitting in Decision Trees</vt:lpstr>
      <vt:lpstr>Methods to Prevent Overfitting in Decision Trees</vt:lpstr>
      <vt:lpstr>Summary</vt:lpstr>
      <vt:lpstr>Other Attribute Selection Measures</vt:lpstr>
      <vt:lpstr>Introduction</vt:lpstr>
      <vt:lpstr>Introduction</vt:lpstr>
      <vt:lpstr>Challenges in Imbalanced Dataset</vt:lpstr>
      <vt:lpstr>Challenges in Imbalanced Dataset</vt:lpstr>
      <vt:lpstr>Challenges in Imbalanced Dataset</vt:lpstr>
      <vt:lpstr>Challenges in Imbalanced Dataset</vt:lpstr>
      <vt:lpstr>Class Overlapping</vt:lpstr>
      <vt:lpstr>Classifier Evaluation</vt:lpstr>
      <vt:lpstr>Classifier Evaluation Metrics: Confusion Matrix</vt:lpstr>
      <vt:lpstr>Classifier Evaluation Metrics: Confusion Matrix</vt:lpstr>
      <vt:lpstr>Importance of Recall</vt:lpstr>
      <vt:lpstr>Importance of Precision</vt:lpstr>
      <vt:lpstr>Classifier Evaluation Metrics: Sensitivity and Specificity</vt:lpstr>
      <vt:lpstr>Mitigation Strategies</vt:lpstr>
      <vt:lpstr>Taxonomy of Existing Solutions for Class Imbalance</vt:lpstr>
      <vt:lpstr>Data Level Methods for Class Imbalance</vt:lpstr>
      <vt:lpstr>Undersampling: Tomek links </vt:lpstr>
      <vt:lpstr>Undersampling: Tomek link </vt:lpstr>
      <vt:lpstr>Undersampling: Based on Clustering</vt:lpstr>
      <vt:lpstr>Oversampling: SMOTE</vt:lpstr>
      <vt:lpstr>Key Points in SMOTE</vt:lpstr>
      <vt:lpstr>Oversampling : Borderline-SMOTE</vt:lpstr>
      <vt:lpstr>Borderline-SMOTE</vt:lpstr>
      <vt:lpstr>Borderline-SMOTE</vt:lpstr>
      <vt:lpstr>Borderline-SMOTE</vt:lpstr>
      <vt:lpstr>Differences between Borderline-SMOTE1 vs. Borderline-SMOTE2 </vt:lpstr>
      <vt:lpstr>Hybrid Sampling</vt:lpstr>
      <vt:lpstr>Hybrid Sampling</vt:lpstr>
      <vt:lpstr>How SMOTE-ENN Works</vt:lpstr>
      <vt:lpstr>Advantages of SMOTE-ENN</vt:lpstr>
      <vt:lpstr>Deep Learning based Oversampling</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Model</dc:title>
  <dc:creator>hp</dc:creator>
  <cp:lastModifiedBy>hp</cp:lastModifiedBy>
  <cp:revision>50</cp:revision>
  <dcterms:created xsi:type="dcterms:W3CDTF">2024-03-04T08:18:49Z</dcterms:created>
  <dcterms:modified xsi:type="dcterms:W3CDTF">2026-03-26T05:01:44Z</dcterms:modified>
</cp:coreProperties>
</file>