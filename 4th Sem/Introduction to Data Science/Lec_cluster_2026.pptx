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5.xml" ContentType="application/vnd.openxmlformats-officedocument.presentationml.notesSlide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Default Extension="vml" ContentType="application/vnd.openxmlformats-officedocument.vmlDrawing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Default Extension="wmf" ContentType="image/x-wmf"/>
  <Override PartName="/ppt/notesSlides/notesSlide18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63"/>
  </p:notesMasterIdLst>
  <p:handoutMasterIdLst>
    <p:handoutMasterId r:id="rId64"/>
  </p:handoutMasterIdLst>
  <p:sldIdLst>
    <p:sldId id="1303" r:id="rId2"/>
    <p:sldId id="1419" r:id="rId3"/>
    <p:sldId id="1111" r:id="rId4"/>
    <p:sldId id="1005" r:id="rId5"/>
    <p:sldId id="1001" r:id="rId6"/>
    <p:sldId id="1203" r:id="rId7"/>
    <p:sldId id="1504" r:id="rId8"/>
    <p:sldId id="1505" r:id="rId9"/>
    <p:sldId id="1506" r:id="rId10"/>
    <p:sldId id="1507" r:id="rId11"/>
    <p:sldId id="1508" r:id="rId12"/>
    <p:sldId id="1509" r:id="rId13"/>
    <p:sldId id="1510" r:id="rId14"/>
    <p:sldId id="1511" r:id="rId15"/>
    <p:sldId id="1512" r:id="rId16"/>
    <p:sldId id="1513" r:id="rId17"/>
    <p:sldId id="1514" r:id="rId18"/>
    <p:sldId id="1515" r:id="rId19"/>
    <p:sldId id="1345" r:id="rId20"/>
    <p:sldId id="1346" r:id="rId21"/>
    <p:sldId id="1418" r:id="rId22"/>
    <p:sldId id="1187" r:id="rId23"/>
    <p:sldId id="1023" r:id="rId24"/>
    <p:sldId id="1134" r:id="rId25"/>
    <p:sldId id="1025" r:id="rId26"/>
    <p:sldId id="1420" r:id="rId27"/>
    <p:sldId id="1421" r:id="rId28"/>
    <p:sldId id="1422" r:id="rId29"/>
    <p:sldId id="1423" r:id="rId30"/>
    <p:sldId id="1424" r:id="rId31"/>
    <p:sldId id="1425" r:id="rId32"/>
    <p:sldId id="1426" r:id="rId33"/>
    <p:sldId id="1428" r:id="rId34"/>
    <p:sldId id="1429" r:id="rId35"/>
    <p:sldId id="1432" r:id="rId36"/>
    <p:sldId id="1417" r:id="rId37"/>
    <p:sldId id="1447" r:id="rId38"/>
    <p:sldId id="1448" r:id="rId39"/>
    <p:sldId id="1449" r:id="rId40"/>
    <p:sldId id="1450" r:id="rId41"/>
    <p:sldId id="1451" r:id="rId42"/>
    <p:sldId id="1452" r:id="rId43"/>
    <p:sldId id="1453" r:id="rId44"/>
    <p:sldId id="1454" r:id="rId45"/>
    <p:sldId id="1520" r:id="rId46"/>
    <p:sldId id="1523" r:id="rId47"/>
    <p:sldId id="1524" r:id="rId48"/>
    <p:sldId id="1526" r:id="rId49"/>
    <p:sldId id="1455" r:id="rId50"/>
    <p:sldId id="1456" r:id="rId51"/>
    <p:sldId id="1525" r:id="rId52"/>
    <p:sldId id="1532" r:id="rId53"/>
    <p:sldId id="1533" r:id="rId54"/>
    <p:sldId id="1534" r:id="rId55"/>
    <p:sldId id="1457" r:id="rId56"/>
    <p:sldId id="1458" r:id="rId57"/>
    <p:sldId id="1459" r:id="rId58"/>
    <p:sldId id="1460" r:id="rId59"/>
    <p:sldId id="1461" r:id="rId60"/>
    <p:sldId id="1462" r:id="rId61"/>
    <p:sldId id="1502" r:id="rId62"/>
  </p:sldIdLst>
  <p:sldSz cx="9144000" cy="6858000" type="screen4x3"/>
  <p:notesSz cx="7010400" cy="92964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6E6EA"/>
    <a:srgbClr val="FAE2F6"/>
    <a:srgbClr val="170981"/>
    <a:srgbClr val="121328"/>
    <a:srgbClr val="D7FDF9"/>
    <a:srgbClr val="003366"/>
    <a:srgbClr val="00669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4441" autoAdjust="0"/>
    <p:restoredTop sz="91953" autoAdjust="0"/>
  </p:normalViewPr>
  <p:slideViewPr>
    <p:cSldViewPr>
      <p:cViewPr>
        <p:scale>
          <a:sx n="86" d="100"/>
          <a:sy n="86" d="100"/>
        </p:scale>
        <p:origin x="-744" y="4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52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38" d="100"/>
          <a:sy n="38" d="100"/>
        </p:scale>
        <p:origin x="-1530" y="-72"/>
      </p:cViewPr>
      <p:guideLst>
        <p:guide orient="horz" pos="2929"/>
        <p:guide pos="2209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33" tIns="46417" rIns="92833" bIns="46417" numCol="1" anchor="t" anchorCtr="0" compatLnSpc="1">
            <a:prstTxWarp prst="textNoShape">
              <a:avLst/>
            </a:prstTxWarp>
          </a:bodyPr>
          <a:lstStyle>
            <a:lvl1pPr algn="l" defTabSz="928688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33" tIns="46417" rIns="92833" bIns="46417" numCol="1" anchor="t" anchorCtr="0" compatLnSpc="1">
            <a:prstTxWarp prst="textNoShape">
              <a:avLst/>
            </a:prstTxWarp>
          </a:bodyPr>
          <a:lstStyle>
            <a:lvl1pPr algn="r" defTabSz="928688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9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33" tIns="46417" rIns="92833" bIns="46417" numCol="1" anchor="b" anchorCtr="0" compatLnSpc="1">
            <a:prstTxWarp prst="textNoShape">
              <a:avLst/>
            </a:prstTxWarp>
          </a:bodyPr>
          <a:lstStyle>
            <a:lvl1pPr algn="l" defTabSz="928688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9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33" tIns="46417" rIns="92833" bIns="46417" numCol="1" anchor="b" anchorCtr="0" compatLnSpc="1">
            <a:prstTxWarp prst="textNoShape">
              <a:avLst/>
            </a:prstTxWarp>
          </a:bodyPr>
          <a:lstStyle>
            <a:lvl1pPr algn="r" defTabSz="928688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F52903E4-EF0F-4D81-A6D6-5DAA37D601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33" tIns="46417" rIns="92833" bIns="46417" numCol="1" anchor="t" anchorCtr="0" compatLnSpc="1">
            <a:prstTxWarp prst="textNoShape">
              <a:avLst/>
            </a:prstTxWarp>
          </a:bodyPr>
          <a:lstStyle>
            <a:lvl1pPr algn="l" defTabSz="928688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33" tIns="46417" rIns="92833" bIns="46417" numCol="1" anchor="t" anchorCtr="0" compatLnSpc="1">
            <a:prstTxWarp prst="textNoShape">
              <a:avLst/>
            </a:prstTxWarp>
          </a:bodyPr>
          <a:lstStyle>
            <a:lvl1pPr algn="r" defTabSz="928688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95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5025" cy="34845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33" tIns="46417" rIns="92833" bIns="464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33" tIns="46417" rIns="92833" bIns="46417" numCol="1" anchor="b" anchorCtr="0" compatLnSpc="1">
            <a:prstTxWarp prst="textNoShape">
              <a:avLst/>
            </a:prstTxWarp>
          </a:bodyPr>
          <a:lstStyle>
            <a:lvl1pPr algn="l" defTabSz="928688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33" tIns="46417" rIns="92833" bIns="46417" numCol="1" anchor="b" anchorCtr="0" compatLnSpc="1">
            <a:prstTxWarp prst="textNoShape">
              <a:avLst/>
            </a:prstTxWarp>
          </a:bodyPr>
          <a:lstStyle>
            <a:lvl1pPr algn="r" defTabSz="928688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2ECCECCD-4AE3-493E-8B64-563E5CB82D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 txBox="1">
            <a:spLocks noGrp="1" noChangeArrowheads="1"/>
          </p:cNvSpPr>
          <p:nvPr/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170" tIns="46586" rIns="93170" bIns="46586" anchor="b"/>
          <a:lstStyle/>
          <a:p>
            <a:pPr algn="r" defTabSz="931863" eaLnBrk="0" hangingPunct="0"/>
            <a:fld id="{AA844C9D-40B6-4F00-82E1-EC8D4B6F9E49}" type="slidenum">
              <a:rPr lang="zh-CN" altLang="en-US" sz="1200">
                <a:latin typeface="Times New Roman" pitchFamily="18" charset="0"/>
              </a:rPr>
              <a:pPr algn="r" defTabSz="931863" eaLnBrk="0" hangingPunct="0"/>
              <a:t>1</a:t>
            </a:fld>
            <a:endParaRPr lang="en-US" altLang="zh-CN" sz="1200">
              <a:latin typeface="Times New Roman" pitchFamily="18" charset="0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6425"/>
            <a:ext cx="5140325" cy="4183063"/>
          </a:xfrm>
          <a:noFill/>
          <a:ln/>
        </p:spPr>
        <p:txBody>
          <a:bodyPr lIns="93170" tIns="46586" rIns="93170" bIns="46586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 txBox="1">
            <a:spLocks noGrp="1" noChangeArrowheads="1"/>
          </p:cNvSpPr>
          <p:nvPr/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833" tIns="46417" rIns="92833" bIns="46417" anchor="b"/>
          <a:lstStyle/>
          <a:p>
            <a:pPr algn="r" defTabSz="928688" eaLnBrk="0" hangingPunct="0"/>
            <a:fld id="{40783229-0A82-4174-A1ED-4E51F6A62A2B}" type="slidenum">
              <a:rPr lang="en-US" sz="1200">
                <a:latin typeface="Times New Roman" pitchFamily="18" charset="0"/>
              </a:rPr>
              <a:pPr algn="r" defTabSz="928688" eaLnBrk="0" hangingPunct="0"/>
              <a:t>2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1A85585-942F-4158-AB63-2EDDFCCC5DD3}" type="slidenum">
              <a:rPr lang="en-US" smtClean="0"/>
              <a:pPr/>
              <a:t>3</a:t>
            </a:fld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A693EB1-3EA4-471C-95D9-9BA8468A6C5D}" type="slidenum">
              <a:rPr lang="en-US" smtClean="0"/>
              <a:pPr/>
              <a:t>4</a:t>
            </a:fld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5BC629C-C362-4341-9BF2-4A978E5C524A}" type="slidenum">
              <a:rPr lang="en-US" smtClean="0"/>
              <a:pPr/>
              <a:t>5</a:t>
            </a:fld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EB51F81-87F5-48FC-8285-AFF6AB344D00}" type="slidenum">
              <a:rPr lang="en-US" smtClean="0"/>
              <a:pPr/>
              <a:t>6</a:t>
            </a:fld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B1EEECF-C226-4CA6-91D5-DA702EF94E91}" type="slidenum">
              <a:rPr lang="en-US" smtClean="0"/>
              <a:pPr/>
              <a:t>19</a:t>
            </a:fld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F0EE0FC-A76B-4321-A321-A791AE8FA3DE}" type="slidenum">
              <a:rPr lang="en-US" smtClean="0"/>
              <a:pPr/>
              <a:t>20</a:t>
            </a:fld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 txBox="1">
            <a:spLocks noGrp="1" noChangeArrowheads="1"/>
          </p:cNvSpPr>
          <p:nvPr/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833" tIns="46417" rIns="92833" bIns="46417" anchor="b"/>
          <a:lstStyle/>
          <a:p>
            <a:pPr algn="r" defTabSz="928688" eaLnBrk="0" hangingPunct="0"/>
            <a:fld id="{1C78FECA-045A-49E2-8389-E2C3054BA781}" type="slidenum">
              <a:rPr lang="en-US" sz="1200">
                <a:latin typeface="Times New Roman" pitchFamily="18" charset="0"/>
              </a:rPr>
              <a:pPr algn="r" defTabSz="928688" eaLnBrk="0" hangingPunct="0"/>
              <a:t>21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B3E859E-0DC9-467A-A4D7-202C74B602D4}" type="slidenum">
              <a:rPr lang="en-US" smtClean="0"/>
              <a:pPr/>
              <a:t>22</a:t>
            </a:fld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CA1AA5-BC2E-4813-9741-F445FDA5FC52}" type="slidenum">
              <a:rPr lang="en-US" smtClean="0"/>
              <a:pPr/>
              <a:t>23</a:t>
            </a:fld>
            <a:endParaRPr lang="en-US" smtClean="0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B87627A-BFA6-49C7-B7A4-A34CC77D9033}" type="slidenum">
              <a:rPr lang="en-US" smtClean="0"/>
              <a:pPr/>
              <a:t>24</a:t>
            </a:fld>
            <a:endParaRPr lang="en-US" smtClean="0"/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957F6F3-B216-4F77-B2CD-48418F487456}" type="slidenum">
              <a:rPr lang="en-US" smtClean="0"/>
              <a:pPr/>
              <a:t>25</a:t>
            </a:fld>
            <a:endParaRPr lang="en-US" smtClean="0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C89D04-83EC-4D58-AE01-FF6854615A6C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Add definition</a:t>
            </a:r>
            <a:r>
              <a:rPr lang="en-US" baseline="0" dirty="0" smtClean="0"/>
              <a:t> of median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C89D04-83EC-4D58-AE01-FF6854615A6C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C89D04-83EC-4D58-AE01-FF6854615A6C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C89D04-83EC-4D58-AE01-FF6854615A6C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 txBox="1">
            <a:spLocks noGrp="1" noChangeArrowheads="1"/>
          </p:cNvSpPr>
          <p:nvPr/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833" tIns="46417" rIns="92833" bIns="46417" anchor="b"/>
          <a:lstStyle/>
          <a:p>
            <a:pPr algn="r" defTabSz="928688" eaLnBrk="0" hangingPunct="0"/>
            <a:fld id="{85023497-B5E1-4521-A997-493973750876}" type="slidenum">
              <a:rPr lang="en-US" sz="1200">
                <a:latin typeface="Times New Roman" pitchFamily="18" charset="0"/>
              </a:rPr>
              <a:pPr algn="r" defTabSz="928688" eaLnBrk="0" hangingPunct="0"/>
              <a:t>36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C89D04-83EC-4D58-AE01-FF6854615A6C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C89D04-83EC-4D58-AE01-FF6854615A6C}" type="slidenum">
              <a:rPr lang="en-US" smtClean="0"/>
              <a:pPr/>
              <a:t>56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298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2980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AC44E7D4-10E4-4AE3-8A99-A938154FF099}" type="datetime1">
              <a:rPr lang="en-US"/>
              <a:pPr>
                <a:defRPr/>
              </a:pPr>
              <a:t>4/20/2026</a:t>
            </a:fld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E2E9737F-50AA-4B76-9092-A9DD9F894E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059"/>
          <p:cNvSpPr>
            <a:spLocks noGrp="1" noChangeArrowheads="1"/>
          </p:cNvSpPr>
          <p:nvPr>
            <p:ph type="dt" sz="half" idx="10"/>
          </p:nvPr>
        </p:nvSpPr>
        <p:spPr>
          <a:xfrm>
            <a:off x="0" y="6477000"/>
            <a:ext cx="1905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9299B5-7874-444C-B8B4-50CDF57FF38F}" type="datetime1">
              <a:rPr lang="en-US"/>
              <a:pPr>
                <a:defRPr/>
              </a:pPr>
              <a:t>4/20/2026</a:t>
            </a:fld>
            <a:endParaRPr lang="en-US"/>
          </a:p>
        </p:txBody>
      </p:sp>
      <p:sp>
        <p:nvSpPr>
          <p:cNvPr id="5" name="Rectangle 2060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77000"/>
            <a:ext cx="28956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6" name="Rectangle 206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7B124B-24CA-4ED2-9A1D-3E801FCC03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205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7CB01D-BEF9-4597-8F4E-5C46E0ACD69C}" type="datetime1">
              <a:rPr lang="en-US"/>
              <a:pPr>
                <a:defRPr/>
              </a:pPr>
              <a:t>4/20/2026</a:t>
            </a:fld>
            <a:endParaRPr lang="en-US"/>
          </a:p>
        </p:txBody>
      </p:sp>
      <p:sp>
        <p:nvSpPr>
          <p:cNvPr id="5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6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429AA8-724E-4741-9726-1B3C110A5D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371600"/>
            <a:ext cx="41148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1148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205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8581B0-75C2-4F4D-A7EA-7D3787699D0C}" type="datetime1">
              <a:rPr lang="en-US"/>
              <a:pPr>
                <a:defRPr/>
              </a:pPr>
              <a:t>4/20/2026</a:t>
            </a:fld>
            <a:endParaRPr lang="en-US"/>
          </a:p>
        </p:txBody>
      </p:sp>
      <p:sp>
        <p:nvSpPr>
          <p:cNvPr id="6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7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7BD928-84B1-4C32-99ED-94A1C34955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205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CA3C95-B7B2-4C8F-BC5C-447051772077}" type="datetime1">
              <a:rPr lang="en-US"/>
              <a:pPr>
                <a:defRPr/>
              </a:pPr>
              <a:t>4/20/2026</a:t>
            </a:fld>
            <a:endParaRPr lang="en-US"/>
          </a:p>
        </p:txBody>
      </p:sp>
      <p:sp>
        <p:nvSpPr>
          <p:cNvPr id="8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9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625DD6-6E12-4077-9594-6F7D541F78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205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F16F4F-7864-4C50-9FD5-3ED9B7947BB5}" type="datetime1">
              <a:rPr lang="en-US"/>
              <a:pPr>
                <a:defRPr/>
              </a:pPr>
              <a:t>4/20/2026</a:t>
            </a:fld>
            <a:endParaRPr lang="en-US"/>
          </a:p>
        </p:txBody>
      </p:sp>
      <p:sp>
        <p:nvSpPr>
          <p:cNvPr id="4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5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F721D4-8E60-4EF8-81F5-6DA6E58D67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61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97AF9B-6BB7-40C6-83E7-CC7336DF41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05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86D708-5FCC-4427-BE2F-0890199782C4}" type="datetime1">
              <a:rPr lang="en-US"/>
              <a:pPr>
                <a:defRPr/>
              </a:pPr>
              <a:t>4/20/2026</a:t>
            </a:fld>
            <a:endParaRPr lang="en-US"/>
          </a:p>
        </p:txBody>
      </p:sp>
      <p:sp>
        <p:nvSpPr>
          <p:cNvPr id="6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7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35D85D-D689-4507-9E76-4BDA7DBCFF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05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CDDB48-84C4-46CA-8F28-2B3A1BAA407B}" type="datetime1">
              <a:rPr lang="en-US"/>
              <a:pPr>
                <a:defRPr/>
              </a:pPr>
              <a:t>4/20/2026</a:t>
            </a:fld>
            <a:endParaRPr lang="en-US"/>
          </a:p>
        </p:txBody>
      </p:sp>
      <p:sp>
        <p:nvSpPr>
          <p:cNvPr id="6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7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4D6F34-787F-4DAC-99D9-A624DFFA6D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05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7901D4-4AFC-42AA-BFD0-8C81C778B23C}" type="datetime1">
              <a:rPr lang="en-US"/>
              <a:pPr>
                <a:defRPr/>
              </a:pPr>
              <a:t>4/20/2026</a:t>
            </a:fld>
            <a:endParaRPr lang="en-US"/>
          </a:p>
        </p:txBody>
      </p:sp>
      <p:sp>
        <p:nvSpPr>
          <p:cNvPr id="5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6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200D00-FAC3-4BD9-A822-BD2C048E47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381000"/>
            <a:ext cx="2095500" cy="6096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381000"/>
            <a:ext cx="6134100" cy="6096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05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263FE7-3F97-4028-85EC-9716D3CBDCDD}" type="datetime1">
              <a:rPr lang="en-US"/>
              <a:pPr>
                <a:defRPr/>
              </a:pPr>
              <a:t>4/20/2026</a:t>
            </a:fld>
            <a:endParaRPr lang="en-US"/>
          </a:p>
        </p:txBody>
      </p:sp>
      <p:sp>
        <p:nvSpPr>
          <p:cNvPr id="5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6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0B2292-36BE-495B-B44D-8D239DD998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7793038" cy="609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1371600"/>
            <a:ext cx="4114800" cy="5105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371600"/>
            <a:ext cx="4114800" cy="2476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114800" cy="2476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205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19458D-B617-47CD-9FE8-C01E6625344F}" type="datetime1">
              <a:rPr lang="en-US"/>
              <a:pPr>
                <a:defRPr/>
              </a:pPr>
              <a:t>4/20/2026</a:t>
            </a:fld>
            <a:endParaRPr lang="en-US"/>
          </a:p>
        </p:txBody>
      </p:sp>
      <p:sp>
        <p:nvSpPr>
          <p:cNvPr id="7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8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EEC04C-FF66-45EC-9630-1E319257AF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7793038" cy="609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1371600"/>
            <a:ext cx="4114800" cy="5105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114800" cy="5105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205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4F4CE3-5FD4-452D-B0DC-EEAC1F799845}" type="datetime1">
              <a:rPr lang="en-US"/>
              <a:pPr>
                <a:defRPr/>
              </a:pPr>
              <a:t>4/20/2026</a:t>
            </a:fld>
            <a:endParaRPr lang="en-US"/>
          </a:p>
        </p:txBody>
      </p:sp>
      <p:sp>
        <p:nvSpPr>
          <p:cNvPr id="6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7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1C5644-9A68-444E-AF6E-428D8F07EC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7793038" cy="609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81000" y="1371600"/>
            <a:ext cx="8382000" cy="51054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205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10084-634C-4A14-83DE-842D86E08838}" type="datetime1">
              <a:rPr lang="en-US"/>
              <a:pPr>
                <a:defRPr/>
              </a:pPr>
              <a:t>4/20/2026</a:t>
            </a:fld>
            <a:endParaRPr lang="en-US"/>
          </a:p>
        </p:txBody>
      </p:sp>
      <p:sp>
        <p:nvSpPr>
          <p:cNvPr id="5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6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CF2736-0467-4361-B36D-0E03BED764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056"/>
          <p:cNvSpPr>
            <a:spLocks noChangeArrowheads="1"/>
          </p:cNvSpPr>
          <p:nvPr/>
        </p:nvSpPr>
        <p:spPr bwMode="gray">
          <a:xfrm>
            <a:off x="304800" y="1219200"/>
            <a:ext cx="8410575" cy="46038"/>
          </a:xfrm>
          <a:prstGeom prst="rect">
            <a:avLst/>
          </a:prstGeom>
          <a:gradFill rotWithShape="1">
            <a:gsLst>
              <a:gs pos="0">
                <a:srgbClr val="800000">
                  <a:alpha val="50000"/>
                </a:srgbClr>
              </a:gs>
              <a:gs pos="100000">
                <a:srgbClr val="FAE2F6">
                  <a:alpha val="5000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kumimoji="1" lang="en-US"/>
          </a:p>
        </p:txBody>
      </p:sp>
      <p:sp>
        <p:nvSpPr>
          <p:cNvPr id="1027" name="Rectangle 2057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81000"/>
            <a:ext cx="7793038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205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371600"/>
            <a:ext cx="83820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928779" name="Rectangle 205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48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fld id="{578B2F2F-D10F-47F0-97F3-A10BF0DAC520}" type="datetime1">
              <a:rPr lang="en-US"/>
              <a:pPr>
                <a:defRPr/>
              </a:pPr>
              <a:t>4/20/2026</a:t>
            </a:fld>
            <a:endParaRPr lang="en-US"/>
          </a:p>
        </p:txBody>
      </p:sp>
      <p:sp>
        <p:nvSpPr>
          <p:cNvPr id="928780" name="Rectangle 206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477000"/>
            <a:ext cx="2895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928781" name="Rectangle 206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D2780EA6-BB7C-4102-82F7-38A9FF36FF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58" r:id="rId3"/>
    <p:sldLayoutId id="2147483859" r:id="rId4"/>
    <p:sldLayoutId id="2147483860" r:id="rId5"/>
    <p:sldLayoutId id="2147483861" r:id="rId6"/>
    <p:sldLayoutId id="2147483872" r:id="rId7"/>
    <p:sldLayoutId id="2147483862" r:id="rId8"/>
    <p:sldLayoutId id="2147483863" r:id="rId9"/>
    <p:sldLayoutId id="2147483864" r:id="rId10"/>
    <p:sldLayoutId id="2147483865" r:id="rId11"/>
    <p:sldLayoutId id="2147483866" r:id="rId12"/>
    <p:sldLayoutId id="2147483867" r:id="rId13"/>
    <p:sldLayoutId id="2147483868" r:id="rId14"/>
  </p:sldLayoutIdLst>
  <p:transition>
    <p:zoom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erlin Sans FB Dem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erlin Sans FB Dem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erlin Sans FB Dem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erlin Sans FB Dem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erlin Sans FB Dem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erlin Sans FB Dem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erlin Sans FB Dem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erlin Sans FB Dem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notesSlide" Target="../notesSlides/notesSlide12.xml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1219200"/>
            <a:ext cx="8077200" cy="2819400"/>
          </a:xfrm>
        </p:spPr>
        <p:txBody>
          <a:bodyPr/>
          <a:lstStyle/>
          <a:p>
            <a:r>
              <a:rPr lang="en-AU" altLang="zh-TW" sz="7200" dirty="0" smtClean="0">
                <a:ea typeface="PMingLiU" pitchFamily="18" charset="-120"/>
              </a:rPr>
              <a:t>Cluster Analysis</a:t>
            </a:r>
            <a:r>
              <a:rPr lang="en-US" sz="7200" dirty="0" smtClean="0"/>
              <a:t/>
            </a:r>
            <a:br>
              <a:rPr lang="en-US" sz="7200" dirty="0" smtClean="0"/>
            </a:br>
            <a:r>
              <a:rPr lang="en-US" sz="4800" dirty="0" smtClean="0"/>
              <a:t/>
            </a:r>
            <a:br>
              <a:rPr lang="en-US" sz="4800" dirty="0" smtClean="0"/>
            </a:br>
            <a:endParaRPr lang="en-US" sz="2800" dirty="0" smtClean="0"/>
          </a:p>
        </p:txBody>
      </p:sp>
      <p:sp>
        <p:nvSpPr>
          <p:cNvPr id="5124" name="Slide Number Placeholder 6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0F0C0C3E-1FA3-41C6-A0A0-725A90814EDD}" type="slidenum">
              <a:rPr lang="en-US" smtClean="0"/>
              <a:pPr/>
              <a:t>1</a:t>
            </a:fld>
            <a:endParaRPr lang="en-US" smtClean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/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2E40BC6A-54DB-4C39-A8B5-C43D10B6DB58}" type="slidenum">
              <a:rPr lang="en-US" sz="1200"/>
              <a:pPr algn="r"/>
              <a:t>2</a:t>
            </a:fld>
            <a:endParaRPr lang="en-US" sz="1200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52400"/>
            <a:ext cx="9144000" cy="9906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sz="3200" dirty="0" smtClean="0">
                <a:ea typeface="PMingLiU" pitchFamily="18" charset="-120"/>
              </a:rPr>
              <a:t>Contents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371600"/>
            <a:ext cx="8223250" cy="5181600"/>
          </a:xfrm>
          <a:noFill/>
        </p:spPr>
        <p:txBody>
          <a:bodyPr lIns="92075" tIns="46038" rIns="92075" bIns="46038"/>
          <a:lstStyle/>
          <a:p>
            <a:pPr marL="533400" indent="-533400">
              <a:lnSpc>
                <a:spcPct val="150000"/>
              </a:lnSpc>
            </a:pPr>
            <a:r>
              <a:rPr lang="en-US" dirty="0" smtClean="0">
                <a:latin typeface="Calibri" pitchFamily="34" charset="0"/>
              </a:rPr>
              <a:t>Cluster Analysis: Basic Concepts</a:t>
            </a:r>
          </a:p>
          <a:p>
            <a:pPr marL="533400" indent="-533400">
              <a:lnSpc>
                <a:spcPct val="150000"/>
              </a:lnSpc>
            </a:pPr>
            <a:r>
              <a:rPr lang="en-US" dirty="0" smtClean="0">
                <a:latin typeface="Calibri" pitchFamily="34" charset="0"/>
              </a:rPr>
              <a:t>Partitioning Methods</a:t>
            </a:r>
          </a:p>
          <a:p>
            <a:pPr marL="533400" indent="-533400">
              <a:lnSpc>
                <a:spcPct val="150000"/>
              </a:lnSpc>
            </a:pPr>
            <a:r>
              <a:rPr lang="en-US" dirty="0" smtClean="0">
                <a:latin typeface="Calibri" pitchFamily="34" charset="0"/>
              </a:rPr>
              <a:t>Hierarchical Methods</a:t>
            </a:r>
          </a:p>
          <a:p>
            <a:pPr marL="533400" indent="-533400">
              <a:lnSpc>
                <a:spcPct val="150000"/>
              </a:lnSpc>
            </a:pPr>
            <a:r>
              <a:rPr lang="en-US" dirty="0" smtClean="0">
                <a:latin typeface="Calibri" pitchFamily="34" charset="0"/>
              </a:rPr>
              <a:t>Density-Based Methods</a:t>
            </a:r>
          </a:p>
          <a:p>
            <a:pPr marL="533400" indent="-533400">
              <a:lnSpc>
                <a:spcPct val="150000"/>
              </a:lnSpc>
            </a:pPr>
            <a:r>
              <a:rPr lang="en-US" dirty="0" smtClean="0">
                <a:latin typeface="Calibri" pitchFamily="34" charset="0"/>
              </a:rPr>
              <a:t>Evaluation of Clustering</a:t>
            </a:r>
          </a:p>
          <a:p>
            <a:pPr marL="533400" indent="-533400">
              <a:lnSpc>
                <a:spcPct val="150000"/>
              </a:lnSpc>
            </a:pPr>
            <a:r>
              <a:rPr lang="en-US" dirty="0" smtClean="0">
                <a:latin typeface="Calibri" pitchFamily="34" charset="0"/>
              </a:rPr>
              <a:t>Summary</a:t>
            </a:r>
          </a:p>
        </p:txBody>
      </p:sp>
      <p:sp>
        <p:nvSpPr>
          <p:cNvPr id="6149" name="AutoShape 5"/>
          <p:cNvSpPr>
            <a:spLocks noChangeArrowheads="1"/>
          </p:cNvSpPr>
          <p:nvPr/>
        </p:nvSpPr>
        <p:spPr bwMode="auto">
          <a:xfrm rot="9867012">
            <a:off x="5943600" y="1524000"/>
            <a:ext cx="304800" cy="381000"/>
          </a:xfrm>
          <a:prstGeom prst="notchedRightArrow">
            <a:avLst>
              <a:gd name="adj1" fmla="val 50000"/>
              <a:gd name="adj2" fmla="val 25000"/>
            </a:avLst>
          </a:prstGeom>
          <a:solidFill>
            <a:srgbClr val="00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/>
          <a:p>
            <a:endParaRPr lang="en-US"/>
          </a:p>
        </p:txBody>
      </p:sp>
      <p:sp>
        <p:nvSpPr>
          <p:cNvPr id="6150" name="Slide Number Placeholder 5"/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C1F46510-495F-4C3B-B9B2-C0A7592A5373}" type="slidenum">
              <a:rPr lang="en-US" sz="1200"/>
              <a:pPr algn="r"/>
              <a:t>2</a:t>
            </a:fld>
            <a:endParaRPr lang="en-US" sz="120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1906240-D13C-4555-B60E-3A85722D673F}" type="slidenum">
              <a:rPr lang="en-US" smtClean="0"/>
              <a:pPr/>
              <a:t>3</a:t>
            </a:fld>
            <a:endParaRPr lang="en-US" smtClean="0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304800"/>
            <a:ext cx="7297738" cy="782638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smtClean="0"/>
              <a:t>What is Cluster Analysis?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8686800" cy="51816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dirty="0" smtClean="0"/>
              <a:t>Cluster: A collection of data objects</a:t>
            </a:r>
          </a:p>
          <a:p>
            <a:pPr lvl="1" eaLnBrk="1" hangingPunct="1"/>
            <a:r>
              <a:rPr lang="en-US" dirty="0" smtClean="0"/>
              <a:t>similar (or related) to one another within the same group</a:t>
            </a:r>
          </a:p>
          <a:p>
            <a:pPr lvl="1" eaLnBrk="1" hangingPunct="1"/>
            <a:r>
              <a:rPr lang="en-US" dirty="0" smtClean="0"/>
              <a:t>dissimilar (or unrelated) to the objects in other groups</a:t>
            </a:r>
          </a:p>
          <a:p>
            <a:pPr eaLnBrk="1" hangingPunct="1"/>
            <a:r>
              <a:rPr lang="en-US" dirty="0" smtClean="0"/>
              <a:t>Cluster analysis</a:t>
            </a:r>
          </a:p>
          <a:p>
            <a:pPr lvl="1" eaLnBrk="1" hangingPunct="1"/>
            <a:r>
              <a:rPr lang="en-US" dirty="0" smtClean="0"/>
              <a:t>Finding similarities between data according to the characteristics found in the data and grouping similar data objects into clusters</a:t>
            </a:r>
          </a:p>
          <a:p>
            <a:pPr eaLnBrk="1" hangingPunct="1"/>
            <a:r>
              <a:rPr lang="en-US" dirty="0" smtClean="0">
                <a:solidFill>
                  <a:schemeClr val="hlink"/>
                </a:solidFill>
              </a:rPr>
              <a:t>Unsupervised learning</a:t>
            </a:r>
            <a:r>
              <a:rPr lang="en-US" dirty="0" smtClean="0"/>
              <a:t>: no predefined class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2EE248F-4E2D-4050-899F-C60BA457974C}" type="slidenum">
              <a:rPr lang="en-US" smtClean="0"/>
              <a:pPr/>
              <a:t>4</a:t>
            </a:fld>
            <a:endParaRPr lang="en-US" smtClean="0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8763000" cy="762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dirty="0" smtClean="0"/>
              <a:t>Applications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19200"/>
            <a:ext cx="8382000" cy="51816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sz="2400" dirty="0" smtClean="0"/>
              <a:t>Typical applications</a:t>
            </a:r>
          </a:p>
          <a:p>
            <a:pPr eaLnBrk="1" hangingPunct="1">
              <a:buNone/>
            </a:pPr>
            <a:r>
              <a:rPr lang="en-US" sz="2400" dirty="0" smtClean="0"/>
              <a:t>A)  As a </a:t>
            </a:r>
            <a:r>
              <a:rPr lang="en-US" sz="2400" dirty="0" smtClean="0">
                <a:solidFill>
                  <a:schemeClr val="hlink"/>
                </a:solidFill>
              </a:rPr>
              <a:t>stand-alone tool</a:t>
            </a:r>
            <a:r>
              <a:rPr lang="en-US" sz="2400" dirty="0" smtClean="0"/>
              <a:t> to get insight into data distribution </a:t>
            </a:r>
          </a:p>
          <a:p>
            <a:pPr eaLnBrk="1" hangingPunct="1"/>
            <a:r>
              <a:rPr lang="en-IN" sz="2400" dirty="0" smtClean="0"/>
              <a:t>In</a:t>
            </a:r>
            <a:r>
              <a:rPr lang="en-US" sz="2400" dirty="0" smtClean="0"/>
              <a:t>formation retrieval: document clustering</a:t>
            </a:r>
          </a:p>
          <a:p>
            <a:pPr eaLnBrk="1" hangingPunct="1"/>
            <a:r>
              <a:rPr lang="en-US" sz="2400" dirty="0" smtClean="0"/>
              <a:t>City-planning: Identifying groups of houses according to their house type, value, and geographical location</a:t>
            </a:r>
          </a:p>
          <a:p>
            <a:pPr eaLnBrk="1" hangingPunct="1"/>
            <a:r>
              <a:rPr lang="en-US" sz="2400" dirty="0" smtClean="0"/>
              <a:t>Climate: understanding earth climate, find patterns of atmospheric and ocean</a:t>
            </a:r>
          </a:p>
          <a:p>
            <a:pPr marL="342900" lvl="1" indent="-342900" eaLnBrk="1" hangingPunct="1">
              <a:buClr>
                <a:schemeClr val="folHlink"/>
              </a:buClr>
              <a:buSzPct val="60000"/>
              <a:buNone/>
            </a:pPr>
            <a:r>
              <a:rPr lang="en-US" sz="2400" dirty="0" smtClean="0"/>
              <a:t>B) As a </a:t>
            </a:r>
            <a:r>
              <a:rPr lang="en-US" sz="2400" dirty="0" smtClean="0">
                <a:solidFill>
                  <a:schemeClr val="hlink"/>
                </a:solidFill>
              </a:rPr>
              <a:t>preprocessing step</a:t>
            </a:r>
            <a:r>
              <a:rPr lang="en-US" sz="2400" dirty="0" smtClean="0"/>
              <a:t> for other algorithms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 dirty="0" smtClean="0"/>
              <a:t>Summarization: Consider representatives of all clusters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 dirty="0" smtClean="0"/>
              <a:t>Outlier detection: Outliers are often viewed as those “far away” from any cluster</a:t>
            </a:r>
          </a:p>
          <a:p>
            <a:pPr marL="342900" lvl="1" indent="-342900" eaLnBrk="1" hangingPunct="1">
              <a:buClr>
                <a:schemeClr val="folHlink"/>
              </a:buClr>
              <a:buSzPct val="60000"/>
              <a:buNone/>
            </a:pPr>
            <a:endParaRPr lang="en-US" sz="2400" dirty="0" smtClean="0"/>
          </a:p>
          <a:p>
            <a:pPr eaLnBrk="1" hangingPunct="1">
              <a:buNone/>
            </a:pPr>
            <a:endParaRPr lang="en-US" sz="2400" dirty="0" smtClean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296150" cy="5334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smtClean="0"/>
              <a:t>Quality: What Is Good Clustering?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382000" cy="48768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30000"/>
              </a:lnSpc>
            </a:pPr>
            <a:r>
              <a:rPr lang="en-US" sz="2400" smtClean="0"/>
              <a:t>A </a:t>
            </a:r>
            <a:r>
              <a:rPr lang="en-US" sz="2400" u="sng" smtClean="0"/>
              <a:t>good clustering</a:t>
            </a:r>
            <a:r>
              <a:rPr lang="en-US" sz="2400" smtClean="0"/>
              <a:t> method will produce high quality clusters</a:t>
            </a:r>
          </a:p>
          <a:p>
            <a:pPr lvl="1" eaLnBrk="1" hangingPunct="1">
              <a:lnSpc>
                <a:spcPct val="130000"/>
              </a:lnSpc>
            </a:pPr>
            <a:r>
              <a:rPr lang="en-US" sz="2400" smtClean="0"/>
              <a:t>high </a:t>
            </a:r>
            <a:r>
              <a:rPr lang="en-US" sz="2400" u="sng" smtClean="0"/>
              <a:t>intra-class</a:t>
            </a:r>
            <a:r>
              <a:rPr lang="en-US" sz="2400" smtClean="0"/>
              <a:t> similarity: </a:t>
            </a:r>
            <a:r>
              <a:rPr lang="en-US" sz="2400" smtClean="0">
                <a:solidFill>
                  <a:schemeClr val="hlink"/>
                </a:solidFill>
              </a:rPr>
              <a:t>cohesive</a:t>
            </a:r>
            <a:r>
              <a:rPr lang="en-US" sz="2400" smtClean="0"/>
              <a:t> within clusters</a:t>
            </a:r>
          </a:p>
          <a:p>
            <a:pPr lvl="1" eaLnBrk="1" hangingPunct="1">
              <a:lnSpc>
                <a:spcPct val="130000"/>
              </a:lnSpc>
            </a:pPr>
            <a:r>
              <a:rPr lang="en-US" sz="2400" smtClean="0"/>
              <a:t>low </a:t>
            </a:r>
            <a:r>
              <a:rPr lang="en-US" sz="2400" u="sng" smtClean="0"/>
              <a:t>inter-class</a:t>
            </a:r>
            <a:r>
              <a:rPr lang="en-US" sz="2400" smtClean="0"/>
              <a:t> similarity: </a:t>
            </a:r>
            <a:r>
              <a:rPr lang="en-US" sz="2400" smtClean="0">
                <a:solidFill>
                  <a:schemeClr val="hlink"/>
                </a:solidFill>
              </a:rPr>
              <a:t>distinctive</a:t>
            </a:r>
            <a:r>
              <a:rPr lang="en-US" sz="2400" smtClean="0"/>
              <a:t> between clusters</a:t>
            </a:r>
          </a:p>
          <a:p>
            <a:pPr eaLnBrk="1" hangingPunct="1">
              <a:lnSpc>
                <a:spcPct val="130000"/>
              </a:lnSpc>
            </a:pPr>
            <a:r>
              <a:rPr lang="en-US" sz="2400" smtClean="0"/>
              <a:t>The </a:t>
            </a:r>
            <a:r>
              <a:rPr lang="en-US" sz="2400" u="sng" smtClean="0"/>
              <a:t>quality</a:t>
            </a:r>
            <a:r>
              <a:rPr lang="en-US" sz="2400" smtClean="0"/>
              <a:t> of a clustering method depends on</a:t>
            </a:r>
          </a:p>
          <a:p>
            <a:pPr lvl="1" eaLnBrk="1" hangingPunct="1">
              <a:lnSpc>
                <a:spcPct val="130000"/>
              </a:lnSpc>
            </a:pPr>
            <a:r>
              <a:rPr lang="en-US" sz="2400" smtClean="0"/>
              <a:t>the similarity measure used by the method </a:t>
            </a:r>
          </a:p>
          <a:p>
            <a:pPr lvl="1" eaLnBrk="1" hangingPunct="1">
              <a:lnSpc>
                <a:spcPct val="130000"/>
              </a:lnSpc>
            </a:pPr>
            <a:r>
              <a:rPr lang="en-US" sz="2400" smtClean="0"/>
              <a:t>its implementation, and</a:t>
            </a:r>
          </a:p>
          <a:p>
            <a:pPr lvl="1" eaLnBrk="1" hangingPunct="1">
              <a:lnSpc>
                <a:spcPct val="130000"/>
              </a:lnSpc>
            </a:pPr>
            <a:r>
              <a:rPr lang="en-US" sz="2400" smtClean="0"/>
              <a:t>Its ability to discover some or all of the </a:t>
            </a:r>
            <a:r>
              <a:rPr lang="en-US" sz="2400" u="sng" smtClean="0"/>
              <a:t>hidden</a:t>
            </a:r>
            <a:r>
              <a:rPr lang="en-US" sz="2400" smtClean="0"/>
              <a:t> patterns</a:t>
            </a:r>
          </a:p>
        </p:txBody>
      </p:sp>
      <p:sp>
        <p:nvSpPr>
          <p:cNvPr id="1024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DEC3F2D-0372-4C10-A91F-AFBBAF2F5673}" type="slidenum">
              <a:rPr lang="en-US" smtClean="0"/>
              <a:pPr/>
              <a:t>5</a:t>
            </a:fld>
            <a:endParaRPr lang="en-US" smtClean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228600"/>
            <a:ext cx="6705600" cy="8382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sz="3200" smtClean="0"/>
              <a:t>Measure the Quality of Clustering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19200"/>
            <a:ext cx="8458200" cy="5257800"/>
          </a:xfrm>
          <a:noFill/>
        </p:spPr>
        <p:txBody>
          <a:bodyPr lIns="92075" tIns="46038" rIns="92075" bIns="46038"/>
          <a:lstStyle/>
          <a:p>
            <a:pPr marL="457200" indent="-457200" eaLnBrk="1" hangingPunct="1"/>
            <a:r>
              <a:rPr lang="en-US" sz="2400" dirty="0" smtClean="0">
                <a:solidFill>
                  <a:schemeClr val="hlink"/>
                </a:solidFill>
              </a:rPr>
              <a:t>Dissimilarity/Similarity metric</a:t>
            </a:r>
            <a:endParaRPr lang="en-US" sz="2400" dirty="0" smtClean="0"/>
          </a:p>
          <a:p>
            <a:pPr marL="914400" lvl="1" indent="-457200" eaLnBrk="1" hangingPunct="1"/>
            <a:r>
              <a:rPr lang="en-US" sz="2400" dirty="0" smtClean="0"/>
              <a:t>Similarity is expressed in terms of a distance function, typically metric: </a:t>
            </a:r>
            <a:r>
              <a:rPr lang="en-US" sz="2400" i="1" dirty="0" smtClean="0"/>
              <a:t>d</a:t>
            </a:r>
            <a:r>
              <a:rPr lang="en-US" sz="2400" dirty="0" smtClean="0"/>
              <a:t>(</a:t>
            </a:r>
            <a:r>
              <a:rPr lang="en-US" sz="2400" i="1" dirty="0" err="1" smtClean="0"/>
              <a:t>i</a:t>
            </a:r>
            <a:r>
              <a:rPr lang="en-US" sz="2400" i="1" dirty="0" smtClean="0"/>
              <a:t>, j</a:t>
            </a:r>
            <a:r>
              <a:rPr lang="en-US" sz="2400" dirty="0" smtClean="0"/>
              <a:t>)</a:t>
            </a:r>
          </a:p>
          <a:p>
            <a:pPr marL="914400" lvl="1" indent="-457200" eaLnBrk="1" hangingPunct="1"/>
            <a:r>
              <a:rPr lang="en-US" sz="2400" dirty="0" smtClean="0"/>
              <a:t>The definitions of </a:t>
            </a:r>
            <a:r>
              <a:rPr lang="en-US" sz="2400" dirty="0" smtClean="0">
                <a:solidFill>
                  <a:schemeClr val="hlink"/>
                </a:solidFill>
              </a:rPr>
              <a:t>distance functions</a:t>
            </a:r>
            <a:r>
              <a:rPr lang="en-US" sz="2400" dirty="0" smtClean="0"/>
              <a:t> are usually rather different for interval-scaled, </a:t>
            </a:r>
            <a:r>
              <a:rPr lang="en-US" sz="2400" dirty="0" err="1" smtClean="0"/>
              <a:t>boolean</a:t>
            </a:r>
            <a:r>
              <a:rPr lang="en-US" sz="2400" dirty="0" smtClean="0"/>
              <a:t>, nominal / categorical, ordinal, and ratio-scaled variables</a:t>
            </a:r>
          </a:p>
          <a:p>
            <a:pPr marL="914400" lvl="1" indent="-457200" eaLnBrk="1" hangingPunct="1"/>
            <a:r>
              <a:rPr lang="en-US" sz="2400" dirty="0" smtClean="0"/>
              <a:t>Weights should be associated with different variables based on applications and data semantics</a:t>
            </a:r>
          </a:p>
          <a:p>
            <a:pPr marL="457200" indent="-457200" eaLnBrk="1" hangingPunct="1"/>
            <a:endParaRPr lang="en-US" dirty="0" smtClean="0">
              <a:sym typeface="Symbol" pitchFamily="18" charset="2"/>
            </a:endParaRPr>
          </a:p>
        </p:txBody>
      </p:sp>
      <p:sp>
        <p:nvSpPr>
          <p:cNvPr id="1126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9AB9BD0-4E68-4DE9-AAC5-3B7AF67DC3F6}" type="slidenum">
              <a:rPr lang="en-US" smtClean="0"/>
              <a:pPr/>
              <a:t>6</a:t>
            </a:fld>
            <a:endParaRPr lang="en-US" smtClean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Interval-scaled 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Clr>
                <a:schemeClr val="folHlink"/>
              </a:buClr>
              <a:buSzPct val="60000"/>
            </a:pPr>
            <a:r>
              <a:rPr lang="en-US" sz="2000" dirty="0" smtClean="0">
                <a:sym typeface="Symbol" pitchFamily="18" charset="2"/>
              </a:rPr>
              <a:t>These variables are continuous measurements of a roughly linear scale. Typical examples include weight, height, latitude, longitude, and weather temperature.</a:t>
            </a:r>
          </a:p>
          <a:p>
            <a:pPr marL="342900" lvl="1" indent="-342900">
              <a:buClr>
                <a:schemeClr val="folHlink"/>
              </a:buClr>
              <a:buSzPct val="60000"/>
            </a:pPr>
            <a:r>
              <a:rPr lang="en-US" sz="2000" dirty="0" smtClean="0">
                <a:sym typeface="Symbol" pitchFamily="18" charset="2"/>
              </a:rPr>
              <a:t>The measurement unit used can affect the clustering analysis. For ex., changing measurement units from meters to inches for height, or from kilograms to pounds for weight, may lead to a very different clustering structure. </a:t>
            </a:r>
          </a:p>
          <a:p>
            <a:pPr marL="342900" lvl="1" indent="-342900">
              <a:buClr>
                <a:schemeClr val="folHlink"/>
              </a:buClr>
              <a:buSzPct val="60000"/>
            </a:pPr>
            <a:r>
              <a:rPr lang="en-US" sz="2000" dirty="0" smtClean="0">
                <a:sym typeface="Symbol" pitchFamily="18" charset="2"/>
              </a:rPr>
              <a:t>To help avoid dependence on the choice of measurement units, the data should be standardized by techniques like Min-Max, Z-Score, decimal scaling etc.  </a:t>
            </a:r>
          </a:p>
          <a:p>
            <a:pPr marL="342900" lvl="1" indent="-342900">
              <a:buClr>
                <a:schemeClr val="folHlink"/>
              </a:buClr>
              <a:buSzPct val="60000"/>
            </a:pPr>
            <a:r>
              <a:rPr lang="en-US" sz="2000" dirty="0" smtClean="0">
                <a:sym typeface="Symbol" pitchFamily="18" charset="2"/>
              </a:rPr>
              <a:t>The dissimilarity (or similarity) between the objects described by </a:t>
            </a:r>
            <a:r>
              <a:rPr lang="en-US" sz="2000" dirty="0" smtClean="0"/>
              <a:t>interval-scaled variables is typically computed based on the distance between each pair of objects. </a:t>
            </a:r>
            <a:r>
              <a:rPr lang="en-US" sz="2000" dirty="0" smtClean="0">
                <a:sym typeface="Symbol" pitchFamily="18" charset="2"/>
              </a:rPr>
              <a:t>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7B124B-24CA-4ED2-9A1D-3E801FCC035C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Interval-scaled 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most popular distance measure is Euclidean distance</a:t>
            </a:r>
          </a:p>
          <a:p>
            <a:r>
              <a:rPr lang="en-US" sz="2400" dirty="0" smtClean="0"/>
              <a:t>Let, </a:t>
            </a:r>
            <a:r>
              <a:rPr lang="en-US" sz="2400" dirty="0" err="1" smtClean="0"/>
              <a:t>i</a:t>
            </a:r>
            <a:r>
              <a:rPr lang="en-US" sz="2400" dirty="0" smtClean="0"/>
              <a:t>=(</a:t>
            </a:r>
            <a:r>
              <a:rPr lang="en-IN" sz="2400" dirty="0" smtClean="0"/>
              <a:t> x</a:t>
            </a:r>
            <a:r>
              <a:rPr lang="en-IN" sz="2400" baseline="-25000" dirty="0" smtClean="0"/>
              <a:t>i1</a:t>
            </a:r>
            <a:r>
              <a:rPr lang="en-IN" sz="2400" dirty="0" smtClean="0"/>
              <a:t>, x</a:t>
            </a:r>
            <a:r>
              <a:rPr lang="en-IN" sz="2400" baseline="-25000" dirty="0" smtClean="0"/>
              <a:t>i2</a:t>
            </a:r>
            <a:r>
              <a:rPr lang="en-IN" sz="2400" dirty="0" smtClean="0"/>
              <a:t>, …, </a:t>
            </a:r>
            <a:r>
              <a:rPr lang="en-IN" sz="2400" dirty="0" err="1" smtClean="0"/>
              <a:t>x</a:t>
            </a:r>
            <a:r>
              <a:rPr lang="en-IN" sz="2400" baseline="-25000" dirty="0" err="1" smtClean="0"/>
              <a:t>ip</a:t>
            </a:r>
            <a:r>
              <a:rPr lang="en-US" sz="2400" dirty="0" smtClean="0"/>
              <a:t>) and j=(</a:t>
            </a:r>
            <a:r>
              <a:rPr lang="en-IN" sz="2400" dirty="0" smtClean="0"/>
              <a:t> x</a:t>
            </a:r>
            <a:r>
              <a:rPr lang="en-IN" sz="2400" baseline="-25000" dirty="0" smtClean="0"/>
              <a:t>j1</a:t>
            </a:r>
            <a:r>
              <a:rPr lang="en-IN" sz="2400" dirty="0" smtClean="0"/>
              <a:t>, x</a:t>
            </a:r>
            <a:r>
              <a:rPr lang="en-IN" sz="2400" baseline="-25000" dirty="0" smtClean="0"/>
              <a:t>j2</a:t>
            </a:r>
            <a:r>
              <a:rPr lang="en-IN" sz="2400" dirty="0" smtClean="0"/>
              <a:t>, …, </a:t>
            </a:r>
            <a:r>
              <a:rPr lang="en-IN" sz="2400" dirty="0" err="1" smtClean="0"/>
              <a:t>x</a:t>
            </a:r>
            <a:r>
              <a:rPr lang="en-IN" sz="2400" baseline="-25000" dirty="0" err="1" smtClean="0"/>
              <a:t>jp</a:t>
            </a:r>
            <a:r>
              <a:rPr lang="en-US" sz="2400" dirty="0" smtClean="0"/>
              <a:t>) are two p-dimensional data objects. </a:t>
            </a:r>
          </a:p>
          <a:p>
            <a:r>
              <a:rPr lang="en-US" sz="2400" dirty="0" smtClean="0"/>
              <a:t>The </a:t>
            </a:r>
            <a:r>
              <a:rPr lang="en-US" sz="2400" dirty="0" err="1" smtClean="0"/>
              <a:t>Minkowski</a:t>
            </a:r>
            <a:r>
              <a:rPr lang="en-US" sz="2400" dirty="0" smtClean="0"/>
              <a:t> distance d(</a:t>
            </a:r>
            <a:r>
              <a:rPr lang="en-US" sz="2400" dirty="0" err="1" smtClean="0"/>
              <a:t>i,j</a:t>
            </a:r>
            <a:r>
              <a:rPr lang="en-US" sz="2400" dirty="0" smtClean="0"/>
              <a:t>) is: </a:t>
            </a:r>
          </a:p>
          <a:p>
            <a:pPr>
              <a:buNone/>
            </a:pPr>
            <a:r>
              <a:rPr lang="en-US" sz="2400" dirty="0" smtClean="0"/>
              <a:t>                                                               </a:t>
            </a:r>
            <a:r>
              <a:rPr lang="en-US" sz="1800" dirty="0" smtClean="0"/>
              <a:t>where q is a positive integer</a:t>
            </a:r>
          </a:p>
          <a:p>
            <a:pPr>
              <a:buNone/>
            </a:pPr>
            <a:endParaRPr lang="en-IN" sz="2400" dirty="0" smtClean="0"/>
          </a:p>
          <a:p>
            <a:r>
              <a:rPr lang="en-IN" sz="2400" dirty="0" smtClean="0"/>
              <a:t>If q=1, then d(</a:t>
            </a:r>
            <a:r>
              <a:rPr lang="en-IN" sz="2400" dirty="0" err="1" smtClean="0"/>
              <a:t>i,j</a:t>
            </a:r>
            <a:r>
              <a:rPr lang="en-IN" sz="2400" dirty="0" smtClean="0"/>
              <a:t>) represents the Manhattan distance</a:t>
            </a:r>
          </a:p>
          <a:p>
            <a:r>
              <a:rPr lang="en-IN" sz="2400" dirty="0" smtClean="0"/>
              <a:t>If q=2, then d(</a:t>
            </a:r>
            <a:r>
              <a:rPr lang="en-IN" sz="2400" dirty="0" err="1" smtClean="0"/>
              <a:t>i,j</a:t>
            </a:r>
            <a:r>
              <a:rPr lang="en-IN" sz="2400" dirty="0" smtClean="0"/>
              <a:t>) represents the Euclidean distance</a:t>
            </a:r>
          </a:p>
          <a:p>
            <a:r>
              <a:rPr lang="en-IN" sz="2400" dirty="0" smtClean="0"/>
              <a:t>Both the Manhattan distance and Euclidean distance satisfy the mathematical requirements of a distance function.</a:t>
            </a:r>
          </a:p>
          <a:p>
            <a:endParaRPr lang="en-IN" sz="2400" dirty="0" smtClean="0"/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7B124B-24CA-4ED2-9A1D-3E801FCC035C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2068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6851" name="Rectangle 3"/>
          <p:cNvSpPr>
            <a:spLocks noChangeArrowheads="1"/>
          </p:cNvSpPr>
          <p:nvPr/>
        </p:nvSpPr>
        <p:spPr bwMode="auto">
          <a:xfrm>
            <a:off x="0" y="7493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7649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14401" y="3124199"/>
            <a:ext cx="4572000" cy="390914"/>
          </a:xfrm>
          <a:prstGeom prst="rect">
            <a:avLst/>
          </a:prstGeom>
          <a:noFill/>
        </p:spPr>
      </p:pic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0" y="7493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7793038" cy="381000"/>
          </a:xfrm>
        </p:spPr>
        <p:txBody>
          <a:bodyPr/>
          <a:lstStyle/>
          <a:p>
            <a:r>
              <a:rPr lang="en-IN" sz="2400" dirty="0" smtClean="0"/>
              <a:t>Mathematical requirements of a distance function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382000" cy="5257800"/>
          </a:xfrm>
        </p:spPr>
        <p:txBody>
          <a:bodyPr/>
          <a:lstStyle/>
          <a:p>
            <a:pPr marL="571500" indent="-571500">
              <a:buAutoNum type="romanLcParenR"/>
            </a:pPr>
            <a:r>
              <a:rPr lang="en-US" dirty="0" smtClean="0"/>
              <a:t>d(</a:t>
            </a:r>
            <a:r>
              <a:rPr lang="en-US" dirty="0" err="1" smtClean="0"/>
              <a:t>i</a:t>
            </a:r>
            <a:r>
              <a:rPr lang="en-US" dirty="0" smtClean="0"/>
              <a:t>, j) ≥ 0; distance is a nonnegative number.</a:t>
            </a:r>
          </a:p>
          <a:p>
            <a:pPr marL="571500" indent="-571500">
              <a:buAutoNum type="romanLcParenR"/>
            </a:pPr>
            <a:r>
              <a:rPr lang="en-US" dirty="0" smtClean="0"/>
              <a:t>d(</a:t>
            </a:r>
            <a:r>
              <a:rPr lang="en-US" dirty="0" err="1" smtClean="0"/>
              <a:t>i</a:t>
            </a:r>
            <a:r>
              <a:rPr lang="en-US" dirty="0" smtClean="0"/>
              <a:t>, </a:t>
            </a:r>
            <a:r>
              <a:rPr lang="en-US" dirty="0" err="1" smtClean="0"/>
              <a:t>i</a:t>
            </a:r>
            <a:r>
              <a:rPr lang="en-US" dirty="0" smtClean="0"/>
              <a:t>) = 0; distance of an object to itself is 0.</a:t>
            </a:r>
          </a:p>
          <a:p>
            <a:pPr marL="571500" indent="-571500">
              <a:buAutoNum type="romanLcParenR"/>
            </a:pPr>
            <a:r>
              <a:rPr lang="en-US" dirty="0" smtClean="0"/>
              <a:t>d(</a:t>
            </a:r>
            <a:r>
              <a:rPr lang="en-US" dirty="0" err="1" smtClean="0"/>
              <a:t>i</a:t>
            </a:r>
            <a:r>
              <a:rPr lang="en-US" dirty="0" smtClean="0"/>
              <a:t>, j) = d(j, </a:t>
            </a:r>
            <a:r>
              <a:rPr lang="en-US" dirty="0" err="1" smtClean="0"/>
              <a:t>i</a:t>
            </a:r>
            <a:r>
              <a:rPr lang="en-US" dirty="0" smtClean="0"/>
              <a:t>); distance is a symmetric function.</a:t>
            </a:r>
          </a:p>
          <a:p>
            <a:pPr marL="571500" indent="-571500">
              <a:buAutoNum type="romanLcParenR"/>
            </a:pPr>
            <a:r>
              <a:rPr lang="en-US" dirty="0" smtClean="0"/>
              <a:t>d(</a:t>
            </a:r>
            <a:r>
              <a:rPr lang="en-US" dirty="0" err="1" smtClean="0"/>
              <a:t>i</a:t>
            </a:r>
            <a:r>
              <a:rPr lang="en-US" dirty="0" smtClean="0"/>
              <a:t>, j) ≤ d(</a:t>
            </a:r>
            <a:r>
              <a:rPr lang="en-US" dirty="0" err="1" smtClean="0"/>
              <a:t>i</a:t>
            </a:r>
            <a:r>
              <a:rPr lang="en-US" dirty="0" smtClean="0"/>
              <a:t>, h) + d(h, j); going directly from object </a:t>
            </a:r>
            <a:r>
              <a:rPr lang="en-US" dirty="0" err="1" smtClean="0"/>
              <a:t>i</a:t>
            </a:r>
            <a:r>
              <a:rPr lang="en-US" dirty="0" smtClean="0"/>
              <a:t> to object j in space is no more than making a detour over any other object h (triangular inequality) </a:t>
            </a:r>
          </a:p>
          <a:p>
            <a:pPr marL="571500" indent="-571500">
              <a:buAutoNum type="romanLcParenR"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7B124B-24CA-4ED2-9A1D-3E801FCC035C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Interval-scaled 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each variable is assigned a weight according to its perceived importance, the weighted Euclidean distance can be computed as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7B124B-24CA-4ED2-9A1D-3E801FCC035C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20889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08897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447800" y="2819400"/>
            <a:ext cx="5966194" cy="425450"/>
          </a:xfrm>
          <a:prstGeom prst="rect">
            <a:avLst/>
          </a:prstGeom>
          <a:noFill/>
        </p:spPr>
      </p:pic>
      <p:sp>
        <p:nvSpPr>
          <p:cNvPr id="208899" name="Rectangle 3"/>
          <p:cNvSpPr>
            <a:spLocks noChangeArrowheads="1"/>
          </p:cNvSpPr>
          <p:nvPr/>
        </p:nvSpPr>
        <p:spPr bwMode="auto">
          <a:xfrm>
            <a:off x="0" y="7302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A binary variable has only two states: 0 or 1, where 0 means that the variable is absent, and 1 means that it is present.</a:t>
            </a:r>
          </a:p>
          <a:p>
            <a:r>
              <a:rPr lang="en-US" sz="2000" dirty="0" smtClean="0"/>
              <a:t>Example, smoker, where its value 1 indicates that the patient smokes, while the value 0 means the patient does not smoke.</a:t>
            </a:r>
          </a:p>
          <a:p>
            <a:r>
              <a:rPr lang="en-IN" sz="2000" dirty="0" smtClean="0"/>
              <a:t>Out of p dimensions, for objects </a:t>
            </a:r>
            <a:r>
              <a:rPr lang="en-IN" sz="2000" dirty="0" err="1" smtClean="0"/>
              <a:t>i</a:t>
            </a:r>
            <a:r>
              <a:rPr lang="en-IN" sz="2000" dirty="0" smtClean="0"/>
              <a:t>, and object j, let </a:t>
            </a:r>
          </a:p>
          <a:p>
            <a:pPr>
              <a:buNone/>
            </a:pPr>
            <a:r>
              <a:rPr lang="en-IN" sz="2000" dirty="0" smtClean="0"/>
              <a:t>	</a:t>
            </a:r>
            <a:r>
              <a:rPr lang="en-IN" sz="2000" dirty="0" err="1" smtClean="0"/>
              <a:t>i</a:t>
            </a:r>
            <a:r>
              <a:rPr lang="en-IN" sz="2000" dirty="0" smtClean="0"/>
              <a:t>) q is the number of variables that equal to 1 for both </a:t>
            </a:r>
            <a:r>
              <a:rPr lang="en-IN" sz="2000" dirty="0" err="1" smtClean="0"/>
              <a:t>i</a:t>
            </a:r>
            <a:r>
              <a:rPr lang="en-IN" sz="2000" dirty="0" smtClean="0"/>
              <a:t>, and j </a:t>
            </a:r>
          </a:p>
          <a:p>
            <a:pPr>
              <a:buNone/>
            </a:pPr>
            <a:r>
              <a:rPr lang="en-IN" sz="2000" dirty="0" smtClean="0"/>
              <a:t>	ii) r is the number of variables that equal to 1 for </a:t>
            </a:r>
            <a:r>
              <a:rPr lang="en-IN" sz="2000" dirty="0" err="1" smtClean="0"/>
              <a:t>i</a:t>
            </a:r>
            <a:r>
              <a:rPr lang="en-IN" sz="2000" dirty="0" smtClean="0"/>
              <a:t>, and 0 for j</a:t>
            </a:r>
          </a:p>
          <a:p>
            <a:pPr>
              <a:buNone/>
            </a:pPr>
            <a:r>
              <a:rPr lang="en-IN" sz="2000" dirty="0" smtClean="0"/>
              <a:t>	iii) s is the number of variables that equal to 0 for </a:t>
            </a:r>
            <a:r>
              <a:rPr lang="en-IN" sz="2000" dirty="0" err="1" smtClean="0"/>
              <a:t>i</a:t>
            </a:r>
            <a:r>
              <a:rPr lang="en-IN" sz="2000" dirty="0" smtClean="0"/>
              <a:t>, and 1 for j </a:t>
            </a:r>
          </a:p>
          <a:p>
            <a:pPr>
              <a:buNone/>
            </a:pPr>
            <a:r>
              <a:rPr lang="en-IN" sz="2000" dirty="0" smtClean="0"/>
              <a:t>	iv) t is the number of variables that equal to 0 for both </a:t>
            </a:r>
            <a:r>
              <a:rPr lang="en-IN" sz="2000" dirty="0" err="1" smtClean="0"/>
              <a:t>i</a:t>
            </a:r>
            <a:r>
              <a:rPr lang="en-IN" sz="2000" dirty="0" smtClean="0"/>
              <a:t>, and j </a:t>
            </a:r>
          </a:p>
          <a:p>
            <a:pPr>
              <a:buNone/>
            </a:pPr>
            <a:endParaRPr lang="en-IN" sz="2000" dirty="0" smtClean="0"/>
          </a:p>
          <a:p>
            <a:r>
              <a:rPr lang="en-IN" sz="2000" dirty="0" smtClean="0"/>
              <a:t>Therefore, p = q + r + s + t</a:t>
            </a:r>
            <a:endParaRPr lang="en-US" sz="2000" dirty="0" smtClean="0"/>
          </a:p>
          <a:p>
            <a:endParaRPr lang="en-US" sz="2000" dirty="0" smtClean="0"/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7B124B-24CA-4ED2-9A1D-3E801FCC035C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 smtClean="0"/>
              <a:t>Symmetric/</a:t>
            </a:r>
            <a:r>
              <a:rPr lang="en-IN" sz="3200" dirty="0" err="1" smtClean="0"/>
              <a:t>Asymetric</a:t>
            </a:r>
            <a:r>
              <a:rPr lang="en-IN" sz="3200" dirty="0" smtClean="0"/>
              <a:t> </a:t>
            </a:r>
            <a:r>
              <a:rPr lang="en-US" sz="3200" dirty="0" smtClean="0"/>
              <a:t>Binary Variables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sz="2000" b="1" dirty="0" smtClean="0"/>
              <a:t>A. Symmetric </a:t>
            </a:r>
            <a:r>
              <a:rPr lang="en-US" sz="2000" b="1" dirty="0" smtClean="0"/>
              <a:t>Binary Variables</a:t>
            </a:r>
            <a:endParaRPr lang="en-IN" sz="2000" b="1" dirty="0" smtClean="0"/>
          </a:p>
          <a:p>
            <a:r>
              <a:rPr lang="en-IN" sz="2000" dirty="0" smtClean="0"/>
              <a:t>Here, both the states (i.e., 0 and 1) are equally valuable and carry the same weight.</a:t>
            </a:r>
          </a:p>
          <a:p>
            <a:r>
              <a:rPr lang="en-IN" sz="2000" dirty="0" smtClean="0"/>
              <a:t>Here, dissimilarity is:</a:t>
            </a:r>
          </a:p>
          <a:p>
            <a:endParaRPr lang="en-IN" sz="2000" dirty="0" smtClean="0"/>
          </a:p>
          <a:p>
            <a:pPr>
              <a:buNone/>
            </a:pPr>
            <a:r>
              <a:rPr lang="en-IN" sz="2000" b="1" dirty="0" smtClean="0"/>
              <a:t>B. Asymmetric </a:t>
            </a:r>
            <a:r>
              <a:rPr lang="en-US" sz="2000" b="1" dirty="0" smtClean="0"/>
              <a:t>Binary Variables</a:t>
            </a:r>
          </a:p>
          <a:p>
            <a:r>
              <a:rPr lang="en-IN" sz="2000" dirty="0" smtClean="0"/>
              <a:t>Here, both the states (i.e., 0 and 1) are not equally important (e.g., positive and negative outcomes of a disease test)</a:t>
            </a:r>
          </a:p>
          <a:p>
            <a:r>
              <a:rPr lang="en-IN" sz="2000" dirty="0" smtClean="0"/>
              <a:t>By convention, the most important outcome is represented by 1, and the other outcome as 0</a:t>
            </a:r>
          </a:p>
          <a:p>
            <a:r>
              <a:rPr lang="en-IN" sz="2000" dirty="0" smtClean="0"/>
              <a:t>Here, dissimilarity is:                              (</a:t>
            </a:r>
            <a:r>
              <a:rPr lang="en-IN" sz="1800" b="1" dirty="0" smtClean="0"/>
              <a:t>known as </a:t>
            </a:r>
            <a:r>
              <a:rPr lang="en-IN" sz="1800" b="1" dirty="0" err="1" smtClean="0"/>
              <a:t>Jaccard</a:t>
            </a:r>
            <a:r>
              <a:rPr lang="en-IN" sz="1800" b="1" dirty="0" smtClean="0"/>
              <a:t> coefficient</a:t>
            </a:r>
            <a:r>
              <a:rPr lang="en-IN" sz="2000" dirty="0" smtClean="0"/>
              <a:t>)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7B124B-24CA-4ED2-9A1D-3E801FCC035C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21709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17089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352800" y="2286000"/>
            <a:ext cx="2286000" cy="599243"/>
          </a:xfrm>
          <a:prstGeom prst="rect">
            <a:avLst/>
          </a:prstGeom>
          <a:noFill/>
        </p:spPr>
      </p:pic>
      <p:sp>
        <p:nvSpPr>
          <p:cNvPr id="217091" name="Rectangle 3"/>
          <p:cNvSpPr>
            <a:spLocks noChangeArrowheads="1"/>
          </p:cNvSpPr>
          <p:nvPr/>
        </p:nvSpPr>
        <p:spPr bwMode="auto">
          <a:xfrm>
            <a:off x="0" y="8001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17093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17092" name="Picture 4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429000" y="4800600"/>
            <a:ext cx="1676400" cy="529389"/>
          </a:xfrm>
          <a:prstGeom prst="rect">
            <a:avLst/>
          </a:prstGeom>
          <a:noFill/>
        </p:spPr>
      </p:pic>
      <p:sp>
        <p:nvSpPr>
          <p:cNvPr id="217094" name="Rectangle 6"/>
          <p:cNvSpPr>
            <a:spLocks noChangeArrowheads="1"/>
          </p:cNvSpPr>
          <p:nvPr/>
        </p:nvSpPr>
        <p:spPr bwMode="auto">
          <a:xfrm>
            <a:off x="0" y="8001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Nominal 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 smtClean="0"/>
              <a:t>It is a generalization of the binary variable, where the variable can take on more than two states. Ex., </a:t>
            </a:r>
            <a:r>
              <a:rPr lang="en-IN" sz="2000" dirty="0" err="1" smtClean="0"/>
              <a:t>map_color</a:t>
            </a:r>
            <a:r>
              <a:rPr lang="en-IN" sz="2000" dirty="0" smtClean="0"/>
              <a:t>, that may have many states, like red, yellow, green, pink, and blue</a:t>
            </a:r>
          </a:p>
          <a:p>
            <a:r>
              <a:rPr lang="en-IN" sz="2000" dirty="0" smtClean="0"/>
              <a:t>Let the number of states of a nominal variable be M. The states can be denoted letters, symbols, or a set of integers, such as 1, 2, …, M, note that such integers are used just for data handling and do not represent any specific ordering.</a:t>
            </a:r>
          </a:p>
          <a:p>
            <a:r>
              <a:rPr lang="en-IN" sz="2000" dirty="0" smtClean="0"/>
              <a:t> Here, dissimilarity is:                      , where m is the number of matches (i.e., the number of variables for which </a:t>
            </a:r>
            <a:r>
              <a:rPr lang="en-IN" sz="2000" dirty="0" err="1" smtClean="0"/>
              <a:t>i</a:t>
            </a:r>
            <a:r>
              <a:rPr lang="en-IN" sz="2000" dirty="0" smtClean="0"/>
              <a:t> and j are in the same state), and p is the total number of variables.</a:t>
            </a:r>
          </a:p>
          <a:p>
            <a:r>
              <a:rPr lang="en-IN" sz="2000" dirty="0" smtClean="0"/>
              <a:t>Weights can be assigned to increase the effect of m or to assign greater weight to the matches in variables having a larger number of states. 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7B124B-24CA-4ED2-9A1D-3E801FCC035C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21913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19137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429000" y="3581400"/>
            <a:ext cx="1219200" cy="446468"/>
          </a:xfrm>
          <a:prstGeom prst="rect">
            <a:avLst/>
          </a:prstGeom>
          <a:noFill/>
        </p:spPr>
      </p:pic>
      <p:sp>
        <p:nvSpPr>
          <p:cNvPr id="219139" name="Rectangle 3"/>
          <p:cNvSpPr>
            <a:spLocks noChangeArrowheads="1"/>
          </p:cNvSpPr>
          <p:nvPr/>
        </p:nvSpPr>
        <p:spPr bwMode="auto">
          <a:xfrm>
            <a:off x="0" y="7874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Ordinal 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 smtClean="0">
                <a:solidFill>
                  <a:srgbClr val="FF0000"/>
                </a:solidFill>
              </a:rPr>
              <a:t>A ordinal variable </a:t>
            </a:r>
            <a:r>
              <a:rPr lang="en-IN" sz="2000" dirty="0" smtClean="0"/>
              <a:t>resembles a nominal variable, except that the M states of the ordinal value are ordered in a meaningful sequence. Ex., Professional ranks are often enumerated in a sequential order, such as assistant, associate, and full. </a:t>
            </a:r>
          </a:p>
          <a:p>
            <a:r>
              <a:rPr lang="en-IN" sz="2000" dirty="0" smtClean="0"/>
              <a:t>They are very useful for registering subjective assessments of qualities that cannot be measured objectively.  </a:t>
            </a:r>
          </a:p>
          <a:p>
            <a:r>
              <a:rPr lang="en-IN" sz="2000" dirty="0" smtClean="0"/>
              <a:t>The ordinal variables may also be obtained from the </a:t>
            </a:r>
            <a:r>
              <a:rPr lang="en-IN" sz="2000" dirty="0" err="1" smtClean="0"/>
              <a:t>discretization</a:t>
            </a:r>
            <a:r>
              <a:rPr lang="en-IN" sz="2000" dirty="0" smtClean="0"/>
              <a:t> of interval-scaled quantities by splitting the value range into a finite number of classes (use </a:t>
            </a:r>
            <a:r>
              <a:rPr lang="en-IN" sz="2000" dirty="0" err="1" smtClean="0"/>
              <a:t>discretization</a:t>
            </a:r>
            <a:r>
              <a:rPr lang="en-IN" sz="2000" dirty="0" smtClean="0"/>
              <a:t> algorithm).</a:t>
            </a:r>
          </a:p>
          <a:p>
            <a:r>
              <a:rPr lang="en-IN" sz="2000" dirty="0" smtClean="0"/>
              <a:t>The values of an order variable can be mapped to ranks.</a:t>
            </a:r>
          </a:p>
          <a:p>
            <a:r>
              <a:rPr lang="en-IN" sz="2000" dirty="0" smtClean="0"/>
              <a:t>Suppose, an order variable f has M</a:t>
            </a:r>
            <a:r>
              <a:rPr lang="en-IN" sz="2000" baseline="-25000" dirty="0" smtClean="0"/>
              <a:t>f</a:t>
            </a:r>
            <a:r>
              <a:rPr lang="en-IN" sz="2000" dirty="0" smtClean="0"/>
              <a:t> states. These order states define the ranking 1, 2, …, M</a:t>
            </a:r>
            <a:r>
              <a:rPr lang="en-IN" sz="2000" baseline="-25000" dirty="0" smtClean="0"/>
              <a:t>f</a:t>
            </a:r>
            <a:r>
              <a:rPr lang="en-IN" sz="2000" dirty="0" smtClean="0"/>
              <a:t>.</a:t>
            </a:r>
          </a:p>
          <a:p>
            <a:r>
              <a:rPr lang="en-IN" sz="2000" dirty="0" smtClean="0"/>
              <a:t>How are the order variables handled for measuring similarities ?   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7B124B-24CA-4ED2-9A1D-3E801FCC035C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7793038" cy="381000"/>
          </a:xfrm>
        </p:spPr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IN" sz="2000" dirty="0" smtClean="0"/>
              <a:t>How are the order variables handled for measuring similarities ?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 smtClean="0"/>
              <a:t>Treatment is quite similar to that of interval-scaled variables when computing the dissimilarity between objects. The dissimilarity computation </a:t>
            </a:r>
            <a:r>
              <a:rPr lang="en-IN" sz="2000" dirty="0" err="1" smtClean="0"/>
              <a:t>w.r.t</a:t>
            </a:r>
            <a:r>
              <a:rPr lang="en-IN" sz="2000" dirty="0" smtClean="0"/>
              <a:t>. f (order variable) involves the following steps:</a:t>
            </a:r>
          </a:p>
          <a:p>
            <a:pPr>
              <a:buNone/>
            </a:pPr>
            <a:r>
              <a:rPr lang="en-IN" sz="2000" dirty="0" err="1" smtClean="0"/>
              <a:t>i</a:t>
            </a:r>
            <a:r>
              <a:rPr lang="en-IN" sz="2000" dirty="0" smtClean="0"/>
              <a:t>) The value of f for the </a:t>
            </a:r>
            <a:r>
              <a:rPr lang="en-IN" sz="2000" dirty="0" err="1" smtClean="0"/>
              <a:t>i-th</a:t>
            </a:r>
            <a:r>
              <a:rPr lang="en-IN" sz="2000" dirty="0" smtClean="0"/>
              <a:t> object is </a:t>
            </a:r>
            <a:r>
              <a:rPr lang="en-IN" sz="2000" dirty="0" err="1" smtClean="0"/>
              <a:t>x</a:t>
            </a:r>
            <a:r>
              <a:rPr lang="en-IN" sz="2000" baseline="-25000" dirty="0" err="1" smtClean="0"/>
              <a:t>if</a:t>
            </a:r>
            <a:r>
              <a:rPr lang="en-IN" sz="2000" dirty="0" smtClean="0"/>
              <a:t>, and f has M</a:t>
            </a:r>
            <a:r>
              <a:rPr lang="en-IN" sz="2000" baseline="-25000" dirty="0" smtClean="0"/>
              <a:t>f</a:t>
            </a:r>
            <a:r>
              <a:rPr lang="en-IN" sz="2000" dirty="0" smtClean="0"/>
              <a:t> order states, representing the ranking 1, 2, …, M</a:t>
            </a:r>
            <a:r>
              <a:rPr lang="en-IN" sz="2000" baseline="-25000" dirty="0" smtClean="0"/>
              <a:t>f</a:t>
            </a:r>
            <a:r>
              <a:rPr lang="en-IN" sz="2000" dirty="0" smtClean="0"/>
              <a:t>. Replace each </a:t>
            </a:r>
            <a:r>
              <a:rPr lang="en-IN" sz="2000" dirty="0" err="1" smtClean="0"/>
              <a:t>x</a:t>
            </a:r>
            <a:r>
              <a:rPr lang="en-IN" sz="2000" baseline="-25000" dirty="0" err="1" smtClean="0"/>
              <a:t>if</a:t>
            </a:r>
            <a:r>
              <a:rPr lang="en-IN" sz="2000" dirty="0" smtClean="0"/>
              <a:t> by its corresponding rank,                      .</a:t>
            </a:r>
          </a:p>
          <a:p>
            <a:pPr>
              <a:buNone/>
            </a:pPr>
            <a:r>
              <a:rPr lang="en-IN" sz="2000" dirty="0" smtClean="0"/>
              <a:t>ii) Since each ordinal variable can have a different number of states, it is often necessary to map the range of each variable onto [0.0, 1.0] so that each variable has equal weight. This can be achieved by replacing the rank </a:t>
            </a:r>
            <a:r>
              <a:rPr lang="en-IN" sz="2000" dirty="0" err="1" smtClean="0"/>
              <a:t>r</a:t>
            </a:r>
            <a:r>
              <a:rPr lang="en-IN" sz="2000" baseline="-25000" dirty="0" err="1" smtClean="0"/>
              <a:t>if</a:t>
            </a:r>
            <a:r>
              <a:rPr lang="en-IN" sz="2000" dirty="0" smtClean="0"/>
              <a:t> of the f-</a:t>
            </a:r>
            <a:r>
              <a:rPr lang="en-IN" sz="2000" dirty="0" err="1" smtClean="0"/>
              <a:t>th</a:t>
            </a:r>
            <a:r>
              <a:rPr lang="en-IN" sz="2000" dirty="0" smtClean="0"/>
              <a:t> variable in the </a:t>
            </a:r>
            <a:r>
              <a:rPr lang="en-IN" sz="2000" dirty="0" err="1" smtClean="0"/>
              <a:t>i-th</a:t>
            </a:r>
            <a:r>
              <a:rPr lang="en-IN" sz="2000" dirty="0" smtClean="0"/>
              <a:t> object by</a:t>
            </a:r>
          </a:p>
          <a:p>
            <a:pPr>
              <a:buNone/>
            </a:pPr>
            <a:r>
              <a:rPr lang="en-IN" sz="2000" dirty="0" smtClean="0"/>
              <a:t>iii) Dissimilarity can then be computed using any of the distance measure techniques, where </a:t>
            </a:r>
            <a:r>
              <a:rPr lang="en-IN" sz="2000" dirty="0" err="1" smtClean="0"/>
              <a:t>z</a:t>
            </a:r>
            <a:r>
              <a:rPr lang="en-IN" sz="2000" baseline="-25000" dirty="0" err="1" smtClean="0"/>
              <a:t>if</a:t>
            </a:r>
            <a:r>
              <a:rPr lang="en-IN" sz="2000" dirty="0" smtClean="0"/>
              <a:t> is the f-value of the </a:t>
            </a:r>
            <a:r>
              <a:rPr lang="en-IN" sz="2000" dirty="0" err="1" smtClean="0"/>
              <a:t>i-th</a:t>
            </a:r>
            <a:r>
              <a:rPr lang="en-IN" sz="2000" dirty="0" smtClean="0"/>
              <a:t> object.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7B124B-24CA-4ED2-9A1D-3E801FCC035C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2201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20161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200400" y="3061784"/>
            <a:ext cx="1371600" cy="259266"/>
          </a:xfrm>
          <a:prstGeom prst="rect">
            <a:avLst/>
          </a:prstGeom>
          <a:noFill/>
        </p:spPr>
      </p:pic>
      <p:sp>
        <p:nvSpPr>
          <p:cNvPr id="220163" name="Rectangle 3"/>
          <p:cNvSpPr>
            <a:spLocks noChangeArrowheads="1"/>
          </p:cNvSpPr>
          <p:nvPr/>
        </p:nvSpPr>
        <p:spPr bwMode="auto">
          <a:xfrm>
            <a:off x="0" y="6540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0165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20164" name="Picture 4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543800" y="4191000"/>
            <a:ext cx="990600" cy="491207"/>
          </a:xfrm>
          <a:prstGeom prst="rect">
            <a:avLst/>
          </a:prstGeom>
          <a:noFill/>
        </p:spPr>
      </p:pic>
      <p:sp>
        <p:nvSpPr>
          <p:cNvPr id="220166" name="Rectangle 6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Ratio-Scaled 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382000" cy="5334000"/>
          </a:xfrm>
        </p:spPr>
        <p:txBody>
          <a:bodyPr/>
          <a:lstStyle/>
          <a:p>
            <a:r>
              <a:rPr lang="en-IN" sz="2000" dirty="0" smtClean="0"/>
              <a:t>A ratio-scaled variable makes a positive measurement on a nonlinear scale, such as an exponential scale, approximately following the formula                       , where A and B are positive constants. </a:t>
            </a:r>
          </a:p>
          <a:p>
            <a:r>
              <a:rPr lang="en-IN" sz="2000" dirty="0" smtClean="0"/>
              <a:t>Ex., the growth of a bacteria population, or the decay of a radioactive element. </a:t>
            </a:r>
          </a:p>
          <a:p>
            <a:r>
              <a:rPr lang="en-IN" sz="2000" dirty="0" smtClean="0">
                <a:solidFill>
                  <a:srgbClr val="FF0000"/>
                </a:solidFill>
              </a:rPr>
              <a:t>How to compute the dissimilarity? </a:t>
            </a:r>
            <a:r>
              <a:rPr lang="en-IN" sz="2000" dirty="0" smtClean="0"/>
              <a:t>Following 3 different ways:</a:t>
            </a:r>
          </a:p>
          <a:p>
            <a:pPr marL="514350" indent="-514350">
              <a:buAutoNum type="romanLcParenBoth"/>
            </a:pPr>
            <a:r>
              <a:rPr lang="en-IN" sz="1800" dirty="0" smtClean="0"/>
              <a:t>Treat ratio-scaled variables like interval-scaled variables. This, however, is not usually a good choice since it is likely that the scale may be distorted.</a:t>
            </a:r>
          </a:p>
          <a:p>
            <a:pPr marL="514350" indent="-514350">
              <a:buAutoNum type="romanLcParenBoth"/>
            </a:pPr>
            <a:r>
              <a:rPr lang="en-IN" sz="1800" dirty="0" smtClean="0"/>
              <a:t>Apply logarithmic transformation to a ratio-scaled variable f having value </a:t>
            </a:r>
            <a:r>
              <a:rPr lang="en-IN" sz="1800" dirty="0" err="1" smtClean="0"/>
              <a:t>x</a:t>
            </a:r>
            <a:r>
              <a:rPr lang="en-IN" sz="1800" baseline="-25000" dirty="0" err="1" smtClean="0"/>
              <a:t>if</a:t>
            </a:r>
            <a:r>
              <a:rPr lang="en-IN" sz="1800" dirty="0" smtClean="0"/>
              <a:t> for object </a:t>
            </a:r>
            <a:r>
              <a:rPr lang="en-IN" sz="1800" dirty="0" err="1" smtClean="0"/>
              <a:t>i</a:t>
            </a:r>
            <a:r>
              <a:rPr lang="en-IN" sz="1800" dirty="0" smtClean="0"/>
              <a:t> by using the formula </a:t>
            </a:r>
            <a:r>
              <a:rPr lang="en-IN" sz="1800" dirty="0" err="1" smtClean="0"/>
              <a:t>y</a:t>
            </a:r>
            <a:r>
              <a:rPr lang="en-IN" sz="1800" baseline="-25000" dirty="0" err="1" smtClean="0"/>
              <a:t>if</a:t>
            </a:r>
            <a:r>
              <a:rPr lang="en-IN" sz="1800" dirty="0" smtClean="0"/>
              <a:t> = log(</a:t>
            </a:r>
            <a:r>
              <a:rPr lang="en-IN" sz="1800" dirty="0" err="1" smtClean="0"/>
              <a:t>x</a:t>
            </a:r>
            <a:r>
              <a:rPr lang="en-IN" sz="1800" baseline="-25000" dirty="0" err="1" smtClean="0"/>
              <a:t>if</a:t>
            </a:r>
            <a:r>
              <a:rPr lang="en-IN" sz="1800" dirty="0" smtClean="0"/>
              <a:t>). Then the </a:t>
            </a:r>
            <a:r>
              <a:rPr lang="en-IN" sz="1800" dirty="0" err="1" smtClean="0"/>
              <a:t>y</a:t>
            </a:r>
            <a:r>
              <a:rPr lang="en-IN" sz="1800" baseline="-25000" dirty="0" err="1" smtClean="0"/>
              <a:t>if</a:t>
            </a:r>
            <a:r>
              <a:rPr lang="en-IN" sz="1800" dirty="0" smtClean="0"/>
              <a:t> values can be treated as interval-valued. Notice that for some ratio-scaled variables, log-log or other transformations may be applied, depending on the definition and application. </a:t>
            </a:r>
          </a:p>
          <a:p>
            <a:pPr marL="514350" indent="-514350">
              <a:buAutoNum type="romanLcParenBoth"/>
            </a:pPr>
            <a:r>
              <a:rPr lang="en-IN" sz="1800" dirty="0" smtClean="0"/>
              <a:t>Treat </a:t>
            </a:r>
            <a:r>
              <a:rPr lang="en-IN" sz="1800" dirty="0" err="1" smtClean="0"/>
              <a:t>x</a:t>
            </a:r>
            <a:r>
              <a:rPr lang="en-IN" sz="1800" baseline="-25000" dirty="0" err="1" smtClean="0"/>
              <a:t>if</a:t>
            </a:r>
            <a:r>
              <a:rPr lang="en-IN" sz="1800" dirty="0" smtClean="0"/>
              <a:t> as continuous ordinal data and treat their ranks as interval-valued.</a:t>
            </a:r>
            <a:endParaRPr lang="en-IN" sz="2000" dirty="0" smtClean="0"/>
          </a:p>
          <a:p>
            <a:r>
              <a:rPr lang="en-IN" sz="2000" dirty="0" smtClean="0"/>
              <a:t> The latter two methods are the most effective, although the choice of method used may be dependent on the given application.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7B124B-24CA-4ED2-9A1D-3E801FCC035C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22221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22209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730828" y="2057400"/>
            <a:ext cx="1469572" cy="304800"/>
          </a:xfrm>
          <a:prstGeom prst="rect">
            <a:avLst/>
          </a:prstGeom>
          <a:noFill/>
        </p:spPr>
      </p:pic>
      <p:sp>
        <p:nvSpPr>
          <p:cNvPr id="222211" name="Rectangle 3"/>
          <p:cNvSpPr>
            <a:spLocks noChangeArrowheads="1"/>
          </p:cNvSpPr>
          <p:nvPr/>
        </p:nvSpPr>
        <p:spPr bwMode="auto">
          <a:xfrm>
            <a:off x="0" y="635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Variables of Mixed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 smtClean="0"/>
              <a:t>In many real databases, objects are described by a mixture of variable types. In general, a database can contain all of the six variable types discussed earlier.</a:t>
            </a:r>
          </a:p>
          <a:p>
            <a:r>
              <a:rPr lang="en-IN" sz="2000" dirty="0" smtClean="0"/>
              <a:t>How can we compute the dissimilarity between objects with mixed type variables?</a:t>
            </a:r>
          </a:p>
          <a:p>
            <a:pPr marL="514350" indent="-514350">
              <a:buAutoNum type="romanLcParenR"/>
            </a:pPr>
            <a:r>
              <a:rPr lang="en-IN" sz="2000" dirty="0" smtClean="0"/>
              <a:t>Combine the different variables into a single dissimilarity matrix, bringing all the meaningful variables onto a common scale of the interval [0.0, 1.0]. </a:t>
            </a:r>
          </a:p>
          <a:p>
            <a:pPr marL="514350" indent="-514350">
              <a:buAutoNum type="romanLcParenR"/>
            </a:pPr>
            <a:r>
              <a:rPr lang="en-IN" sz="2000" dirty="0" smtClean="0"/>
              <a:t>Suppose that the data set contains p variables of mixed type. The dissimilarity d(</a:t>
            </a:r>
            <a:r>
              <a:rPr lang="en-IN" sz="2000" dirty="0" err="1" smtClean="0"/>
              <a:t>i,j</a:t>
            </a:r>
            <a:r>
              <a:rPr lang="en-IN" sz="2000" dirty="0" smtClean="0"/>
              <a:t>) between objects </a:t>
            </a:r>
            <a:r>
              <a:rPr lang="en-IN" sz="2000" dirty="0" err="1" smtClean="0"/>
              <a:t>i</a:t>
            </a:r>
            <a:r>
              <a:rPr lang="en-IN" sz="2000" dirty="0" smtClean="0"/>
              <a:t> and j is defined as:</a:t>
            </a:r>
          </a:p>
          <a:p>
            <a:r>
              <a:rPr lang="en-IN" sz="2000" dirty="0" smtClean="0"/>
              <a:t>                           , where the indicator            if either (1) </a:t>
            </a:r>
            <a:r>
              <a:rPr lang="en-IN" sz="2000" dirty="0" err="1" smtClean="0"/>
              <a:t>x</a:t>
            </a:r>
            <a:r>
              <a:rPr lang="en-IN" sz="2000" baseline="-25000" dirty="0" err="1" smtClean="0"/>
              <a:t>if</a:t>
            </a:r>
            <a:r>
              <a:rPr lang="en-IN" sz="2000" dirty="0" smtClean="0"/>
              <a:t> or </a:t>
            </a:r>
            <a:r>
              <a:rPr lang="en-IN" sz="2000" dirty="0" err="1" smtClean="0"/>
              <a:t>x</a:t>
            </a:r>
            <a:r>
              <a:rPr lang="en-IN" sz="2000" baseline="-25000" dirty="0" err="1" smtClean="0"/>
              <a:t>jf</a:t>
            </a:r>
            <a:r>
              <a:rPr lang="en-IN" sz="2000" dirty="0" smtClean="0"/>
              <a:t> is</a:t>
            </a:r>
          </a:p>
          <a:p>
            <a:endParaRPr lang="en-IN" sz="2000" dirty="0" smtClean="0"/>
          </a:p>
          <a:p>
            <a:pPr>
              <a:buNone/>
            </a:pPr>
            <a:r>
              <a:rPr lang="en-IN" sz="2000" dirty="0" smtClean="0"/>
              <a:t> missing, or (2) </a:t>
            </a:r>
            <a:r>
              <a:rPr lang="en-IN" sz="2000" dirty="0" err="1" smtClean="0"/>
              <a:t>x</a:t>
            </a:r>
            <a:r>
              <a:rPr lang="en-IN" sz="2000" baseline="-25000" dirty="0" err="1" smtClean="0"/>
              <a:t>if</a:t>
            </a:r>
            <a:r>
              <a:rPr lang="en-IN" sz="2000" dirty="0" smtClean="0"/>
              <a:t> = </a:t>
            </a:r>
            <a:r>
              <a:rPr lang="en-IN" sz="2000" dirty="0" err="1" smtClean="0"/>
              <a:t>x</a:t>
            </a:r>
            <a:r>
              <a:rPr lang="en-IN" sz="2000" baseline="-25000" dirty="0" err="1" smtClean="0"/>
              <a:t>jf</a:t>
            </a:r>
            <a:r>
              <a:rPr lang="en-IN" sz="2000" dirty="0" smtClean="0"/>
              <a:t> =0 and variable f is asymmetric binary; otherwise                              </a:t>
            </a:r>
          </a:p>
          <a:p>
            <a:pPr>
              <a:buNone/>
            </a:pPr>
            <a:r>
              <a:rPr lang="en-IN" sz="2000" dirty="0" smtClean="0"/>
              <a:t> 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7B124B-24CA-4ED2-9A1D-3E801FCC035C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22323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23233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90600" y="4648200"/>
            <a:ext cx="1600200" cy="609601"/>
          </a:xfrm>
          <a:prstGeom prst="rect">
            <a:avLst/>
          </a:prstGeom>
          <a:noFill/>
        </p:spPr>
      </p:pic>
      <p:sp>
        <p:nvSpPr>
          <p:cNvPr id="223235" name="Rectangle 3"/>
          <p:cNvSpPr>
            <a:spLocks noChangeArrowheads="1"/>
          </p:cNvSpPr>
          <p:nvPr/>
        </p:nvSpPr>
        <p:spPr bwMode="auto">
          <a:xfrm>
            <a:off x="0" y="965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3237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23236" name="Picture 4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105400" y="4743450"/>
            <a:ext cx="609600" cy="304800"/>
          </a:xfrm>
          <a:prstGeom prst="rect">
            <a:avLst/>
          </a:prstGeom>
          <a:noFill/>
        </p:spPr>
      </p:pic>
      <p:sp>
        <p:nvSpPr>
          <p:cNvPr id="223238" name="Rectangle 6"/>
          <p:cNvSpPr>
            <a:spLocks noChangeArrowheads="1"/>
          </p:cNvSpPr>
          <p:nvPr/>
        </p:nvSpPr>
        <p:spPr bwMode="auto">
          <a:xfrm>
            <a:off x="0" y="7048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3240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23239" name="Picture 7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33400" y="5867400"/>
            <a:ext cx="800100" cy="400050"/>
          </a:xfrm>
          <a:prstGeom prst="rect">
            <a:avLst/>
          </a:prstGeom>
          <a:noFill/>
        </p:spPr>
      </p:pic>
      <p:sp>
        <p:nvSpPr>
          <p:cNvPr id="223241" name="Rectangle 9"/>
          <p:cNvSpPr>
            <a:spLocks noChangeArrowheads="1"/>
          </p:cNvSpPr>
          <p:nvPr/>
        </p:nvSpPr>
        <p:spPr bwMode="auto">
          <a:xfrm>
            <a:off x="0" y="7048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5105400" cy="609600"/>
          </a:xfrm>
        </p:spPr>
        <p:txBody>
          <a:bodyPr/>
          <a:lstStyle/>
          <a:p>
            <a:r>
              <a:rPr lang="en-IN" sz="2800" dirty="0" smtClean="0"/>
              <a:t>Variables of Mixed Types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 smtClean="0"/>
              <a:t>The dissimilarity       is computed as follows:</a:t>
            </a:r>
          </a:p>
          <a:p>
            <a:pPr marL="514350" indent="-514350">
              <a:buAutoNum type="romanLcParenR"/>
            </a:pPr>
            <a:r>
              <a:rPr lang="en-IN" sz="2000" dirty="0" smtClean="0"/>
              <a:t>If f is binary or nominal:      =0 if </a:t>
            </a:r>
            <a:r>
              <a:rPr lang="en-IN" sz="2000" dirty="0" err="1" smtClean="0"/>
              <a:t>x</a:t>
            </a:r>
            <a:r>
              <a:rPr lang="en-IN" sz="2000" baseline="-25000" dirty="0" err="1" smtClean="0"/>
              <a:t>if</a:t>
            </a:r>
            <a:r>
              <a:rPr lang="en-IN" sz="2000" dirty="0" smtClean="0"/>
              <a:t>=</a:t>
            </a:r>
            <a:r>
              <a:rPr lang="en-IN" sz="2000" dirty="0" err="1" smtClean="0"/>
              <a:t>x</a:t>
            </a:r>
            <a:r>
              <a:rPr lang="en-IN" sz="2000" baseline="-25000" dirty="0" err="1" smtClean="0"/>
              <a:t>jf</a:t>
            </a:r>
            <a:r>
              <a:rPr lang="en-IN" sz="2000" baseline="-25000" dirty="0" smtClean="0"/>
              <a:t> </a:t>
            </a:r>
            <a:r>
              <a:rPr lang="en-IN" sz="2000" dirty="0" smtClean="0"/>
              <a:t>; otherwise      =1 </a:t>
            </a:r>
          </a:p>
          <a:p>
            <a:pPr marL="514350" indent="-514350">
              <a:buAutoNum type="romanLcParenR"/>
            </a:pPr>
            <a:r>
              <a:rPr lang="en-IN" sz="2000" dirty="0" smtClean="0"/>
              <a:t>If f is interval-based:                           , where h runs over all </a:t>
            </a:r>
            <a:r>
              <a:rPr lang="en-IN" sz="2000" dirty="0" err="1" smtClean="0"/>
              <a:t>nonmissing</a:t>
            </a:r>
            <a:r>
              <a:rPr lang="en-IN" sz="2000" dirty="0" smtClean="0"/>
              <a:t> objects for variable f.</a:t>
            </a:r>
          </a:p>
          <a:p>
            <a:pPr marL="514350" indent="-514350">
              <a:buAutoNum type="romanLcParenR"/>
            </a:pPr>
            <a:r>
              <a:rPr lang="en-IN" sz="2000" dirty="0" smtClean="0"/>
              <a:t>If f is ordinal or ratio-scaled: Computes the ranks  </a:t>
            </a:r>
            <a:r>
              <a:rPr lang="en-IN" sz="2000" dirty="0" err="1" smtClean="0"/>
              <a:t>r</a:t>
            </a:r>
            <a:r>
              <a:rPr lang="en-IN" sz="2000" baseline="-25000" dirty="0" err="1" smtClean="0"/>
              <a:t>if</a:t>
            </a:r>
            <a:r>
              <a:rPr lang="en-IN" sz="2000" dirty="0" smtClean="0"/>
              <a:t> and                 , and treat </a:t>
            </a:r>
            <a:r>
              <a:rPr lang="en-IN" sz="2000" dirty="0" err="1" smtClean="0"/>
              <a:t>z</a:t>
            </a:r>
            <a:r>
              <a:rPr lang="en-IN" sz="2000" baseline="-25000" dirty="0" err="1" smtClean="0"/>
              <a:t>if</a:t>
            </a:r>
            <a:r>
              <a:rPr lang="en-IN" sz="2000" dirty="0" smtClean="0"/>
              <a:t> as interval scaled.      </a:t>
            </a:r>
          </a:p>
          <a:p>
            <a:pPr marL="514350" indent="-514350">
              <a:buAutoNum type="romanLcParenR"/>
            </a:pPr>
            <a:endParaRPr lang="en-IN" sz="2000" dirty="0" smtClean="0"/>
          </a:p>
          <a:p>
            <a:pPr marL="514350" indent="-514350"/>
            <a:r>
              <a:rPr lang="en-IN" sz="2000" dirty="0" smtClean="0"/>
              <a:t>Thus the dissimilarity between objects can be computed even when the variables describing the objects are of different types.                  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7B124B-24CA-4ED2-9A1D-3E801FCC035C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248400" y="381000"/>
            <a:ext cx="2133600" cy="812801"/>
          </a:xfrm>
          <a:prstGeom prst="rect">
            <a:avLst/>
          </a:prstGeom>
          <a:noFill/>
        </p:spPr>
      </p:pic>
      <p:sp>
        <p:nvSpPr>
          <p:cNvPr id="22425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24257" name="Picture 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743200" y="1447800"/>
            <a:ext cx="317500" cy="325855"/>
          </a:xfrm>
          <a:prstGeom prst="rect">
            <a:avLst/>
          </a:prstGeom>
          <a:noFill/>
        </p:spPr>
      </p:pic>
      <p:sp>
        <p:nvSpPr>
          <p:cNvPr id="22426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24259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644900" y="1828800"/>
            <a:ext cx="317500" cy="325855"/>
          </a:xfrm>
          <a:prstGeom prst="rect">
            <a:avLst/>
          </a:prstGeom>
          <a:noFill/>
        </p:spPr>
      </p:pic>
      <p:sp>
        <p:nvSpPr>
          <p:cNvPr id="22426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24261" name="Picture 5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477000" y="1752600"/>
            <a:ext cx="304800" cy="312821"/>
          </a:xfrm>
          <a:prstGeom prst="rect">
            <a:avLst/>
          </a:prstGeom>
          <a:noFill/>
        </p:spPr>
      </p:pic>
      <p:sp>
        <p:nvSpPr>
          <p:cNvPr id="224264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24263" name="Picture 7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276600" y="2133599"/>
            <a:ext cx="1752600" cy="396815"/>
          </a:xfrm>
          <a:prstGeom prst="rect">
            <a:avLst/>
          </a:prstGeom>
          <a:noFill/>
        </p:spPr>
      </p:pic>
      <p:sp>
        <p:nvSpPr>
          <p:cNvPr id="224265" name="Rectangle 9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4267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4268" name="Rectangle 12"/>
          <p:cNvSpPr>
            <a:spLocks noChangeArrowheads="1"/>
          </p:cNvSpPr>
          <p:nvPr/>
        </p:nvSpPr>
        <p:spPr bwMode="auto">
          <a:xfrm>
            <a:off x="0" y="838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391400" y="2743200"/>
            <a:ext cx="990600" cy="491207"/>
          </a:xfrm>
          <a:prstGeom prst="rect">
            <a:avLst/>
          </a:prstGeom>
          <a:noFill/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304800"/>
            <a:ext cx="6324600" cy="6858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sz="3200" smtClean="0"/>
              <a:t>Major Clustering Approaches (I)</a:t>
            </a:r>
            <a:endParaRPr lang="en-US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534400" cy="51054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sz="2400" u="sng" dirty="0" smtClean="0"/>
              <a:t>Partitioning approach</a:t>
            </a:r>
            <a:r>
              <a:rPr lang="en-US" sz="2400" dirty="0" smtClean="0"/>
              <a:t>: </a:t>
            </a:r>
          </a:p>
          <a:p>
            <a:pPr lvl="1" eaLnBrk="1" hangingPunct="1"/>
            <a:r>
              <a:rPr lang="en-US" sz="2400" dirty="0" smtClean="0"/>
              <a:t>Construct various partitions and then evaluate them by some criterion, e.g., minimizing the sum of square errors</a:t>
            </a:r>
          </a:p>
          <a:p>
            <a:pPr lvl="1" eaLnBrk="1" hangingPunct="1"/>
            <a:r>
              <a:rPr lang="en-US" sz="2400" dirty="0" smtClean="0"/>
              <a:t>Typical methods: k-means, k-</a:t>
            </a:r>
            <a:r>
              <a:rPr lang="en-US" sz="2400" dirty="0" err="1" smtClean="0"/>
              <a:t>medoids</a:t>
            </a:r>
            <a:r>
              <a:rPr lang="en-US" sz="2400" dirty="0" smtClean="0"/>
              <a:t>, CLARANS</a:t>
            </a:r>
          </a:p>
          <a:p>
            <a:pPr eaLnBrk="1" hangingPunct="1"/>
            <a:r>
              <a:rPr lang="en-US" sz="2400" u="sng" dirty="0" smtClean="0"/>
              <a:t>Density-based approach</a:t>
            </a:r>
            <a:r>
              <a:rPr lang="en-US" sz="2400" dirty="0" smtClean="0"/>
              <a:t>: </a:t>
            </a:r>
          </a:p>
          <a:p>
            <a:pPr lvl="1" eaLnBrk="1" hangingPunct="1"/>
            <a:r>
              <a:rPr lang="en-US" sz="2400" dirty="0" smtClean="0"/>
              <a:t>Based on connectivity and density functions</a:t>
            </a:r>
          </a:p>
          <a:p>
            <a:pPr lvl="1" eaLnBrk="1" hangingPunct="1"/>
            <a:r>
              <a:rPr lang="en-US" sz="2400" dirty="0" smtClean="0"/>
              <a:t>Typical methods: DBSACN, OPTICS, </a:t>
            </a:r>
            <a:r>
              <a:rPr lang="en-US" sz="2400" dirty="0" err="1" smtClean="0"/>
              <a:t>DenClue</a:t>
            </a:r>
            <a:endParaRPr lang="en-US" sz="2400" dirty="0" smtClean="0"/>
          </a:p>
          <a:p>
            <a:pPr eaLnBrk="1" hangingPunct="1"/>
            <a:r>
              <a:rPr lang="en-US" sz="2400" u="sng" dirty="0" smtClean="0"/>
              <a:t>Hierarchical approach</a:t>
            </a:r>
            <a:r>
              <a:rPr lang="en-US" sz="2400" dirty="0" smtClean="0"/>
              <a:t>: </a:t>
            </a:r>
          </a:p>
          <a:p>
            <a:pPr lvl="1" eaLnBrk="1" hangingPunct="1"/>
            <a:r>
              <a:rPr lang="en-US" sz="2400" dirty="0" smtClean="0"/>
              <a:t>Create a hierarchical decomposition of the set of data (or objects) using some criterion</a:t>
            </a:r>
          </a:p>
          <a:p>
            <a:pPr lvl="1" eaLnBrk="1" hangingPunct="1"/>
            <a:r>
              <a:rPr lang="en-US" sz="2400" dirty="0" smtClean="0"/>
              <a:t>Typical methods: Agnes, Diana, BIRCH, CAMELEON</a:t>
            </a:r>
          </a:p>
          <a:p>
            <a:pPr lvl="1" eaLnBrk="1" hangingPunct="1">
              <a:buNone/>
            </a:pPr>
            <a:endParaRPr lang="en-US" sz="2400" dirty="0" smtClean="0"/>
          </a:p>
        </p:txBody>
      </p:sp>
      <p:sp>
        <p:nvSpPr>
          <p:cNvPr id="1434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A268F60-1455-4975-9D8D-D38EF0B22650}" type="slidenum">
              <a:rPr lang="en-US" smtClean="0"/>
              <a:pPr/>
              <a:t>19</a:t>
            </a:fld>
            <a:endParaRPr lang="en-US" smtClean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381000"/>
            <a:ext cx="6324600" cy="6858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sz="3200" smtClean="0"/>
              <a:t>Major Clustering Approaches (II)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534400" cy="52578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sz="2400" u="sng" dirty="0" smtClean="0"/>
              <a:t>Grid-based approach</a:t>
            </a:r>
            <a:r>
              <a:rPr lang="en-US" sz="2400" dirty="0" smtClean="0"/>
              <a:t>: </a:t>
            </a:r>
          </a:p>
          <a:p>
            <a:pPr lvl="1" eaLnBrk="1" hangingPunct="1"/>
            <a:r>
              <a:rPr lang="en-US" sz="2400" dirty="0" smtClean="0"/>
              <a:t>based on a multiple-level granularity structure</a:t>
            </a:r>
          </a:p>
          <a:p>
            <a:pPr lvl="1" eaLnBrk="1" hangingPunct="1"/>
            <a:r>
              <a:rPr lang="en-US" sz="2400" dirty="0" smtClean="0"/>
              <a:t>Typical methods: STING, </a:t>
            </a:r>
            <a:r>
              <a:rPr lang="en-US" sz="2400" dirty="0" err="1" smtClean="0"/>
              <a:t>WaveCluster</a:t>
            </a:r>
            <a:r>
              <a:rPr lang="en-US" sz="2400" dirty="0" smtClean="0"/>
              <a:t>, CLIQUE</a:t>
            </a:r>
          </a:p>
          <a:p>
            <a:pPr eaLnBrk="1" hangingPunct="1"/>
            <a:r>
              <a:rPr lang="en-US" sz="2400" u="sng" dirty="0" smtClean="0"/>
              <a:t>Model-based approach </a:t>
            </a:r>
            <a:r>
              <a:rPr lang="en-US" sz="2400" dirty="0" smtClean="0"/>
              <a:t>: </a:t>
            </a:r>
          </a:p>
          <a:p>
            <a:pPr lvl="1" eaLnBrk="1" hangingPunct="1"/>
            <a:r>
              <a:rPr lang="en-US" sz="2400" dirty="0" smtClean="0"/>
              <a:t>A model is hypothesized for each of the clusters and tries to find the best fit of that model to each other</a:t>
            </a:r>
          </a:p>
          <a:p>
            <a:pPr lvl="1" eaLnBrk="1" hangingPunct="1"/>
            <a:r>
              <a:rPr lang="en-US" sz="2400" dirty="0" smtClean="0"/>
              <a:t>Typical methods:</a:t>
            </a:r>
            <a:r>
              <a:rPr lang="en-US" sz="2400" b="1" dirty="0" smtClean="0"/>
              <a:t> </a:t>
            </a:r>
            <a:r>
              <a:rPr lang="en-US" sz="2400" dirty="0" smtClean="0"/>
              <a:t>EM, SOM, COBWEB</a:t>
            </a:r>
          </a:p>
        </p:txBody>
      </p:sp>
      <p:sp>
        <p:nvSpPr>
          <p:cNvPr id="1536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DC3EC45-6633-4765-8D5B-0E2CA91B9FCF}" type="slidenum">
              <a:rPr lang="en-US" smtClean="0"/>
              <a:pPr/>
              <a:t>20</a:t>
            </a:fld>
            <a:endParaRPr lang="en-US" smtClean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/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39F986E-9D7F-474B-A6FE-618BE20FA13C}" type="slidenum">
              <a:rPr lang="en-US" sz="1200"/>
              <a:pPr algn="r"/>
              <a:t>21</a:t>
            </a:fld>
            <a:endParaRPr lang="en-US" sz="120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52400"/>
            <a:ext cx="9144000" cy="9906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AU" altLang="zh-TW" sz="3200" dirty="0" smtClean="0">
                <a:ea typeface="PMingLiU" pitchFamily="18" charset="-120"/>
              </a:rPr>
              <a:t>Cluster Analysis</a:t>
            </a:r>
            <a:endParaRPr lang="en-US" sz="3200" dirty="0" smtClean="0">
              <a:ea typeface="PMingLiU" pitchFamily="18" charset="-120"/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371600"/>
            <a:ext cx="8223250" cy="5181600"/>
          </a:xfrm>
          <a:noFill/>
        </p:spPr>
        <p:txBody>
          <a:bodyPr lIns="92075" tIns="46038" rIns="92075" bIns="46038"/>
          <a:lstStyle/>
          <a:p>
            <a:pPr marL="533400" indent="-533400">
              <a:lnSpc>
                <a:spcPct val="150000"/>
              </a:lnSpc>
            </a:pPr>
            <a:r>
              <a:rPr lang="en-US" dirty="0" smtClean="0">
                <a:latin typeface="Calibri" pitchFamily="34" charset="0"/>
              </a:rPr>
              <a:t>Cluster Analysis: Basic Concepts</a:t>
            </a:r>
          </a:p>
          <a:p>
            <a:pPr marL="533400" indent="-533400">
              <a:lnSpc>
                <a:spcPct val="150000"/>
              </a:lnSpc>
            </a:pPr>
            <a:r>
              <a:rPr lang="en-US" dirty="0" smtClean="0">
                <a:latin typeface="Calibri" pitchFamily="34" charset="0"/>
              </a:rPr>
              <a:t>Partitioning Methods</a:t>
            </a:r>
          </a:p>
          <a:p>
            <a:pPr marL="533400" indent="-533400">
              <a:lnSpc>
                <a:spcPct val="150000"/>
              </a:lnSpc>
            </a:pPr>
            <a:r>
              <a:rPr lang="en-US" dirty="0" smtClean="0">
                <a:latin typeface="Calibri" pitchFamily="34" charset="0"/>
              </a:rPr>
              <a:t>Hierarchical Methods</a:t>
            </a:r>
          </a:p>
          <a:p>
            <a:pPr marL="533400" indent="-533400">
              <a:lnSpc>
                <a:spcPct val="150000"/>
              </a:lnSpc>
            </a:pPr>
            <a:r>
              <a:rPr lang="en-US" dirty="0" smtClean="0">
                <a:latin typeface="Calibri" pitchFamily="34" charset="0"/>
              </a:rPr>
              <a:t>Density-Based Methods</a:t>
            </a:r>
          </a:p>
          <a:p>
            <a:pPr marL="533400" indent="-533400">
              <a:lnSpc>
                <a:spcPct val="150000"/>
              </a:lnSpc>
            </a:pPr>
            <a:r>
              <a:rPr lang="en-US" dirty="0" smtClean="0">
                <a:latin typeface="Calibri" pitchFamily="34" charset="0"/>
              </a:rPr>
              <a:t>Evaluation of Clustering</a:t>
            </a:r>
          </a:p>
          <a:p>
            <a:pPr marL="533400" indent="-533400">
              <a:lnSpc>
                <a:spcPct val="150000"/>
              </a:lnSpc>
            </a:pPr>
            <a:r>
              <a:rPr lang="en-US" dirty="0" smtClean="0">
                <a:latin typeface="Calibri" pitchFamily="34" charset="0"/>
              </a:rPr>
              <a:t>Summary</a:t>
            </a:r>
          </a:p>
        </p:txBody>
      </p:sp>
      <p:sp>
        <p:nvSpPr>
          <p:cNvPr id="16389" name="AutoShape 5"/>
          <p:cNvSpPr>
            <a:spLocks noChangeArrowheads="1"/>
          </p:cNvSpPr>
          <p:nvPr/>
        </p:nvSpPr>
        <p:spPr bwMode="auto">
          <a:xfrm rot="9867012">
            <a:off x="4419600" y="2209800"/>
            <a:ext cx="304800" cy="381000"/>
          </a:xfrm>
          <a:prstGeom prst="notchedRightArrow">
            <a:avLst>
              <a:gd name="adj1" fmla="val 50000"/>
              <a:gd name="adj2" fmla="val 25000"/>
            </a:avLst>
          </a:prstGeom>
          <a:solidFill>
            <a:srgbClr val="00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/>
          <a:p>
            <a:endParaRPr lang="en-US"/>
          </a:p>
        </p:txBody>
      </p:sp>
      <p:sp>
        <p:nvSpPr>
          <p:cNvPr id="16390" name="Slide Number Placeholder 5"/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B7852712-FC3F-412C-91BA-83C51EE214B3}" type="slidenum">
              <a:rPr lang="en-US" sz="1200"/>
              <a:pPr algn="r"/>
              <a:t>21</a:t>
            </a:fld>
            <a:endParaRPr lang="en-US" sz="120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sz="3200" smtClean="0"/>
              <a:t>Partitioning Algorithms: Basic Concept</a:t>
            </a:r>
            <a:endParaRPr lang="en-US" sz="2800" b="1" smtClean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219200"/>
            <a:ext cx="8686800" cy="52578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en-US" sz="2400" u="sng" dirty="0" smtClean="0"/>
              <a:t>Partitioning method:</a:t>
            </a:r>
            <a:r>
              <a:rPr lang="en-US" sz="2400" dirty="0" smtClean="0"/>
              <a:t> Partitioning a database </a:t>
            </a:r>
            <a:r>
              <a:rPr lang="en-US" sz="2400" b="1" i="1" dirty="0" smtClean="0"/>
              <a:t>D</a:t>
            </a:r>
            <a:r>
              <a:rPr lang="en-US" sz="2400" dirty="0" smtClean="0"/>
              <a:t> of </a:t>
            </a:r>
            <a:r>
              <a:rPr lang="en-US" sz="2400" b="1" i="1" dirty="0" smtClean="0"/>
              <a:t>n</a:t>
            </a:r>
            <a:r>
              <a:rPr lang="en-US" sz="2400" dirty="0" smtClean="0"/>
              <a:t> objects into a set of </a:t>
            </a:r>
            <a:r>
              <a:rPr lang="en-US" sz="2400" b="1" i="1" dirty="0" smtClean="0"/>
              <a:t>k</a:t>
            </a:r>
            <a:r>
              <a:rPr lang="en-US" sz="2400" dirty="0" smtClean="0"/>
              <a:t> clusters, such that the sum of squared distances is minimized (where </a:t>
            </a:r>
            <a:r>
              <a:rPr lang="en-US" sz="2400" dirty="0" err="1" smtClean="0"/>
              <a:t>c</a:t>
            </a:r>
            <a:r>
              <a:rPr lang="en-US" sz="2400" baseline="-25000" dirty="0" err="1" smtClean="0"/>
              <a:t>i</a:t>
            </a:r>
            <a:r>
              <a:rPr lang="en-US" sz="2400" dirty="0" smtClean="0"/>
              <a:t> is the </a:t>
            </a:r>
            <a:r>
              <a:rPr lang="en-US" sz="2400" dirty="0" err="1" smtClean="0"/>
              <a:t>centroid</a:t>
            </a:r>
            <a:r>
              <a:rPr lang="en-US" sz="2400" dirty="0" smtClean="0"/>
              <a:t> or </a:t>
            </a:r>
            <a:r>
              <a:rPr lang="en-US" sz="2400" dirty="0" err="1" smtClean="0"/>
              <a:t>medoid</a:t>
            </a:r>
            <a:r>
              <a:rPr lang="en-US" sz="2400" dirty="0" smtClean="0"/>
              <a:t> of cluster </a:t>
            </a:r>
            <a:r>
              <a:rPr lang="en-US" sz="2400" dirty="0" err="1" smtClean="0"/>
              <a:t>C</a:t>
            </a:r>
            <a:r>
              <a:rPr lang="en-US" sz="2400" baseline="-25000" dirty="0" err="1" smtClean="0"/>
              <a:t>i</a:t>
            </a:r>
            <a:r>
              <a:rPr lang="en-US" sz="2400" dirty="0" smtClean="0"/>
              <a:t>)</a:t>
            </a:r>
          </a:p>
          <a:p>
            <a:pPr eaLnBrk="1" hangingPunct="1">
              <a:lnSpc>
                <a:spcPct val="110000"/>
              </a:lnSpc>
            </a:pPr>
            <a:r>
              <a:rPr lang="en-US" sz="2400" dirty="0" smtClean="0"/>
              <a:t>Given </a:t>
            </a:r>
            <a:r>
              <a:rPr lang="en-US" sz="2400" i="1" dirty="0" smtClean="0"/>
              <a:t>k</a:t>
            </a:r>
            <a:r>
              <a:rPr lang="en-US" sz="2400" dirty="0" smtClean="0"/>
              <a:t>, find a partition of </a:t>
            </a:r>
            <a:r>
              <a:rPr lang="en-US" sz="2400" i="1" dirty="0" smtClean="0"/>
              <a:t>k clusters </a:t>
            </a:r>
            <a:r>
              <a:rPr lang="en-US" sz="2400" dirty="0" smtClean="0"/>
              <a:t>that optimizes the chosen partitioning criterion</a:t>
            </a:r>
          </a:p>
          <a:p>
            <a:pPr lvl="1" eaLnBrk="1" hangingPunct="1">
              <a:lnSpc>
                <a:spcPct val="110000"/>
              </a:lnSpc>
            </a:pPr>
            <a:r>
              <a:rPr lang="en-US" sz="2400" dirty="0" smtClean="0"/>
              <a:t>Global optimal: exhaustively enumerate all partitions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sz="2400" dirty="0" smtClean="0"/>
              <a:t>Heuristic methods: </a:t>
            </a:r>
            <a:r>
              <a:rPr lang="en-US" sz="2400" i="1" dirty="0" smtClean="0"/>
              <a:t>k-means</a:t>
            </a:r>
            <a:r>
              <a:rPr lang="en-US" sz="2400" dirty="0" smtClean="0"/>
              <a:t> and </a:t>
            </a:r>
            <a:r>
              <a:rPr lang="en-US" sz="2400" i="1" dirty="0" smtClean="0"/>
              <a:t>k-</a:t>
            </a:r>
            <a:r>
              <a:rPr lang="en-US" sz="2400" i="1" dirty="0" err="1" smtClean="0"/>
              <a:t>medoids</a:t>
            </a:r>
            <a:r>
              <a:rPr lang="en-US" sz="2400" dirty="0" smtClean="0"/>
              <a:t> algorithms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sz="2400" i="1" u="sng" dirty="0" smtClean="0"/>
              <a:t>k-means</a:t>
            </a:r>
            <a:r>
              <a:rPr lang="en-US" sz="2400" dirty="0" smtClean="0"/>
              <a:t> :Each cluster is represented by the center of the cluster</a:t>
            </a:r>
          </a:p>
          <a:p>
            <a:pPr lvl="1" eaLnBrk="1" hangingPunct="1">
              <a:lnSpc>
                <a:spcPct val="110000"/>
              </a:lnSpc>
            </a:pPr>
            <a:r>
              <a:rPr lang="en-US" sz="2400" i="1" u="sng" dirty="0" smtClean="0"/>
              <a:t>k-</a:t>
            </a:r>
            <a:r>
              <a:rPr lang="en-US" sz="2400" i="1" u="sng" dirty="0" err="1" smtClean="0"/>
              <a:t>medoids</a:t>
            </a:r>
            <a:r>
              <a:rPr lang="en-US" sz="2400" dirty="0" smtClean="0"/>
              <a:t> or PAM (Partition around </a:t>
            </a:r>
            <a:r>
              <a:rPr lang="en-US" sz="2400" dirty="0" err="1" smtClean="0"/>
              <a:t>medoids</a:t>
            </a:r>
            <a:r>
              <a:rPr lang="en-US" sz="2400" dirty="0" smtClean="0"/>
              <a:t>) : Each cluster is represented by one of the objects in the cluster  </a:t>
            </a:r>
          </a:p>
        </p:txBody>
      </p:sp>
      <p:graphicFrame>
        <p:nvGraphicFramePr>
          <p:cNvPr id="17412" name="Object 4"/>
          <p:cNvGraphicFramePr>
            <a:graphicFrameLocks noChangeAspect="1"/>
          </p:cNvGraphicFramePr>
          <p:nvPr>
            <p:ph sz="half" idx="2"/>
          </p:nvPr>
        </p:nvGraphicFramePr>
        <p:xfrm>
          <a:off x="3124200" y="2438400"/>
          <a:ext cx="2851150" cy="542925"/>
        </p:xfrm>
        <a:graphic>
          <a:graphicData uri="http://schemas.openxmlformats.org/presentationml/2006/ole">
            <p:oleObj spid="_x0000_s17412" name="Equation" r:id="rId4" imgW="1333500" imgH="254000" progId="Equation.3">
              <p:embed/>
            </p:oleObj>
          </a:graphicData>
        </a:graphic>
      </p:graphicFrame>
      <p:sp>
        <p:nvSpPr>
          <p:cNvPr id="17413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6347810-FD41-4A6F-B22C-4098DCBAEC6F}" type="slidenum">
              <a:rPr lang="en-US" smtClean="0"/>
              <a:pPr/>
              <a:t>22</a:t>
            </a:fld>
            <a:endParaRPr lang="en-US" smtClean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822325" y="492125"/>
            <a:ext cx="7296150" cy="498475"/>
          </a:xfrm>
        </p:spPr>
        <p:txBody>
          <a:bodyPr/>
          <a:lstStyle/>
          <a:p>
            <a:pPr eaLnBrk="1" hangingPunct="1"/>
            <a:r>
              <a:rPr lang="en-US" sz="3200" smtClean="0"/>
              <a:t>The </a:t>
            </a:r>
            <a:r>
              <a:rPr lang="en-US" sz="3200" i="1" smtClean="0"/>
              <a:t>K-Means</a:t>
            </a:r>
            <a:r>
              <a:rPr lang="en-US" sz="3200" smtClean="0"/>
              <a:t> Clustering Method</a:t>
            </a:r>
            <a:r>
              <a:rPr lang="en-US" sz="2400" b="1" smtClean="0"/>
              <a:t> </a:t>
            </a:r>
            <a:endParaRPr lang="en-US" sz="2800" smtClean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7851775" cy="48006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sz="2400" dirty="0" smtClean="0"/>
              <a:t>Given </a:t>
            </a:r>
            <a:r>
              <a:rPr lang="en-US" sz="2400" i="1" dirty="0" smtClean="0"/>
              <a:t>k</a:t>
            </a:r>
            <a:r>
              <a:rPr lang="en-US" sz="2400" dirty="0" smtClean="0"/>
              <a:t>, the </a:t>
            </a:r>
            <a:r>
              <a:rPr lang="en-US" sz="2400" i="1" dirty="0" smtClean="0"/>
              <a:t>k-means</a:t>
            </a:r>
            <a:r>
              <a:rPr lang="en-US" sz="2400" dirty="0" smtClean="0"/>
              <a:t> algorithm is implemented in four steps: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Step 1:</a:t>
            </a:r>
            <a:r>
              <a:rPr lang="en-US" sz="2400" dirty="0" smtClean="0">
                <a:solidFill>
                  <a:srgbClr val="000000"/>
                </a:solidFill>
              </a:rPr>
              <a:t> Partition objects into </a:t>
            </a:r>
            <a:r>
              <a:rPr lang="en-US" sz="2400" i="1" dirty="0" smtClean="0">
                <a:solidFill>
                  <a:srgbClr val="000000"/>
                </a:solidFill>
              </a:rPr>
              <a:t>k</a:t>
            </a:r>
            <a:r>
              <a:rPr lang="en-US" sz="2400" dirty="0" smtClean="0">
                <a:solidFill>
                  <a:srgbClr val="000000"/>
                </a:solidFill>
              </a:rPr>
              <a:t> nonempty subsets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Step 2:</a:t>
            </a:r>
            <a:r>
              <a:rPr lang="en-US" sz="2400" dirty="0" smtClean="0">
                <a:solidFill>
                  <a:srgbClr val="000000"/>
                </a:solidFill>
              </a:rPr>
              <a:t> Compute seed points as the </a:t>
            </a:r>
            <a:r>
              <a:rPr lang="en-US" sz="2400" dirty="0" err="1" smtClean="0">
                <a:solidFill>
                  <a:srgbClr val="000000"/>
                </a:solidFill>
              </a:rPr>
              <a:t>centroids</a:t>
            </a:r>
            <a:r>
              <a:rPr lang="en-US" sz="2400" dirty="0" smtClean="0">
                <a:solidFill>
                  <a:srgbClr val="000000"/>
                </a:solidFill>
              </a:rPr>
              <a:t> of the  clusters of the current partitioning (the </a:t>
            </a:r>
            <a:r>
              <a:rPr lang="en-US" sz="2400" dirty="0" err="1" smtClean="0">
                <a:solidFill>
                  <a:srgbClr val="000000"/>
                </a:solidFill>
              </a:rPr>
              <a:t>centroid</a:t>
            </a:r>
            <a:r>
              <a:rPr lang="en-US" sz="2400" dirty="0" smtClean="0">
                <a:solidFill>
                  <a:srgbClr val="000000"/>
                </a:solidFill>
              </a:rPr>
              <a:t> is the center, i.e., </a:t>
            </a:r>
            <a:r>
              <a:rPr lang="en-US" sz="2400" i="1" dirty="0" smtClean="0">
                <a:solidFill>
                  <a:schemeClr val="hlink"/>
                </a:solidFill>
              </a:rPr>
              <a:t>mean point</a:t>
            </a:r>
            <a:r>
              <a:rPr lang="en-US" sz="2400" dirty="0" smtClean="0">
                <a:solidFill>
                  <a:srgbClr val="000000"/>
                </a:solidFill>
              </a:rPr>
              <a:t>, of the cluster)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Step 3:</a:t>
            </a:r>
            <a:r>
              <a:rPr lang="en-US" sz="2400" dirty="0" smtClean="0">
                <a:solidFill>
                  <a:srgbClr val="000000"/>
                </a:solidFill>
              </a:rPr>
              <a:t> Assign each object to the cluster with the nearest seed point  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Step 4:</a:t>
            </a:r>
            <a:r>
              <a:rPr lang="en-US" sz="2400" dirty="0" smtClean="0">
                <a:solidFill>
                  <a:srgbClr val="000000"/>
                </a:solidFill>
              </a:rPr>
              <a:t> Go back to Step 2, stop when the assignment does not change</a:t>
            </a:r>
          </a:p>
        </p:txBody>
      </p:sp>
      <p:sp>
        <p:nvSpPr>
          <p:cNvPr id="1843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1542D4A-7204-46AB-8CEF-3FC710A292A8}" type="slidenum">
              <a:rPr lang="en-US" smtClean="0"/>
              <a:pPr/>
              <a:t>23</a:t>
            </a:fld>
            <a:endParaRPr lang="en-US" smtClean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09600"/>
          </a:xfrm>
        </p:spPr>
        <p:txBody>
          <a:bodyPr/>
          <a:lstStyle/>
          <a:p>
            <a:pPr eaLnBrk="1" hangingPunct="1"/>
            <a:r>
              <a:rPr lang="en-US" altLang="ko-KR" smtClean="0">
                <a:solidFill>
                  <a:srgbClr val="170981"/>
                </a:solidFill>
                <a:ea typeface="Gulim" pitchFamily="34" charset="-127"/>
              </a:rPr>
              <a:t>An Example of </a:t>
            </a:r>
            <a:r>
              <a:rPr lang="en-US" altLang="ko-KR" i="1" smtClean="0">
                <a:solidFill>
                  <a:srgbClr val="170981"/>
                </a:solidFill>
                <a:ea typeface="Gulim" pitchFamily="34" charset="-127"/>
              </a:rPr>
              <a:t>K-Means</a:t>
            </a:r>
            <a:r>
              <a:rPr lang="en-US" altLang="ko-KR" smtClean="0">
                <a:solidFill>
                  <a:srgbClr val="170981"/>
                </a:solidFill>
                <a:ea typeface="Gulim" pitchFamily="34" charset="-127"/>
              </a:rPr>
              <a:t> Clustering</a:t>
            </a:r>
            <a:endParaRPr lang="en-US" altLang="ko-KR" sz="2800" b="1" smtClean="0">
              <a:solidFill>
                <a:srgbClr val="170981"/>
              </a:solidFill>
              <a:ea typeface="Gulim" pitchFamily="34" charset="-127"/>
            </a:endParaRPr>
          </a:p>
        </p:txBody>
      </p:sp>
      <p:sp>
        <p:nvSpPr>
          <p:cNvPr id="19459" name="Line 93"/>
          <p:cNvSpPr>
            <a:spLocks noChangeShapeType="1"/>
          </p:cNvSpPr>
          <p:nvPr/>
        </p:nvSpPr>
        <p:spPr bwMode="auto">
          <a:xfrm>
            <a:off x="5803900" y="23622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0" name="Text Box 181"/>
          <p:cNvSpPr txBox="1">
            <a:spLocks noChangeArrowheads="1"/>
          </p:cNvSpPr>
          <p:nvPr/>
        </p:nvSpPr>
        <p:spPr bwMode="auto">
          <a:xfrm>
            <a:off x="2451100" y="1771650"/>
            <a:ext cx="1143000" cy="158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ko-KR" sz="1400">
                <a:ea typeface="Gulim" pitchFamily="34" charset="-127"/>
              </a:rPr>
              <a:t>K=2</a:t>
            </a:r>
          </a:p>
          <a:p>
            <a:pPr algn="l">
              <a:spcBef>
                <a:spcPct val="50000"/>
              </a:spcBef>
            </a:pPr>
            <a:endParaRPr lang="en-US" altLang="ko-KR" sz="1400">
              <a:ea typeface="Gulim" pitchFamily="34" charset="-127"/>
            </a:endParaRPr>
          </a:p>
          <a:p>
            <a:pPr algn="l">
              <a:spcBef>
                <a:spcPct val="50000"/>
              </a:spcBef>
            </a:pPr>
            <a:r>
              <a:rPr lang="en-US" altLang="ko-KR" sz="1400">
                <a:ea typeface="Gulim" pitchFamily="34" charset="-127"/>
              </a:rPr>
              <a:t>Arbitrarily partition objects into k groups</a:t>
            </a:r>
          </a:p>
        </p:txBody>
      </p:sp>
      <p:sp>
        <p:nvSpPr>
          <p:cNvPr id="19461" name="Line 183"/>
          <p:cNvSpPr>
            <a:spLocks noChangeShapeType="1"/>
          </p:cNvSpPr>
          <p:nvPr/>
        </p:nvSpPr>
        <p:spPr bwMode="auto">
          <a:xfrm>
            <a:off x="2603500" y="22860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9462" name="Text Box 185"/>
          <p:cNvSpPr txBox="1">
            <a:spLocks noChangeArrowheads="1"/>
          </p:cNvSpPr>
          <p:nvPr/>
        </p:nvSpPr>
        <p:spPr bwMode="auto">
          <a:xfrm>
            <a:off x="5727700" y="2438400"/>
            <a:ext cx="1066800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ko-KR" sz="1400">
                <a:ea typeface="Gulim" pitchFamily="34" charset="-127"/>
              </a:rPr>
              <a:t>Update the cluster centroids</a:t>
            </a:r>
          </a:p>
        </p:txBody>
      </p:sp>
      <p:sp>
        <p:nvSpPr>
          <p:cNvPr id="19463" name="Text Box 190"/>
          <p:cNvSpPr txBox="1">
            <a:spLocks noChangeArrowheads="1"/>
          </p:cNvSpPr>
          <p:nvPr/>
        </p:nvSpPr>
        <p:spPr bwMode="auto">
          <a:xfrm>
            <a:off x="5727700" y="4953000"/>
            <a:ext cx="1066800" cy="1049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ko-KR" sz="1400">
                <a:ea typeface="Gulim" pitchFamily="34" charset="-127"/>
              </a:rPr>
              <a:t>Update the cluster centroids</a:t>
            </a:r>
          </a:p>
          <a:p>
            <a:pPr algn="l">
              <a:spcBef>
                <a:spcPct val="50000"/>
              </a:spcBef>
            </a:pPr>
            <a:endParaRPr lang="en-US" altLang="ko-KR" sz="1400">
              <a:ea typeface="Gulim" pitchFamily="34" charset="-127"/>
            </a:endParaRPr>
          </a:p>
        </p:txBody>
      </p:sp>
      <p:sp>
        <p:nvSpPr>
          <p:cNvPr id="19464" name="Text Box 191"/>
          <p:cNvSpPr txBox="1">
            <a:spLocks noChangeArrowheads="1"/>
          </p:cNvSpPr>
          <p:nvPr/>
        </p:nvSpPr>
        <p:spPr bwMode="auto">
          <a:xfrm>
            <a:off x="7099300" y="35814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ko-KR" sz="1400" dirty="0">
                <a:ea typeface="Gulim" pitchFamily="34" charset="-127"/>
              </a:rPr>
              <a:t>Reassign  objects</a:t>
            </a:r>
          </a:p>
        </p:txBody>
      </p:sp>
      <p:sp>
        <p:nvSpPr>
          <p:cNvPr id="19465" name="Line 192"/>
          <p:cNvSpPr>
            <a:spLocks noChangeShapeType="1"/>
          </p:cNvSpPr>
          <p:nvPr/>
        </p:nvSpPr>
        <p:spPr bwMode="auto">
          <a:xfrm>
            <a:off x="7937500" y="35814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9466" name="Text Box 193"/>
          <p:cNvSpPr txBox="1">
            <a:spLocks noChangeArrowheads="1"/>
          </p:cNvSpPr>
          <p:nvPr/>
        </p:nvSpPr>
        <p:spPr bwMode="auto">
          <a:xfrm>
            <a:off x="3581400" y="3429000"/>
            <a:ext cx="99060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ko-KR" sz="1400" dirty="0">
                <a:ea typeface="Gulim" pitchFamily="34" charset="-127"/>
              </a:rPr>
              <a:t>Loop if needed</a:t>
            </a:r>
          </a:p>
        </p:txBody>
      </p:sp>
      <p:sp>
        <p:nvSpPr>
          <p:cNvPr id="19467" name="Slide Number Placeholder 19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3558902-7351-4777-A2E6-0F94DFEB43FB}" type="slidenum">
              <a:rPr lang="en-US" smtClean="0"/>
              <a:pPr/>
              <a:t>24</a:t>
            </a:fld>
            <a:endParaRPr lang="en-US" smtClean="0"/>
          </a:p>
        </p:txBody>
      </p:sp>
      <p:graphicFrame>
        <p:nvGraphicFramePr>
          <p:cNvPr id="19468" name="Object 196"/>
          <p:cNvGraphicFramePr>
            <a:graphicFrameLocks noChangeAspect="1"/>
          </p:cNvGraphicFramePr>
          <p:nvPr/>
        </p:nvGraphicFramePr>
        <p:xfrm>
          <a:off x="393700" y="1447800"/>
          <a:ext cx="2120900" cy="1984375"/>
        </p:xfrm>
        <a:graphic>
          <a:graphicData uri="http://schemas.openxmlformats.org/presentationml/2006/ole">
            <p:oleObj spid="_x0000_s19468" name="SmartDraw" r:id="rId4" imgW="3479292" imgH="3255264" progId="">
              <p:embed/>
            </p:oleObj>
          </a:graphicData>
        </a:graphic>
      </p:graphicFrame>
      <p:graphicFrame>
        <p:nvGraphicFramePr>
          <p:cNvPr id="19469" name="Object 197"/>
          <p:cNvGraphicFramePr>
            <a:graphicFrameLocks noChangeAspect="1"/>
          </p:cNvGraphicFramePr>
          <p:nvPr/>
        </p:nvGraphicFramePr>
        <p:xfrm>
          <a:off x="3441700" y="1447800"/>
          <a:ext cx="2184400" cy="2043113"/>
        </p:xfrm>
        <a:graphic>
          <a:graphicData uri="http://schemas.openxmlformats.org/presentationml/2006/ole">
            <p:oleObj spid="_x0000_s19469" name="SmartDraw" r:id="rId5" imgW="3479292" imgH="3255264" progId="">
              <p:embed/>
            </p:oleObj>
          </a:graphicData>
        </a:graphic>
      </p:graphicFrame>
      <p:graphicFrame>
        <p:nvGraphicFramePr>
          <p:cNvPr id="19470" name="Object 198"/>
          <p:cNvGraphicFramePr>
            <a:graphicFrameLocks noChangeAspect="1"/>
          </p:cNvGraphicFramePr>
          <p:nvPr/>
        </p:nvGraphicFramePr>
        <p:xfrm>
          <a:off x="6794500" y="1447800"/>
          <a:ext cx="2273300" cy="2127250"/>
        </p:xfrm>
        <a:graphic>
          <a:graphicData uri="http://schemas.openxmlformats.org/presentationml/2006/ole">
            <p:oleObj spid="_x0000_s19470" name="SmartDraw" r:id="rId6" imgW="3479292" imgH="3255264" progId="">
              <p:embed/>
            </p:oleObj>
          </a:graphicData>
        </a:graphic>
      </p:graphicFrame>
      <p:graphicFrame>
        <p:nvGraphicFramePr>
          <p:cNvPr id="19471" name="Object 199"/>
          <p:cNvGraphicFramePr>
            <a:graphicFrameLocks noChangeAspect="1"/>
          </p:cNvGraphicFramePr>
          <p:nvPr/>
        </p:nvGraphicFramePr>
        <p:xfrm>
          <a:off x="6794500" y="3892550"/>
          <a:ext cx="2273300" cy="2127250"/>
        </p:xfrm>
        <a:graphic>
          <a:graphicData uri="http://schemas.openxmlformats.org/presentationml/2006/ole">
            <p:oleObj spid="_x0000_s19471" name="SmartDraw" r:id="rId7" imgW="3479292" imgH="3255264" progId="">
              <p:embed/>
            </p:oleObj>
          </a:graphicData>
        </a:graphic>
      </p:graphicFrame>
      <p:graphicFrame>
        <p:nvGraphicFramePr>
          <p:cNvPr id="19472" name="Object 200"/>
          <p:cNvGraphicFramePr>
            <a:graphicFrameLocks noChangeAspect="1"/>
          </p:cNvGraphicFramePr>
          <p:nvPr/>
        </p:nvGraphicFramePr>
        <p:xfrm>
          <a:off x="3594100" y="3962400"/>
          <a:ext cx="2197100" cy="2055813"/>
        </p:xfrm>
        <a:graphic>
          <a:graphicData uri="http://schemas.openxmlformats.org/presentationml/2006/ole">
            <p:oleObj spid="_x0000_s19472" name="SmartDraw" r:id="rId8" imgW="3479292" imgH="3255264" progId="">
              <p:embed/>
            </p:oleObj>
          </a:graphicData>
        </a:graphic>
      </p:graphicFrame>
      <p:sp>
        <p:nvSpPr>
          <p:cNvPr id="19473" name="Line 192"/>
          <p:cNvSpPr>
            <a:spLocks noChangeShapeType="1"/>
          </p:cNvSpPr>
          <p:nvPr/>
        </p:nvSpPr>
        <p:spPr bwMode="auto">
          <a:xfrm flipV="1">
            <a:off x="4356100" y="3505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9474" name="Text Box 181"/>
          <p:cNvSpPr txBox="1">
            <a:spLocks noChangeArrowheads="1"/>
          </p:cNvSpPr>
          <p:nvPr/>
        </p:nvSpPr>
        <p:spPr bwMode="auto">
          <a:xfrm>
            <a:off x="622300" y="3429000"/>
            <a:ext cx="1676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ko-KR" sz="1400">
                <a:ea typeface="Gulim" pitchFamily="34" charset="-127"/>
              </a:rPr>
              <a:t>The initial data set</a:t>
            </a:r>
          </a:p>
        </p:txBody>
      </p:sp>
      <p:sp>
        <p:nvSpPr>
          <p:cNvPr id="19475" name="Line 93"/>
          <p:cNvSpPr>
            <a:spLocks noChangeShapeType="1"/>
          </p:cNvSpPr>
          <p:nvPr/>
        </p:nvSpPr>
        <p:spPr bwMode="auto">
          <a:xfrm flipH="1">
            <a:off x="5803900" y="48768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76" name="Rectangle 3"/>
          <p:cNvSpPr>
            <a:spLocks noChangeArrowheads="1"/>
          </p:cNvSpPr>
          <p:nvPr/>
        </p:nvSpPr>
        <p:spPr bwMode="auto">
          <a:xfrm>
            <a:off x="0" y="3962400"/>
            <a:ext cx="35814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1600">
                <a:solidFill>
                  <a:srgbClr val="000000"/>
                </a:solidFill>
                <a:latin typeface="Arial" pitchFamily="34" charset="0"/>
              </a:rPr>
              <a:t>Partition objects into </a:t>
            </a:r>
            <a:r>
              <a:rPr lang="en-US" sz="1600" i="1">
                <a:solidFill>
                  <a:srgbClr val="000000"/>
                </a:solidFill>
                <a:latin typeface="Arial" pitchFamily="34" charset="0"/>
              </a:rPr>
              <a:t>k</a:t>
            </a:r>
            <a:r>
              <a:rPr lang="en-US" sz="1600">
                <a:solidFill>
                  <a:srgbClr val="000000"/>
                </a:solidFill>
                <a:latin typeface="Arial" pitchFamily="34" charset="0"/>
              </a:rPr>
              <a:t> nonempty subsets</a:t>
            </a:r>
          </a:p>
          <a:p>
            <a:pPr marL="342900" indent="-342900" algn="l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1600">
                <a:latin typeface="Arial" pitchFamily="34" charset="0"/>
              </a:rPr>
              <a:t>Repeat</a:t>
            </a:r>
            <a:endParaRPr lang="en-US" sz="1600">
              <a:solidFill>
                <a:srgbClr val="000000"/>
              </a:solidFill>
              <a:latin typeface="Arial" pitchFamily="34" charset="0"/>
            </a:endParaRPr>
          </a:p>
          <a:p>
            <a:pPr marL="742950" lvl="1" indent="-285750" algn="l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1600">
                <a:solidFill>
                  <a:srgbClr val="000000"/>
                </a:solidFill>
                <a:latin typeface="Arial" pitchFamily="34" charset="0"/>
              </a:rPr>
              <a:t>Compute centroid (i.e., mean point) for each partition </a:t>
            </a:r>
          </a:p>
          <a:p>
            <a:pPr marL="742950" lvl="1" indent="-285750" algn="l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sz="1600">
                <a:solidFill>
                  <a:srgbClr val="000000"/>
                </a:solidFill>
                <a:latin typeface="Arial" pitchFamily="34" charset="0"/>
              </a:rPr>
              <a:t>Assign each object to the cluster of its nearest centroid  </a:t>
            </a:r>
          </a:p>
          <a:p>
            <a:pPr marL="342900" indent="-342900" algn="l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1600">
                <a:solidFill>
                  <a:srgbClr val="000000"/>
                </a:solidFill>
                <a:latin typeface="Arial" pitchFamily="34" charset="0"/>
              </a:rPr>
              <a:t>Until no change</a:t>
            </a:r>
          </a:p>
        </p:txBody>
      </p:sp>
      <p:sp>
        <p:nvSpPr>
          <p:cNvPr id="21" name="Text Box 191"/>
          <p:cNvSpPr txBox="1">
            <a:spLocks noChangeArrowheads="1"/>
          </p:cNvSpPr>
          <p:nvPr/>
        </p:nvSpPr>
        <p:spPr bwMode="auto">
          <a:xfrm>
            <a:off x="4495800" y="35814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ko-KR" sz="1400" dirty="0">
                <a:ea typeface="Gulim" pitchFamily="34" charset="-127"/>
              </a:rPr>
              <a:t>Reassign  objects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750888" y="436563"/>
            <a:ext cx="7439025" cy="442912"/>
          </a:xfrm>
        </p:spPr>
        <p:txBody>
          <a:bodyPr/>
          <a:lstStyle/>
          <a:p>
            <a:pPr eaLnBrk="1" hangingPunct="1"/>
            <a:r>
              <a:rPr lang="en-US" sz="2400" dirty="0" smtClean="0"/>
              <a:t>Strength and weakness of </a:t>
            </a:r>
            <a:r>
              <a:rPr lang="en-US" sz="2400" i="1" dirty="0" smtClean="0"/>
              <a:t>K-Means</a:t>
            </a:r>
            <a:r>
              <a:rPr lang="en-US" sz="2400" dirty="0" smtClean="0"/>
              <a:t> Method</a:t>
            </a:r>
            <a:endParaRPr lang="en-US" sz="2400" b="1" dirty="0" smtClean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534400" cy="52578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sz="2400" u="sng" dirty="0" smtClean="0"/>
              <a:t>Strength:</a:t>
            </a:r>
            <a:r>
              <a:rPr lang="en-US" sz="2400" dirty="0" smtClean="0"/>
              <a:t> </a:t>
            </a:r>
            <a:r>
              <a:rPr lang="en-US" sz="2400" i="1" dirty="0" smtClean="0"/>
              <a:t>Efficient</a:t>
            </a:r>
            <a:r>
              <a:rPr lang="en-US" sz="2400" dirty="0" smtClean="0"/>
              <a:t>: </a:t>
            </a:r>
            <a:r>
              <a:rPr lang="en-US" sz="2400" i="1" dirty="0" smtClean="0"/>
              <a:t>O</a:t>
            </a:r>
            <a:r>
              <a:rPr lang="en-US" sz="2400" dirty="0" smtClean="0"/>
              <a:t>(</a:t>
            </a:r>
            <a:r>
              <a:rPr lang="en-US" sz="2400" i="1" dirty="0" err="1" smtClean="0"/>
              <a:t>tkn</a:t>
            </a:r>
            <a:r>
              <a:rPr lang="en-US" sz="2400" dirty="0" smtClean="0"/>
              <a:t>), where </a:t>
            </a:r>
            <a:r>
              <a:rPr lang="en-US" sz="2400" i="1" dirty="0" smtClean="0"/>
              <a:t>n</a:t>
            </a:r>
            <a:r>
              <a:rPr lang="en-US" sz="2400" dirty="0" smtClean="0"/>
              <a:t> is # objects, </a:t>
            </a:r>
            <a:r>
              <a:rPr lang="en-US" sz="2400" i="1" dirty="0" smtClean="0"/>
              <a:t>k</a:t>
            </a:r>
            <a:r>
              <a:rPr lang="en-US" sz="2400" dirty="0" smtClean="0"/>
              <a:t> is # clusters, and </a:t>
            </a:r>
            <a:r>
              <a:rPr lang="en-US" sz="2400" i="1" dirty="0" smtClean="0"/>
              <a:t>t  </a:t>
            </a:r>
            <a:r>
              <a:rPr lang="en-US" sz="2400" dirty="0" smtClean="0"/>
              <a:t>is # iterations. Normally, </a:t>
            </a:r>
            <a:r>
              <a:rPr lang="en-US" sz="2400" i="1" dirty="0" smtClean="0"/>
              <a:t>k</a:t>
            </a:r>
            <a:r>
              <a:rPr lang="en-US" sz="2400" dirty="0" smtClean="0"/>
              <a:t>, </a:t>
            </a:r>
            <a:r>
              <a:rPr lang="en-US" sz="2400" i="1" dirty="0" smtClean="0"/>
              <a:t>t</a:t>
            </a:r>
            <a:r>
              <a:rPr lang="en-US" sz="2400" dirty="0" smtClean="0"/>
              <a:t> &lt;&lt; </a:t>
            </a:r>
            <a:r>
              <a:rPr lang="en-US" sz="2400" i="1" dirty="0" smtClean="0"/>
              <a:t>n</a:t>
            </a:r>
            <a:r>
              <a:rPr lang="en-US" sz="2400" dirty="0" smtClean="0"/>
              <a:t>.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ko-KR" dirty="0" smtClean="0">
                <a:ea typeface="Gulim" pitchFamily="34" charset="-127"/>
              </a:rPr>
              <a:t>Comparing: PAM: O(k(n-k)</a:t>
            </a:r>
            <a:r>
              <a:rPr lang="en-US" altLang="ko-KR" baseline="30000" dirty="0" smtClean="0">
                <a:ea typeface="Gulim" pitchFamily="34" charset="-127"/>
              </a:rPr>
              <a:t>2</a:t>
            </a:r>
            <a:r>
              <a:rPr lang="en-US" altLang="ko-KR" dirty="0" smtClean="0">
                <a:ea typeface="Gulim" pitchFamily="34" charset="-127"/>
              </a:rPr>
              <a:t> ), CLARA: O(ks</a:t>
            </a:r>
            <a:r>
              <a:rPr lang="en-US" altLang="ko-KR" baseline="30000" dirty="0" smtClean="0">
                <a:ea typeface="Gulim" pitchFamily="34" charset="-127"/>
              </a:rPr>
              <a:t>2</a:t>
            </a:r>
            <a:r>
              <a:rPr lang="en-US" altLang="ko-KR" dirty="0" smtClean="0">
                <a:ea typeface="Gulim" pitchFamily="34" charset="-127"/>
              </a:rPr>
              <a:t> + k(n-k))</a:t>
            </a:r>
            <a:endParaRPr lang="en-US" dirty="0" smtClean="0"/>
          </a:p>
          <a:p>
            <a:pPr eaLnBrk="1" hangingPunct="1">
              <a:lnSpc>
                <a:spcPct val="120000"/>
              </a:lnSpc>
            </a:pPr>
            <a:r>
              <a:rPr lang="en-US" sz="2400" u="sng" dirty="0" smtClean="0"/>
              <a:t>Weakness: </a:t>
            </a:r>
            <a:r>
              <a:rPr lang="en-US" sz="2400" dirty="0" smtClean="0"/>
              <a:t>Applicable only to objects in a continuous n-dimensional space </a:t>
            </a:r>
          </a:p>
          <a:p>
            <a:pPr eaLnBrk="1" hangingPunct="1">
              <a:lnSpc>
                <a:spcPct val="150000"/>
              </a:lnSpc>
            </a:pPr>
            <a:r>
              <a:rPr lang="en-US" sz="2000" dirty="0" smtClean="0"/>
              <a:t>Handling categorical data: </a:t>
            </a:r>
            <a:r>
              <a:rPr lang="en-US" sz="2000" i="1" dirty="0" smtClean="0"/>
              <a:t>k-modes</a:t>
            </a:r>
            <a:endParaRPr lang="en-US" sz="2000" dirty="0" smtClean="0"/>
          </a:p>
          <a:p>
            <a:pPr lvl="1" eaLnBrk="1" hangingPunct="1">
              <a:lnSpc>
                <a:spcPct val="150000"/>
              </a:lnSpc>
            </a:pPr>
            <a:r>
              <a:rPr lang="en-US" sz="2000" dirty="0" smtClean="0"/>
              <a:t>Replacing means of clusters with </a:t>
            </a:r>
            <a:r>
              <a:rPr lang="en-US" sz="2000" u="sng" dirty="0" smtClean="0"/>
              <a:t>modes</a:t>
            </a:r>
            <a:endParaRPr lang="en-US" sz="2000" dirty="0" smtClean="0"/>
          </a:p>
          <a:p>
            <a:pPr lvl="1" eaLnBrk="1" hangingPunct="1">
              <a:lnSpc>
                <a:spcPct val="150000"/>
              </a:lnSpc>
            </a:pPr>
            <a:r>
              <a:rPr lang="en-US" sz="2000" dirty="0" smtClean="0"/>
              <a:t>Using new dissimilarity measures to deal with categorical objects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sz="2000" dirty="0" smtClean="0"/>
              <a:t>Using a </a:t>
            </a:r>
            <a:r>
              <a:rPr lang="en-US" sz="2000" u="sng" dirty="0" smtClean="0"/>
              <a:t>frequency</a:t>
            </a:r>
            <a:r>
              <a:rPr lang="en-US" sz="2000" dirty="0" smtClean="0"/>
              <a:t>-based method to update modes of clusters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sz="2000" dirty="0" smtClean="0"/>
              <a:t>A mixture of categorical and numerical data: </a:t>
            </a:r>
            <a:r>
              <a:rPr lang="en-US" sz="2000" i="1" dirty="0" smtClean="0"/>
              <a:t>k-prototype</a:t>
            </a:r>
            <a:r>
              <a:rPr lang="en-US" sz="2000" dirty="0" smtClean="0"/>
              <a:t> method</a:t>
            </a:r>
          </a:p>
          <a:p>
            <a:pPr lvl="1" eaLnBrk="1" hangingPunct="1">
              <a:lnSpc>
                <a:spcPct val="120000"/>
              </a:lnSpc>
            </a:pPr>
            <a:endParaRPr lang="en-US" sz="2400" i="1" dirty="0" smtClean="0"/>
          </a:p>
        </p:txBody>
      </p:sp>
      <p:sp>
        <p:nvSpPr>
          <p:cNvPr id="2048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7FEB994-5B0C-4B8A-AB10-833D7FE109E2}" type="slidenum">
              <a:rPr lang="en-US" smtClean="0"/>
              <a:pPr/>
              <a:t>25</a:t>
            </a:fld>
            <a:endParaRPr lang="en-US" smtClean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smtClean="0">
                <a:solidFill>
                  <a:srgbClr val="333399"/>
                </a:solidFill>
              </a:rPr>
              <a:t>Strength and weakness of </a:t>
            </a:r>
            <a:r>
              <a:rPr lang="en-US" sz="2400" i="1" dirty="0" smtClean="0">
                <a:solidFill>
                  <a:srgbClr val="333399"/>
                </a:solidFill>
              </a:rPr>
              <a:t>K-Means</a:t>
            </a:r>
            <a:r>
              <a:rPr lang="en-US" sz="2400" dirty="0" smtClean="0">
                <a:solidFill>
                  <a:srgbClr val="333399"/>
                </a:solidFill>
              </a:rPr>
              <a:t>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Sensitivity to initial condition: </a:t>
            </a:r>
            <a:r>
              <a:rPr lang="en-US" sz="1800" dirty="0" smtClean="0"/>
              <a:t>K-means is sensitive to initial conditions. The algorithm randomly initializes the cluster </a:t>
            </a:r>
            <a:r>
              <a:rPr lang="en-US" sz="1800" dirty="0" err="1" smtClean="0"/>
              <a:t>centroids</a:t>
            </a:r>
            <a:r>
              <a:rPr lang="en-US" sz="1800" dirty="0" smtClean="0"/>
              <a:t> at the beginning, and the final clustering results can vary depending on these initial positions.</a:t>
            </a:r>
          </a:p>
          <a:p>
            <a:r>
              <a:rPr lang="en-US" sz="1800" dirty="0" smtClean="0"/>
              <a:t>Different initializations can lead to other local optima, resulting in different clustering outcomes. This makes the K-means algorithm less reliable and reproducible.</a:t>
            </a:r>
          </a:p>
          <a:p>
            <a:pPr lvl="1"/>
            <a:endParaRPr lang="en-US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3429000"/>
            <a:ext cx="5284013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smtClean="0">
                <a:solidFill>
                  <a:srgbClr val="333399"/>
                </a:solidFill>
              </a:rPr>
              <a:t>Strength and weakness of </a:t>
            </a:r>
            <a:r>
              <a:rPr lang="en-US" sz="2400" i="1" dirty="0" smtClean="0">
                <a:solidFill>
                  <a:srgbClr val="333399"/>
                </a:solidFill>
              </a:rPr>
              <a:t>K-Means</a:t>
            </a:r>
            <a:r>
              <a:rPr lang="en-US" sz="2400" dirty="0" smtClean="0">
                <a:solidFill>
                  <a:srgbClr val="333399"/>
                </a:solidFill>
              </a:rPr>
              <a:t>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 lvl="1"/>
            <a:r>
              <a:rPr lang="en-US" dirty="0" smtClean="0"/>
              <a:t>Dependent on initialization</a:t>
            </a:r>
          </a:p>
          <a:p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2590800"/>
            <a:ext cx="7505700" cy="357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Oval 6"/>
          <p:cNvSpPr/>
          <p:nvPr/>
        </p:nvSpPr>
        <p:spPr>
          <a:xfrm>
            <a:off x="1447800" y="4048125"/>
            <a:ext cx="152400" cy="1524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048000" y="3895725"/>
            <a:ext cx="152400" cy="152400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781800" y="5191125"/>
            <a:ext cx="152400" cy="1524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smtClean="0">
                <a:solidFill>
                  <a:srgbClr val="333399"/>
                </a:solidFill>
              </a:rPr>
              <a:t>Strength and weakness of </a:t>
            </a:r>
            <a:r>
              <a:rPr lang="en-US" sz="2400" i="1" dirty="0" smtClean="0">
                <a:solidFill>
                  <a:srgbClr val="333399"/>
                </a:solidFill>
              </a:rPr>
              <a:t>K-Means</a:t>
            </a:r>
            <a:r>
              <a:rPr lang="en-US" sz="2400" dirty="0" smtClean="0">
                <a:solidFill>
                  <a:srgbClr val="333399"/>
                </a:solidFill>
              </a:rPr>
              <a:t>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 lvl="1"/>
            <a:r>
              <a:rPr lang="en-US" dirty="0" smtClean="0"/>
              <a:t>Dependent on initialization</a:t>
            </a:r>
          </a:p>
          <a:p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0100" y="2609850"/>
            <a:ext cx="7886700" cy="356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smtClean="0">
                <a:solidFill>
                  <a:srgbClr val="333399"/>
                </a:solidFill>
              </a:rPr>
              <a:t>Strength and weakness of </a:t>
            </a:r>
            <a:r>
              <a:rPr lang="en-US" sz="2400" i="1" dirty="0" smtClean="0">
                <a:solidFill>
                  <a:srgbClr val="333399"/>
                </a:solidFill>
              </a:rPr>
              <a:t>K-Means</a:t>
            </a:r>
            <a:r>
              <a:rPr lang="en-US" sz="2400" dirty="0" smtClean="0">
                <a:solidFill>
                  <a:srgbClr val="333399"/>
                </a:solidFill>
              </a:rPr>
              <a:t>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 lvl="1"/>
            <a:r>
              <a:rPr lang="en-US" dirty="0" smtClean="0"/>
              <a:t>Dependent on initialization</a:t>
            </a:r>
          </a:p>
          <a:p>
            <a:pPr lvl="2"/>
            <a:r>
              <a:rPr lang="en-US" dirty="0" smtClean="0"/>
              <a:t>Select random seeds with at least </a:t>
            </a:r>
            <a:r>
              <a:rPr lang="en-US" i="1" dirty="0" err="1" smtClean="0"/>
              <a:t>D</a:t>
            </a:r>
            <a:r>
              <a:rPr lang="en-US" baseline="-25000" dirty="0" err="1" smtClean="0"/>
              <a:t>min</a:t>
            </a:r>
            <a:endParaRPr lang="en-US" baseline="-25000" dirty="0" smtClean="0"/>
          </a:p>
          <a:p>
            <a:pPr lvl="2"/>
            <a:r>
              <a:rPr lang="en-US" dirty="0" smtClean="0"/>
              <a:t>Or, run the algorithm many times</a:t>
            </a:r>
          </a:p>
          <a:p>
            <a:pPr lvl="2"/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smtClean="0">
                <a:solidFill>
                  <a:srgbClr val="333399"/>
                </a:solidFill>
              </a:rPr>
              <a:t>Strength and weakness of </a:t>
            </a:r>
            <a:r>
              <a:rPr lang="en-US" sz="2400" i="1" dirty="0" smtClean="0">
                <a:solidFill>
                  <a:srgbClr val="333399"/>
                </a:solidFill>
              </a:rPr>
              <a:t>K-Means</a:t>
            </a:r>
            <a:r>
              <a:rPr lang="en-US" sz="2400" dirty="0" smtClean="0">
                <a:solidFill>
                  <a:srgbClr val="333399"/>
                </a:solidFill>
              </a:rPr>
              <a:t>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en-US" dirty="0" smtClean="0"/>
              <a:t>Sensitive to outliers: </a:t>
            </a:r>
            <a:r>
              <a:rPr lang="en-US" sz="2000" dirty="0" smtClean="0"/>
              <a:t>K-means treats all data points equally and can be sensitive to outliers, which are unusual or extreme data points. </a:t>
            </a:r>
          </a:p>
          <a:p>
            <a:pPr lvl="1"/>
            <a:r>
              <a:rPr lang="en-US" sz="2000" dirty="0" smtClean="0"/>
              <a:t>Outliers can distort the clustering process, causing the algorithm to create less reliable clusters. </a:t>
            </a:r>
          </a:p>
          <a:p>
            <a:pPr lvl="1"/>
            <a:endParaRPr lang="en-US" sz="2000" dirty="0" smtClean="0"/>
          </a:p>
          <a:p>
            <a:pPr lvl="1"/>
            <a:r>
              <a:rPr lang="en-US" sz="2000" dirty="0" smtClean="0"/>
              <a:t>Handling outliers </a:t>
            </a:r>
          </a:p>
          <a:p>
            <a:pPr lvl="1">
              <a:buNone/>
            </a:pPr>
            <a:r>
              <a:rPr lang="en-US" sz="2000" dirty="0" smtClean="0"/>
              <a:t>properly is important to get</a:t>
            </a:r>
          </a:p>
          <a:p>
            <a:pPr lvl="1">
              <a:buNone/>
            </a:pPr>
            <a:r>
              <a:rPr lang="en-US" sz="2000" dirty="0" smtClean="0"/>
              <a:t>better results.</a:t>
            </a:r>
          </a:p>
          <a:p>
            <a:endParaRPr lang="en-US" sz="2000" dirty="0"/>
          </a:p>
        </p:txBody>
      </p:sp>
      <p:pic>
        <p:nvPicPr>
          <p:cNvPr id="5837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62400" y="3124200"/>
            <a:ext cx="451485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smtClean="0">
                <a:solidFill>
                  <a:srgbClr val="333399"/>
                </a:solidFill>
              </a:rPr>
              <a:t>Strength and weakness of </a:t>
            </a:r>
            <a:r>
              <a:rPr lang="en-US" sz="2400" i="1" dirty="0" smtClean="0">
                <a:solidFill>
                  <a:srgbClr val="333399"/>
                </a:solidFill>
              </a:rPr>
              <a:t>K-Means</a:t>
            </a:r>
            <a:r>
              <a:rPr lang="en-US" sz="2400" dirty="0" smtClean="0">
                <a:solidFill>
                  <a:srgbClr val="333399"/>
                </a:solidFill>
              </a:rPr>
              <a:t>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 lvl="1"/>
            <a:r>
              <a:rPr lang="en-US" dirty="0" smtClean="0"/>
              <a:t>Sensitive to outliers</a:t>
            </a:r>
          </a:p>
          <a:p>
            <a:pPr lvl="2"/>
            <a:r>
              <a:rPr lang="en-US" dirty="0" smtClean="0"/>
              <a:t>Use K-</a:t>
            </a:r>
            <a:r>
              <a:rPr lang="en-US" dirty="0" err="1" smtClean="0"/>
              <a:t>medoids</a:t>
            </a:r>
            <a:r>
              <a:rPr lang="en-US" dirty="0" smtClean="0"/>
              <a:t> </a:t>
            </a:r>
          </a:p>
          <a:p>
            <a:pPr lvl="2">
              <a:buNone/>
            </a:pPr>
            <a:r>
              <a:rPr lang="en-US" dirty="0" smtClean="0"/>
              <a:t>(</a:t>
            </a:r>
            <a:r>
              <a:rPr lang="en-US" altLang="ko-KR" dirty="0" smtClean="0">
                <a:ea typeface="Gulim" pitchFamily="34" charset="-127"/>
              </a:rPr>
              <a:t>which is the </a:t>
            </a:r>
            <a:r>
              <a:rPr lang="en-US" altLang="ko-KR" b="1" dirty="0" smtClean="0">
                <a:ea typeface="Gulim" pitchFamily="34" charset="-127"/>
              </a:rPr>
              <a:t>most</a:t>
            </a:r>
          </a:p>
          <a:p>
            <a:pPr lvl="2">
              <a:buNone/>
            </a:pPr>
            <a:r>
              <a:rPr lang="en-US" altLang="ko-KR" b="1" dirty="0" smtClean="0">
                <a:ea typeface="Gulim" pitchFamily="34" charset="-127"/>
              </a:rPr>
              <a:t> centrally located</a:t>
            </a:r>
            <a:r>
              <a:rPr lang="en-US" altLang="ko-KR" dirty="0" smtClean="0">
                <a:ea typeface="Gulim" pitchFamily="34" charset="-127"/>
              </a:rPr>
              <a:t> </a:t>
            </a:r>
          </a:p>
          <a:p>
            <a:pPr lvl="2">
              <a:buNone/>
            </a:pPr>
            <a:r>
              <a:rPr lang="en-US" altLang="ko-KR" dirty="0" smtClean="0">
                <a:ea typeface="Gulim" pitchFamily="34" charset="-127"/>
              </a:rPr>
              <a:t>object in a cluster</a:t>
            </a:r>
            <a:r>
              <a:rPr lang="en-US" dirty="0" smtClean="0"/>
              <a:t>)</a:t>
            </a:r>
          </a:p>
          <a:p>
            <a:endParaRPr lang="en-US" dirty="0"/>
          </a:p>
        </p:txBody>
      </p:sp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19600" y="2514600"/>
            <a:ext cx="4505325" cy="309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smtClean="0">
                <a:solidFill>
                  <a:srgbClr val="333399"/>
                </a:solidFill>
              </a:rPr>
              <a:t>Strength and weakness of </a:t>
            </a:r>
            <a:r>
              <a:rPr lang="en-US" sz="2400" i="1" dirty="0" smtClean="0">
                <a:solidFill>
                  <a:srgbClr val="333399"/>
                </a:solidFill>
              </a:rPr>
              <a:t>K-Means</a:t>
            </a:r>
            <a:r>
              <a:rPr lang="en-US" sz="2400" dirty="0" smtClean="0">
                <a:solidFill>
                  <a:srgbClr val="333399"/>
                </a:solidFill>
              </a:rPr>
              <a:t>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en-US" sz="2000" dirty="0" smtClean="0"/>
              <a:t>Not suitable to discover clusters with </a:t>
            </a:r>
            <a:r>
              <a:rPr lang="en-US" sz="2000" i="1" dirty="0" smtClean="0"/>
              <a:t>non-convex shapes</a:t>
            </a:r>
          </a:p>
          <a:p>
            <a:pPr lvl="1"/>
            <a:r>
              <a:rPr lang="en-US" sz="2000" dirty="0" smtClean="0"/>
              <a:t>K-means assumes that clusters are round or </a:t>
            </a:r>
          </a:p>
          <a:p>
            <a:pPr lvl="1">
              <a:buNone/>
            </a:pPr>
            <a:r>
              <a:rPr lang="en-US" sz="2000" dirty="0" smtClean="0"/>
              <a:t>spherical in shape. However, in real-world data, </a:t>
            </a:r>
          </a:p>
          <a:p>
            <a:pPr lvl="1">
              <a:buNone/>
            </a:pPr>
            <a:r>
              <a:rPr lang="en-US" sz="2000" dirty="0" smtClean="0"/>
              <a:t>clusters can have different shapes. </a:t>
            </a:r>
          </a:p>
          <a:p>
            <a:pPr lvl="1"/>
            <a:r>
              <a:rPr lang="en-US" sz="2000" dirty="0" smtClean="0"/>
              <a:t>K-means may struggle to handle such irregular </a:t>
            </a:r>
          </a:p>
          <a:p>
            <a:pPr lvl="1">
              <a:buNone/>
            </a:pPr>
            <a:r>
              <a:rPr lang="en-US" sz="2000" dirty="0" smtClean="0"/>
              <a:t>clusters, resulting in less accurate clusters. </a:t>
            </a:r>
          </a:p>
          <a:p>
            <a:pPr lvl="1"/>
            <a:endParaRPr lang="en-US" sz="2000" dirty="0" smtClean="0"/>
          </a:p>
          <a:p>
            <a:pPr lvl="1"/>
            <a:endParaRPr lang="en-US" sz="2000" dirty="0" smtClean="0"/>
          </a:p>
          <a:p>
            <a:pPr lvl="1">
              <a:buNone/>
            </a:pPr>
            <a:endParaRPr lang="en-US" sz="2000" dirty="0" smtClean="0"/>
          </a:p>
          <a:p>
            <a:pPr lvl="1"/>
            <a:endParaRPr lang="en-US" sz="2000" dirty="0" smtClean="0"/>
          </a:p>
          <a:p>
            <a:pPr lvl="1"/>
            <a:endParaRPr lang="en-US" sz="2000" dirty="0" smtClean="0"/>
          </a:p>
          <a:p>
            <a:pPr lvl="1"/>
            <a:r>
              <a:rPr lang="en-US" sz="2000" dirty="0" smtClean="0"/>
              <a:t>Other algorithms like DBSCAN or Gaussian Mixture Models can handle more complex cluster shapes.</a:t>
            </a:r>
            <a:endParaRPr lang="en-US" sz="2000" i="1" dirty="0" smtClean="0"/>
          </a:p>
          <a:p>
            <a:pPr lvl="1"/>
            <a:endParaRPr lang="en-US" sz="2000" dirty="0" smtClean="0"/>
          </a:p>
          <a:p>
            <a:endParaRPr lang="en-US" sz="20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3733800"/>
            <a:ext cx="1752600" cy="1505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Non-convex sets with k-means and hierarchical clustering | pafnuty.blo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629400" y="1676400"/>
            <a:ext cx="2095500" cy="1981201"/>
          </a:xfrm>
          <a:prstGeom prst="rect">
            <a:avLst/>
          </a:prstGeom>
          <a:noFill/>
        </p:spPr>
      </p:pic>
      <p:pic>
        <p:nvPicPr>
          <p:cNvPr id="6" name="Picture 2" descr="Deep (Deep, Deep) Dive into K-Means Clusteri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810000" y="3733800"/>
            <a:ext cx="1371600" cy="1457325"/>
          </a:xfrm>
          <a:prstGeom prst="rect">
            <a:avLst/>
          </a:prstGeom>
          <a:noFill/>
        </p:spPr>
      </p:pic>
      <p:sp>
        <p:nvSpPr>
          <p:cNvPr id="70658" name="AutoShape 2" descr="2 -A typical K-Means clustering of items forming a non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0660" name="AutoShape 4" descr="2 -A typical K-Means clustering of items forming a non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0662" name="AutoShape 6" descr="2 -A typical K-Means clustering of items forming a non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0664" name="AutoShape 8" descr="2 -A typical K-Means clustering of items forming a non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 descr="aa6n8c9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3733800"/>
            <a:ext cx="1676400" cy="1634836"/>
          </a:xfrm>
          <a:prstGeom prst="rect">
            <a:avLst/>
          </a:prstGeom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Strength and weakness of </a:t>
            </a:r>
            <a:r>
              <a:rPr lang="en-US" sz="2800" i="1" dirty="0" smtClean="0"/>
              <a:t>K-Means</a:t>
            </a:r>
            <a:r>
              <a:rPr lang="en-US" sz="2800" dirty="0" smtClean="0"/>
              <a:t> Method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Deciding K : </a:t>
            </a:r>
            <a:r>
              <a:rPr lang="en-US" sz="2400" dirty="0" smtClean="0"/>
              <a:t>With K-means, we have</a:t>
            </a:r>
          </a:p>
          <a:p>
            <a:pPr>
              <a:buNone/>
            </a:pPr>
            <a:r>
              <a:rPr lang="en-US" sz="2400" dirty="0" smtClean="0"/>
              <a:t> to tell the algorithm how many clusters </a:t>
            </a:r>
          </a:p>
          <a:p>
            <a:pPr>
              <a:buNone/>
            </a:pPr>
            <a:r>
              <a:rPr lang="en-US" sz="2400" dirty="0" smtClean="0"/>
              <a:t>we expect in the data. </a:t>
            </a:r>
          </a:p>
          <a:p>
            <a:r>
              <a:rPr lang="en-US" sz="2400" dirty="0" smtClean="0"/>
              <a:t>This can be tricky, especially if we </a:t>
            </a:r>
          </a:p>
          <a:p>
            <a:pPr>
              <a:buNone/>
            </a:pPr>
            <a:r>
              <a:rPr lang="en-US" sz="2400" dirty="0" smtClean="0"/>
              <a:t>don’t have prior knowledge about the </a:t>
            </a:r>
          </a:p>
          <a:p>
            <a:pPr>
              <a:buNone/>
            </a:pPr>
            <a:r>
              <a:rPr lang="en-US" sz="2400" dirty="0" smtClean="0"/>
              <a:t>data. </a:t>
            </a:r>
          </a:p>
          <a:p>
            <a:r>
              <a:rPr lang="en-US" sz="2400" dirty="0" smtClean="0"/>
              <a:t>Choosing the wrong number of clusters can lead to misleading results. </a:t>
            </a:r>
          </a:p>
          <a:p>
            <a:r>
              <a:rPr lang="en-US" sz="2400" dirty="0" smtClean="0"/>
              <a:t>Methods like the elbow finding or silhouette analysis can help estimate the appropriate number of clusters, but it’s still a challenge.</a:t>
            </a:r>
          </a:p>
        </p:txBody>
      </p:sp>
      <p:pic>
        <p:nvPicPr>
          <p:cNvPr id="1024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72200" y="1600200"/>
            <a:ext cx="2466975" cy="2390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Deciding 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371600"/>
            <a:ext cx="2362200" cy="4191000"/>
          </a:xfrm>
        </p:spPr>
        <p:txBody>
          <a:bodyPr/>
          <a:lstStyle/>
          <a:p>
            <a:r>
              <a:rPr lang="en-US" sz="1800" dirty="0" smtClean="0"/>
              <a:t>When k = 1, the </a:t>
            </a:r>
          </a:p>
          <a:p>
            <a:pPr>
              <a:buNone/>
            </a:pPr>
            <a:r>
              <a:rPr lang="en-US" sz="1800" dirty="0" smtClean="0"/>
              <a:t>objective function is </a:t>
            </a:r>
          </a:p>
          <a:p>
            <a:pPr>
              <a:buNone/>
            </a:pPr>
            <a:r>
              <a:rPr lang="en-US" sz="1800" dirty="0" smtClean="0"/>
              <a:t>873.0</a:t>
            </a:r>
            <a:endParaRPr lang="en-US" sz="1800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2819400" y="1371600"/>
            <a:ext cx="2438400" cy="4419600"/>
          </a:xfrm>
        </p:spPr>
        <p:txBody>
          <a:bodyPr/>
          <a:lstStyle/>
          <a:p>
            <a:r>
              <a:rPr lang="en-US" sz="2000" dirty="0" smtClean="0"/>
              <a:t>When k = 2, the </a:t>
            </a:r>
          </a:p>
          <a:p>
            <a:pPr>
              <a:buNone/>
            </a:pPr>
            <a:r>
              <a:rPr lang="en-US" sz="2000" dirty="0" smtClean="0"/>
              <a:t>objective function is </a:t>
            </a:r>
          </a:p>
          <a:p>
            <a:pPr>
              <a:buNone/>
            </a:pPr>
            <a:r>
              <a:rPr lang="en-US" sz="2000" dirty="0" smtClean="0"/>
              <a:t>173.1</a:t>
            </a:r>
          </a:p>
          <a:p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2667000"/>
            <a:ext cx="2133600" cy="25857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0" y="2667000"/>
            <a:ext cx="20574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5334000" y="1371600"/>
            <a:ext cx="2209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When k = 3, the objective function is 133.6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34000" y="2743200"/>
            <a:ext cx="20574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49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67000" y="3657600"/>
            <a:ext cx="4182968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Deciding 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dirty="0" smtClean="0"/>
              <a:t>We can plot objective function values for k=1 to 6</a:t>
            </a:r>
          </a:p>
          <a:p>
            <a:r>
              <a:rPr lang="en-US" sz="2400" dirty="0" smtClean="0"/>
              <a:t>The abrupt change at k=2 is highly suggestive of two clusters</a:t>
            </a:r>
          </a:p>
          <a:p>
            <a:r>
              <a:rPr lang="en-US" sz="2400" dirty="0" smtClean="0"/>
              <a:t>Known as “knee finding” or “elbow finding”</a:t>
            </a:r>
          </a:p>
          <a:p>
            <a:r>
              <a:rPr lang="en-US" sz="2400" dirty="0" smtClean="0"/>
              <a:t>Note that the results are not always as clear cut as in this toy example</a:t>
            </a:r>
          </a:p>
          <a:p>
            <a:pPr>
              <a:buNone/>
            </a:pPr>
            <a:endParaRPr lang="en-US" dirty="0"/>
          </a:p>
        </p:txBody>
      </p:sp>
    </p:spTree>
    <p:custDataLst>
      <p:tags r:id="rId1"/>
    </p:custData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/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0E000829-2C62-4421-89FE-04E816F27A01}" type="slidenum">
              <a:rPr lang="en-US" sz="1200"/>
              <a:pPr algn="r"/>
              <a:t>36</a:t>
            </a:fld>
            <a:endParaRPr lang="en-US" sz="1200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52400"/>
            <a:ext cx="9144000" cy="9906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AU" altLang="zh-TW" sz="3200" dirty="0" smtClean="0">
                <a:ea typeface="PMingLiU" pitchFamily="18" charset="-120"/>
              </a:rPr>
              <a:t>Cluster Analysis</a:t>
            </a:r>
            <a:endParaRPr lang="en-US" sz="3200" dirty="0" smtClean="0">
              <a:ea typeface="PMingLiU" pitchFamily="18" charset="-120"/>
            </a:endParaRP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371600"/>
            <a:ext cx="8223250" cy="5181600"/>
          </a:xfrm>
          <a:noFill/>
        </p:spPr>
        <p:txBody>
          <a:bodyPr lIns="92075" tIns="46038" rIns="92075" bIns="46038"/>
          <a:lstStyle/>
          <a:p>
            <a:pPr marL="533400" indent="-533400">
              <a:lnSpc>
                <a:spcPct val="130000"/>
              </a:lnSpc>
            </a:pPr>
            <a:r>
              <a:rPr lang="en-US" dirty="0" smtClean="0">
                <a:latin typeface="Calibri" pitchFamily="34" charset="0"/>
              </a:rPr>
              <a:t>Cluster Analysis: Basic Concepts</a:t>
            </a:r>
          </a:p>
          <a:p>
            <a:pPr marL="533400" indent="-533400">
              <a:lnSpc>
                <a:spcPct val="130000"/>
              </a:lnSpc>
            </a:pPr>
            <a:r>
              <a:rPr lang="en-US" dirty="0" smtClean="0">
                <a:latin typeface="Calibri" pitchFamily="34" charset="0"/>
              </a:rPr>
              <a:t>Partitioning Methods</a:t>
            </a:r>
          </a:p>
          <a:p>
            <a:pPr marL="533400" indent="-533400">
              <a:lnSpc>
                <a:spcPct val="130000"/>
              </a:lnSpc>
            </a:pPr>
            <a:r>
              <a:rPr lang="en-US" dirty="0" smtClean="0">
                <a:latin typeface="Calibri" pitchFamily="34" charset="0"/>
              </a:rPr>
              <a:t>Hierarchical Methods</a:t>
            </a:r>
          </a:p>
          <a:p>
            <a:pPr marL="533400" indent="-533400">
              <a:lnSpc>
                <a:spcPct val="130000"/>
              </a:lnSpc>
            </a:pPr>
            <a:r>
              <a:rPr lang="en-US" dirty="0" smtClean="0">
                <a:latin typeface="Calibri" pitchFamily="34" charset="0"/>
              </a:rPr>
              <a:t>Density-Based Methods</a:t>
            </a:r>
          </a:p>
          <a:p>
            <a:pPr marL="533400" indent="-533400">
              <a:lnSpc>
                <a:spcPct val="130000"/>
              </a:lnSpc>
            </a:pPr>
            <a:r>
              <a:rPr lang="en-US" dirty="0" smtClean="0">
                <a:latin typeface="Calibri" pitchFamily="34" charset="0"/>
              </a:rPr>
              <a:t>Evaluation of Clustering</a:t>
            </a:r>
          </a:p>
          <a:p>
            <a:pPr marL="533400" indent="-533400">
              <a:lnSpc>
                <a:spcPct val="130000"/>
              </a:lnSpc>
            </a:pPr>
            <a:r>
              <a:rPr lang="en-US" dirty="0" smtClean="0">
                <a:latin typeface="Calibri" pitchFamily="34" charset="0"/>
              </a:rPr>
              <a:t>Summary</a:t>
            </a:r>
          </a:p>
        </p:txBody>
      </p:sp>
      <p:sp>
        <p:nvSpPr>
          <p:cNvPr id="25605" name="AutoShape 5"/>
          <p:cNvSpPr>
            <a:spLocks noChangeArrowheads="1"/>
          </p:cNvSpPr>
          <p:nvPr/>
        </p:nvSpPr>
        <p:spPr bwMode="auto">
          <a:xfrm rot="9867012">
            <a:off x="4419600" y="2743200"/>
            <a:ext cx="304800" cy="381000"/>
          </a:xfrm>
          <a:prstGeom prst="notchedRightArrow">
            <a:avLst>
              <a:gd name="adj1" fmla="val 50000"/>
              <a:gd name="adj2" fmla="val 25000"/>
            </a:avLst>
          </a:prstGeom>
          <a:solidFill>
            <a:srgbClr val="00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/>
          <a:p>
            <a:endParaRPr lang="en-US"/>
          </a:p>
        </p:txBody>
      </p:sp>
      <p:sp>
        <p:nvSpPr>
          <p:cNvPr id="25606" name="Slide Number Placeholder 5"/>
          <p:cNvSpPr txBox="1">
            <a:spLocks noGrp="1"/>
          </p:cNvSpPr>
          <p:nvPr/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A5AA98F-0791-46AB-8316-AE7A3FDCEB4A}" type="slidenum">
              <a:rPr lang="en-US" sz="1200"/>
              <a:pPr algn="r"/>
              <a:t>36</a:t>
            </a:fld>
            <a:endParaRPr lang="en-US" sz="120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Hierarchical clustering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371600"/>
            <a:ext cx="8382000" cy="5105400"/>
          </a:xfrm>
        </p:spPr>
        <p:txBody>
          <a:bodyPr/>
          <a:lstStyle/>
          <a:p>
            <a:r>
              <a:rPr lang="en-US" sz="2400" dirty="0" smtClean="0"/>
              <a:t>Agglomerative (Bottom-up)</a:t>
            </a:r>
          </a:p>
          <a:p>
            <a:pPr lvl="1"/>
            <a:r>
              <a:rPr lang="en-US" sz="2400" dirty="0" smtClean="0"/>
              <a:t>This bottom-up strategy starts by placing each object in its own cluster</a:t>
            </a:r>
          </a:p>
          <a:p>
            <a:pPr lvl="1"/>
            <a:r>
              <a:rPr lang="en-US" sz="2400" dirty="0" smtClean="0"/>
              <a:t>Merge the two most similar clusters into one</a:t>
            </a:r>
          </a:p>
          <a:p>
            <a:pPr lvl="2"/>
            <a:r>
              <a:rPr lang="en-US" dirty="0" smtClean="0"/>
              <a:t>Replace the two clusters into the new cluster</a:t>
            </a:r>
          </a:p>
          <a:p>
            <a:pPr lvl="2"/>
            <a:r>
              <a:rPr lang="en-US" dirty="0" smtClean="0"/>
              <a:t>Re-compute </a:t>
            </a:r>
            <a:r>
              <a:rPr lang="en-US" dirty="0" err="1" smtClean="0"/>
              <a:t>intercluster</a:t>
            </a:r>
            <a:r>
              <a:rPr lang="en-US" dirty="0" smtClean="0"/>
              <a:t> similarity scores </a:t>
            </a:r>
            <a:r>
              <a:rPr lang="en-US" dirty="0" err="1" smtClean="0"/>
              <a:t>w.r.t</a:t>
            </a:r>
            <a:r>
              <a:rPr lang="en-US" dirty="0" smtClean="0"/>
              <a:t>. the new cluster</a:t>
            </a:r>
          </a:p>
          <a:p>
            <a:pPr lvl="1"/>
            <a:r>
              <a:rPr lang="en-US" sz="2400" dirty="0" smtClean="0"/>
              <a:t>Repeat the above step until there are </a:t>
            </a:r>
            <a:r>
              <a:rPr lang="en-US" sz="2400" i="1" dirty="0" smtClean="0"/>
              <a:t>k</a:t>
            </a:r>
            <a:r>
              <a:rPr lang="en-US" sz="2400" dirty="0" smtClean="0"/>
              <a:t> clusters left (</a:t>
            </a:r>
            <a:r>
              <a:rPr lang="en-US" sz="2400" i="1" dirty="0" smtClean="0"/>
              <a:t>k</a:t>
            </a:r>
            <a:r>
              <a:rPr lang="en-US" sz="2400" dirty="0" smtClean="0"/>
              <a:t> can be 1)</a:t>
            </a:r>
          </a:p>
          <a:p>
            <a:pPr lvl="1"/>
            <a:r>
              <a:rPr lang="en-IN" sz="2400" dirty="0" smtClean="0"/>
              <a:t>Most hierarchical clustering methods belong to this category. They differ only in their definition of </a:t>
            </a:r>
            <a:r>
              <a:rPr lang="en-US" sz="2400" dirty="0" err="1" smtClean="0"/>
              <a:t>intercluster</a:t>
            </a:r>
            <a:r>
              <a:rPr lang="en-US" sz="2400" dirty="0" smtClean="0"/>
              <a:t> similarity.</a:t>
            </a:r>
            <a:r>
              <a:rPr lang="en-IN" sz="2400" dirty="0" smtClean="0"/>
              <a:t> </a:t>
            </a:r>
            <a:endParaRPr lang="en-US" sz="2400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Agglomerative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Agglomerative (Bottom up)</a:t>
            </a:r>
          </a:p>
          <a:p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2514600" y="2819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743200" y="2819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590800" y="3200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057400" y="37338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105400" y="27432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5334000" y="29718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257800" y="36576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867400" y="36576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3429000" y="4343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7467600" y="3200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419600" y="4343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3886200" y="52578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/>
          <p:cNvSpPr/>
          <p:nvPr/>
        </p:nvSpPr>
        <p:spPr>
          <a:xfrm>
            <a:off x="2400837" y="2743200"/>
            <a:ext cx="609600" cy="3048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Hierarchical clustering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Agglomerative (Bottom up)</a:t>
            </a:r>
          </a:p>
          <a:p>
            <a:r>
              <a:rPr lang="en-US" dirty="0" smtClean="0"/>
              <a:t>1</a:t>
            </a:r>
            <a:r>
              <a:rPr lang="en-US" baseline="30000" dirty="0" smtClean="0"/>
              <a:t>st</a:t>
            </a:r>
            <a:r>
              <a:rPr lang="en-US" dirty="0" smtClean="0"/>
              <a:t> iteration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2514600" y="2819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743200" y="2819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590800" y="3200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057400" y="37338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105400" y="27432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5334000" y="29718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257800" y="36576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867400" y="36576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3429000" y="4343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7467600" y="3200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419600" y="4343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3886200" y="52578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286000" y="2514600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1</a:t>
            </a:r>
            <a:endParaRPr lang="en-US" b="1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/>
          <p:cNvSpPr/>
          <p:nvPr/>
        </p:nvSpPr>
        <p:spPr>
          <a:xfrm>
            <a:off x="5079642" y="2629437"/>
            <a:ext cx="457200" cy="60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2400837" y="2743200"/>
            <a:ext cx="609600" cy="3048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Hierarchical clustering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Agglomerative (Bottom up)</a:t>
            </a:r>
          </a:p>
          <a:p>
            <a:r>
              <a:rPr lang="en-US" dirty="0" smtClean="0"/>
              <a:t>2</a:t>
            </a:r>
            <a:r>
              <a:rPr lang="en-US" baseline="30000" dirty="0" smtClean="0"/>
              <a:t>nd</a:t>
            </a:r>
            <a:r>
              <a:rPr lang="en-US" dirty="0" smtClean="0"/>
              <a:t> iteration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2514600" y="2819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743200" y="2819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590800" y="3200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057400" y="37338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105400" y="27432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5334000" y="29718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257800" y="36576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867400" y="36576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3429000" y="4343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7467600" y="3200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419600" y="4343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3886200" y="52578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297805" y="2514600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1</a:t>
            </a:r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4876800" y="2514600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</a:t>
            </a:r>
            <a:endParaRPr lang="en-US" b="1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/>
          <p:cNvSpPr/>
          <p:nvPr/>
        </p:nvSpPr>
        <p:spPr>
          <a:xfrm>
            <a:off x="2209800" y="2438400"/>
            <a:ext cx="914400" cy="9906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5079642" y="2629437"/>
            <a:ext cx="457200" cy="60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2400837" y="2743200"/>
            <a:ext cx="609600" cy="3048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Hierarchical clustering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Agglomerative (Bottom up)</a:t>
            </a:r>
          </a:p>
          <a:p>
            <a:r>
              <a:rPr lang="en-US" dirty="0" smtClean="0"/>
              <a:t>3</a:t>
            </a:r>
            <a:r>
              <a:rPr lang="en-US" baseline="30000" dirty="0" smtClean="0"/>
              <a:t>rd</a:t>
            </a:r>
            <a:r>
              <a:rPr lang="en-US" dirty="0" smtClean="0"/>
              <a:t> iteration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2514600" y="2819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743200" y="2819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590800" y="3200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057400" y="37338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105400" y="27432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5334000" y="29718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257800" y="36576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867400" y="36576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3429000" y="4343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7467600" y="3200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419600" y="4343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3886200" y="52578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297805" y="2514600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1</a:t>
            </a:r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4876800" y="2514600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</a:t>
            </a:r>
            <a:endParaRPr lang="en-US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2057400" y="2362200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3</a:t>
            </a:r>
            <a:endParaRPr lang="en-US" b="1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22"/>
          <p:cNvSpPr/>
          <p:nvPr/>
        </p:nvSpPr>
        <p:spPr>
          <a:xfrm>
            <a:off x="5207358" y="3429000"/>
            <a:ext cx="838200" cy="6096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2209800" y="2438400"/>
            <a:ext cx="914400" cy="9906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5079642" y="2629437"/>
            <a:ext cx="457200" cy="60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2400837" y="2743200"/>
            <a:ext cx="609600" cy="3048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Hierarchical clustering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Agglomerative (Bottom up)</a:t>
            </a:r>
          </a:p>
          <a:p>
            <a:r>
              <a:rPr lang="en-US" dirty="0" smtClean="0"/>
              <a:t>4</a:t>
            </a:r>
            <a:r>
              <a:rPr lang="en-US" baseline="30000" dirty="0" smtClean="0"/>
              <a:t>th</a:t>
            </a:r>
            <a:r>
              <a:rPr lang="en-US" dirty="0" smtClean="0"/>
              <a:t> iteration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2514600" y="2819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743200" y="2819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590800" y="3200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057400" y="37338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105400" y="27432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5334000" y="29718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257800" y="36576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867400" y="36576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3429000" y="4343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7467600" y="3200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419600" y="4343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3886200" y="52578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297805" y="2514600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1</a:t>
            </a:r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4876800" y="2514600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</a:t>
            </a:r>
            <a:endParaRPr lang="en-US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2057400" y="2362200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3</a:t>
            </a:r>
            <a:endParaRPr lang="en-US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4953000" y="3516868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4</a:t>
            </a:r>
            <a:endParaRPr lang="en-US" b="1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val 28"/>
          <p:cNvSpPr/>
          <p:nvPr/>
        </p:nvSpPr>
        <p:spPr>
          <a:xfrm>
            <a:off x="4648200" y="2438400"/>
            <a:ext cx="1905000" cy="16002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5207358" y="3429000"/>
            <a:ext cx="838200" cy="60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2209800" y="2438400"/>
            <a:ext cx="914400" cy="9906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5079642" y="2629437"/>
            <a:ext cx="457200" cy="60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2400837" y="2743200"/>
            <a:ext cx="609600" cy="3048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Hierarchical clustering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Agglomerative (Bottom up)</a:t>
            </a:r>
          </a:p>
          <a:p>
            <a:r>
              <a:rPr lang="en-US" dirty="0" smtClean="0"/>
              <a:t>5</a:t>
            </a:r>
            <a:r>
              <a:rPr lang="en-US" baseline="30000" dirty="0" smtClean="0"/>
              <a:t>th</a:t>
            </a:r>
            <a:r>
              <a:rPr lang="en-US" dirty="0" smtClean="0"/>
              <a:t> iteration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2514600" y="2819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743200" y="2819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590800" y="3200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057400" y="37338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105400" y="27432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5334000" y="29718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257800" y="36576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867400" y="36576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3429000" y="4343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7467600" y="3200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419600" y="4343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3886200" y="52578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297805" y="2514600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1</a:t>
            </a:r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4876800" y="2514600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</a:t>
            </a:r>
            <a:endParaRPr lang="en-US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2057400" y="2362200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3</a:t>
            </a:r>
            <a:endParaRPr lang="en-US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4953000" y="3516868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4</a:t>
            </a:r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6553200" y="2743200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5</a:t>
            </a:r>
            <a:endParaRPr lang="en-US" b="1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val 32"/>
          <p:cNvSpPr/>
          <p:nvPr/>
        </p:nvSpPr>
        <p:spPr>
          <a:xfrm>
            <a:off x="3200400" y="3352800"/>
            <a:ext cx="1752600" cy="24384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3276600" y="3886200"/>
            <a:ext cx="1600200" cy="9144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4495800" y="2209800"/>
            <a:ext cx="3505200" cy="19812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4648200" y="2438400"/>
            <a:ext cx="1905000" cy="16002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1676400" y="2286000"/>
            <a:ext cx="1600200" cy="173355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5207358" y="3429000"/>
            <a:ext cx="838200" cy="60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2209800" y="2438400"/>
            <a:ext cx="914400" cy="9906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5079642" y="2629437"/>
            <a:ext cx="457200" cy="60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2400837" y="2743200"/>
            <a:ext cx="609600" cy="30480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Hierarchical clustering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Agglomerative (Bottom up)</a:t>
            </a:r>
          </a:p>
          <a:p>
            <a:r>
              <a:rPr lang="en-US" dirty="0" smtClean="0"/>
              <a:t>Finally k clusters left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2514600" y="2819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743200" y="2819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590800" y="3200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057400" y="37338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105400" y="27432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5334000" y="29718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257800" y="36576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867400" y="36576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3429000" y="4343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7467600" y="3200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419600" y="43434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3886200" y="5257800"/>
            <a:ext cx="152400" cy="152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297805" y="2514600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1</a:t>
            </a:r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4876800" y="2514600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2</a:t>
            </a:r>
            <a:endParaRPr lang="en-US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2057400" y="2362200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3</a:t>
            </a:r>
            <a:endParaRPr lang="en-US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4953000" y="3516868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4</a:t>
            </a:r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1447800" y="2514600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6</a:t>
            </a:r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7848600" y="2438400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9</a:t>
            </a:r>
            <a:endParaRPr lang="en-US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6553200" y="2743200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5</a:t>
            </a:r>
            <a:endParaRPr 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3810000" y="3669268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81400" y="3124200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8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err="1">
                <a:latin typeface="Calibri" charset="0"/>
              </a:rPr>
              <a:t>Intercluster</a:t>
            </a:r>
            <a:r>
              <a:rPr lang="en-US" b="1" dirty="0">
                <a:latin typeface="Calibri" charset="0"/>
              </a:rPr>
              <a:t> </a:t>
            </a:r>
            <a:r>
              <a:rPr lang="en-US" b="1" dirty="0" smtClean="0">
                <a:latin typeface="Calibri" charset="0"/>
              </a:rPr>
              <a:t>similarity </a:t>
            </a:r>
            <a:r>
              <a:rPr lang="en-US" b="1" dirty="0">
                <a:latin typeface="Calibri" charset="0"/>
              </a:rPr>
              <a:t>(</a:t>
            </a:r>
            <a:r>
              <a:rPr lang="en-US" b="1" i="1" dirty="0">
                <a:latin typeface="Calibri" charset="0"/>
                <a:sym typeface="Symbol" charset="0"/>
              </a:rPr>
              <a:t></a:t>
            </a:r>
            <a:r>
              <a:rPr lang="en-US" b="1" dirty="0">
                <a:latin typeface="Calibri" charset="0"/>
              </a:rPr>
              <a:t>)</a:t>
            </a:r>
          </a:p>
        </p:txBody>
      </p:sp>
      <p:sp>
        <p:nvSpPr>
          <p:cNvPr id="1556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60400" indent="-660400" eaLnBrk="1" hangingPunct="1">
              <a:lnSpc>
                <a:spcPct val="90000"/>
              </a:lnSpc>
              <a:buFontTx/>
              <a:buAutoNum type="arabicParenBoth"/>
            </a:pPr>
            <a:r>
              <a:rPr lang="en-US" sz="2400" dirty="0" smtClean="0">
                <a:solidFill>
                  <a:srgbClr val="FF0000"/>
                </a:solidFill>
                <a:latin typeface="Calibri" charset="0"/>
              </a:rPr>
              <a:t>The </a:t>
            </a:r>
            <a:r>
              <a:rPr lang="en-US" sz="2400" dirty="0">
                <a:solidFill>
                  <a:srgbClr val="FF0000"/>
                </a:solidFill>
                <a:latin typeface="Calibri" charset="0"/>
              </a:rPr>
              <a:t>single linkage</a:t>
            </a:r>
            <a:r>
              <a:rPr lang="en-US" sz="2400" dirty="0">
                <a:latin typeface="Calibri" charset="0"/>
              </a:rPr>
              <a:t> distance  is the closest distance between two objects belonging to two different </a:t>
            </a:r>
            <a:r>
              <a:rPr lang="en-US" sz="2400" dirty="0" smtClean="0">
                <a:latin typeface="Calibri" charset="0"/>
              </a:rPr>
              <a:t>clusters.</a:t>
            </a:r>
          </a:p>
          <a:p>
            <a:pPr marL="660400" indent="-660400" eaLnBrk="1" hangingPunct="1">
              <a:lnSpc>
                <a:spcPct val="90000"/>
              </a:lnSpc>
              <a:buFontTx/>
              <a:buAutoNum type="arabicParenBoth"/>
            </a:pPr>
            <a:endParaRPr lang="en-US" sz="2400" dirty="0" smtClean="0">
              <a:latin typeface="Calibri" charset="0"/>
            </a:endParaRPr>
          </a:p>
          <a:p>
            <a:pPr marL="660400" indent="-660400" eaLnBrk="1" hangingPunct="1">
              <a:lnSpc>
                <a:spcPct val="90000"/>
              </a:lnSpc>
              <a:buFontTx/>
              <a:buAutoNum type="arabicParenBoth"/>
            </a:pPr>
            <a:endParaRPr lang="en-US" sz="2400" dirty="0" smtClean="0">
              <a:solidFill>
                <a:srgbClr val="FF0000"/>
              </a:solidFill>
              <a:latin typeface="Calibri" charset="0"/>
            </a:endParaRPr>
          </a:p>
          <a:p>
            <a:pPr marL="660400" indent="-660400" eaLnBrk="1" hangingPunct="1">
              <a:lnSpc>
                <a:spcPct val="90000"/>
              </a:lnSpc>
              <a:buFontTx/>
              <a:buAutoNum type="arabicParenBoth"/>
            </a:pPr>
            <a:r>
              <a:rPr lang="en-US" sz="2400" dirty="0" smtClean="0">
                <a:solidFill>
                  <a:srgbClr val="FF0000"/>
                </a:solidFill>
                <a:latin typeface="Calibri" charset="0"/>
              </a:rPr>
              <a:t>The complete linkage</a:t>
            </a:r>
            <a:r>
              <a:rPr lang="en-US" sz="2400" dirty="0" smtClean="0">
                <a:latin typeface="Calibri" charset="0"/>
              </a:rPr>
              <a:t> distance  represents the distance between the most remote objects belonging to two different clusters.</a:t>
            </a:r>
          </a:p>
          <a:p>
            <a:pPr marL="660400" indent="-660400" eaLnBrk="1" hangingPunct="1">
              <a:lnSpc>
                <a:spcPct val="90000"/>
              </a:lnSpc>
              <a:buFontTx/>
              <a:buAutoNum type="arabicParenBoth"/>
            </a:pPr>
            <a:endParaRPr lang="en-IN" sz="2400" dirty="0" smtClean="0">
              <a:latin typeface="Calibri" charset="0"/>
            </a:endParaRPr>
          </a:p>
          <a:p>
            <a:pPr marL="660400" indent="-660400" eaLnBrk="1" hangingPunct="1">
              <a:lnSpc>
                <a:spcPct val="90000"/>
              </a:lnSpc>
              <a:buFontTx/>
              <a:buAutoNum type="arabicParenBoth"/>
            </a:pPr>
            <a:r>
              <a:rPr lang="en-US" sz="2400" dirty="0" smtClean="0">
                <a:solidFill>
                  <a:srgbClr val="FF0000"/>
                </a:solidFill>
                <a:latin typeface="Calibri" charset="0"/>
              </a:rPr>
              <a:t>The average linkage</a:t>
            </a:r>
            <a:r>
              <a:rPr lang="en-US" sz="2400" dirty="0" smtClean="0">
                <a:latin typeface="Calibri" charset="0"/>
              </a:rPr>
              <a:t> distance  defines the average distance between all the objects belonging to two different clusters.</a:t>
            </a:r>
          </a:p>
          <a:p>
            <a:pPr marL="660400" indent="-660400" eaLnBrk="1" hangingPunct="1">
              <a:lnSpc>
                <a:spcPct val="90000"/>
              </a:lnSpc>
              <a:buNone/>
            </a:pPr>
            <a:endParaRPr lang="en-US" dirty="0">
              <a:latin typeface="Calibri" charset="0"/>
            </a:endParaRPr>
          </a:p>
          <a:p>
            <a:pPr marL="660400" indent="-660400" eaLnBrk="1" hangingPunct="1">
              <a:lnSpc>
                <a:spcPct val="90000"/>
              </a:lnSpc>
              <a:buFontTx/>
              <a:buNone/>
            </a:pPr>
            <a:endParaRPr lang="en-US" dirty="0">
              <a:latin typeface="Calibri" charset="0"/>
            </a:endParaRPr>
          </a:p>
          <a:p>
            <a:pPr marL="457200" lvl="1" indent="0" eaLnBrk="1" hangingPunct="1">
              <a:lnSpc>
                <a:spcPct val="90000"/>
              </a:lnSpc>
              <a:buFont typeface="Arial" charset="0"/>
              <a:buNone/>
            </a:pPr>
            <a:r>
              <a:rPr lang="en-US" dirty="0">
                <a:latin typeface="Calibri" charset="0"/>
              </a:rPr>
              <a:t>         </a:t>
            </a:r>
          </a:p>
        </p:txBody>
      </p:sp>
      <p:sp>
        <p:nvSpPr>
          <p:cNvPr id="15565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55652" name="Object 2"/>
          <p:cNvGraphicFramePr>
            <a:graphicFrameLocks noChangeAspect="1"/>
          </p:cNvGraphicFramePr>
          <p:nvPr/>
        </p:nvGraphicFramePr>
        <p:xfrm>
          <a:off x="3505200" y="2209800"/>
          <a:ext cx="2743200" cy="666205"/>
        </p:xfrm>
        <a:graphic>
          <a:graphicData uri="http://schemas.openxmlformats.org/presentationml/2006/ole">
            <p:oleObj spid="_x0000_s222210" name="Bitmap Image" r:id="rId3" imgW="2048161" imgH="419048" progId="PBrush">
              <p:embed/>
            </p:oleObj>
          </a:graphicData>
        </a:graphic>
      </p:graphicFrame>
      <p:pic>
        <p:nvPicPr>
          <p:cNvPr id="22221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81400" y="3657600"/>
            <a:ext cx="2743199" cy="613610"/>
          </a:xfrm>
          <a:prstGeom prst="rect">
            <a:avLst/>
          </a:prstGeom>
          <a:noFill/>
        </p:spPr>
      </p:pic>
      <p:pic>
        <p:nvPicPr>
          <p:cNvPr id="222214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657600" y="5181600"/>
            <a:ext cx="2514600" cy="7007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271306209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err="1">
                <a:latin typeface="Calibri" charset="0"/>
              </a:rPr>
              <a:t>Intercluster</a:t>
            </a:r>
            <a:r>
              <a:rPr lang="en-US" b="1" dirty="0">
                <a:latin typeface="Calibri" charset="0"/>
              </a:rPr>
              <a:t> </a:t>
            </a:r>
            <a:r>
              <a:rPr lang="en-US" b="1" dirty="0" smtClean="0">
                <a:latin typeface="Calibri" charset="0"/>
              </a:rPr>
              <a:t>similarity </a:t>
            </a:r>
            <a:r>
              <a:rPr lang="en-US" b="1" dirty="0">
                <a:latin typeface="Calibri" charset="0"/>
              </a:rPr>
              <a:t>(</a:t>
            </a:r>
            <a:r>
              <a:rPr lang="en-US" b="1" i="1" dirty="0">
                <a:latin typeface="Calibri" charset="0"/>
                <a:sym typeface="Symbol" charset="0"/>
              </a:rPr>
              <a:t></a:t>
            </a:r>
            <a:r>
              <a:rPr lang="en-US" b="1" dirty="0">
                <a:latin typeface="Calibri" charset="0"/>
              </a:rPr>
              <a:t>)</a:t>
            </a:r>
          </a:p>
        </p:txBody>
      </p:sp>
      <p:sp>
        <p:nvSpPr>
          <p:cNvPr id="1587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1035050" lvl="1" indent="-577850" eaLnBrk="1" hangingPunct="1">
              <a:buFontTx/>
              <a:buNone/>
            </a:pPr>
            <a:r>
              <a:rPr lang="en-US" sz="2400" dirty="0" smtClean="0">
                <a:solidFill>
                  <a:srgbClr val="FF0000"/>
                </a:solidFill>
                <a:latin typeface="Calibri" charset="0"/>
              </a:rPr>
              <a:t>(4) The </a:t>
            </a:r>
            <a:r>
              <a:rPr lang="en-US" sz="2400" dirty="0" err="1">
                <a:solidFill>
                  <a:srgbClr val="FF0000"/>
                </a:solidFill>
                <a:latin typeface="Calibri" charset="0"/>
              </a:rPr>
              <a:t>centroid</a:t>
            </a:r>
            <a:r>
              <a:rPr lang="en-US" sz="2400" dirty="0">
                <a:solidFill>
                  <a:srgbClr val="FF0000"/>
                </a:solidFill>
                <a:latin typeface="Calibri" charset="0"/>
              </a:rPr>
              <a:t> linkage </a:t>
            </a:r>
            <a:r>
              <a:rPr lang="en-US" sz="2400" dirty="0">
                <a:latin typeface="Calibri" charset="0"/>
              </a:rPr>
              <a:t>distance  reflects the distance between the centers </a:t>
            </a:r>
            <a:r>
              <a:rPr lang="en-US" sz="2400" i="1" dirty="0" err="1">
                <a:latin typeface="Calibri" charset="0"/>
              </a:rPr>
              <a:t>v</a:t>
            </a:r>
            <a:r>
              <a:rPr lang="en-US" sz="2400" i="1" baseline="-25000" dirty="0" err="1">
                <a:latin typeface="Calibri" charset="0"/>
              </a:rPr>
              <a:t>s</a:t>
            </a:r>
            <a:r>
              <a:rPr lang="en-US" sz="2400" dirty="0">
                <a:latin typeface="Calibri" charset="0"/>
              </a:rPr>
              <a:t> and </a:t>
            </a:r>
            <a:r>
              <a:rPr lang="en-US" sz="2400" i="1" dirty="0" err="1">
                <a:latin typeface="Calibri" charset="0"/>
              </a:rPr>
              <a:t>v</a:t>
            </a:r>
            <a:r>
              <a:rPr lang="en-US" sz="2400" i="1" baseline="-25000" dirty="0" err="1">
                <a:latin typeface="Calibri" charset="0"/>
              </a:rPr>
              <a:t>t</a:t>
            </a:r>
            <a:r>
              <a:rPr lang="en-US" sz="2400" dirty="0">
                <a:latin typeface="Calibri" charset="0"/>
              </a:rPr>
              <a:t> of two clusters </a:t>
            </a:r>
            <a:r>
              <a:rPr lang="en-US" sz="2400" i="1" dirty="0">
                <a:latin typeface="Calibri" charset="0"/>
              </a:rPr>
              <a:t>S</a:t>
            </a:r>
            <a:r>
              <a:rPr lang="en-US" sz="2400" dirty="0">
                <a:latin typeface="Calibri" charset="0"/>
              </a:rPr>
              <a:t> and </a:t>
            </a:r>
            <a:r>
              <a:rPr lang="en-US" sz="2400" i="1" dirty="0">
                <a:latin typeface="Calibri" charset="0"/>
              </a:rPr>
              <a:t>T</a:t>
            </a:r>
            <a:r>
              <a:rPr lang="en-US" sz="2400" dirty="0">
                <a:latin typeface="Calibri" charset="0"/>
              </a:rPr>
              <a:t> </a:t>
            </a:r>
            <a:r>
              <a:rPr lang="en-US" sz="2400" dirty="0" smtClean="0">
                <a:latin typeface="Calibri" charset="0"/>
              </a:rPr>
              <a:t>respectively, defined as                                        , where</a:t>
            </a:r>
          </a:p>
          <a:p>
            <a:pPr marL="1035050" lvl="1" indent="-577850" eaLnBrk="1" hangingPunct="1">
              <a:buFontTx/>
              <a:buNone/>
            </a:pPr>
            <a:endParaRPr lang="en-IN" sz="2400" dirty="0" smtClean="0">
              <a:latin typeface="Calibri" charset="0"/>
            </a:endParaRPr>
          </a:p>
          <a:p>
            <a:pPr marL="1035050" lvl="1" indent="-577850" eaLnBrk="1" hangingPunct="1">
              <a:buFontTx/>
              <a:buNone/>
            </a:pPr>
            <a:endParaRPr lang="en-IN" sz="2400" dirty="0" smtClean="0">
              <a:latin typeface="Calibri" charset="0"/>
            </a:endParaRPr>
          </a:p>
          <a:p>
            <a:pPr marL="1035050" lvl="1" indent="-577850" eaLnBrk="1" hangingPunct="1">
              <a:buNone/>
            </a:pPr>
            <a:r>
              <a:rPr lang="en-IN" sz="2400" dirty="0" smtClean="0">
                <a:latin typeface="Calibri" charset="0"/>
              </a:rPr>
              <a:t>(5) </a:t>
            </a:r>
            <a:r>
              <a:rPr lang="en-US" sz="2400" dirty="0" smtClean="0">
                <a:solidFill>
                  <a:srgbClr val="FF0000"/>
                </a:solidFill>
                <a:latin typeface="Calibri" charset="0"/>
              </a:rPr>
              <a:t>The average of </a:t>
            </a:r>
            <a:r>
              <a:rPr lang="en-US" sz="2400" dirty="0" err="1" smtClean="0">
                <a:solidFill>
                  <a:srgbClr val="FF0000"/>
                </a:solidFill>
                <a:latin typeface="Calibri" charset="0"/>
              </a:rPr>
              <a:t>centroids</a:t>
            </a:r>
            <a:r>
              <a:rPr lang="en-US" sz="2400" dirty="0" smtClean="0">
                <a:solidFill>
                  <a:srgbClr val="FF0000"/>
                </a:solidFill>
                <a:latin typeface="Calibri" charset="0"/>
              </a:rPr>
              <a:t> linkage</a:t>
            </a:r>
            <a:r>
              <a:rPr lang="en-US" sz="2400" dirty="0" smtClean="0">
                <a:latin typeface="Calibri" charset="0"/>
              </a:rPr>
              <a:t>  represents the distance between the center of a cluster and all the objects belonging to a different cluster.</a:t>
            </a:r>
          </a:p>
          <a:p>
            <a:pPr marL="1035050" lvl="1" indent="-577850" eaLnBrk="1" hangingPunct="1">
              <a:buFontTx/>
              <a:buNone/>
            </a:pPr>
            <a:endParaRPr lang="en-US" sz="2400" dirty="0">
              <a:latin typeface="Calibri" charset="0"/>
            </a:endParaRPr>
          </a:p>
        </p:txBody>
      </p:sp>
      <p:pic>
        <p:nvPicPr>
          <p:cNvPr id="15872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209800"/>
            <a:ext cx="2474259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872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2667000"/>
            <a:ext cx="3428999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630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438400" y="4572000"/>
            <a:ext cx="3581400" cy="62285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112582824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 smtClean="0"/>
              <a:t>Time Complexity of </a:t>
            </a:r>
            <a:r>
              <a:rPr lang="en-US" sz="2800" dirty="0" smtClean="0"/>
              <a:t>Agglomerative Clustering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534400" cy="5105400"/>
          </a:xfrm>
        </p:spPr>
        <p:txBody>
          <a:bodyPr/>
          <a:lstStyle/>
          <a:p>
            <a:r>
              <a:rPr lang="en-US" sz="2000" dirty="0" smtClean="0"/>
              <a:t>The time complexity of agglomerative clustering can vary depending on the chosen linkage criterion (e.g., single linkage, complete linkage, average linkage, etc).</a:t>
            </a:r>
          </a:p>
          <a:p>
            <a:r>
              <a:rPr lang="en-US" sz="2400" dirty="0" smtClean="0"/>
              <a:t>Here's a general overview of the time complexity:</a:t>
            </a:r>
          </a:p>
          <a:p>
            <a:pPr>
              <a:buNone/>
            </a:pPr>
            <a:r>
              <a:rPr lang="en-US" sz="2400" b="1" dirty="0" smtClean="0"/>
              <a:t>(</a:t>
            </a:r>
            <a:r>
              <a:rPr lang="en-US" sz="2400" b="1" dirty="0" err="1" smtClean="0"/>
              <a:t>i</a:t>
            </a:r>
            <a:r>
              <a:rPr lang="en-US" sz="2400" b="1" dirty="0" smtClean="0"/>
              <a:t>) Computing </a:t>
            </a:r>
            <a:r>
              <a:rPr lang="en-US" sz="2400" b="1" dirty="0" err="1" smtClean="0"/>
              <a:t>Pairwise</a:t>
            </a:r>
            <a:r>
              <a:rPr lang="en-US" sz="2400" b="1" dirty="0" smtClean="0"/>
              <a:t> Distances</a:t>
            </a:r>
            <a:endParaRPr lang="en-US" sz="2400" dirty="0" smtClean="0"/>
          </a:p>
          <a:p>
            <a:pPr lvl="1"/>
            <a:r>
              <a:rPr lang="en-US" sz="2400" dirty="0" smtClean="0"/>
              <a:t>Initially, we need to compute the </a:t>
            </a:r>
            <a:r>
              <a:rPr lang="en-US" sz="2400" dirty="0" err="1" smtClean="0"/>
              <a:t>pairwise</a:t>
            </a:r>
            <a:r>
              <a:rPr lang="en-US" sz="2400" dirty="0" smtClean="0"/>
              <a:t> distances between all data points.</a:t>
            </a:r>
          </a:p>
          <a:p>
            <a:pPr lvl="1"/>
            <a:r>
              <a:rPr lang="en-US" sz="2400" dirty="0" smtClean="0"/>
              <a:t>This step typically requires         operations if we are using a simple distance metric like Euclidean distance, where d is the dimension of the object. More complex distance metrics may have higher time complexity.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7B124B-24CA-4ED2-9A1D-3E801FCC035C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  <p:sp>
        <p:nvSpPr>
          <p:cNvPr id="131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1075" name="Rectangle 3"/>
          <p:cNvSpPr>
            <a:spLocks noChangeArrowheads="1"/>
          </p:cNvSpPr>
          <p:nvPr/>
        </p:nvSpPr>
        <p:spPr bwMode="auto">
          <a:xfrm>
            <a:off x="0" y="635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3107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0413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04129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876800" y="4165600"/>
            <a:ext cx="635000" cy="254000"/>
          </a:xfrm>
          <a:prstGeom prst="rect">
            <a:avLst/>
          </a:prstGeom>
          <a:noFill/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 smtClean="0">
                <a:solidFill>
                  <a:srgbClr val="333399"/>
                </a:solidFill>
              </a:rPr>
              <a:t>Time Complexity of </a:t>
            </a:r>
            <a:r>
              <a:rPr lang="en-US" sz="2800" dirty="0" smtClean="0">
                <a:solidFill>
                  <a:srgbClr val="333399"/>
                </a:solidFill>
              </a:rPr>
              <a:t>Agglomerative Clustering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400" b="1" dirty="0" smtClean="0"/>
              <a:t>(ii) Cluster Merging</a:t>
            </a:r>
            <a:endParaRPr lang="en-US" sz="2400" dirty="0" smtClean="0"/>
          </a:p>
          <a:p>
            <a:r>
              <a:rPr lang="en-US" sz="2400" dirty="0" smtClean="0"/>
              <a:t>At each iteration, we need to identify the closest pair of clusters and merge them.</a:t>
            </a:r>
          </a:p>
          <a:p>
            <a:r>
              <a:rPr lang="en-US" sz="2400" dirty="0" smtClean="0"/>
              <a:t>Identifying the closest pair of clusters can be done efficiently using data structures like priority queues or minimum spanning trees.</a:t>
            </a:r>
          </a:p>
          <a:p>
            <a:r>
              <a:rPr lang="en-US" sz="2400" dirty="0" smtClean="0"/>
              <a:t>Merging generally requires        operations if we use a brute-force approach to compare all pairs of clusters. </a:t>
            </a:r>
          </a:p>
          <a:p>
            <a:r>
              <a:rPr lang="en-US" sz="2400" dirty="0" smtClean="0"/>
              <a:t>Thus, the merging process requires O(n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) operations (to find the closest clusters) at each step, over (n−1) merges.</a:t>
            </a:r>
          </a:p>
          <a:p>
            <a:r>
              <a:rPr lang="en-US" sz="2400" dirty="0" smtClean="0"/>
              <a:t>Thus, the overall time complexity for agglomerative clustering is: O(n</a:t>
            </a:r>
            <a:r>
              <a:rPr lang="en-US" sz="2400" baseline="30000" dirty="0" smtClean="0"/>
              <a:t>3</a:t>
            </a:r>
            <a:r>
              <a:rPr lang="en-US" sz="2400" dirty="0" smtClean="0"/>
              <a:t>)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7B124B-24CA-4ED2-9A1D-3E801FCC035C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  <p:sp>
        <p:nvSpPr>
          <p:cNvPr id="30310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03105" name="Picture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495800" y="3928979"/>
            <a:ext cx="533400" cy="262021"/>
          </a:xfrm>
          <a:prstGeom prst="rect">
            <a:avLst/>
          </a:prstGeom>
          <a:noFill/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Divisive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Divisive (Top-down)</a:t>
            </a:r>
          </a:p>
          <a:p>
            <a:pPr lvl="1"/>
            <a:r>
              <a:rPr lang="en-US" dirty="0" smtClean="0"/>
              <a:t>Start at the top with all objects in one cluster</a:t>
            </a:r>
          </a:p>
          <a:p>
            <a:pPr lvl="1"/>
            <a:r>
              <a:rPr lang="en-US" dirty="0" smtClean="0"/>
              <a:t>The cluster is split into </a:t>
            </a:r>
            <a:r>
              <a:rPr lang="en-US" dirty="0" err="1" smtClean="0"/>
              <a:t>subclusters</a:t>
            </a:r>
            <a:r>
              <a:rPr lang="en-US" dirty="0" smtClean="0"/>
              <a:t> using a flat clustering algorithm</a:t>
            </a:r>
          </a:p>
          <a:p>
            <a:pPr lvl="1"/>
            <a:r>
              <a:rPr lang="en-US" dirty="0" smtClean="0"/>
              <a:t>This procedure is applied recursively </a:t>
            </a:r>
            <a:r>
              <a:rPr lang="en-US" dirty="0" smtClean="0">
                <a:solidFill>
                  <a:srgbClr val="FF0000"/>
                </a:solidFill>
              </a:rPr>
              <a:t>until</a:t>
            </a:r>
            <a:r>
              <a:rPr lang="en-US" dirty="0" smtClean="0"/>
              <a:t> each object is in its own singleton cluster </a:t>
            </a:r>
            <a:r>
              <a:rPr lang="en-US" dirty="0" smtClean="0">
                <a:solidFill>
                  <a:srgbClr val="FF0000"/>
                </a:solidFill>
              </a:rPr>
              <a:t>or 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until</a:t>
            </a:r>
            <a:r>
              <a:rPr lang="en-US" dirty="0" smtClean="0"/>
              <a:t> it satisfies certain termination conditions, such as (</a:t>
            </a:r>
            <a:r>
              <a:rPr lang="en-US" dirty="0" err="1" smtClean="0"/>
              <a:t>i</a:t>
            </a:r>
            <a:r>
              <a:rPr lang="en-US" dirty="0" smtClean="0"/>
              <a:t>) a desired number of clusters is obtained or (ii) the distance between the two closest clusters is above a certain threshold distance. </a:t>
            </a:r>
            <a:endParaRPr lang="en-US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Hierarchical clustering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Divisive (Top-down): Use flat clustering say, K-Means clustering with K=2. </a:t>
            </a:r>
            <a:endParaRPr 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6476" y="2286000"/>
            <a:ext cx="8835124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Time Complexity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8382000" cy="5715000"/>
          </a:xfrm>
        </p:spPr>
        <p:txBody>
          <a:bodyPr/>
          <a:lstStyle/>
          <a:p>
            <a:pPr lvl="1">
              <a:buNone/>
            </a:pPr>
            <a:endParaRPr lang="en-US" sz="2000" dirty="0" smtClean="0"/>
          </a:p>
          <a:p>
            <a:pPr marL="342900" lvl="1" indent="-342900">
              <a:buClr>
                <a:schemeClr val="folHlink"/>
              </a:buClr>
              <a:buSzPct val="60000"/>
            </a:pPr>
            <a:r>
              <a:rPr lang="en-US" sz="2000" dirty="0" smtClean="0"/>
              <a:t>Divisive clustering is the opposite of agglomerative clustering, where we start with a single cluster containing all data points and recursively split it into smaller clusters.</a:t>
            </a:r>
          </a:p>
          <a:p>
            <a:pPr marL="342900" lvl="1" indent="-342900">
              <a:buClr>
                <a:schemeClr val="folHlink"/>
              </a:buClr>
              <a:buSzPct val="60000"/>
            </a:pPr>
            <a:r>
              <a:rPr lang="en-US" sz="2000" dirty="0" smtClean="0"/>
              <a:t>The time complexity of divisive clustering depends on the specific algorithm used for splitting clusters and the criteria for determining the optimal splits.</a:t>
            </a:r>
          </a:p>
          <a:p>
            <a:pPr marL="342900" lvl="1" indent="-342900">
              <a:buClr>
                <a:schemeClr val="folHlink"/>
              </a:buClr>
              <a:buSzPct val="60000"/>
            </a:pPr>
            <a:r>
              <a:rPr lang="en-US" sz="2000" dirty="0" smtClean="0"/>
              <a:t>Some divisive clustering algorithms may have exponential time complexity in the worst-case scenario, particularly if they exhaustively search for the best splits.</a:t>
            </a:r>
          </a:p>
          <a:p>
            <a:r>
              <a:rPr lang="en-US" sz="2000" dirty="0" smtClean="0"/>
              <a:t>It's important to note that these complexities are theoretical and can vary in practice based on the implementation details, optimizations, and characteristics of the dataset. </a:t>
            </a:r>
          </a:p>
          <a:p>
            <a:r>
              <a:rPr lang="en-US" sz="2000" dirty="0" smtClean="0"/>
              <a:t>Additionally, the time complexity may also be influenced by factors such as the dimensionality of the data and the choice of distance metric.</a:t>
            </a:r>
          </a:p>
          <a:p>
            <a:pPr lvl="1"/>
            <a:endParaRPr lang="en-US" sz="240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7B124B-24CA-4ED2-9A1D-3E801FCC035C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  <p:sp>
        <p:nvSpPr>
          <p:cNvPr id="2979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9798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Time Complexity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7B124B-24CA-4ED2-9A1D-3E801FCC035C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  <p:pic>
        <p:nvPicPr>
          <p:cNvPr id="3184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066800"/>
            <a:ext cx="7560058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zo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Time Complexity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7B124B-24CA-4ED2-9A1D-3E801FCC035C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  <p:pic>
        <p:nvPicPr>
          <p:cNvPr id="3194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295400"/>
            <a:ext cx="7594737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zo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Time Complexity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7B124B-24CA-4ED2-9A1D-3E801FCC035C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  <p:pic>
        <p:nvPicPr>
          <p:cNvPr id="3205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295400"/>
            <a:ext cx="8089430" cy="302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2051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4343400"/>
            <a:ext cx="7991475" cy="1396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zo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Bottom-up vs. Top-down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Which one is more complex?</a:t>
            </a:r>
          </a:p>
          <a:p>
            <a:r>
              <a:rPr lang="en-US" dirty="0" smtClean="0">
                <a:solidFill>
                  <a:schemeClr val="bg1">
                    <a:lumMod val="75000"/>
                  </a:schemeClr>
                </a:solidFill>
              </a:rPr>
              <a:t>Which one is more efficient?</a:t>
            </a:r>
          </a:p>
          <a:p>
            <a:r>
              <a:rPr lang="en-US" dirty="0" smtClean="0">
                <a:solidFill>
                  <a:schemeClr val="bg1">
                    <a:lumMod val="75000"/>
                  </a:schemeClr>
                </a:solidFill>
              </a:rPr>
              <a:t>Which one is more accurate?</a:t>
            </a:r>
          </a:p>
          <a:p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Bottom-up vs. Top-down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Which one is more complex?</a:t>
            </a:r>
          </a:p>
          <a:p>
            <a:pPr lvl="1"/>
            <a:r>
              <a:rPr lang="en-US" dirty="0" smtClean="0"/>
              <a:t>Top-down</a:t>
            </a:r>
          </a:p>
          <a:p>
            <a:pPr lvl="1"/>
            <a:r>
              <a:rPr lang="en-US" dirty="0" smtClean="0"/>
              <a:t>Because a flat clustering is needed as a “subroutine”</a:t>
            </a:r>
          </a:p>
          <a:p>
            <a:r>
              <a:rPr lang="en-US" dirty="0" smtClean="0">
                <a:solidFill>
                  <a:schemeClr val="bg1">
                    <a:lumMod val="75000"/>
                  </a:schemeClr>
                </a:solidFill>
              </a:rPr>
              <a:t>Which one is more efficient?</a:t>
            </a:r>
          </a:p>
          <a:p>
            <a:r>
              <a:rPr lang="en-US" dirty="0" smtClean="0">
                <a:solidFill>
                  <a:schemeClr val="bg1">
                    <a:lumMod val="75000"/>
                  </a:schemeClr>
                </a:solidFill>
              </a:rPr>
              <a:t>Which one is more accurate?</a:t>
            </a:r>
          </a:p>
          <a:p>
            <a:endParaRPr lang="en-US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Bottom-up vs. Top-down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>
                    <a:lumMod val="75000"/>
                  </a:schemeClr>
                </a:solidFill>
              </a:rPr>
              <a:t>Which one is more complex?</a:t>
            </a:r>
          </a:p>
          <a:p>
            <a:r>
              <a:rPr lang="en-US" dirty="0" smtClean="0"/>
              <a:t>Which one is more efficient?</a:t>
            </a:r>
          </a:p>
          <a:p>
            <a:r>
              <a:rPr lang="en-US" dirty="0" smtClean="0">
                <a:solidFill>
                  <a:schemeClr val="bg1">
                    <a:lumMod val="75000"/>
                  </a:schemeClr>
                </a:solidFill>
              </a:rPr>
              <a:t>Which one is more accurate?</a:t>
            </a:r>
          </a:p>
          <a:p>
            <a:endParaRPr lang="en-US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Bottom-up vs. Top-down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>
                    <a:lumMod val="75000"/>
                  </a:schemeClr>
                </a:solidFill>
              </a:rPr>
              <a:t>Which one is more complex?</a:t>
            </a:r>
          </a:p>
          <a:p>
            <a:r>
              <a:rPr lang="en-US" dirty="0" smtClean="0"/>
              <a:t>Which one is more efficient?</a:t>
            </a:r>
          </a:p>
          <a:p>
            <a:pPr lvl="1"/>
            <a:r>
              <a:rPr lang="en-US" dirty="0" smtClean="0"/>
              <a:t>Top-down</a:t>
            </a:r>
          </a:p>
          <a:p>
            <a:pPr lvl="1"/>
            <a:r>
              <a:rPr lang="en-US" dirty="0" smtClean="0"/>
              <a:t>For a fixed number of top levels, using an efficient flat algorithm like K-means, divisive algorithms time complexity are O(n</a:t>
            </a:r>
            <a:r>
              <a:rPr lang="en-US" baseline="30000" dirty="0" smtClean="0"/>
              <a:t>2</a:t>
            </a:r>
            <a:r>
              <a:rPr lang="en-US" dirty="0" smtClean="0"/>
              <a:t>), approximately</a:t>
            </a:r>
          </a:p>
          <a:p>
            <a:pPr lvl="1"/>
            <a:r>
              <a:rPr lang="en-US" dirty="0" smtClean="0"/>
              <a:t>Agglomerative algorithms time complexity are O(n</a:t>
            </a:r>
            <a:r>
              <a:rPr lang="en-US" baseline="30000" dirty="0" smtClean="0"/>
              <a:t>3</a:t>
            </a:r>
            <a:r>
              <a:rPr lang="en-US" dirty="0" smtClean="0"/>
              <a:t>), approximately</a:t>
            </a:r>
          </a:p>
          <a:p>
            <a:pPr>
              <a:buNone/>
            </a:pPr>
            <a:endParaRPr lang="en-US" dirty="0" smtClean="0">
              <a:solidFill>
                <a:schemeClr val="bg1">
                  <a:lumMod val="75000"/>
                </a:schemeClr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Bottom-up vs. Top-down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Which one is more complex?</a:t>
            </a:r>
          </a:p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Which one is more efficient?</a:t>
            </a:r>
          </a:p>
          <a:p>
            <a:r>
              <a:rPr lang="en-US" dirty="0" smtClean="0"/>
              <a:t>Which one is more accurate?</a:t>
            </a:r>
          </a:p>
          <a:p>
            <a:endParaRPr lang="en-US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Bottom-up vs. Top-down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Which one is more complex?</a:t>
            </a:r>
          </a:p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Which one is more efficient?</a:t>
            </a:r>
          </a:p>
          <a:p>
            <a:r>
              <a:rPr lang="en-US" dirty="0" smtClean="0"/>
              <a:t>Which one is more accurate?</a:t>
            </a:r>
          </a:p>
          <a:p>
            <a:pPr lvl="1"/>
            <a:r>
              <a:rPr lang="en-US" dirty="0" smtClean="0"/>
              <a:t>Top-down</a:t>
            </a:r>
          </a:p>
          <a:p>
            <a:pPr lvl="1"/>
            <a:r>
              <a:rPr lang="en-US" dirty="0" smtClean="0"/>
              <a:t>Bottom-up methods make clustering decisions based on local patterns without initially taking into account the global distribution. These early decisions cannot be undone. </a:t>
            </a:r>
          </a:p>
          <a:p>
            <a:pPr lvl="1"/>
            <a:r>
              <a:rPr lang="en-US" dirty="0" smtClean="0"/>
              <a:t>Top-down clustering benefits from complete information about the global distribution when making top-level partitioning decisions. </a:t>
            </a:r>
          </a:p>
          <a:p>
            <a:endParaRPr lang="en-US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CustomShape 1"/>
          <p:cNvSpPr/>
          <p:nvPr/>
        </p:nvSpPr>
        <p:spPr>
          <a:xfrm>
            <a:off x="457200" y="1049338"/>
            <a:ext cx="8228013" cy="60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93186" name="Picture 15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975" y="1535113"/>
            <a:ext cx="5702300" cy="375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1"/>
</p:tagLst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Berlin Sans FB Demi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12094</TotalTime>
  <Words>3554</Words>
  <Application>Microsoft Office PowerPoint</Application>
  <PresentationFormat>On-screen Show (4:3)</PresentationFormat>
  <Paragraphs>440</Paragraphs>
  <Slides>61</Slides>
  <Notes>20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61</vt:i4>
      </vt:variant>
    </vt:vector>
  </HeadingPairs>
  <TitlesOfParts>
    <vt:vector size="65" baseType="lpstr">
      <vt:lpstr>Blends</vt:lpstr>
      <vt:lpstr>Equation</vt:lpstr>
      <vt:lpstr>SmartDraw</vt:lpstr>
      <vt:lpstr>Bitmap Image</vt:lpstr>
      <vt:lpstr>Cluster Analysis  </vt:lpstr>
      <vt:lpstr>Contents</vt:lpstr>
      <vt:lpstr>What is Cluster Analysis?</vt:lpstr>
      <vt:lpstr>Applications</vt:lpstr>
      <vt:lpstr>Quality: What Is Good Clustering?</vt:lpstr>
      <vt:lpstr>Measure the Quality of Clustering</vt:lpstr>
      <vt:lpstr>Interval-scaled variables</vt:lpstr>
      <vt:lpstr>Interval-scaled variables</vt:lpstr>
      <vt:lpstr>Mathematical requirements of a distance function</vt:lpstr>
      <vt:lpstr>Interval-scaled variables</vt:lpstr>
      <vt:lpstr>Binary Variables</vt:lpstr>
      <vt:lpstr>Symmetric/Asymetric Binary Variables</vt:lpstr>
      <vt:lpstr>Nominal variables</vt:lpstr>
      <vt:lpstr>Ordinal variables</vt:lpstr>
      <vt:lpstr>    How are the order variables handled for measuring similarities ?</vt:lpstr>
      <vt:lpstr>Ratio-Scaled variables</vt:lpstr>
      <vt:lpstr>Variables of Mixed Types</vt:lpstr>
      <vt:lpstr>Variables of Mixed Types</vt:lpstr>
      <vt:lpstr>Major Clustering Approaches (I)</vt:lpstr>
      <vt:lpstr>Major Clustering Approaches (II)</vt:lpstr>
      <vt:lpstr>Cluster Analysis</vt:lpstr>
      <vt:lpstr>Partitioning Algorithms: Basic Concept</vt:lpstr>
      <vt:lpstr>The K-Means Clustering Method </vt:lpstr>
      <vt:lpstr>An Example of K-Means Clustering</vt:lpstr>
      <vt:lpstr>Strength and weakness of K-Means Method</vt:lpstr>
      <vt:lpstr>Strength and weakness of K-Means Method</vt:lpstr>
      <vt:lpstr>Strength and weakness of K-Means Method</vt:lpstr>
      <vt:lpstr>Strength and weakness of K-Means Method</vt:lpstr>
      <vt:lpstr>Strength and weakness of K-Means Method</vt:lpstr>
      <vt:lpstr>Strength and weakness of K-Means Method</vt:lpstr>
      <vt:lpstr>Strength and weakness of K-Means Method</vt:lpstr>
      <vt:lpstr>Strength and weakness of K-Means Method</vt:lpstr>
      <vt:lpstr>Strength and weakness of K-Means Method</vt:lpstr>
      <vt:lpstr>Deciding K</vt:lpstr>
      <vt:lpstr>Deciding K</vt:lpstr>
      <vt:lpstr>Cluster Analysis</vt:lpstr>
      <vt:lpstr>Hierarchical clustering</vt:lpstr>
      <vt:lpstr>Agglomerative clustering</vt:lpstr>
      <vt:lpstr>Hierarchical clustering</vt:lpstr>
      <vt:lpstr>Hierarchical clustering</vt:lpstr>
      <vt:lpstr>Hierarchical clustering</vt:lpstr>
      <vt:lpstr>Hierarchical clustering</vt:lpstr>
      <vt:lpstr>Hierarchical clustering</vt:lpstr>
      <vt:lpstr>Hierarchical clustering</vt:lpstr>
      <vt:lpstr>Intercluster similarity ()</vt:lpstr>
      <vt:lpstr>Intercluster similarity ()</vt:lpstr>
      <vt:lpstr>Time Complexity of Agglomerative Clustering</vt:lpstr>
      <vt:lpstr>Time Complexity of Agglomerative Clustering</vt:lpstr>
      <vt:lpstr>Divisive clustering</vt:lpstr>
      <vt:lpstr>Hierarchical clustering</vt:lpstr>
      <vt:lpstr>Time Complexity</vt:lpstr>
      <vt:lpstr>Time Complexity</vt:lpstr>
      <vt:lpstr>Time Complexity</vt:lpstr>
      <vt:lpstr>Time Complexity</vt:lpstr>
      <vt:lpstr>Bottom-up vs. Top-down</vt:lpstr>
      <vt:lpstr>Bottom-up vs. Top-down</vt:lpstr>
      <vt:lpstr>Bottom-up vs. Top-down</vt:lpstr>
      <vt:lpstr>Bottom-up vs. Top-down</vt:lpstr>
      <vt:lpstr>Bottom-up vs. Top-down</vt:lpstr>
      <vt:lpstr>Bottom-up vs. Top-down</vt:lpstr>
      <vt:lpstr>Slide 61</vt:lpstr>
    </vt:vector>
  </TitlesOfParts>
  <Company>S.F.U.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Jiawei Han</dc:creator>
  <cp:lastModifiedBy>Asit Kumar Das</cp:lastModifiedBy>
  <cp:revision>649</cp:revision>
  <cp:lastPrinted>2010-12-03T19:14:05Z</cp:lastPrinted>
  <dcterms:created xsi:type="dcterms:W3CDTF">1998-06-19T04:38:52Z</dcterms:created>
  <dcterms:modified xsi:type="dcterms:W3CDTF">2026-04-20T05:51:08Z</dcterms:modified>
</cp:coreProperties>
</file>