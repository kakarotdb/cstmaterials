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5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F3876CC-D7A7-43CE-BEAB-E605795B1432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3109592-C6FA-4D62-990B-A69B385836E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 noChangeArrowheads="1"/>
          </p:cNvSpPr>
          <p:nvPr/>
        </p:nvSpPr>
        <p:spPr bwMode="auto">
          <a:xfrm>
            <a:off x="4144618" y="9120976"/>
            <a:ext cx="3170582" cy="48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7003" tIns="48503" rIns="97003" bIns="48503" anchor="b"/>
          <a:lstStyle/>
          <a:p>
            <a:pPr algn="r" defTabSz="970198" eaLnBrk="0" hangingPunct="0"/>
            <a:fld id="{02F1AB1C-5595-4A38-8DCC-0643FC80AAF6}" type="slidenum">
              <a:rPr lang="en-US" sz="1300">
                <a:latin typeface="Times New Roman" pitchFamily="18" charset="0"/>
              </a:rPr>
              <a:pPr algn="r" defTabSz="970198" eaLnBrk="0" hangingPunct="0"/>
              <a:t>1</a:t>
            </a:fld>
            <a:endParaRPr lang="en-US" sz="1300" dirty="0">
              <a:latin typeface="Times New Roman" pitchFamily="18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86CB5A-88B5-4FFC-8E04-2A91232C5CC3}" type="slidenum">
              <a:rPr lang="en-US"/>
              <a:pPr/>
              <a:t>2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692" y="4561314"/>
            <a:ext cx="5363818" cy="4322026"/>
          </a:xfrm>
          <a:noFill/>
          <a:ln/>
        </p:spPr>
        <p:txBody>
          <a:bodyPr lIns="90941" tIns="45470" rIns="90941" bIns="4547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3ED597-ABBA-4340-BFEB-717D3EFBFD34}" type="slidenum">
              <a:rPr lang="en-US"/>
              <a:pPr/>
              <a:t>3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692" y="4561314"/>
            <a:ext cx="5363818" cy="4322026"/>
          </a:xfrm>
          <a:noFill/>
          <a:ln/>
        </p:spPr>
        <p:txBody>
          <a:bodyPr lIns="90941" tIns="45470" rIns="90941" bIns="4547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1B29CA9-DFAB-4C06-A9D3-0556EA5ECFAB}" type="slidenum">
              <a:rPr lang="en-US"/>
              <a:pPr/>
              <a:t>4</a:t>
            </a:fld>
            <a:endParaRPr lang="en-US"/>
          </a:p>
        </p:txBody>
      </p:sp>
      <p:sp>
        <p:nvSpPr>
          <p:cNvPr id="158721" name="Text Box 1"/>
          <p:cNvSpPr txBox="1">
            <a:spLocks noChangeArrowheads="1"/>
          </p:cNvSpPr>
          <p:nvPr/>
        </p:nvSpPr>
        <p:spPr bwMode="auto">
          <a:xfrm>
            <a:off x="4143587" y="9119473"/>
            <a:ext cx="3168226" cy="47839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3702" tIns="48725" rIns="93702" bIns="48725" anchor="b"/>
          <a:lstStyle/>
          <a:p>
            <a:pPr algn="r">
              <a:tabLst>
                <a:tab pos="0" algn="l"/>
                <a:tab pos="466091" algn="l"/>
                <a:tab pos="933836" algn="l"/>
                <a:tab pos="1401579" algn="l"/>
                <a:tab pos="1869325" algn="l"/>
                <a:tab pos="2337068" algn="l"/>
                <a:tab pos="2804813" algn="l"/>
                <a:tab pos="3272556" algn="l"/>
                <a:tab pos="3740301" algn="l"/>
                <a:tab pos="4208044" algn="l"/>
                <a:tab pos="4675789" algn="l"/>
                <a:tab pos="5143533" algn="l"/>
                <a:tab pos="5611278" algn="l"/>
                <a:tab pos="6079022" algn="l"/>
                <a:tab pos="6546766" algn="l"/>
                <a:tab pos="7014510" algn="l"/>
                <a:tab pos="7482254" algn="l"/>
                <a:tab pos="7949998" algn="l"/>
                <a:tab pos="8417742" algn="l"/>
                <a:tab pos="8885487" algn="l"/>
                <a:tab pos="9353231" algn="l"/>
              </a:tabLst>
            </a:pPr>
            <a:fld id="{224C263F-C648-4D12-9CED-BFE79998023A}" type="slidenum">
              <a:rPr lang="en-US" sz="1300">
                <a:solidFill>
                  <a:srgbClr val="000000"/>
                </a:solidFill>
                <a:latin typeface="Times New Roman" pitchFamily="16" charset="0"/>
              </a:rPr>
              <a:pPr algn="r">
                <a:tabLst>
                  <a:tab pos="0" algn="l"/>
                  <a:tab pos="466091" algn="l"/>
                  <a:tab pos="933836" algn="l"/>
                  <a:tab pos="1401579" algn="l"/>
                  <a:tab pos="1869325" algn="l"/>
                  <a:tab pos="2337068" algn="l"/>
                  <a:tab pos="2804813" algn="l"/>
                  <a:tab pos="3272556" algn="l"/>
                  <a:tab pos="3740301" algn="l"/>
                  <a:tab pos="4208044" algn="l"/>
                  <a:tab pos="4675789" algn="l"/>
                  <a:tab pos="5143533" algn="l"/>
                  <a:tab pos="5611278" algn="l"/>
                  <a:tab pos="6079022" algn="l"/>
                  <a:tab pos="6546766" algn="l"/>
                  <a:tab pos="7014510" algn="l"/>
                  <a:tab pos="7482254" algn="l"/>
                  <a:tab pos="7949998" algn="l"/>
                  <a:tab pos="8417742" algn="l"/>
                  <a:tab pos="8885487" algn="l"/>
                  <a:tab pos="9353231" algn="l"/>
                </a:tabLst>
              </a:pPr>
              <a:t>4</a:t>
            </a:fld>
            <a:endParaRPr lang="en-US" sz="13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158722" name="Rectangle 2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255713" y="719138"/>
            <a:ext cx="4803775" cy="360203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3" name="Rectangle 3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1F88C3-64FA-4BDD-B9C5-6F1E2154AD6E}" type="slidenum">
              <a:rPr lang="en-US"/>
              <a:pPr/>
              <a:t>5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9EE527-0131-46F9-9F7D-307D5BC8F126}" type="slidenum">
              <a:rPr lang="en-US"/>
              <a:pPr/>
              <a:t>6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51B043-3870-430F-9F51-5E8792D42F13}" type="slidenum">
              <a:rPr lang="en-US"/>
              <a:pPr/>
              <a:t>7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9C1F31-FBAB-4DFD-91E9-EA6B7274BAE2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1D880-300D-46D9-B614-89471D1EFA3C}" type="datetimeFigureOut">
              <a:rPr lang="en-US" smtClean="0"/>
              <a:pPr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78900-99F1-4137-BD25-49A4C14FEF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Microsoft_Office_Excel_97-2003_Worksheet1.xls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Microsoft_Office_Excel_97-2003_Worksheet2.xls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6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529C395-B24B-4949-B408-C93E53E4C7FD}" type="slidenum">
              <a:rPr lang="en-US" sz="1400" b="1">
                <a:latin typeface="Calibri" pitchFamily="34" charset="0"/>
              </a:rPr>
              <a:pPr algn="r"/>
              <a:t>1</a:t>
            </a:fld>
            <a:endParaRPr lang="en-US" sz="1400" b="1" dirty="0">
              <a:latin typeface="Calibri" pitchFamily="34" charset="0"/>
            </a:endParaRP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dirty="0" smtClean="0"/>
              <a:t>Classification Model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447800"/>
            <a:ext cx="8382000" cy="5105400"/>
          </a:xfrm>
          <a:noFill/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US" dirty="0" smtClean="0"/>
              <a:t>Classification: Basic Concepts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Rule-Based Classification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Decision Tree Induction</a:t>
            </a:r>
          </a:p>
          <a:p>
            <a:pPr>
              <a:lnSpc>
                <a:spcPct val="130000"/>
              </a:lnSpc>
            </a:pPr>
            <a:r>
              <a:rPr lang="en-US" dirty="0" err="1" smtClean="0"/>
              <a:t>Bayes</a:t>
            </a:r>
            <a:r>
              <a:rPr lang="en-US" dirty="0" smtClean="0"/>
              <a:t> Classification Methods</a:t>
            </a:r>
          </a:p>
          <a:p>
            <a:pPr>
              <a:lnSpc>
                <a:spcPct val="130000"/>
              </a:lnSpc>
            </a:pPr>
            <a:r>
              <a:rPr lang="en-IN" dirty="0" err="1" smtClean="0"/>
              <a:t>kNN</a:t>
            </a:r>
            <a:r>
              <a:rPr lang="en-IN" dirty="0" smtClean="0"/>
              <a:t> Classifier</a:t>
            </a:r>
            <a:endParaRPr lang="en-US" dirty="0" smtClean="0"/>
          </a:p>
          <a:p>
            <a:pPr>
              <a:lnSpc>
                <a:spcPct val="130000"/>
              </a:lnSpc>
            </a:pPr>
            <a:r>
              <a:rPr lang="en-US" dirty="0" smtClean="0"/>
              <a:t>Performance Evaluation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Ensemble Classification</a:t>
            </a:r>
          </a:p>
          <a:p>
            <a:pPr>
              <a:lnSpc>
                <a:spcPct val="130000"/>
              </a:lnSpc>
            </a:pPr>
            <a:r>
              <a:rPr lang="en-US" dirty="0" smtClean="0"/>
              <a:t>Summary</a:t>
            </a:r>
          </a:p>
        </p:txBody>
      </p:sp>
      <p:sp>
        <p:nvSpPr>
          <p:cNvPr id="22532" name="AutoShape 8"/>
          <p:cNvSpPr>
            <a:spLocks noChangeArrowheads="1"/>
          </p:cNvSpPr>
          <p:nvPr/>
        </p:nvSpPr>
        <p:spPr bwMode="auto">
          <a:xfrm rot="9803581">
            <a:off x="5148722" y="1363679"/>
            <a:ext cx="533400" cy="381000"/>
          </a:xfrm>
          <a:prstGeom prst="notchedRightArrow">
            <a:avLst>
              <a:gd name="adj1" fmla="val 50000"/>
              <a:gd name="adj2" fmla="val 3500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66DA34B-F4F8-4A70-B190-AE64A0507FB7}" type="slidenum">
              <a:rPr lang="en-US"/>
              <a:pPr/>
              <a:t>2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83638" cy="762000"/>
          </a:xfrm>
          <a:noFill/>
        </p:spPr>
        <p:txBody>
          <a:bodyPr lIns="92075" tIns="46038" rIns="92075" bIns="46038">
            <a:normAutofit fontScale="90000"/>
          </a:bodyPr>
          <a:lstStyle/>
          <a:p>
            <a:pPr eaLnBrk="1" hangingPunct="1"/>
            <a:r>
              <a:rPr lang="en-US" dirty="0" smtClean="0"/>
              <a:t>Classification Model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05800" cy="5181600"/>
          </a:xfrm>
          <a:noFill/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sz="2400" smtClean="0">
                <a:solidFill>
                  <a:srgbClr val="F83F24"/>
                </a:solidFill>
              </a:rPr>
              <a:t>Supervised learning (classification)</a:t>
            </a:r>
            <a:endParaRPr lang="en-US" sz="2400" smtClean="0"/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Supervision: The training data (observations, measurements, etc.) are accompanied by </a:t>
            </a:r>
            <a:r>
              <a:rPr lang="en-US" sz="2400" b="1" smtClean="0"/>
              <a:t>labels</a:t>
            </a:r>
            <a:r>
              <a:rPr lang="en-US" sz="2400" smtClean="0"/>
              <a:t> indicating the class of the observations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New data is classified based on the training set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 smtClean="0">
                <a:solidFill>
                  <a:srgbClr val="F83F24"/>
                </a:solidFill>
              </a:rPr>
              <a:t>Unsupervised learning</a:t>
            </a:r>
            <a:r>
              <a:rPr lang="en-US" sz="2400" smtClean="0"/>
              <a:t> </a:t>
            </a:r>
            <a:r>
              <a:rPr lang="en-US" sz="2400" smtClean="0">
                <a:solidFill>
                  <a:srgbClr val="FF3300"/>
                </a:solidFill>
              </a:rPr>
              <a:t>(clustering)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The class labels of training data is unknown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Given a set of measurements, observations, etc. with the aim of establishing the existence of classes or clusters in the data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DDA2093-367B-4FE1-8523-D5711B7229AD}" type="slidenum">
              <a:rPr lang="en-US"/>
              <a:pPr/>
              <a:t>3</a:t>
            </a:fld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05800" cy="5029200"/>
          </a:xfrm>
          <a:noFill/>
        </p:spPr>
        <p:txBody>
          <a:bodyPr lIns="92075" tIns="46038" rIns="92075" bIns="46038"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chemeClr val="hlink"/>
                </a:solidFill>
              </a:rPr>
              <a:t>Classification</a:t>
            </a:r>
            <a:r>
              <a:rPr lang="en-US" sz="2000" dirty="0" smtClean="0"/>
              <a:t>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predicts categorical class labels (discrete or nominal)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classifies data (constructs a model) based on the training set and the values (</a:t>
            </a:r>
            <a:r>
              <a:rPr lang="en-US" sz="2400" dirty="0" smtClean="0">
                <a:solidFill>
                  <a:schemeClr val="hlink"/>
                </a:solidFill>
              </a:rPr>
              <a:t>class labels</a:t>
            </a:r>
            <a:r>
              <a:rPr lang="en-US" sz="2400" dirty="0" smtClean="0"/>
              <a:t>) in a classifying attribute and uses it in classifying new data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solidFill>
                  <a:schemeClr val="hlink"/>
                </a:solidFill>
              </a:rPr>
              <a:t>Numeric Prediction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 smtClean="0"/>
              <a:t>models continuous-valued functions, i.e., predicts unknown or missing values - Regression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Typical applications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Credit/loan approval: if a loan is approved or not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Medical diagnosis: if a tumor is cancerous or benign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Fraud detection: if a transaction is fraudulent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sz="2400" dirty="0" smtClean="0"/>
              <a:t>Web page categorization: which category it is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47750"/>
          </a:xfrm>
          <a:noFill/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smtClean="0"/>
              <a:t>Prediction Problems: Classification vs. Numeric Prediction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ChangeArrowheads="1"/>
          </p:cNvSpPr>
          <p:nvPr/>
        </p:nvSpPr>
        <p:spPr bwMode="auto">
          <a:xfrm>
            <a:off x="457200" y="320675"/>
            <a:ext cx="72390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1043608" y="980728"/>
            <a:ext cx="76091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Basic Steps of Decision Making System</a:t>
            </a:r>
            <a:endParaRPr lang="en-US" sz="3600" dirty="0"/>
          </a:p>
        </p:txBody>
      </p:sp>
      <p:pic>
        <p:nvPicPr>
          <p:cNvPr id="3" name="Picture 2" descr="Untitled Diagr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87624" y="1988840"/>
            <a:ext cx="6264696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716596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9AC1BAA-F741-411C-9A75-B29B6B5B49B6}" type="slidenum">
              <a:rPr lang="en-US"/>
              <a:pPr/>
              <a:t>5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010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Classification—A Two-Step Process</a:t>
            </a:r>
            <a:r>
              <a:rPr lang="en-US" sz="2800" smtClean="0"/>
              <a:t> </a:t>
            </a:r>
            <a:endParaRPr lang="en-US" sz="320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257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000" dirty="0" smtClean="0">
                <a:solidFill>
                  <a:schemeClr val="hlink"/>
                </a:solidFill>
              </a:rPr>
              <a:t>Model construction</a:t>
            </a:r>
            <a:r>
              <a:rPr lang="en-US" sz="2000" dirty="0" smtClean="0"/>
              <a:t>: describing a set of predetermined classes</a:t>
            </a:r>
          </a:p>
          <a:p>
            <a:pPr lvl="1" eaLnBrk="1" hangingPunct="1"/>
            <a:r>
              <a:rPr lang="en-US" sz="2000" dirty="0" smtClean="0"/>
              <a:t>Each </a:t>
            </a:r>
            <a:r>
              <a:rPr lang="en-US" sz="2000" dirty="0" err="1" smtClean="0"/>
              <a:t>tuple</a:t>
            </a:r>
            <a:r>
              <a:rPr lang="en-US" sz="2000" dirty="0" smtClean="0"/>
              <a:t>/sample is assumed to belong to a predefined class, as determined by the </a:t>
            </a:r>
            <a:r>
              <a:rPr lang="en-US" sz="2000" dirty="0" smtClean="0">
                <a:solidFill>
                  <a:schemeClr val="hlink"/>
                </a:solidFill>
              </a:rPr>
              <a:t>class label attribute</a:t>
            </a:r>
          </a:p>
          <a:p>
            <a:pPr lvl="1" eaLnBrk="1" hangingPunct="1"/>
            <a:r>
              <a:rPr lang="en-US" sz="2000" dirty="0" smtClean="0"/>
              <a:t>The set of </a:t>
            </a:r>
            <a:r>
              <a:rPr lang="en-US" sz="2000" dirty="0" err="1" smtClean="0"/>
              <a:t>tuples</a:t>
            </a:r>
            <a:r>
              <a:rPr lang="en-US" sz="2000" dirty="0" smtClean="0"/>
              <a:t> used for model construction is </a:t>
            </a:r>
            <a:r>
              <a:rPr lang="en-US" sz="2000" dirty="0" smtClean="0">
                <a:solidFill>
                  <a:schemeClr val="hlink"/>
                </a:solidFill>
              </a:rPr>
              <a:t>training set</a:t>
            </a:r>
          </a:p>
          <a:p>
            <a:pPr lvl="1" eaLnBrk="1" hangingPunct="1"/>
            <a:r>
              <a:rPr lang="en-US" sz="2000" dirty="0" smtClean="0"/>
              <a:t>The model is represented as classification rules, decision trees, or mathematical formulae</a:t>
            </a:r>
          </a:p>
          <a:p>
            <a:pPr eaLnBrk="1" hangingPunct="1"/>
            <a:r>
              <a:rPr lang="en-US" sz="2000" dirty="0" smtClean="0">
                <a:solidFill>
                  <a:schemeClr val="hlink"/>
                </a:solidFill>
              </a:rPr>
              <a:t>Model usage</a:t>
            </a:r>
            <a:r>
              <a:rPr lang="en-US" sz="2000" dirty="0" smtClean="0"/>
              <a:t>: for classifying future or unknown objects</a:t>
            </a:r>
          </a:p>
          <a:p>
            <a:pPr lvl="1" eaLnBrk="1" hangingPunct="1"/>
            <a:r>
              <a:rPr lang="en-US" sz="2000" dirty="0" smtClean="0">
                <a:solidFill>
                  <a:schemeClr val="hlink"/>
                </a:solidFill>
              </a:rPr>
              <a:t>Estimate accuracy</a:t>
            </a:r>
            <a:r>
              <a:rPr lang="en-US" sz="2000" dirty="0" smtClean="0"/>
              <a:t> of the model</a:t>
            </a:r>
          </a:p>
          <a:p>
            <a:pPr lvl="2" eaLnBrk="1" hangingPunct="1"/>
            <a:r>
              <a:rPr lang="en-US" sz="2000" dirty="0" smtClean="0"/>
              <a:t>The known label of test sample is compared with the classified result from the model</a:t>
            </a:r>
          </a:p>
          <a:p>
            <a:pPr lvl="2" eaLnBrk="1" hangingPunct="1"/>
            <a:r>
              <a:rPr lang="en-US" sz="2000" dirty="0" smtClean="0">
                <a:solidFill>
                  <a:schemeClr val="hlink"/>
                </a:solidFill>
              </a:rPr>
              <a:t>Accuracy</a:t>
            </a:r>
            <a:r>
              <a:rPr lang="en-US" sz="2000" dirty="0" smtClean="0"/>
              <a:t> rate is the percentage of test set samples that are correctly classified by the model</a:t>
            </a:r>
          </a:p>
          <a:p>
            <a:pPr lvl="2" eaLnBrk="1" hangingPunct="1"/>
            <a:r>
              <a:rPr lang="en-US" sz="2000" dirty="0" smtClean="0">
                <a:solidFill>
                  <a:schemeClr val="hlink"/>
                </a:solidFill>
              </a:rPr>
              <a:t>Test set</a:t>
            </a:r>
            <a:r>
              <a:rPr lang="en-US" sz="2000" dirty="0" smtClean="0"/>
              <a:t> is independent of training set (otherwise </a:t>
            </a:r>
            <a:r>
              <a:rPr lang="en-US" sz="2000" dirty="0" err="1" smtClean="0"/>
              <a:t>overfitting</a:t>
            </a:r>
            <a:r>
              <a:rPr lang="en-US" sz="2000" dirty="0" smtClean="0"/>
              <a:t>) </a:t>
            </a:r>
          </a:p>
          <a:p>
            <a:pPr lvl="1" eaLnBrk="1" hangingPunct="1"/>
            <a:r>
              <a:rPr lang="en-US" sz="2000" dirty="0" smtClean="0"/>
              <a:t>If the accuracy is acceptable, use the model to </a:t>
            </a:r>
            <a:r>
              <a:rPr lang="en-US" sz="2000" dirty="0" smtClean="0">
                <a:solidFill>
                  <a:schemeClr val="hlink"/>
                </a:solidFill>
              </a:rPr>
              <a:t>classify new data</a:t>
            </a:r>
          </a:p>
          <a:p>
            <a:pPr eaLnBrk="1" hangingPunct="1"/>
            <a:r>
              <a:rPr lang="en-US" sz="2000" dirty="0" smtClean="0"/>
              <a:t>Note: If </a:t>
            </a:r>
            <a:r>
              <a:rPr lang="en-US" sz="2000" i="1" dirty="0" smtClean="0"/>
              <a:t>the test set </a:t>
            </a:r>
            <a:r>
              <a:rPr lang="en-US" sz="2000" dirty="0" smtClean="0"/>
              <a:t>is used to select models, it is called </a:t>
            </a:r>
            <a:r>
              <a:rPr lang="en-US" sz="2000" dirty="0" smtClean="0">
                <a:solidFill>
                  <a:srgbClr val="C00000"/>
                </a:solidFill>
              </a:rPr>
              <a:t>validation (test) set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C679BE2-78EF-487D-9955-FACC91C53CAA}" type="slidenum">
              <a:rPr lang="en-US"/>
              <a:pPr/>
              <a:t>6</a:t>
            </a:fld>
            <a:endParaRPr 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762000"/>
          </a:xfrm>
          <a:noFill/>
        </p:spPr>
        <p:txBody>
          <a:bodyPr lIns="92075" tIns="46038" rIns="92075" bIns="46038">
            <a:normAutofit fontScale="90000"/>
          </a:bodyPr>
          <a:lstStyle/>
          <a:p>
            <a:pPr eaLnBrk="1" hangingPunct="1"/>
            <a:r>
              <a:rPr lang="en-US" smtClean="0"/>
              <a:t>Process (1): Model Construction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36763" y="1774825"/>
            <a:ext cx="1698625" cy="1506538"/>
            <a:chOff x="1283" y="1118"/>
            <a:chExt cx="1070" cy="949"/>
          </a:xfrm>
        </p:grpSpPr>
        <p:pic>
          <p:nvPicPr>
            <p:cNvPr id="30736" name="Picture 4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37" name="Rectangle 5"/>
            <p:cNvSpPr>
              <a:spLocks noChangeArrowheads="1"/>
            </p:cNvSpPr>
            <p:nvPr/>
          </p:nvSpPr>
          <p:spPr bwMode="auto">
            <a:xfrm>
              <a:off x="1347" y="1427"/>
              <a:ext cx="934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 dirty="0">
                  <a:latin typeface="Times New Roman" pitchFamily="18" charset="0"/>
                </a:rPr>
                <a:t>Training</a:t>
              </a:r>
            </a:p>
            <a:p>
              <a:pPr algn="ctr" eaLnBrk="0" hangingPunct="0"/>
              <a:r>
                <a:rPr lang="en-US" sz="2400" dirty="0">
                  <a:latin typeface="Times New Roman" pitchFamily="18" charset="0"/>
                </a:rPr>
                <a:t>Data</a:t>
              </a:r>
            </a:p>
          </p:txBody>
        </p:sp>
      </p:grpSp>
      <p:graphicFrame>
        <p:nvGraphicFramePr>
          <p:cNvPr id="30724" name="Object 0"/>
          <p:cNvGraphicFramePr>
            <a:graphicFrameLocks/>
          </p:cNvGraphicFramePr>
          <p:nvPr/>
        </p:nvGraphicFramePr>
        <p:xfrm>
          <a:off x="288925" y="3825875"/>
          <a:ext cx="5437188" cy="2495550"/>
        </p:xfrm>
        <a:graphic>
          <a:graphicData uri="http://schemas.openxmlformats.org/presentationml/2006/ole">
            <p:oleObj spid="_x0000_s1026" name="Worksheet" r:id="rId5" imgW="5437188" imgH="2495550" progId="Excel.Sheet.8">
              <p:embed/>
            </p:oleObj>
          </a:graphicData>
        </a:graphic>
      </p:graphicFrame>
      <p:sp>
        <p:nvSpPr>
          <p:cNvPr id="30725" name="Line 7"/>
          <p:cNvSpPr>
            <a:spLocks noChangeShapeType="1"/>
          </p:cNvSpPr>
          <p:nvPr/>
        </p:nvSpPr>
        <p:spPr bwMode="auto">
          <a:xfrm flipH="1">
            <a:off x="306388" y="3111500"/>
            <a:ext cx="1644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Line 8"/>
          <p:cNvSpPr>
            <a:spLocks noChangeShapeType="1"/>
          </p:cNvSpPr>
          <p:nvPr/>
        </p:nvSpPr>
        <p:spPr bwMode="auto">
          <a:xfrm>
            <a:off x="3736975" y="3111500"/>
            <a:ext cx="2025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7" name="Rectangle 9"/>
          <p:cNvSpPr>
            <a:spLocks noChangeArrowheads="1"/>
          </p:cNvSpPr>
          <p:nvPr/>
        </p:nvSpPr>
        <p:spPr bwMode="auto">
          <a:xfrm>
            <a:off x="6481763" y="1622425"/>
            <a:ext cx="1870075" cy="8350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algn="ctr" eaLnBrk="0" hangingPunct="0"/>
            <a:r>
              <a:rPr lang="en-US" sz="2400">
                <a:latin typeface="Times New Roman" pitchFamily="18" charset="0"/>
              </a:rPr>
              <a:t>Classification</a:t>
            </a:r>
          </a:p>
          <a:p>
            <a:pPr algn="ctr" eaLnBrk="0" hangingPunct="0"/>
            <a:r>
              <a:rPr lang="en-US" sz="2400">
                <a:latin typeface="Times New Roman" pitchFamily="18" charset="0"/>
              </a:rPr>
              <a:t>Algorithms</a:t>
            </a:r>
          </a:p>
        </p:txBody>
      </p:sp>
      <p:sp>
        <p:nvSpPr>
          <p:cNvPr id="30728" name="AutoShape 10"/>
          <p:cNvSpPr>
            <a:spLocks noChangeArrowheads="1"/>
          </p:cNvSpPr>
          <p:nvPr/>
        </p:nvSpPr>
        <p:spPr bwMode="auto">
          <a:xfrm rot="-1140000">
            <a:off x="4235450" y="2074863"/>
            <a:ext cx="1657350" cy="484187"/>
          </a:xfrm>
          <a:prstGeom prst="rightArrow">
            <a:avLst>
              <a:gd name="adj1" fmla="val 50000"/>
              <a:gd name="adj2" fmla="val 85606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Rectangle 11"/>
          <p:cNvSpPr>
            <a:spLocks noChangeArrowheads="1"/>
          </p:cNvSpPr>
          <p:nvPr/>
        </p:nvSpPr>
        <p:spPr bwMode="auto">
          <a:xfrm>
            <a:off x="5948363" y="5311775"/>
            <a:ext cx="3008312" cy="120015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eaLnBrk="0" hangingPunct="0"/>
            <a:r>
              <a:rPr lang="en-US" sz="2400">
                <a:latin typeface="Times New Roman" pitchFamily="18" charset="0"/>
              </a:rPr>
              <a:t>IF rank = </a:t>
            </a:r>
            <a:r>
              <a:rPr lang="ja-JP" altLang="en-US" sz="2400">
                <a:latin typeface="Times New Roman" pitchFamily="18" charset="0"/>
              </a:rPr>
              <a:t>‘</a:t>
            </a:r>
            <a:r>
              <a:rPr lang="en-US" altLang="ja-JP" sz="2400">
                <a:latin typeface="Times New Roman" pitchFamily="18" charset="0"/>
              </a:rPr>
              <a:t>professor</a:t>
            </a:r>
            <a:r>
              <a:rPr lang="ja-JP" altLang="en-US" sz="2400">
                <a:latin typeface="Times New Roman" pitchFamily="18" charset="0"/>
              </a:rPr>
              <a:t>’</a:t>
            </a:r>
            <a:endParaRPr lang="en-US" altLang="ja-JP" sz="2400">
              <a:latin typeface="Times New Roman" pitchFamily="18" charset="0"/>
            </a:endParaRPr>
          </a:p>
          <a:p>
            <a:pPr eaLnBrk="0" hangingPunct="0"/>
            <a:r>
              <a:rPr lang="en-US" sz="2400">
                <a:latin typeface="Times New Roman" pitchFamily="18" charset="0"/>
              </a:rPr>
              <a:t>OR years &gt; 6</a:t>
            </a:r>
          </a:p>
          <a:p>
            <a:pPr eaLnBrk="0" hangingPunct="0"/>
            <a:r>
              <a:rPr lang="en-US" sz="2400">
                <a:latin typeface="Times New Roman" pitchFamily="18" charset="0"/>
              </a:rPr>
              <a:t>THEN tenured = </a:t>
            </a:r>
            <a:r>
              <a:rPr lang="ja-JP" altLang="en-US" sz="2400">
                <a:latin typeface="Times New Roman" pitchFamily="18" charset="0"/>
              </a:rPr>
              <a:t>‘</a:t>
            </a:r>
            <a:r>
              <a:rPr lang="en-US" altLang="ja-JP" sz="2400">
                <a:latin typeface="Times New Roman" pitchFamily="18" charset="0"/>
              </a:rPr>
              <a:t>yes</a:t>
            </a:r>
            <a:r>
              <a:rPr lang="ja-JP" altLang="en-US" sz="2400">
                <a:latin typeface="Times New Roman" pitchFamily="18" charset="0"/>
              </a:rPr>
              <a:t>’</a:t>
            </a:r>
            <a:r>
              <a:rPr lang="en-US" altLang="ja-JP" sz="2400">
                <a:latin typeface="Times New Roman" pitchFamily="18" charset="0"/>
              </a:rPr>
              <a:t> </a:t>
            </a:r>
            <a:endParaRPr lang="en-US" sz="2400">
              <a:latin typeface="Times New Roman" pitchFamily="18" charset="0"/>
            </a:endParaRP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478588" y="3216275"/>
            <a:ext cx="1889125" cy="1506538"/>
            <a:chOff x="4081" y="2026"/>
            <a:chExt cx="1190" cy="949"/>
          </a:xfrm>
        </p:grpSpPr>
        <p:pic>
          <p:nvPicPr>
            <p:cNvPr id="30734" name="Picture 13"/>
            <p:cNvPicPr>
              <a:picLocks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081" y="2026"/>
              <a:ext cx="1190" cy="9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735" name="Rectangle 14"/>
            <p:cNvSpPr>
              <a:spLocks noChangeArrowheads="1"/>
            </p:cNvSpPr>
            <p:nvPr/>
          </p:nvSpPr>
          <p:spPr bwMode="auto">
            <a:xfrm>
              <a:off x="4245" y="2306"/>
              <a:ext cx="851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Classifier</a:t>
              </a:r>
            </a:p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(Model)</a:t>
              </a:r>
            </a:p>
          </p:txBody>
        </p:sp>
      </p:grpSp>
      <p:sp>
        <p:nvSpPr>
          <p:cNvPr id="30731" name="Line 15"/>
          <p:cNvSpPr>
            <a:spLocks noChangeShapeType="1"/>
          </p:cNvSpPr>
          <p:nvPr/>
        </p:nvSpPr>
        <p:spPr bwMode="auto">
          <a:xfrm flipH="1">
            <a:off x="5946775" y="4621213"/>
            <a:ext cx="531813" cy="714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2" name="Line 16"/>
          <p:cNvSpPr>
            <a:spLocks noChangeShapeType="1"/>
          </p:cNvSpPr>
          <p:nvPr/>
        </p:nvSpPr>
        <p:spPr bwMode="auto">
          <a:xfrm>
            <a:off x="8369300" y="4543425"/>
            <a:ext cx="577850" cy="790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3" name="AutoShape 17"/>
          <p:cNvSpPr>
            <a:spLocks noChangeArrowheads="1"/>
          </p:cNvSpPr>
          <p:nvPr/>
        </p:nvSpPr>
        <p:spPr bwMode="auto">
          <a:xfrm>
            <a:off x="7143750" y="2576513"/>
            <a:ext cx="546100" cy="592137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8001869-B432-4261-848F-C33537DB3C41}" type="slidenum">
              <a:rPr lang="en-US"/>
              <a:pPr/>
              <a:t>7</a:t>
            </a:fld>
            <a:endParaRPr lang="en-US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mtClean="0"/>
              <a:t>Process (2): Using the Model in Prediction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445000" y="1570038"/>
            <a:ext cx="1889125" cy="1506537"/>
            <a:chOff x="2800" y="989"/>
            <a:chExt cx="1190" cy="949"/>
          </a:xfrm>
        </p:grpSpPr>
        <p:pic>
          <p:nvPicPr>
            <p:cNvPr id="32789" name="Picture 4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800" y="989"/>
              <a:ext cx="1190" cy="9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90" name="Rectangle 5"/>
            <p:cNvSpPr>
              <a:spLocks noChangeArrowheads="1"/>
            </p:cNvSpPr>
            <p:nvPr/>
          </p:nvSpPr>
          <p:spPr bwMode="auto">
            <a:xfrm>
              <a:off x="2964" y="1384"/>
              <a:ext cx="85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Classifier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157413" y="2735263"/>
            <a:ext cx="1698625" cy="1506537"/>
            <a:chOff x="1359" y="1723"/>
            <a:chExt cx="1070" cy="949"/>
          </a:xfrm>
        </p:grpSpPr>
        <p:pic>
          <p:nvPicPr>
            <p:cNvPr id="32787" name="Picture 7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359" y="1723"/>
              <a:ext cx="1070" cy="9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88" name="Rectangle 8"/>
            <p:cNvSpPr>
              <a:spLocks noChangeArrowheads="1"/>
            </p:cNvSpPr>
            <p:nvPr/>
          </p:nvSpPr>
          <p:spPr bwMode="auto">
            <a:xfrm>
              <a:off x="1423" y="2032"/>
              <a:ext cx="934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Testing</a:t>
              </a:r>
            </a:p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Data</a:t>
              </a:r>
            </a:p>
          </p:txBody>
        </p:sp>
      </p:grpSp>
      <p:graphicFrame>
        <p:nvGraphicFramePr>
          <p:cNvPr id="32773" name="Object 1024"/>
          <p:cNvGraphicFramePr>
            <a:graphicFrameLocks/>
          </p:cNvGraphicFramePr>
          <p:nvPr/>
        </p:nvGraphicFramePr>
        <p:xfrm>
          <a:off x="457200" y="4800600"/>
          <a:ext cx="5438775" cy="1765300"/>
        </p:xfrm>
        <a:graphic>
          <a:graphicData uri="http://schemas.openxmlformats.org/presentationml/2006/ole">
            <p:oleObj spid="_x0000_s2050" name="Worksheet" r:id="rId6" imgW="5438775" imgH="1765300" progId="Excel.Sheet.8">
              <p:embed/>
            </p:oleObj>
          </a:graphicData>
        </a:graphic>
      </p:graphicFrame>
      <p:sp>
        <p:nvSpPr>
          <p:cNvPr id="32774" name="Line 10"/>
          <p:cNvSpPr>
            <a:spLocks noChangeShapeType="1"/>
          </p:cNvSpPr>
          <p:nvPr/>
        </p:nvSpPr>
        <p:spPr bwMode="auto">
          <a:xfrm flipH="1">
            <a:off x="427038" y="4071938"/>
            <a:ext cx="1644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Line 11"/>
          <p:cNvSpPr>
            <a:spLocks noChangeShapeType="1"/>
          </p:cNvSpPr>
          <p:nvPr/>
        </p:nvSpPr>
        <p:spPr bwMode="auto">
          <a:xfrm>
            <a:off x="3857625" y="4071938"/>
            <a:ext cx="2025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AutoShape 12"/>
          <p:cNvSpPr>
            <a:spLocks noChangeArrowheads="1"/>
          </p:cNvSpPr>
          <p:nvPr/>
        </p:nvSpPr>
        <p:spPr bwMode="auto">
          <a:xfrm>
            <a:off x="7793038" y="5000625"/>
            <a:ext cx="546100" cy="592138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Freeform 13"/>
          <p:cNvSpPr>
            <a:spLocks/>
          </p:cNvSpPr>
          <p:nvPr/>
        </p:nvSpPr>
        <p:spPr bwMode="auto">
          <a:xfrm>
            <a:off x="6523038" y="2173288"/>
            <a:ext cx="941387" cy="766762"/>
          </a:xfrm>
          <a:custGeom>
            <a:avLst/>
            <a:gdLst>
              <a:gd name="T0" fmla="*/ 0 w 593"/>
              <a:gd name="T1" fmla="*/ 2147483647 h 483"/>
              <a:gd name="T2" fmla="*/ 2147483647 w 593"/>
              <a:gd name="T3" fmla="*/ 0 h 483"/>
              <a:gd name="T4" fmla="*/ 2147483647 w 593"/>
              <a:gd name="T5" fmla="*/ 2147483647 h 483"/>
              <a:gd name="T6" fmla="*/ 2147483647 w 593"/>
              <a:gd name="T7" fmla="*/ 2147483647 h 483"/>
              <a:gd name="T8" fmla="*/ 2147483647 w 593"/>
              <a:gd name="T9" fmla="*/ 2147483647 h 483"/>
              <a:gd name="T10" fmla="*/ 2147483647 w 593"/>
              <a:gd name="T11" fmla="*/ 2147483647 h 483"/>
              <a:gd name="T12" fmla="*/ 2147483647 w 593"/>
              <a:gd name="T13" fmla="*/ 2147483647 h 483"/>
              <a:gd name="T14" fmla="*/ 2147483647 w 593"/>
              <a:gd name="T15" fmla="*/ 2147483647 h 483"/>
              <a:gd name="T16" fmla="*/ 2147483647 w 593"/>
              <a:gd name="T17" fmla="*/ 2147483647 h 483"/>
              <a:gd name="T18" fmla="*/ 2147483647 w 593"/>
              <a:gd name="T19" fmla="*/ 2147483647 h 483"/>
              <a:gd name="T20" fmla="*/ 0 w 593"/>
              <a:gd name="T21" fmla="*/ 2147483647 h 48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3"/>
              <a:gd name="T34" fmla="*/ 0 h 483"/>
              <a:gd name="T35" fmla="*/ 593 w 593"/>
              <a:gd name="T36" fmla="*/ 483 h 48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3" h="483">
                <a:moveTo>
                  <a:pt x="0" y="34"/>
                </a:moveTo>
                <a:lnTo>
                  <a:pt x="200" y="0"/>
                </a:lnTo>
                <a:lnTo>
                  <a:pt x="159" y="58"/>
                </a:lnTo>
                <a:lnTo>
                  <a:pt x="515" y="306"/>
                </a:lnTo>
                <a:lnTo>
                  <a:pt x="555" y="248"/>
                </a:lnTo>
                <a:lnTo>
                  <a:pt x="592" y="448"/>
                </a:lnTo>
                <a:lnTo>
                  <a:pt x="392" y="482"/>
                </a:lnTo>
                <a:lnTo>
                  <a:pt x="433" y="424"/>
                </a:lnTo>
                <a:lnTo>
                  <a:pt x="77" y="176"/>
                </a:lnTo>
                <a:lnTo>
                  <a:pt x="37" y="234"/>
                </a:lnTo>
                <a:lnTo>
                  <a:pt x="0" y="34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6646863" y="3187700"/>
            <a:ext cx="1781175" cy="815975"/>
            <a:chOff x="4187" y="2008"/>
            <a:chExt cx="1122" cy="514"/>
          </a:xfrm>
        </p:grpSpPr>
        <p:pic>
          <p:nvPicPr>
            <p:cNvPr id="32785" name="Picture 15"/>
            <p:cNvPicPr>
              <a:picLocks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187" y="2008"/>
              <a:ext cx="1122" cy="5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786" name="Rectangle 16"/>
            <p:cNvSpPr>
              <a:spLocks noChangeArrowheads="1"/>
            </p:cNvSpPr>
            <p:nvPr/>
          </p:nvSpPr>
          <p:spPr bwMode="auto">
            <a:xfrm>
              <a:off x="4251" y="2180"/>
              <a:ext cx="986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Unseen Data</a:t>
              </a:r>
            </a:p>
          </p:txBody>
        </p:sp>
      </p:grpSp>
      <p:sp>
        <p:nvSpPr>
          <p:cNvPr id="32779" name="Rectangle 17"/>
          <p:cNvSpPr>
            <a:spLocks noChangeArrowheads="1"/>
          </p:cNvSpPr>
          <p:nvPr/>
        </p:nvSpPr>
        <p:spPr bwMode="auto">
          <a:xfrm>
            <a:off x="6305550" y="4262438"/>
            <a:ext cx="2454275" cy="45720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2400">
                <a:latin typeface="Times New Roman" pitchFamily="18" charset="0"/>
              </a:rPr>
              <a:t>(Jeff, Professor, 4)</a:t>
            </a:r>
          </a:p>
        </p:txBody>
      </p:sp>
      <p:sp>
        <p:nvSpPr>
          <p:cNvPr id="32780" name="Line 18"/>
          <p:cNvSpPr>
            <a:spLocks noChangeShapeType="1"/>
          </p:cNvSpPr>
          <p:nvPr/>
        </p:nvSpPr>
        <p:spPr bwMode="auto">
          <a:xfrm flipH="1">
            <a:off x="6167438" y="3903663"/>
            <a:ext cx="471487" cy="393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1" name="Line 19"/>
          <p:cNvSpPr>
            <a:spLocks noChangeShapeType="1"/>
          </p:cNvSpPr>
          <p:nvPr/>
        </p:nvSpPr>
        <p:spPr bwMode="auto">
          <a:xfrm>
            <a:off x="8448675" y="3903663"/>
            <a:ext cx="363538" cy="3492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Freeform 20"/>
          <p:cNvSpPr>
            <a:spLocks/>
          </p:cNvSpPr>
          <p:nvPr/>
        </p:nvSpPr>
        <p:spPr bwMode="auto">
          <a:xfrm>
            <a:off x="3360738" y="2032000"/>
            <a:ext cx="901700" cy="593725"/>
          </a:xfrm>
          <a:custGeom>
            <a:avLst/>
            <a:gdLst>
              <a:gd name="T0" fmla="*/ 2147483647 w 568"/>
              <a:gd name="T1" fmla="*/ 2147483647 h 374"/>
              <a:gd name="T2" fmla="*/ 2147483647 w 568"/>
              <a:gd name="T3" fmla="*/ 2147483647 h 374"/>
              <a:gd name="T4" fmla="*/ 2147483647 w 568"/>
              <a:gd name="T5" fmla="*/ 2147483647 h 374"/>
              <a:gd name="T6" fmla="*/ 2147483647 w 568"/>
              <a:gd name="T7" fmla="*/ 2147483647 h 374"/>
              <a:gd name="T8" fmla="*/ 2147483647 w 568"/>
              <a:gd name="T9" fmla="*/ 2147483647 h 374"/>
              <a:gd name="T10" fmla="*/ 0 w 568"/>
              <a:gd name="T11" fmla="*/ 2147483647 h 374"/>
              <a:gd name="T12" fmla="*/ 2147483647 w 568"/>
              <a:gd name="T13" fmla="*/ 2147483647 h 374"/>
              <a:gd name="T14" fmla="*/ 2147483647 w 568"/>
              <a:gd name="T15" fmla="*/ 2147483647 h 374"/>
              <a:gd name="T16" fmla="*/ 2147483647 w 568"/>
              <a:gd name="T17" fmla="*/ 2147483647 h 374"/>
              <a:gd name="T18" fmla="*/ 2147483647 w 568"/>
              <a:gd name="T19" fmla="*/ 0 h 374"/>
              <a:gd name="T20" fmla="*/ 2147483647 w 568"/>
              <a:gd name="T21" fmla="*/ 2147483647 h 37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68"/>
              <a:gd name="T34" fmla="*/ 0 h 374"/>
              <a:gd name="T35" fmla="*/ 568 w 568"/>
              <a:gd name="T36" fmla="*/ 374 h 37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68" h="374">
                <a:moveTo>
                  <a:pt x="567" y="59"/>
                </a:moveTo>
                <a:lnTo>
                  <a:pt x="503" y="220"/>
                </a:lnTo>
                <a:lnTo>
                  <a:pt x="478" y="165"/>
                </a:lnTo>
                <a:lnTo>
                  <a:pt x="138" y="318"/>
                </a:lnTo>
                <a:lnTo>
                  <a:pt x="163" y="373"/>
                </a:lnTo>
                <a:lnTo>
                  <a:pt x="0" y="314"/>
                </a:lnTo>
                <a:lnTo>
                  <a:pt x="64" y="153"/>
                </a:lnTo>
                <a:lnTo>
                  <a:pt x="89" y="208"/>
                </a:lnTo>
                <a:lnTo>
                  <a:pt x="429" y="55"/>
                </a:lnTo>
                <a:lnTo>
                  <a:pt x="404" y="0"/>
                </a:lnTo>
                <a:lnTo>
                  <a:pt x="567" y="59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2783" name="Picture 21"/>
          <p:cNvPicPr>
            <a:picLocks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720013" y="5738813"/>
            <a:ext cx="72072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84" name="Rectangle 22"/>
          <p:cNvSpPr>
            <a:spLocks noChangeArrowheads="1"/>
          </p:cNvSpPr>
          <p:nvPr/>
        </p:nvSpPr>
        <p:spPr bwMode="auto">
          <a:xfrm>
            <a:off x="6221413" y="4959350"/>
            <a:ext cx="15255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2800">
                <a:latin typeface="Times New Roman" pitchFamily="18" charset="0"/>
              </a:rPr>
              <a:t>Tenured?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9"/>
          <p:cNvSpPr>
            <a:spLocks noGrp="1"/>
          </p:cNvSpPr>
          <p:nvPr>
            <p:ph sz="half" idx="1"/>
          </p:nvPr>
        </p:nvSpPr>
        <p:spPr>
          <a:xfrm>
            <a:off x="1435100" y="1524001"/>
            <a:ext cx="2679700" cy="2057400"/>
          </a:xfrm>
        </p:spPr>
        <p:txBody>
          <a:bodyPr/>
          <a:lstStyle/>
          <a:p>
            <a:pPr eaLnBrk="1" hangingPunct="1"/>
            <a:r>
              <a:rPr lang="en-US" smtClean="0"/>
              <a:t>So the overall classification process goes like this </a:t>
            </a:r>
            <a:r>
              <a:rPr lang="en-US" smtClean="0">
                <a:sym typeface="Wingdings" pitchFamily="2" charset="2"/>
              </a:rPr>
              <a:t></a:t>
            </a:r>
            <a:endParaRPr lang="en-US" smtClean="0"/>
          </a:p>
          <a:p>
            <a:pPr eaLnBrk="1" hangingPunct="1"/>
            <a:endParaRPr lang="en-US" smtClean="0"/>
          </a:p>
        </p:txBody>
      </p:sp>
      <p:sp>
        <p:nvSpPr>
          <p:cNvPr id="11" name="Rectangle 10"/>
          <p:cNvSpPr/>
          <p:nvPr/>
        </p:nvSpPr>
        <p:spPr>
          <a:xfrm>
            <a:off x="5029200" y="2286000"/>
            <a:ext cx="16764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Preprocessing, and feature extraction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5400" y="4343400"/>
            <a:ext cx="1524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Training</a:t>
            </a:r>
          </a:p>
        </p:txBody>
      </p:sp>
      <p:sp>
        <p:nvSpPr>
          <p:cNvPr id="16" name="Can 15"/>
          <p:cNvSpPr/>
          <p:nvPr/>
        </p:nvSpPr>
        <p:spPr>
          <a:xfrm>
            <a:off x="5181600" y="1143000"/>
            <a:ext cx="1447800" cy="8382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Training Data</a:t>
            </a:r>
          </a:p>
        </p:txBody>
      </p:sp>
      <p:sp>
        <p:nvSpPr>
          <p:cNvPr id="17" name="Oval 16"/>
          <p:cNvSpPr/>
          <p:nvPr/>
        </p:nvSpPr>
        <p:spPr>
          <a:xfrm>
            <a:off x="5105400" y="5334000"/>
            <a:ext cx="15240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Model</a:t>
            </a:r>
          </a:p>
        </p:txBody>
      </p:sp>
      <p:sp>
        <p:nvSpPr>
          <p:cNvPr id="18" name="Can 17"/>
          <p:cNvSpPr/>
          <p:nvPr/>
        </p:nvSpPr>
        <p:spPr>
          <a:xfrm>
            <a:off x="6858000" y="1219200"/>
            <a:ext cx="1752600" cy="7620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Test/Unlabeled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4343400"/>
            <a:ext cx="1779588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Testing against </a:t>
            </a:r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6705600" y="5334000"/>
            <a:ext cx="18288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Prediction/Evaluation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rot="5400000">
            <a:off x="5715000" y="2133600"/>
            <a:ext cx="306388" cy="158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rot="5400000">
            <a:off x="5715000" y="4190206"/>
            <a:ext cx="304800" cy="158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5715000" y="5181600"/>
            <a:ext cx="306388" cy="158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5400000">
            <a:off x="7542213" y="2133600"/>
            <a:ext cx="306388" cy="158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>
            <a:off x="7467600" y="4191000"/>
            <a:ext cx="306388" cy="158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7467600" y="5181600"/>
            <a:ext cx="306388" cy="158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n 32"/>
          <p:cNvSpPr/>
          <p:nvPr/>
        </p:nvSpPr>
        <p:spPr>
          <a:xfrm>
            <a:off x="5029200" y="3505200"/>
            <a:ext cx="1676400" cy="5334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Feature vector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rot="5400000">
            <a:off x="5715000" y="3276600"/>
            <a:ext cx="306388" cy="158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934200" y="2286000"/>
            <a:ext cx="16764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Preprocessing, and feature extraction</a:t>
            </a:r>
          </a:p>
        </p:txBody>
      </p:sp>
      <p:sp>
        <p:nvSpPr>
          <p:cNvPr id="36" name="Can 35"/>
          <p:cNvSpPr/>
          <p:nvPr/>
        </p:nvSpPr>
        <p:spPr>
          <a:xfrm>
            <a:off x="6858000" y="3505200"/>
            <a:ext cx="1676400" cy="5334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Feature vector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rot="5400000">
            <a:off x="7467600" y="3275013"/>
            <a:ext cx="306387" cy="158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1447800" y="304800"/>
            <a:ext cx="6705600" cy="381000"/>
          </a:xfrm>
        </p:spPr>
        <p:txBody>
          <a:bodyPr/>
          <a:lstStyle/>
          <a:p>
            <a:r>
              <a:rPr lang="en-US" sz="2400" dirty="0" smtClean="0"/>
              <a:t>Application of Classifier in a Data Set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620688"/>
            <a:ext cx="7198568" cy="515144"/>
          </a:xfrm>
        </p:spPr>
        <p:txBody>
          <a:bodyPr/>
          <a:lstStyle/>
          <a:p>
            <a:pPr algn="l"/>
            <a:r>
              <a:rPr lang="en-US" sz="3200" b="1" dirty="0" smtClean="0"/>
              <a:t>Rule based Classifier – Rule </a:t>
            </a:r>
            <a:r>
              <a:rPr lang="en-US" sz="3200" b="1" dirty="0"/>
              <a:t>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340768"/>
            <a:ext cx="7772400" cy="3744416"/>
          </a:xfrm>
        </p:spPr>
        <p:txBody>
          <a:bodyPr/>
          <a:lstStyle/>
          <a:p>
            <a:pPr algn="just"/>
            <a:r>
              <a:rPr lang="en-US" sz="2800" dirty="0"/>
              <a:t>What is generally desired is an </a:t>
            </a:r>
            <a:r>
              <a:rPr lang="en-US" sz="2800" i="1" dirty="0"/>
              <a:t>intentional </a:t>
            </a:r>
            <a:r>
              <a:rPr lang="en-US" sz="2800" dirty="0"/>
              <a:t>description of the category, a representation of the category based on a set of </a:t>
            </a:r>
            <a:r>
              <a:rPr lang="en-US" sz="2800" i="1" dirty="0"/>
              <a:t>rules </a:t>
            </a:r>
            <a:r>
              <a:rPr lang="en-US" sz="2800" dirty="0"/>
              <a:t>that describe the scope of the category. </a:t>
            </a:r>
          </a:p>
          <a:p>
            <a:pPr algn="just"/>
            <a:r>
              <a:rPr lang="en-US" sz="2800" dirty="0"/>
              <a:t>The choice of such rules is not unique. </a:t>
            </a:r>
            <a:endParaRPr lang="en-US" sz="2800" dirty="0" smtClean="0"/>
          </a:p>
          <a:p>
            <a:pPr algn="just"/>
            <a:r>
              <a:rPr lang="en-US" dirty="0" smtClean="0"/>
              <a:t>We will </a:t>
            </a:r>
            <a:r>
              <a:rPr lang="en-US" sz="2800" dirty="0" smtClean="0"/>
              <a:t>discuss </a:t>
            </a:r>
            <a:r>
              <a:rPr lang="en-US" sz="2800" dirty="0"/>
              <a:t>a </a:t>
            </a:r>
            <a:r>
              <a:rPr lang="en-US" sz="2800" dirty="0" smtClean="0"/>
              <a:t>decision matrix based rule-extraction </a:t>
            </a:r>
            <a:r>
              <a:rPr lang="en-US" sz="2800" dirty="0"/>
              <a:t>procedure </a:t>
            </a:r>
            <a:r>
              <a:rPr lang="en-US" sz="2800" dirty="0" smtClean="0"/>
              <a:t>(Proposed by </a:t>
            </a:r>
            <a:r>
              <a:rPr lang="en-US" sz="2800" dirty="0" err="1" smtClean="0"/>
              <a:t>Ziarko</a:t>
            </a:r>
            <a:r>
              <a:rPr lang="en-US" sz="2800" dirty="0" smtClean="0"/>
              <a:t> </a:t>
            </a:r>
            <a:r>
              <a:rPr lang="en-US" sz="2800" dirty="0"/>
              <a:t>&amp; Shan </a:t>
            </a:r>
            <a:r>
              <a:rPr lang="en-US" sz="2800" dirty="0" smtClean="0"/>
              <a:t>in 1995</a:t>
            </a:r>
            <a:r>
              <a:rPr lang="en-US" sz="2800" dirty="0"/>
              <a:t>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360088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15144"/>
          </a:xfrm>
        </p:spPr>
        <p:txBody>
          <a:bodyPr/>
          <a:lstStyle/>
          <a:p>
            <a:r>
              <a:rPr lang="en-US" dirty="0"/>
              <a:t>Rule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0768"/>
            <a:ext cx="7772400" cy="4320480"/>
          </a:xfrm>
        </p:spPr>
        <p:txBody>
          <a:bodyPr/>
          <a:lstStyle/>
          <a:p>
            <a:pPr algn="just"/>
            <a:r>
              <a:rPr lang="en-US" sz="2800" dirty="0" smtClean="0"/>
              <a:t>Let, we </a:t>
            </a:r>
            <a:r>
              <a:rPr lang="en-US" sz="2800" dirty="0"/>
              <a:t>wish to find the minimal set of consistent rules called logical implications that characterize our </a:t>
            </a:r>
            <a:r>
              <a:rPr lang="en-US" sz="2800" dirty="0" smtClean="0"/>
              <a:t>decision </a:t>
            </a:r>
            <a:r>
              <a:rPr lang="en-US" sz="2800" dirty="0"/>
              <a:t>system. </a:t>
            </a:r>
          </a:p>
          <a:p>
            <a:pPr algn="just"/>
            <a:r>
              <a:rPr lang="en-US" sz="2800" dirty="0"/>
              <a:t>For a set of </a:t>
            </a:r>
            <a:r>
              <a:rPr lang="en-US" sz="2800" i="1" dirty="0"/>
              <a:t>condition </a:t>
            </a:r>
            <a:r>
              <a:rPr lang="en-US" sz="2800" dirty="0" smtClean="0"/>
              <a:t>attributes,                 and </a:t>
            </a:r>
            <a:r>
              <a:rPr lang="en-US" sz="2800" dirty="0"/>
              <a:t>a decision </a:t>
            </a:r>
            <a:r>
              <a:rPr lang="en-US" sz="2800" dirty="0" smtClean="0"/>
              <a:t>attribute D, </a:t>
            </a:r>
            <a:r>
              <a:rPr lang="en-US" sz="2800" dirty="0"/>
              <a:t>these rules should have the form</a:t>
            </a:r>
            <a:r>
              <a:rPr lang="en-US" sz="2800" dirty="0" smtClean="0"/>
              <a:t>,                     or </a:t>
            </a:r>
            <a:r>
              <a:rPr lang="en-US" sz="2800" dirty="0"/>
              <a:t>spelled out, </a:t>
            </a:r>
            <a:endParaRPr lang="en-US" sz="2800" dirty="0" smtClean="0"/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 smtClean="0"/>
              <a:t>   where, {</a:t>
            </a:r>
            <a:r>
              <a:rPr lang="en-US" sz="2800" i="1" dirty="0" smtClean="0"/>
              <a:t>a</a:t>
            </a:r>
            <a:r>
              <a:rPr lang="en-US" sz="2800" dirty="0" smtClean="0"/>
              <a:t>, </a:t>
            </a:r>
            <a:r>
              <a:rPr lang="en-US" sz="2800" i="1" dirty="0" smtClean="0"/>
              <a:t>b</a:t>
            </a:r>
            <a:r>
              <a:rPr lang="en-US" sz="2800" dirty="0" smtClean="0"/>
              <a:t>, …, </a:t>
            </a:r>
            <a:r>
              <a:rPr lang="en-US" sz="2800" i="1" dirty="0" smtClean="0"/>
              <a:t>p</a:t>
            </a:r>
            <a:r>
              <a:rPr lang="en-US" sz="2800" dirty="0" smtClean="0"/>
              <a:t>} </a:t>
            </a:r>
            <a:r>
              <a:rPr lang="en-US" sz="2800" dirty="0"/>
              <a:t>are legitimate values from the </a:t>
            </a:r>
            <a:endParaRPr lang="en-US" sz="2800" dirty="0" smtClean="0"/>
          </a:p>
          <a:p>
            <a:pPr marL="0" indent="0" algn="just">
              <a:buNone/>
            </a:pPr>
            <a:r>
              <a:rPr lang="en-US" sz="2800" dirty="0"/>
              <a:t> </a:t>
            </a:r>
            <a:r>
              <a:rPr lang="en-US" sz="2800" dirty="0" smtClean="0"/>
              <a:t>  domains </a:t>
            </a:r>
            <a:r>
              <a:rPr lang="en-US" sz="2800" dirty="0"/>
              <a:t>of their respective attributes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2852936"/>
            <a:ext cx="5270500" cy="3133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3717032"/>
            <a:ext cx="5270500" cy="266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4221088"/>
            <a:ext cx="5270500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986520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87152"/>
          </a:xfrm>
        </p:spPr>
        <p:txBody>
          <a:bodyPr/>
          <a:lstStyle/>
          <a:p>
            <a:r>
              <a:rPr lang="en-US" sz="4000" dirty="0" smtClean="0"/>
              <a:t>Rule </a:t>
            </a:r>
            <a:r>
              <a:rPr lang="en-US" sz="4000" dirty="0"/>
              <a:t>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268760"/>
            <a:ext cx="7772400" cy="3312368"/>
          </a:xfrm>
        </p:spPr>
        <p:txBody>
          <a:bodyPr/>
          <a:lstStyle/>
          <a:p>
            <a:pPr algn="just"/>
            <a:r>
              <a:rPr lang="en-US" sz="2800" dirty="0"/>
              <a:t>This is a form typical of association rules, and the </a:t>
            </a:r>
            <a:r>
              <a:rPr lang="en-US" sz="2800" dirty="0" smtClean="0"/>
              <a:t>number </a:t>
            </a:r>
            <a:r>
              <a:rPr lang="en-US" sz="2800" dirty="0"/>
              <a:t>of </a:t>
            </a:r>
            <a:r>
              <a:rPr lang="en-US" sz="2800" dirty="0" smtClean="0"/>
              <a:t>objects </a:t>
            </a:r>
            <a:r>
              <a:rPr lang="en-US" sz="2800" dirty="0"/>
              <a:t>in U which match the condition/antecedent is called the </a:t>
            </a:r>
            <a:r>
              <a:rPr lang="en-US" sz="2800" i="1" dirty="0"/>
              <a:t>support </a:t>
            </a:r>
            <a:r>
              <a:rPr lang="en-US" sz="2800" dirty="0"/>
              <a:t>for the rule. </a:t>
            </a:r>
          </a:p>
          <a:p>
            <a:pPr algn="just"/>
            <a:r>
              <a:rPr lang="en-US" sz="2800" dirty="0"/>
              <a:t>The method for extracting such rules </a:t>
            </a:r>
            <a:r>
              <a:rPr lang="en-US" sz="2800" dirty="0" smtClean="0"/>
              <a:t>is </a:t>
            </a:r>
            <a:r>
              <a:rPr lang="en-US" sz="2800" dirty="0"/>
              <a:t>to form a </a:t>
            </a:r>
            <a:r>
              <a:rPr lang="en-US" sz="2800" i="1" dirty="0"/>
              <a:t>decision matrix </a:t>
            </a:r>
            <a:r>
              <a:rPr lang="en-US" sz="2800" dirty="0"/>
              <a:t>corresponding to each individual value </a:t>
            </a:r>
            <a:r>
              <a:rPr lang="en-US" sz="2800" i="1" dirty="0"/>
              <a:t>d </a:t>
            </a:r>
            <a:r>
              <a:rPr lang="en-US" sz="2800" dirty="0"/>
              <a:t>of decision attribute </a:t>
            </a:r>
            <a:r>
              <a:rPr lang="en-US" sz="2800" i="1" dirty="0" smtClean="0"/>
              <a:t>D</a:t>
            </a:r>
            <a:r>
              <a:rPr lang="en-US" sz="2800" dirty="0" smtClean="0"/>
              <a:t>. 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156489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59160"/>
          </a:xfrm>
        </p:spPr>
        <p:txBody>
          <a:bodyPr/>
          <a:lstStyle/>
          <a:p>
            <a:r>
              <a:rPr lang="en-US" i="1" dirty="0" smtClean="0"/>
              <a:t>Decision Matrix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12776"/>
            <a:ext cx="7772400" cy="2016224"/>
          </a:xfrm>
        </p:spPr>
        <p:txBody>
          <a:bodyPr/>
          <a:lstStyle/>
          <a:p>
            <a:pPr algn="just"/>
            <a:r>
              <a:rPr lang="en-US" sz="2400" dirty="0"/>
              <a:t>Informally, the decision matrix for value </a:t>
            </a:r>
            <a:r>
              <a:rPr lang="en-US" sz="2400" i="1" dirty="0"/>
              <a:t>d </a:t>
            </a:r>
            <a:r>
              <a:rPr lang="en-US" sz="2400" dirty="0"/>
              <a:t>of decision attribute </a:t>
            </a:r>
            <a:r>
              <a:rPr lang="en-US" sz="2400" i="1" dirty="0" smtClean="0"/>
              <a:t>D </a:t>
            </a:r>
            <a:r>
              <a:rPr lang="en-US" sz="2400" dirty="0"/>
              <a:t>lists all attribute–value pairs that </a:t>
            </a:r>
            <a:r>
              <a:rPr lang="en-US" sz="2400" i="1" dirty="0"/>
              <a:t>differ </a:t>
            </a:r>
            <a:r>
              <a:rPr lang="en-US" sz="2400" dirty="0"/>
              <a:t>between objects having </a:t>
            </a:r>
            <a:r>
              <a:rPr lang="en-US" sz="2400" i="1" dirty="0" smtClean="0"/>
              <a:t>D </a:t>
            </a:r>
            <a:r>
              <a:rPr lang="en-US" sz="2400" dirty="0"/>
              <a:t>= </a:t>
            </a:r>
            <a:r>
              <a:rPr lang="en-US" sz="2400" i="1" dirty="0"/>
              <a:t>d </a:t>
            </a:r>
            <a:r>
              <a:rPr lang="en-US" sz="2400" dirty="0"/>
              <a:t>and </a:t>
            </a:r>
          </a:p>
          <a:p>
            <a:r>
              <a:rPr lang="en-US" sz="2400" dirty="0" smtClean="0"/>
              <a:t>Example – Consider a dataset and say, it is reduced by a feature selection Algorithm, as shown in the right side. 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209800"/>
            <a:ext cx="5270500" cy="432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645024"/>
            <a:ext cx="5410200" cy="18722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657600"/>
            <a:ext cx="5410200" cy="147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19872" y="3810000"/>
            <a:ext cx="1837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</a:rPr>
              <a:t>Horizontally &amp; 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Vertically                </a:t>
            </a:r>
            <a:r>
              <a:rPr lang="en-US" sz="1200" b="1" dirty="0" smtClean="0">
                <a:solidFill>
                  <a:srgbClr val="FF0000"/>
                </a:solidFill>
                <a:sym typeface="Wingdings" pitchFamily="2" charset="2"/>
              </a:rPr>
              <a:t></a:t>
            </a:r>
            <a:endParaRPr lang="en-US" sz="1200" b="1" dirty="0" smtClean="0">
              <a:solidFill>
                <a:srgbClr val="FF0000"/>
              </a:solidFill>
            </a:endParaRPr>
          </a:p>
          <a:p>
            <a:r>
              <a:rPr lang="en-US" sz="1200" b="1" dirty="0" smtClean="0">
                <a:solidFill>
                  <a:srgbClr val="FF0000"/>
                </a:solidFill>
              </a:rPr>
              <a:t>Reduced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726677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3276600" cy="659160"/>
          </a:xfrm>
        </p:spPr>
        <p:txBody>
          <a:bodyPr/>
          <a:lstStyle/>
          <a:p>
            <a:r>
              <a:rPr lang="en-US" sz="2800" i="1" dirty="0" smtClean="0"/>
              <a:t>Decision Matrix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772816"/>
            <a:ext cx="7772400" cy="2304256"/>
          </a:xfrm>
        </p:spPr>
        <p:txBody>
          <a:bodyPr/>
          <a:lstStyle/>
          <a:p>
            <a:r>
              <a:rPr lang="en-US" sz="2000" dirty="0" smtClean="0"/>
              <a:t>Decision variable D takes </a:t>
            </a:r>
            <a:r>
              <a:rPr lang="en-US" sz="2000" dirty="0"/>
              <a:t>on </a:t>
            </a:r>
            <a:r>
              <a:rPr lang="en-US" sz="2000" dirty="0" smtClean="0"/>
              <a:t>three </a:t>
            </a:r>
            <a:r>
              <a:rPr lang="en-US" sz="2000" dirty="0"/>
              <a:t>different values, namely {</a:t>
            </a:r>
            <a:r>
              <a:rPr lang="en-US" sz="2000" dirty="0" smtClean="0"/>
              <a:t>1,2, 3}</a:t>
            </a:r>
            <a:r>
              <a:rPr lang="en-US" sz="2000" dirty="0"/>
              <a:t>. We treat each case separately.</a:t>
            </a:r>
            <a:r>
              <a:rPr lang="en-US" sz="2400" dirty="0"/>
              <a:t> </a:t>
            </a:r>
            <a:endParaRPr lang="en-US" sz="2400" dirty="0" smtClean="0"/>
          </a:p>
          <a:p>
            <a:pPr marL="0" indent="0">
              <a:buNone/>
            </a:pPr>
            <a:r>
              <a:rPr lang="en-US" sz="2000" u="sng" dirty="0" smtClean="0">
                <a:solidFill>
                  <a:srgbClr val="FF0000"/>
                </a:solidFill>
              </a:rPr>
              <a:t>Case-1: D = 1</a:t>
            </a:r>
          </a:p>
          <a:p>
            <a:r>
              <a:rPr lang="en-US" sz="1800" dirty="0"/>
              <a:t>we divide </a:t>
            </a:r>
            <a:r>
              <a:rPr lang="en-US" sz="1800" dirty="0" smtClean="0"/>
              <a:t>the objects based on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1 and </a:t>
            </a:r>
            <a:r>
              <a:rPr lang="en-IN" sz="1800" i="1" dirty="0" smtClean="0"/>
              <a:t>D ≠1</a:t>
            </a:r>
            <a:endParaRPr lang="en-US" sz="1800" dirty="0"/>
          </a:p>
          <a:p>
            <a:r>
              <a:rPr lang="en-US" sz="1800" dirty="0"/>
              <a:t>The objects having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1 are {</a:t>
            </a:r>
            <a:r>
              <a:rPr lang="en-US" sz="1800" i="1" dirty="0"/>
              <a:t>O</a:t>
            </a:r>
            <a:r>
              <a:rPr lang="en-US" sz="1800" baseline="-25000" dirty="0"/>
              <a:t>1</a:t>
            </a:r>
            <a:r>
              <a:rPr lang="en-US" sz="1800" dirty="0"/>
              <a:t>,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} </a:t>
            </a:r>
            <a:r>
              <a:rPr lang="en-US" sz="1800" dirty="0"/>
              <a:t>while </a:t>
            </a:r>
            <a:r>
              <a:rPr lang="en-US" sz="1800" dirty="0" smtClean="0"/>
              <a:t>the </a:t>
            </a:r>
            <a:r>
              <a:rPr lang="en-US" sz="1800" dirty="0"/>
              <a:t>objects </a:t>
            </a:r>
            <a:r>
              <a:rPr lang="en-US" sz="1800" dirty="0" smtClean="0"/>
              <a:t>having </a:t>
            </a:r>
            <a:r>
              <a:rPr lang="en-IN" sz="1800" i="1" dirty="0"/>
              <a:t>D ≠</a:t>
            </a:r>
            <a:r>
              <a:rPr lang="en-IN" sz="1800" i="1" dirty="0" smtClean="0"/>
              <a:t>1 are </a:t>
            </a:r>
            <a:r>
              <a:rPr lang="en-US" sz="1800" dirty="0" smtClean="0"/>
              <a:t>{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3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4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5</a:t>
            </a:r>
            <a:r>
              <a:rPr lang="en-US" sz="1800" dirty="0" smtClean="0"/>
              <a:t>}</a:t>
            </a:r>
            <a:r>
              <a:rPr lang="en-US" sz="1800" dirty="0"/>
              <a:t>. </a:t>
            </a:r>
            <a:r>
              <a:rPr lang="en-US" sz="1800" dirty="0" smtClean="0"/>
              <a:t> 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31800"/>
            <a:ext cx="5410200" cy="147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5976" y="3645024"/>
            <a:ext cx="396044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The decision matrix for </a:t>
            </a:r>
            <a:r>
              <a:rPr lang="en-US" sz="1800" i="1" dirty="0"/>
              <a:t>D</a:t>
            </a:r>
            <a:r>
              <a:rPr lang="en-US" sz="1800" dirty="0"/>
              <a:t> = 1 </a:t>
            </a:r>
            <a:r>
              <a:rPr lang="en-US" sz="1800" dirty="0" smtClean="0"/>
              <a:t>lists </a:t>
            </a:r>
            <a:r>
              <a:rPr lang="en-US" sz="1800" dirty="0"/>
              <a:t>all the differences between the objects having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1 and those </a:t>
            </a:r>
            <a:r>
              <a:rPr lang="en-US" sz="1800" dirty="0" smtClean="0"/>
              <a:t>having </a:t>
            </a:r>
            <a:r>
              <a:rPr lang="en-IN" sz="1800" i="1" dirty="0"/>
              <a:t>D ≠</a:t>
            </a:r>
            <a:r>
              <a:rPr lang="en-IN" sz="1800" i="1" dirty="0" smtClean="0"/>
              <a:t>1</a:t>
            </a:r>
            <a:r>
              <a:rPr lang="en-US" sz="1800" dirty="0" smtClean="0"/>
              <a:t>. 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Thus, the decision matrix lists all the differences between {</a:t>
            </a:r>
            <a:r>
              <a:rPr lang="en-US" sz="1800" i="1" dirty="0"/>
              <a:t>O</a:t>
            </a:r>
            <a:r>
              <a:rPr lang="en-US" sz="1800" baseline="-25000" dirty="0"/>
              <a:t>1</a:t>
            </a:r>
            <a:r>
              <a:rPr lang="en-US" sz="1800" dirty="0"/>
              <a:t>,</a:t>
            </a:r>
            <a:r>
              <a:rPr lang="en-US" sz="1800" i="1" dirty="0"/>
              <a:t>O</a:t>
            </a:r>
            <a:r>
              <a:rPr lang="en-US" sz="1800" baseline="-25000" dirty="0"/>
              <a:t>2</a:t>
            </a:r>
            <a:r>
              <a:rPr lang="en-US" sz="1800" dirty="0"/>
              <a:t>} </a:t>
            </a:r>
            <a:r>
              <a:rPr lang="en-US" sz="1800" dirty="0" smtClean="0"/>
              <a:t>and </a:t>
            </a:r>
            <a:r>
              <a:rPr lang="en-US" sz="1800" dirty="0"/>
              <a:t>{</a:t>
            </a:r>
            <a:r>
              <a:rPr lang="en-US" sz="1800" i="1" dirty="0"/>
              <a:t>O</a:t>
            </a:r>
            <a:r>
              <a:rPr lang="en-US" sz="1800" baseline="-25000" dirty="0"/>
              <a:t>3</a:t>
            </a:r>
            <a:r>
              <a:rPr lang="en-US" sz="1800" dirty="0"/>
              <a:t>, </a:t>
            </a:r>
            <a:r>
              <a:rPr lang="en-US" sz="1800" i="1" dirty="0"/>
              <a:t>O</a:t>
            </a:r>
            <a:r>
              <a:rPr lang="en-US" sz="1800" baseline="-25000" dirty="0"/>
              <a:t>4</a:t>
            </a:r>
            <a:r>
              <a:rPr lang="en-US" sz="1800" dirty="0"/>
              <a:t>, </a:t>
            </a:r>
            <a:r>
              <a:rPr lang="en-US" sz="1800" i="1" dirty="0"/>
              <a:t>O</a:t>
            </a:r>
            <a:r>
              <a:rPr lang="en-US" sz="1800" baseline="-25000" dirty="0"/>
              <a:t>5</a:t>
            </a:r>
            <a:r>
              <a:rPr lang="en-US" sz="1800" dirty="0" smtClean="0"/>
              <a:t>}.</a:t>
            </a:r>
            <a:endParaRPr lang="en-US" sz="1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933056"/>
            <a:ext cx="54102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999780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3886200" cy="515144"/>
          </a:xfrm>
        </p:spPr>
        <p:txBody>
          <a:bodyPr/>
          <a:lstStyle/>
          <a:p>
            <a:pPr algn="l"/>
            <a:r>
              <a:rPr lang="en-US" i="1" dirty="0"/>
              <a:t>Decision Matrix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2708920"/>
            <a:ext cx="7198568" cy="2592288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dirty="0" smtClean="0"/>
              <a:t>x(</a:t>
            </a:r>
            <a:r>
              <a:rPr lang="en-US" sz="2000" dirty="0" err="1" smtClean="0"/>
              <a:t>x+y</a:t>
            </a:r>
            <a:r>
              <a:rPr lang="en-US" sz="2000" dirty="0" smtClean="0"/>
              <a:t>)(</a:t>
            </a:r>
            <a:r>
              <a:rPr lang="en-US" sz="2000" dirty="0" err="1" smtClean="0"/>
              <a:t>x+y</a:t>
            </a:r>
            <a:r>
              <a:rPr lang="en-US" sz="2000" dirty="0" smtClean="0"/>
              <a:t>) = x(</a:t>
            </a:r>
            <a:r>
              <a:rPr lang="en-US" sz="2000" dirty="0" err="1" smtClean="0"/>
              <a:t>x+y</a:t>
            </a:r>
            <a:r>
              <a:rPr lang="en-US" sz="2000" dirty="0" smtClean="0"/>
              <a:t>) = x = 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(</a:t>
            </a:r>
            <a:r>
              <a:rPr lang="en-US" sz="2000" dirty="0" err="1" smtClean="0"/>
              <a:t>x+z</a:t>
            </a:r>
            <a:r>
              <a:rPr lang="en-US" sz="2000" dirty="0" smtClean="0"/>
              <a:t>)(</a:t>
            </a:r>
            <a:r>
              <a:rPr lang="en-US" sz="2000" dirty="0" err="1" smtClean="0"/>
              <a:t>x+z</a:t>
            </a:r>
            <a:r>
              <a:rPr lang="en-US" sz="2000" dirty="0" smtClean="0"/>
              <a:t>)(</a:t>
            </a:r>
            <a:r>
              <a:rPr lang="en-US" sz="2000" dirty="0" err="1" smtClean="0"/>
              <a:t>x+z</a:t>
            </a:r>
            <a:r>
              <a:rPr lang="en-US" sz="2000" dirty="0" smtClean="0"/>
              <a:t>) = </a:t>
            </a:r>
            <a:r>
              <a:rPr lang="en-US" sz="2000" dirty="0" err="1" smtClean="0"/>
              <a:t>x+z</a:t>
            </a:r>
            <a:r>
              <a:rPr lang="en-US" sz="2000" dirty="0" smtClean="0"/>
              <a:t> =      + </a:t>
            </a:r>
          </a:p>
          <a:p>
            <a:endParaRPr lang="en-US" sz="2000" dirty="0"/>
          </a:p>
          <a:p>
            <a:r>
              <a:rPr lang="en-US" sz="2000" dirty="0" smtClean="0"/>
              <a:t>Thus we have following two rules:</a:t>
            </a:r>
          </a:p>
          <a:p>
            <a:pPr marL="0" indent="0">
              <a:buNone/>
            </a:pPr>
            <a:r>
              <a:rPr lang="en-US" sz="2000" dirty="0" smtClean="0"/>
              <a:t>Rule 1: If </a:t>
            </a:r>
            <a:r>
              <a:rPr lang="en-US" sz="2000" i="1" dirty="0" smtClean="0"/>
              <a:t>A</a:t>
            </a:r>
            <a:r>
              <a:rPr lang="en-US" sz="2000" i="1" baseline="-25000" dirty="0" smtClean="0"/>
              <a:t>2</a:t>
            </a:r>
            <a:r>
              <a:rPr lang="en-US" sz="2000" i="1" dirty="0" smtClean="0"/>
              <a:t> = L </a:t>
            </a:r>
            <a:r>
              <a:rPr lang="en-US" sz="2000" dirty="0" smtClean="0"/>
              <a:t>Then </a:t>
            </a:r>
            <a:r>
              <a:rPr lang="en-US" sz="2000" i="1" dirty="0" smtClean="0"/>
              <a:t>D = 1</a:t>
            </a:r>
          </a:p>
          <a:p>
            <a:pPr marL="0" indent="0">
              <a:buNone/>
            </a:pPr>
            <a:r>
              <a:rPr lang="en-US" sz="2000" dirty="0" smtClean="0"/>
              <a:t>Rule 2: If </a:t>
            </a:r>
            <a:r>
              <a:rPr lang="en-US" sz="2000" i="1" dirty="0" smtClean="0"/>
              <a:t>A</a:t>
            </a:r>
            <a:r>
              <a:rPr lang="en-US" sz="2000" i="1" baseline="-25000" dirty="0" smtClean="0"/>
              <a:t>2</a:t>
            </a:r>
            <a:r>
              <a:rPr lang="en-US" sz="2000" i="1" dirty="0" smtClean="0"/>
              <a:t> = L </a:t>
            </a:r>
            <a:r>
              <a:rPr lang="en-US" sz="2000" dirty="0" smtClean="0"/>
              <a:t>OR </a:t>
            </a:r>
            <a:r>
              <a:rPr lang="en-US" sz="2000" i="1" dirty="0" smtClean="0"/>
              <a:t>A</a:t>
            </a:r>
            <a:r>
              <a:rPr lang="en-US" sz="2000" i="1" baseline="-25000" dirty="0" smtClean="0"/>
              <a:t>4</a:t>
            </a:r>
            <a:r>
              <a:rPr lang="en-US" sz="2000" i="1" dirty="0" smtClean="0"/>
              <a:t> = H </a:t>
            </a:r>
            <a:r>
              <a:rPr lang="en-US" sz="2000" dirty="0" smtClean="0"/>
              <a:t>Then </a:t>
            </a:r>
            <a:r>
              <a:rPr lang="en-US" sz="2000" i="1" dirty="0" smtClean="0"/>
              <a:t>D=1</a:t>
            </a:r>
            <a:endParaRPr lang="en-US" sz="20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899592" y="1268760"/>
            <a:ext cx="3528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 smtClean="0"/>
              <a:t>Let, 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Thus</a:t>
            </a:r>
            <a:r>
              <a:rPr lang="en-US" sz="2000" dirty="0"/>
              <a:t>, for </a:t>
            </a:r>
            <a:r>
              <a:rPr lang="en-US" sz="2000" dirty="0" smtClean="0"/>
              <a:t>this </a:t>
            </a:r>
            <a:r>
              <a:rPr lang="en-US" sz="2000" dirty="0"/>
              <a:t>table we </a:t>
            </a:r>
            <a:r>
              <a:rPr lang="en-US" sz="2000" dirty="0" smtClean="0"/>
              <a:t>have </a:t>
            </a:r>
            <a:r>
              <a:rPr lang="en-US" sz="2000" dirty="0"/>
              <a:t>following </a:t>
            </a:r>
            <a:r>
              <a:rPr lang="en-US" sz="2000" dirty="0" smtClean="0"/>
              <a:t>two </a:t>
            </a:r>
            <a:r>
              <a:rPr lang="en-US" sz="2000" dirty="0"/>
              <a:t>Boolean expressions: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412776"/>
            <a:ext cx="5256584" cy="241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0928"/>
            <a:ext cx="5270500" cy="241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24200"/>
            <a:ext cx="5270500" cy="241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124200"/>
            <a:ext cx="5270500" cy="2413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960" y="1340768"/>
            <a:ext cx="54102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117856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620688"/>
            <a:ext cx="4392488" cy="659160"/>
          </a:xfrm>
        </p:spPr>
        <p:txBody>
          <a:bodyPr/>
          <a:lstStyle/>
          <a:p>
            <a:r>
              <a:rPr lang="en-US" i="1" dirty="0" smtClean="0"/>
              <a:t>Decision Matrix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844824"/>
            <a:ext cx="7772400" cy="2232248"/>
          </a:xfrm>
        </p:spPr>
        <p:txBody>
          <a:bodyPr/>
          <a:lstStyle/>
          <a:p>
            <a:r>
              <a:rPr lang="en-US" sz="1800" dirty="0" smtClean="0"/>
              <a:t>we </a:t>
            </a:r>
            <a:r>
              <a:rPr lang="en-US" sz="1800" dirty="0"/>
              <a:t>divide </a:t>
            </a:r>
            <a:r>
              <a:rPr lang="en-US" sz="1800" dirty="0" smtClean="0"/>
              <a:t>the objects based on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2 </a:t>
            </a:r>
            <a:r>
              <a:rPr lang="en-US" sz="1800" dirty="0"/>
              <a:t>and </a:t>
            </a:r>
            <a:r>
              <a:rPr lang="en-IN" sz="1800" i="1" dirty="0" smtClean="0"/>
              <a:t>D ≠2</a:t>
            </a:r>
            <a:endParaRPr lang="en-US" sz="1800" dirty="0"/>
          </a:p>
          <a:p>
            <a:r>
              <a:rPr lang="en-US" sz="1800" dirty="0"/>
              <a:t>The </a:t>
            </a:r>
            <a:r>
              <a:rPr lang="en-US" sz="1800" dirty="0" smtClean="0"/>
              <a:t>object </a:t>
            </a:r>
            <a:r>
              <a:rPr lang="en-US" sz="1800" dirty="0"/>
              <a:t>having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2 is {</a:t>
            </a:r>
            <a:r>
              <a:rPr lang="en-US" sz="1800" i="1" dirty="0" smtClean="0"/>
              <a:t>O</a:t>
            </a:r>
            <a:r>
              <a:rPr lang="en-US" sz="1800" baseline="-25000" dirty="0"/>
              <a:t>3</a:t>
            </a:r>
            <a:r>
              <a:rPr lang="en-US" sz="1800" dirty="0" smtClean="0"/>
              <a:t>} </a:t>
            </a:r>
            <a:r>
              <a:rPr lang="en-US" sz="1800" dirty="0"/>
              <a:t>while </a:t>
            </a:r>
            <a:r>
              <a:rPr lang="en-US" sz="1800" dirty="0" smtClean="0"/>
              <a:t>the </a:t>
            </a:r>
            <a:r>
              <a:rPr lang="en-US" sz="1800" dirty="0"/>
              <a:t>objects </a:t>
            </a:r>
            <a:r>
              <a:rPr lang="en-US" sz="1800" dirty="0" smtClean="0"/>
              <a:t>having </a:t>
            </a:r>
            <a:r>
              <a:rPr lang="en-IN" sz="1800" i="1" dirty="0"/>
              <a:t>D </a:t>
            </a:r>
            <a:r>
              <a:rPr lang="en-IN" sz="1800" i="1" dirty="0" smtClean="0"/>
              <a:t>≠</a:t>
            </a:r>
            <a:r>
              <a:rPr lang="en-IN" sz="1800" i="1" dirty="0"/>
              <a:t>2</a:t>
            </a:r>
            <a:r>
              <a:rPr lang="en-IN" sz="1800" i="1" dirty="0" smtClean="0"/>
              <a:t> are </a:t>
            </a:r>
            <a:r>
              <a:rPr lang="en-US" sz="1800" dirty="0" smtClean="0"/>
              <a:t>{</a:t>
            </a:r>
            <a:r>
              <a:rPr lang="en-US" sz="1800" i="1" dirty="0" smtClean="0"/>
              <a:t>O</a:t>
            </a:r>
            <a:r>
              <a:rPr lang="en-US" sz="1800" i="1" baseline="-25000" dirty="0" smtClean="0"/>
              <a:t>1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4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5</a:t>
            </a:r>
            <a:r>
              <a:rPr lang="en-US" sz="1800" dirty="0" smtClean="0"/>
              <a:t>}</a:t>
            </a:r>
            <a:r>
              <a:rPr lang="en-US" sz="1800" dirty="0"/>
              <a:t>. </a:t>
            </a:r>
            <a:r>
              <a:rPr lang="en-US" sz="1800" dirty="0" smtClean="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decision matrix for </a:t>
            </a:r>
            <a:r>
              <a:rPr lang="en-US" sz="1800" i="1" dirty="0"/>
              <a:t>D</a:t>
            </a:r>
            <a:r>
              <a:rPr lang="en-US" sz="1800" dirty="0"/>
              <a:t> = </a:t>
            </a:r>
            <a:r>
              <a:rPr lang="en-US" sz="1800" dirty="0" smtClean="0"/>
              <a:t>2 </a:t>
            </a:r>
            <a:r>
              <a:rPr lang="en-US" sz="1800" dirty="0"/>
              <a:t>lists all the differences between the objects having </a:t>
            </a:r>
            <a:r>
              <a:rPr lang="en-US" sz="1800" i="1" dirty="0"/>
              <a:t>D</a:t>
            </a:r>
            <a:r>
              <a:rPr lang="en-US" sz="1800" dirty="0"/>
              <a:t> = </a:t>
            </a:r>
            <a:r>
              <a:rPr lang="en-US" sz="1800" dirty="0" smtClean="0"/>
              <a:t>2 </a:t>
            </a:r>
            <a:r>
              <a:rPr lang="en-US" sz="1800" dirty="0"/>
              <a:t>and those having </a:t>
            </a:r>
            <a:r>
              <a:rPr lang="en-IN" sz="1800" i="1" dirty="0"/>
              <a:t>D </a:t>
            </a:r>
            <a:r>
              <a:rPr lang="en-IN" sz="1800" i="1" dirty="0" smtClean="0"/>
              <a:t>≠2</a:t>
            </a:r>
            <a:r>
              <a:rPr lang="en-US" sz="1800" dirty="0" smtClean="0"/>
              <a:t>. 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Thus, the decision matrix lists all the differences between {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3</a:t>
            </a:r>
            <a:r>
              <a:rPr lang="en-US" sz="1800" dirty="0" smtClean="0"/>
              <a:t>} </a:t>
            </a:r>
            <a:r>
              <a:rPr lang="en-US" sz="1800" dirty="0"/>
              <a:t>and </a:t>
            </a:r>
            <a:r>
              <a:rPr lang="en-US" sz="1800" dirty="0" smtClean="0"/>
              <a:t>{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,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, </a:t>
            </a:r>
            <a:r>
              <a:rPr lang="en-US" sz="1800" i="1" dirty="0"/>
              <a:t>O</a:t>
            </a:r>
            <a:r>
              <a:rPr lang="en-US" sz="1800" baseline="-25000" dirty="0"/>
              <a:t>4</a:t>
            </a:r>
            <a:r>
              <a:rPr lang="en-US" sz="1800" dirty="0"/>
              <a:t>, </a:t>
            </a:r>
            <a:r>
              <a:rPr lang="en-US" sz="1800" i="1" dirty="0"/>
              <a:t>O</a:t>
            </a:r>
            <a:r>
              <a:rPr lang="en-US" sz="1800" baseline="-25000" dirty="0"/>
              <a:t>5</a:t>
            </a:r>
            <a:r>
              <a:rPr lang="en-US" sz="1800" dirty="0"/>
              <a:t>}.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404664"/>
            <a:ext cx="5410200" cy="147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616" y="1412776"/>
            <a:ext cx="1905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Case-2: D = </a:t>
            </a:r>
            <a:r>
              <a:rPr lang="en-US" u="sng" dirty="0" smtClean="0">
                <a:solidFill>
                  <a:srgbClr val="FF0000"/>
                </a:solidFill>
              </a:rPr>
              <a:t>2</a:t>
            </a:r>
            <a:endParaRPr lang="en-US" u="sng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4149080"/>
            <a:ext cx="54102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681666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3886200" cy="515144"/>
          </a:xfrm>
        </p:spPr>
        <p:txBody>
          <a:bodyPr/>
          <a:lstStyle/>
          <a:p>
            <a:pPr algn="l"/>
            <a:r>
              <a:rPr lang="en-US" i="1" dirty="0"/>
              <a:t>Decision Matrix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3429000"/>
            <a:ext cx="7198568" cy="136815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dirty="0" smtClean="0"/>
              <a:t>x(</a:t>
            </a:r>
            <a:r>
              <a:rPr lang="en-US" sz="2000" dirty="0" err="1" smtClean="0"/>
              <a:t>x+y</a:t>
            </a:r>
            <a:r>
              <a:rPr lang="en-US" sz="2000" dirty="0" smtClean="0"/>
              <a:t>)y(</a:t>
            </a:r>
            <a:r>
              <a:rPr lang="en-US" sz="2000" dirty="0" err="1" smtClean="0"/>
              <a:t>x+y</a:t>
            </a:r>
            <a:r>
              <a:rPr lang="en-US" sz="2000" dirty="0" smtClean="0"/>
              <a:t>) = </a:t>
            </a:r>
            <a:r>
              <a:rPr lang="en-US" sz="2000" dirty="0" err="1" smtClean="0"/>
              <a:t>xy</a:t>
            </a:r>
            <a:r>
              <a:rPr lang="en-US" sz="2000" dirty="0" smtClean="0"/>
              <a:t>(</a:t>
            </a:r>
            <a:r>
              <a:rPr lang="en-US" sz="2000" dirty="0" err="1" smtClean="0"/>
              <a:t>x+y</a:t>
            </a:r>
            <a:r>
              <a:rPr lang="en-US" sz="2000" dirty="0" smtClean="0"/>
              <a:t>) = </a:t>
            </a:r>
            <a:r>
              <a:rPr lang="en-US" sz="2000" dirty="0" err="1" smtClean="0"/>
              <a:t>xy</a:t>
            </a:r>
            <a:r>
              <a:rPr lang="en-US" sz="2000" dirty="0" smtClean="0"/>
              <a:t> + </a:t>
            </a:r>
            <a:r>
              <a:rPr lang="en-US" sz="2000" dirty="0" err="1" smtClean="0"/>
              <a:t>xy</a:t>
            </a:r>
            <a:r>
              <a:rPr lang="en-US" sz="2000" dirty="0" smtClean="0"/>
              <a:t> = </a:t>
            </a:r>
            <a:r>
              <a:rPr lang="en-US" sz="2000" dirty="0" err="1" smtClean="0"/>
              <a:t>xy</a:t>
            </a:r>
            <a:r>
              <a:rPr lang="en-US" sz="2000" dirty="0" smtClean="0"/>
              <a:t> =   </a:t>
            </a:r>
            <a:endParaRPr lang="en-US" sz="2000" dirty="0"/>
          </a:p>
          <a:p>
            <a:r>
              <a:rPr lang="en-US" sz="2000" dirty="0" smtClean="0"/>
              <a:t>Thus we have the following rule:</a:t>
            </a:r>
          </a:p>
          <a:p>
            <a:pPr marL="0" indent="0">
              <a:buNone/>
            </a:pPr>
            <a:r>
              <a:rPr lang="en-US" sz="2000" dirty="0" smtClean="0"/>
              <a:t>Rule 3: If </a:t>
            </a:r>
            <a:r>
              <a:rPr lang="en-US" sz="2000" i="1" dirty="0" smtClean="0"/>
              <a:t>A</a:t>
            </a:r>
            <a:r>
              <a:rPr lang="en-US" sz="2000" i="1" baseline="-25000" dirty="0" smtClean="0"/>
              <a:t>2</a:t>
            </a:r>
            <a:r>
              <a:rPr lang="en-US" sz="2000" i="1" dirty="0" smtClean="0"/>
              <a:t> = R AND A</a:t>
            </a:r>
            <a:r>
              <a:rPr lang="en-US" sz="2000" i="1" baseline="-25000" dirty="0" smtClean="0"/>
              <a:t>4</a:t>
            </a:r>
            <a:r>
              <a:rPr lang="en-US" sz="2000" i="1" dirty="0" smtClean="0"/>
              <a:t> =M </a:t>
            </a:r>
            <a:r>
              <a:rPr lang="en-US" sz="2000" dirty="0" smtClean="0"/>
              <a:t>Then </a:t>
            </a:r>
            <a:r>
              <a:rPr lang="en-US" sz="2000" i="1" dirty="0" smtClean="0"/>
              <a:t>D =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592" y="1268760"/>
            <a:ext cx="669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 smtClean="0"/>
              <a:t>Let, 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Thus</a:t>
            </a:r>
            <a:r>
              <a:rPr lang="en-US" sz="2000" dirty="0"/>
              <a:t>, for </a:t>
            </a:r>
            <a:r>
              <a:rPr lang="en-US" sz="2000" dirty="0" smtClean="0"/>
              <a:t>this </a:t>
            </a:r>
            <a:r>
              <a:rPr lang="en-US" sz="2000" dirty="0"/>
              <a:t>table we </a:t>
            </a:r>
            <a:r>
              <a:rPr lang="en-US" sz="2000" dirty="0" smtClean="0"/>
              <a:t>have following </a:t>
            </a:r>
            <a:r>
              <a:rPr lang="en-US" sz="2000" dirty="0"/>
              <a:t>Boolean </a:t>
            </a:r>
            <a:r>
              <a:rPr lang="en-US" sz="2000" dirty="0" smtClean="0"/>
              <a:t>expression: </a:t>
            </a:r>
            <a:endParaRPr lang="en-US" sz="20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276872"/>
            <a:ext cx="4906144" cy="104802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776"/>
            <a:ext cx="5270500" cy="241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3505200"/>
            <a:ext cx="52705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7007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620688"/>
            <a:ext cx="4392488" cy="659160"/>
          </a:xfrm>
        </p:spPr>
        <p:txBody>
          <a:bodyPr/>
          <a:lstStyle/>
          <a:p>
            <a:r>
              <a:rPr lang="en-US" i="1" dirty="0" smtClean="0"/>
              <a:t>Decision Matrix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772816"/>
            <a:ext cx="7772400" cy="1656184"/>
          </a:xfrm>
        </p:spPr>
        <p:txBody>
          <a:bodyPr/>
          <a:lstStyle/>
          <a:p>
            <a:r>
              <a:rPr lang="en-US" sz="1800" dirty="0" smtClean="0"/>
              <a:t>we </a:t>
            </a:r>
            <a:r>
              <a:rPr lang="en-US" sz="1800" dirty="0"/>
              <a:t>divide </a:t>
            </a:r>
            <a:r>
              <a:rPr lang="en-US" sz="1800" dirty="0" smtClean="0"/>
              <a:t>the objects based on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3 </a:t>
            </a:r>
            <a:r>
              <a:rPr lang="en-US" sz="1800" dirty="0"/>
              <a:t>and </a:t>
            </a:r>
            <a:r>
              <a:rPr lang="en-IN" sz="1800" i="1" dirty="0" smtClean="0"/>
              <a:t>D ≠3</a:t>
            </a:r>
            <a:endParaRPr lang="en-US" sz="1800" dirty="0"/>
          </a:p>
          <a:p>
            <a:r>
              <a:rPr lang="en-US" sz="1800" dirty="0"/>
              <a:t>The objects having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3 </a:t>
            </a:r>
            <a:r>
              <a:rPr lang="en-US" sz="1800" dirty="0"/>
              <a:t>are {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4</a:t>
            </a:r>
            <a:r>
              <a:rPr lang="en-US" sz="1800" dirty="0" smtClean="0"/>
              <a:t>,</a:t>
            </a:r>
            <a:r>
              <a:rPr lang="en-US" sz="1800" i="1" dirty="0" smtClean="0"/>
              <a:t>O</a:t>
            </a:r>
            <a:r>
              <a:rPr lang="en-US" sz="1800" baseline="-25000" dirty="0"/>
              <a:t>5</a:t>
            </a:r>
            <a:r>
              <a:rPr lang="en-US" sz="1800" dirty="0" smtClean="0"/>
              <a:t>} </a:t>
            </a:r>
            <a:r>
              <a:rPr lang="en-US" sz="1800" dirty="0"/>
              <a:t>while </a:t>
            </a:r>
            <a:r>
              <a:rPr lang="en-US" sz="1800" dirty="0" smtClean="0"/>
              <a:t>the </a:t>
            </a:r>
            <a:r>
              <a:rPr lang="en-US" sz="1800" dirty="0"/>
              <a:t>objects </a:t>
            </a:r>
            <a:r>
              <a:rPr lang="en-US" sz="1800" dirty="0" smtClean="0"/>
              <a:t>having </a:t>
            </a:r>
            <a:r>
              <a:rPr lang="en-IN" sz="1800" i="1" dirty="0"/>
              <a:t>D </a:t>
            </a:r>
            <a:r>
              <a:rPr lang="en-IN" sz="1800" i="1" dirty="0" smtClean="0"/>
              <a:t>≠</a:t>
            </a:r>
            <a:r>
              <a:rPr lang="en-IN" sz="1800" i="1" dirty="0"/>
              <a:t>3</a:t>
            </a:r>
            <a:r>
              <a:rPr lang="en-IN" sz="1800" i="1" dirty="0" smtClean="0"/>
              <a:t> are </a:t>
            </a:r>
            <a:r>
              <a:rPr lang="en-US" sz="1800" dirty="0" smtClean="0"/>
              <a:t>{</a:t>
            </a:r>
            <a:r>
              <a:rPr lang="en-US" sz="1800" i="1" dirty="0" smtClean="0"/>
              <a:t>O</a:t>
            </a:r>
            <a:r>
              <a:rPr lang="en-US" sz="1800" baseline="-25000" dirty="0"/>
              <a:t>1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/>
              <a:t>2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/>
              <a:t>3</a:t>
            </a:r>
            <a:r>
              <a:rPr lang="en-US" sz="1800" dirty="0" smtClean="0"/>
              <a:t>}</a:t>
            </a:r>
            <a:r>
              <a:rPr lang="en-US" sz="1800" dirty="0"/>
              <a:t>. </a:t>
            </a:r>
            <a:r>
              <a:rPr lang="en-US" sz="1800" dirty="0" smtClean="0"/>
              <a:t> </a:t>
            </a:r>
          </a:p>
          <a:p>
            <a:r>
              <a:rPr lang="en-US" sz="1800" dirty="0"/>
              <a:t>The decision matrix for </a:t>
            </a:r>
            <a:r>
              <a:rPr lang="en-US" sz="1800" i="1" dirty="0"/>
              <a:t>D</a:t>
            </a:r>
            <a:r>
              <a:rPr lang="en-US" sz="1800" dirty="0"/>
              <a:t> = </a:t>
            </a:r>
            <a:r>
              <a:rPr lang="en-US" sz="1800" dirty="0" smtClean="0"/>
              <a:t>3 </a:t>
            </a:r>
            <a:r>
              <a:rPr lang="en-US" sz="1800" dirty="0"/>
              <a:t>lists all the differences between the objects having </a:t>
            </a:r>
            <a:r>
              <a:rPr lang="en-US" sz="1800" i="1" dirty="0"/>
              <a:t>D</a:t>
            </a:r>
            <a:r>
              <a:rPr lang="en-US" sz="1800" dirty="0"/>
              <a:t> = </a:t>
            </a:r>
            <a:r>
              <a:rPr lang="en-US" sz="1800" dirty="0" smtClean="0"/>
              <a:t>3 </a:t>
            </a:r>
            <a:r>
              <a:rPr lang="en-US" sz="1800" dirty="0"/>
              <a:t>and those having </a:t>
            </a:r>
            <a:r>
              <a:rPr lang="en-IN" sz="1800" i="1" dirty="0"/>
              <a:t>D </a:t>
            </a:r>
            <a:r>
              <a:rPr lang="en-IN" sz="1800" i="1" dirty="0" smtClean="0"/>
              <a:t>≠3</a:t>
            </a:r>
            <a:r>
              <a:rPr lang="en-US" sz="1800" dirty="0" smtClean="0"/>
              <a:t>. 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404664"/>
            <a:ext cx="5410200" cy="147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27984" y="3501008"/>
            <a:ext cx="3312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 smtClean="0"/>
              <a:t>Thus</a:t>
            </a:r>
            <a:r>
              <a:rPr lang="en-US" sz="1800" dirty="0"/>
              <a:t>, the decision matrix lists all the differences between {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4</a:t>
            </a:r>
            <a:r>
              <a:rPr lang="en-US" sz="1800" dirty="0" smtClean="0"/>
              <a:t>,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5</a:t>
            </a:r>
            <a:r>
              <a:rPr lang="en-US" sz="1800" dirty="0" smtClean="0"/>
              <a:t>} and </a:t>
            </a:r>
            <a:r>
              <a:rPr lang="en-US" sz="1800" dirty="0"/>
              <a:t>{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3</a:t>
            </a:r>
            <a:r>
              <a:rPr lang="en-US" sz="1800" dirty="0" smtClean="0"/>
              <a:t>}.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1187624" y="1340768"/>
            <a:ext cx="1905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Case-3: D = </a:t>
            </a:r>
            <a:r>
              <a:rPr lang="en-US" u="sng" dirty="0" smtClean="0">
                <a:solidFill>
                  <a:srgbClr val="FF0000"/>
                </a:solidFill>
              </a:rPr>
              <a:t>3</a:t>
            </a:r>
            <a:endParaRPr lang="en-US" u="sng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429000"/>
            <a:ext cx="54102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13228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3886200" cy="515144"/>
          </a:xfrm>
        </p:spPr>
        <p:txBody>
          <a:bodyPr/>
          <a:lstStyle/>
          <a:p>
            <a:pPr algn="l"/>
            <a:r>
              <a:rPr lang="en-US" i="1" dirty="0"/>
              <a:t>Decision Matrix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2708920"/>
            <a:ext cx="7198568" cy="2592288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dirty="0" smtClean="0"/>
              <a:t>(</a:t>
            </a:r>
            <a:r>
              <a:rPr lang="en-US" sz="2000" dirty="0" err="1" smtClean="0"/>
              <a:t>x+y</a:t>
            </a:r>
            <a:r>
              <a:rPr lang="en-US" sz="2000" dirty="0" smtClean="0"/>
              <a:t>)(</a:t>
            </a:r>
            <a:r>
              <a:rPr lang="en-US" sz="2000" dirty="0" err="1" smtClean="0"/>
              <a:t>x+y</a:t>
            </a:r>
            <a:r>
              <a:rPr lang="en-US" sz="2000" dirty="0" smtClean="0"/>
              <a:t>)y = y(</a:t>
            </a:r>
            <a:r>
              <a:rPr lang="en-US" sz="2000" dirty="0" err="1" smtClean="0"/>
              <a:t>x+y</a:t>
            </a:r>
            <a:r>
              <a:rPr lang="en-US" sz="2000" dirty="0" smtClean="0"/>
              <a:t>) = y = </a:t>
            </a:r>
          </a:p>
          <a:p>
            <a:pPr marL="457200" indent="-457200">
              <a:buAutoNum type="arabicPeriod"/>
            </a:pPr>
            <a:r>
              <a:rPr lang="en-US" sz="2000" dirty="0" smtClean="0"/>
              <a:t>(</a:t>
            </a:r>
            <a:r>
              <a:rPr lang="en-US" sz="2000" dirty="0" err="1"/>
              <a:t>z</a:t>
            </a:r>
            <a:r>
              <a:rPr lang="en-US" sz="2000" dirty="0" err="1" smtClean="0"/>
              <a:t>+</a:t>
            </a:r>
            <a:r>
              <a:rPr lang="en-US" sz="2000" dirty="0" err="1"/>
              <a:t>y</a:t>
            </a:r>
            <a:r>
              <a:rPr lang="en-US" sz="2000" dirty="0" smtClean="0"/>
              <a:t>)(</a:t>
            </a:r>
            <a:r>
              <a:rPr lang="en-US" sz="2000" dirty="0" err="1"/>
              <a:t>z</a:t>
            </a:r>
            <a:r>
              <a:rPr lang="en-US" sz="2000" dirty="0" err="1" smtClean="0"/>
              <a:t>+</a:t>
            </a:r>
            <a:r>
              <a:rPr lang="en-US" sz="2000" dirty="0" err="1"/>
              <a:t>y</a:t>
            </a:r>
            <a:r>
              <a:rPr lang="en-US" sz="2000" dirty="0" smtClean="0"/>
              <a:t>)(</a:t>
            </a:r>
            <a:r>
              <a:rPr lang="en-US" sz="2000" dirty="0" err="1"/>
              <a:t>z</a:t>
            </a:r>
            <a:r>
              <a:rPr lang="en-US" sz="2000" dirty="0" err="1" smtClean="0"/>
              <a:t>+</a:t>
            </a:r>
            <a:r>
              <a:rPr lang="en-US" sz="2000" dirty="0" err="1"/>
              <a:t>y</a:t>
            </a:r>
            <a:r>
              <a:rPr lang="en-US" sz="2000" dirty="0" smtClean="0"/>
              <a:t>) = </a:t>
            </a:r>
            <a:r>
              <a:rPr lang="en-US" sz="2000" dirty="0" err="1"/>
              <a:t>z</a:t>
            </a:r>
            <a:r>
              <a:rPr lang="en-US" sz="2000" dirty="0" err="1" smtClean="0"/>
              <a:t>+</a:t>
            </a:r>
            <a:r>
              <a:rPr lang="en-US" sz="2000" dirty="0" err="1"/>
              <a:t>y</a:t>
            </a:r>
            <a:r>
              <a:rPr lang="en-US" sz="2000" dirty="0" smtClean="0"/>
              <a:t> =       </a:t>
            </a:r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Thus we have following two rules:</a:t>
            </a:r>
          </a:p>
          <a:p>
            <a:pPr marL="0" indent="0">
              <a:buNone/>
            </a:pPr>
            <a:r>
              <a:rPr lang="en-US" sz="2000" dirty="0" smtClean="0"/>
              <a:t>Rule 4: If </a:t>
            </a:r>
            <a:r>
              <a:rPr lang="en-US" sz="2000" i="1" dirty="0" smtClean="0"/>
              <a:t>A</a:t>
            </a:r>
            <a:r>
              <a:rPr lang="en-US" sz="2000" i="1" baseline="-25000" dirty="0"/>
              <a:t>4</a:t>
            </a:r>
            <a:r>
              <a:rPr lang="en-US" sz="2000" i="1" dirty="0" smtClean="0"/>
              <a:t> = L </a:t>
            </a:r>
            <a:r>
              <a:rPr lang="en-US" sz="2000" dirty="0" smtClean="0"/>
              <a:t>Then </a:t>
            </a:r>
            <a:r>
              <a:rPr lang="en-US" sz="2000" i="1" dirty="0" smtClean="0"/>
              <a:t>D = 3</a:t>
            </a:r>
          </a:p>
          <a:p>
            <a:pPr marL="0" indent="0">
              <a:buNone/>
            </a:pPr>
            <a:r>
              <a:rPr lang="en-US" sz="2000" dirty="0" smtClean="0"/>
              <a:t>Rule 5: If </a:t>
            </a:r>
            <a:r>
              <a:rPr lang="en-US" sz="2000" i="1" dirty="0" smtClean="0"/>
              <a:t>A</a:t>
            </a:r>
            <a:r>
              <a:rPr lang="en-US" sz="2000" i="1" baseline="-25000" dirty="0" smtClean="0"/>
              <a:t>2</a:t>
            </a:r>
            <a:r>
              <a:rPr lang="en-US" sz="2000" i="1" dirty="0" smtClean="0"/>
              <a:t> = N </a:t>
            </a:r>
            <a:r>
              <a:rPr lang="en-US" sz="2000" dirty="0" smtClean="0"/>
              <a:t>OR </a:t>
            </a:r>
            <a:r>
              <a:rPr lang="en-US" sz="2000" i="1" dirty="0" smtClean="0"/>
              <a:t>A</a:t>
            </a:r>
            <a:r>
              <a:rPr lang="en-US" sz="2000" i="1" baseline="-25000" dirty="0" smtClean="0"/>
              <a:t>4</a:t>
            </a:r>
            <a:r>
              <a:rPr lang="en-US" sz="2000" i="1" dirty="0" smtClean="0"/>
              <a:t> = L </a:t>
            </a:r>
            <a:r>
              <a:rPr lang="en-US" sz="2000" dirty="0" smtClean="0"/>
              <a:t>Then </a:t>
            </a:r>
            <a:r>
              <a:rPr lang="en-US" sz="2000" i="1" dirty="0" smtClean="0"/>
              <a:t>D=3</a:t>
            </a:r>
            <a:endParaRPr lang="en-US" sz="20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899592" y="1268760"/>
            <a:ext cx="3528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 smtClean="0"/>
              <a:t>Let, 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Thus</a:t>
            </a:r>
            <a:r>
              <a:rPr lang="en-US" sz="2000" dirty="0"/>
              <a:t>, for </a:t>
            </a:r>
            <a:r>
              <a:rPr lang="en-US" sz="2000" dirty="0" smtClean="0"/>
              <a:t>this </a:t>
            </a:r>
            <a:r>
              <a:rPr lang="en-US" sz="2000" dirty="0"/>
              <a:t>table we </a:t>
            </a:r>
            <a:r>
              <a:rPr lang="en-US" sz="2000" dirty="0" smtClean="0"/>
              <a:t>have </a:t>
            </a:r>
            <a:r>
              <a:rPr lang="en-US" sz="2000" dirty="0"/>
              <a:t>following </a:t>
            </a:r>
            <a:r>
              <a:rPr lang="en-US" sz="2000" dirty="0" smtClean="0"/>
              <a:t>two </a:t>
            </a:r>
            <a:r>
              <a:rPr lang="en-US" sz="2000" dirty="0"/>
              <a:t>Boolean expressions: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268760"/>
            <a:ext cx="5410200" cy="1409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412776"/>
            <a:ext cx="5270500" cy="241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2743200"/>
            <a:ext cx="5270500" cy="241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124200"/>
            <a:ext cx="52705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971024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6262464" cy="515144"/>
          </a:xfrm>
        </p:spPr>
        <p:txBody>
          <a:bodyPr/>
          <a:lstStyle/>
          <a:p>
            <a:r>
              <a:rPr lang="en-US" i="1" dirty="0" smtClean="0"/>
              <a:t>Decision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196752"/>
            <a:ext cx="4176464" cy="3312368"/>
          </a:xfrm>
        </p:spPr>
        <p:txBody>
          <a:bodyPr/>
          <a:lstStyle/>
          <a:p>
            <a:r>
              <a:rPr lang="en-US" sz="2000" dirty="0" smtClean="0"/>
              <a:t>Thus we have following rules for this data set:</a:t>
            </a:r>
          </a:p>
          <a:p>
            <a:endParaRPr lang="en-US" sz="2000" dirty="0" smtClean="0"/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Rule 1: </a:t>
            </a:r>
            <a:r>
              <a:rPr lang="en-US" sz="1800" dirty="0" smtClean="0">
                <a:solidFill>
                  <a:srgbClr val="FF0000"/>
                </a:solidFill>
              </a:rPr>
              <a:t>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2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i="1" dirty="0">
                <a:solidFill>
                  <a:srgbClr val="FF0000"/>
                </a:solidFill>
              </a:rPr>
              <a:t>= </a:t>
            </a:r>
            <a:r>
              <a:rPr lang="en-US" sz="1800" i="1" dirty="0" smtClean="0">
                <a:solidFill>
                  <a:srgbClr val="FF0000"/>
                </a:solidFill>
              </a:rPr>
              <a:t>L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=&gt; (</a:t>
            </a:r>
            <a:r>
              <a:rPr lang="en-US" sz="1800" i="1" dirty="0" smtClean="0">
                <a:solidFill>
                  <a:srgbClr val="FF0000"/>
                </a:solidFill>
              </a:rPr>
              <a:t>D </a:t>
            </a:r>
            <a:r>
              <a:rPr lang="en-US" sz="1800" i="1" dirty="0">
                <a:solidFill>
                  <a:srgbClr val="FF0000"/>
                </a:solidFill>
              </a:rPr>
              <a:t>= </a:t>
            </a:r>
            <a:r>
              <a:rPr lang="en-US" sz="1800" i="1" dirty="0" smtClean="0">
                <a:solidFill>
                  <a:srgbClr val="FF0000"/>
                </a:solidFill>
              </a:rPr>
              <a:t>1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Rule 2: </a:t>
            </a:r>
            <a:r>
              <a:rPr lang="en-US" sz="1800" dirty="0" smtClean="0">
                <a:solidFill>
                  <a:srgbClr val="FF0000"/>
                </a:solidFill>
              </a:rPr>
              <a:t>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2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i="1" dirty="0">
                <a:solidFill>
                  <a:srgbClr val="FF0000"/>
                </a:solidFill>
              </a:rPr>
              <a:t>= </a:t>
            </a:r>
            <a:r>
              <a:rPr lang="en-US" sz="1800" i="1" dirty="0" smtClean="0">
                <a:solidFill>
                  <a:srgbClr val="FF0000"/>
                </a:solidFill>
              </a:rPr>
              <a:t>L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OR 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4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i="1" dirty="0">
                <a:solidFill>
                  <a:srgbClr val="FF0000"/>
                </a:solidFill>
              </a:rPr>
              <a:t>= </a:t>
            </a:r>
            <a:r>
              <a:rPr lang="en-US" sz="1800" i="1" dirty="0" smtClean="0">
                <a:solidFill>
                  <a:srgbClr val="FF0000"/>
                </a:solidFill>
              </a:rPr>
              <a:t>H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=&gt; (</a:t>
            </a:r>
            <a:r>
              <a:rPr lang="en-US" sz="1800" i="1" dirty="0" smtClean="0">
                <a:solidFill>
                  <a:srgbClr val="FF0000"/>
                </a:solidFill>
              </a:rPr>
              <a:t>D</a:t>
            </a:r>
            <a:r>
              <a:rPr lang="en-US" sz="1800" i="1" dirty="0">
                <a:solidFill>
                  <a:srgbClr val="FF0000"/>
                </a:solidFill>
              </a:rPr>
              <a:t>=</a:t>
            </a:r>
            <a:r>
              <a:rPr lang="en-US" sz="1800" i="1" dirty="0" smtClean="0">
                <a:solidFill>
                  <a:srgbClr val="FF0000"/>
                </a:solidFill>
              </a:rPr>
              <a:t>1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Rule 3</a:t>
            </a:r>
            <a:r>
              <a:rPr lang="en-US" sz="1800" dirty="0" smtClean="0">
                <a:solidFill>
                  <a:srgbClr val="FF0000"/>
                </a:solidFill>
              </a:rPr>
              <a:t>: 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2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i="1" dirty="0">
                <a:solidFill>
                  <a:srgbClr val="FF0000"/>
                </a:solidFill>
              </a:rPr>
              <a:t>= </a:t>
            </a:r>
            <a:r>
              <a:rPr lang="en-US" sz="1800" i="1" dirty="0" smtClean="0">
                <a:solidFill>
                  <a:srgbClr val="FF0000"/>
                </a:solidFill>
              </a:rPr>
              <a:t>R) </a:t>
            </a:r>
            <a:r>
              <a:rPr lang="en-US" sz="1800" i="1" dirty="0">
                <a:solidFill>
                  <a:srgbClr val="FF0000"/>
                </a:solidFill>
              </a:rPr>
              <a:t>AND </a:t>
            </a:r>
            <a:r>
              <a:rPr lang="en-US" sz="1800" i="1" dirty="0" smtClean="0">
                <a:solidFill>
                  <a:srgbClr val="FF0000"/>
                </a:solidFill>
              </a:rPr>
              <a:t>(A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4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i="1" dirty="0">
                <a:solidFill>
                  <a:srgbClr val="FF0000"/>
                </a:solidFill>
              </a:rPr>
              <a:t>=</a:t>
            </a:r>
            <a:r>
              <a:rPr lang="en-US" sz="1800" i="1" dirty="0" smtClean="0">
                <a:solidFill>
                  <a:srgbClr val="FF0000"/>
                </a:solidFill>
              </a:rPr>
              <a:t>M) =&gt;</a:t>
            </a:r>
            <a:r>
              <a:rPr lang="en-US" sz="1800" dirty="0" smtClean="0">
                <a:solidFill>
                  <a:srgbClr val="FF0000"/>
                </a:solidFill>
              </a:rPr>
              <a:t> (</a:t>
            </a:r>
            <a:r>
              <a:rPr lang="en-US" sz="1800" i="1" dirty="0" smtClean="0">
                <a:solidFill>
                  <a:srgbClr val="FF0000"/>
                </a:solidFill>
              </a:rPr>
              <a:t>D </a:t>
            </a:r>
            <a:r>
              <a:rPr lang="en-US" sz="1800" i="1" dirty="0">
                <a:solidFill>
                  <a:srgbClr val="FF0000"/>
                </a:solidFill>
              </a:rPr>
              <a:t>= </a:t>
            </a:r>
            <a:r>
              <a:rPr lang="en-US" sz="1800" i="1" dirty="0" smtClean="0">
                <a:solidFill>
                  <a:srgbClr val="FF0000"/>
                </a:solidFill>
              </a:rPr>
              <a:t>2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Rule 4: 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4</a:t>
            </a:r>
            <a:r>
              <a:rPr lang="en-US" sz="1800" i="1" dirty="0" smtClean="0">
                <a:solidFill>
                  <a:srgbClr val="FF0000"/>
                </a:solidFill>
              </a:rPr>
              <a:t> = L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i="1" dirty="0" smtClean="0">
                <a:solidFill>
                  <a:srgbClr val="FF0000"/>
                </a:solidFill>
              </a:rPr>
              <a:t> =&gt;</a:t>
            </a:r>
            <a:r>
              <a:rPr lang="en-US" sz="1800" dirty="0" smtClean="0">
                <a:solidFill>
                  <a:srgbClr val="FF0000"/>
                </a:solidFill>
              </a:rPr>
              <a:t> (</a:t>
            </a:r>
            <a:r>
              <a:rPr lang="en-US" sz="1800" i="1" dirty="0" smtClean="0">
                <a:solidFill>
                  <a:srgbClr val="FF0000"/>
                </a:solidFill>
              </a:rPr>
              <a:t>D = 3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Rule 5: 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2</a:t>
            </a:r>
            <a:r>
              <a:rPr lang="en-US" sz="1800" i="1" dirty="0" smtClean="0">
                <a:solidFill>
                  <a:srgbClr val="FF0000"/>
                </a:solidFill>
              </a:rPr>
              <a:t> = N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OR 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4</a:t>
            </a:r>
            <a:r>
              <a:rPr lang="en-US" sz="1800" i="1" dirty="0" smtClean="0">
                <a:solidFill>
                  <a:srgbClr val="FF0000"/>
                </a:solidFill>
              </a:rPr>
              <a:t> = L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i="1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=&gt; (</a:t>
            </a:r>
            <a:r>
              <a:rPr lang="en-US" sz="1800" i="1" dirty="0" smtClean="0">
                <a:solidFill>
                  <a:srgbClr val="FF0000"/>
                </a:solidFill>
              </a:rPr>
              <a:t>D=3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800" dirty="0" smtClean="0"/>
              <a:t>Here, Training Accuracy = 100%</a:t>
            </a: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340768"/>
            <a:ext cx="5410200" cy="147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3429000"/>
            <a:ext cx="5410200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9015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59160"/>
          </a:xfrm>
        </p:spPr>
        <p:txBody>
          <a:bodyPr/>
          <a:lstStyle/>
          <a:p>
            <a:r>
              <a:rPr lang="en-US" sz="2400" i="1" dirty="0" smtClean="0"/>
              <a:t>Data reduction by another feature selection algorithm and Rule based classifier construction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12776"/>
            <a:ext cx="7772400" cy="2016224"/>
          </a:xfrm>
        </p:spPr>
        <p:txBody>
          <a:bodyPr/>
          <a:lstStyle/>
          <a:p>
            <a:pPr algn="just"/>
            <a:r>
              <a:rPr lang="en-US" sz="2400" dirty="0"/>
              <a:t>Informally, the decision matrix for value </a:t>
            </a:r>
            <a:r>
              <a:rPr lang="en-US" sz="2400" i="1" dirty="0"/>
              <a:t>d </a:t>
            </a:r>
            <a:r>
              <a:rPr lang="en-US" sz="2400" dirty="0"/>
              <a:t>of decision attribute </a:t>
            </a:r>
            <a:r>
              <a:rPr lang="en-US" sz="2400" i="1" dirty="0" smtClean="0"/>
              <a:t>D </a:t>
            </a:r>
            <a:r>
              <a:rPr lang="en-US" sz="2400" dirty="0"/>
              <a:t>lists all attribute–value pairs that </a:t>
            </a:r>
            <a:r>
              <a:rPr lang="en-US" sz="2400" i="1" dirty="0"/>
              <a:t>differ </a:t>
            </a:r>
            <a:r>
              <a:rPr lang="en-US" sz="2400" dirty="0"/>
              <a:t>between objects having </a:t>
            </a:r>
            <a:r>
              <a:rPr lang="en-US" sz="2400" i="1" dirty="0" smtClean="0"/>
              <a:t>D </a:t>
            </a:r>
            <a:r>
              <a:rPr lang="en-US" sz="2400" dirty="0"/>
              <a:t>= </a:t>
            </a:r>
            <a:r>
              <a:rPr lang="en-US" sz="2400" i="1" dirty="0"/>
              <a:t>d </a:t>
            </a:r>
            <a:r>
              <a:rPr lang="en-US" sz="2400" dirty="0"/>
              <a:t>and </a:t>
            </a:r>
          </a:p>
          <a:p>
            <a:r>
              <a:rPr lang="en-US" sz="2400" dirty="0" smtClean="0"/>
              <a:t>Example – Consider the dataset and reduced dataset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209800"/>
            <a:ext cx="5270500" cy="4320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76600"/>
            <a:ext cx="5410200" cy="187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19872" y="4365104"/>
            <a:ext cx="16977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 </a:t>
            </a:r>
            <a:r>
              <a:rPr lang="en-US" sz="1200" b="1" dirty="0" smtClean="0">
                <a:solidFill>
                  <a:srgbClr val="FF0000"/>
                </a:solidFill>
              </a:rPr>
              <a:t>      Vertically Reduced</a:t>
            </a:r>
            <a:endParaRPr lang="en-US" sz="12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3284984"/>
            <a:ext cx="5410200" cy="21209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641268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620688"/>
            <a:ext cx="4392488" cy="659160"/>
          </a:xfrm>
        </p:spPr>
        <p:txBody>
          <a:bodyPr/>
          <a:lstStyle/>
          <a:p>
            <a:r>
              <a:rPr lang="en-US" i="1" dirty="0" smtClean="0"/>
              <a:t>Decision Matrix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2060848"/>
            <a:ext cx="7772400" cy="136815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  </a:t>
            </a:r>
            <a:r>
              <a:rPr lang="en-US" sz="2000" u="sng" dirty="0" smtClean="0">
                <a:solidFill>
                  <a:srgbClr val="FF0000"/>
                </a:solidFill>
              </a:rPr>
              <a:t>Case-1: D = 1</a:t>
            </a:r>
          </a:p>
          <a:p>
            <a:r>
              <a:rPr lang="en-US" sz="1800" dirty="0"/>
              <a:t>W</a:t>
            </a:r>
            <a:r>
              <a:rPr lang="en-US" sz="1800" dirty="0" smtClean="0"/>
              <a:t>e </a:t>
            </a:r>
            <a:r>
              <a:rPr lang="en-US" sz="1800" dirty="0"/>
              <a:t>divide </a:t>
            </a:r>
            <a:r>
              <a:rPr lang="en-US" sz="1800" dirty="0" smtClean="0"/>
              <a:t>the objects based on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1 and </a:t>
            </a:r>
            <a:r>
              <a:rPr lang="en-IN" sz="1800" i="1" dirty="0" smtClean="0"/>
              <a:t>D ≠1</a:t>
            </a:r>
            <a:endParaRPr lang="en-US" sz="1800" dirty="0"/>
          </a:p>
          <a:p>
            <a:r>
              <a:rPr lang="en-US" sz="1800" dirty="0"/>
              <a:t>The objects having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1 are {</a:t>
            </a:r>
            <a:r>
              <a:rPr lang="en-US" sz="1800" i="1" dirty="0"/>
              <a:t>O</a:t>
            </a:r>
            <a:r>
              <a:rPr lang="en-US" sz="1800" baseline="-25000" dirty="0"/>
              <a:t>1</a:t>
            </a:r>
            <a:r>
              <a:rPr lang="en-US" sz="1800" dirty="0"/>
              <a:t>,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, O</a:t>
            </a:r>
            <a:r>
              <a:rPr lang="en-US" sz="1800" baseline="-25000" dirty="0" smtClean="0"/>
              <a:t>3</a:t>
            </a:r>
            <a:r>
              <a:rPr lang="en-US" sz="1800" dirty="0" smtClean="0"/>
              <a:t>} </a:t>
            </a:r>
            <a:r>
              <a:rPr lang="en-US" sz="1800" dirty="0"/>
              <a:t>while </a:t>
            </a:r>
            <a:r>
              <a:rPr lang="en-US" sz="1800" dirty="0" smtClean="0"/>
              <a:t>the </a:t>
            </a:r>
            <a:r>
              <a:rPr lang="en-US" sz="1800" dirty="0"/>
              <a:t>objects </a:t>
            </a:r>
            <a:r>
              <a:rPr lang="en-US" sz="1800" dirty="0" smtClean="0"/>
              <a:t>having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</a:t>
            </a:r>
            <a:r>
              <a:rPr lang="en-IN" sz="1800" i="1" dirty="0"/>
              <a:t>D ≠</a:t>
            </a:r>
            <a:r>
              <a:rPr lang="en-IN" sz="1800" i="1" dirty="0" smtClean="0"/>
              <a:t>1 are </a:t>
            </a:r>
            <a:r>
              <a:rPr lang="en-US" sz="1800" dirty="0" smtClean="0"/>
              <a:t>{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4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5</a:t>
            </a:r>
            <a:r>
              <a:rPr lang="en-US" sz="1800" dirty="0" smtClean="0"/>
              <a:t>, O</a:t>
            </a:r>
            <a:r>
              <a:rPr lang="en-US" sz="1800" baseline="-25000" dirty="0" smtClean="0"/>
              <a:t>6</a:t>
            </a:r>
            <a:r>
              <a:rPr lang="en-US" sz="1800" dirty="0" smtClean="0"/>
              <a:t>, O</a:t>
            </a:r>
            <a:r>
              <a:rPr lang="en-US" sz="1800" baseline="-25000" dirty="0" smtClean="0"/>
              <a:t>7</a:t>
            </a:r>
            <a:r>
              <a:rPr lang="en-US" sz="1800" dirty="0" smtClean="0"/>
              <a:t>, O</a:t>
            </a:r>
            <a:r>
              <a:rPr lang="en-US" sz="1800" baseline="-25000" dirty="0" smtClean="0"/>
              <a:t>8</a:t>
            </a:r>
            <a:r>
              <a:rPr lang="en-US" sz="1800" dirty="0" smtClean="0"/>
              <a:t>}</a:t>
            </a:r>
            <a:r>
              <a:rPr lang="en-US" sz="1800" dirty="0"/>
              <a:t>. </a:t>
            </a:r>
            <a:r>
              <a:rPr lang="en-US" sz="1800" dirty="0" smtClean="0"/>
              <a:t> </a:t>
            </a: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332656"/>
            <a:ext cx="5194176" cy="15997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429000"/>
            <a:ext cx="5410200" cy="1663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3608" y="5013176"/>
            <a:ext cx="76561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/>
              <a:t>The decision matrix for </a:t>
            </a:r>
            <a:r>
              <a:rPr lang="en-US" sz="1600" i="1" dirty="0"/>
              <a:t>D</a:t>
            </a:r>
            <a:r>
              <a:rPr lang="en-US" sz="1600" dirty="0"/>
              <a:t> = 1 lists all the differences between the objects </a:t>
            </a:r>
            <a:endParaRPr lang="en-US" sz="1600" dirty="0" smtClean="0"/>
          </a:p>
          <a:p>
            <a:r>
              <a:rPr lang="en-US" sz="1600" dirty="0"/>
              <a:t> </a:t>
            </a:r>
            <a:r>
              <a:rPr lang="en-US" sz="1600" dirty="0" smtClean="0"/>
              <a:t>      having </a:t>
            </a:r>
            <a:r>
              <a:rPr lang="en-US" sz="1600" i="1" dirty="0"/>
              <a:t>D</a:t>
            </a:r>
            <a:r>
              <a:rPr lang="en-US" sz="1600" dirty="0"/>
              <a:t> = 1 and those having </a:t>
            </a:r>
            <a:r>
              <a:rPr lang="en-IN" sz="1600" i="1" dirty="0"/>
              <a:t>D ≠1</a:t>
            </a:r>
            <a:r>
              <a:rPr lang="en-US" sz="1600" dirty="0"/>
              <a:t>. 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Thus, the decision matrix lists all the differences between {</a:t>
            </a:r>
            <a:r>
              <a:rPr lang="en-US" sz="1600" i="1" dirty="0"/>
              <a:t>O</a:t>
            </a:r>
            <a:r>
              <a:rPr lang="en-US" sz="1600" baseline="-25000" dirty="0"/>
              <a:t>1</a:t>
            </a:r>
            <a:r>
              <a:rPr lang="en-US" sz="1600" dirty="0"/>
              <a:t>,</a:t>
            </a:r>
            <a:r>
              <a:rPr lang="en-US" sz="1600" i="1" dirty="0"/>
              <a:t>O</a:t>
            </a:r>
            <a:r>
              <a:rPr lang="en-US" sz="1600" baseline="-25000" dirty="0"/>
              <a:t>2</a:t>
            </a:r>
            <a:r>
              <a:rPr lang="en-US" sz="1600" dirty="0"/>
              <a:t>, O</a:t>
            </a:r>
            <a:r>
              <a:rPr lang="en-US" sz="1600" baseline="-25000" dirty="0"/>
              <a:t>3</a:t>
            </a:r>
            <a:r>
              <a:rPr lang="en-US" sz="1600" dirty="0"/>
              <a:t>} and </a:t>
            </a:r>
            <a:endParaRPr lang="en-US" sz="1600" dirty="0" smtClean="0"/>
          </a:p>
          <a:p>
            <a:r>
              <a:rPr lang="en-US" sz="1600" dirty="0"/>
              <a:t> </a:t>
            </a:r>
            <a:r>
              <a:rPr lang="en-US" sz="1600" dirty="0" smtClean="0"/>
              <a:t>     {</a:t>
            </a:r>
            <a:r>
              <a:rPr lang="en-US" sz="1600" i="1" dirty="0"/>
              <a:t>O</a:t>
            </a:r>
            <a:r>
              <a:rPr lang="en-US" sz="1600" baseline="-25000" dirty="0"/>
              <a:t>4</a:t>
            </a:r>
            <a:r>
              <a:rPr lang="en-US" sz="1600" dirty="0"/>
              <a:t>, </a:t>
            </a:r>
            <a:r>
              <a:rPr lang="en-US" sz="1600" i="1" dirty="0"/>
              <a:t>O</a:t>
            </a:r>
            <a:r>
              <a:rPr lang="en-US" sz="1600" baseline="-25000" dirty="0"/>
              <a:t>5</a:t>
            </a:r>
            <a:r>
              <a:rPr lang="en-US" sz="1600" dirty="0"/>
              <a:t>, O</a:t>
            </a:r>
            <a:r>
              <a:rPr lang="en-US" sz="1600" baseline="-25000" dirty="0"/>
              <a:t>6</a:t>
            </a:r>
            <a:r>
              <a:rPr lang="en-US" sz="1600" dirty="0"/>
              <a:t>, O</a:t>
            </a:r>
            <a:r>
              <a:rPr lang="en-US" sz="1600" baseline="-25000" dirty="0"/>
              <a:t>7</a:t>
            </a:r>
            <a:r>
              <a:rPr lang="en-US" sz="1600" dirty="0"/>
              <a:t>, O</a:t>
            </a:r>
            <a:r>
              <a:rPr lang="en-US" sz="1600" baseline="-25000" dirty="0"/>
              <a:t>8</a:t>
            </a:r>
            <a:r>
              <a:rPr lang="en-US" sz="1600" dirty="0"/>
              <a:t>}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1331640" y="1268760"/>
            <a:ext cx="3545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Decision variable D takes on three different values, namely {1,2, 3}. We treat each case separately.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="" xmlns:p14="http://schemas.microsoft.com/office/powerpoint/2010/main" val="4258953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4664"/>
            <a:ext cx="3886200" cy="515144"/>
          </a:xfrm>
        </p:spPr>
        <p:txBody>
          <a:bodyPr/>
          <a:lstStyle/>
          <a:p>
            <a:pPr algn="l"/>
            <a:r>
              <a:rPr lang="en-US" sz="2800" b="1" i="1" dirty="0"/>
              <a:t>Decision Matrix 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3284984"/>
            <a:ext cx="7198568" cy="2592288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i="1" dirty="0" smtClean="0"/>
              <a:t>(</a:t>
            </a:r>
            <a:r>
              <a:rPr lang="en-US" sz="2000" i="1" dirty="0" err="1" smtClean="0"/>
              <a:t>u+v</a:t>
            </a:r>
            <a:r>
              <a:rPr lang="en-US" sz="2000" i="1" dirty="0" smtClean="0"/>
              <a:t>)v(</a:t>
            </a:r>
            <a:r>
              <a:rPr lang="en-US" sz="2000" i="1" dirty="0" err="1" smtClean="0"/>
              <a:t>u+v+w</a:t>
            </a:r>
            <a:r>
              <a:rPr lang="en-US" sz="2000" i="1" dirty="0" smtClean="0"/>
              <a:t>)(</a:t>
            </a:r>
            <a:r>
              <a:rPr lang="en-US" sz="2000" i="1" dirty="0" err="1"/>
              <a:t>u+v+w</a:t>
            </a:r>
            <a:r>
              <a:rPr lang="en-US" sz="2000" i="1" dirty="0" smtClean="0"/>
              <a:t>)(</a:t>
            </a:r>
            <a:r>
              <a:rPr lang="en-US" sz="2000" i="1" dirty="0" err="1"/>
              <a:t>u+v+w</a:t>
            </a:r>
            <a:r>
              <a:rPr lang="en-US" sz="2000" i="1" dirty="0" smtClean="0"/>
              <a:t>)=v(</a:t>
            </a:r>
            <a:r>
              <a:rPr lang="en-US" sz="2000" i="1" dirty="0" err="1"/>
              <a:t>u</a:t>
            </a:r>
            <a:r>
              <a:rPr lang="en-US" sz="2000" i="1" dirty="0" err="1" smtClean="0"/>
              <a:t>+</a:t>
            </a:r>
            <a:r>
              <a:rPr lang="en-US" sz="2000" i="1" dirty="0" err="1"/>
              <a:t>v</a:t>
            </a:r>
            <a:r>
              <a:rPr lang="en-US" sz="2000" i="1" dirty="0" smtClean="0"/>
              <a:t>)(</a:t>
            </a:r>
            <a:r>
              <a:rPr lang="en-US" sz="2000" i="1" dirty="0" err="1"/>
              <a:t>u+v+w</a:t>
            </a:r>
            <a:r>
              <a:rPr lang="en-US" sz="2000" i="1" dirty="0" smtClean="0"/>
              <a:t>)=v = </a:t>
            </a:r>
          </a:p>
          <a:p>
            <a:pPr marL="457200" indent="-457200">
              <a:buAutoNum type="arabicPeriod"/>
            </a:pPr>
            <a:r>
              <a:rPr lang="en-US" sz="2000" i="1" dirty="0" smtClean="0"/>
              <a:t>(</a:t>
            </a:r>
            <a:r>
              <a:rPr lang="en-US" sz="2000" i="1" dirty="0" err="1" smtClean="0"/>
              <a:t>u+v+x</a:t>
            </a:r>
            <a:r>
              <a:rPr lang="en-US" sz="2000" i="1" dirty="0" smtClean="0"/>
              <a:t>)(</a:t>
            </a:r>
            <a:r>
              <a:rPr lang="en-US" sz="2000" i="1" dirty="0" err="1" smtClean="0"/>
              <a:t>v+x</a:t>
            </a:r>
            <a:r>
              <a:rPr lang="en-US" sz="2000" i="1" dirty="0"/>
              <a:t>)(</a:t>
            </a:r>
            <a:r>
              <a:rPr lang="en-US" sz="2000" i="1" dirty="0" err="1"/>
              <a:t>u+v+x</a:t>
            </a:r>
            <a:r>
              <a:rPr lang="en-US" sz="2000" i="1" dirty="0" smtClean="0"/>
              <a:t>)(</a:t>
            </a:r>
            <a:r>
              <a:rPr lang="en-US" sz="2000" i="1" dirty="0" err="1"/>
              <a:t>u+v+x</a:t>
            </a:r>
            <a:r>
              <a:rPr lang="en-US" sz="2000" i="1" dirty="0" smtClean="0"/>
              <a:t>)(</a:t>
            </a:r>
            <a:r>
              <a:rPr lang="en-US" sz="2000" i="1" dirty="0" err="1"/>
              <a:t>u+v+x</a:t>
            </a:r>
            <a:r>
              <a:rPr lang="en-US" sz="2000" i="1" dirty="0" smtClean="0"/>
              <a:t>)=</a:t>
            </a:r>
            <a:r>
              <a:rPr lang="en-US" sz="2000" i="1" dirty="0" err="1" smtClean="0"/>
              <a:t>v+x</a:t>
            </a:r>
            <a:r>
              <a:rPr lang="en-US" sz="2000" i="1" dirty="0" smtClean="0"/>
              <a:t>=</a:t>
            </a:r>
          </a:p>
          <a:p>
            <a:pPr marL="457200" indent="-457200">
              <a:buAutoNum type="arabicPeriod"/>
            </a:pPr>
            <a:r>
              <a:rPr lang="en-US" sz="2000" i="1" dirty="0"/>
              <a:t>v</a:t>
            </a:r>
            <a:r>
              <a:rPr lang="en-US" sz="2000" i="1" dirty="0" smtClean="0"/>
              <a:t>(</a:t>
            </a:r>
            <a:r>
              <a:rPr lang="en-US" sz="2000" i="1" dirty="0" err="1" smtClean="0"/>
              <a:t>v+y</a:t>
            </a:r>
            <a:r>
              <a:rPr lang="en-US" sz="2000" i="1" dirty="0" smtClean="0"/>
              <a:t>)(</a:t>
            </a:r>
            <a:r>
              <a:rPr lang="en-US" sz="2000" i="1" dirty="0" err="1" smtClean="0"/>
              <a:t>v+w</a:t>
            </a:r>
            <a:r>
              <a:rPr lang="en-US" sz="2000" i="1" dirty="0" smtClean="0"/>
              <a:t>)(</a:t>
            </a:r>
            <a:r>
              <a:rPr lang="en-US" sz="2000" i="1" dirty="0" err="1" smtClean="0"/>
              <a:t>y+v+w</a:t>
            </a:r>
            <a:r>
              <a:rPr lang="en-US" sz="2000" i="1" dirty="0" smtClean="0"/>
              <a:t>)(</a:t>
            </a:r>
            <a:r>
              <a:rPr lang="en-US" sz="2000" i="1" dirty="0" err="1"/>
              <a:t>y+v+w</a:t>
            </a:r>
            <a:r>
              <a:rPr lang="en-US" sz="2000" i="1" dirty="0" smtClean="0"/>
              <a:t>)=v(</a:t>
            </a:r>
            <a:r>
              <a:rPr lang="en-US" sz="2000" i="1" dirty="0" err="1" smtClean="0"/>
              <a:t>v+y</a:t>
            </a:r>
            <a:r>
              <a:rPr lang="en-US" sz="2000" i="1" dirty="0" smtClean="0"/>
              <a:t>)(</a:t>
            </a:r>
            <a:r>
              <a:rPr lang="en-US" sz="2000" i="1" dirty="0" err="1" smtClean="0"/>
              <a:t>v+y+w</a:t>
            </a:r>
            <a:r>
              <a:rPr lang="en-US" sz="2000" i="1" dirty="0" smtClean="0"/>
              <a:t>)=v= </a:t>
            </a:r>
            <a:endParaRPr lang="en-US" sz="2000" dirty="0"/>
          </a:p>
          <a:p>
            <a:r>
              <a:rPr lang="en-US" sz="2000" dirty="0" smtClean="0"/>
              <a:t>Thus we have following three rules:</a:t>
            </a:r>
          </a:p>
          <a:p>
            <a:pPr marL="0" indent="0">
              <a:buNone/>
            </a:pPr>
            <a:r>
              <a:rPr lang="en-US" sz="2000" dirty="0" smtClean="0"/>
              <a:t>Rule 1: (</a:t>
            </a:r>
            <a:r>
              <a:rPr lang="en-US" sz="2000" i="1" dirty="0" smtClean="0"/>
              <a:t>A</a:t>
            </a:r>
            <a:r>
              <a:rPr lang="en-US" sz="2000" i="1" baseline="-25000" dirty="0" smtClean="0"/>
              <a:t>2</a:t>
            </a:r>
            <a:r>
              <a:rPr lang="en-US" sz="2000" i="1" dirty="0" smtClean="0"/>
              <a:t> = L) =&gt;(D = 1)</a:t>
            </a:r>
          </a:p>
          <a:p>
            <a:pPr marL="0" indent="0">
              <a:buNone/>
            </a:pPr>
            <a:r>
              <a:rPr lang="en-US" sz="2000" dirty="0" smtClean="0"/>
              <a:t>Rule 2: </a:t>
            </a:r>
            <a:r>
              <a:rPr lang="en-US" sz="2000" dirty="0"/>
              <a:t>(</a:t>
            </a:r>
            <a:r>
              <a:rPr lang="en-US" sz="2000" i="1" dirty="0" smtClean="0"/>
              <a:t>A</a:t>
            </a:r>
            <a:r>
              <a:rPr lang="en-US" sz="2000" i="1" baseline="-25000" dirty="0" smtClean="0"/>
              <a:t>2</a:t>
            </a:r>
            <a:r>
              <a:rPr lang="en-US" sz="2000" i="1" dirty="0" smtClean="0"/>
              <a:t> = L) </a:t>
            </a:r>
            <a:r>
              <a:rPr lang="en-US" sz="2000" dirty="0" smtClean="0"/>
              <a:t>OR (</a:t>
            </a:r>
            <a:r>
              <a:rPr lang="en-US" sz="2000" i="1" dirty="0" smtClean="0"/>
              <a:t>A</a:t>
            </a:r>
            <a:r>
              <a:rPr lang="en-US" sz="2000" i="1" baseline="-25000" dirty="0" smtClean="0"/>
              <a:t>4</a:t>
            </a:r>
            <a:r>
              <a:rPr lang="en-US" sz="2000" i="1" dirty="0" smtClean="0"/>
              <a:t> = H) =&gt;D=1</a:t>
            </a:r>
          </a:p>
          <a:p>
            <a:pPr marL="0" indent="0"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Rule 3: </a:t>
            </a:r>
            <a:r>
              <a:rPr lang="en-US" sz="2000" dirty="0">
                <a:solidFill>
                  <a:srgbClr val="FF0000"/>
                </a:solidFill>
              </a:rPr>
              <a:t>(</a:t>
            </a:r>
            <a:r>
              <a:rPr lang="en-US" sz="2000" i="1" dirty="0">
                <a:solidFill>
                  <a:srgbClr val="FF0000"/>
                </a:solidFill>
              </a:rPr>
              <a:t>A</a:t>
            </a:r>
            <a:r>
              <a:rPr lang="en-US" sz="2000" i="1" baseline="-25000" dirty="0">
                <a:solidFill>
                  <a:srgbClr val="FF0000"/>
                </a:solidFill>
              </a:rPr>
              <a:t>2</a:t>
            </a:r>
            <a:r>
              <a:rPr lang="en-US" sz="2000" i="1" dirty="0">
                <a:solidFill>
                  <a:srgbClr val="FF0000"/>
                </a:solidFill>
              </a:rPr>
              <a:t> = L) =&gt;(D = 1</a:t>
            </a:r>
            <a:r>
              <a:rPr lang="en-US" sz="2000" i="1" dirty="0" smtClean="0">
                <a:solidFill>
                  <a:srgbClr val="FF0000"/>
                </a:solidFill>
              </a:rPr>
              <a:t>)</a:t>
            </a:r>
            <a:r>
              <a:rPr lang="en-US" sz="2000" i="1" dirty="0">
                <a:solidFill>
                  <a:srgbClr val="FF0000"/>
                </a:solidFill>
              </a:rPr>
              <a:t> </a:t>
            </a:r>
            <a:r>
              <a:rPr lang="en-US" sz="2000" i="1" dirty="0" smtClean="0">
                <a:solidFill>
                  <a:srgbClr val="FF0000"/>
                </a:solidFill>
              </a:rPr>
              <a:t>[redundant rule same to Rule 1]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03648" y="2564904"/>
            <a:ext cx="72507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 smtClean="0"/>
              <a:t>Let,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/>
              <a:t>Thus, for this table we have following </a:t>
            </a:r>
            <a:r>
              <a:rPr lang="en-US" sz="2000" dirty="0" smtClean="0"/>
              <a:t>three Boolean </a:t>
            </a:r>
            <a:r>
              <a:rPr lang="en-US" sz="2000" dirty="0"/>
              <a:t>expressions:</a:t>
            </a:r>
            <a:r>
              <a:rPr lang="en-US" sz="2000" dirty="0" smtClean="0"/>
              <a:t>  </a:t>
            </a:r>
            <a:endParaRPr lang="en-US" sz="20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708920"/>
            <a:ext cx="5270500" cy="241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908720"/>
            <a:ext cx="5410200" cy="16637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3352800"/>
            <a:ext cx="5270500" cy="2413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4114800"/>
            <a:ext cx="5270500" cy="241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3733800"/>
            <a:ext cx="5270500" cy="2413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397634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76672"/>
            <a:ext cx="4392488" cy="659160"/>
          </a:xfrm>
        </p:spPr>
        <p:txBody>
          <a:bodyPr/>
          <a:lstStyle/>
          <a:p>
            <a:r>
              <a:rPr lang="en-US" sz="3200" i="1" dirty="0" smtClean="0"/>
              <a:t>Decision Matrix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7772400" cy="2232248"/>
          </a:xfrm>
        </p:spPr>
        <p:txBody>
          <a:bodyPr/>
          <a:lstStyle/>
          <a:p>
            <a:r>
              <a:rPr lang="en-US" sz="1800" dirty="0" smtClean="0"/>
              <a:t>we </a:t>
            </a:r>
            <a:r>
              <a:rPr lang="en-US" sz="1800" dirty="0"/>
              <a:t>divide </a:t>
            </a:r>
            <a:r>
              <a:rPr lang="en-US" sz="1800" dirty="0" smtClean="0"/>
              <a:t>the objects based on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2 </a:t>
            </a:r>
            <a:r>
              <a:rPr lang="en-US" sz="1800" dirty="0"/>
              <a:t>and </a:t>
            </a:r>
            <a:r>
              <a:rPr lang="en-IN" sz="1800" i="1" dirty="0" smtClean="0"/>
              <a:t>D ≠2</a:t>
            </a:r>
            <a:endParaRPr lang="en-US" sz="1800" dirty="0"/>
          </a:p>
          <a:p>
            <a:r>
              <a:rPr lang="en-US" sz="1800" dirty="0"/>
              <a:t>The </a:t>
            </a:r>
            <a:r>
              <a:rPr lang="en-US" sz="1800" dirty="0" smtClean="0"/>
              <a:t>object </a:t>
            </a:r>
            <a:r>
              <a:rPr lang="en-US" sz="1800" dirty="0"/>
              <a:t>having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2 is {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4</a:t>
            </a:r>
            <a:r>
              <a:rPr lang="en-US" sz="1800" dirty="0" smtClean="0"/>
              <a:t>, O</a:t>
            </a:r>
            <a:r>
              <a:rPr lang="en-US" sz="1800" baseline="-25000" dirty="0" smtClean="0"/>
              <a:t>5</a:t>
            </a:r>
            <a:r>
              <a:rPr lang="en-US" sz="1800" dirty="0" smtClean="0"/>
              <a:t>} </a:t>
            </a:r>
            <a:r>
              <a:rPr lang="en-US" sz="1800" dirty="0"/>
              <a:t>while </a:t>
            </a:r>
            <a:r>
              <a:rPr lang="en-US" sz="1800" dirty="0" smtClean="0"/>
              <a:t>the </a:t>
            </a:r>
            <a:r>
              <a:rPr lang="en-US" sz="1800" dirty="0"/>
              <a:t>objects </a:t>
            </a:r>
            <a:r>
              <a:rPr lang="en-US" sz="1800" dirty="0" smtClean="0"/>
              <a:t>having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</a:t>
            </a:r>
            <a:r>
              <a:rPr lang="en-IN" sz="1800" i="1" dirty="0"/>
              <a:t>D </a:t>
            </a:r>
            <a:r>
              <a:rPr lang="en-IN" sz="1800" i="1" dirty="0" smtClean="0"/>
              <a:t>≠</a:t>
            </a:r>
            <a:r>
              <a:rPr lang="en-IN" sz="1800" i="1" dirty="0"/>
              <a:t>2</a:t>
            </a:r>
            <a:r>
              <a:rPr lang="en-IN" sz="1800" i="1" dirty="0" smtClean="0"/>
              <a:t> are </a:t>
            </a:r>
            <a:r>
              <a:rPr lang="en-US" sz="1800" dirty="0" smtClean="0"/>
              <a:t>{</a:t>
            </a:r>
            <a:r>
              <a:rPr lang="en-US" sz="1800" i="1" dirty="0" smtClean="0"/>
              <a:t>O</a:t>
            </a:r>
            <a:r>
              <a:rPr lang="en-US" sz="1800" i="1" baseline="-25000" dirty="0" smtClean="0"/>
              <a:t>1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/>
              <a:t>3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6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i="1" baseline="-25000" dirty="0" smtClean="0"/>
              <a:t>7</a:t>
            </a:r>
            <a:r>
              <a:rPr lang="en-US" sz="1800" dirty="0" smtClean="0"/>
              <a:t>,</a:t>
            </a:r>
            <a:r>
              <a:rPr lang="en-US" sz="1800" i="1" dirty="0" smtClean="0"/>
              <a:t> O</a:t>
            </a:r>
            <a:r>
              <a:rPr lang="en-US" sz="1800" i="1" baseline="-25000" dirty="0" smtClean="0"/>
              <a:t>8</a:t>
            </a:r>
            <a:r>
              <a:rPr lang="en-US" sz="1800" dirty="0" smtClean="0"/>
              <a:t>}</a:t>
            </a:r>
            <a:r>
              <a:rPr lang="en-US" sz="1800" dirty="0"/>
              <a:t>. </a:t>
            </a:r>
            <a:r>
              <a:rPr lang="en-US" sz="1800" dirty="0" smtClean="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The decision matrix for </a:t>
            </a:r>
            <a:r>
              <a:rPr lang="en-US" sz="1800" i="1" dirty="0"/>
              <a:t>D</a:t>
            </a:r>
            <a:r>
              <a:rPr lang="en-US" sz="1800" dirty="0"/>
              <a:t> = </a:t>
            </a:r>
            <a:r>
              <a:rPr lang="en-US" sz="1800" dirty="0" smtClean="0"/>
              <a:t>2 </a:t>
            </a:r>
            <a:r>
              <a:rPr lang="en-US" sz="1800" dirty="0"/>
              <a:t>lists all the differences between the objects having </a:t>
            </a:r>
            <a:r>
              <a:rPr lang="en-US" sz="1800" i="1" dirty="0"/>
              <a:t>D</a:t>
            </a:r>
            <a:r>
              <a:rPr lang="en-US" sz="1800" dirty="0"/>
              <a:t> = </a:t>
            </a:r>
            <a:r>
              <a:rPr lang="en-US" sz="1800" dirty="0" smtClean="0"/>
              <a:t>2 </a:t>
            </a:r>
            <a:r>
              <a:rPr lang="en-US" sz="1800" dirty="0"/>
              <a:t>and those having </a:t>
            </a:r>
            <a:r>
              <a:rPr lang="en-IN" sz="1800" i="1" dirty="0"/>
              <a:t>D </a:t>
            </a:r>
            <a:r>
              <a:rPr lang="en-IN" sz="1800" i="1" dirty="0" smtClean="0"/>
              <a:t>≠2</a:t>
            </a:r>
            <a:r>
              <a:rPr lang="en-US" sz="1800" dirty="0" smtClean="0"/>
              <a:t>. </a:t>
            </a:r>
            <a:endParaRPr lang="en-US" sz="1800" dirty="0"/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Thus, the decision matrix lists all the differences between </a:t>
            </a:r>
            <a:r>
              <a:rPr lang="en-US" sz="1800" dirty="0" smtClean="0"/>
              <a:t>{</a:t>
            </a:r>
            <a:r>
              <a:rPr lang="en-US" sz="1800" i="1" dirty="0"/>
              <a:t>O</a:t>
            </a:r>
            <a:r>
              <a:rPr lang="en-US" sz="1800" baseline="-25000" dirty="0"/>
              <a:t>4</a:t>
            </a:r>
            <a:r>
              <a:rPr lang="en-US" sz="1800" dirty="0"/>
              <a:t>, O</a:t>
            </a:r>
            <a:r>
              <a:rPr lang="en-US" sz="1800" baseline="-25000" dirty="0"/>
              <a:t>5</a:t>
            </a:r>
            <a:r>
              <a:rPr lang="en-US" sz="1800" dirty="0" smtClean="0"/>
              <a:t>} </a:t>
            </a:r>
            <a:r>
              <a:rPr lang="en-US" sz="1800" dirty="0"/>
              <a:t>and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{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,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, </a:t>
            </a:r>
            <a:r>
              <a:rPr lang="en-US" sz="1800" i="1" dirty="0"/>
              <a:t>O</a:t>
            </a:r>
            <a:r>
              <a:rPr lang="en-US" sz="1800" baseline="-25000" dirty="0"/>
              <a:t>3</a:t>
            </a:r>
            <a:r>
              <a:rPr lang="en-US" sz="1800" dirty="0"/>
              <a:t>, </a:t>
            </a:r>
            <a:r>
              <a:rPr lang="en-US" sz="1800" i="1" dirty="0"/>
              <a:t>O</a:t>
            </a:r>
            <a:r>
              <a:rPr lang="en-US" sz="1800" baseline="-25000" dirty="0"/>
              <a:t>6</a:t>
            </a:r>
            <a:r>
              <a:rPr lang="en-US" sz="1800" dirty="0"/>
              <a:t>, </a:t>
            </a:r>
            <a:r>
              <a:rPr lang="en-US" sz="1800" i="1" dirty="0"/>
              <a:t>O</a:t>
            </a:r>
            <a:r>
              <a:rPr lang="en-US" sz="1800" i="1" baseline="-25000" dirty="0"/>
              <a:t>7</a:t>
            </a:r>
            <a:r>
              <a:rPr lang="en-US" sz="1800" dirty="0"/>
              <a:t>,</a:t>
            </a:r>
            <a:r>
              <a:rPr lang="en-US" sz="1800" i="1" dirty="0"/>
              <a:t> O</a:t>
            </a:r>
            <a:r>
              <a:rPr lang="en-US" sz="1800" i="1" baseline="-25000" dirty="0"/>
              <a:t>8</a:t>
            </a:r>
            <a:r>
              <a:rPr lang="en-US" sz="1800" dirty="0" smtClean="0"/>
              <a:t>}</a:t>
            </a:r>
            <a:r>
              <a:rPr lang="en-US" sz="18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7624" y="1124744"/>
            <a:ext cx="1905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Case-2: D = </a:t>
            </a:r>
            <a:r>
              <a:rPr lang="en-US" u="sng" dirty="0" smtClean="0">
                <a:solidFill>
                  <a:srgbClr val="FF0000"/>
                </a:solidFill>
              </a:rPr>
              <a:t>2</a:t>
            </a:r>
            <a:endParaRPr lang="en-US" u="sng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404664"/>
            <a:ext cx="5266184" cy="16561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4005064"/>
            <a:ext cx="5410200" cy="1524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88947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3886200" cy="515144"/>
          </a:xfrm>
        </p:spPr>
        <p:txBody>
          <a:bodyPr/>
          <a:lstStyle/>
          <a:p>
            <a:pPr algn="l"/>
            <a:r>
              <a:rPr lang="en-US" i="1" dirty="0"/>
              <a:t>Decision Matrix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3645024"/>
            <a:ext cx="7198568" cy="208823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dirty="0" smtClean="0"/>
              <a:t>(</a:t>
            </a:r>
            <a:r>
              <a:rPr lang="en-US" sz="2000" dirty="0" err="1" smtClean="0"/>
              <a:t>u+v</a:t>
            </a:r>
            <a:r>
              <a:rPr lang="en-US" sz="2000" dirty="0" smtClean="0"/>
              <a:t>)(</a:t>
            </a:r>
            <a:r>
              <a:rPr lang="en-US" sz="2000" dirty="0" err="1" smtClean="0"/>
              <a:t>u+v+w</a:t>
            </a:r>
            <a:r>
              <a:rPr lang="en-US" sz="2000" dirty="0" smtClean="0"/>
              <a:t>)</a:t>
            </a:r>
            <a:r>
              <a:rPr lang="en-US" sz="2000" dirty="0" err="1" smtClean="0"/>
              <a:t>vw</a:t>
            </a:r>
            <a:r>
              <a:rPr lang="en-US" sz="2000" dirty="0" smtClean="0"/>
              <a:t>(</a:t>
            </a:r>
            <a:r>
              <a:rPr lang="en-US" sz="2000" dirty="0" err="1" smtClean="0"/>
              <a:t>u+w</a:t>
            </a:r>
            <a:r>
              <a:rPr lang="en-US" sz="2000" dirty="0" smtClean="0"/>
              <a:t>)(</a:t>
            </a:r>
            <a:r>
              <a:rPr lang="en-US" sz="2000" dirty="0" err="1" smtClean="0"/>
              <a:t>u+v+w</a:t>
            </a:r>
            <a:r>
              <a:rPr lang="en-US" sz="2000" dirty="0" smtClean="0"/>
              <a:t>) =</a:t>
            </a:r>
            <a:r>
              <a:rPr lang="en-US" sz="2000" dirty="0" err="1" smtClean="0"/>
              <a:t>vw</a:t>
            </a: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/>
              <a:t>v</a:t>
            </a:r>
            <a:r>
              <a:rPr lang="en-US" sz="2000" dirty="0" smtClean="0"/>
              <a:t>(</a:t>
            </a:r>
            <a:r>
              <a:rPr lang="en-US" sz="2000" dirty="0" err="1" smtClean="0"/>
              <a:t>v+w</a:t>
            </a:r>
            <a:r>
              <a:rPr lang="en-US" sz="2000" dirty="0" smtClean="0"/>
              <a:t>)(</a:t>
            </a:r>
            <a:r>
              <a:rPr lang="en-US" sz="2000" dirty="0" err="1" smtClean="0"/>
              <a:t>x+v</a:t>
            </a:r>
            <a:r>
              <a:rPr lang="en-US" sz="2000" dirty="0" smtClean="0"/>
              <a:t>)(</a:t>
            </a:r>
            <a:r>
              <a:rPr lang="en-US" sz="2000" dirty="0" err="1" smtClean="0"/>
              <a:t>x+w</a:t>
            </a:r>
            <a:r>
              <a:rPr lang="en-US" sz="2000" dirty="0" smtClean="0"/>
              <a:t>)(</a:t>
            </a:r>
            <a:r>
              <a:rPr lang="en-US" sz="2000" dirty="0" err="1" smtClean="0"/>
              <a:t>x+w</a:t>
            </a:r>
            <a:r>
              <a:rPr lang="en-US" sz="2000" dirty="0" smtClean="0"/>
              <a:t>)(</a:t>
            </a:r>
            <a:r>
              <a:rPr lang="en-US" sz="2000" dirty="0" err="1" smtClean="0"/>
              <a:t>x+v+w</a:t>
            </a:r>
            <a:r>
              <a:rPr lang="en-US" sz="2000" dirty="0" smtClean="0"/>
              <a:t>)= v(</a:t>
            </a:r>
            <a:r>
              <a:rPr lang="en-US" sz="2000" dirty="0" err="1" smtClean="0"/>
              <a:t>x+w</a:t>
            </a:r>
            <a:r>
              <a:rPr lang="en-US" sz="2000" dirty="0" smtClean="0"/>
              <a:t>)=</a:t>
            </a:r>
            <a:r>
              <a:rPr lang="en-US" sz="2000" dirty="0" err="1" smtClean="0"/>
              <a:t>vx+vw</a:t>
            </a:r>
            <a:r>
              <a:rPr lang="en-US" sz="2000" dirty="0" smtClean="0"/>
              <a:t>  </a:t>
            </a:r>
            <a:endParaRPr lang="en-US" sz="2000" dirty="0"/>
          </a:p>
          <a:p>
            <a:r>
              <a:rPr lang="en-US" sz="2000" dirty="0" smtClean="0"/>
              <a:t>Thus we have the following rule:</a:t>
            </a:r>
          </a:p>
          <a:p>
            <a:pPr marL="0" indent="0">
              <a:buNone/>
            </a:pPr>
            <a:r>
              <a:rPr lang="en-US" sz="1800" dirty="0" smtClean="0"/>
              <a:t>Rule 4: (A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 = R) AND (A</a:t>
            </a:r>
            <a:r>
              <a:rPr lang="en-US" sz="1800" baseline="-25000" dirty="0" smtClean="0"/>
              <a:t>4</a:t>
            </a:r>
            <a:r>
              <a:rPr lang="en-US" sz="1800" dirty="0" smtClean="0"/>
              <a:t> = M) =&gt; (D=2)</a:t>
            </a:r>
          </a:p>
          <a:p>
            <a:pPr marL="0" indent="0">
              <a:buNone/>
            </a:pPr>
            <a:r>
              <a:rPr lang="en-US" sz="1800" dirty="0" smtClean="0"/>
              <a:t>Rule 5: ((</a:t>
            </a:r>
            <a:r>
              <a:rPr lang="en-US" sz="1800" dirty="0"/>
              <a:t>A</a:t>
            </a:r>
            <a:r>
              <a:rPr lang="en-US" sz="1800" baseline="-25000" dirty="0"/>
              <a:t>2</a:t>
            </a:r>
            <a:r>
              <a:rPr lang="en-US" sz="1800" dirty="0"/>
              <a:t> = R) AND (</a:t>
            </a:r>
            <a:r>
              <a:rPr lang="en-US" sz="1800" dirty="0" smtClean="0"/>
              <a:t>A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 </a:t>
            </a:r>
            <a:r>
              <a:rPr lang="en-US" sz="1800" dirty="0"/>
              <a:t>= M</a:t>
            </a:r>
            <a:r>
              <a:rPr lang="en-US" sz="1800" dirty="0" smtClean="0"/>
              <a:t>)) OR </a:t>
            </a:r>
            <a:r>
              <a:rPr lang="en-US" sz="1800" dirty="0" smtClean="0">
                <a:solidFill>
                  <a:srgbClr val="FF0000"/>
                </a:solidFill>
              </a:rPr>
              <a:t>(</a:t>
            </a:r>
            <a:r>
              <a:rPr lang="en-US" sz="1800" dirty="0">
                <a:solidFill>
                  <a:srgbClr val="FF0000"/>
                </a:solidFill>
              </a:rPr>
              <a:t>A</a:t>
            </a:r>
            <a:r>
              <a:rPr lang="en-US" sz="1800" baseline="-25000" dirty="0">
                <a:solidFill>
                  <a:srgbClr val="FF0000"/>
                </a:solidFill>
              </a:rPr>
              <a:t>2</a:t>
            </a:r>
            <a:r>
              <a:rPr lang="en-US" sz="1800" dirty="0">
                <a:solidFill>
                  <a:srgbClr val="FF0000"/>
                </a:solidFill>
              </a:rPr>
              <a:t> = R) AND (A</a:t>
            </a:r>
            <a:r>
              <a:rPr lang="en-US" sz="1800" baseline="-25000" dirty="0">
                <a:solidFill>
                  <a:srgbClr val="FF0000"/>
                </a:solidFill>
              </a:rPr>
              <a:t>4</a:t>
            </a:r>
            <a:r>
              <a:rPr lang="en-US" sz="1800" dirty="0">
                <a:solidFill>
                  <a:srgbClr val="FF0000"/>
                </a:solidFill>
              </a:rPr>
              <a:t> = M) 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dirty="0" smtClean="0"/>
              <a:t> </a:t>
            </a:r>
            <a:r>
              <a:rPr lang="en-US" sz="1800" dirty="0"/>
              <a:t>=&gt; (D=2</a:t>
            </a:r>
            <a:r>
              <a:rPr lang="en-US" sz="1800" dirty="0" smtClean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592" y="1268760"/>
            <a:ext cx="669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 smtClean="0"/>
              <a:t>Let, 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Thus</a:t>
            </a:r>
            <a:r>
              <a:rPr lang="en-US" sz="2000" dirty="0"/>
              <a:t>, for </a:t>
            </a:r>
            <a:r>
              <a:rPr lang="en-US" sz="2000" dirty="0" smtClean="0"/>
              <a:t>this </a:t>
            </a:r>
            <a:r>
              <a:rPr lang="en-US" sz="2000" dirty="0"/>
              <a:t>table we </a:t>
            </a:r>
            <a:r>
              <a:rPr lang="en-US" sz="2000" dirty="0" smtClean="0"/>
              <a:t>have following </a:t>
            </a:r>
            <a:r>
              <a:rPr lang="en-US" sz="2000" dirty="0"/>
              <a:t>Boolean </a:t>
            </a:r>
            <a:r>
              <a:rPr lang="en-US" sz="2000" dirty="0" smtClean="0"/>
              <a:t>expressions: 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09800"/>
            <a:ext cx="5410200" cy="1524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412776"/>
            <a:ext cx="5270500" cy="2159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47878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620688"/>
            <a:ext cx="4392488" cy="659160"/>
          </a:xfrm>
        </p:spPr>
        <p:txBody>
          <a:bodyPr/>
          <a:lstStyle/>
          <a:p>
            <a:r>
              <a:rPr lang="en-US" i="1" dirty="0" smtClean="0"/>
              <a:t>Decision Matrix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772816"/>
            <a:ext cx="7772400" cy="1584176"/>
          </a:xfrm>
        </p:spPr>
        <p:txBody>
          <a:bodyPr/>
          <a:lstStyle/>
          <a:p>
            <a:r>
              <a:rPr lang="en-US" sz="1800" dirty="0" smtClean="0"/>
              <a:t>we </a:t>
            </a:r>
            <a:r>
              <a:rPr lang="en-US" sz="1800" dirty="0"/>
              <a:t>divide </a:t>
            </a:r>
            <a:r>
              <a:rPr lang="en-US" sz="1800" dirty="0" smtClean="0"/>
              <a:t>the objects based on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3 </a:t>
            </a:r>
            <a:r>
              <a:rPr lang="en-US" sz="1800" dirty="0"/>
              <a:t>and </a:t>
            </a:r>
            <a:r>
              <a:rPr lang="en-IN" sz="1800" i="1" dirty="0" smtClean="0"/>
              <a:t>D ≠3</a:t>
            </a:r>
            <a:endParaRPr lang="en-US" sz="1800" dirty="0"/>
          </a:p>
          <a:p>
            <a:r>
              <a:rPr lang="en-US" sz="1800" dirty="0"/>
              <a:t>The objects having </a:t>
            </a:r>
            <a:r>
              <a:rPr lang="en-US" sz="1800" i="1" dirty="0" smtClean="0"/>
              <a:t>D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smtClean="0"/>
              <a:t>3 </a:t>
            </a:r>
            <a:r>
              <a:rPr lang="en-US" sz="1800" dirty="0"/>
              <a:t>are {</a:t>
            </a:r>
            <a:r>
              <a:rPr lang="en-US" sz="1800" i="1" dirty="0" smtClean="0"/>
              <a:t>O</a:t>
            </a:r>
            <a:r>
              <a:rPr lang="en-US" sz="1800" baseline="-25000" dirty="0"/>
              <a:t>6</a:t>
            </a:r>
            <a:r>
              <a:rPr lang="en-US" sz="1800" dirty="0" smtClean="0"/>
              <a:t>,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7</a:t>
            </a:r>
            <a:r>
              <a:rPr lang="en-US" sz="1800" dirty="0" smtClean="0"/>
              <a:t>,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8</a:t>
            </a:r>
            <a:r>
              <a:rPr lang="en-US" sz="1800" dirty="0" smtClean="0"/>
              <a:t>} </a:t>
            </a:r>
            <a:r>
              <a:rPr lang="en-US" sz="1800" dirty="0"/>
              <a:t>while </a:t>
            </a:r>
            <a:r>
              <a:rPr lang="en-US" sz="1800" dirty="0" smtClean="0"/>
              <a:t>the </a:t>
            </a:r>
            <a:r>
              <a:rPr lang="en-US" sz="1800" dirty="0"/>
              <a:t>objects </a:t>
            </a:r>
            <a:r>
              <a:rPr lang="en-US" sz="1800" dirty="0" smtClean="0"/>
              <a:t>having </a:t>
            </a:r>
            <a:r>
              <a:rPr lang="en-IN" sz="1800" i="1" dirty="0"/>
              <a:t>D </a:t>
            </a:r>
            <a:r>
              <a:rPr lang="en-IN" sz="1800" i="1" dirty="0" smtClean="0"/>
              <a:t>≠</a:t>
            </a:r>
            <a:r>
              <a:rPr lang="en-IN" sz="1800" i="1" dirty="0"/>
              <a:t>3</a:t>
            </a:r>
            <a:r>
              <a:rPr lang="en-IN" sz="1800" i="1" dirty="0" smtClean="0"/>
              <a:t> are </a:t>
            </a:r>
            <a:r>
              <a:rPr lang="en-US" sz="1800" dirty="0" smtClean="0"/>
              <a:t>{</a:t>
            </a:r>
            <a:r>
              <a:rPr lang="en-US" sz="1800" i="1" dirty="0" smtClean="0"/>
              <a:t>O</a:t>
            </a:r>
            <a:r>
              <a:rPr lang="en-US" sz="1800" baseline="-25000" dirty="0"/>
              <a:t>1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/>
              <a:t>2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3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4</a:t>
            </a:r>
            <a:r>
              <a:rPr lang="en-US" sz="1800" dirty="0" smtClean="0"/>
              <a:t>, </a:t>
            </a:r>
            <a:r>
              <a:rPr lang="en-US" sz="1800" i="1" dirty="0" smtClean="0"/>
              <a:t>O</a:t>
            </a:r>
            <a:r>
              <a:rPr lang="en-US" sz="1800" baseline="-25000" dirty="0" smtClean="0"/>
              <a:t>5</a:t>
            </a:r>
            <a:r>
              <a:rPr lang="en-US" sz="1800" dirty="0" smtClean="0"/>
              <a:t>}</a:t>
            </a:r>
            <a:r>
              <a:rPr lang="en-US" sz="1800" dirty="0"/>
              <a:t>. </a:t>
            </a:r>
            <a:r>
              <a:rPr lang="en-US" sz="1800" dirty="0" smtClean="0"/>
              <a:t> </a:t>
            </a:r>
          </a:p>
          <a:p>
            <a:r>
              <a:rPr lang="en-US" sz="1800" dirty="0"/>
              <a:t>The decision matrix for </a:t>
            </a:r>
            <a:r>
              <a:rPr lang="en-US" sz="1800" i="1" dirty="0"/>
              <a:t>D</a:t>
            </a:r>
            <a:r>
              <a:rPr lang="en-US" sz="1800" dirty="0"/>
              <a:t> = </a:t>
            </a:r>
            <a:r>
              <a:rPr lang="en-US" sz="1800" dirty="0" smtClean="0"/>
              <a:t>3 </a:t>
            </a:r>
            <a:r>
              <a:rPr lang="en-US" sz="1800" dirty="0"/>
              <a:t>lists all the differences between the objects having </a:t>
            </a:r>
            <a:r>
              <a:rPr lang="en-US" sz="1800" i="1" dirty="0"/>
              <a:t>D</a:t>
            </a:r>
            <a:r>
              <a:rPr lang="en-US" sz="1800" dirty="0"/>
              <a:t> = </a:t>
            </a:r>
            <a:r>
              <a:rPr lang="en-US" sz="1800" dirty="0" smtClean="0"/>
              <a:t>3 </a:t>
            </a:r>
            <a:r>
              <a:rPr lang="en-US" sz="1800" dirty="0"/>
              <a:t>and those having </a:t>
            </a:r>
            <a:r>
              <a:rPr lang="en-IN" sz="1800" i="1" dirty="0"/>
              <a:t>D </a:t>
            </a:r>
            <a:r>
              <a:rPr lang="en-IN" sz="1800" i="1" dirty="0" smtClean="0"/>
              <a:t>≠3</a:t>
            </a:r>
            <a:r>
              <a:rPr lang="en-US" sz="1800" dirty="0" smtClean="0"/>
              <a:t>. 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6084168" y="3140968"/>
            <a:ext cx="19442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Thus</a:t>
            </a:r>
            <a:r>
              <a:rPr lang="en-US" sz="1600" dirty="0">
                <a:solidFill>
                  <a:srgbClr val="FF0000"/>
                </a:solidFill>
              </a:rPr>
              <a:t>, the decision matrix lists all the differences between </a:t>
            </a:r>
            <a:r>
              <a:rPr lang="en-US" sz="1600" dirty="0" smtClean="0">
                <a:solidFill>
                  <a:srgbClr val="FF0000"/>
                </a:solidFill>
              </a:rPr>
              <a:t>{</a:t>
            </a:r>
            <a:r>
              <a:rPr lang="en-US" sz="1600" i="1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6</a:t>
            </a:r>
            <a:r>
              <a:rPr lang="en-US" sz="1600" dirty="0">
                <a:solidFill>
                  <a:srgbClr val="FF0000"/>
                </a:solidFill>
              </a:rPr>
              <a:t>,</a:t>
            </a:r>
            <a:r>
              <a:rPr lang="en-US" sz="1600" i="1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7</a:t>
            </a:r>
            <a:r>
              <a:rPr lang="en-US" sz="1600" dirty="0">
                <a:solidFill>
                  <a:srgbClr val="FF0000"/>
                </a:solidFill>
              </a:rPr>
              <a:t>,</a:t>
            </a:r>
            <a:r>
              <a:rPr lang="en-US" sz="1600" i="1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8</a:t>
            </a:r>
            <a:r>
              <a:rPr lang="en-US" sz="1600" dirty="0" smtClean="0">
                <a:solidFill>
                  <a:srgbClr val="FF0000"/>
                </a:solidFill>
              </a:rPr>
              <a:t>} and </a:t>
            </a:r>
          </a:p>
          <a:p>
            <a:r>
              <a:rPr lang="en-US" sz="1600" dirty="0" smtClean="0">
                <a:solidFill>
                  <a:srgbClr val="FF0000"/>
                </a:solidFill>
              </a:rPr>
              <a:t>{</a:t>
            </a:r>
            <a:r>
              <a:rPr lang="en-US" sz="1600" i="1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1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i="1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2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i="1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3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i="1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4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i="1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5</a:t>
            </a:r>
            <a:r>
              <a:rPr lang="en-US" sz="1600" dirty="0" smtClean="0">
                <a:solidFill>
                  <a:srgbClr val="FF0000"/>
                </a:solidFill>
              </a:rPr>
              <a:t>}.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7624" y="1340768"/>
            <a:ext cx="1905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FF0000"/>
                </a:solidFill>
              </a:rPr>
              <a:t>Case-3: D = </a:t>
            </a:r>
            <a:r>
              <a:rPr lang="en-US" u="sng" dirty="0" smtClean="0">
                <a:solidFill>
                  <a:srgbClr val="FF0000"/>
                </a:solidFill>
              </a:rPr>
              <a:t>3</a:t>
            </a:r>
            <a:endParaRPr lang="en-US" u="sng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548680"/>
            <a:ext cx="5698232" cy="13681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356992"/>
            <a:ext cx="5050160" cy="152927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1135210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404664"/>
            <a:ext cx="3886200" cy="515144"/>
          </a:xfrm>
        </p:spPr>
        <p:txBody>
          <a:bodyPr/>
          <a:lstStyle/>
          <a:p>
            <a:pPr algn="l"/>
            <a:r>
              <a:rPr lang="en-US" sz="2000" i="1" dirty="0">
                <a:solidFill>
                  <a:srgbClr val="FF0000"/>
                </a:solidFill>
              </a:rPr>
              <a:t>Decision Matrix 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3284984"/>
            <a:ext cx="6336704" cy="2736304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1800" dirty="0" smtClean="0">
                <a:solidFill>
                  <a:srgbClr val="FF0000"/>
                </a:solidFill>
              </a:rPr>
              <a:t>(</a:t>
            </a:r>
            <a:r>
              <a:rPr lang="en-US" sz="1800" dirty="0" err="1" smtClean="0">
                <a:solidFill>
                  <a:srgbClr val="FF0000"/>
                </a:solidFill>
              </a:rPr>
              <a:t>u+v+w</a:t>
            </a:r>
            <a:r>
              <a:rPr lang="en-US" sz="1800" dirty="0" smtClean="0">
                <a:solidFill>
                  <a:srgbClr val="FF0000"/>
                </a:solidFill>
              </a:rPr>
              <a:t>)(</a:t>
            </a:r>
            <a:r>
              <a:rPr lang="en-US" sz="1800" dirty="0" err="1" smtClean="0">
                <a:solidFill>
                  <a:srgbClr val="FF0000"/>
                </a:solidFill>
              </a:rPr>
              <a:t>u+v+w</a:t>
            </a:r>
            <a:r>
              <a:rPr lang="en-US" sz="1800" dirty="0" smtClean="0">
                <a:solidFill>
                  <a:srgbClr val="FF0000"/>
                </a:solidFill>
              </a:rPr>
              <a:t>)(</a:t>
            </a:r>
            <a:r>
              <a:rPr lang="en-US" sz="1800" dirty="0" err="1" smtClean="0">
                <a:solidFill>
                  <a:srgbClr val="FF0000"/>
                </a:solidFill>
              </a:rPr>
              <a:t>v+w</a:t>
            </a:r>
            <a:r>
              <a:rPr lang="en-US" sz="1800" dirty="0" smtClean="0">
                <a:solidFill>
                  <a:srgbClr val="FF0000"/>
                </a:solidFill>
              </a:rPr>
              <a:t>)w(</a:t>
            </a:r>
            <a:r>
              <a:rPr lang="en-US" sz="1800" dirty="0" err="1" smtClean="0">
                <a:solidFill>
                  <a:srgbClr val="FF0000"/>
                </a:solidFill>
              </a:rPr>
              <a:t>u+w</a:t>
            </a:r>
            <a:r>
              <a:rPr lang="en-US" sz="1800" dirty="0" smtClean="0">
                <a:solidFill>
                  <a:srgbClr val="FF0000"/>
                </a:solidFill>
              </a:rPr>
              <a:t>) = w</a:t>
            </a:r>
          </a:p>
          <a:p>
            <a:pPr marL="457200" indent="-457200">
              <a:buAutoNum type="arabicPeriod"/>
            </a:pPr>
            <a:r>
              <a:rPr lang="en-US" sz="1800" dirty="0" smtClean="0">
                <a:solidFill>
                  <a:srgbClr val="FF0000"/>
                </a:solidFill>
              </a:rPr>
              <a:t>(</a:t>
            </a:r>
            <a:r>
              <a:rPr lang="en-US" sz="1800" dirty="0" err="1" smtClean="0">
                <a:solidFill>
                  <a:srgbClr val="FF0000"/>
                </a:solidFill>
              </a:rPr>
              <a:t>x+v+w</a:t>
            </a:r>
            <a:r>
              <a:rPr lang="en-US" sz="1800" dirty="0">
                <a:solidFill>
                  <a:srgbClr val="FF0000"/>
                </a:solidFill>
              </a:rPr>
              <a:t>) (</a:t>
            </a:r>
            <a:r>
              <a:rPr lang="en-US" sz="1800" dirty="0" err="1">
                <a:solidFill>
                  <a:srgbClr val="FF0000"/>
                </a:solidFill>
              </a:rPr>
              <a:t>x+v+w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rgbClr val="FF0000"/>
                </a:solidFill>
              </a:rPr>
              <a:t> (</a:t>
            </a:r>
            <a:r>
              <a:rPr lang="en-US" sz="1800" dirty="0" err="1">
                <a:solidFill>
                  <a:srgbClr val="FF0000"/>
                </a:solidFill>
              </a:rPr>
              <a:t>x+v+w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rgbClr val="FF0000"/>
                </a:solidFill>
              </a:rPr>
              <a:t> (</a:t>
            </a:r>
            <a:r>
              <a:rPr lang="en-US" sz="1800" dirty="0" err="1" smtClean="0">
                <a:solidFill>
                  <a:srgbClr val="FF0000"/>
                </a:solidFill>
              </a:rPr>
              <a:t>x+</a:t>
            </a:r>
            <a:r>
              <a:rPr lang="en-US" sz="1800" dirty="0" err="1">
                <a:solidFill>
                  <a:srgbClr val="FF0000"/>
                </a:solidFill>
              </a:rPr>
              <a:t>w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rgbClr val="FF0000"/>
                </a:solidFill>
              </a:rPr>
              <a:t> (</a:t>
            </a:r>
            <a:r>
              <a:rPr lang="en-US" sz="1800" dirty="0" err="1" smtClean="0">
                <a:solidFill>
                  <a:srgbClr val="FF0000"/>
                </a:solidFill>
              </a:rPr>
              <a:t>x+</a:t>
            </a:r>
            <a:r>
              <a:rPr lang="en-US" sz="1800" dirty="0" err="1">
                <a:solidFill>
                  <a:srgbClr val="FF0000"/>
                </a:solidFill>
              </a:rPr>
              <a:t>w</a:t>
            </a:r>
            <a:r>
              <a:rPr lang="en-US" sz="1800" dirty="0" smtClean="0">
                <a:solidFill>
                  <a:srgbClr val="FF0000"/>
                </a:solidFill>
              </a:rPr>
              <a:t>)=</a:t>
            </a:r>
            <a:r>
              <a:rPr lang="en-US" sz="1800" dirty="0">
                <a:solidFill>
                  <a:srgbClr val="FF0000"/>
                </a:solidFill>
              </a:rPr>
              <a:t>(</a:t>
            </a:r>
            <a:r>
              <a:rPr lang="en-US" sz="1800" dirty="0" err="1" smtClean="0">
                <a:solidFill>
                  <a:srgbClr val="FF0000"/>
                </a:solidFill>
              </a:rPr>
              <a:t>x+</a:t>
            </a:r>
            <a:r>
              <a:rPr lang="en-US" sz="1800" dirty="0" err="1">
                <a:solidFill>
                  <a:srgbClr val="FF0000"/>
                </a:solidFill>
              </a:rPr>
              <a:t>w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rgbClr val="FF0000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x</a:t>
            </a:r>
            <a:r>
              <a:rPr lang="en-US" sz="1800" dirty="0" err="1" smtClean="0">
                <a:solidFill>
                  <a:srgbClr val="FF0000"/>
                </a:solidFill>
              </a:rPr>
              <a:t>+y+</a:t>
            </a:r>
            <a:r>
              <a:rPr lang="en-US" sz="1800" dirty="0" err="1">
                <a:solidFill>
                  <a:srgbClr val="FF0000"/>
                </a:solidFill>
              </a:rPr>
              <a:t>w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rgbClr val="FF0000"/>
                </a:solidFill>
              </a:rPr>
              <a:t> (</a:t>
            </a:r>
            <a:r>
              <a:rPr lang="en-US" sz="1800" dirty="0" err="1">
                <a:solidFill>
                  <a:srgbClr val="FF0000"/>
                </a:solidFill>
              </a:rPr>
              <a:t>x+y+w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rgbClr val="FF0000"/>
                </a:solidFill>
              </a:rPr>
              <a:t> (</a:t>
            </a:r>
            <a:r>
              <a:rPr lang="en-US" sz="1800" dirty="0" err="1">
                <a:solidFill>
                  <a:srgbClr val="FF0000"/>
                </a:solidFill>
              </a:rPr>
              <a:t>x+y+w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rgbClr val="FF0000"/>
                </a:solidFill>
              </a:rPr>
              <a:t> (</a:t>
            </a:r>
            <a:r>
              <a:rPr lang="en-US" sz="1800" dirty="0" err="1">
                <a:solidFill>
                  <a:srgbClr val="FF0000"/>
                </a:solidFill>
              </a:rPr>
              <a:t>x+y+w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  <a:r>
              <a:rPr lang="en-US" sz="1800" dirty="0">
                <a:solidFill>
                  <a:srgbClr val="FF0000"/>
                </a:solidFill>
              </a:rPr>
              <a:t> (</a:t>
            </a:r>
            <a:r>
              <a:rPr lang="en-US" sz="1800" dirty="0" err="1">
                <a:solidFill>
                  <a:srgbClr val="FF0000"/>
                </a:solidFill>
              </a:rPr>
              <a:t>x+y+w</a:t>
            </a:r>
            <a:r>
              <a:rPr lang="en-US" sz="1800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FF0000"/>
                </a:solidFill>
              </a:rPr>
              <a:t>       = </a:t>
            </a:r>
            <a:r>
              <a:rPr lang="en-US" sz="1800" dirty="0">
                <a:solidFill>
                  <a:srgbClr val="FF0000"/>
                </a:solidFill>
              </a:rPr>
              <a:t>(</a:t>
            </a:r>
            <a:r>
              <a:rPr lang="en-US" sz="1800" dirty="0" err="1">
                <a:solidFill>
                  <a:srgbClr val="FF0000"/>
                </a:solidFill>
              </a:rPr>
              <a:t>x+y+w</a:t>
            </a:r>
            <a:r>
              <a:rPr lang="en-US" sz="1800" dirty="0">
                <a:solidFill>
                  <a:srgbClr val="FF0000"/>
                </a:solidFill>
              </a:rPr>
              <a:t>)</a:t>
            </a:r>
            <a:r>
              <a:rPr lang="en-US" sz="1800" dirty="0" smtClean="0">
                <a:solidFill>
                  <a:srgbClr val="FF0000"/>
                </a:solidFill>
              </a:rPr>
              <a:t>   </a:t>
            </a:r>
          </a:p>
          <a:p>
            <a:r>
              <a:rPr lang="en-US" sz="1800" dirty="0" smtClean="0">
                <a:solidFill>
                  <a:srgbClr val="FF0000"/>
                </a:solidFill>
              </a:rPr>
              <a:t>Thus we have following rules: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Rule 7: 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4</a:t>
            </a:r>
            <a:r>
              <a:rPr lang="en-US" sz="1800" i="1" dirty="0" smtClean="0">
                <a:solidFill>
                  <a:srgbClr val="FF0000"/>
                </a:solidFill>
              </a:rPr>
              <a:t> = L) =&gt;(D = 3)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Rule 8: 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>
                <a:solidFill>
                  <a:srgbClr val="FF0000"/>
                </a:solidFill>
              </a:rPr>
              <a:t>1</a:t>
            </a:r>
            <a:r>
              <a:rPr lang="en-US" sz="1800" i="1" dirty="0" smtClean="0">
                <a:solidFill>
                  <a:srgbClr val="FF0000"/>
                </a:solidFill>
              </a:rPr>
              <a:t> = H) </a:t>
            </a:r>
            <a:r>
              <a:rPr lang="en-US" sz="1800" dirty="0" smtClean="0">
                <a:solidFill>
                  <a:srgbClr val="FF0000"/>
                </a:solidFill>
              </a:rPr>
              <a:t>OR (</a:t>
            </a:r>
            <a:r>
              <a:rPr lang="en-US" sz="1800" i="1" dirty="0" smtClean="0">
                <a:solidFill>
                  <a:srgbClr val="FF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4</a:t>
            </a:r>
            <a:r>
              <a:rPr lang="en-US" sz="1800" i="1" dirty="0" smtClean="0">
                <a:solidFill>
                  <a:srgbClr val="FF0000"/>
                </a:solidFill>
              </a:rPr>
              <a:t> = L) =&gt;</a:t>
            </a:r>
            <a:r>
              <a:rPr lang="en-US" sz="1800" dirty="0" smtClean="0">
                <a:solidFill>
                  <a:srgbClr val="FF0000"/>
                </a:solidFill>
              </a:rPr>
              <a:t> (</a:t>
            </a:r>
            <a:r>
              <a:rPr lang="en-US" sz="1800" i="1" dirty="0" smtClean="0">
                <a:solidFill>
                  <a:srgbClr val="FF0000"/>
                </a:solidFill>
              </a:rPr>
              <a:t>D=3)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FF0000"/>
                </a:solidFill>
              </a:rPr>
              <a:t>Rule 9: </a:t>
            </a:r>
            <a:r>
              <a:rPr lang="en-US" sz="1800" dirty="0">
                <a:solidFill>
                  <a:srgbClr val="FF0000"/>
                </a:solidFill>
              </a:rPr>
              <a:t>(</a:t>
            </a:r>
            <a:r>
              <a:rPr lang="en-US" sz="1800" i="1" dirty="0">
                <a:solidFill>
                  <a:srgbClr val="FF0000"/>
                </a:solidFill>
              </a:rPr>
              <a:t>A</a:t>
            </a:r>
            <a:r>
              <a:rPr lang="en-US" sz="1800" i="1" baseline="-25000" dirty="0">
                <a:solidFill>
                  <a:srgbClr val="FF0000"/>
                </a:solidFill>
              </a:rPr>
              <a:t>1</a:t>
            </a:r>
            <a:r>
              <a:rPr lang="en-US" sz="1800" i="1" dirty="0">
                <a:solidFill>
                  <a:srgbClr val="FF0000"/>
                </a:solidFill>
              </a:rPr>
              <a:t> = H) </a:t>
            </a:r>
            <a:r>
              <a:rPr lang="en-US" sz="1800" i="1" dirty="0" smtClean="0">
                <a:solidFill>
                  <a:srgbClr val="FF0000"/>
                </a:solidFill>
              </a:rPr>
              <a:t>OR (A</a:t>
            </a:r>
            <a:r>
              <a:rPr lang="en-US" sz="1800" i="1" baseline="-25000" dirty="0" smtClean="0">
                <a:solidFill>
                  <a:srgbClr val="FF0000"/>
                </a:solidFill>
              </a:rPr>
              <a:t>2</a:t>
            </a:r>
            <a:r>
              <a:rPr lang="en-US" sz="1800" i="1" dirty="0" smtClean="0">
                <a:solidFill>
                  <a:srgbClr val="FF0000"/>
                </a:solidFill>
              </a:rPr>
              <a:t> = N) </a:t>
            </a:r>
            <a:r>
              <a:rPr lang="en-US" sz="1800" dirty="0" smtClean="0">
                <a:solidFill>
                  <a:srgbClr val="FF0000"/>
                </a:solidFill>
              </a:rPr>
              <a:t>OR </a:t>
            </a:r>
            <a:r>
              <a:rPr lang="en-US" sz="1800" dirty="0">
                <a:solidFill>
                  <a:srgbClr val="FF0000"/>
                </a:solidFill>
              </a:rPr>
              <a:t>(</a:t>
            </a:r>
            <a:r>
              <a:rPr lang="en-US" sz="1800" i="1" dirty="0">
                <a:solidFill>
                  <a:srgbClr val="FF0000"/>
                </a:solidFill>
              </a:rPr>
              <a:t>A</a:t>
            </a:r>
            <a:r>
              <a:rPr lang="en-US" sz="1800" i="1" baseline="-25000" dirty="0">
                <a:solidFill>
                  <a:srgbClr val="FF0000"/>
                </a:solidFill>
              </a:rPr>
              <a:t>4</a:t>
            </a:r>
            <a:r>
              <a:rPr lang="en-US" sz="1800" i="1" dirty="0">
                <a:solidFill>
                  <a:srgbClr val="FF0000"/>
                </a:solidFill>
              </a:rPr>
              <a:t> = L) =&gt;</a:t>
            </a:r>
            <a:r>
              <a:rPr lang="en-US" sz="1800" dirty="0">
                <a:solidFill>
                  <a:srgbClr val="FF0000"/>
                </a:solidFill>
              </a:rPr>
              <a:t> (</a:t>
            </a:r>
            <a:r>
              <a:rPr lang="en-US" sz="1800" i="1" dirty="0">
                <a:solidFill>
                  <a:srgbClr val="FF0000"/>
                </a:solidFill>
              </a:rPr>
              <a:t>D=3)</a:t>
            </a:r>
          </a:p>
          <a:p>
            <a:pPr marL="0" indent="0">
              <a:buNone/>
            </a:pPr>
            <a:endParaRPr lang="en-US" sz="18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755576" y="2492896"/>
            <a:ext cx="7128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dirty="0" smtClean="0"/>
              <a:t>Let, 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 smtClean="0"/>
              <a:t>Thus</a:t>
            </a:r>
            <a:r>
              <a:rPr lang="en-US" sz="2000" dirty="0"/>
              <a:t>, </a:t>
            </a:r>
            <a:r>
              <a:rPr lang="en-US" sz="2000" dirty="0" smtClean="0"/>
              <a:t>we have following </a:t>
            </a:r>
            <a:r>
              <a:rPr lang="en-US" sz="2000" dirty="0"/>
              <a:t>Boolean expressions: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90600"/>
            <a:ext cx="5410200" cy="1638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636912"/>
            <a:ext cx="5270500" cy="2413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19038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6262464" cy="371128"/>
          </a:xfrm>
        </p:spPr>
        <p:txBody>
          <a:bodyPr/>
          <a:lstStyle/>
          <a:p>
            <a:r>
              <a:rPr lang="en-US" i="1" dirty="0" smtClean="0"/>
              <a:t>Decision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196752"/>
            <a:ext cx="3960440" cy="3672408"/>
          </a:xfrm>
        </p:spPr>
        <p:txBody>
          <a:bodyPr/>
          <a:lstStyle/>
          <a:p>
            <a:r>
              <a:rPr lang="en-US" sz="2000" dirty="0" smtClean="0"/>
              <a:t>Thus we have following rules for this data set: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i="1" dirty="0">
                <a:solidFill>
                  <a:srgbClr val="000000"/>
                </a:solidFill>
              </a:rPr>
              <a:t>A</a:t>
            </a:r>
            <a:r>
              <a:rPr lang="en-US" sz="1800" i="1" baseline="-25000" dirty="0">
                <a:solidFill>
                  <a:srgbClr val="000000"/>
                </a:solidFill>
              </a:rPr>
              <a:t>2</a:t>
            </a:r>
            <a:r>
              <a:rPr lang="en-US" sz="1800" i="1" dirty="0">
                <a:solidFill>
                  <a:srgbClr val="000000"/>
                </a:solidFill>
              </a:rPr>
              <a:t> = L) =&gt;(D = 1)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i="1" dirty="0">
                <a:solidFill>
                  <a:srgbClr val="000000"/>
                </a:solidFill>
              </a:rPr>
              <a:t>A</a:t>
            </a:r>
            <a:r>
              <a:rPr lang="en-US" sz="1800" i="1" baseline="-25000" dirty="0">
                <a:solidFill>
                  <a:srgbClr val="000000"/>
                </a:solidFill>
              </a:rPr>
              <a:t>2</a:t>
            </a:r>
            <a:r>
              <a:rPr lang="en-US" sz="1800" i="1" dirty="0">
                <a:solidFill>
                  <a:srgbClr val="000000"/>
                </a:solidFill>
              </a:rPr>
              <a:t> = L) </a:t>
            </a:r>
            <a:r>
              <a:rPr lang="en-US" sz="1800" dirty="0">
                <a:solidFill>
                  <a:srgbClr val="000000"/>
                </a:solidFill>
              </a:rPr>
              <a:t>OR (</a:t>
            </a:r>
            <a:r>
              <a:rPr lang="en-US" sz="1800" i="1" dirty="0">
                <a:solidFill>
                  <a:srgbClr val="000000"/>
                </a:solidFill>
              </a:rPr>
              <a:t>A</a:t>
            </a:r>
            <a:r>
              <a:rPr lang="en-US" sz="1800" i="1" baseline="-25000" dirty="0">
                <a:solidFill>
                  <a:srgbClr val="000000"/>
                </a:solidFill>
              </a:rPr>
              <a:t>4</a:t>
            </a:r>
            <a:r>
              <a:rPr lang="en-US" sz="1800" i="1" dirty="0">
                <a:solidFill>
                  <a:srgbClr val="000000"/>
                </a:solidFill>
              </a:rPr>
              <a:t> = H) =&gt;D=</a:t>
            </a:r>
            <a:r>
              <a:rPr lang="en-US" sz="1800" i="1" dirty="0" smtClean="0">
                <a:solidFill>
                  <a:srgbClr val="000000"/>
                </a:solidFill>
              </a:rPr>
              <a:t>1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dirty="0">
                <a:solidFill>
                  <a:srgbClr val="000000"/>
                </a:solidFill>
              </a:rPr>
              <a:t>A</a:t>
            </a:r>
            <a:r>
              <a:rPr lang="en-US" sz="1800" baseline="-25000" dirty="0">
                <a:solidFill>
                  <a:srgbClr val="000000"/>
                </a:solidFill>
              </a:rPr>
              <a:t>2</a:t>
            </a:r>
            <a:r>
              <a:rPr lang="en-US" sz="1800" dirty="0">
                <a:solidFill>
                  <a:srgbClr val="000000"/>
                </a:solidFill>
              </a:rPr>
              <a:t> = R) AND (A</a:t>
            </a:r>
            <a:r>
              <a:rPr lang="en-US" sz="1800" baseline="-25000" dirty="0">
                <a:solidFill>
                  <a:srgbClr val="000000"/>
                </a:solidFill>
              </a:rPr>
              <a:t>4</a:t>
            </a:r>
            <a:r>
              <a:rPr lang="en-US" sz="1800" dirty="0">
                <a:solidFill>
                  <a:srgbClr val="000000"/>
                </a:solidFill>
              </a:rPr>
              <a:t> = M) =&gt; (D=2)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dirty="0">
                <a:solidFill>
                  <a:srgbClr val="000000"/>
                </a:solidFill>
              </a:rPr>
              <a:t>(A</a:t>
            </a:r>
            <a:r>
              <a:rPr lang="en-US" sz="1800" baseline="-25000" dirty="0">
                <a:solidFill>
                  <a:srgbClr val="000000"/>
                </a:solidFill>
              </a:rPr>
              <a:t>2</a:t>
            </a:r>
            <a:r>
              <a:rPr lang="en-US" sz="1800" dirty="0">
                <a:solidFill>
                  <a:srgbClr val="000000"/>
                </a:solidFill>
              </a:rPr>
              <a:t> = R) AND (A</a:t>
            </a:r>
            <a:r>
              <a:rPr lang="en-US" sz="1800" baseline="-25000" dirty="0">
                <a:solidFill>
                  <a:srgbClr val="000000"/>
                </a:solidFill>
              </a:rPr>
              <a:t>1</a:t>
            </a:r>
            <a:r>
              <a:rPr lang="en-US" sz="1800" dirty="0">
                <a:solidFill>
                  <a:srgbClr val="000000"/>
                </a:solidFill>
              </a:rPr>
              <a:t> = M)) OR (A</a:t>
            </a:r>
            <a:r>
              <a:rPr lang="en-US" sz="1800" baseline="-25000" dirty="0">
                <a:solidFill>
                  <a:srgbClr val="000000"/>
                </a:solidFill>
              </a:rPr>
              <a:t>2</a:t>
            </a:r>
            <a:r>
              <a:rPr lang="en-US" sz="1800" dirty="0">
                <a:solidFill>
                  <a:srgbClr val="000000"/>
                </a:solidFill>
              </a:rPr>
              <a:t> = R) AND (A</a:t>
            </a:r>
            <a:r>
              <a:rPr lang="en-US" sz="1800" baseline="-25000" dirty="0">
                <a:solidFill>
                  <a:srgbClr val="000000"/>
                </a:solidFill>
              </a:rPr>
              <a:t>4</a:t>
            </a:r>
            <a:r>
              <a:rPr lang="en-US" sz="1800" dirty="0">
                <a:solidFill>
                  <a:srgbClr val="000000"/>
                </a:solidFill>
              </a:rPr>
              <a:t> = M) ) =&gt; (D=2</a:t>
            </a:r>
            <a:r>
              <a:rPr lang="en-US" sz="1800" dirty="0" smtClean="0">
                <a:solidFill>
                  <a:srgbClr val="000000"/>
                </a:solidFill>
              </a:rPr>
              <a:t>)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i="1" dirty="0">
                <a:solidFill>
                  <a:srgbClr val="000000"/>
                </a:solidFill>
              </a:rPr>
              <a:t>A</a:t>
            </a:r>
            <a:r>
              <a:rPr lang="en-US" sz="1800" i="1" baseline="-25000" dirty="0">
                <a:solidFill>
                  <a:srgbClr val="000000"/>
                </a:solidFill>
              </a:rPr>
              <a:t>4</a:t>
            </a:r>
            <a:r>
              <a:rPr lang="en-US" sz="1800" i="1" dirty="0">
                <a:solidFill>
                  <a:srgbClr val="000000"/>
                </a:solidFill>
              </a:rPr>
              <a:t> = L) =&gt;(D = 3</a:t>
            </a:r>
            <a:r>
              <a:rPr lang="en-US" sz="1800" i="1" dirty="0" smtClean="0">
                <a:solidFill>
                  <a:srgbClr val="00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i="1" dirty="0">
                <a:solidFill>
                  <a:srgbClr val="000000"/>
                </a:solidFill>
              </a:rPr>
              <a:t>A</a:t>
            </a:r>
            <a:r>
              <a:rPr lang="en-US" sz="1800" i="1" baseline="-25000" dirty="0">
                <a:solidFill>
                  <a:srgbClr val="000000"/>
                </a:solidFill>
              </a:rPr>
              <a:t>1</a:t>
            </a:r>
            <a:r>
              <a:rPr lang="en-US" sz="1800" i="1" dirty="0">
                <a:solidFill>
                  <a:srgbClr val="000000"/>
                </a:solidFill>
              </a:rPr>
              <a:t> = H) </a:t>
            </a:r>
            <a:r>
              <a:rPr lang="en-US" sz="1800" dirty="0">
                <a:solidFill>
                  <a:srgbClr val="000000"/>
                </a:solidFill>
              </a:rPr>
              <a:t>OR (</a:t>
            </a:r>
            <a:r>
              <a:rPr lang="en-US" sz="1800" i="1" dirty="0">
                <a:solidFill>
                  <a:srgbClr val="000000"/>
                </a:solidFill>
              </a:rPr>
              <a:t>A</a:t>
            </a:r>
            <a:r>
              <a:rPr lang="en-US" sz="1800" i="1" baseline="-25000" dirty="0">
                <a:solidFill>
                  <a:srgbClr val="000000"/>
                </a:solidFill>
              </a:rPr>
              <a:t>4</a:t>
            </a:r>
            <a:r>
              <a:rPr lang="en-US" sz="1800" i="1" dirty="0">
                <a:solidFill>
                  <a:srgbClr val="000000"/>
                </a:solidFill>
              </a:rPr>
              <a:t> = L) =&gt;</a:t>
            </a:r>
            <a:r>
              <a:rPr lang="en-US" sz="1800" dirty="0">
                <a:solidFill>
                  <a:srgbClr val="000000"/>
                </a:solidFill>
              </a:rPr>
              <a:t> (</a:t>
            </a:r>
            <a:r>
              <a:rPr lang="en-US" sz="1800" i="1" dirty="0">
                <a:solidFill>
                  <a:srgbClr val="000000"/>
                </a:solidFill>
              </a:rPr>
              <a:t>D=3)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i="1" dirty="0">
                <a:solidFill>
                  <a:srgbClr val="000000"/>
                </a:solidFill>
              </a:rPr>
              <a:t>A</a:t>
            </a:r>
            <a:r>
              <a:rPr lang="en-US" sz="1800" i="1" baseline="-25000" dirty="0">
                <a:solidFill>
                  <a:srgbClr val="000000"/>
                </a:solidFill>
              </a:rPr>
              <a:t>1</a:t>
            </a:r>
            <a:r>
              <a:rPr lang="en-US" sz="1800" i="1" dirty="0">
                <a:solidFill>
                  <a:srgbClr val="000000"/>
                </a:solidFill>
              </a:rPr>
              <a:t> = H) OR (A</a:t>
            </a:r>
            <a:r>
              <a:rPr lang="en-US" sz="1800" i="1" baseline="-25000" dirty="0">
                <a:solidFill>
                  <a:srgbClr val="000000"/>
                </a:solidFill>
              </a:rPr>
              <a:t>2</a:t>
            </a:r>
            <a:r>
              <a:rPr lang="en-US" sz="1800" i="1" dirty="0">
                <a:solidFill>
                  <a:srgbClr val="000000"/>
                </a:solidFill>
              </a:rPr>
              <a:t> = N) </a:t>
            </a:r>
            <a:r>
              <a:rPr lang="en-US" sz="1800" dirty="0">
                <a:solidFill>
                  <a:srgbClr val="000000"/>
                </a:solidFill>
              </a:rPr>
              <a:t>OR (</a:t>
            </a:r>
            <a:r>
              <a:rPr lang="en-US" sz="1800" i="1" dirty="0">
                <a:solidFill>
                  <a:srgbClr val="000000"/>
                </a:solidFill>
              </a:rPr>
              <a:t>A</a:t>
            </a:r>
            <a:r>
              <a:rPr lang="en-US" sz="1800" i="1" baseline="-25000" dirty="0">
                <a:solidFill>
                  <a:srgbClr val="000000"/>
                </a:solidFill>
              </a:rPr>
              <a:t>4</a:t>
            </a:r>
            <a:r>
              <a:rPr lang="en-US" sz="1800" i="1" dirty="0">
                <a:solidFill>
                  <a:srgbClr val="000000"/>
                </a:solidFill>
              </a:rPr>
              <a:t> = L) =&gt;</a:t>
            </a:r>
            <a:r>
              <a:rPr lang="en-US" sz="1800" dirty="0">
                <a:solidFill>
                  <a:srgbClr val="000000"/>
                </a:solidFill>
              </a:rPr>
              <a:t> (</a:t>
            </a:r>
            <a:r>
              <a:rPr lang="en-US" sz="1800" i="1" dirty="0">
                <a:solidFill>
                  <a:srgbClr val="000000"/>
                </a:solidFill>
              </a:rPr>
              <a:t>D=3)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268760"/>
            <a:ext cx="5410200" cy="21209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942398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48680"/>
            <a:ext cx="7772400" cy="443136"/>
          </a:xfrm>
        </p:spPr>
        <p:txBody>
          <a:bodyPr/>
          <a:lstStyle/>
          <a:p>
            <a:r>
              <a:rPr lang="en-US" sz="3600" dirty="0" smtClean="0"/>
              <a:t>Decision Rules</a:t>
            </a:r>
            <a:endParaRPr lang="en-US" sz="3600" dirty="0"/>
          </a:p>
        </p:txBody>
      </p:sp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 bwMode="auto">
          <a:xfrm>
            <a:off x="683568" y="1412776"/>
            <a:ext cx="777240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000" dirty="0" smtClean="0"/>
              <a:t>Final </a:t>
            </a:r>
            <a:r>
              <a:rPr lang="en-US" sz="2000" dirty="0" err="1" smtClean="0"/>
              <a:t>Ruleset</a:t>
            </a:r>
            <a:r>
              <a:rPr lang="en-US" sz="2000" dirty="0" smtClean="0"/>
              <a:t>:</a:t>
            </a:r>
          </a:p>
          <a:p>
            <a:pPr marL="0" indent="0">
              <a:buFontTx/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i="1" dirty="0" smtClean="0">
                <a:solidFill>
                  <a:srgbClr val="00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000000"/>
                </a:solidFill>
              </a:rPr>
              <a:t>2</a:t>
            </a:r>
            <a:r>
              <a:rPr lang="en-US" sz="1800" i="1" dirty="0" smtClean="0">
                <a:solidFill>
                  <a:srgbClr val="000000"/>
                </a:solidFill>
              </a:rPr>
              <a:t> = L) =&gt;(D = 1)</a:t>
            </a:r>
            <a:endParaRPr lang="en-US" sz="18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i="1" dirty="0">
                <a:solidFill>
                  <a:srgbClr val="000000"/>
                </a:solidFill>
              </a:rPr>
              <a:t>A</a:t>
            </a:r>
            <a:r>
              <a:rPr lang="en-US" sz="1800" i="1" baseline="-25000" dirty="0">
                <a:solidFill>
                  <a:srgbClr val="000000"/>
                </a:solidFill>
              </a:rPr>
              <a:t>4</a:t>
            </a:r>
            <a:r>
              <a:rPr lang="en-US" sz="1800" i="1" dirty="0">
                <a:solidFill>
                  <a:srgbClr val="000000"/>
                </a:solidFill>
              </a:rPr>
              <a:t> = H) =&gt;D=</a:t>
            </a:r>
            <a:r>
              <a:rPr lang="en-US" sz="1800" i="1" dirty="0" smtClean="0">
                <a:solidFill>
                  <a:srgbClr val="000000"/>
                </a:solidFill>
              </a:rPr>
              <a:t>1</a:t>
            </a:r>
          </a:p>
          <a:p>
            <a:pPr marL="0" indent="0">
              <a:buFontTx/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(A</a:t>
            </a:r>
            <a:r>
              <a:rPr lang="en-US" sz="1800" baseline="-25000" dirty="0" smtClean="0">
                <a:solidFill>
                  <a:srgbClr val="000000"/>
                </a:solidFill>
              </a:rPr>
              <a:t>2</a:t>
            </a:r>
            <a:r>
              <a:rPr lang="en-US" sz="1800" dirty="0" smtClean="0">
                <a:solidFill>
                  <a:srgbClr val="000000"/>
                </a:solidFill>
              </a:rPr>
              <a:t> = R) AND (A</a:t>
            </a:r>
            <a:r>
              <a:rPr lang="en-US" sz="1800" baseline="-25000" dirty="0" smtClean="0">
                <a:solidFill>
                  <a:srgbClr val="000000"/>
                </a:solidFill>
              </a:rPr>
              <a:t>4</a:t>
            </a:r>
            <a:r>
              <a:rPr lang="en-US" sz="1800" dirty="0" smtClean="0">
                <a:solidFill>
                  <a:srgbClr val="000000"/>
                </a:solidFill>
              </a:rPr>
              <a:t> = M) =&gt; (D=2)</a:t>
            </a:r>
          </a:p>
          <a:p>
            <a:pPr marL="0" indent="0">
              <a:buFontTx/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(A</a:t>
            </a:r>
            <a:r>
              <a:rPr lang="en-US" sz="1800" baseline="-25000" dirty="0" smtClean="0">
                <a:solidFill>
                  <a:srgbClr val="000000"/>
                </a:solidFill>
              </a:rPr>
              <a:t>2</a:t>
            </a:r>
            <a:r>
              <a:rPr lang="en-US" sz="1800" dirty="0" smtClean="0">
                <a:solidFill>
                  <a:srgbClr val="000000"/>
                </a:solidFill>
              </a:rPr>
              <a:t> = R) AND (A</a:t>
            </a:r>
            <a:r>
              <a:rPr lang="en-US" sz="1800" baseline="-25000" dirty="0" smtClean="0">
                <a:solidFill>
                  <a:srgbClr val="000000"/>
                </a:solidFill>
              </a:rPr>
              <a:t>1</a:t>
            </a:r>
            <a:r>
              <a:rPr lang="en-US" sz="1800" dirty="0" smtClean="0">
                <a:solidFill>
                  <a:srgbClr val="000000"/>
                </a:solidFill>
              </a:rPr>
              <a:t> = M) =&gt; (D=2)  </a:t>
            </a:r>
            <a:endParaRPr lang="en-US" sz="1800" dirty="0">
              <a:solidFill>
                <a:srgbClr val="000000"/>
              </a:solidFill>
            </a:endParaRPr>
          </a:p>
          <a:p>
            <a:pPr marL="0" indent="0">
              <a:buFontTx/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i="1" dirty="0" smtClean="0">
                <a:solidFill>
                  <a:srgbClr val="00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000000"/>
                </a:solidFill>
              </a:rPr>
              <a:t>4</a:t>
            </a:r>
            <a:r>
              <a:rPr lang="en-US" sz="1800" i="1" dirty="0" smtClean="0">
                <a:solidFill>
                  <a:srgbClr val="000000"/>
                </a:solidFill>
              </a:rPr>
              <a:t> = L) =&gt;(D = 3)</a:t>
            </a:r>
          </a:p>
          <a:p>
            <a:pPr marL="0" indent="0">
              <a:buFontTx/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(</a:t>
            </a:r>
            <a:r>
              <a:rPr lang="en-US" sz="1800" i="1" dirty="0" smtClean="0">
                <a:solidFill>
                  <a:srgbClr val="000000"/>
                </a:solidFill>
              </a:rPr>
              <a:t>A</a:t>
            </a:r>
            <a:r>
              <a:rPr lang="en-US" sz="1800" i="1" baseline="-25000" dirty="0" smtClean="0">
                <a:solidFill>
                  <a:srgbClr val="000000"/>
                </a:solidFill>
              </a:rPr>
              <a:t>1</a:t>
            </a:r>
            <a:r>
              <a:rPr lang="en-US" sz="1800" i="1" dirty="0" smtClean="0">
                <a:solidFill>
                  <a:srgbClr val="000000"/>
                </a:solidFill>
              </a:rPr>
              <a:t> = H) =&gt;</a:t>
            </a:r>
            <a:r>
              <a:rPr lang="en-US" sz="1800" dirty="0" smtClean="0">
                <a:solidFill>
                  <a:srgbClr val="000000"/>
                </a:solidFill>
              </a:rPr>
              <a:t> (</a:t>
            </a:r>
            <a:r>
              <a:rPr lang="en-US" sz="1800" i="1" dirty="0" smtClean="0">
                <a:solidFill>
                  <a:srgbClr val="000000"/>
                </a:solidFill>
              </a:rPr>
              <a:t>D=3)</a:t>
            </a:r>
          </a:p>
          <a:p>
            <a:pPr marL="0" indent="0">
              <a:buFontTx/>
              <a:buNone/>
            </a:pPr>
            <a:r>
              <a:rPr lang="en-US" sz="1800" i="1" dirty="0" smtClean="0">
                <a:solidFill>
                  <a:srgbClr val="000000"/>
                </a:solidFill>
              </a:rPr>
              <a:t>(A</a:t>
            </a:r>
            <a:r>
              <a:rPr lang="en-US" sz="1800" i="1" baseline="-25000" dirty="0" smtClean="0">
                <a:solidFill>
                  <a:srgbClr val="000000"/>
                </a:solidFill>
              </a:rPr>
              <a:t>2</a:t>
            </a:r>
            <a:r>
              <a:rPr lang="en-US" sz="1800" i="1" dirty="0" smtClean="0">
                <a:solidFill>
                  <a:srgbClr val="000000"/>
                </a:solidFill>
              </a:rPr>
              <a:t> = N) =&gt;</a:t>
            </a:r>
            <a:r>
              <a:rPr lang="en-US" sz="1800" dirty="0" smtClean="0">
                <a:solidFill>
                  <a:srgbClr val="000000"/>
                </a:solidFill>
              </a:rPr>
              <a:t> (</a:t>
            </a:r>
            <a:r>
              <a:rPr lang="en-US" sz="1800" i="1" dirty="0" smtClean="0">
                <a:solidFill>
                  <a:srgbClr val="000000"/>
                </a:solidFill>
              </a:rPr>
              <a:t>D=3)</a:t>
            </a:r>
          </a:p>
          <a:p>
            <a:pPr marL="0" indent="0">
              <a:buFontTx/>
              <a:buNone/>
            </a:pPr>
            <a:r>
              <a:rPr lang="en-US" sz="1800" dirty="0" smtClean="0"/>
              <a:t>Here, Training Accuracy = 100%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1268760"/>
            <a:ext cx="5410200" cy="21209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545687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548680"/>
            <a:ext cx="7772400" cy="443136"/>
          </a:xfrm>
        </p:spPr>
        <p:txBody>
          <a:bodyPr/>
          <a:lstStyle/>
          <a:p>
            <a:r>
              <a:rPr lang="en-US" sz="3600" dirty="0" smtClean="0"/>
              <a:t>Decision Rules</a:t>
            </a:r>
            <a:endParaRPr lang="en-US" sz="3600" dirty="0"/>
          </a:p>
        </p:txBody>
      </p:sp>
      <p:sp>
        <p:nvSpPr>
          <p:cNvPr id="4" name="Content Placeholder 2"/>
          <p:cNvSpPr txBox="1">
            <a:spLocks noGrp="1"/>
          </p:cNvSpPr>
          <p:nvPr>
            <p:ph idx="1"/>
          </p:nvPr>
        </p:nvSpPr>
        <p:spPr bwMode="auto">
          <a:xfrm>
            <a:off x="611560" y="1196752"/>
            <a:ext cx="754184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 smtClean="0"/>
              <a:t>Feature selection algo-1 based Rules	Feature selection algo-1 based Rules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FontTx/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n-US" sz="1400" b="1" i="1" dirty="0" smtClean="0">
                <a:solidFill>
                  <a:srgbClr val="FF0000"/>
                </a:solidFill>
              </a:rPr>
              <a:t>A</a:t>
            </a:r>
            <a:r>
              <a:rPr lang="en-US" sz="1400" b="1" i="1" baseline="-25000" dirty="0" smtClean="0">
                <a:solidFill>
                  <a:srgbClr val="FF0000"/>
                </a:solidFill>
              </a:rPr>
              <a:t>2</a:t>
            </a:r>
            <a:r>
              <a:rPr lang="en-US" sz="1400" b="1" i="1" dirty="0" smtClean="0">
                <a:solidFill>
                  <a:srgbClr val="FF0000"/>
                </a:solidFill>
              </a:rPr>
              <a:t> = L) =&gt;(D = 1)</a:t>
            </a:r>
            <a:endParaRPr lang="en-US" sz="14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n-US" sz="1400" b="1" i="1" dirty="0">
                <a:solidFill>
                  <a:srgbClr val="FF0000"/>
                </a:solidFill>
              </a:rPr>
              <a:t>A</a:t>
            </a:r>
            <a:r>
              <a:rPr lang="en-US" sz="1400" b="1" i="1" baseline="-25000" dirty="0">
                <a:solidFill>
                  <a:srgbClr val="FF0000"/>
                </a:solidFill>
              </a:rPr>
              <a:t>4</a:t>
            </a:r>
            <a:r>
              <a:rPr lang="en-US" sz="1400" b="1" i="1" dirty="0">
                <a:solidFill>
                  <a:srgbClr val="FF0000"/>
                </a:solidFill>
              </a:rPr>
              <a:t> = H) =&gt;D=</a:t>
            </a:r>
            <a:r>
              <a:rPr lang="en-US" sz="1400" b="1" i="1" dirty="0" smtClean="0">
                <a:solidFill>
                  <a:srgbClr val="FF0000"/>
                </a:solidFill>
              </a:rPr>
              <a:t>1</a:t>
            </a:r>
          </a:p>
          <a:p>
            <a:pPr marL="0" indent="0">
              <a:buFontTx/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(A</a:t>
            </a:r>
            <a:r>
              <a:rPr lang="en-US" sz="1400" b="1" baseline="-25000" dirty="0" smtClean="0">
                <a:solidFill>
                  <a:srgbClr val="FF0000"/>
                </a:solidFill>
              </a:rPr>
              <a:t>2</a:t>
            </a:r>
            <a:r>
              <a:rPr lang="en-US" sz="1400" b="1" dirty="0" smtClean="0">
                <a:solidFill>
                  <a:srgbClr val="FF0000"/>
                </a:solidFill>
              </a:rPr>
              <a:t> = R) AND (A</a:t>
            </a:r>
            <a:r>
              <a:rPr lang="en-US" sz="1400" b="1" baseline="-25000" dirty="0" smtClean="0">
                <a:solidFill>
                  <a:srgbClr val="FF0000"/>
                </a:solidFill>
              </a:rPr>
              <a:t>4</a:t>
            </a:r>
            <a:r>
              <a:rPr lang="en-US" sz="1400" b="1" dirty="0" smtClean="0">
                <a:solidFill>
                  <a:srgbClr val="FF0000"/>
                </a:solidFill>
              </a:rPr>
              <a:t> = M) =&gt; (D=2)</a:t>
            </a:r>
          </a:p>
          <a:p>
            <a:pPr marL="0" indent="0">
              <a:buFontTx/>
              <a:buNone/>
            </a:pPr>
            <a:r>
              <a:rPr lang="en-US" sz="1400" b="1" dirty="0" smtClean="0"/>
              <a:t>(A</a:t>
            </a:r>
            <a:r>
              <a:rPr lang="en-US" sz="1400" b="1" baseline="-25000" dirty="0" smtClean="0"/>
              <a:t>2</a:t>
            </a:r>
            <a:r>
              <a:rPr lang="en-US" sz="1400" b="1" dirty="0" smtClean="0"/>
              <a:t> = R) AND (A</a:t>
            </a:r>
            <a:r>
              <a:rPr lang="en-US" sz="1400" b="1" baseline="-25000" dirty="0" smtClean="0"/>
              <a:t>1</a:t>
            </a:r>
            <a:r>
              <a:rPr lang="en-US" sz="1400" b="1" dirty="0" smtClean="0"/>
              <a:t> = M) =&gt; (D=2)  </a:t>
            </a:r>
            <a:endParaRPr lang="en-US" sz="1400" b="1" dirty="0"/>
          </a:p>
          <a:p>
            <a:pPr marL="0" indent="0">
              <a:buFontTx/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n-US" sz="1400" b="1" i="1" dirty="0" smtClean="0">
                <a:solidFill>
                  <a:srgbClr val="FF0000"/>
                </a:solidFill>
              </a:rPr>
              <a:t>A</a:t>
            </a:r>
            <a:r>
              <a:rPr lang="en-US" sz="1400" b="1" i="1" baseline="-25000" dirty="0" smtClean="0">
                <a:solidFill>
                  <a:srgbClr val="FF0000"/>
                </a:solidFill>
              </a:rPr>
              <a:t>4</a:t>
            </a:r>
            <a:r>
              <a:rPr lang="en-US" sz="1400" b="1" i="1" dirty="0" smtClean="0">
                <a:solidFill>
                  <a:srgbClr val="FF0000"/>
                </a:solidFill>
              </a:rPr>
              <a:t> = L) =&gt;(D = 3)</a:t>
            </a:r>
          </a:p>
          <a:p>
            <a:pPr marL="0" indent="0">
              <a:buFontTx/>
              <a:buNone/>
            </a:pPr>
            <a:r>
              <a:rPr lang="en-US" sz="1400" b="1" dirty="0" smtClean="0">
                <a:solidFill>
                  <a:srgbClr val="000000"/>
                </a:solidFill>
              </a:rPr>
              <a:t>(</a:t>
            </a:r>
            <a:r>
              <a:rPr lang="en-US" sz="1400" b="1" i="1" dirty="0" smtClean="0">
                <a:solidFill>
                  <a:srgbClr val="000000"/>
                </a:solidFill>
              </a:rPr>
              <a:t>A</a:t>
            </a:r>
            <a:r>
              <a:rPr lang="en-US" sz="1400" b="1" i="1" baseline="-25000" dirty="0" smtClean="0">
                <a:solidFill>
                  <a:srgbClr val="000000"/>
                </a:solidFill>
              </a:rPr>
              <a:t>1</a:t>
            </a:r>
            <a:r>
              <a:rPr lang="en-US" sz="1400" b="1" i="1" dirty="0" smtClean="0">
                <a:solidFill>
                  <a:srgbClr val="000000"/>
                </a:solidFill>
              </a:rPr>
              <a:t> = H) =&gt;</a:t>
            </a:r>
            <a:r>
              <a:rPr lang="en-US" sz="1400" b="1" dirty="0" smtClean="0">
                <a:solidFill>
                  <a:srgbClr val="000000"/>
                </a:solidFill>
              </a:rPr>
              <a:t> (</a:t>
            </a:r>
            <a:r>
              <a:rPr lang="en-US" sz="1400" b="1" i="1" dirty="0" smtClean="0">
                <a:solidFill>
                  <a:srgbClr val="000000"/>
                </a:solidFill>
              </a:rPr>
              <a:t>D=3)</a:t>
            </a:r>
          </a:p>
          <a:p>
            <a:pPr marL="0" indent="0">
              <a:buFontTx/>
              <a:buNone/>
            </a:pPr>
            <a:r>
              <a:rPr lang="en-US" sz="1400" b="1" i="1" dirty="0" smtClean="0">
                <a:solidFill>
                  <a:srgbClr val="FF0000"/>
                </a:solidFill>
              </a:rPr>
              <a:t>(A</a:t>
            </a:r>
            <a:r>
              <a:rPr lang="en-US" sz="1400" b="1" i="1" baseline="-25000" dirty="0" smtClean="0">
                <a:solidFill>
                  <a:srgbClr val="FF0000"/>
                </a:solidFill>
              </a:rPr>
              <a:t>2</a:t>
            </a:r>
            <a:r>
              <a:rPr lang="en-US" sz="1400" b="1" i="1" dirty="0" smtClean="0">
                <a:solidFill>
                  <a:srgbClr val="FF0000"/>
                </a:solidFill>
              </a:rPr>
              <a:t> = N) =&gt;</a:t>
            </a:r>
            <a:r>
              <a:rPr lang="en-US" sz="1400" b="1" dirty="0" smtClean="0">
                <a:solidFill>
                  <a:srgbClr val="FF0000"/>
                </a:solidFill>
              </a:rPr>
              <a:t> (</a:t>
            </a:r>
            <a:r>
              <a:rPr lang="en-US" sz="1400" b="1" i="1" dirty="0" smtClean="0">
                <a:solidFill>
                  <a:srgbClr val="FF0000"/>
                </a:solidFill>
              </a:rPr>
              <a:t>D=3)</a:t>
            </a:r>
          </a:p>
          <a:p>
            <a:pPr marL="0" indent="0">
              <a:buFontTx/>
              <a:buNone/>
            </a:pPr>
            <a:endParaRPr lang="en-US" sz="1800" dirty="0" smtClean="0"/>
          </a:p>
          <a:p>
            <a:pPr marL="0" indent="0">
              <a:buFontTx/>
              <a:buNone/>
            </a:pPr>
            <a:endParaRPr lang="en-US" sz="1800" dirty="0" smtClean="0"/>
          </a:p>
          <a:p>
            <a:pPr marL="0" indent="0">
              <a:buFontTx/>
              <a:buNone/>
            </a:pPr>
            <a:endParaRPr lang="en-US" sz="1800" dirty="0"/>
          </a:p>
          <a:p>
            <a:pPr marL="0" indent="0">
              <a:buFontTx/>
              <a:buNone/>
            </a:pPr>
            <a:endParaRPr lang="en-US" sz="1800" dirty="0" smtClean="0"/>
          </a:p>
          <a:p>
            <a:pPr marL="0" indent="0">
              <a:buFontTx/>
              <a:buNone/>
            </a:pPr>
            <a:endParaRPr lang="en-US" sz="1800" dirty="0" smtClean="0"/>
          </a:p>
          <a:p>
            <a:pPr marL="0" indent="0">
              <a:buFontTx/>
              <a:buNone/>
            </a:pPr>
            <a:endParaRPr lang="en-US" sz="1800" dirty="0" smtClean="0"/>
          </a:p>
          <a:p>
            <a:pPr marL="0" indent="0">
              <a:buFontTx/>
              <a:buNone/>
            </a:pPr>
            <a:endParaRPr lang="en-US" sz="1800" dirty="0" smtClean="0"/>
          </a:p>
          <a:p>
            <a:pPr marL="0" indent="0">
              <a:buFontTx/>
              <a:buNone/>
            </a:pPr>
            <a:r>
              <a:rPr lang="en-US" sz="1800" dirty="0" smtClean="0"/>
              <a:t>Here, Training Accuracy = 100% for both the classifiers </a:t>
            </a:r>
            <a:endParaRPr lang="en-US" sz="1800" dirty="0"/>
          </a:p>
        </p:txBody>
      </p:sp>
      <p:sp>
        <p:nvSpPr>
          <p:cNvPr id="6" name="Rectangle 5"/>
          <p:cNvSpPr/>
          <p:nvPr/>
        </p:nvSpPr>
        <p:spPr>
          <a:xfrm>
            <a:off x="4572000" y="1600200"/>
            <a:ext cx="269237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n-US" sz="1400" b="1" i="1" dirty="0">
                <a:solidFill>
                  <a:srgbClr val="FF0000"/>
                </a:solidFill>
              </a:rPr>
              <a:t>A</a:t>
            </a:r>
            <a:r>
              <a:rPr lang="en-US" sz="1400" b="1" i="1" baseline="-25000" dirty="0">
                <a:solidFill>
                  <a:srgbClr val="FF0000"/>
                </a:solidFill>
              </a:rPr>
              <a:t>2</a:t>
            </a:r>
            <a:r>
              <a:rPr lang="en-US" sz="1400" b="1" i="1" dirty="0">
                <a:solidFill>
                  <a:srgbClr val="FF0000"/>
                </a:solidFill>
              </a:rPr>
              <a:t> = L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  <a:r>
              <a:rPr lang="en-US" sz="1400" b="1" i="1" dirty="0">
                <a:solidFill>
                  <a:srgbClr val="FF0000"/>
                </a:solidFill>
              </a:rPr>
              <a:t> </a:t>
            </a:r>
            <a:r>
              <a:rPr lang="en-US" sz="1400" b="1" dirty="0">
                <a:solidFill>
                  <a:srgbClr val="FF0000"/>
                </a:solidFill>
              </a:rPr>
              <a:t>=&gt; (</a:t>
            </a:r>
            <a:r>
              <a:rPr lang="en-US" sz="1400" b="1" i="1" dirty="0">
                <a:solidFill>
                  <a:srgbClr val="FF0000"/>
                </a:solidFill>
              </a:rPr>
              <a:t>D = 1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n-US" sz="1400" b="1" i="1" dirty="0">
                <a:solidFill>
                  <a:srgbClr val="FF0000"/>
                </a:solidFill>
              </a:rPr>
              <a:t>A</a:t>
            </a:r>
            <a:r>
              <a:rPr lang="en-US" sz="1400" b="1" i="1" baseline="-25000" dirty="0">
                <a:solidFill>
                  <a:srgbClr val="FF0000"/>
                </a:solidFill>
              </a:rPr>
              <a:t>4</a:t>
            </a:r>
            <a:r>
              <a:rPr lang="en-US" sz="1400" b="1" i="1" dirty="0">
                <a:solidFill>
                  <a:srgbClr val="FF0000"/>
                </a:solidFill>
              </a:rPr>
              <a:t> = H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  <a:r>
              <a:rPr lang="en-US" sz="1400" b="1" i="1" dirty="0">
                <a:solidFill>
                  <a:srgbClr val="FF0000"/>
                </a:solidFill>
              </a:rPr>
              <a:t> </a:t>
            </a:r>
            <a:r>
              <a:rPr lang="en-US" sz="1400" b="1" dirty="0">
                <a:solidFill>
                  <a:srgbClr val="FF0000"/>
                </a:solidFill>
              </a:rPr>
              <a:t>=&gt; (</a:t>
            </a:r>
            <a:r>
              <a:rPr lang="en-US" sz="1400" b="1" i="1" dirty="0">
                <a:solidFill>
                  <a:srgbClr val="FF0000"/>
                </a:solidFill>
              </a:rPr>
              <a:t>D=1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n-US" sz="1400" b="1" i="1" dirty="0">
                <a:solidFill>
                  <a:srgbClr val="FF0000"/>
                </a:solidFill>
              </a:rPr>
              <a:t>A</a:t>
            </a:r>
            <a:r>
              <a:rPr lang="en-US" sz="1400" b="1" i="1" baseline="-25000" dirty="0">
                <a:solidFill>
                  <a:srgbClr val="FF0000"/>
                </a:solidFill>
              </a:rPr>
              <a:t>2</a:t>
            </a:r>
            <a:r>
              <a:rPr lang="en-US" sz="1400" b="1" i="1" dirty="0">
                <a:solidFill>
                  <a:srgbClr val="FF0000"/>
                </a:solidFill>
              </a:rPr>
              <a:t> = R) AND (A</a:t>
            </a:r>
            <a:r>
              <a:rPr lang="en-US" sz="1400" b="1" i="1" baseline="-25000" dirty="0">
                <a:solidFill>
                  <a:srgbClr val="FF0000"/>
                </a:solidFill>
              </a:rPr>
              <a:t>4</a:t>
            </a:r>
            <a:r>
              <a:rPr lang="en-US" sz="1400" b="1" i="1" dirty="0">
                <a:solidFill>
                  <a:srgbClr val="FF0000"/>
                </a:solidFill>
              </a:rPr>
              <a:t> =M) =&gt;</a:t>
            </a:r>
            <a:r>
              <a:rPr lang="en-US" sz="1400" b="1" dirty="0">
                <a:solidFill>
                  <a:srgbClr val="FF0000"/>
                </a:solidFill>
              </a:rPr>
              <a:t> (</a:t>
            </a:r>
            <a:r>
              <a:rPr lang="en-US" sz="1400" b="1" i="1" dirty="0">
                <a:solidFill>
                  <a:srgbClr val="FF0000"/>
                </a:solidFill>
              </a:rPr>
              <a:t>D = 2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n-US" sz="1400" b="1" i="1" dirty="0">
                <a:solidFill>
                  <a:srgbClr val="FF0000"/>
                </a:solidFill>
              </a:rPr>
              <a:t>A</a:t>
            </a:r>
            <a:r>
              <a:rPr lang="en-US" sz="1400" b="1" i="1" baseline="-25000" dirty="0">
                <a:solidFill>
                  <a:srgbClr val="FF0000"/>
                </a:solidFill>
              </a:rPr>
              <a:t>4</a:t>
            </a:r>
            <a:r>
              <a:rPr lang="en-US" sz="1400" b="1" i="1" dirty="0">
                <a:solidFill>
                  <a:srgbClr val="FF0000"/>
                </a:solidFill>
              </a:rPr>
              <a:t> = L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  <a:r>
              <a:rPr lang="en-US" sz="1400" b="1" i="1" dirty="0">
                <a:solidFill>
                  <a:srgbClr val="FF0000"/>
                </a:solidFill>
              </a:rPr>
              <a:t> =&gt;</a:t>
            </a:r>
            <a:r>
              <a:rPr lang="en-US" sz="1400" b="1" dirty="0">
                <a:solidFill>
                  <a:srgbClr val="FF0000"/>
                </a:solidFill>
              </a:rPr>
              <a:t> (</a:t>
            </a:r>
            <a:r>
              <a:rPr lang="en-US" sz="1400" b="1" i="1" dirty="0">
                <a:solidFill>
                  <a:srgbClr val="FF0000"/>
                </a:solidFill>
              </a:rPr>
              <a:t>D = 3</a:t>
            </a:r>
            <a:r>
              <a:rPr lang="en-US" sz="1400" b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400" b="1" dirty="0" smtClean="0">
                <a:solidFill>
                  <a:srgbClr val="FF0000"/>
                </a:solidFill>
              </a:rPr>
              <a:t>(</a:t>
            </a:r>
            <a:r>
              <a:rPr lang="en-US" sz="1400" b="1" i="1" dirty="0">
                <a:solidFill>
                  <a:srgbClr val="FF0000"/>
                </a:solidFill>
              </a:rPr>
              <a:t>A</a:t>
            </a:r>
            <a:r>
              <a:rPr lang="en-US" sz="1400" b="1" i="1" baseline="-25000" dirty="0">
                <a:solidFill>
                  <a:srgbClr val="FF0000"/>
                </a:solidFill>
              </a:rPr>
              <a:t>2</a:t>
            </a:r>
            <a:r>
              <a:rPr lang="en-US" sz="1400" b="1" i="1" dirty="0">
                <a:solidFill>
                  <a:srgbClr val="FF0000"/>
                </a:solidFill>
              </a:rPr>
              <a:t> = N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  <a:r>
              <a:rPr lang="en-US" sz="1400" b="1" i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>
                <a:solidFill>
                  <a:srgbClr val="FF0000"/>
                </a:solidFill>
              </a:rPr>
              <a:t>=&gt; (</a:t>
            </a:r>
            <a:r>
              <a:rPr lang="en-US" sz="1400" b="1" i="1" dirty="0">
                <a:solidFill>
                  <a:srgbClr val="FF0000"/>
                </a:solidFill>
              </a:rPr>
              <a:t>D=3</a:t>
            </a:r>
            <a:r>
              <a:rPr lang="en-US" sz="1400" b="1" dirty="0" smtClean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3733800"/>
            <a:ext cx="5410200" cy="1854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1600" y="3645024"/>
            <a:ext cx="20882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Original </a:t>
            </a:r>
            <a:r>
              <a:rPr lang="en-US" sz="1800" dirty="0" smtClean="0"/>
              <a:t>Dataset  =&gt;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911445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2266</Words>
  <Application>Microsoft Office PowerPoint</Application>
  <PresentationFormat>On-screen Show (4:3)</PresentationFormat>
  <Paragraphs>256</Paragraphs>
  <Slides>29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Office Theme</vt:lpstr>
      <vt:lpstr>Worksheet</vt:lpstr>
      <vt:lpstr>Classification Model</vt:lpstr>
      <vt:lpstr>Classification Model</vt:lpstr>
      <vt:lpstr>Prediction Problems: Classification vs. Numeric Prediction</vt:lpstr>
      <vt:lpstr>Slide 4</vt:lpstr>
      <vt:lpstr>Classification—A Two-Step Process </vt:lpstr>
      <vt:lpstr>Process (1): Model Construction</vt:lpstr>
      <vt:lpstr>Process (2): Using the Model in Prediction </vt:lpstr>
      <vt:lpstr>Application of Classifier in a Data Set</vt:lpstr>
      <vt:lpstr>Rule based Classifier – Rule Extraction</vt:lpstr>
      <vt:lpstr>Rule Extraction</vt:lpstr>
      <vt:lpstr>Rule Extraction</vt:lpstr>
      <vt:lpstr>Decision Matrix </vt:lpstr>
      <vt:lpstr>Decision Matrix </vt:lpstr>
      <vt:lpstr>Decision Matrix </vt:lpstr>
      <vt:lpstr>Decision Matrix </vt:lpstr>
      <vt:lpstr>Decision Matrix </vt:lpstr>
      <vt:lpstr>Decision Matrix </vt:lpstr>
      <vt:lpstr>Decision Matrix </vt:lpstr>
      <vt:lpstr>Decision Rules</vt:lpstr>
      <vt:lpstr>Data reduction by another feature selection algorithm and Rule based classifier construction</vt:lpstr>
      <vt:lpstr>Decision Matrix </vt:lpstr>
      <vt:lpstr>Decision Matrix </vt:lpstr>
      <vt:lpstr>Decision Matrix </vt:lpstr>
      <vt:lpstr>Decision Matrix </vt:lpstr>
      <vt:lpstr>Decision Matrix </vt:lpstr>
      <vt:lpstr>Decision Matrix </vt:lpstr>
      <vt:lpstr>Decision Rules</vt:lpstr>
      <vt:lpstr>Decision Rules</vt:lpstr>
      <vt:lpstr>Decision Rules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Model</dc:title>
  <dc:creator>hp</dc:creator>
  <cp:lastModifiedBy>hp</cp:lastModifiedBy>
  <cp:revision>2</cp:revision>
  <dcterms:created xsi:type="dcterms:W3CDTF">2024-03-04T08:16:29Z</dcterms:created>
  <dcterms:modified xsi:type="dcterms:W3CDTF">2024-03-04T08:29:17Z</dcterms:modified>
</cp:coreProperties>
</file>