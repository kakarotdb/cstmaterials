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9.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emf" ContentType="image/x-emf"/>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Lst>
  <p:notesMasterIdLst>
    <p:notesMasterId r:id="rId57"/>
  </p:notesMasterIdLst>
  <p:handoutMasterIdLst>
    <p:handoutMasterId r:id="rId58"/>
  </p:handoutMasterIdLst>
  <p:sldIdLst>
    <p:sldId id="1608" r:id="rId2"/>
    <p:sldId id="1423" r:id="rId3"/>
    <p:sldId id="1615" r:id="rId4"/>
    <p:sldId id="1616" r:id="rId5"/>
    <p:sldId id="1622" r:id="rId6"/>
    <p:sldId id="1617" r:id="rId7"/>
    <p:sldId id="1619" r:id="rId8"/>
    <p:sldId id="1620" r:id="rId9"/>
    <p:sldId id="1621" r:id="rId10"/>
    <p:sldId id="1586" r:id="rId11"/>
    <p:sldId id="1628" r:id="rId12"/>
    <p:sldId id="1629" r:id="rId13"/>
    <p:sldId id="1631" r:id="rId14"/>
    <p:sldId id="1635" r:id="rId15"/>
    <p:sldId id="1630" r:id="rId16"/>
    <p:sldId id="1633" r:id="rId17"/>
    <p:sldId id="1634" r:id="rId18"/>
    <p:sldId id="1627" r:id="rId19"/>
    <p:sldId id="1632" r:id="rId20"/>
    <p:sldId id="1561" r:id="rId21"/>
    <p:sldId id="1538" r:id="rId22"/>
    <p:sldId id="1539" r:id="rId23"/>
    <p:sldId id="1540" r:id="rId24"/>
    <p:sldId id="1558" r:id="rId25"/>
    <p:sldId id="1559" r:id="rId26"/>
    <p:sldId id="1560" r:id="rId27"/>
    <p:sldId id="1587" r:id="rId28"/>
    <p:sldId id="1555" r:id="rId29"/>
    <p:sldId id="1554" r:id="rId30"/>
    <p:sldId id="1562" r:id="rId31"/>
    <p:sldId id="1566" r:id="rId32"/>
    <p:sldId id="1567" r:id="rId33"/>
    <p:sldId id="1568" r:id="rId34"/>
    <p:sldId id="1569" r:id="rId35"/>
    <p:sldId id="1570" r:id="rId36"/>
    <p:sldId id="1571" r:id="rId37"/>
    <p:sldId id="1572" r:id="rId38"/>
    <p:sldId id="1604" r:id="rId39"/>
    <p:sldId id="1573" r:id="rId40"/>
    <p:sldId id="1605" r:id="rId41"/>
    <p:sldId id="1575" r:id="rId42"/>
    <p:sldId id="1576" r:id="rId43"/>
    <p:sldId id="1577" r:id="rId44"/>
    <p:sldId id="1609" r:id="rId45"/>
    <p:sldId id="1610" r:id="rId46"/>
    <p:sldId id="1611" r:id="rId47"/>
    <p:sldId id="1612" r:id="rId48"/>
    <p:sldId id="1613" r:id="rId49"/>
    <p:sldId id="1578" r:id="rId50"/>
    <p:sldId id="1606" r:id="rId51"/>
    <p:sldId id="1579" r:id="rId52"/>
    <p:sldId id="1580" r:id="rId53"/>
    <p:sldId id="1581" r:id="rId54"/>
    <p:sldId id="1607" r:id="rId55"/>
    <p:sldId id="1537" r:id="rId56"/>
  </p:sldIdLst>
  <p:sldSz cx="9144000" cy="6858000" type="screen4x3"/>
  <p:notesSz cx="7010400" cy="9236075"/>
  <p:defaultTextStyle>
    <a:defPPr>
      <a:defRPr lang="en-US"/>
    </a:defPPr>
    <a:lvl1pPr algn="l" rtl="0" fontAlgn="base">
      <a:spcBef>
        <a:spcPct val="0"/>
      </a:spcBef>
      <a:spcAft>
        <a:spcPct val="0"/>
      </a:spcAft>
      <a:defRPr kern="1200">
        <a:solidFill>
          <a:schemeClr val="tx1"/>
        </a:solidFill>
        <a:latin typeface="Tahoma" pitchFamily="34" charset="0"/>
        <a:ea typeface="MS PGothic" pitchFamily="34" charset="-128"/>
        <a:cs typeface="+mn-cs"/>
      </a:defRPr>
    </a:lvl1pPr>
    <a:lvl2pPr marL="457200" algn="l" rtl="0" fontAlgn="base">
      <a:spcBef>
        <a:spcPct val="0"/>
      </a:spcBef>
      <a:spcAft>
        <a:spcPct val="0"/>
      </a:spcAft>
      <a:defRPr kern="1200">
        <a:solidFill>
          <a:schemeClr val="tx1"/>
        </a:solidFill>
        <a:latin typeface="Tahoma" pitchFamily="34" charset="0"/>
        <a:ea typeface="MS PGothic" pitchFamily="34" charset="-128"/>
        <a:cs typeface="+mn-cs"/>
      </a:defRPr>
    </a:lvl2pPr>
    <a:lvl3pPr marL="914400" algn="l" rtl="0" fontAlgn="base">
      <a:spcBef>
        <a:spcPct val="0"/>
      </a:spcBef>
      <a:spcAft>
        <a:spcPct val="0"/>
      </a:spcAft>
      <a:defRPr kern="1200">
        <a:solidFill>
          <a:schemeClr val="tx1"/>
        </a:solidFill>
        <a:latin typeface="Tahoma" pitchFamily="34" charset="0"/>
        <a:ea typeface="MS PGothic" pitchFamily="34" charset="-128"/>
        <a:cs typeface="+mn-cs"/>
      </a:defRPr>
    </a:lvl3pPr>
    <a:lvl4pPr marL="1371600" algn="l" rtl="0" fontAlgn="base">
      <a:spcBef>
        <a:spcPct val="0"/>
      </a:spcBef>
      <a:spcAft>
        <a:spcPct val="0"/>
      </a:spcAft>
      <a:defRPr kern="1200">
        <a:solidFill>
          <a:schemeClr val="tx1"/>
        </a:solidFill>
        <a:latin typeface="Tahoma" pitchFamily="34" charset="0"/>
        <a:ea typeface="MS PGothic" pitchFamily="34" charset="-128"/>
        <a:cs typeface="+mn-cs"/>
      </a:defRPr>
    </a:lvl4pPr>
    <a:lvl5pPr marL="1828800" algn="l" rtl="0" fontAlgn="base">
      <a:spcBef>
        <a:spcPct val="0"/>
      </a:spcBef>
      <a:spcAft>
        <a:spcPct val="0"/>
      </a:spcAft>
      <a:defRPr kern="1200">
        <a:solidFill>
          <a:schemeClr val="tx1"/>
        </a:solidFill>
        <a:latin typeface="Tahoma" pitchFamily="34" charset="0"/>
        <a:ea typeface="MS PGothic" pitchFamily="34" charset="-128"/>
        <a:cs typeface="+mn-cs"/>
      </a:defRPr>
    </a:lvl5pPr>
    <a:lvl6pPr marL="2286000" algn="l" defTabSz="914400" rtl="0" eaLnBrk="1" latinLnBrk="0" hangingPunct="1">
      <a:defRPr kern="1200">
        <a:solidFill>
          <a:schemeClr val="tx1"/>
        </a:solidFill>
        <a:latin typeface="Tahoma" pitchFamily="34" charset="0"/>
        <a:ea typeface="MS PGothic" pitchFamily="34" charset="-128"/>
        <a:cs typeface="+mn-cs"/>
      </a:defRPr>
    </a:lvl6pPr>
    <a:lvl7pPr marL="2743200" algn="l" defTabSz="914400" rtl="0" eaLnBrk="1" latinLnBrk="0" hangingPunct="1">
      <a:defRPr kern="1200">
        <a:solidFill>
          <a:schemeClr val="tx1"/>
        </a:solidFill>
        <a:latin typeface="Tahoma" pitchFamily="34" charset="0"/>
        <a:ea typeface="MS PGothic" pitchFamily="34" charset="-128"/>
        <a:cs typeface="+mn-cs"/>
      </a:defRPr>
    </a:lvl7pPr>
    <a:lvl8pPr marL="3200400" algn="l" defTabSz="914400" rtl="0" eaLnBrk="1" latinLnBrk="0" hangingPunct="1">
      <a:defRPr kern="1200">
        <a:solidFill>
          <a:schemeClr val="tx1"/>
        </a:solidFill>
        <a:latin typeface="Tahoma" pitchFamily="34" charset="0"/>
        <a:ea typeface="MS PGothic" pitchFamily="34" charset="-128"/>
        <a:cs typeface="+mn-cs"/>
      </a:defRPr>
    </a:lvl8pPr>
    <a:lvl9pPr marL="3657600" algn="l" defTabSz="914400" rtl="0" eaLnBrk="1" latinLnBrk="0" hangingPunct="1">
      <a:defRPr kern="1200">
        <a:solidFill>
          <a:schemeClr val="tx1"/>
        </a:solidFill>
        <a:latin typeface="Tahoma" pitchFamily="34" charset="0"/>
        <a:ea typeface="MS PGothic" pitchFamily="34"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E6EA"/>
    <a:srgbClr val="FAE2F6"/>
    <a:srgbClr val="170981"/>
    <a:srgbClr val="121328"/>
    <a:srgbClr val="8FF9EF"/>
    <a:srgbClr val="993300"/>
    <a:srgbClr val="00CE98"/>
    <a:srgbClr val="FFFF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p:scale>
          <a:sx n="74" d="100"/>
          <a:sy n="74" d="100"/>
        </p:scale>
        <p:origin x="-2694" y="-8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3020"/>
    </p:cViewPr>
  </p:sorterViewPr>
  <p:notesViewPr>
    <p:cSldViewPr>
      <p:cViewPr varScale="1">
        <p:scale>
          <a:sx n="38" d="100"/>
          <a:sy n="38" d="100"/>
        </p:scale>
        <p:origin x="-1530" y="-72"/>
      </p:cViewPr>
      <p:guideLst>
        <p:guide orient="horz" pos="2910"/>
        <p:guide pos="2209"/>
      </p:guideLst>
    </p:cSldViewPr>
  </p:notes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3906" name="Rectangle 2"/>
          <p:cNvSpPr>
            <a:spLocks noGrp="1" noChangeArrowheads="1"/>
          </p:cNvSpPr>
          <p:nvPr>
            <p:ph type="hdr" sz="quarter"/>
          </p:nvPr>
        </p:nvSpPr>
        <p:spPr bwMode="auto">
          <a:xfrm>
            <a:off x="0" y="0"/>
            <a:ext cx="3038475" cy="461963"/>
          </a:xfrm>
          <a:prstGeom prst="rect">
            <a:avLst/>
          </a:prstGeom>
          <a:noFill/>
          <a:ln w="9525">
            <a:noFill/>
            <a:miter lim="800000"/>
            <a:headEnd/>
            <a:tailEnd/>
          </a:ln>
          <a:effectLst/>
        </p:spPr>
        <p:txBody>
          <a:bodyPr vert="horz" wrap="square" lIns="93170" tIns="46586" rIns="93170" bIns="46586" numCol="1" anchor="t" anchorCtr="0" compatLnSpc="1">
            <a:prstTxWarp prst="textNoShape">
              <a:avLst/>
            </a:prstTxWarp>
          </a:bodyPr>
          <a:lstStyle>
            <a:lvl1pPr defTabSz="931863" eaLnBrk="0" hangingPunct="0">
              <a:defRPr sz="1200">
                <a:latin typeface="Times New Roman" pitchFamily="18" charset="0"/>
                <a:ea typeface="+mn-ea"/>
                <a:cs typeface="+mn-cs"/>
              </a:defRPr>
            </a:lvl1pPr>
          </a:lstStyle>
          <a:p>
            <a:pPr>
              <a:defRPr/>
            </a:pPr>
            <a:endParaRPr lang="en-US"/>
          </a:p>
        </p:txBody>
      </p:sp>
      <p:sp>
        <p:nvSpPr>
          <p:cNvPr id="123907" name="Rectangle 3"/>
          <p:cNvSpPr>
            <a:spLocks noGrp="1" noChangeArrowheads="1"/>
          </p:cNvSpPr>
          <p:nvPr>
            <p:ph type="dt" sz="quarter" idx="1"/>
          </p:nvPr>
        </p:nvSpPr>
        <p:spPr bwMode="auto">
          <a:xfrm>
            <a:off x="3971925" y="0"/>
            <a:ext cx="3038475" cy="461963"/>
          </a:xfrm>
          <a:prstGeom prst="rect">
            <a:avLst/>
          </a:prstGeom>
          <a:noFill/>
          <a:ln w="9525">
            <a:noFill/>
            <a:miter lim="800000"/>
            <a:headEnd/>
            <a:tailEnd/>
          </a:ln>
          <a:effectLst/>
        </p:spPr>
        <p:txBody>
          <a:bodyPr vert="horz" wrap="square" lIns="93170" tIns="46586" rIns="93170" bIns="46586" numCol="1" anchor="t" anchorCtr="0" compatLnSpc="1">
            <a:prstTxWarp prst="textNoShape">
              <a:avLst/>
            </a:prstTxWarp>
          </a:bodyPr>
          <a:lstStyle>
            <a:lvl1pPr algn="r" defTabSz="931863" eaLnBrk="0" hangingPunct="0">
              <a:defRPr sz="1200">
                <a:latin typeface="Times New Roman" pitchFamily="18" charset="0"/>
                <a:ea typeface="+mn-ea"/>
                <a:cs typeface="+mn-cs"/>
              </a:defRPr>
            </a:lvl1pPr>
          </a:lstStyle>
          <a:p>
            <a:pPr>
              <a:defRPr/>
            </a:pPr>
            <a:endParaRPr lang="en-US"/>
          </a:p>
        </p:txBody>
      </p:sp>
      <p:sp>
        <p:nvSpPr>
          <p:cNvPr id="123908" name="Rectangle 4"/>
          <p:cNvSpPr>
            <a:spLocks noGrp="1" noChangeArrowheads="1"/>
          </p:cNvSpPr>
          <p:nvPr>
            <p:ph type="ftr" sz="quarter" idx="2"/>
          </p:nvPr>
        </p:nvSpPr>
        <p:spPr bwMode="auto">
          <a:xfrm>
            <a:off x="0" y="8774113"/>
            <a:ext cx="3038475" cy="461962"/>
          </a:xfrm>
          <a:prstGeom prst="rect">
            <a:avLst/>
          </a:prstGeom>
          <a:noFill/>
          <a:ln w="9525">
            <a:noFill/>
            <a:miter lim="800000"/>
            <a:headEnd/>
            <a:tailEnd/>
          </a:ln>
          <a:effectLst/>
        </p:spPr>
        <p:txBody>
          <a:bodyPr vert="horz" wrap="square" lIns="93170" tIns="46586" rIns="93170" bIns="46586" numCol="1" anchor="b" anchorCtr="0" compatLnSpc="1">
            <a:prstTxWarp prst="textNoShape">
              <a:avLst/>
            </a:prstTxWarp>
          </a:bodyPr>
          <a:lstStyle>
            <a:lvl1pPr defTabSz="931863" eaLnBrk="0" hangingPunct="0">
              <a:defRPr sz="1200">
                <a:latin typeface="Times New Roman" pitchFamily="18" charset="0"/>
                <a:ea typeface="+mn-ea"/>
                <a:cs typeface="+mn-cs"/>
              </a:defRPr>
            </a:lvl1pPr>
          </a:lstStyle>
          <a:p>
            <a:pPr>
              <a:defRPr/>
            </a:pPr>
            <a:endParaRPr lang="en-US"/>
          </a:p>
        </p:txBody>
      </p:sp>
      <p:sp>
        <p:nvSpPr>
          <p:cNvPr id="123909" name="Rectangle 5"/>
          <p:cNvSpPr>
            <a:spLocks noGrp="1" noChangeArrowheads="1"/>
          </p:cNvSpPr>
          <p:nvPr>
            <p:ph type="sldNum" sz="quarter" idx="3"/>
          </p:nvPr>
        </p:nvSpPr>
        <p:spPr bwMode="auto">
          <a:xfrm>
            <a:off x="3971925" y="8774113"/>
            <a:ext cx="3038475" cy="461962"/>
          </a:xfrm>
          <a:prstGeom prst="rect">
            <a:avLst/>
          </a:prstGeom>
          <a:noFill/>
          <a:ln w="9525">
            <a:noFill/>
            <a:miter lim="800000"/>
            <a:headEnd/>
            <a:tailEnd/>
          </a:ln>
          <a:effectLst/>
        </p:spPr>
        <p:txBody>
          <a:bodyPr vert="horz" wrap="square" lIns="93170" tIns="46586" rIns="93170" bIns="46586" numCol="1" anchor="b" anchorCtr="0" compatLnSpc="1">
            <a:prstTxWarp prst="textNoShape">
              <a:avLst/>
            </a:prstTxWarp>
          </a:bodyPr>
          <a:lstStyle>
            <a:lvl1pPr algn="r" defTabSz="931863" eaLnBrk="0" hangingPunct="0">
              <a:defRPr sz="1200">
                <a:latin typeface="Times New Roman" pitchFamily="18" charset="0"/>
              </a:defRPr>
            </a:lvl1pPr>
          </a:lstStyle>
          <a:p>
            <a:fld id="{3847CF1F-FF41-4F6D-AEDD-407CA2B1BD6E}" type="slidenum">
              <a:rPr lang="en-US"/>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3038475" cy="461963"/>
          </a:xfrm>
          <a:prstGeom prst="rect">
            <a:avLst/>
          </a:prstGeom>
          <a:noFill/>
          <a:ln w="9525">
            <a:noFill/>
            <a:miter lim="800000"/>
            <a:headEnd/>
            <a:tailEnd/>
          </a:ln>
          <a:effectLst/>
        </p:spPr>
        <p:txBody>
          <a:bodyPr vert="horz" wrap="square" lIns="93170" tIns="46586" rIns="93170" bIns="46586" numCol="1" anchor="t" anchorCtr="0" compatLnSpc="1">
            <a:prstTxWarp prst="textNoShape">
              <a:avLst/>
            </a:prstTxWarp>
          </a:bodyPr>
          <a:lstStyle>
            <a:lvl1pPr defTabSz="931863" eaLnBrk="0" hangingPunct="0">
              <a:defRPr sz="1200">
                <a:latin typeface="Times New Roman" pitchFamily="18" charset="0"/>
                <a:ea typeface="+mn-ea"/>
                <a:cs typeface="+mn-cs"/>
              </a:defRPr>
            </a:lvl1pPr>
          </a:lstStyle>
          <a:p>
            <a:pPr>
              <a:defRPr/>
            </a:pPr>
            <a:endParaRPr lang="en-US"/>
          </a:p>
        </p:txBody>
      </p:sp>
      <p:sp>
        <p:nvSpPr>
          <p:cNvPr id="13315" name="Rectangle 3"/>
          <p:cNvSpPr>
            <a:spLocks noGrp="1" noChangeArrowheads="1"/>
          </p:cNvSpPr>
          <p:nvPr>
            <p:ph type="dt" idx="1"/>
          </p:nvPr>
        </p:nvSpPr>
        <p:spPr bwMode="auto">
          <a:xfrm>
            <a:off x="3971925" y="0"/>
            <a:ext cx="3038475" cy="461963"/>
          </a:xfrm>
          <a:prstGeom prst="rect">
            <a:avLst/>
          </a:prstGeom>
          <a:noFill/>
          <a:ln w="9525">
            <a:noFill/>
            <a:miter lim="800000"/>
            <a:headEnd/>
            <a:tailEnd/>
          </a:ln>
          <a:effectLst/>
        </p:spPr>
        <p:txBody>
          <a:bodyPr vert="horz" wrap="square" lIns="93170" tIns="46586" rIns="93170" bIns="46586" numCol="1" anchor="t" anchorCtr="0" compatLnSpc="1">
            <a:prstTxWarp prst="textNoShape">
              <a:avLst/>
            </a:prstTxWarp>
          </a:bodyPr>
          <a:lstStyle>
            <a:lvl1pPr algn="r" defTabSz="931863" eaLnBrk="0" hangingPunct="0">
              <a:defRPr sz="1200">
                <a:latin typeface="Times New Roman" pitchFamily="18" charset="0"/>
                <a:ea typeface="+mn-ea"/>
                <a:cs typeface="+mn-cs"/>
              </a:defRPr>
            </a:lvl1pPr>
          </a:lstStyle>
          <a:p>
            <a:pPr>
              <a:defRPr/>
            </a:pPr>
            <a:endParaRPr lang="en-US"/>
          </a:p>
        </p:txBody>
      </p:sp>
      <p:sp>
        <p:nvSpPr>
          <p:cNvPr id="21508" name="Rectangle 4"/>
          <p:cNvSpPr>
            <a:spLocks noGrp="1" noRot="1" noChangeAspect="1" noChangeArrowheads="1" noTextEdit="1"/>
          </p:cNvSpPr>
          <p:nvPr>
            <p:ph type="sldImg" idx="2"/>
          </p:nvPr>
        </p:nvSpPr>
        <p:spPr bwMode="auto">
          <a:xfrm>
            <a:off x="1195388" y="692150"/>
            <a:ext cx="4619625" cy="3463925"/>
          </a:xfrm>
          <a:prstGeom prst="rect">
            <a:avLst/>
          </a:prstGeom>
          <a:noFill/>
          <a:ln w="9525">
            <a:solidFill>
              <a:srgbClr val="000000"/>
            </a:solidFill>
            <a:miter lim="800000"/>
            <a:headEnd/>
            <a:tailEnd/>
          </a:ln>
        </p:spPr>
      </p:sp>
      <p:sp>
        <p:nvSpPr>
          <p:cNvPr id="13317" name="Rectangle 5"/>
          <p:cNvSpPr>
            <a:spLocks noGrp="1" noChangeArrowheads="1"/>
          </p:cNvSpPr>
          <p:nvPr>
            <p:ph type="body" sz="quarter" idx="3"/>
          </p:nvPr>
        </p:nvSpPr>
        <p:spPr bwMode="auto">
          <a:xfrm>
            <a:off x="935038" y="4387850"/>
            <a:ext cx="5140325" cy="4156075"/>
          </a:xfrm>
          <a:prstGeom prst="rect">
            <a:avLst/>
          </a:prstGeom>
          <a:noFill/>
          <a:ln w="9525">
            <a:noFill/>
            <a:miter lim="800000"/>
            <a:headEnd/>
            <a:tailEnd/>
          </a:ln>
          <a:effectLst/>
        </p:spPr>
        <p:txBody>
          <a:bodyPr vert="horz" wrap="square" lIns="93170" tIns="46586" rIns="93170" bIns="46586"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3318" name="Rectangle 6"/>
          <p:cNvSpPr>
            <a:spLocks noGrp="1" noChangeArrowheads="1"/>
          </p:cNvSpPr>
          <p:nvPr>
            <p:ph type="ftr" sz="quarter" idx="4"/>
          </p:nvPr>
        </p:nvSpPr>
        <p:spPr bwMode="auto">
          <a:xfrm>
            <a:off x="0" y="8774113"/>
            <a:ext cx="3038475" cy="461962"/>
          </a:xfrm>
          <a:prstGeom prst="rect">
            <a:avLst/>
          </a:prstGeom>
          <a:noFill/>
          <a:ln w="9525">
            <a:noFill/>
            <a:miter lim="800000"/>
            <a:headEnd/>
            <a:tailEnd/>
          </a:ln>
          <a:effectLst/>
        </p:spPr>
        <p:txBody>
          <a:bodyPr vert="horz" wrap="square" lIns="93170" tIns="46586" rIns="93170" bIns="46586" numCol="1" anchor="b" anchorCtr="0" compatLnSpc="1">
            <a:prstTxWarp prst="textNoShape">
              <a:avLst/>
            </a:prstTxWarp>
          </a:bodyPr>
          <a:lstStyle>
            <a:lvl1pPr defTabSz="931863" eaLnBrk="0" hangingPunct="0">
              <a:defRPr sz="1200">
                <a:latin typeface="Times New Roman" pitchFamily="18" charset="0"/>
                <a:ea typeface="+mn-ea"/>
                <a:cs typeface="+mn-cs"/>
              </a:defRPr>
            </a:lvl1pPr>
          </a:lstStyle>
          <a:p>
            <a:pPr>
              <a:defRPr/>
            </a:pPr>
            <a:endParaRPr lang="en-US"/>
          </a:p>
        </p:txBody>
      </p:sp>
      <p:sp>
        <p:nvSpPr>
          <p:cNvPr id="13319" name="Rectangle 7"/>
          <p:cNvSpPr>
            <a:spLocks noGrp="1" noChangeArrowheads="1"/>
          </p:cNvSpPr>
          <p:nvPr>
            <p:ph type="sldNum" sz="quarter" idx="5"/>
          </p:nvPr>
        </p:nvSpPr>
        <p:spPr bwMode="auto">
          <a:xfrm>
            <a:off x="3971925" y="8774113"/>
            <a:ext cx="3038475" cy="461962"/>
          </a:xfrm>
          <a:prstGeom prst="rect">
            <a:avLst/>
          </a:prstGeom>
          <a:noFill/>
          <a:ln w="9525">
            <a:noFill/>
            <a:miter lim="800000"/>
            <a:headEnd/>
            <a:tailEnd/>
          </a:ln>
          <a:effectLst/>
        </p:spPr>
        <p:txBody>
          <a:bodyPr vert="horz" wrap="square" lIns="93170" tIns="46586" rIns="93170" bIns="46586" numCol="1" anchor="b" anchorCtr="0" compatLnSpc="1">
            <a:prstTxWarp prst="textNoShape">
              <a:avLst/>
            </a:prstTxWarp>
          </a:bodyPr>
          <a:lstStyle>
            <a:lvl1pPr algn="r" defTabSz="931863" eaLnBrk="0" hangingPunct="0">
              <a:defRPr sz="1200">
                <a:latin typeface="Times New Roman" pitchFamily="18" charset="0"/>
              </a:defRPr>
            </a:lvl1pPr>
          </a:lstStyle>
          <a:p>
            <a:fld id="{C455488A-9DA3-40C9-B483-B7F1DD678F69}" type="slidenum">
              <a:rPr lang="en-US"/>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p:cNvSpPr txBox="1">
            <a:spLocks noGrp="1" noChangeArrowheads="1"/>
          </p:cNvSpPr>
          <p:nvPr/>
        </p:nvSpPr>
        <p:spPr bwMode="auto">
          <a:xfrm>
            <a:off x="3971926" y="8774113"/>
            <a:ext cx="3038475" cy="461962"/>
          </a:xfrm>
          <a:prstGeom prst="rect">
            <a:avLst/>
          </a:prstGeom>
          <a:noFill/>
          <a:ln w="9525">
            <a:noFill/>
            <a:miter lim="800000"/>
            <a:headEnd/>
            <a:tailEnd/>
          </a:ln>
        </p:spPr>
        <p:txBody>
          <a:bodyPr lIns="93158" tIns="46580" rIns="93158" bIns="46580" anchor="b"/>
          <a:lstStyle/>
          <a:p>
            <a:pPr algn="r" defTabSz="931742" eaLnBrk="0" hangingPunct="0"/>
            <a:fld id="{02F1AB1C-5595-4A38-8DCC-0643FC80AAF6}" type="slidenum">
              <a:rPr lang="en-US" sz="1200">
                <a:latin typeface="Times New Roman" pitchFamily="18" charset="0"/>
              </a:rPr>
              <a:pPr algn="r" defTabSz="931742" eaLnBrk="0" hangingPunct="0"/>
              <a:t>1</a:t>
            </a:fld>
            <a:endParaRPr lang="en-US" sz="1200" dirty="0">
              <a:latin typeface="Times New Roman" pitchFamily="18" charset="0"/>
            </a:endParaRPr>
          </a:p>
        </p:txBody>
      </p:sp>
      <p:sp>
        <p:nvSpPr>
          <p:cNvPr id="23554" name="Rectangle 2"/>
          <p:cNvSpPr>
            <a:spLocks noGrp="1" noRot="1" noChangeAspect="1" noChangeArrowheads="1" noTextEdit="1"/>
          </p:cNvSpPr>
          <p:nvPr>
            <p:ph type="sldImg"/>
          </p:nvPr>
        </p:nvSpPr>
        <p:spPr>
          <a:ln/>
        </p:spPr>
      </p:sp>
      <p:sp>
        <p:nvSpPr>
          <p:cNvPr id="23555"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2"/>
          <p:cNvSpPr>
            <a:spLocks noGrp="1" noRot="1" noChangeAspect="1" noChangeArrowheads="1" noTextEdit="1"/>
          </p:cNvSpPr>
          <p:nvPr>
            <p:ph type="sldImg"/>
          </p:nvPr>
        </p:nvSpPr>
        <p:spPr>
          <a:ln/>
        </p:spPr>
      </p:sp>
      <p:sp>
        <p:nvSpPr>
          <p:cNvPr id="119810"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3426" name="Rectangle 1"/>
          <p:cNvSpPr>
            <a:spLocks noGrp="1" noRot="1" noChangeAspect="1" noChangeArrowheads="1" noTextEdit="1"/>
          </p:cNvSpPr>
          <p:nvPr>
            <p:ph type="sldImg"/>
          </p:nvPr>
        </p:nvSpPr>
        <p:spPr>
          <a:ln/>
        </p:spPr>
      </p:sp>
      <p:sp>
        <p:nvSpPr>
          <p:cNvPr id="103427" name="Text Box 2"/>
          <p:cNvSpPr txBox="1">
            <a:spLocks noGrp="1" noChangeArrowheads="1"/>
          </p:cNvSpPr>
          <p:nvPr>
            <p:ph type="body" idx="1"/>
          </p:nvPr>
        </p:nvSpPr>
        <p:spPr>
          <a:noFill/>
          <a:ln/>
        </p:spPr>
        <p:txBody>
          <a:bodyPr wrap="none" anchor="ctr"/>
          <a:lstStyle/>
          <a:p>
            <a:endParaRPr lang="en-US" smtClean="0">
              <a:latin typeface="Times New Roman"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7"/>
          <p:cNvSpPr>
            <a:spLocks noGrp="1" noChangeArrowheads="1"/>
          </p:cNvSpPr>
          <p:nvPr>
            <p:ph type="sldNum" sz="quarter" idx="5"/>
          </p:nvPr>
        </p:nvSpPr>
        <p:spPr>
          <a:noFill/>
        </p:spPr>
        <p:txBody>
          <a:bodyPr/>
          <a:lstStyle/>
          <a:p>
            <a:fld id="{F0B186F3-1E6A-43DE-BB15-A9D174FD928A}" type="slidenum">
              <a:rPr lang="en-US"/>
              <a:pPr/>
              <a:t>11</a:t>
            </a:fld>
            <a:endParaRPr lang="en-US"/>
          </a:p>
        </p:txBody>
      </p:sp>
      <p:sp>
        <p:nvSpPr>
          <p:cNvPr id="132098" name="Rectangle 2"/>
          <p:cNvSpPr>
            <a:spLocks noGrp="1" noRot="1" noChangeAspect="1" noChangeArrowheads="1" noTextEdit="1"/>
          </p:cNvSpPr>
          <p:nvPr>
            <p:ph type="sldImg"/>
          </p:nvPr>
        </p:nvSpPr>
        <p:spPr>
          <a:xfrm>
            <a:off x="1206500" y="698500"/>
            <a:ext cx="4602163" cy="3451225"/>
          </a:xfrm>
          <a:ln w="12700" cap="flat">
            <a:solidFill>
              <a:schemeClr val="tx1"/>
            </a:solidFill>
          </a:ln>
        </p:spPr>
      </p:sp>
      <p:sp>
        <p:nvSpPr>
          <p:cNvPr id="132099" name="Rectangle 3"/>
          <p:cNvSpPr>
            <a:spLocks noGrp="1" noChangeArrowheads="1"/>
          </p:cNvSpPr>
          <p:nvPr>
            <p:ph type="body" idx="1"/>
          </p:nvPr>
        </p:nvSpPr>
        <p:spPr>
          <a:xfrm>
            <a:off x="935038" y="4387850"/>
            <a:ext cx="5140325" cy="4157663"/>
          </a:xfrm>
          <a:noFill/>
          <a:ln/>
        </p:spPr>
        <p:txBody>
          <a:bodyPr lIns="87348" tIns="43673" rIns="87348" bIns="43673"/>
          <a:lstStyle/>
          <a:p>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p:cNvSpPr>
            <a:spLocks noGrp="1" noRot="1" noChangeAspect="1" noTextEdit="1"/>
          </p:cNvSpPr>
          <p:nvPr>
            <p:ph type="sldImg"/>
          </p:nvPr>
        </p:nvSpPr>
        <p:spPr>
          <a:xfrm>
            <a:off x="1195388" y="692150"/>
            <a:ext cx="4619625" cy="3463925"/>
          </a:xfrm>
          <a:ln/>
        </p:spPr>
      </p:sp>
      <p:sp>
        <p:nvSpPr>
          <p:cNvPr id="54274"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spcBef>
                <a:spcPct val="0"/>
              </a:spcBef>
            </a:pPr>
            <a:endParaRPr lang="en-US">
              <a:latin typeface="Times New Roman" charset="0"/>
            </a:endParaRPr>
          </a:p>
        </p:txBody>
      </p:sp>
      <p:sp>
        <p:nvSpPr>
          <p:cNvPr id="22532" name="Slide Number Placeholder 3"/>
          <p:cNvSpPr>
            <a:spLocks noGrp="1"/>
          </p:cNvSpPr>
          <p:nvPr>
            <p:ph type="sldNum" sz="quarter" idx="5"/>
          </p:nvPr>
        </p:nvSpPr>
        <p:spPr/>
        <p:txBody>
          <a:bodyPr/>
          <a:lstStyle/>
          <a:p>
            <a:pPr>
              <a:defRPr/>
            </a:pPr>
            <a:fld id="{2174473F-23CB-BD4B-9A56-0F9B99BCC51E}" type="slidenum">
              <a:rPr lang="en-US" smtClean="0"/>
              <a:pPr>
                <a:defRPr/>
              </a:pPr>
              <a:t>21</a:t>
            </a:fld>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Slide Image Placeholder 1"/>
          <p:cNvSpPr>
            <a:spLocks noGrp="1" noRot="1" noChangeAspect="1" noTextEdit="1"/>
          </p:cNvSpPr>
          <p:nvPr>
            <p:ph type="sldImg"/>
          </p:nvPr>
        </p:nvSpPr>
        <p:spPr>
          <a:xfrm>
            <a:off x="1195388" y="692150"/>
            <a:ext cx="4619625" cy="3463925"/>
          </a:xfrm>
          <a:ln/>
        </p:spPr>
      </p:sp>
      <p:sp>
        <p:nvSpPr>
          <p:cNvPr id="56322"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spcBef>
                <a:spcPct val="0"/>
              </a:spcBef>
            </a:pPr>
            <a:endParaRPr lang="en-US">
              <a:latin typeface="Times New Roman" charset="0"/>
            </a:endParaRPr>
          </a:p>
        </p:txBody>
      </p:sp>
      <p:sp>
        <p:nvSpPr>
          <p:cNvPr id="22532" name="Slide Number Placeholder 3"/>
          <p:cNvSpPr>
            <a:spLocks noGrp="1"/>
          </p:cNvSpPr>
          <p:nvPr>
            <p:ph type="sldNum" sz="quarter" idx="5"/>
          </p:nvPr>
        </p:nvSpPr>
        <p:spPr/>
        <p:txBody>
          <a:bodyPr/>
          <a:lstStyle/>
          <a:p>
            <a:pPr>
              <a:defRPr/>
            </a:pPr>
            <a:fld id="{4A32D1C8-1F3A-B544-AF3E-35ABBCC49589}" type="slidenum">
              <a:rPr lang="en-US" smtClean="0"/>
              <a:pPr>
                <a:defRPr/>
              </a:pPr>
              <a:t>22</a:t>
            </a:fld>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2"/>
          <p:cNvSpPr>
            <a:spLocks noGrp="1" noRot="1" noChangeAspect="1" noChangeArrowheads="1" noTextEdit="1"/>
          </p:cNvSpPr>
          <p:nvPr>
            <p:ph type="sldImg"/>
          </p:nvPr>
        </p:nvSpPr>
        <p:spPr>
          <a:ln/>
        </p:spPr>
      </p:sp>
      <p:sp>
        <p:nvSpPr>
          <p:cNvPr id="123906"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2"/>
          <p:cNvSpPr>
            <a:spLocks noGrp="1" noRot="1" noChangeAspect="1" noChangeArrowheads="1" noTextEdit="1"/>
          </p:cNvSpPr>
          <p:nvPr>
            <p:ph type="sldImg"/>
          </p:nvPr>
        </p:nvSpPr>
        <p:spPr>
          <a:ln/>
        </p:spPr>
      </p:sp>
      <p:sp>
        <p:nvSpPr>
          <p:cNvPr id="121858"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455488A-9DA3-40C9-B483-B7F1DD678F69}" type="slidenum">
              <a:rPr lang="en-US" smtClean="0"/>
              <a:pPr/>
              <a:t>38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w="9525">
                <a:noFill/>
                <a:miter lim="800000"/>
                <a:headEnd/>
                <a:tailEnd/>
              </a:ln>
            </p:spPr>
            <p:txBody>
              <a:bodyPr wrap="none" anchor="ctr"/>
              <a:lstStyle/>
              <a:p>
                <a:endParaRPr 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endParaRPr lang="en-US"/>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w="9525">
                <a:noFill/>
                <a:miter lim="800000"/>
                <a:headEnd/>
                <a:tailEnd/>
              </a:ln>
            </p:spPr>
            <p:txBody>
              <a:bodyPr wrap="none" anchor="ctr"/>
              <a:lstStyle/>
              <a:p>
                <a:endParaRPr lang="en-US"/>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endParaRPr 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endParaRPr lang="en-US"/>
            </a:p>
          </p:txBody>
        </p:sp>
        <p:sp>
          <p:nvSpPr>
            <p:cNvPr id="8" name="Rectangle 10"/>
            <p:cNvSpPr>
              <a:spLocks noChangeArrowheads="1"/>
            </p:cNvSpPr>
            <p:nvPr/>
          </p:nvSpPr>
          <p:spPr bwMode="auto">
            <a:xfrm>
              <a:off x="400" y="1536"/>
              <a:ext cx="20" cy="663"/>
            </a:xfrm>
            <a:prstGeom prst="rect">
              <a:avLst/>
            </a:prstGeom>
            <a:solidFill>
              <a:schemeClr val="bg2"/>
            </a:solidFill>
            <a:ln w="9525">
              <a:noFill/>
              <a:miter lim="800000"/>
              <a:headEnd/>
              <a:tailEnd/>
            </a:ln>
          </p:spPr>
          <p:txBody>
            <a:bodyPr wrap="none" anchor="ctr"/>
            <a:lstStyle/>
            <a:p>
              <a:endParaRPr 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endParaRPr lang="en-US"/>
            </a:p>
          </p:txBody>
        </p:sp>
      </p:grpSp>
      <p:sp>
        <p:nvSpPr>
          <p:cNvPr id="929804" name="Rectangle 12"/>
          <p:cNvSpPr>
            <a:spLocks noGrp="1" noChangeArrowheads="1"/>
          </p:cNvSpPr>
          <p:nvPr>
            <p:ph type="ctrTitle"/>
          </p:nvPr>
        </p:nvSpPr>
        <p:spPr>
          <a:xfrm>
            <a:off x="990600" y="1828800"/>
            <a:ext cx="7772400" cy="1143000"/>
          </a:xfrm>
        </p:spPr>
        <p:txBody>
          <a:bodyPr/>
          <a:lstStyle>
            <a:lvl1pPr>
              <a:defRPr sz="4400"/>
            </a:lvl1pPr>
          </a:lstStyle>
          <a:p>
            <a:r>
              <a:rPr lang="en-US"/>
              <a:t>Click to edit Master title style</a:t>
            </a:r>
          </a:p>
        </p:txBody>
      </p:sp>
      <p:sp>
        <p:nvSpPr>
          <p:cNvPr id="929805"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Tree>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061"/>
          <p:cNvSpPr>
            <a:spLocks noGrp="1" noChangeArrowheads="1"/>
          </p:cNvSpPr>
          <p:nvPr>
            <p:ph type="sldNum" sz="quarter" idx="10"/>
          </p:nvPr>
        </p:nvSpPr>
        <p:spPr>
          <a:ln/>
        </p:spPr>
        <p:txBody>
          <a:bodyPr/>
          <a:lstStyle>
            <a:lvl1pPr>
              <a:defRPr/>
            </a:lvl1pPr>
          </a:lstStyle>
          <a:p>
            <a:fld id="{D37A8A04-1C0C-4C06-A72C-2BB05733F882}" type="slidenum">
              <a:rPr lang="en-US"/>
              <a:pPr/>
              <a:t>‹#›</a:t>
            </a:fld>
            <a:endParaRPr lang="en-US"/>
          </a:p>
        </p:txBody>
      </p:sp>
    </p:spTree>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2061"/>
          <p:cNvSpPr>
            <a:spLocks noGrp="1" noChangeArrowheads="1"/>
          </p:cNvSpPr>
          <p:nvPr>
            <p:ph type="sldNum" sz="quarter" idx="10"/>
          </p:nvPr>
        </p:nvSpPr>
        <p:spPr>
          <a:ln/>
        </p:spPr>
        <p:txBody>
          <a:bodyPr/>
          <a:lstStyle>
            <a:lvl1pPr>
              <a:defRPr/>
            </a:lvl1pPr>
          </a:lstStyle>
          <a:p>
            <a:fld id="{C75EEB5F-1AE3-4859-B66E-A1277B40D0E5}" type="slidenum">
              <a:rPr lang="en-US"/>
              <a:pPr/>
              <a:t>‹#›</a:t>
            </a:fld>
            <a:endParaRPr lang="en-US"/>
          </a:p>
        </p:txBody>
      </p:sp>
    </p:spTree>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4800" y="1371600"/>
            <a:ext cx="41529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10100" y="1371600"/>
            <a:ext cx="41529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2061"/>
          <p:cNvSpPr>
            <a:spLocks noGrp="1" noChangeArrowheads="1"/>
          </p:cNvSpPr>
          <p:nvPr>
            <p:ph type="sldNum" sz="quarter" idx="10"/>
          </p:nvPr>
        </p:nvSpPr>
        <p:spPr>
          <a:ln/>
        </p:spPr>
        <p:txBody>
          <a:bodyPr/>
          <a:lstStyle>
            <a:lvl1pPr>
              <a:defRPr/>
            </a:lvl1pPr>
          </a:lstStyle>
          <a:p>
            <a:fld id="{53A1C821-47E3-4E91-9ED0-903522C8ACEB}" type="slidenum">
              <a:rPr lang="en-US"/>
              <a:pPr/>
              <a:t>‹#›</a:t>
            </a:fld>
            <a:endParaRPr lang="en-US"/>
          </a:p>
        </p:txBody>
      </p:sp>
    </p:spTree>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2061"/>
          <p:cNvSpPr>
            <a:spLocks noGrp="1" noChangeArrowheads="1"/>
          </p:cNvSpPr>
          <p:nvPr>
            <p:ph type="sldNum" sz="quarter" idx="10"/>
          </p:nvPr>
        </p:nvSpPr>
        <p:spPr>
          <a:ln/>
        </p:spPr>
        <p:txBody>
          <a:bodyPr/>
          <a:lstStyle>
            <a:lvl1pPr>
              <a:defRPr/>
            </a:lvl1pPr>
          </a:lstStyle>
          <a:p>
            <a:fld id="{449C76BB-71F4-45EA-BDF4-41385DAE1E77}" type="slidenum">
              <a:rPr lang="en-US"/>
              <a:pPr/>
              <a:t>‹#›</a:t>
            </a:fld>
            <a:endParaRPr lang="en-US"/>
          </a:p>
        </p:txBody>
      </p:sp>
    </p:spTree>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2061"/>
          <p:cNvSpPr>
            <a:spLocks noGrp="1" noChangeArrowheads="1"/>
          </p:cNvSpPr>
          <p:nvPr>
            <p:ph type="sldNum" sz="quarter" idx="10"/>
          </p:nvPr>
        </p:nvSpPr>
        <p:spPr>
          <a:ln/>
        </p:spPr>
        <p:txBody>
          <a:bodyPr/>
          <a:lstStyle>
            <a:lvl1pPr>
              <a:defRPr/>
            </a:lvl1pPr>
          </a:lstStyle>
          <a:p>
            <a:fld id="{ECACD332-80BB-464C-B918-56270787EF64}" type="slidenum">
              <a:rPr lang="en-US"/>
              <a:pPr/>
              <a:t>‹#›</a:t>
            </a:fld>
            <a:endParaRPr lang="en-US"/>
          </a:p>
        </p:txBody>
      </p:sp>
    </p:spTree>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061"/>
          <p:cNvSpPr>
            <a:spLocks noGrp="1" noChangeArrowheads="1"/>
          </p:cNvSpPr>
          <p:nvPr>
            <p:ph type="sldNum" sz="quarter" idx="10"/>
          </p:nvPr>
        </p:nvSpPr>
        <p:spPr>
          <a:ln/>
        </p:spPr>
        <p:txBody>
          <a:bodyPr/>
          <a:lstStyle>
            <a:lvl1pPr>
              <a:defRPr/>
            </a:lvl1pPr>
          </a:lstStyle>
          <a:p>
            <a:fld id="{86E1A2B9-B749-4CE5-A62E-A11C44A76DFB}" type="slidenum">
              <a:rPr lang="en-US"/>
              <a:pPr/>
              <a:t>‹#›</a:t>
            </a:fld>
            <a:endParaRPr lang="en-US"/>
          </a:p>
        </p:txBody>
      </p:sp>
    </p:spTree>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2061"/>
          <p:cNvSpPr>
            <a:spLocks noGrp="1" noChangeArrowheads="1"/>
          </p:cNvSpPr>
          <p:nvPr>
            <p:ph type="sldNum" sz="quarter" idx="10"/>
          </p:nvPr>
        </p:nvSpPr>
        <p:spPr>
          <a:ln/>
        </p:spPr>
        <p:txBody>
          <a:bodyPr/>
          <a:lstStyle>
            <a:lvl1pPr>
              <a:defRPr/>
            </a:lvl1pPr>
          </a:lstStyle>
          <a:p>
            <a:fld id="{CBC0FE83-966D-4D3E-81DE-863D3F8B5474}" type="slidenum">
              <a:rPr lang="en-US"/>
              <a:pPr/>
              <a:t>‹#›</a:t>
            </a:fld>
            <a:endParaRPr lang="en-US"/>
          </a:p>
        </p:txBody>
      </p:sp>
    </p:spTree>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2061"/>
          <p:cNvSpPr>
            <a:spLocks noGrp="1" noChangeArrowheads="1"/>
          </p:cNvSpPr>
          <p:nvPr>
            <p:ph type="sldNum" sz="quarter" idx="10"/>
          </p:nvPr>
        </p:nvSpPr>
        <p:spPr>
          <a:ln/>
        </p:spPr>
        <p:txBody>
          <a:bodyPr/>
          <a:lstStyle>
            <a:lvl1pPr>
              <a:defRPr/>
            </a:lvl1pPr>
          </a:lstStyle>
          <a:p>
            <a:fld id="{08C5531B-D68E-4EFF-ADA6-700D716132D3}" type="slidenum">
              <a:rPr lang="en-US"/>
              <a:pPr/>
              <a:t>‹#›</a:t>
            </a:fld>
            <a:endParaRPr lang="en-US"/>
          </a:p>
        </p:txBody>
      </p:sp>
    </p:spTree>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061"/>
          <p:cNvSpPr>
            <a:spLocks noGrp="1" noChangeArrowheads="1"/>
          </p:cNvSpPr>
          <p:nvPr>
            <p:ph type="sldNum" sz="quarter" idx="10"/>
          </p:nvPr>
        </p:nvSpPr>
        <p:spPr>
          <a:ln/>
        </p:spPr>
        <p:txBody>
          <a:bodyPr/>
          <a:lstStyle>
            <a:lvl1pPr>
              <a:defRPr/>
            </a:lvl1pPr>
          </a:lstStyle>
          <a:p>
            <a:fld id="{6D700FA4-DC66-4776-B603-D9E6AA39E867}" type="slidenum">
              <a:rPr lang="en-US"/>
              <a:pPr/>
              <a:t>‹#›</a:t>
            </a:fld>
            <a:endParaRPr lang="en-US"/>
          </a:p>
        </p:txBody>
      </p:sp>
    </p:spTree>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8450" y="381000"/>
            <a:ext cx="2114550" cy="6096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4800" y="381000"/>
            <a:ext cx="6191250" cy="6096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061"/>
          <p:cNvSpPr>
            <a:spLocks noGrp="1" noChangeArrowheads="1"/>
          </p:cNvSpPr>
          <p:nvPr>
            <p:ph type="sldNum" sz="quarter" idx="10"/>
          </p:nvPr>
        </p:nvSpPr>
        <p:spPr>
          <a:ln/>
        </p:spPr>
        <p:txBody>
          <a:bodyPr/>
          <a:lstStyle>
            <a:lvl1pPr>
              <a:defRPr/>
            </a:lvl1pPr>
          </a:lstStyle>
          <a:p>
            <a:fld id="{C214AF7A-D286-40B0-8710-83DD5BDD6F14}" type="slidenum">
              <a:rPr lang="en-US"/>
              <a:pPr/>
              <a:t>‹#›</a:t>
            </a:fld>
            <a:endParaRPr lang="en-US"/>
          </a:p>
        </p:txBody>
      </p:sp>
    </p:spTree>
  </p:cSld>
  <p:clrMapOvr>
    <a:masterClrMapping/>
  </p:clrMapOvr>
  <p:transition>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402638" cy="609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304800" y="1371600"/>
            <a:ext cx="4152900" cy="5105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10100" y="1371600"/>
            <a:ext cx="4152900" cy="2476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10100" y="4000500"/>
            <a:ext cx="4152900" cy="2476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2061"/>
          <p:cNvSpPr>
            <a:spLocks noGrp="1" noChangeArrowheads="1"/>
          </p:cNvSpPr>
          <p:nvPr>
            <p:ph type="sldNum" sz="quarter" idx="10"/>
          </p:nvPr>
        </p:nvSpPr>
        <p:spPr>
          <a:ln/>
        </p:spPr>
        <p:txBody>
          <a:bodyPr/>
          <a:lstStyle>
            <a:lvl1pPr>
              <a:defRPr/>
            </a:lvl1pPr>
          </a:lstStyle>
          <a:p>
            <a:fld id="{3AE7F48D-0AE6-4E48-9F98-0F65A0174925}" type="slidenum">
              <a:rPr lang="en-US"/>
              <a:pPr/>
              <a:t>‹#›</a:t>
            </a:fld>
            <a:endParaRPr lang="en-US"/>
          </a:p>
        </p:txBody>
      </p:sp>
    </p:spTree>
  </p:cSld>
  <p:clrMapOvr>
    <a:masterClrMapping/>
  </p:clrMapOvr>
  <p:transition>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402638" cy="609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304800" y="1371600"/>
            <a:ext cx="4152900" cy="5105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10100" y="1371600"/>
            <a:ext cx="4152900" cy="5105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2061"/>
          <p:cNvSpPr>
            <a:spLocks noGrp="1" noChangeArrowheads="1"/>
          </p:cNvSpPr>
          <p:nvPr>
            <p:ph type="sldNum" sz="quarter" idx="10"/>
          </p:nvPr>
        </p:nvSpPr>
        <p:spPr>
          <a:ln/>
        </p:spPr>
        <p:txBody>
          <a:bodyPr/>
          <a:lstStyle>
            <a:lvl1pPr>
              <a:defRPr/>
            </a:lvl1pPr>
          </a:lstStyle>
          <a:p>
            <a:fld id="{7312E291-2DE2-41AB-89C6-59201C6AAB75}" type="slidenum">
              <a:rPr lang="en-US"/>
              <a:pPr/>
              <a:t>‹#›</a:t>
            </a:fld>
            <a:endParaRPr lang="en-US"/>
          </a:p>
        </p:txBody>
      </p:sp>
    </p:spTree>
  </p:cSld>
  <p:clrMapOvr>
    <a:masterClrMapping/>
  </p:clrMapOvr>
  <p:transition>
    <p:zo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304800" y="381000"/>
            <a:ext cx="8402638" cy="60960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304800" y="1371600"/>
            <a:ext cx="4152900" cy="2476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10100" y="1371600"/>
            <a:ext cx="4152900" cy="2476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304800" y="4000500"/>
            <a:ext cx="4152900" cy="2476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10100" y="4000500"/>
            <a:ext cx="4152900" cy="2476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2061"/>
          <p:cNvSpPr>
            <a:spLocks noGrp="1" noChangeArrowheads="1"/>
          </p:cNvSpPr>
          <p:nvPr>
            <p:ph type="sldNum" sz="quarter" idx="10"/>
          </p:nvPr>
        </p:nvSpPr>
        <p:spPr>
          <a:ln/>
        </p:spPr>
        <p:txBody>
          <a:bodyPr/>
          <a:lstStyle>
            <a:lvl1pPr>
              <a:defRPr/>
            </a:lvl1pPr>
          </a:lstStyle>
          <a:p>
            <a:fld id="{A28E9260-FD4B-4194-97D4-E5C1ADB2E8D8}" type="slidenum">
              <a:rPr lang="en-US"/>
              <a:pPr/>
              <a:t>‹#›</a:t>
            </a:fld>
            <a:endParaRPr lang="en-US"/>
          </a:p>
        </p:txBody>
      </p:sp>
    </p:spTree>
  </p:cSld>
  <p:clrMapOvr>
    <a:masterClrMapping/>
  </p:clrMapOvr>
  <p:transition>
    <p:zo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402638" cy="609600"/>
          </a:xfrm>
        </p:spPr>
        <p:txBody>
          <a:bodyPr/>
          <a:lstStyle/>
          <a:p>
            <a:r>
              <a:rPr lang="en-US" smtClean="0"/>
              <a:t>Click to edit Master title style</a:t>
            </a:r>
            <a:endParaRPr lang="en-US"/>
          </a:p>
        </p:txBody>
      </p:sp>
      <p:sp>
        <p:nvSpPr>
          <p:cNvPr id="3" name="ClipArt Placeholder 2"/>
          <p:cNvSpPr>
            <a:spLocks noGrp="1"/>
          </p:cNvSpPr>
          <p:nvPr>
            <p:ph type="clipArt" sz="half" idx="1"/>
          </p:nvPr>
        </p:nvSpPr>
        <p:spPr>
          <a:xfrm>
            <a:off x="304800" y="1371600"/>
            <a:ext cx="4152900" cy="5105400"/>
          </a:xfrm>
        </p:spPr>
        <p:txBody>
          <a:bodyPr/>
          <a:lstStyle/>
          <a:p>
            <a:pPr lvl="0"/>
            <a:endParaRPr lang="en-US" noProof="0" smtClean="0"/>
          </a:p>
        </p:txBody>
      </p:sp>
      <p:sp>
        <p:nvSpPr>
          <p:cNvPr id="4" name="Text Placeholder 3"/>
          <p:cNvSpPr>
            <a:spLocks noGrp="1"/>
          </p:cNvSpPr>
          <p:nvPr>
            <p:ph type="body" sz="half" idx="2"/>
          </p:nvPr>
        </p:nvSpPr>
        <p:spPr>
          <a:xfrm>
            <a:off x="4610100" y="1371600"/>
            <a:ext cx="4152900" cy="5105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2061"/>
          <p:cNvSpPr>
            <a:spLocks noGrp="1" noChangeArrowheads="1"/>
          </p:cNvSpPr>
          <p:nvPr>
            <p:ph type="sldNum" sz="quarter" idx="10"/>
          </p:nvPr>
        </p:nvSpPr>
        <p:spPr>
          <a:ln/>
        </p:spPr>
        <p:txBody>
          <a:bodyPr/>
          <a:lstStyle>
            <a:lvl1pPr>
              <a:defRPr/>
            </a:lvl1pPr>
          </a:lstStyle>
          <a:p>
            <a:fld id="{9DC221A7-C7AD-4011-B1D0-029F8E448A0A}" type="slidenum">
              <a:rPr lang="en-US"/>
              <a:pPr/>
              <a:t>‹#›</a:t>
            </a:fld>
            <a:endParaRPr lang="en-US"/>
          </a:p>
        </p:txBody>
      </p:sp>
    </p:spTree>
  </p:cSld>
  <p:clrMapOvr>
    <a:masterClrMapping/>
  </p:clrMapOvr>
  <p:transition>
    <p:zoom/>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402638" cy="6096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304800" y="1371600"/>
            <a:ext cx="4152900" cy="5105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10100" y="1371600"/>
            <a:ext cx="4152900" cy="2476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10100" y="4000500"/>
            <a:ext cx="4152900" cy="2476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2061"/>
          <p:cNvSpPr>
            <a:spLocks noGrp="1" noChangeArrowheads="1"/>
          </p:cNvSpPr>
          <p:nvPr>
            <p:ph type="sldNum" sz="quarter" idx="10"/>
          </p:nvPr>
        </p:nvSpPr>
        <p:spPr>
          <a:ln/>
        </p:spPr>
        <p:txBody>
          <a:bodyPr/>
          <a:lstStyle>
            <a:lvl1pPr>
              <a:defRPr/>
            </a:lvl1pPr>
          </a:lstStyle>
          <a:p>
            <a:fld id="{19594CCC-BF01-4C6C-85AB-BDC25AB4FCEE}" type="slidenum">
              <a:rPr lang="en-US"/>
              <a:pPr/>
              <a:t>‹#›</a:t>
            </a:fld>
            <a:endParaRPr lang="en-US"/>
          </a:p>
        </p:txBody>
      </p:sp>
    </p:spTree>
  </p:cSld>
  <p:clrMapOvr>
    <a:masterClrMapping/>
  </p:clrMapOvr>
  <p:transition>
    <p:zoom/>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304800" y="381000"/>
            <a:ext cx="8458200" cy="6096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Rectangle 2061"/>
          <p:cNvSpPr>
            <a:spLocks noGrp="1" noChangeArrowheads="1"/>
          </p:cNvSpPr>
          <p:nvPr>
            <p:ph type="sldNum" sz="quarter" idx="10"/>
          </p:nvPr>
        </p:nvSpPr>
        <p:spPr>
          <a:ln/>
        </p:spPr>
        <p:txBody>
          <a:bodyPr/>
          <a:lstStyle>
            <a:lvl1pPr>
              <a:defRPr/>
            </a:lvl1pPr>
          </a:lstStyle>
          <a:p>
            <a:fld id="{28529A13-BD5A-4FD4-B542-0289C1E74684}" type="slidenum">
              <a:rPr lang="en-US"/>
              <a:pPr/>
              <a:t>‹#›</a:t>
            </a:fld>
            <a:endParaRPr lang="en-US"/>
          </a:p>
        </p:txBody>
      </p:sp>
    </p:spTree>
  </p:cSld>
  <p:clrMapOvr>
    <a:masterClrMapping/>
  </p:clrMapOvr>
  <p:transition>
    <p:zoom/>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402638" cy="6096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304800" y="1371600"/>
            <a:ext cx="8458200" cy="2476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304800" y="4000500"/>
            <a:ext cx="8458200" cy="2476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2061"/>
          <p:cNvSpPr>
            <a:spLocks noGrp="1" noChangeArrowheads="1"/>
          </p:cNvSpPr>
          <p:nvPr>
            <p:ph type="sldNum" sz="quarter" idx="10"/>
          </p:nvPr>
        </p:nvSpPr>
        <p:spPr>
          <a:ln/>
        </p:spPr>
        <p:txBody>
          <a:bodyPr/>
          <a:lstStyle>
            <a:lvl1pPr>
              <a:defRPr/>
            </a:lvl1pPr>
          </a:lstStyle>
          <a:p>
            <a:fld id="{6C17AD05-EAA9-4088-8105-FDA39D455F56}" type="slidenum">
              <a:rPr lang="en-US"/>
              <a:pPr/>
              <a:t>‹#›</a:t>
            </a:fld>
            <a:endParaRPr lang="en-US"/>
          </a:p>
        </p:txBody>
      </p:sp>
    </p:spTree>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056"/>
          <p:cNvSpPr>
            <a:spLocks noChangeArrowheads="1"/>
          </p:cNvSpPr>
          <p:nvPr/>
        </p:nvSpPr>
        <p:spPr bwMode="gray">
          <a:xfrm>
            <a:off x="304800" y="1066800"/>
            <a:ext cx="8410575" cy="46038"/>
          </a:xfrm>
          <a:prstGeom prst="rect">
            <a:avLst/>
          </a:prstGeom>
          <a:gradFill rotWithShape="1">
            <a:gsLst>
              <a:gs pos="0">
                <a:srgbClr val="00CE98">
                  <a:alpha val="50000"/>
                </a:srgbClr>
              </a:gs>
              <a:gs pos="100000">
                <a:srgbClr val="8FF9EF">
                  <a:alpha val="51999"/>
                </a:srgbClr>
              </a:gs>
            </a:gsLst>
            <a:lin ang="0" scaled="1"/>
          </a:gradFill>
          <a:ln w="9525">
            <a:noFill/>
            <a:miter lim="800000"/>
            <a:headEnd/>
            <a:tailEnd/>
          </a:ln>
        </p:spPr>
        <p:txBody>
          <a:bodyPr wrap="none" anchor="ctr"/>
          <a:lstStyle/>
          <a:p>
            <a:pPr algn="ctr"/>
            <a:endParaRPr kumimoji="1" lang="en-US" sz="2400"/>
          </a:p>
        </p:txBody>
      </p:sp>
      <p:sp>
        <p:nvSpPr>
          <p:cNvPr id="1027" name="Rectangle 2057"/>
          <p:cNvSpPr>
            <a:spLocks noGrp="1" noChangeArrowheads="1"/>
          </p:cNvSpPr>
          <p:nvPr>
            <p:ph type="title"/>
          </p:nvPr>
        </p:nvSpPr>
        <p:spPr bwMode="auto">
          <a:xfrm>
            <a:off x="304800" y="304800"/>
            <a:ext cx="8402638"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
        <p:nvSpPr>
          <p:cNvPr id="1028" name="Rectangle 2058"/>
          <p:cNvSpPr>
            <a:spLocks noGrp="1" noChangeArrowheads="1"/>
          </p:cNvSpPr>
          <p:nvPr>
            <p:ph type="body" idx="1"/>
          </p:nvPr>
        </p:nvSpPr>
        <p:spPr bwMode="auto">
          <a:xfrm>
            <a:off x="304800" y="1219200"/>
            <a:ext cx="8458200" cy="5257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928781" name="Rectangle 2061"/>
          <p:cNvSpPr>
            <a:spLocks noGrp="1" noChangeArrowheads="1"/>
          </p:cNvSpPr>
          <p:nvPr>
            <p:ph type="sldNum" sz="quarter" idx="4"/>
          </p:nvPr>
        </p:nvSpPr>
        <p:spPr bwMode="auto">
          <a:xfrm>
            <a:off x="7239000" y="6477000"/>
            <a:ext cx="1905000" cy="381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686B9E50-0460-4475-B0CD-F655AD75474A}"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4119" r:id="rId1"/>
    <p:sldLayoutId id="2147484102" r:id="rId2"/>
    <p:sldLayoutId id="2147484103" r:id="rId3"/>
    <p:sldLayoutId id="2147484104" r:id="rId4"/>
    <p:sldLayoutId id="2147484105" r:id="rId5"/>
    <p:sldLayoutId id="2147484106" r:id="rId6"/>
    <p:sldLayoutId id="2147484107" r:id="rId7"/>
    <p:sldLayoutId id="2147484108" r:id="rId8"/>
    <p:sldLayoutId id="2147484109" r:id="rId9"/>
    <p:sldLayoutId id="2147484110" r:id="rId10"/>
    <p:sldLayoutId id="2147484111" r:id="rId11"/>
    <p:sldLayoutId id="2147484112" r:id="rId12"/>
    <p:sldLayoutId id="2147484113" r:id="rId13"/>
    <p:sldLayoutId id="2147484114" r:id="rId14"/>
    <p:sldLayoutId id="2147484115" r:id="rId15"/>
    <p:sldLayoutId id="2147484116" r:id="rId16"/>
    <p:sldLayoutId id="2147484117" r:id="rId17"/>
    <p:sldLayoutId id="2147484118" r:id="rId18"/>
  </p:sldLayoutIdLst>
  <p:transition>
    <p:zoom/>
  </p:transition>
  <p:hf hdr="0"/>
  <p:txStyles>
    <p:titleStyle>
      <a:lvl1pPr algn="ctr" rtl="0" eaLnBrk="0" fontAlgn="base" hangingPunct="0">
        <a:spcBef>
          <a:spcPct val="0"/>
        </a:spcBef>
        <a:spcAft>
          <a:spcPct val="0"/>
        </a:spcAft>
        <a:defRPr sz="3600" b="1">
          <a:solidFill>
            <a:schemeClr val="tx2"/>
          </a:solidFill>
          <a:latin typeface="Berlin Sans FB Demi" pitchFamily="34" charset="0"/>
          <a:ea typeface="MS PGothic" pitchFamily="34" charset="-128"/>
          <a:cs typeface="ＭＳ Ｐゴシック" charset="0"/>
        </a:defRPr>
      </a:lvl1pPr>
      <a:lvl2pPr algn="ctr" rtl="0" eaLnBrk="0" fontAlgn="base" hangingPunct="0">
        <a:spcBef>
          <a:spcPct val="0"/>
        </a:spcBef>
        <a:spcAft>
          <a:spcPct val="0"/>
        </a:spcAft>
        <a:defRPr sz="3600" b="1">
          <a:solidFill>
            <a:schemeClr val="tx2"/>
          </a:solidFill>
          <a:latin typeface="Berlin Sans FB Demi" pitchFamily="34" charset="0"/>
          <a:ea typeface="MS PGothic" pitchFamily="34" charset="-128"/>
          <a:cs typeface="ＭＳ Ｐゴシック" charset="0"/>
        </a:defRPr>
      </a:lvl2pPr>
      <a:lvl3pPr algn="ctr" rtl="0" eaLnBrk="0" fontAlgn="base" hangingPunct="0">
        <a:spcBef>
          <a:spcPct val="0"/>
        </a:spcBef>
        <a:spcAft>
          <a:spcPct val="0"/>
        </a:spcAft>
        <a:defRPr sz="3600" b="1">
          <a:solidFill>
            <a:schemeClr val="tx2"/>
          </a:solidFill>
          <a:latin typeface="Berlin Sans FB Demi" pitchFamily="34" charset="0"/>
          <a:ea typeface="MS PGothic" pitchFamily="34" charset="-128"/>
          <a:cs typeface="ＭＳ Ｐゴシック" charset="0"/>
        </a:defRPr>
      </a:lvl3pPr>
      <a:lvl4pPr algn="ctr" rtl="0" eaLnBrk="0" fontAlgn="base" hangingPunct="0">
        <a:spcBef>
          <a:spcPct val="0"/>
        </a:spcBef>
        <a:spcAft>
          <a:spcPct val="0"/>
        </a:spcAft>
        <a:defRPr sz="3600" b="1">
          <a:solidFill>
            <a:schemeClr val="tx2"/>
          </a:solidFill>
          <a:latin typeface="Berlin Sans FB Demi" pitchFamily="34" charset="0"/>
          <a:ea typeface="MS PGothic" pitchFamily="34" charset="-128"/>
          <a:cs typeface="ＭＳ Ｐゴシック" charset="0"/>
        </a:defRPr>
      </a:lvl4pPr>
      <a:lvl5pPr algn="ctr" rtl="0" eaLnBrk="0" fontAlgn="base" hangingPunct="0">
        <a:spcBef>
          <a:spcPct val="0"/>
        </a:spcBef>
        <a:spcAft>
          <a:spcPct val="0"/>
        </a:spcAft>
        <a:defRPr sz="3600" b="1">
          <a:solidFill>
            <a:schemeClr val="tx2"/>
          </a:solidFill>
          <a:latin typeface="Berlin Sans FB Demi" pitchFamily="34" charset="0"/>
          <a:ea typeface="MS PGothic" pitchFamily="34" charset="-128"/>
          <a:cs typeface="ＭＳ Ｐゴシック"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2800">
          <a:solidFill>
            <a:schemeClr val="tx1"/>
          </a:solidFill>
          <a:latin typeface="Calibri" pitchFamily="34" charset="0"/>
          <a:ea typeface="MS PGothic" pitchFamily="34" charset="-128"/>
          <a:cs typeface="ＭＳ Ｐゴシック" charset="0"/>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Calibri" pitchFamily="34" charset="0"/>
          <a:ea typeface="MS PGothic" pitchFamily="34" charset="-128"/>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Calibri" pitchFamily="34" charset="0"/>
          <a:ea typeface="MS PGothic" pitchFamily="34" charset="-128"/>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Calibri" pitchFamily="34" charset="0"/>
          <a:ea typeface="MS PGothic" pitchFamily="34" charset="-128"/>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emf"/><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2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Number Placeholder 6"/>
          <p:cNvSpPr txBox="1">
            <a:spLocks noGrp="1"/>
          </p:cNvSpPr>
          <p:nvPr/>
        </p:nvSpPr>
        <p:spPr bwMode="auto">
          <a:xfrm>
            <a:off x="7239000" y="6477000"/>
            <a:ext cx="1905000" cy="381000"/>
          </a:xfrm>
          <a:prstGeom prst="rect">
            <a:avLst/>
          </a:prstGeom>
          <a:noFill/>
          <a:ln w="9525">
            <a:noFill/>
            <a:miter lim="800000"/>
            <a:headEnd/>
            <a:tailEnd/>
          </a:ln>
        </p:spPr>
        <p:txBody>
          <a:bodyPr anchor="b"/>
          <a:lstStyle/>
          <a:p>
            <a:pPr algn="r"/>
            <a:fld id="{1529C395-B24B-4949-B408-C93E53E4C7FD}" type="slidenum">
              <a:rPr lang="en-US" sz="1400" b="1">
                <a:latin typeface="Calibri" pitchFamily="34" charset="0"/>
              </a:rPr>
              <a:pPr algn="r"/>
              <a:t>1</a:t>
            </a:fld>
            <a:endParaRPr lang="en-US" sz="1400" b="1" dirty="0">
              <a:latin typeface="Calibri" pitchFamily="34" charset="0"/>
            </a:endParaRPr>
          </a:p>
        </p:txBody>
      </p:sp>
      <p:sp>
        <p:nvSpPr>
          <p:cNvPr id="22530" name="Rectangle 2"/>
          <p:cNvSpPr>
            <a:spLocks noGrp="1" noChangeArrowheads="1"/>
          </p:cNvSpPr>
          <p:nvPr>
            <p:ph type="title"/>
          </p:nvPr>
        </p:nvSpPr>
        <p:spPr>
          <a:xfrm>
            <a:off x="0" y="381000"/>
            <a:ext cx="9144000" cy="609600"/>
          </a:xfrm>
          <a:noFill/>
        </p:spPr>
        <p:txBody>
          <a:bodyPr lIns="92075" tIns="46038" rIns="92075" bIns="46038" anchor="ctr">
            <a:normAutofit fontScale="90000"/>
          </a:bodyPr>
          <a:lstStyle/>
          <a:p>
            <a:pPr eaLnBrk="1" hangingPunct="1"/>
            <a:r>
              <a:rPr lang="en-US" dirty="0" smtClean="0"/>
              <a:t>Classification Model</a:t>
            </a:r>
          </a:p>
        </p:txBody>
      </p:sp>
      <p:sp>
        <p:nvSpPr>
          <p:cNvPr id="22531" name="Rectangle 3"/>
          <p:cNvSpPr>
            <a:spLocks noGrp="1" noChangeArrowheads="1"/>
          </p:cNvSpPr>
          <p:nvPr>
            <p:ph type="body" sz="half" idx="1"/>
          </p:nvPr>
        </p:nvSpPr>
        <p:spPr>
          <a:xfrm>
            <a:off x="304800" y="1447800"/>
            <a:ext cx="8382000" cy="5105400"/>
          </a:xfrm>
          <a:noFill/>
        </p:spPr>
        <p:txBody>
          <a:bodyPr lIns="92075" tIns="46038" rIns="92075" bIns="46038">
            <a:normAutofit lnSpcReduction="10000"/>
          </a:bodyPr>
          <a:lstStyle/>
          <a:p>
            <a:pPr>
              <a:lnSpc>
                <a:spcPct val="130000"/>
              </a:lnSpc>
            </a:pPr>
            <a:r>
              <a:rPr lang="en-US" dirty="0" smtClean="0"/>
              <a:t>Classification: Basic Concepts</a:t>
            </a:r>
          </a:p>
          <a:p>
            <a:pPr>
              <a:lnSpc>
                <a:spcPct val="130000"/>
              </a:lnSpc>
            </a:pPr>
            <a:r>
              <a:rPr lang="en-US" dirty="0" smtClean="0"/>
              <a:t>Rule-Based Classification</a:t>
            </a:r>
          </a:p>
          <a:p>
            <a:pPr>
              <a:lnSpc>
                <a:spcPct val="130000"/>
              </a:lnSpc>
            </a:pPr>
            <a:r>
              <a:rPr lang="en-US" dirty="0" smtClean="0"/>
              <a:t>Decision Tree Induction</a:t>
            </a:r>
          </a:p>
          <a:p>
            <a:pPr>
              <a:lnSpc>
                <a:spcPct val="130000"/>
              </a:lnSpc>
            </a:pPr>
            <a:r>
              <a:rPr lang="en-US" dirty="0" err="1" smtClean="0"/>
              <a:t>Bayes</a:t>
            </a:r>
            <a:r>
              <a:rPr lang="en-US" dirty="0" smtClean="0"/>
              <a:t> Classification Methods</a:t>
            </a:r>
          </a:p>
          <a:p>
            <a:pPr>
              <a:lnSpc>
                <a:spcPct val="130000"/>
              </a:lnSpc>
            </a:pPr>
            <a:r>
              <a:rPr lang="en-IN" dirty="0" err="1" smtClean="0"/>
              <a:t>kNN</a:t>
            </a:r>
            <a:r>
              <a:rPr lang="en-IN" dirty="0" smtClean="0"/>
              <a:t> Classifier</a:t>
            </a:r>
            <a:endParaRPr lang="en-US" dirty="0" smtClean="0"/>
          </a:p>
          <a:p>
            <a:pPr>
              <a:lnSpc>
                <a:spcPct val="130000"/>
              </a:lnSpc>
            </a:pPr>
            <a:r>
              <a:rPr lang="en-US" dirty="0" smtClean="0"/>
              <a:t>Performance Evaluation</a:t>
            </a:r>
          </a:p>
          <a:p>
            <a:pPr>
              <a:lnSpc>
                <a:spcPct val="130000"/>
              </a:lnSpc>
            </a:pPr>
            <a:r>
              <a:rPr lang="en-US" dirty="0" smtClean="0"/>
              <a:t>Ensemble Classification</a:t>
            </a:r>
          </a:p>
          <a:p>
            <a:pPr>
              <a:lnSpc>
                <a:spcPct val="130000"/>
              </a:lnSpc>
            </a:pPr>
            <a:r>
              <a:rPr lang="en-US" dirty="0" smtClean="0"/>
              <a:t>Summary</a:t>
            </a:r>
          </a:p>
        </p:txBody>
      </p:sp>
      <p:sp>
        <p:nvSpPr>
          <p:cNvPr id="22532" name="AutoShape 8"/>
          <p:cNvSpPr>
            <a:spLocks noChangeArrowheads="1"/>
          </p:cNvSpPr>
          <p:nvPr/>
        </p:nvSpPr>
        <p:spPr bwMode="auto">
          <a:xfrm rot="9803581">
            <a:off x="4462922" y="4335478"/>
            <a:ext cx="533400" cy="381000"/>
          </a:xfrm>
          <a:prstGeom prst="notchedRightArrow">
            <a:avLst>
              <a:gd name="adj1" fmla="val 50000"/>
              <a:gd name="adj2" fmla="val 35000"/>
            </a:avLst>
          </a:prstGeom>
          <a:solidFill>
            <a:srgbClr val="FF9900"/>
          </a:solidFill>
          <a:ln w="9525">
            <a:solidFill>
              <a:schemeClr val="tx1"/>
            </a:solidFill>
            <a:miter lim="800000"/>
            <a:headEnd/>
            <a:tailEnd/>
          </a:ln>
        </p:spPr>
        <p:txBody>
          <a:bodyPr rot="10800000" wrap="none" anchor="ctr"/>
          <a:lstStyle/>
          <a:p>
            <a:endParaRPr lang="en-US"/>
          </a:p>
        </p:txBody>
      </p:sp>
    </p:spTree>
  </p:cSld>
  <p:clrMapOvr>
    <a:masterClrMapping/>
  </p:clrMapOvr>
  <p:transition>
    <p:zo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2"/>
          <p:cNvSpPr>
            <a:spLocks noGrp="1" noChangeArrowheads="1"/>
          </p:cNvSpPr>
          <p:nvPr>
            <p:ph type="title"/>
          </p:nvPr>
        </p:nvSpPr>
        <p:spPr/>
        <p:txBody>
          <a:bodyPr/>
          <a:lstStyle/>
          <a:p>
            <a:r>
              <a:rPr lang="en-US" smtClean="0"/>
              <a:t>Model Evaluation and Selection</a:t>
            </a:r>
          </a:p>
        </p:txBody>
      </p:sp>
      <p:sp>
        <p:nvSpPr>
          <p:cNvPr id="118786" name="Rectangle 3"/>
          <p:cNvSpPr>
            <a:spLocks noGrp="1" noChangeArrowheads="1"/>
          </p:cNvSpPr>
          <p:nvPr>
            <p:ph type="body" idx="1"/>
          </p:nvPr>
        </p:nvSpPr>
        <p:spPr>
          <a:xfrm>
            <a:off x="304800" y="1219200"/>
            <a:ext cx="8458200" cy="5410200"/>
          </a:xfrm>
        </p:spPr>
        <p:txBody>
          <a:bodyPr/>
          <a:lstStyle/>
          <a:p>
            <a:pPr>
              <a:lnSpc>
                <a:spcPct val="110000"/>
              </a:lnSpc>
            </a:pPr>
            <a:r>
              <a:rPr lang="en-US" dirty="0" smtClean="0"/>
              <a:t>Evaluation metrics: How can we measure accuracy?  Other metrics to consider?</a:t>
            </a:r>
          </a:p>
          <a:p>
            <a:pPr>
              <a:lnSpc>
                <a:spcPct val="110000"/>
              </a:lnSpc>
            </a:pPr>
            <a:r>
              <a:rPr lang="en-US" dirty="0" smtClean="0"/>
              <a:t>Use </a:t>
            </a:r>
            <a:r>
              <a:rPr lang="en-US" b="1" dirty="0" smtClean="0"/>
              <a:t>validation test set</a:t>
            </a:r>
            <a:r>
              <a:rPr lang="en-US" dirty="0" smtClean="0"/>
              <a:t> of class-labeled </a:t>
            </a:r>
            <a:r>
              <a:rPr lang="en-US" dirty="0" err="1" smtClean="0"/>
              <a:t>tuples</a:t>
            </a:r>
            <a:r>
              <a:rPr lang="en-US" dirty="0" smtClean="0"/>
              <a:t> instead of training set when assessing performance of the classifiers</a:t>
            </a:r>
          </a:p>
          <a:p>
            <a:pPr>
              <a:lnSpc>
                <a:spcPct val="110000"/>
              </a:lnSpc>
            </a:pPr>
            <a:r>
              <a:rPr lang="en-US" dirty="0" smtClean="0"/>
              <a:t>Methods for estimating a classifier</a:t>
            </a:r>
            <a:r>
              <a:rPr lang="ja-JP" altLang="en-US" smtClean="0"/>
              <a:t>’</a:t>
            </a:r>
            <a:r>
              <a:rPr lang="en-US" altLang="ja-JP" dirty="0" smtClean="0"/>
              <a:t>s performance: </a:t>
            </a:r>
          </a:p>
          <a:p>
            <a:pPr lvl="1">
              <a:lnSpc>
                <a:spcPct val="110000"/>
              </a:lnSpc>
            </a:pPr>
            <a:r>
              <a:rPr lang="en-US" dirty="0" smtClean="0"/>
              <a:t>Holdout method, random </a:t>
            </a:r>
            <a:r>
              <a:rPr lang="en-US" dirty="0" err="1" smtClean="0"/>
              <a:t>subsampling</a:t>
            </a:r>
            <a:endParaRPr lang="en-US" dirty="0" smtClean="0"/>
          </a:p>
          <a:p>
            <a:pPr lvl="1">
              <a:lnSpc>
                <a:spcPct val="110000"/>
              </a:lnSpc>
            </a:pPr>
            <a:r>
              <a:rPr lang="en-US" dirty="0" smtClean="0"/>
              <a:t>Bootstrap</a:t>
            </a:r>
          </a:p>
          <a:p>
            <a:pPr lvl="1">
              <a:lnSpc>
                <a:spcPct val="110000"/>
              </a:lnSpc>
            </a:pPr>
            <a:r>
              <a:rPr lang="en-US" dirty="0" smtClean="0"/>
              <a:t>Cross-validation</a:t>
            </a:r>
          </a:p>
          <a:p>
            <a:pPr>
              <a:lnSpc>
                <a:spcPct val="110000"/>
              </a:lnSpc>
            </a:pPr>
            <a:endParaRPr lang="en-US" sz="2400" dirty="0" smtClean="0"/>
          </a:p>
        </p:txBody>
      </p:sp>
      <p:sp>
        <p:nvSpPr>
          <p:cNvPr id="118787" name="Slide Number Placeholder 7"/>
          <p:cNvSpPr txBox="1">
            <a:spLocks noGrp="1"/>
          </p:cNvSpPr>
          <p:nvPr/>
        </p:nvSpPr>
        <p:spPr bwMode="auto">
          <a:xfrm>
            <a:off x="7239000" y="6477000"/>
            <a:ext cx="1905000" cy="381000"/>
          </a:xfrm>
          <a:prstGeom prst="rect">
            <a:avLst/>
          </a:prstGeom>
          <a:noFill/>
          <a:ln w="9525">
            <a:noFill/>
            <a:miter lim="800000"/>
            <a:headEnd/>
            <a:tailEnd/>
          </a:ln>
        </p:spPr>
        <p:txBody>
          <a:bodyPr anchor="b"/>
          <a:lstStyle/>
          <a:p>
            <a:pPr algn="r"/>
            <a:fld id="{A5F06FF1-BCE4-4373-8D34-195BA6C0EEEB}" type="slidenum">
              <a:rPr lang="en-US" sz="1200" b="1">
                <a:latin typeface="Calibri" pitchFamily="34" charset="0"/>
              </a:rPr>
              <a:pPr algn="r"/>
              <a:t>2</a:t>
            </a:fld>
            <a:endParaRPr lang="en-US" sz="1200" b="1">
              <a:latin typeface="Calibri" pitchFamily="34" charset="0"/>
            </a:endParaRPr>
          </a:p>
        </p:txBody>
      </p:sp>
    </p:spTree>
  </p:cSld>
  <p:clrMapOvr>
    <a:masterClrMapping/>
  </p:clrMapOvr>
  <p:transition>
    <p:zo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Holdout Method</a:t>
            </a:r>
            <a:endParaRPr lang="en-US" dirty="0"/>
          </a:p>
        </p:txBody>
      </p:sp>
      <p:sp>
        <p:nvSpPr>
          <p:cNvPr id="3" name="Content Placeholder 2"/>
          <p:cNvSpPr>
            <a:spLocks noGrp="1"/>
          </p:cNvSpPr>
          <p:nvPr>
            <p:ph idx="1"/>
          </p:nvPr>
        </p:nvSpPr>
        <p:spPr/>
        <p:txBody>
          <a:bodyPr/>
          <a:lstStyle/>
          <a:p>
            <a:pPr lvl="1">
              <a:lnSpc>
                <a:spcPct val="110000"/>
              </a:lnSpc>
            </a:pPr>
            <a:r>
              <a:rPr lang="en-US" sz="2400" dirty="0" smtClean="0"/>
              <a:t>The holdout method is a data splitting technique that divides the original dataset into two subsets such as, </a:t>
            </a:r>
            <a:r>
              <a:rPr lang="en-US" sz="2400" dirty="0" smtClean="0">
                <a:solidFill>
                  <a:srgbClr val="FF0000"/>
                </a:solidFill>
              </a:rPr>
              <a:t>training set and test set</a:t>
            </a:r>
            <a:r>
              <a:rPr lang="en-US" sz="2400" dirty="0" smtClean="0"/>
              <a:t>. </a:t>
            </a:r>
          </a:p>
          <a:p>
            <a:pPr lvl="1">
              <a:lnSpc>
                <a:spcPct val="110000"/>
              </a:lnSpc>
            </a:pPr>
            <a:r>
              <a:rPr lang="en-US" sz="2400" dirty="0" smtClean="0"/>
              <a:t>The training set is used to build and train the classifier, while the test set is used to evaluate how well the model can generalize to new data. </a:t>
            </a:r>
          </a:p>
          <a:p>
            <a:pPr lvl="1">
              <a:lnSpc>
                <a:spcPct val="110000"/>
              </a:lnSpc>
            </a:pPr>
            <a:r>
              <a:rPr lang="en-US" sz="2400" dirty="0" smtClean="0"/>
              <a:t>The test set is also called the holdout set, because it is held out from the model development process.</a:t>
            </a:r>
          </a:p>
          <a:p>
            <a:pPr lvl="1">
              <a:lnSpc>
                <a:spcPct val="110000"/>
              </a:lnSpc>
            </a:pPr>
            <a:r>
              <a:rPr lang="en-US" sz="2400" dirty="0" smtClean="0"/>
              <a:t>To apply the holdout method, you need to decide how to split the data into training and test sets. </a:t>
            </a:r>
          </a:p>
          <a:p>
            <a:endParaRPr lang="en-US"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3</a:t>
            </a:fld>
            <a:endParaRPr lang="en-US"/>
          </a:p>
        </p:txBody>
      </p:sp>
    </p:spTree>
  </p:cSld>
  <p:clrMapOvr>
    <a:masterClrMapping/>
  </p:clrMapOvr>
  <p:transition>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Holdout Method</a:t>
            </a:r>
            <a:endParaRPr lang="en-US" dirty="0"/>
          </a:p>
        </p:txBody>
      </p:sp>
      <p:sp>
        <p:nvSpPr>
          <p:cNvPr id="3" name="Content Placeholder 2"/>
          <p:cNvSpPr>
            <a:spLocks noGrp="1"/>
          </p:cNvSpPr>
          <p:nvPr>
            <p:ph idx="1"/>
          </p:nvPr>
        </p:nvSpPr>
        <p:spPr>
          <a:xfrm>
            <a:off x="304800" y="1219200"/>
            <a:ext cx="8458200" cy="4953000"/>
          </a:xfrm>
        </p:spPr>
        <p:txBody>
          <a:bodyPr/>
          <a:lstStyle/>
          <a:p>
            <a:r>
              <a:rPr lang="en-US" sz="2400" dirty="0" smtClean="0"/>
              <a:t>A common rule of thumb is to use two-thirds of the data for training and one-third for testing.</a:t>
            </a:r>
          </a:p>
          <a:p>
            <a:r>
              <a:rPr lang="en-US" sz="2400" dirty="0" smtClean="0"/>
              <a:t>But this may vary depending on the size and characteristics of the data. </a:t>
            </a:r>
          </a:p>
          <a:p>
            <a:r>
              <a:rPr lang="en-US" sz="2400" dirty="0" smtClean="0"/>
              <a:t>The model is trained on training data and evaluated on test data.</a:t>
            </a:r>
          </a:p>
          <a:p>
            <a:r>
              <a:rPr lang="en-US" sz="2400" dirty="0" smtClean="0"/>
              <a:t>Here, we need to ensure that the two sets are representative of the original data, meaning that they have similar distributions and proportions of objects and classes. </a:t>
            </a:r>
          </a:p>
          <a:p>
            <a:r>
              <a:rPr lang="en-US" sz="2400" dirty="0" smtClean="0"/>
              <a:t>This can be done by stratified sampling, which preserves the relative frequencies of different groups in the data.</a:t>
            </a:r>
          </a:p>
          <a:p>
            <a:endParaRPr lang="en-US" dirty="0" smtClean="0"/>
          </a:p>
          <a:p>
            <a:endParaRPr lang="en-US" dirty="0" smtClean="0"/>
          </a:p>
        </p:txBody>
      </p:sp>
      <p:sp>
        <p:nvSpPr>
          <p:cNvPr id="4" name="Slide Number Placeholder 3"/>
          <p:cNvSpPr>
            <a:spLocks noGrp="1"/>
          </p:cNvSpPr>
          <p:nvPr>
            <p:ph type="sldNum" sz="quarter" idx="10"/>
          </p:nvPr>
        </p:nvSpPr>
        <p:spPr/>
        <p:txBody>
          <a:bodyPr/>
          <a:lstStyle/>
          <a:p>
            <a:fld id="{D37A8A04-1C0C-4C06-A72C-2BB05733F882}" type="slidenum">
              <a:rPr lang="en-US" smtClean="0"/>
              <a:pPr/>
              <a:t>4</a:t>
            </a:fld>
            <a:endParaRPr lang="en-US"/>
          </a:p>
        </p:txBody>
      </p:sp>
    </p:spTree>
  </p:cSld>
  <p:clrMapOvr>
    <a:masterClrMapping/>
  </p:clrMapOvr>
  <p:transition>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2"/>
          <p:cNvSpPr txBox="1">
            <a:spLocks noChangeArrowheads="1"/>
          </p:cNvSpPr>
          <p:nvPr/>
        </p:nvSpPr>
        <p:spPr bwMode="auto">
          <a:xfrm>
            <a:off x="7239000" y="6581775"/>
            <a:ext cx="1905000" cy="276225"/>
          </a:xfrm>
          <a:prstGeom prst="rect">
            <a:avLst/>
          </a:prstGeom>
          <a:noFill/>
          <a:ln w="9525">
            <a:noFill/>
            <a:miter lim="800000"/>
            <a:headEnd/>
            <a:tailEnd/>
          </a:ln>
        </p:spPr>
        <p:txBody>
          <a:bodyPr lIns="90000" tIns="46800" rIns="90000" bIns="46800" anchor="b">
            <a:spAutoFit/>
          </a:bodyPr>
          <a:lstStyle/>
          <a:p>
            <a:pPr algn="r" eaLnBrk="1" hangingPunct="1">
              <a:lnSpc>
                <a:spcPct val="101000"/>
              </a:lnSpc>
              <a:buClr>
                <a:srgbClr val="000000"/>
              </a:buClr>
              <a:buSzPct val="100000"/>
              <a:buFont typeface="Tahom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BC37827-6E3F-4255-9DE7-D60C2B6FE388}" type="slidenum">
              <a:rPr lang="en-GB" sz="1200">
                <a:solidFill>
                  <a:schemeClr val="tx1"/>
                </a:solidFill>
                <a:latin typeface="Tahoma" pitchFamily="34" charset="0"/>
              </a:rPr>
              <a:pPr algn="r" eaLnBrk="1" hangingPunct="1">
                <a:lnSpc>
                  <a:spcPct val="101000"/>
                </a:lnSpc>
                <a:buClr>
                  <a:srgbClr val="000000"/>
                </a:buClr>
                <a:buSzPct val="100000"/>
                <a:buFont typeface="Tahom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t>5</a:t>
            </a:fld>
            <a:endParaRPr lang="en-GB" sz="1200">
              <a:solidFill>
                <a:schemeClr val="tx1"/>
              </a:solidFill>
              <a:latin typeface="Tahoma" pitchFamily="34" charset="0"/>
            </a:endParaRPr>
          </a:p>
        </p:txBody>
      </p:sp>
      <p:sp>
        <p:nvSpPr>
          <p:cNvPr id="59395" name="Rectangle 3"/>
          <p:cNvSpPr>
            <a:spLocks noGrp="1" noChangeArrowheads="1"/>
          </p:cNvSpPr>
          <p:nvPr>
            <p:ph type="title" idx="4294967295"/>
          </p:nvPr>
        </p:nvSpPr>
        <p:spPr>
          <a:xfrm>
            <a:off x="685800" y="228600"/>
            <a:ext cx="7467600" cy="838200"/>
          </a:xfrm>
        </p:spPr>
        <p:txBody>
          <a:bodyPr/>
          <a:lstStyle/>
          <a:p>
            <a:pPr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200" dirty="0" smtClean="0"/>
              <a:t>Sampling</a:t>
            </a:r>
          </a:p>
        </p:txBody>
      </p:sp>
      <p:sp>
        <p:nvSpPr>
          <p:cNvPr id="59396" name="Rectangle 4"/>
          <p:cNvSpPr>
            <a:spLocks noGrp="1" noChangeArrowheads="1"/>
          </p:cNvSpPr>
          <p:nvPr>
            <p:ph type="body" idx="1"/>
          </p:nvPr>
        </p:nvSpPr>
        <p:spPr>
          <a:xfrm>
            <a:off x="457200" y="1371601"/>
            <a:ext cx="8382000" cy="1523999"/>
          </a:xfrm>
        </p:spPr>
        <p:txBody>
          <a:bodyPr/>
          <a:lstStyle/>
          <a:p>
            <a:pPr eaLnBrk="1" hangingPunct="1">
              <a:lnSpc>
                <a:spcPct val="89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Sampling: obtaining a small sample </a:t>
            </a:r>
            <a:r>
              <a:rPr lang="en-GB" sz="2400" i="1" dirty="0" smtClean="0"/>
              <a:t>s</a:t>
            </a:r>
            <a:r>
              <a:rPr lang="en-GB" sz="2400" dirty="0" smtClean="0"/>
              <a:t> to represent the whole data set </a:t>
            </a:r>
            <a:r>
              <a:rPr lang="en-GB" sz="2400" i="1" dirty="0" smtClean="0"/>
              <a:t>N</a:t>
            </a:r>
          </a:p>
          <a:p>
            <a:pPr eaLnBrk="1" hangingPunct="1">
              <a:lnSpc>
                <a:spcPct val="89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Stratified sampling: Approximate the percentage of each class in the overall database </a:t>
            </a:r>
          </a:p>
        </p:txBody>
      </p:sp>
      <p:sp>
        <p:nvSpPr>
          <p:cNvPr id="5" name="AutoShape 55"/>
          <p:cNvSpPr>
            <a:spLocks noChangeArrowheads="1"/>
          </p:cNvSpPr>
          <p:nvPr/>
        </p:nvSpPr>
        <p:spPr bwMode="auto">
          <a:xfrm>
            <a:off x="1143001" y="2971800"/>
            <a:ext cx="1371600" cy="371513"/>
          </a:xfrm>
          <a:prstGeom prst="roundRect">
            <a:avLst>
              <a:gd name="adj" fmla="val 347"/>
            </a:avLst>
          </a:prstGeom>
          <a:noFill/>
          <a:ln w="9525">
            <a:noFill/>
            <a:round/>
            <a:headEnd/>
            <a:tailEnd/>
          </a:ln>
        </p:spPr>
        <p:txBody>
          <a:bodyPr wrap="square" lIns="90000" tIns="46800" rIns="90000" bIns="46800">
            <a:spAutoFit/>
          </a:bodyPr>
          <a:lstStyle/>
          <a:p>
            <a:pPr eaLnBrk="1" hangingPunct="1">
              <a:buClr>
                <a:srgbClr val="000000"/>
              </a:buClr>
              <a:buSzPct val="100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solidFill>
                  <a:schemeClr val="tx1"/>
                </a:solidFill>
              </a:rPr>
              <a:t>Raw Data </a:t>
            </a:r>
          </a:p>
        </p:txBody>
      </p:sp>
      <p:grpSp>
        <p:nvGrpSpPr>
          <p:cNvPr id="6" name="Group 4"/>
          <p:cNvGrpSpPr>
            <a:grpSpLocks/>
          </p:cNvGrpSpPr>
          <p:nvPr/>
        </p:nvGrpSpPr>
        <p:grpSpPr bwMode="auto">
          <a:xfrm>
            <a:off x="520701" y="3505200"/>
            <a:ext cx="3365500" cy="2540000"/>
            <a:chOff x="328" y="1700"/>
            <a:chExt cx="2362" cy="2108"/>
          </a:xfrm>
        </p:grpSpPr>
        <p:sp>
          <p:nvSpPr>
            <p:cNvPr id="7" name="AutoShape 5"/>
            <p:cNvSpPr>
              <a:spLocks noChangeArrowheads="1"/>
            </p:cNvSpPr>
            <p:nvPr/>
          </p:nvSpPr>
          <p:spPr bwMode="auto">
            <a:xfrm>
              <a:off x="328" y="1700"/>
              <a:ext cx="2363" cy="2109"/>
            </a:xfrm>
            <a:prstGeom prst="roundRect">
              <a:avLst>
                <a:gd name="adj" fmla="val 46"/>
              </a:avLst>
            </a:prstGeom>
            <a:noFill/>
            <a:ln w="9360">
              <a:solidFill>
                <a:srgbClr val="000000"/>
              </a:solidFill>
              <a:round/>
              <a:headEnd/>
              <a:tailEnd/>
            </a:ln>
          </p:spPr>
          <p:txBody>
            <a:bodyPr wrap="none" anchor="ctr"/>
            <a:lstStyle/>
            <a:p>
              <a:endParaRPr lang="en-US"/>
            </a:p>
          </p:txBody>
        </p:sp>
        <p:sp>
          <p:nvSpPr>
            <p:cNvPr id="8" name="Freeform 6"/>
            <p:cNvSpPr>
              <a:spLocks noChangeArrowheads="1"/>
            </p:cNvSpPr>
            <p:nvPr/>
          </p:nvSpPr>
          <p:spPr bwMode="auto">
            <a:xfrm>
              <a:off x="1663" y="2275"/>
              <a:ext cx="56" cy="75"/>
            </a:xfrm>
            <a:custGeom>
              <a:avLst/>
              <a:gdLst>
                <a:gd name="T0" fmla="*/ 0 w 248"/>
                <a:gd name="T1" fmla="*/ 0 h 331"/>
                <a:gd name="T2" fmla="*/ 0 w 248"/>
                <a:gd name="T3" fmla="*/ 0 h 331"/>
                <a:gd name="T4" fmla="*/ 0 w 248"/>
                <a:gd name="T5" fmla="*/ 0 h 331"/>
                <a:gd name="T6" fmla="*/ 0 w 248"/>
                <a:gd name="T7" fmla="*/ 0 h 331"/>
                <a:gd name="T8" fmla="*/ 0 w 248"/>
                <a:gd name="T9" fmla="*/ 0 h 331"/>
                <a:gd name="T10" fmla="*/ 0 w 248"/>
                <a:gd name="T11" fmla="*/ 0 h 331"/>
                <a:gd name="T12" fmla="*/ 0 60000 65536"/>
                <a:gd name="T13" fmla="*/ 0 60000 65536"/>
                <a:gd name="T14" fmla="*/ 0 60000 65536"/>
                <a:gd name="T15" fmla="*/ 0 60000 65536"/>
                <a:gd name="T16" fmla="*/ 0 60000 65536"/>
                <a:gd name="T17" fmla="*/ 0 60000 65536"/>
                <a:gd name="T18" fmla="*/ 0 w 248"/>
                <a:gd name="T19" fmla="*/ 0 h 331"/>
                <a:gd name="T20" fmla="*/ 248 w 248"/>
                <a:gd name="T21" fmla="*/ 331 h 331"/>
              </a:gdLst>
              <a:ahLst/>
              <a:cxnLst>
                <a:cxn ang="T12">
                  <a:pos x="T0" y="T1"/>
                </a:cxn>
                <a:cxn ang="T13">
                  <a:pos x="T2" y="T3"/>
                </a:cxn>
                <a:cxn ang="T14">
                  <a:pos x="T4" y="T5"/>
                </a:cxn>
                <a:cxn ang="T15">
                  <a:pos x="T6" y="T7"/>
                </a:cxn>
                <a:cxn ang="T16">
                  <a:pos x="T8" y="T9"/>
                </a:cxn>
                <a:cxn ang="T17">
                  <a:pos x="T10" y="T11"/>
                </a:cxn>
              </a:cxnLst>
              <a:rect l="T18" t="T19" r="T20" b="T21"/>
              <a:pathLst>
                <a:path w="248" h="331">
                  <a:moveTo>
                    <a:pt x="123" y="0"/>
                  </a:moveTo>
                  <a:cubicBezTo>
                    <a:pt x="193" y="0"/>
                    <a:pt x="247" y="72"/>
                    <a:pt x="247" y="165"/>
                  </a:cubicBezTo>
                  <a:cubicBezTo>
                    <a:pt x="247" y="258"/>
                    <a:pt x="193" y="330"/>
                    <a:pt x="123" y="330"/>
                  </a:cubicBezTo>
                  <a:cubicBezTo>
                    <a:pt x="53" y="330"/>
                    <a:pt x="0" y="258"/>
                    <a:pt x="0" y="165"/>
                  </a:cubicBezTo>
                  <a:cubicBezTo>
                    <a:pt x="0" y="72"/>
                    <a:pt x="53" y="0"/>
                    <a:pt x="123" y="0"/>
                  </a:cubicBezTo>
                </a:path>
              </a:pathLst>
            </a:custGeom>
            <a:solidFill>
              <a:srgbClr val="FFFFFF"/>
            </a:solidFill>
            <a:ln w="9360">
              <a:solidFill>
                <a:srgbClr val="000000"/>
              </a:solidFill>
              <a:round/>
              <a:headEnd/>
              <a:tailEnd/>
            </a:ln>
          </p:spPr>
          <p:txBody>
            <a:bodyPr wrap="none" anchor="ctr"/>
            <a:lstStyle/>
            <a:p>
              <a:endParaRPr lang="en-US"/>
            </a:p>
          </p:txBody>
        </p:sp>
        <p:sp>
          <p:nvSpPr>
            <p:cNvPr id="9" name="Freeform 7"/>
            <p:cNvSpPr>
              <a:spLocks noChangeArrowheads="1"/>
            </p:cNvSpPr>
            <p:nvPr/>
          </p:nvSpPr>
          <p:spPr bwMode="auto">
            <a:xfrm>
              <a:off x="1620" y="2598"/>
              <a:ext cx="56" cy="76"/>
            </a:xfrm>
            <a:custGeom>
              <a:avLst/>
              <a:gdLst>
                <a:gd name="T0" fmla="*/ 0 w 248"/>
                <a:gd name="T1" fmla="*/ 0 h 333"/>
                <a:gd name="T2" fmla="*/ 0 w 248"/>
                <a:gd name="T3" fmla="*/ 0 h 333"/>
                <a:gd name="T4" fmla="*/ 0 w 248"/>
                <a:gd name="T5" fmla="*/ 0 h 333"/>
                <a:gd name="T6" fmla="*/ 0 w 248"/>
                <a:gd name="T7" fmla="*/ 0 h 333"/>
                <a:gd name="T8" fmla="*/ 0 w 248"/>
                <a:gd name="T9" fmla="*/ 0 h 333"/>
                <a:gd name="T10" fmla="*/ 0 w 248"/>
                <a:gd name="T11" fmla="*/ 0 h 333"/>
                <a:gd name="T12" fmla="*/ 0 60000 65536"/>
                <a:gd name="T13" fmla="*/ 0 60000 65536"/>
                <a:gd name="T14" fmla="*/ 0 60000 65536"/>
                <a:gd name="T15" fmla="*/ 0 60000 65536"/>
                <a:gd name="T16" fmla="*/ 0 60000 65536"/>
                <a:gd name="T17" fmla="*/ 0 60000 65536"/>
                <a:gd name="T18" fmla="*/ 0 w 248"/>
                <a:gd name="T19" fmla="*/ 0 h 333"/>
                <a:gd name="T20" fmla="*/ 248 w 248"/>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48" h="333">
                  <a:moveTo>
                    <a:pt x="123" y="0"/>
                  </a:moveTo>
                  <a:cubicBezTo>
                    <a:pt x="193" y="0"/>
                    <a:pt x="247" y="72"/>
                    <a:pt x="247" y="166"/>
                  </a:cubicBezTo>
                  <a:cubicBezTo>
                    <a:pt x="247" y="260"/>
                    <a:pt x="193" y="332"/>
                    <a:pt x="123" y="332"/>
                  </a:cubicBezTo>
                  <a:cubicBezTo>
                    <a:pt x="53" y="332"/>
                    <a:pt x="0" y="260"/>
                    <a:pt x="0" y="166"/>
                  </a:cubicBezTo>
                  <a:cubicBezTo>
                    <a:pt x="0" y="72"/>
                    <a:pt x="53" y="0"/>
                    <a:pt x="123" y="0"/>
                  </a:cubicBezTo>
                </a:path>
              </a:pathLst>
            </a:custGeom>
            <a:solidFill>
              <a:srgbClr val="FFFFFF"/>
            </a:solidFill>
            <a:ln w="9360">
              <a:solidFill>
                <a:srgbClr val="000000"/>
              </a:solidFill>
              <a:round/>
              <a:headEnd/>
              <a:tailEnd/>
            </a:ln>
          </p:spPr>
          <p:txBody>
            <a:bodyPr wrap="none" anchor="ctr"/>
            <a:lstStyle/>
            <a:p>
              <a:endParaRPr lang="en-US"/>
            </a:p>
          </p:txBody>
        </p:sp>
        <p:sp>
          <p:nvSpPr>
            <p:cNvPr id="10" name="Freeform 8"/>
            <p:cNvSpPr>
              <a:spLocks noChangeArrowheads="1"/>
            </p:cNvSpPr>
            <p:nvPr/>
          </p:nvSpPr>
          <p:spPr bwMode="auto">
            <a:xfrm>
              <a:off x="1765" y="2416"/>
              <a:ext cx="56" cy="76"/>
            </a:xfrm>
            <a:custGeom>
              <a:avLst/>
              <a:gdLst>
                <a:gd name="T0" fmla="*/ 0 w 248"/>
                <a:gd name="T1" fmla="*/ 0 h 333"/>
                <a:gd name="T2" fmla="*/ 0 w 248"/>
                <a:gd name="T3" fmla="*/ 0 h 333"/>
                <a:gd name="T4" fmla="*/ 0 w 248"/>
                <a:gd name="T5" fmla="*/ 0 h 333"/>
                <a:gd name="T6" fmla="*/ 0 w 248"/>
                <a:gd name="T7" fmla="*/ 0 h 333"/>
                <a:gd name="T8" fmla="*/ 0 w 248"/>
                <a:gd name="T9" fmla="*/ 0 h 333"/>
                <a:gd name="T10" fmla="*/ 0 w 248"/>
                <a:gd name="T11" fmla="*/ 0 h 333"/>
                <a:gd name="T12" fmla="*/ 0 60000 65536"/>
                <a:gd name="T13" fmla="*/ 0 60000 65536"/>
                <a:gd name="T14" fmla="*/ 0 60000 65536"/>
                <a:gd name="T15" fmla="*/ 0 60000 65536"/>
                <a:gd name="T16" fmla="*/ 0 60000 65536"/>
                <a:gd name="T17" fmla="*/ 0 60000 65536"/>
                <a:gd name="T18" fmla="*/ 0 w 248"/>
                <a:gd name="T19" fmla="*/ 0 h 333"/>
                <a:gd name="T20" fmla="*/ 248 w 248"/>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48" h="333">
                  <a:moveTo>
                    <a:pt x="123" y="0"/>
                  </a:moveTo>
                  <a:cubicBezTo>
                    <a:pt x="193" y="0"/>
                    <a:pt x="247" y="72"/>
                    <a:pt x="247" y="166"/>
                  </a:cubicBezTo>
                  <a:cubicBezTo>
                    <a:pt x="247" y="260"/>
                    <a:pt x="193" y="332"/>
                    <a:pt x="123" y="332"/>
                  </a:cubicBezTo>
                  <a:cubicBezTo>
                    <a:pt x="53" y="332"/>
                    <a:pt x="0" y="260"/>
                    <a:pt x="0" y="166"/>
                  </a:cubicBezTo>
                  <a:cubicBezTo>
                    <a:pt x="0" y="72"/>
                    <a:pt x="53" y="0"/>
                    <a:pt x="123" y="0"/>
                  </a:cubicBezTo>
                </a:path>
              </a:pathLst>
            </a:custGeom>
            <a:solidFill>
              <a:srgbClr val="FFFFFF"/>
            </a:solidFill>
            <a:ln w="9360">
              <a:solidFill>
                <a:srgbClr val="000000"/>
              </a:solidFill>
              <a:round/>
              <a:headEnd/>
              <a:tailEnd/>
            </a:ln>
          </p:spPr>
          <p:txBody>
            <a:bodyPr wrap="none" anchor="ctr"/>
            <a:lstStyle/>
            <a:p>
              <a:endParaRPr lang="en-US"/>
            </a:p>
          </p:txBody>
        </p:sp>
        <p:sp>
          <p:nvSpPr>
            <p:cNvPr id="11" name="Freeform 9"/>
            <p:cNvSpPr>
              <a:spLocks noChangeArrowheads="1"/>
            </p:cNvSpPr>
            <p:nvPr/>
          </p:nvSpPr>
          <p:spPr bwMode="auto">
            <a:xfrm>
              <a:off x="1564" y="2450"/>
              <a:ext cx="56" cy="76"/>
            </a:xfrm>
            <a:custGeom>
              <a:avLst/>
              <a:gdLst>
                <a:gd name="T0" fmla="*/ 0 w 248"/>
                <a:gd name="T1" fmla="*/ 0 h 333"/>
                <a:gd name="T2" fmla="*/ 0 w 248"/>
                <a:gd name="T3" fmla="*/ 0 h 333"/>
                <a:gd name="T4" fmla="*/ 0 w 248"/>
                <a:gd name="T5" fmla="*/ 0 h 333"/>
                <a:gd name="T6" fmla="*/ 0 w 248"/>
                <a:gd name="T7" fmla="*/ 0 h 333"/>
                <a:gd name="T8" fmla="*/ 0 w 248"/>
                <a:gd name="T9" fmla="*/ 0 h 333"/>
                <a:gd name="T10" fmla="*/ 0 w 248"/>
                <a:gd name="T11" fmla="*/ 0 h 333"/>
                <a:gd name="T12" fmla="*/ 0 60000 65536"/>
                <a:gd name="T13" fmla="*/ 0 60000 65536"/>
                <a:gd name="T14" fmla="*/ 0 60000 65536"/>
                <a:gd name="T15" fmla="*/ 0 60000 65536"/>
                <a:gd name="T16" fmla="*/ 0 60000 65536"/>
                <a:gd name="T17" fmla="*/ 0 60000 65536"/>
                <a:gd name="T18" fmla="*/ 0 w 248"/>
                <a:gd name="T19" fmla="*/ 0 h 333"/>
                <a:gd name="T20" fmla="*/ 248 w 248"/>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48" h="333">
                  <a:moveTo>
                    <a:pt x="123" y="0"/>
                  </a:moveTo>
                  <a:cubicBezTo>
                    <a:pt x="193" y="0"/>
                    <a:pt x="247" y="72"/>
                    <a:pt x="247" y="166"/>
                  </a:cubicBezTo>
                  <a:cubicBezTo>
                    <a:pt x="247" y="260"/>
                    <a:pt x="193" y="332"/>
                    <a:pt x="123" y="332"/>
                  </a:cubicBezTo>
                  <a:cubicBezTo>
                    <a:pt x="53" y="332"/>
                    <a:pt x="0" y="260"/>
                    <a:pt x="0" y="166"/>
                  </a:cubicBezTo>
                  <a:cubicBezTo>
                    <a:pt x="0" y="72"/>
                    <a:pt x="53" y="0"/>
                    <a:pt x="123" y="0"/>
                  </a:cubicBezTo>
                </a:path>
              </a:pathLst>
            </a:custGeom>
            <a:solidFill>
              <a:srgbClr val="FFFFFF"/>
            </a:solidFill>
            <a:ln w="9360">
              <a:solidFill>
                <a:srgbClr val="000000"/>
              </a:solidFill>
              <a:round/>
              <a:headEnd/>
              <a:tailEnd/>
            </a:ln>
          </p:spPr>
          <p:txBody>
            <a:bodyPr wrap="none" anchor="ctr"/>
            <a:lstStyle/>
            <a:p>
              <a:endParaRPr lang="en-US"/>
            </a:p>
          </p:txBody>
        </p:sp>
        <p:sp>
          <p:nvSpPr>
            <p:cNvPr id="12" name="Freeform 10"/>
            <p:cNvSpPr>
              <a:spLocks noChangeArrowheads="1"/>
            </p:cNvSpPr>
            <p:nvPr/>
          </p:nvSpPr>
          <p:spPr bwMode="auto">
            <a:xfrm>
              <a:off x="1998" y="2477"/>
              <a:ext cx="56" cy="75"/>
            </a:xfrm>
            <a:custGeom>
              <a:avLst/>
              <a:gdLst>
                <a:gd name="T0" fmla="*/ 0 w 248"/>
                <a:gd name="T1" fmla="*/ 0 h 329"/>
                <a:gd name="T2" fmla="*/ 0 w 248"/>
                <a:gd name="T3" fmla="*/ 0 h 329"/>
                <a:gd name="T4" fmla="*/ 0 w 248"/>
                <a:gd name="T5" fmla="*/ 0 h 329"/>
                <a:gd name="T6" fmla="*/ 0 w 248"/>
                <a:gd name="T7" fmla="*/ 0 h 329"/>
                <a:gd name="T8" fmla="*/ 0 w 248"/>
                <a:gd name="T9" fmla="*/ 0 h 329"/>
                <a:gd name="T10" fmla="*/ 0 w 248"/>
                <a:gd name="T11" fmla="*/ 0 h 329"/>
                <a:gd name="T12" fmla="*/ 0 60000 65536"/>
                <a:gd name="T13" fmla="*/ 0 60000 65536"/>
                <a:gd name="T14" fmla="*/ 0 60000 65536"/>
                <a:gd name="T15" fmla="*/ 0 60000 65536"/>
                <a:gd name="T16" fmla="*/ 0 60000 65536"/>
                <a:gd name="T17" fmla="*/ 0 60000 65536"/>
                <a:gd name="T18" fmla="*/ 0 w 248"/>
                <a:gd name="T19" fmla="*/ 0 h 329"/>
                <a:gd name="T20" fmla="*/ 248 w 248"/>
                <a:gd name="T21" fmla="*/ 329 h 329"/>
              </a:gdLst>
              <a:ahLst/>
              <a:cxnLst>
                <a:cxn ang="T12">
                  <a:pos x="T0" y="T1"/>
                </a:cxn>
                <a:cxn ang="T13">
                  <a:pos x="T2" y="T3"/>
                </a:cxn>
                <a:cxn ang="T14">
                  <a:pos x="T4" y="T5"/>
                </a:cxn>
                <a:cxn ang="T15">
                  <a:pos x="T6" y="T7"/>
                </a:cxn>
                <a:cxn ang="T16">
                  <a:pos x="T8" y="T9"/>
                </a:cxn>
                <a:cxn ang="T17">
                  <a:pos x="T10" y="T11"/>
                </a:cxn>
              </a:cxnLst>
              <a:rect l="T18" t="T19" r="T20" b="T21"/>
              <a:pathLst>
                <a:path w="248" h="329">
                  <a:moveTo>
                    <a:pt x="123" y="0"/>
                  </a:moveTo>
                  <a:cubicBezTo>
                    <a:pt x="193" y="0"/>
                    <a:pt x="247" y="71"/>
                    <a:pt x="247" y="164"/>
                  </a:cubicBezTo>
                  <a:cubicBezTo>
                    <a:pt x="247" y="257"/>
                    <a:pt x="193" y="328"/>
                    <a:pt x="123" y="328"/>
                  </a:cubicBezTo>
                  <a:cubicBezTo>
                    <a:pt x="53" y="328"/>
                    <a:pt x="0" y="257"/>
                    <a:pt x="0" y="164"/>
                  </a:cubicBezTo>
                  <a:cubicBezTo>
                    <a:pt x="0" y="71"/>
                    <a:pt x="53" y="0"/>
                    <a:pt x="123" y="0"/>
                  </a:cubicBezTo>
                </a:path>
              </a:pathLst>
            </a:custGeom>
            <a:solidFill>
              <a:srgbClr val="FFFFFF"/>
            </a:solidFill>
            <a:ln w="9360">
              <a:solidFill>
                <a:srgbClr val="000000"/>
              </a:solidFill>
              <a:round/>
              <a:headEnd/>
              <a:tailEnd/>
            </a:ln>
          </p:spPr>
          <p:txBody>
            <a:bodyPr wrap="none" anchor="ctr"/>
            <a:lstStyle/>
            <a:p>
              <a:endParaRPr lang="en-US"/>
            </a:p>
          </p:txBody>
        </p:sp>
        <p:sp>
          <p:nvSpPr>
            <p:cNvPr id="13" name="Freeform 11"/>
            <p:cNvSpPr>
              <a:spLocks noChangeArrowheads="1"/>
            </p:cNvSpPr>
            <p:nvPr/>
          </p:nvSpPr>
          <p:spPr bwMode="auto">
            <a:xfrm>
              <a:off x="1928" y="2636"/>
              <a:ext cx="56" cy="76"/>
            </a:xfrm>
            <a:custGeom>
              <a:avLst/>
              <a:gdLst>
                <a:gd name="T0" fmla="*/ 0 w 248"/>
                <a:gd name="T1" fmla="*/ 0 h 333"/>
                <a:gd name="T2" fmla="*/ 0 w 248"/>
                <a:gd name="T3" fmla="*/ 0 h 333"/>
                <a:gd name="T4" fmla="*/ 0 w 248"/>
                <a:gd name="T5" fmla="*/ 0 h 333"/>
                <a:gd name="T6" fmla="*/ 0 w 248"/>
                <a:gd name="T7" fmla="*/ 0 h 333"/>
                <a:gd name="T8" fmla="*/ 0 w 248"/>
                <a:gd name="T9" fmla="*/ 0 h 333"/>
                <a:gd name="T10" fmla="*/ 0 w 248"/>
                <a:gd name="T11" fmla="*/ 0 h 333"/>
                <a:gd name="T12" fmla="*/ 0 60000 65536"/>
                <a:gd name="T13" fmla="*/ 0 60000 65536"/>
                <a:gd name="T14" fmla="*/ 0 60000 65536"/>
                <a:gd name="T15" fmla="*/ 0 60000 65536"/>
                <a:gd name="T16" fmla="*/ 0 60000 65536"/>
                <a:gd name="T17" fmla="*/ 0 60000 65536"/>
                <a:gd name="T18" fmla="*/ 0 w 248"/>
                <a:gd name="T19" fmla="*/ 0 h 333"/>
                <a:gd name="T20" fmla="*/ 248 w 248"/>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48" h="333">
                  <a:moveTo>
                    <a:pt x="123" y="0"/>
                  </a:moveTo>
                  <a:cubicBezTo>
                    <a:pt x="193" y="0"/>
                    <a:pt x="247" y="72"/>
                    <a:pt x="247" y="166"/>
                  </a:cubicBezTo>
                  <a:cubicBezTo>
                    <a:pt x="247" y="260"/>
                    <a:pt x="193" y="332"/>
                    <a:pt x="123" y="332"/>
                  </a:cubicBezTo>
                  <a:cubicBezTo>
                    <a:pt x="53" y="332"/>
                    <a:pt x="0" y="260"/>
                    <a:pt x="0" y="166"/>
                  </a:cubicBezTo>
                  <a:cubicBezTo>
                    <a:pt x="0" y="72"/>
                    <a:pt x="53" y="0"/>
                    <a:pt x="123" y="0"/>
                  </a:cubicBezTo>
                </a:path>
              </a:pathLst>
            </a:custGeom>
            <a:solidFill>
              <a:srgbClr val="FFFFFF"/>
            </a:solidFill>
            <a:ln w="9360">
              <a:solidFill>
                <a:srgbClr val="000000"/>
              </a:solidFill>
              <a:round/>
              <a:headEnd/>
              <a:tailEnd/>
            </a:ln>
          </p:spPr>
          <p:txBody>
            <a:bodyPr wrap="none" anchor="ctr"/>
            <a:lstStyle/>
            <a:p>
              <a:endParaRPr lang="en-US"/>
            </a:p>
          </p:txBody>
        </p:sp>
        <p:sp>
          <p:nvSpPr>
            <p:cNvPr id="14" name="Freeform 12"/>
            <p:cNvSpPr>
              <a:spLocks noChangeArrowheads="1"/>
            </p:cNvSpPr>
            <p:nvPr/>
          </p:nvSpPr>
          <p:spPr bwMode="auto">
            <a:xfrm>
              <a:off x="1794" y="2675"/>
              <a:ext cx="57" cy="76"/>
            </a:xfrm>
            <a:custGeom>
              <a:avLst/>
              <a:gdLst>
                <a:gd name="T0" fmla="*/ 0 w 253"/>
                <a:gd name="T1" fmla="*/ 0 h 333"/>
                <a:gd name="T2" fmla="*/ 0 w 253"/>
                <a:gd name="T3" fmla="*/ 0 h 333"/>
                <a:gd name="T4" fmla="*/ 0 w 253"/>
                <a:gd name="T5" fmla="*/ 0 h 333"/>
                <a:gd name="T6" fmla="*/ 0 w 253"/>
                <a:gd name="T7" fmla="*/ 0 h 333"/>
                <a:gd name="T8" fmla="*/ 0 w 253"/>
                <a:gd name="T9" fmla="*/ 0 h 333"/>
                <a:gd name="T10" fmla="*/ 0 w 253"/>
                <a:gd name="T11" fmla="*/ 0 h 333"/>
                <a:gd name="T12" fmla="*/ 0 60000 65536"/>
                <a:gd name="T13" fmla="*/ 0 60000 65536"/>
                <a:gd name="T14" fmla="*/ 0 60000 65536"/>
                <a:gd name="T15" fmla="*/ 0 60000 65536"/>
                <a:gd name="T16" fmla="*/ 0 60000 65536"/>
                <a:gd name="T17" fmla="*/ 0 60000 65536"/>
                <a:gd name="T18" fmla="*/ 0 w 253"/>
                <a:gd name="T19" fmla="*/ 0 h 333"/>
                <a:gd name="T20" fmla="*/ 253 w 253"/>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53" h="333">
                  <a:moveTo>
                    <a:pt x="126" y="0"/>
                  </a:moveTo>
                  <a:cubicBezTo>
                    <a:pt x="197" y="0"/>
                    <a:pt x="252" y="72"/>
                    <a:pt x="252" y="166"/>
                  </a:cubicBezTo>
                  <a:cubicBezTo>
                    <a:pt x="252" y="260"/>
                    <a:pt x="197" y="332"/>
                    <a:pt x="126" y="332"/>
                  </a:cubicBezTo>
                  <a:cubicBezTo>
                    <a:pt x="55" y="332"/>
                    <a:pt x="0" y="260"/>
                    <a:pt x="0" y="166"/>
                  </a:cubicBezTo>
                  <a:cubicBezTo>
                    <a:pt x="0" y="72"/>
                    <a:pt x="55" y="0"/>
                    <a:pt x="126" y="0"/>
                  </a:cubicBezTo>
                </a:path>
              </a:pathLst>
            </a:custGeom>
            <a:solidFill>
              <a:srgbClr val="FFFFFF"/>
            </a:solidFill>
            <a:ln w="9360">
              <a:solidFill>
                <a:srgbClr val="000000"/>
              </a:solidFill>
              <a:round/>
              <a:headEnd/>
              <a:tailEnd/>
            </a:ln>
          </p:spPr>
          <p:txBody>
            <a:bodyPr wrap="none" anchor="ctr"/>
            <a:lstStyle/>
            <a:p>
              <a:endParaRPr lang="en-US"/>
            </a:p>
          </p:txBody>
        </p:sp>
        <p:sp>
          <p:nvSpPr>
            <p:cNvPr id="15" name="Freeform 13"/>
            <p:cNvSpPr>
              <a:spLocks noChangeArrowheads="1"/>
            </p:cNvSpPr>
            <p:nvPr/>
          </p:nvSpPr>
          <p:spPr bwMode="auto">
            <a:xfrm>
              <a:off x="1487" y="2127"/>
              <a:ext cx="56" cy="74"/>
            </a:xfrm>
            <a:custGeom>
              <a:avLst/>
              <a:gdLst>
                <a:gd name="T0" fmla="*/ 0 w 249"/>
                <a:gd name="T1" fmla="*/ 0 h 328"/>
                <a:gd name="T2" fmla="*/ 0 w 249"/>
                <a:gd name="T3" fmla="*/ 0 h 328"/>
                <a:gd name="T4" fmla="*/ 0 w 249"/>
                <a:gd name="T5" fmla="*/ 0 h 328"/>
                <a:gd name="T6" fmla="*/ 0 w 249"/>
                <a:gd name="T7" fmla="*/ 0 h 328"/>
                <a:gd name="T8" fmla="*/ 0 w 249"/>
                <a:gd name="T9" fmla="*/ 0 h 328"/>
                <a:gd name="T10" fmla="*/ 0 w 249"/>
                <a:gd name="T11" fmla="*/ 0 h 328"/>
                <a:gd name="T12" fmla="*/ 0 60000 65536"/>
                <a:gd name="T13" fmla="*/ 0 60000 65536"/>
                <a:gd name="T14" fmla="*/ 0 60000 65536"/>
                <a:gd name="T15" fmla="*/ 0 60000 65536"/>
                <a:gd name="T16" fmla="*/ 0 60000 65536"/>
                <a:gd name="T17" fmla="*/ 0 60000 65536"/>
                <a:gd name="T18" fmla="*/ 0 w 249"/>
                <a:gd name="T19" fmla="*/ 0 h 328"/>
                <a:gd name="T20" fmla="*/ 249 w 249"/>
                <a:gd name="T21" fmla="*/ 328 h 328"/>
              </a:gdLst>
              <a:ahLst/>
              <a:cxnLst>
                <a:cxn ang="T12">
                  <a:pos x="T0" y="T1"/>
                </a:cxn>
                <a:cxn ang="T13">
                  <a:pos x="T2" y="T3"/>
                </a:cxn>
                <a:cxn ang="T14">
                  <a:pos x="T4" y="T5"/>
                </a:cxn>
                <a:cxn ang="T15">
                  <a:pos x="T6" y="T7"/>
                </a:cxn>
                <a:cxn ang="T16">
                  <a:pos x="T8" y="T9"/>
                </a:cxn>
                <a:cxn ang="T17">
                  <a:pos x="T10" y="T11"/>
                </a:cxn>
              </a:cxnLst>
              <a:rect l="T18" t="T19" r="T20" b="T21"/>
              <a:pathLst>
                <a:path w="249" h="328">
                  <a:moveTo>
                    <a:pt x="124" y="0"/>
                  </a:moveTo>
                  <a:cubicBezTo>
                    <a:pt x="194" y="0"/>
                    <a:pt x="248" y="71"/>
                    <a:pt x="248" y="163"/>
                  </a:cubicBezTo>
                  <a:cubicBezTo>
                    <a:pt x="248" y="255"/>
                    <a:pt x="194" y="327"/>
                    <a:pt x="124" y="327"/>
                  </a:cubicBezTo>
                  <a:cubicBezTo>
                    <a:pt x="53" y="327"/>
                    <a:pt x="0" y="255"/>
                    <a:pt x="0" y="163"/>
                  </a:cubicBezTo>
                  <a:cubicBezTo>
                    <a:pt x="0" y="71"/>
                    <a:pt x="53" y="0"/>
                    <a:pt x="124" y="0"/>
                  </a:cubicBezTo>
                </a:path>
              </a:pathLst>
            </a:custGeom>
            <a:solidFill>
              <a:srgbClr val="FFFFFF"/>
            </a:solidFill>
            <a:ln w="9360">
              <a:solidFill>
                <a:srgbClr val="000000"/>
              </a:solidFill>
              <a:round/>
              <a:headEnd/>
              <a:tailEnd/>
            </a:ln>
          </p:spPr>
          <p:txBody>
            <a:bodyPr wrap="none" anchor="ctr"/>
            <a:lstStyle/>
            <a:p>
              <a:endParaRPr lang="en-US"/>
            </a:p>
          </p:txBody>
        </p:sp>
        <p:sp>
          <p:nvSpPr>
            <p:cNvPr id="16" name="Freeform 14"/>
            <p:cNvSpPr>
              <a:spLocks noChangeArrowheads="1"/>
            </p:cNvSpPr>
            <p:nvPr/>
          </p:nvSpPr>
          <p:spPr bwMode="auto">
            <a:xfrm>
              <a:off x="1430" y="2045"/>
              <a:ext cx="686" cy="877"/>
            </a:xfrm>
            <a:custGeom>
              <a:avLst/>
              <a:gdLst>
                <a:gd name="T0" fmla="*/ 0 w 3027"/>
                <a:gd name="T1" fmla="*/ 0 h 3869"/>
                <a:gd name="T2" fmla="*/ 0 w 3027"/>
                <a:gd name="T3" fmla="*/ 0 h 3869"/>
                <a:gd name="T4" fmla="*/ 0 w 3027"/>
                <a:gd name="T5" fmla="*/ 0 h 3869"/>
                <a:gd name="T6" fmla="*/ 0 w 3027"/>
                <a:gd name="T7" fmla="*/ 0 h 3869"/>
                <a:gd name="T8" fmla="*/ 0 w 3027"/>
                <a:gd name="T9" fmla="*/ 0 h 3869"/>
                <a:gd name="T10" fmla="*/ 0 w 3027"/>
                <a:gd name="T11" fmla="*/ 0 h 3869"/>
                <a:gd name="T12" fmla="*/ 0 w 3027"/>
                <a:gd name="T13" fmla="*/ 0 h 3869"/>
                <a:gd name="T14" fmla="*/ 0 w 3027"/>
                <a:gd name="T15" fmla="*/ 0 h 3869"/>
                <a:gd name="T16" fmla="*/ 0 w 3027"/>
                <a:gd name="T17" fmla="*/ 0 h 3869"/>
                <a:gd name="T18" fmla="*/ 0 w 3027"/>
                <a:gd name="T19" fmla="*/ 0 h 3869"/>
                <a:gd name="T20" fmla="*/ 0 w 3027"/>
                <a:gd name="T21" fmla="*/ 0 h 3869"/>
                <a:gd name="T22" fmla="*/ 0 w 3027"/>
                <a:gd name="T23" fmla="*/ 0 h 3869"/>
                <a:gd name="T24" fmla="*/ 0 w 3027"/>
                <a:gd name="T25" fmla="*/ 0 h 3869"/>
                <a:gd name="T26" fmla="*/ 0 w 3027"/>
                <a:gd name="T27" fmla="*/ 0 h 3869"/>
                <a:gd name="T28" fmla="*/ 0 w 3027"/>
                <a:gd name="T29" fmla="*/ 0 h 3869"/>
                <a:gd name="T30" fmla="*/ 0 w 3027"/>
                <a:gd name="T31" fmla="*/ 0 h 3869"/>
                <a:gd name="T32" fmla="*/ 0 w 3027"/>
                <a:gd name="T33" fmla="*/ 0 h 3869"/>
                <a:gd name="T34" fmla="*/ 0 w 3027"/>
                <a:gd name="T35" fmla="*/ 0 h 3869"/>
                <a:gd name="T36" fmla="*/ 0 w 3027"/>
                <a:gd name="T37" fmla="*/ 0 h 3869"/>
                <a:gd name="T38" fmla="*/ 0 w 3027"/>
                <a:gd name="T39" fmla="*/ 0 h 3869"/>
                <a:gd name="T40" fmla="*/ 0 w 3027"/>
                <a:gd name="T41" fmla="*/ 0 h 386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27"/>
                <a:gd name="T64" fmla="*/ 0 h 3869"/>
                <a:gd name="T65" fmla="*/ 3027 w 3027"/>
                <a:gd name="T66" fmla="*/ 3869 h 386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27" h="3869">
                  <a:moveTo>
                    <a:pt x="2862" y="1056"/>
                  </a:moveTo>
                  <a:cubicBezTo>
                    <a:pt x="2919" y="1282"/>
                    <a:pt x="2941" y="1505"/>
                    <a:pt x="2961" y="1742"/>
                  </a:cubicBezTo>
                  <a:cubicBezTo>
                    <a:pt x="2947" y="2302"/>
                    <a:pt x="3026" y="2863"/>
                    <a:pt x="2785" y="3340"/>
                  </a:cubicBezTo>
                  <a:cubicBezTo>
                    <a:pt x="2752" y="3470"/>
                    <a:pt x="2705" y="3653"/>
                    <a:pt x="2611" y="3736"/>
                  </a:cubicBezTo>
                  <a:cubicBezTo>
                    <a:pt x="2529" y="3807"/>
                    <a:pt x="2430" y="3825"/>
                    <a:pt x="2337" y="3865"/>
                  </a:cubicBezTo>
                  <a:cubicBezTo>
                    <a:pt x="1861" y="3836"/>
                    <a:pt x="1927" y="3868"/>
                    <a:pt x="1636" y="3736"/>
                  </a:cubicBezTo>
                  <a:cubicBezTo>
                    <a:pt x="1529" y="3685"/>
                    <a:pt x="1449" y="3617"/>
                    <a:pt x="1336" y="3570"/>
                  </a:cubicBezTo>
                  <a:cubicBezTo>
                    <a:pt x="1311" y="3560"/>
                    <a:pt x="1262" y="3538"/>
                    <a:pt x="1262" y="3538"/>
                  </a:cubicBezTo>
                  <a:cubicBezTo>
                    <a:pt x="1147" y="3387"/>
                    <a:pt x="1015" y="3272"/>
                    <a:pt x="885" y="3146"/>
                  </a:cubicBezTo>
                  <a:cubicBezTo>
                    <a:pt x="789" y="3053"/>
                    <a:pt x="745" y="2931"/>
                    <a:pt x="638" y="2884"/>
                  </a:cubicBezTo>
                  <a:cubicBezTo>
                    <a:pt x="539" y="2758"/>
                    <a:pt x="361" y="2608"/>
                    <a:pt x="285" y="2460"/>
                  </a:cubicBezTo>
                  <a:cubicBezTo>
                    <a:pt x="153" y="2194"/>
                    <a:pt x="57" y="1925"/>
                    <a:pt x="10" y="1612"/>
                  </a:cubicBezTo>
                  <a:cubicBezTo>
                    <a:pt x="19" y="1232"/>
                    <a:pt x="0" y="847"/>
                    <a:pt x="35" y="467"/>
                  </a:cubicBezTo>
                  <a:cubicBezTo>
                    <a:pt x="60" y="215"/>
                    <a:pt x="383" y="118"/>
                    <a:pt x="512" y="75"/>
                  </a:cubicBezTo>
                  <a:cubicBezTo>
                    <a:pt x="545" y="64"/>
                    <a:pt x="611" y="43"/>
                    <a:pt x="611" y="43"/>
                  </a:cubicBezTo>
                  <a:cubicBezTo>
                    <a:pt x="795" y="53"/>
                    <a:pt x="995" y="0"/>
                    <a:pt x="1160" y="107"/>
                  </a:cubicBezTo>
                  <a:cubicBezTo>
                    <a:pt x="1300" y="201"/>
                    <a:pt x="1443" y="276"/>
                    <a:pt x="1586" y="370"/>
                  </a:cubicBezTo>
                  <a:cubicBezTo>
                    <a:pt x="1702" y="445"/>
                    <a:pt x="1801" y="549"/>
                    <a:pt x="1911" y="632"/>
                  </a:cubicBezTo>
                  <a:cubicBezTo>
                    <a:pt x="1974" y="678"/>
                    <a:pt x="2048" y="689"/>
                    <a:pt x="2111" y="729"/>
                  </a:cubicBezTo>
                  <a:cubicBezTo>
                    <a:pt x="2320" y="862"/>
                    <a:pt x="2625" y="1056"/>
                    <a:pt x="2862" y="1056"/>
                  </a:cubicBezTo>
                </a:path>
              </a:pathLst>
            </a:custGeom>
            <a:noFill/>
            <a:ln w="9360">
              <a:solidFill>
                <a:srgbClr val="000000"/>
              </a:solidFill>
              <a:round/>
              <a:headEnd/>
              <a:tailEnd/>
            </a:ln>
          </p:spPr>
          <p:txBody>
            <a:bodyPr wrap="none" anchor="ctr"/>
            <a:lstStyle/>
            <a:p>
              <a:endParaRPr lang="en-US"/>
            </a:p>
          </p:txBody>
        </p:sp>
        <p:sp>
          <p:nvSpPr>
            <p:cNvPr id="17" name="Freeform 15"/>
            <p:cNvSpPr>
              <a:spLocks noChangeArrowheads="1"/>
            </p:cNvSpPr>
            <p:nvPr/>
          </p:nvSpPr>
          <p:spPr bwMode="auto">
            <a:xfrm>
              <a:off x="1158" y="2866"/>
              <a:ext cx="56" cy="75"/>
            </a:xfrm>
            <a:custGeom>
              <a:avLst/>
              <a:gdLst>
                <a:gd name="T0" fmla="*/ 0 w 248"/>
                <a:gd name="T1" fmla="*/ 0 h 331"/>
                <a:gd name="T2" fmla="*/ 0 w 248"/>
                <a:gd name="T3" fmla="*/ 0 h 331"/>
                <a:gd name="T4" fmla="*/ 0 w 248"/>
                <a:gd name="T5" fmla="*/ 0 h 331"/>
                <a:gd name="T6" fmla="*/ 0 w 248"/>
                <a:gd name="T7" fmla="*/ 0 h 331"/>
                <a:gd name="T8" fmla="*/ 0 w 248"/>
                <a:gd name="T9" fmla="*/ 0 h 331"/>
                <a:gd name="T10" fmla="*/ 0 w 248"/>
                <a:gd name="T11" fmla="*/ 0 h 331"/>
                <a:gd name="T12" fmla="*/ 0 60000 65536"/>
                <a:gd name="T13" fmla="*/ 0 60000 65536"/>
                <a:gd name="T14" fmla="*/ 0 60000 65536"/>
                <a:gd name="T15" fmla="*/ 0 60000 65536"/>
                <a:gd name="T16" fmla="*/ 0 60000 65536"/>
                <a:gd name="T17" fmla="*/ 0 60000 65536"/>
                <a:gd name="T18" fmla="*/ 0 w 248"/>
                <a:gd name="T19" fmla="*/ 0 h 331"/>
                <a:gd name="T20" fmla="*/ 248 w 248"/>
                <a:gd name="T21" fmla="*/ 331 h 331"/>
              </a:gdLst>
              <a:ahLst/>
              <a:cxnLst>
                <a:cxn ang="T12">
                  <a:pos x="T0" y="T1"/>
                </a:cxn>
                <a:cxn ang="T13">
                  <a:pos x="T2" y="T3"/>
                </a:cxn>
                <a:cxn ang="T14">
                  <a:pos x="T4" y="T5"/>
                </a:cxn>
                <a:cxn ang="T15">
                  <a:pos x="T6" y="T7"/>
                </a:cxn>
                <a:cxn ang="T16">
                  <a:pos x="T8" y="T9"/>
                </a:cxn>
                <a:cxn ang="T17">
                  <a:pos x="T10" y="T11"/>
                </a:cxn>
              </a:cxnLst>
              <a:rect l="T18" t="T19" r="T20" b="T21"/>
              <a:pathLst>
                <a:path w="248" h="331">
                  <a:moveTo>
                    <a:pt x="123" y="0"/>
                  </a:moveTo>
                  <a:cubicBezTo>
                    <a:pt x="193" y="0"/>
                    <a:pt x="247" y="72"/>
                    <a:pt x="247" y="165"/>
                  </a:cubicBezTo>
                  <a:cubicBezTo>
                    <a:pt x="247" y="258"/>
                    <a:pt x="193" y="330"/>
                    <a:pt x="123" y="330"/>
                  </a:cubicBezTo>
                  <a:cubicBezTo>
                    <a:pt x="53" y="330"/>
                    <a:pt x="0" y="258"/>
                    <a:pt x="0" y="165"/>
                  </a:cubicBezTo>
                  <a:cubicBezTo>
                    <a:pt x="0" y="72"/>
                    <a:pt x="53" y="0"/>
                    <a:pt x="123" y="0"/>
                  </a:cubicBezTo>
                </a:path>
              </a:pathLst>
            </a:custGeom>
            <a:solidFill>
              <a:srgbClr val="333399"/>
            </a:solidFill>
            <a:ln w="9360">
              <a:solidFill>
                <a:srgbClr val="000000"/>
              </a:solidFill>
              <a:round/>
              <a:headEnd/>
              <a:tailEnd/>
            </a:ln>
          </p:spPr>
          <p:txBody>
            <a:bodyPr wrap="none" anchor="ctr"/>
            <a:lstStyle/>
            <a:p>
              <a:endParaRPr lang="en-US"/>
            </a:p>
          </p:txBody>
        </p:sp>
        <p:sp>
          <p:nvSpPr>
            <p:cNvPr id="18" name="Freeform 16"/>
            <p:cNvSpPr>
              <a:spLocks noChangeArrowheads="1"/>
            </p:cNvSpPr>
            <p:nvPr/>
          </p:nvSpPr>
          <p:spPr bwMode="auto">
            <a:xfrm>
              <a:off x="1445" y="2929"/>
              <a:ext cx="56" cy="75"/>
            </a:xfrm>
            <a:custGeom>
              <a:avLst/>
              <a:gdLst>
                <a:gd name="T0" fmla="*/ 0 w 248"/>
                <a:gd name="T1" fmla="*/ 0 h 331"/>
                <a:gd name="T2" fmla="*/ 0 w 248"/>
                <a:gd name="T3" fmla="*/ 0 h 331"/>
                <a:gd name="T4" fmla="*/ 0 w 248"/>
                <a:gd name="T5" fmla="*/ 0 h 331"/>
                <a:gd name="T6" fmla="*/ 0 w 248"/>
                <a:gd name="T7" fmla="*/ 0 h 331"/>
                <a:gd name="T8" fmla="*/ 0 w 248"/>
                <a:gd name="T9" fmla="*/ 0 h 331"/>
                <a:gd name="T10" fmla="*/ 0 w 248"/>
                <a:gd name="T11" fmla="*/ 0 h 331"/>
                <a:gd name="T12" fmla="*/ 0 60000 65536"/>
                <a:gd name="T13" fmla="*/ 0 60000 65536"/>
                <a:gd name="T14" fmla="*/ 0 60000 65536"/>
                <a:gd name="T15" fmla="*/ 0 60000 65536"/>
                <a:gd name="T16" fmla="*/ 0 60000 65536"/>
                <a:gd name="T17" fmla="*/ 0 60000 65536"/>
                <a:gd name="T18" fmla="*/ 0 w 248"/>
                <a:gd name="T19" fmla="*/ 0 h 331"/>
                <a:gd name="T20" fmla="*/ 248 w 248"/>
                <a:gd name="T21" fmla="*/ 331 h 331"/>
              </a:gdLst>
              <a:ahLst/>
              <a:cxnLst>
                <a:cxn ang="T12">
                  <a:pos x="T0" y="T1"/>
                </a:cxn>
                <a:cxn ang="T13">
                  <a:pos x="T2" y="T3"/>
                </a:cxn>
                <a:cxn ang="T14">
                  <a:pos x="T4" y="T5"/>
                </a:cxn>
                <a:cxn ang="T15">
                  <a:pos x="T6" y="T7"/>
                </a:cxn>
                <a:cxn ang="T16">
                  <a:pos x="T8" y="T9"/>
                </a:cxn>
                <a:cxn ang="T17">
                  <a:pos x="T10" y="T11"/>
                </a:cxn>
              </a:cxnLst>
              <a:rect l="T18" t="T19" r="T20" b="T21"/>
              <a:pathLst>
                <a:path w="248" h="331">
                  <a:moveTo>
                    <a:pt x="123" y="0"/>
                  </a:moveTo>
                  <a:cubicBezTo>
                    <a:pt x="193" y="0"/>
                    <a:pt x="247" y="72"/>
                    <a:pt x="247" y="165"/>
                  </a:cubicBezTo>
                  <a:cubicBezTo>
                    <a:pt x="247" y="258"/>
                    <a:pt x="193" y="330"/>
                    <a:pt x="123" y="330"/>
                  </a:cubicBezTo>
                  <a:cubicBezTo>
                    <a:pt x="53" y="330"/>
                    <a:pt x="0" y="258"/>
                    <a:pt x="0" y="165"/>
                  </a:cubicBezTo>
                  <a:cubicBezTo>
                    <a:pt x="0" y="72"/>
                    <a:pt x="53" y="0"/>
                    <a:pt x="123" y="0"/>
                  </a:cubicBezTo>
                </a:path>
              </a:pathLst>
            </a:custGeom>
            <a:solidFill>
              <a:srgbClr val="333399"/>
            </a:solidFill>
            <a:ln w="9360">
              <a:solidFill>
                <a:srgbClr val="000000"/>
              </a:solidFill>
              <a:round/>
              <a:headEnd/>
              <a:tailEnd/>
            </a:ln>
          </p:spPr>
          <p:txBody>
            <a:bodyPr wrap="none" anchor="ctr"/>
            <a:lstStyle/>
            <a:p>
              <a:endParaRPr lang="en-US"/>
            </a:p>
          </p:txBody>
        </p:sp>
        <p:sp>
          <p:nvSpPr>
            <p:cNvPr id="19" name="Freeform 17"/>
            <p:cNvSpPr>
              <a:spLocks noChangeArrowheads="1"/>
            </p:cNvSpPr>
            <p:nvPr/>
          </p:nvSpPr>
          <p:spPr bwMode="auto">
            <a:xfrm>
              <a:off x="1340" y="3185"/>
              <a:ext cx="56" cy="76"/>
            </a:xfrm>
            <a:custGeom>
              <a:avLst/>
              <a:gdLst>
                <a:gd name="T0" fmla="*/ 0 w 248"/>
                <a:gd name="T1" fmla="*/ 0 h 333"/>
                <a:gd name="T2" fmla="*/ 0 w 248"/>
                <a:gd name="T3" fmla="*/ 0 h 333"/>
                <a:gd name="T4" fmla="*/ 0 w 248"/>
                <a:gd name="T5" fmla="*/ 0 h 333"/>
                <a:gd name="T6" fmla="*/ 0 w 248"/>
                <a:gd name="T7" fmla="*/ 0 h 333"/>
                <a:gd name="T8" fmla="*/ 0 w 248"/>
                <a:gd name="T9" fmla="*/ 0 h 333"/>
                <a:gd name="T10" fmla="*/ 0 w 248"/>
                <a:gd name="T11" fmla="*/ 0 h 333"/>
                <a:gd name="T12" fmla="*/ 0 60000 65536"/>
                <a:gd name="T13" fmla="*/ 0 60000 65536"/>
                <a:gd name="T14" fmla="*/ 0 60000 65536"/>
                <a:gd name="T15" fmla="*/ 0 60000 65536"/>
                <a:gd name="T16" fmla="*/ 0 60000 65536"/>
                <a:gd name="T17" fmla="*/ 0 60000 65536"/>
                <a:gd name="T18" fmla="*/ 0 w 248"/>
                <a:gd name="T19" fmla="*/ 0 h 333"/>
                <a:gd name="T20" fmla="*/ 248 w 248"/>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48" h="333">
                  <a:moveTo>
                    <a:pt x="123" y="0"/>
                  </a:moveTo>
                  <a:cubicBezTo>
                    <a:pt x="193" y="0"/>
                    <a:pt x="247" y="72"/>
                    <a:pt x="247" y="166"/>
                  </a:cubicBezTo>
                  <a:cubicBezTo>
                    <a:pt x="247" y="260"/>
                    <a:pt x="193" y="332"/>
                    <a:pt x="123" y="332"/>
                  </a:cubicBezTo>
                  <a:cubicBezTo>
                    <a:pt x="53" y="332"/>
                    <a:pt x="0" y="260"/>
                    <a:pt x="0" y="166"/>
                  </a:cubicBezTo>
                  <a:cubicBezTo>
                    <a:pt x="0" y="72"/>
                    <a:pt x="53" y="0"/>
                    <a:pt x="123" y="0"/>
                  </a:cubicBezTo>
                </a:path>
              </a:pathLst>
            </a:custGeom>
            <a:solidFill>
              <a:srgbClr val="333399"/>
            </a:solidFill>
            <a:ln w="9360">
              <a:solidFill>
                <a:srgbClr val="000000"/>
              </a:solidFill>
              <a:round/>
              <a:headEnd/>
              <a:tailEnd/>
            </a:ln>
          </p:spPr>
          <p:txBody>
            <a:bodyPr wrap="none" anchor="ctr"/>
            <a:lstStyle/>
            <a:p>
              <a:endParaRPr lang="en-US"/>
            </a:p>
          </p:txBody>
        </p:sp>
        <p:sp>
          <p:nvSpPr>
            <p:cNvPr id="20" name="Freeform 18"/>
            <p:cNvSpPr>
              <a:spLocks noChangeArrowheads="1"/>
            </p:cNvSpPr>
            <p:nvPr/>
          </p:nvSpPr>
          <p:spPr bwMode="auto">
            <a:xfrm>
              <a:off x="1399" y="3077"/>
              <a:ext cx="56" cy="76"/>
            </a:xfrm>
            <a:custGeom>
              <a:avLst/>
              <a:gdLst>
                <a:gd name="T0" fmla="*/ 0 w 248"/>
                <a:gd name="T1" fmla="*/ 0 h 333"/>
                <a:gd name="T2" fmla="*/ 0 w 248"/>
                <a:gd name="T3" fmla="*/ 0 h 333"/>
                <a:gd name="T4" fmla="*/ 0 w 248"/>
                <a:gd name="T5" fmla="*/ 0 h 333"/>
                <a:gd name="T6" fmla="*/ 0 w 248"/>
                <a:gd name="T7" fmla="*/ 0 h 333"/>
                <a:gd name="T8" fmla="*/ 0 w 248"/>
                <a:gd name="T9" fmla="*/ 0 h 333"/>
                <a:gd name="T10" fmla="*/ 0 w 248"/>
                <a:gd name="T11" fmla="*/ 0 h 333"/>
                <a:gd name="T12" fmla="*/ 0 60000 65536"/>
                <a:gd name="T13" fmla="*/ 0 60000 65536"/>
                <a:gd name="T14" fmla="*/ 0 60000 65536"/>
                <a:gd name="T15" fmla="*/ 0 60000 65536"/>
                <a:gd name="T16" fmla="*/ 0 60000 65536"/>
                <a:gd name="T17" fmla="*/ 0 60000 65536"/>
                <a:gd name="T18" fmla="*/ 0 w 248"/>
                <a:gd name="T19" fmla="*/ 0 h 333"/>
                <a:gd name="T20" fmla="*/ 248 w 248"/>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48" h="333">
                  <a:moveTo>
                    <a:pt x="123" y="0"/>
                  </a:moveTo>
                  <a:cubicBezTo>
                    <a:pt x="193" y="0"/>
                    <a:pt x="247" y="72"/>
                    <a:pt x="247" y="166"/>
                  </a:cubicBezTo>
                  <a:cubicBezTo>
                    <a:pt x="247" y="260"/>
                    <a:pt x="193" y="332"/>
                    <a:pt x="123" y="332"/>
                  </a:cubicBezTo>
                  <a:cubicBezTo>
                    <a:pt x="53" y="332"/>
                    <a:pt x="0" y="260"/>
                    <a:pt x="0" y="166"/>
                  </a:cubicBezTo>
                  <a:cubicBezTo>
                    <a:pt x="0" y="72"/>
                    <a:pt x="53" y="0"/>
                    <a:pt x="123" y="0"/>
                  </a:cubicBezTo>
                </a:path>
              </a:pathLst>
            </a:custGeom>
            <a:solidFill>
              <a:srgbClr val="333399"/>
            </a:solidFill>
            <a:ln w="9360">
              <a:solidFill>
                <a:srgbClr val="000000"/>
              </a:solidFill>
              <a:round/>
              <a:headEnd/>
              <a:tailEnd/>
            </a:ln>
          </p:spPr>
          <p:txBody>
            <a:bodyPr wrap="none" anchor="ctr"/>
            <a:lstStyle/>
            <a:p>
              <a:endParaRPr lang="en-US"/>
            </a:p>
          </p:txBody>
        </p:sp>
        <p:sp>
          <p:nvSpPr>
            <p:cNvPr id="21" name="Freeform 19"/>
            <p:cNvSpPr>
              <a:spLocks noChangeArrowheads="1"/>
            </p:cNvSpPr>
            <p:nvPr/>
          </p:nvSpPr>
          <p:spPr bwMode="auto">
            <a:xfrm>
              <a:off x="1225" y="3034"/>
              <a:ext cx="56" cy="75"/>
            </a:xfrm>
            <a:custGeom>
              <a:avLst/>
              <a:gdLst>
                <a:gd name="T0" fmla="*/ 0 w 248"/>
                <a:gd name="T1" fmla="*/ 0 h 331"/>
                <a:gd name="T2" fmla="*/ 0 w 248"/>
                <a:gd name="T3" fmla="*/ 0 h 331"/>
                <a:gd name="T4" fmla="*/ 0 w 248"/>
                <a:gd name="T5" fmla="*/ 0 h 331"/>
                <a:gd name="T6" fmla="*/ 0 w 248"/>
                <a:gd name="T7" fmla="*/ 0 h 331"/>
                <a:gd name="T8" fmla="*/ 0 w 248"/>
                <a:gd name="T9" fmla="*/ 0 h 331"/>
                <a:gd name="T10" fmla="*/ 0 w 248"/>
                <a:gd name="T11" fmla="*/ 0 h 331"/>
                <a:gd name="T12" fmla="*/ 0 60000 65536"/>
                <a:gd name="T13" fmla="*/ 0 60000 65536"/>
                <a:gd name="T14" fmla="*/ 0 60000 65536"/>
                <a:gd name="T15" fmla="*/ 0 60000 65536"/>
                <a:gd name="T16" fmla="*/ 0 60000 65536"/>
                <a:gd name="T17" fmla="*/ 0 60000 65536"/>
                <a:gd name="T18" fmla="*/ 0 w 248"/>
                <a:gd name="T19" fmla="*/ 0 h 331"/>
                <a:gd name="T20" fmla="*/ 248 w 248"/>
                <a:gd name="T21" fmla="*/ 331 h 331"/>
              </a:gdLst>
              <a:ahLst/>
              <a:cxnLst>
                <a:cxn ang="T12">
                  <a:pos x="T0" y="T1"/>
                </a:cxn>
                <a:cxn ang="T13">
                  <a:pos x="T2" y="T3"/>
                </a:cxn>
                <a:cxn ang="T14">
                  <a:pos x="T4" y="T5"/>
                </a:cxn>
                <a:cxn ang="T15">
                  <a:pos x="T6" y="T7"/>
                </a:cxn>
                <a:cxn ang="T16">
                  <a:pos x="T8" y="T9"/>
                </a:cxn>
                <a:cxn ang="T17">
                  <a:pos x="T10" y="T11"/>
                </a:cxn>
              </a:cxnLst>
              <a:rect l="T18" t="T19" r="T20" b="T21"/>
              <a:pathLst>
                <a:path w="248" h="331">
                  <a:moveTo>
                    <a:pt x="123" y="0"/>
                  </a:moveTo>
                  <a:cubicBezTo>
                    <a:pt x="193" y="0"/>
                    <a:pt x="247" y="72"/>
                    <a:pt x="247" y="165"/>
                  </a:cubicBezTo>
                  <a:cubicBezTo>
                    <a:pt x="247" y="258"/>
                    <a:pt x="193" y="330"/>
                    <a:pt x="123" y="330"/>
                  </a:cubicBezTo>
                  <a:cubicBezTo>
                    <a:pt x="53" y="330"/>
                    <a:pt x="0" y="258"/>
                    <a:pt x="0" y="165"/>
                  </a:cubicBezTo>
                  <a:cubicBezTo>
                    <a:pt x="0" y="72"/>
                    <a:pt x="53" y="0"/>
                    <a:pt x="123" y="0"/>
                  </a:cubicBezTo>
                </a:path>
              </a:pathLst>
            </a:custGeom>
            <a:solidFill>
              <a:srgbClr val="333399"/>
            </a:solidFill>
            <a:ln w="9360">
              <a:solidFill>
                <a:srgbClr val="000000"/>
              </a:solidFill>
              <a:round/>
              <a:headEnd/>
              <a:tailEnd/>
            </a:ln>
          </p:spPr>
          <p:txBody>
            <a:bodyPr wrap="none" anchor="ctr"/>
            <a:lstStyle/>
            <a:p>
              <a:endParaRPr lang="en-US"/>
            </a:p>
          </p:txBody>
        </p:sp>
        <p:sp>
          <p:nvSpPr>
            <p:cNvPr id="22" name="Freeform 20"/>
            <p:cNvSpPr>
              <a:spLocks noChangeArrowheads="1"/>
            </p:cNvSpPr>
            <p:nvPr/>
          </p:nvSpPr>
          <p:spPr bwMode="auto">
            <a:xfrm>
              <a:off x="1222" y="3157"/>
              <a:ext cx="56" cy="76"/>
            </a:xfrm>
            <a:custGeom>
              <a:avLst/>
              <a:gdLst>
                <a:gd name="T0" fmla="*/ 0 w 248"/>
                <a:gd name="T1" fmla="*/ 0 h 333"/>
                <a:gd name="T2" fmla="*/ 0 w 248"/>
                <a:gd name="T3" fmla="*/ 0 h 333"/>
                <a:gd name="T4" fmla="*/ 0 w 248"/>
                <a:gd name="T5" fmla="*/ 0 h 333"/>
                <a:gd name="T6" fmla="*/ 0 w 248"/>
                <a:gd name="T7" fmla="*/ 0 h 333"/>
                <a:gd name="T8" fmla="*/ 0 w 248"/>
                <a:gd name="T9" fmla="*/ 0 h 333"/>
                <a:gd name="T10" fmla="*/ 0 w 248"/>
                <a:gd name="T11" fmla="*/ 0 h 333"/>
                <a:gd name="T12" fmla="*/ 0 60000 65536"/>
                <a:gd name="T13" fmla="*/ 0 60000 65536"/>
                <a:gd name="T14" fmla="*/ 0 60000 65536"/>
                <a:gd name="T15" fmla="*/ 0 60000 65536"/>
                <a:gd name="T16" fmla="*/ 0 60000 65536"/>
                <a:gd name="T17" fmla="*/ 0 60000 65536"/>
                <a:gd name="T18" fmla="*/ 0 w 248"/>
                <a:gd name="T19" fmla="*/ 0 h 333"/>
                <a:gd name="T20" fmla="*/ 248 w 248"/>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48" h="333">
                  <a:moveTo>
                    <a:pt x="123" y="0"/>
                  </a:moveTo>
                  <a:cubicBezTo>
                    <a:pt x="193" y="0"/>
                    <a:pt x="247" y="72"/>
                    <a:pt x="247" y="166"/>
                  </a:cubicBezTo>
                  <a:cubicBezTo>
                    <a:pt x="247" y="260"/>
                    <a:pt x="193" y="332"/>
                    <a:pt x="123" y="332"/>
                  </a:cubicBezTo>
                  <a:cubicBezTo>
                    <a:pt x="53" y="332"/>
                    <a:pt x="0" y="260"/>
                    <a:pt x="0" y="166"/>
                  </a:cubicBezTo>
                  <a:cubicBezTo>
                    <a:pt x="0" y="72"/>
                    <a:pt x="53" y="0"/>
                    <a:pt x="123" y="0"/>
                  </a:cubicBezTo>
                </a:path>
              </a:pathLst>
            </a:custGeom>
            <a:solidFill>
              <a:srgbClr val="333399"/>
            </a:solidFill>
            <a:ln w="9360">
              <a:solidFill>
                <a:srgbClr val="000000"/>
              </a:solidFill>
              <a:round/>
              <a:headEnd/>
              <a:tailEnd/>
            </a:ln>
          </p:spPr>
          <p:txBody>
            <a:bodyPr wrap="none" anchor="ctr"/>
            <a:lstStyle/>
            <a:p>
              <a:endParaRPr lang="en-US"/>
            </a:p>
          </p:txBody>
        </p:sp>
        <p:sp>
          <p:nvSpPr>
            <p:cNvPr id="23" name="Freeform 21"/>
            <p:cNvSpPr>
              <a:spLocks noChangeArrowheads="1"/>
            </p:cNvSpPr>
            <p:nvPr/>
          </p:nvSpPr>
          <p:spPr bwMode="auto">
            <a:xfrm>
              <a:off x="1278" y="2786"/>
              <a:ext cx="56" cy="76"/>
            </a:xfrm>
            <a:custGeom>
              <a:avLst/>
              <a:gdLst>
                <a:gd name="T0" fmla="*/ 0 w 248"/>
                <a:gd name="T1" fmla="*/ 0 h 333"/>
                <a:gd name="T2" fmla="*/ 0 w 248"/>
                <a:gd name="T3" fmla="*/ 0 h 333"/>
                <a:gd name="T4" fmla="*/ 0 w 248"/>
                <a:gd name="T5" fmla="*/ 0 h 333"/>
                <a:gd name="T6" fmla="*/ 0 w 248"/>
                <a:gd name="T7" fmla="*/ 0 h 333"/>
                <a:gd name="T8" fmla="*/ 0 w 248"/>
                <a:gd name="T9" fmla="*/ 0 h 333"/>
                <a:gd name="T10" fmla="*/ 0 w 248"/>
                <a:gd name="T11" fmla="*/ 0 h 333"/>
                <a:gd name="T12" fmla="*/ 0 60000 65536"/>
                <a:gd name="T13" fmla="*/ 0 60000 65536"/>
                <a:gd name="T14" fmla="*/ 0 60000 65536"/>
                <a:gd name="T15" fmla="*/ 0 60000 65536"/>
                <a:gd name="T16" fmla="*/ 0 60000 65536"/>
                <a:gd name="T17" fmla="*/ 0 60000 65536"/>
                <a:gd name="T18" fmla="*/ 0 w 248"/>
                <a:gd name="T19" fmla="*/ 0 h 333"/>
                <a:gd name="T20" fmla="*/ 248 w 248"/>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48" h="333">
                  <a:moveTo>
                    <a:pt x="123" y="0"/>
                  </a:moveTo>
                  <a:cubicBezTo>
                    <a:pt x="193" y="0"/>
                    <a:pt x="247" y="72"/>
                    <a:pt x="247" y="166"/>
                  </a:cubicBezTo>
                  <a:cubicBezTo>
                    <a:pt x="247" y="260"/>
                    <a:pt x="193" y="332"/>
                    <a:pt x="123" y="332"/>
                  </a:cubicBezTo>
                  <a:cubicBezTo>
                    <a:pt x="53" y="332"/>
                    <a:pt x="0" y="260"/>
                    <a:pt x="0" y="166"/>
                  </a:cubicBezTo>
                  <a:cubicBezTo>
                    <a:pt x="0" y="72"/>
                    <a:pt x="53" y="0"/>
                    <a:pt x="123" y="0"/>
                  </a:cubicBezTo>
                </a:path>
              </a:pathLst>
            </a:custGeom>
            <a:solidFill>
              <a:srgbClr val="333399"/>
            </a:solidFill>
            <a:ln w="9360">
              <a:solidFill>
                <a:srgbClr val="000000"/>
              </a:solidFill>
              <a:round/>
              <a:headEnd/>
              <a:tailEnd/>
            </a:ln>
          </p:spPr>
          <p:txBody>
            <a:bodyPr wrap="none" anchor="ctr"/>
            <a:lstStyle/>
            <a:p>
              <a:endParaRPr lang="en-US"/>
            </a:p>
          </p:txBody>
        </p:sp>
        <p:sp>
          <p:nvSpPr>
            <p:cNvPr id="24" name="Freeform 22"/>
            <p:cNvSpPr>
              <a:spLocks noChangeArrowheads="1"/>
            </p:cNvSpPr>
            <p:nvPr/>
          </p:nvSpPr>
          <p:spPr bwMode="auto">
            <a:xfrm>
              <a:off x="1343" y="2910"/>
              <a:ext cx="56" cy="74"/>
            </a:xfrm>
            <a:custGeom>
              <a:avLst/>
              <a:gdLst>
                <a:gd name="T0" fmla="*/ 0 w 248"/>
                <a:gd name="T1" fmla="*/ 0 h 328"/>
                <a:gd name="T2" fmla="*/ 0 w 248"/>
                <a:gd name="T3" fmla="*/ 0 h 328"/>
                <a:gd name="T4" fmla="*/ 0 w 248"/>
                <a:gd name="T5" fmla="*/ 0 h 328"/>
                <a:gd name="T6" fmla="*/ 0 w 248"/>
                <a:gd name="T7" fmla="*/ 0 h 328"/>
                <a:gd name="T8" fmla="*/ 0 w 248"/>
                <a:gd name="T9" fmla="*/ 0 h 328"/>
                <a:gd name="T10" fmla="*/ 0 w 248"/>
                <a:gd name="T11" fmla="*/ 0 h 328"/>
                <a:gd name="T12" fmla="*/ 0 60000 65536"/>
                <a:gd name="T13" fmla="*/ 0 60000 65536"/>
                <a:gd name="T14" fmla="*/ 0 60000 65536"/>
                <a:gd name="T15" fmla="*/ 0 60000 65536"/>
                <a:gd name="T16" fmla="*/ 0 60000 65536"/>
                <a:gd name="T17" fmla="*/ 0 60000 65536"/>
                <a:gd name="T18" fmla="*/ 0 w 248"/>
                <a:gd name="T19" fmla="*/ 0 h 328"/>
                <a:gd name="T20" fmla="*/ 248 w 248"/>
                <a:gd name="T21" fmla="*/ 328 h 328"/>
              </a:gdLst>
              <a:ahLst/>
              <a:cxnLst>
                <a:cxn ang="T12">
                  <a:pos x="T0" y="T1"/>
                </a:cxn>
                <a:cxn ang="T13">
                  <a:pos x="T2" y="T3"/>
                </a:cxn>
                <a:cxn ang="T14">
                  <a:pos x="T4" y="T5"/>
                </a:cxn>
                <a:cxn ang="T15">
                  <a:pos x="T6" y="T7"/>
                </a:cxn>
                <a:cxn ang="T16">
                  <a:pos x="T8" y="T9"/>
                </a:cxn>
                <a:cxn ang="T17">
                  <a:pos x="T10" y="T11"/>
                </a:cxn>
              </a:cxnLst>
              <a:rect l="T18" t="T19" r="T20" b="T21"/>
              <a:pathLst>
                <a:path w="248" h="328">
                  <a:moveTo>
                    <a:pt x="123" y="0"/>
                  </a:moveTo>
                  <a:cubicBezTo>
                    <a:pt x="193" y="0"/>
                    <a:pt x="247" y="71"/>
                    <a:pt x="247" y="163"/>
                  </a:cubicBezTo>
                  <a:cubicBezTo>
                    <a:pt x="247" y="255"/>
                    <a:pt x="193" y="327"/>
                    <a:pt x="123" y="327"/>
                  </a:cubicBezTo>
                  <a:cubicBezTo>
                    <a:pt x="53" y="327"/>
                    <a:pt x="0" y="255"/>
                    <a:pt x="0" y="163"/>
                  </a:cubicBezTo>
                  <a:cubicBezTo>
                    <a:pt x="0" y="71"/>
                    <a:pt x="53" y="0"/>
                    <a:pt x="123" y="0"/>
                  </a:cubicBezTo>
                </a:path>
              </a:pathLst>
            </a:custGeom>
            <a:solidFill>
              <a:srgbClr val="333399"/>
            </a:solidFill>
            <a:ln w="9360">
              <a:solidFill>
                <a:srgbClr val="000000"/>
              </a:solidFill>
              <a:round/>
              <a:headEnd/>
              <a:tailEnd/>
            </a:ln>
          </p:spPr>
          <p:txBody>
            <a:bodyPr wrap="none" anchor="ctr"/>
            <a:lstStyle/>
            <a:p>
              <a:endParaRPr lang="en-US"/>
            </a:p>
          </p:txBody>
        </p:sp>
        <p:sp>
          <p:nvSpPr>
            <p:cNvPr id="25" name="Freeform 23"/>
            <p:cNvSpPr>
              <a:spLocks noChangeArrowheads="1"/>
            </p:cNvSpPr>
            <p:nvPr/>
          </p:nvSpPr>
          <p:spPr bwMode="auto">
            <a:xfrm>
              <a:off x="1483" y="3164"/>
              <a:ext cx="56" cy="76"/>
            </a:xfrm>
            <a:custGeom>
              <a:avLst/>
              <a:gdLst>
                <a:gd name="T0" fmla="*/ 0 w 249"/>
                <a:gd name="T1" fmla="*/ 0 h 333"/>
                <a:gd name="T2" fmla="*/ 0 w 249"/>
                <a:gd name="T3" fmla="*/ 0 h 333"/>
                <a:gd name="T4" fmla="*/ 0 w 249"/>
                <a:gd name="T5" fmla="*/ 0 h 333"/>
                <a:gd name="T6" fmla="*/ 0 w 249"/>
                <a:gd name="T7" fmla="*/ 0 h 333"/>
                <a:gd name="T8" fmla="*/ 0 w 249"/>
                <a:gd name="T9" fmla="*/ 0 h 333"/>
                <a:gd name="T10" fmla="*/ 0 w 249"/>
                <a:gd name="T11" fmla="*/ 0 h 333"/>
                <a:gd name="T12" fmla="*/ 0 60000 65536"/>
                <a:gd name="T13" fmla="*/ 0 60000 65536"/>
                <a:gd name="T14" fmla="*/ 0 60000 65536"/>
                <a:gd name="T15" fmla="*/ 0 60000 65536"/>
                <a:gd name="T16" fmla="*/ 0 60000 65536"/>
                <a:gd name="T17" fmla="*/ 0 60000 65536"/>
                <a:gd name="T18" fmla="*/ 0 w 249"/>
                <a:gd name="T19" fmla="*/ 0 h 333"/>
                <a:gd name="T20" fmla="*/ 249 w 249"/>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49" h="333">
                  <a:moveTo>
                    <a:pt x="124" y="0"/>
                  </a:moveTo>
                  <a:cubicBezTo>
                    <a:pt x="194" y="0"/>
                    <a:pt x="248" y="72"/>
                    <a:pt x="248" y="166"/>
                  </a:cubicBezTo>
                  <a:cubicBezTo>
                    <a:pt x="248" y="260"/>
                    <a:pt x="194" y="332"/>
                    <a:pt x="124" y="332"/>
                  </a:cubicBezTo>
                  <a:cubicBezTo>
                    <a:pt x="53" y="332"/>
                    <a:pt x="0" y="260"/>
                    <a:pt x="0" y="166"/>
                  </a:cubicBezTo>
                  <a:cubicBezTo>
                    <a:pt x="0" y="72"/>
                    <a:pt x="53" y="0"/>
                    <a:pt x="124" y="0"/>
                  </a:cubicBezTo>
                </a:path>
              </a:pathLst>
            </a:custGeom>
            <a:solidFill>
              <a:srgbClr val="333399"/>
            </a:solidFill>
            <a:ln w="9360">
              <a:solidFill>
                <a:srgbClr val="000000"/>
              </a:solidFill>
              <a:round/>
              <a:headEnd/>
              <a:tailEnd/>
            </a:ln>
          </p:spPr>
          <p:txBody>
            <a:bodyPr wrap="none" anchor="ctr"/>
            <a:lstStyle/>
            <a:p>
              <a:endParaRPr lang="en-US"/>
            </a:p>
          </p:txBody>
        </p:sp>
        <p:sp>
          <p:nvSpPr>
            <p:cNvPr id="26" name="Freeform 24"/>
            <p:cNvSpPr>
              <a:spLocks noChangeArrowheads="1"/>
            </p:cNvSpPr>
            <p:nvPr/>
          </p:nvSpPr>
          <p:spPr bwMode="auto">
            <a:xfrm>
              <a:off x="1115" y="2655"/>
              <a:ext cx="573" cy="785"/>
            </a:xfrm>
            <a:custGeom>
              <a:avLst/>
              <a:gdLst>
                <a:gd name="T0" fmla="*/ 0 w 2528"/>
                <a:gd name="T1" fmla="*/ 0 h 3463"/>
                <a:gd name="T2" fmla="*/ 0 w 2528"/>
                <a:gd name="T3" fmla="*/ 0 h 3463"/>
                <a:gd name="T4" fmla="*/ 0 w 2528"/>
                <a:gd name="T5" fmla="*/ 0 h 3463"/>
                <a:gd name="T6" fmla="*/ 0 w 2528"/>
                <a:gd name="T7" fmla="*/ 0 h 3463"/>
                <a:gd name="T8" fmla="*/ 0 w 2528"/>
                <a:gd name="T9" fmla="*/ 0 h 3463"/>
                <a:gd name="T10" fmla="*/ 0 w 2528"/>
                <a:gd name="T11" fmla="*/ 0 h 3463"/>
                <a:gd name="T12" fmla="*/ 0 w 2528"/>
                <a:gd name="T13" fmla="*/ 0 h 3463"/>
                <a:gd name="T14" fmla="*/ 0 w 2528"/>
                <a:gd name="T15" fmla="*/ 0 h 3463"/>
                <a:gd name="T16" fmla="*/ 0 w 2528"/>
                <a:gd name="T17" fmla="*/ 0 h 3463"/>
                <a:gd name="T18" fmla="*/ 0 w 2528"/>
                <a:gd name="T19" fmla="*/ 0 h 3463"/>
                <a:gd name="T20" fmla="*/ 0 w 2528"/>
                <a:gd name="T21" fmla="*/ 0 h 3463"/>
                <a:gd name="T22" fmla="*/ 0 w 2528"/>
                <a:gd name="T23" fmla="*/ 0 h 3463"/>
                <a:gd name="T24" fmla="*/ 0 w 2528"/>
                <a:gd name="T25" fmla="*/ 0 h 3463"/>
                <a:gd name="T26" fmla="*/ 0 w 2528"/>
                <a:gd name="T27" fmla="*/ 0 h 3463"/>
                <a:gd name="T28" fmla="*/ 0 w 2528"/>
                <a:gd name="T29" fmla="*/ 0 h 3463"/>
                <a:gd name="T30" fmla="*/ 0 w 2528"/>
                <a:gd name="T31" fmla="*/ 0 h 3463"/>
                <a:gd name="T32" fmla="*/ 0 w 2528"/>
                <a:gd name="T33" fmla="*/ 0 h 3463"/>
                <a:gd name="T34" fmla="*/ 0 w 2528"/>
                <a:gd name="T35" fmla="*/ 0 h 3463"/>
                <a:gd name="T36" fmla="*/ 0 w 2528"/>
                <a:gd name="T37" fmla="*/ 0 h 3463"/>
                <a:gd name="T38" fmla="*/ 0 w 2528"/>
                <a:gd name="T39" fmla="*/ 0 h 3463"/>
                <a:gd name="T40" fmla="*/ 0 w 2528"/>
                <a:gd name="T41" fmla="*/ 0 h 3463"/>
                <a:gd name="T42" fmla="*/ 0 w 2528"/>
                <a:gd name="T43" fmla="*/ 0 h 3463"/>
                <a:gd name="T44" fmla="*/ 0 w 2528"/>
                <a:gd name="T45" fmla="*/ 0 h 3463"/>
                <a:gd name="T46" fmla="*/ 0 w 2528"/>
                <a:gd name="T47" fmla="*/ 0 h 3463"/>
                <a:gd name="T48" fmla="*/ 0 w 2528"/>
                <a:gd name="T49" fmla="*/ 0 h 3463"/>
                <a:gd name="T50" fmla="*/ 0 w 2528"/>
                <a:gd name="T51" fmla="*/ 0 h 346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528"/>
                <a:gd name="T79" fmla="*/ 0 h 3463"/>
                <a:gd name="T80" fmla="*/ 2528 w 2528"/>
                <a:gd name="T81" fmla="*/ 3463 h 346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528" h="3463">
                  <a:moveTo>
                    <a:pt x="624" y="2935"/>
                  </a:moveTo>
                  <a:cubicBezTo>
                    <a:pt x="489" y="2878"/>
                    <a:pt x="594" y="2949"/>
                    <a:pt x="525" y="2806"/>
                  </a:cubicBezTo>
                  <a:cubicBezTo>
                    <a:pt x="484" y="2716"/>
                    <a:pt x="396" y="2677"/>
                    <a:pt x="324" y="2644"/>
                  </a:cubicBezTo>
                  <a:cubicBezTo>
                    <a:pt x="291" y="2598"/>
                    <a:pt x="253" y="2562"/>
                    <a:pt x="222" y="2512"/>
                  </a:cubicBezTo>
                  <a:cubicBezTo>
                    <a:pt x="187" y="2451"/>
                    <a:pt x="123" y="2318"/>
                    <a:pt x="123" y="2318"/>
                  </a:cubicBezTo>
                  <a:cubicBezTo>
                    <a:pt x="82" y="2099"/>
                    <a:pt x="27" y="1887"/>
                    <a:pt x="0" y="1665"/>
                  </a:cubicBezTo>
                  <a:cubicBezTo>
                    <a:pt x="8" y="1349"/>
                    <a:pt x="2" y="1033"/>
                    <a:pt x="24" y="717"/>
                  </a:cubicBezTo>
                  <a:cubicBezTo>
                    <a:pt x="30" y="628"/>
                    <a:pt x="203" y="498"/>
                    <a:pt x="222" y="488"/>
                  </a:cubicBezTo>
                  <a:cubicBezTo>
                    <a:pt x="421" y="362"/>
                    <a:pt x="611" y="78"/>
                    <a:pt x="801" y="0"/>
                  </a:cubicBezTo>
                  <a:cubicBezTo>
                    <a:pt x="864" y="10"/>
                    <a:pt x="1001" y="17"/>
                    <a:pt x="1076" y="64"/>
                  </a:cubicBezTo>
                  <a:cubicBezTo>
                    <a:pt x="1183" y="132"/>
                    <a:pt x="1227" y="165"/>
                    <a:pt x="1351" y="197"/>
                  </a:cubicBezTo>
                  <a:cubicBezTo>
                    <a:pt x="1527" y="351"/>
                    <a:pt x="1757" y="358"/>
                    <a:pt x="1903" y="588"/>
                  </a:cubicBezTo>
                  <a:cubicBezTo>
                    <a:pt x="2093" y="889"/>
                    <a:pt x="1831" y="495"/>
                    <a:pt x="1977" y="782"/>
                  </a:cubicBezTo>
                  <a:cubicBezTo>
                    <a:pt x="1996" y="821"/>
                    <a:pt x="2029" y="846"/>
                    <a:pt x="2051" y="882"/>
                  </a:cubicBezTo>
                  <a:cubicBezTo>
                    <a:pt x="2120" y="997"/>
                    <a:pt x="2153" y="1144"/>
                    <a:pt x="2227" y="1241"/>
                  </a:cubicBezTo>
                  <a:cubicBezTo>
                    <a:pt x="2285" y="1471"/>
                    <a:pt x="2247" y="1378"/>
                    <a:pt x="2327" y="1532"/>
                  </a:cubicBezTo>
                  <a:cubicBezTo>
                    <a:pt x="2343" y="1639"/>
                    <a:pt x="2357" y="1751"/>
                    <a:pt x="2376" y="1858"/>
                  </a:cubicBezTo>
                  <a:cubicBezTo>
                    <a:pt x="2398" y="1970"/>
                    <a:pt x="2434" y="2074"/>
                    <a:pt x="2450" y="2185"/>
                  </a:cubicBezTo>
                  <a:cubicBezTo>
                    <a:pt x="2483" y="2390"/>
                    <a:pt x="2478" y="2576"/>
                    <a:pt x="2527" y="2773"/>
                  </a:cubicBezTo>
                  <a:cubicBezTo>
                    <a:pt x="2505" y="3032"/>
                    <a:pt x="2489" y="3233"/>
                    <a:pt x="2277" y="3326"/>
                  </a:cubicBezTo>
                  <a:cubicBezTo>
                    <a:pt x="2211" y="3355"/>
                    <a:pt x="2142" y="3373"/>
                    <a:pt x="2076" y="3394"/>
                  </a:cubicBezTo>
                  <a:cubicBezTo>
                    <a:pt x="2043" y="3405"/>
                    <a:pt x="1977" y="3427"/>
                    <a:pt x="1977" y="3427"/>
                  </a:cubicBezTo>
                  <a:cubicBezTo>
                    <a:pt x="1839" y="3423"/>
                    <a:pt x="1271" y="3462"/>
                    <a:pt x="974" y="3362"/>
                  </a:cubicBezTo>
                  <a:cubicBezTo>
                    <a:pt x="869" y="3326"/>
                    <a:pt x="748" y="3197"/>
                    <a:pt x="674" y="3100"/>
                  </a:cubicBezTo>
                  <a:cubicBezTo>
                    <a:pt x="635" y="3050"/>
                    <a:pt x="528" y="2935"/>
                    <a:pt x="624" y="2935"/>
                  </a:cubicBezTo>
                </a:path>
              </a:pathLst>
            </a:custGeom>
            <a:noFill/>
            <a:ln w="9360">
              <a:solidFill>
                <a:srgbClr val="000000"/>
              </a:solidFill>
              <a:round/>
              <a:headEnd/>
              <a:tailEnd/>
            </a:ln>
          </p:spPr>
          <p:txBody>
            <a:bodyPr wrap="none" anchor="ctr"/>
            <a:lstStyle/>
            <a:p>
              <a:endParaRPr lang="en-US"/>
            </a:p>
          </p:txBody>
        </p:sp>
        <p:grpSp>
          <p:nvGrpSpPr>
            <p:cNvPr id="27" name="Group 25"/>
            <p:cNvGrpSpPr>
              <a:grpSpLocks/>
            </p:cNvGrpSpPr>
            <p:nvPr/>
          </p:nvGrpSpPr>
          <p:grpSpPr bwMode="auto">
            <a:xfrm>
              <a:off x="605" y="2078"/>
              <a:ext cx="546" cy="954"/>
              <a:chOff x="605" y="2078"/>
              <a:chExt cx="546" cy="954"/>
            </a:xfrm>
          </p:grpSpPr>
          <p:sp>
            <p:nvSpPr>
              <p:cNvPr id="28" name="Freeform 26"/>
              <p:cNvSpPr>
                <a:spLocks noChangeArrowheads="1"/>
              </p:cNvSpPr>
              <p:nvPr/>
            </p:nvSpPr>
            <p:spPr bwMode="auto">
              <a:xfrm>
                <a:off x="782" y="2774"/>
                <a:ext cx="57" cy="76"/>
              </a:xfrm>
              <a:custGeom>
                <a:avLst/>
                <a:gdLst>
                  <a:gd name="T0" fmla="*/ 0 w 250"/>
                  <a:gd name="T1" fmla="*/ 0 h 333"/>
                  <a:gd name="T2" fmla="*/ 0 w 250"/>
                  <a:gd name="T3" fmla="*/ 0 h 333"/>
                  <a:gd name="T4" fmla="*/ 0 w 250"/>
                  <a:gd name="T5" fmla="*/ 0 h 333"/>
                  <a:gd name="T6" fmla="*/ 0 w 250"/>
                  <a:gd name="T7" fmla="*/ 0 h 333"/>
                  <a:gd name="T8" fmla="*/ 0 w 250"/>
                  <a:gd name="T9" fmla="*/ 0 h 333"/>
                  <a:gd name="T10" fmla="*/ 0 w 250"/>
                  <a:gd name="T11" fmla="*/ 0 h 333"/>
                  <a:gd name="T12" fmla="*/ 0 60000 65536"/>
                  <a:gd name="T13" fmla="*/ 0 60000 65536"/>
                  <a:gd name="T14" fmla="*/ 0 60000 65536"/>
                  <a:gd name="T15" fmla="*/ 0 60000 65536"/>
                  <a:gd name="T16" fmla="*/ 0 60000 65536"/>
                  <a:gd name="T17" fmla="*/ 0 60000 65536"/>
                  <a:gd name="T18" fmla="*/ 0 w 250"/>
                  <a:gd name="T19" fmla="*/ 0 h 333"/>
                  <a:gd name="T20" fmla="*/ 250 w 250"/>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50" h="333">
                    <a:moveTo>
                      <a:pt x="124" y="0"/>
                    </a:moveTo>
                    <a:cubicBezTo>
                      <a:pt x="195" y="0"/>
                      <a:pt x="249" y="72"/>
                      <a:pt x="249" y="166"/>
                    </a:cubicBezTo>
                    <a:cubicBezTo>
                      <a:pt x="249" y="260"/>
                      <a:pt x="195" y="332"/>
                      <a:pt x="124" y="332"/>
                    </a:cubicBezTo>
                    <a:cubicBezTo>
                      <a:pt x="54" y="332"/>
                      <a:pt x="0" y="260"/>
                      <a:pt x="0" y="166"/>
                    </a:cubicBezTo>
                    <a:cubicBezTo>
                      <a:pt x="0" y="72"/>
                      <a:pt x="54" y="0"/>
                      <a:pt x="124" y="0"/>
                    </a:cubicBezTo>
                  </a:path>
                </a:pathLst>
              </a:custGeom>
              <a:solidFill>
                <a:srgbClr val="00E4A8"/>
              </a:solidFill>
              <a:ln w="9360">
                <a:solidFill>
                  <a:srgbClr val="000000"/>
                </a:solidFill>
                <a:round/>
                <a:headEnd/>
                <a:tailEnd/>
              </a:ln>
            </p:spPr>
            <p:txBody>
              <a:bodyPr wrap="none" anchor="ctr"/>
              <a:lstStyle/>
              <a:p>
                <a:endParaRPr lang="en-US"/>
              </a:p>
            </p:txBody>
          </p:sp>
          <p:sp>
            <p:nvSpPr>
              <p:cNvPr id="29" name="Freeform 27"/>
              <p:cNvSpPr>
                <a:spLocks noChangeArrowheads="1"/>
              </p:cNvSpPr>
              <p:nvPr/>
            </p:nvSpPr>
            <p:spPr bwMode="auto">
              <a:xfrm>
                <a:off x="706" y="2674"/>
                <a:ext cx="57" cy="76"/>
              </a:xfrm>
              <a:custGeom>
                <a:avLst/>
                <a:gdLst>
                  <a:gd name="T0" fmla="*/ 0 w 250"/>
                  <a:gd name="T1" fmla="*/ 0 h 333"/>
                  <a:gd name="T2" fmla="*/ 0 w 250"/>
                  <a:gd name="T3" fmla="*/ 0 h 333"/>
                  <a:gd name="T4" fmla="*/ 0 w 250"/>
                  <a:gd name="T5" fmla="*/ 0 h 333"/>
                  <a:gd name="T6" fmla="*/ 0 w 250"/>
                  <a:gd name="T7" fmla="*/ 0 h 333"/>
                  <a:gd name="T8" fmla="*/ 0 w 250"/>
                  <a:gd name="T9" fmla="*/ 0 h 333"/>
                  <a:gd name="T10" fmla="*/ 0 w 250"/>
                  <a:gd name="T11" fmla="*/ 0 h 333"/>
                  <a:gd name="T12" fmla="*/ 0 60000 65536"/>
                  <a:gd name="T13" fmla="*/ 0 60000 65536"/>
                  <a:gd name="T14" fmla="*/ 0 60000 65536"/>
                  <a:gd name="T15" fmla="*/ 0 60000 65536"/>
                  <a:gd name="T16" fmla="*/ 0 60000 65536"/>
                  <a:gd name="T17" fmla="*/ 0 60000 65536"/>
                  <a:gd name="T18" fmla="*/ 0 w 250"/>
                  <a:gd name="T19" fmla="*/ 0 h 333"/>
                  <a:gd name="T20" fmla="*/ 250 w 250"/>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50" h="333">
                    <a:moveTo>
                      <a:pt x="124" y="0"/>
                    </a:moveTo>
                    <a:cubicBezTo>
                      <a:pt x="194" y="0"/>
                      <a:pt x="249" y="72"/>
                      <a:pt x="249" y="166"/>
                    </a:cubicBezTo>
                    <a:cubicBezTo>
                      <a:pt x="249" y="260"/>
                      <a:pt x="194" y="332"/>
                      <a:pt x="124" y="332"/>
                    </a:cubicBezTo>
                    <a:cubicBezTo>
                      <a:pt x="53" y="332"/>
                      <a:pt x="0" y="260"/>
                      <a:pt x="0" y="166"/>
                    </a:cubicBezTo>
                    <a:cubicBezTo>
                      <a:pt x="0" y="72"/>
                      <a:pt x="53" y="0"/>
                      <a:pt x="124" y="0"/>
                    </a:cubicBezTo>
                  </a:path>
                </a:pathLst>
              </a:custGeom>
              <a:solidFill>
                <a:srgbClr val="00E4A8"/>
              </a:solidFill>
              <a:ln w="9360">
                <a:solidFill>
                  <a:srgbClr val="000000"/>
                </a:solidFill>
                <a:round/>
                <a:headEnd/>
                <a:tailEnd/>
              </a:ln>
            </p:spPr>
            <p:txBody>
              <a:bodyPr wrap="none" anchor="ctr"/>
              <a:lstStyle/>
              <a:p>
                <a:endParaRPr lang="en-US"/>
              </a:p>
            </p:txBody>
          </p:sp>
          <p:sp>
            <p:nvSpPr>
              <p:cNvPr id="30" name="Freeform 28"/>
              <p:cNvSpPr>
                <a:spLocks noChangeArrowheads="1"/>
              </p:cNvSpPr>
              <p:nvPr/>
            </p:nvSpPr>
            <p:spPr bwMode="auto">
              <a:xfrm>
                <a:off x="904" y="2687"/>
                <a:ext cx="56" cy="75"/>
              </a:xfrm>
              <a:custGeom>
                <a:avLst/>
                <a:gdLst>
                  <a:gd name="T0" fmla="*/ 0 w 249"/>
                  <a:gd name="T1" fmla="*/ 0 h 329"/>
                  <a:gd name="T2" fmla="*/ 0 w 249"/>
                  <a:gd name="T3" fmla="*/ 0 h 329"/>
                  <a:gd name="T4" fmla="*/ 0 w 249"/>
                  <a:gd name="T5" fmla="*/ 0 h 329"/>
                  <a:gd name="T6" fmla="*/ 0 w 249"/>
                  <a:gd name="T7" fmla="*/ 0 h 329"/>
                  <a:gd name="T8" fmla="*/ 0 w 249"/>
                  <a:gd name="T9" fmla="*/ 0 h 329"/>
                  <a:gd name="T10" fmla="*/ 0 w 249"/>
                  <a:gd name="T11" fmla="*/ 0 h 329"/>
                  <a:gd name="T12" fmla="*/ 0 60000 65536"/>
                  <a:gd name="T13" fmla="*/ 0 60000 65536"/>
                  <a:gd name="T14" fmla="*/ 0 60000 65536"/>
                  <a:gd name="T15" fmla="*/ 0 60000 65536"/>
                  <a:gd name="T16" fmla="*/ 0 60000 65536"/>
                  <a:gd name="T17" fmla="*/ 0 60000 65536"/>
                  <a:gd name="T18" fmla="*/ 0 w 249"/>
                  <a:gd name="T19" fmla="*/ 0 h 329"/>
                  <a:gd name="T20" fmla="*/ 249 w 249"/>
                  <a:gd name="T21" fmla="*/ 329 h 329"/>
                </a:gdLst>
                <a:ahLst/>
                <a:cxnLst>
                  <a:cxn ang="T12">
                    <a:pos x="T0" y="T1"/>
                  </a:cxn>
                  <a:cxn ang="T13">
                    <a:pos x="T2" y="T3"/>
                  </a:cxn>
                  <a:cxn ang="T14">
                    <a:pos x="T4" y="T5"/>
                  </a:cxn>
                  <a:cxn ang="T15">
                    <a:pos x="T6" y="T7"/>
                  </a:cxn>
                  <a:cxn ang="T16">
                    <a:pos x="T8" y="T9"/>
                  </a:cxn>
                  <a:cxn ang="T17">
                    <a:pos x="T10" y="T11"/>
                  </a:cxn>
                </a:cxnLst>
                <a:rect l="T18" t="T19" r="T20" b="T21"/>
                <a:pathLst>
                  <a:path w="249" h="329">
                    <a:moveTo>
                      <a:pt x="124" y="0"/>
                    </a:moveTo>
                    <a:cubicBezTo>
                      <a:pt x="194" y="0"/>
                      <a:pt x="248" y="71"/>
                      <a:pt x="248" y="164"/>
                    </a:cubicBezTo>
                    <a:cubicBezTo>
                      <a:pt x="248" y="257"/>
                      <a:pt x="194" y="328"/>
                      <a:pt x="124" y="328"/>
                    </a:cubicBezTo>
                    <a:cubicBezTo>
                      <a:pt x="53" y="328"/>
                      <a:pt x="0" y="257"/>
                      <a:pt x="0" y="164"/>
                    </a:cubicBezTo>
                    <a:cubicBezTo>
                      <a:pt x="0" y="71"/>
                      <a:pt x="53" y="0"/>
                      <a:pt x="124" y="0"/>
                    </a:cubicBezTo>
                  </a:path>
                </a:pathLst>
              </a:custGeom>
              <a:solidFill>
                <a:srgbClr val="00E4A8"/>
              </a:solidFill>
              <a:ln w="9360">
                <a:solidFill>
                  <a:srgbClr val="000000"/>
                </a:solidFill>
                <a:round/>
                <a:headEnd/>
                <a:tailEnd/>
              </a:ln>
            </p:spPr>
            <p:txBody>
              <a:bodyPr wrap="none" anchor="ctr"/>
              <a:lstStyle/>
              <a:p>
                <a:endParaRPr lang="en-US"/>
              </a:p>
            </p:txBody>
          </p:sp>
          <p:sp>
            <p:nvSpPr>
              <p:cNvPr id="31" name="Freeform 29"/>
              <p:cNvSpPr>
                <a:spLocks noChangeArrowheads="1"/>
              </p:cNvSpPr>
              <p:nvPr/>
            </p:nvSpPr>
            <p:spPr bwMode="auto">
              <a:xfrm>
                <a:off x="808" y="2512"/>
                <a:ext cx="58" cy="75"/>
              </a:xfrm>
              <a:custGeom>
                <a:avLst/>
                <a:gdLst>
                  <a:gd name="T0" fmla="*/ 0 w 255"/>
                  <a:gd name="T1" fmla="*/ 0 h 330"/>
                  <a:gd name="T2" fmla="*/ 0 w 255"/>
                  <a:gd name="T3" fmla="*/ 0 h 330"/>
                  <a:gd name="T4" fmla="*/ 0 w 255"/>
                  <a:gd name="T5" fmla="*/ 0 h 330"/>
                  <a:gd name="T6" fmla="*/ 0 w 255"/>
                  <a:gd name="T7" fmla="*/ 0 h 330"/>
                  <a:gd name="T8" fmla="*/ 0 w 255"/>
                  <a:gd name="T9" fmla="*/ 0 h 330"/>
                  <a:gd name="T10" fmla="*/ 0 w 255"/>
                  <a:gd name="T11" fmla="*/ 0 h 330"/>
                  <a:gd name="T12" fmla="*/ 0 60000 65536"/>
                  <a:gd name="T13" fmla="*/ 0 60000 65536"/>
                  <a:gd name="T14" fmla="*/ 0 60000 65536"/>
                  <a:gd name="T15" fmla="*/ 0 60000 65536"/>
                  <a:gd name="T16" fmla="*/ 0 60000 65536"/>
                  <a:gd name="T17" fmla="*/ 0 60000 65536"/>
                  <a:gd name="T18" fmla="*/ 0 w 255"/>
                  <a:gd name="T19" fmla="*/ 0 h 330"/>
                  <a:gd name="T20" fmla="*/ 255 w 255"/>
                  <a:gd name="T21" fmla="*/ 330 h 330"/>
                </a:gdLst>
                <a:ahLst/>
                <a:cxnLst>
                  <a:cxn ang="T12">
                    <a:pos x="T0" y="T1"/>
                  </a:cxn>
                  <a:cxn ang="T13">
                    <a:pos x="T2" y="T3"/>
                  </a:cxn>
                  <a:cxn ang="T14">
                    <a:pos x="T4" y="T5"/>
                  </a:cxn>
                  <a:cxn ang="T15">
                    <a:pos x="T6" y="T7"/>
                  </a:cxn>
                  <a:cxn ang="T16">
                    <a:pos x="T8" y="T9"/>
                  </a:cxn>
                  <a:cxn ang="T17">
                    <a:pos x="T10" y="T11"/>
                  </a:cxn>
                </a:cxnLst>
                <a:rect l="T18" t="T19" r="T20" b="T21"/>
                <a:pathLst>
                  <a:path w="255" h="330">
                    <a:moveTo>
                      <a:pt x="127" y="0"/>
                    </a:moveTo>
                    <a:cubicBezTo>
                      <a:pt x="198" y="0"/>
                      <a:pt x="254" y="72"/>
                      <a:pt x="254" y="165"/>
                    </a:cubicBezTo>
                    <a:cubicBezTo>
                      <a:pt x="254" y="257"/>
                      <a:pt x="198" y="329"/>
                      <a:pt x="127" y="329"/>
                    </a:cubicBezTo>
                    <a:cubicBezTo>
                      <a:pt x="55" y="329"/>
                      <a:pt x="0" y="257"/>
                      <a:pt x="0" y="165"/>
                    </a:cubicBezTo>
                    <a:cubicBezTo>
                      <a:pt x="0" y="72"/>
                      <a:pt x="55" y="0"/>
                      <a:pt x="127" y="0"/>
                    </a:cubicBezTo>
                  </a:path>
                </a:pathLst>
              </a:custGeom>
              <a:solidFill>
                <a:srgbClr val="00E4A8"/>
              </a:solidFill>
              <a:ln w="9360">
                <a:solidFill>
                  <a:srgbClr val="000000"/>
                </a:solidFill>
                <a:round/>
                <a:headEnd/>
                <a:tailEnd/>
              </a:ln>
            </p:spPr>
            <p:txBody>
              <a:bodyPr wrap="none" anchor="ctr"/>
              <a:lstStyle/>
              <a:p>
                <a:endParaRPr lang="en-US"/>
              </a:p>
            </p:txBody>
          </p:sp>
          <p:sp>
            <p:nvSpPr>
              <p:cNvPr id="32" name="Freeform 30"/>
              <p:cNvSpPr>
                <a:spLocks noChangeArrowheads="1"/>
              </p:cNvSpPr>
              <p:nvPr/>
            </p:nvSpPr>
            <p:spPr bwMode="auto">
              <a:xfrm>
                <a:off x="669" y="2790"/>
                <a:ext cx="57" cy="75"/>
              </a:xfrm>
              <a:custGeom>
                <a:avLst/>
                <a:gdLst>
                  <a:gd name="T0" fmla="*/ 0 w 250"/>
                  <a:gd name="T1" fmla="*/ 0 h 331"/>
                  <a:gd name="T2" fmla="*/ 0 w 250"/>
                  <a:gd name="T3" fmla="*/ 0 h 331"/>
                  <a:gd name="T4" fmla="*/ 0 w 250"/>
                  <a:gd name="T5" fmla="*/ 0 h 331"/>
                  <a:gd name="T6" fmla="*/ 0 w 250"/>
                  <a:gd name="T7" fmla="*/ 0 h 331"/>
                  <a:gd name="T8" fmla="*/ 0 w 250"/>
                  <a:gd name="T9" fmla="*/ 0 h 331"/>
                  <a:gd name="T10" fmla="*/ 0 w 250"/>
                  <a:gd name="T11" fmla="*/ 0 h 331"/>
                  <a:gd name="T12" fmla="*/ 0 60000 65536"/>
                  <a:gd name="T13" fmla="*/ 0 60000 65536"/>
                  <a:gd name="T14" fmla="*/ 0 60000 65536"/>
                  <a:gd name="T15" fmla="*/ 0 60000 65536"/>
                  <a:gd name="T16" fmla="*/ 0 60000 65536"/>
                  <a:gd name="T17" fmla="*/ 0 60000 65536"/>
                  <a:gd name="T18" fmla="*/ 0 w 250"/>
                  <a:gd name="T19" fmla="*/ 0 h 331"/>
                  <a:gd name="T20" fmla="*/ 250 w 250"/>
                  <a:gd name="T21" fmla="*/ 331 h 331"/>
                </a:gdLst>
                <a:ahLst/>
                <a:cxnLst>
                  <a:cxn ang="T12">
                    <a:pos x="T0" y="T1"/>
                  </a:cxn>
                  <a:cxn ang="T13">
                    <a:pos x="T2" y="T3"/>
                  </a:cxn>
                  <a:cxn ang="T14">
                    <a:pos x="T4" y="T5"/>
                  </a:cxn>
                  <a:cxn ang="T15">
                    <a:pos x="T6" y="T7"/>
                  </a:cxn>
                  <a:cxn ang="T16">
                    <a:pos x="T8" y="T9"/>
                  </a:cxn>
                  <a:cxn ang="T17">
                    <a:pos x="T10" y="T11"/>
                  </a:cxn>
                </a:cxnLst>
                <a:rect l="T18" t="T19" r="T20" b="T21"/>
                <a:pathLst>
                  <a:path w="250" h="331">
                    <a:moveTo>
                      <a:pt x="124" y="0"/>
                    </a:moveTo>
                    <a:cubicBezTo>
                      <a:pt x="194" y="0"/>
                      <a:pt x="249" y="72"/>
                      <a:pt x="249" y="165"/>
                    </a:cubicBezTo>
                    <a:cubicBezTo>
                      <a:pt x="249" y="258"/>
                      <a:pt x="194" y="330"/>
                      <a:pt x="124" y="330"/>
                    </a:cubicBezTo>
                    <a:cubicBezTo>
                      <a:pt x="53" y="330"/>
                      <a:pt x="0" y="258"/>
                      <a:pt x="0" y="165"/>
                    </a:cubicBezTo>
                    <a:cubicBezTo>
                      <a:pt x="0" y="72"/>
                      <a:pt x="53" y="0"/>
                      <a:pt x="124" y="0"/>
                    </a:cubicBezTo>
                  </a:path>
                </a:pathLst>
              </a:custGeom>
              <a:solidFill>
                <a:srgbClr val="00E4A8"/>
              </a:solidFill>
              <a:ln w="9360">
                <a:solidFill>
                  <a:srgbClr val="000000"/>
                </a:solidFill>
                <a:round/>
                <a:headEnd/>
                <a:tailEnd/>
              </a:ln>
            </p:spPr>
            <p:txBody>
              <a:bodyPr wrap="none" anchor="ctr"/>
              <a:lstStyle/>
              <a:p>
                <a:endParaRPr lang="en-US"/>
              </a:p>
            </p:txBody>
          </p:sp>
          <p:sp>
            <p:nvSpPr>
              <p:cNvPr id="33" name="Freeform 31"/>
              <p:cNvSpPr>
                <a:spLocks noChangeArrowheads="1"/>
              </p:cNvSpPr>
              <p:nvPr/>
            </p:nvSpPr>
            <p:spPr bwMode="auto">
              <a:xfrm>
                <a:off x="724" y="2550"/>
                <a:ext cx="56" cy="75"/>
              </a:xfrm>
              <a:custGeom>
                <a:avLst/>
                <a:gdLst>
                  <a:gd name="T0" fmla="*/ 0 w 249"/>
                  <a:gd name="T1" fmla="*/ 0 h 332"/>
                  <a:gd name="T2" fmla="*/ 0 w 249"/>
                  <a:gd name="T3" fmla="*/ 0 h 332"/>
                  <a:gd name="T4" fmla="*/ 0 w 249"/>
                  <a:gd name="T5" fmla="*/ 0 h 332"/>
                  <a:gd name="T6" fmla="*/ 0 w 249"/>
                  <a:gd name="T7" fmla="*/ 0 h 332"/>
                  <a:gd name="T8" fmla="*/ 0 w 249"/>
                  <a:gd name="T9" fmla="*/ 0 h 332"/>
                  <a:gd name="T10" fmla="*/ 0 w 249"/>
                  <a:gd name="T11" fmla="*/ 0 h 332"/>
                  <a:gd name="T12" fmla="*/ 0 60000 65536"/>
                  <a:gd name="T13" fmla="*/ 0 60000 65536"/>
                  <a:gd name="T14" fmla="*/ 0 60000 65536"/>
                  <a:gd name="T15" fmla="*/ 0 60000 65536"/>
                  <a:gd name="T16" fmla="*/ 0 60000 65536"/>
                  <a:gd name="T17" fmla="*/ 0 60000 65536"/>
                  <a:gd name="T18" fmla="*/ 0 w 249"/>
                  <a:gd name="T19" fmla="*/ 0 h 332"/>
                  <a:gd name="T20" fmla="*/ 249 w 249"/>
                  <a:gd name="T21" fmla="*/ 332 h 332"/>
                </a:gdLst>
                <a:ahLst/>
                <a:cxnLst>
                  <a:cxn ang="T12">
                    <a:pos x="T0" y="T1"/>
                  </a:cxn>
                  <a:cxn ang="T13">
                    <a:pos x="T2" y="T3"/>
                  </a:cxn>
                  <a:cxn ang="T14">
                    <a:pos x="T4" y="T5"/>
                  </a:cxn>
                  <a:cxn ang="T15">
                    <a:pos x="T6" y="T7"/>
                  </a:cxn>
                  <a:cxn ang="T16">
                    <a:pos x="T8" y="T9"/>
                  </a:cxn>
                  <a:cxn ang="T17">
                    <a:pos x="T10" y="T11"/>
                  </a:cxn>
                </a:cxnLst>
                <a:rect l="T18" t="T19" r="T20" b="T21"/>
                <a:pathLst>
                  <a:path w="249" h="332">
                    <a:moveTo>
                      <a:pt x="123" y="0"/>
                    </a:moveTo>
                    <a:cubicBezTo>
                      <a:pt x="194" y="0"/>
                      <a:pt x="248" y="71"/>
                      <a:pt x="248" y="165"/>
                    </a:cubicBezTo>
                    <a:cubicBezTo>
                      <a:pt x="248" y="259"/>
                      <a:pt x="194" y="331"/>
                      <a:pt x="123" y="331"/>
                    </a:cubicBezTo>
                    <a:cubicBezTo>
                      <a:pt x="53" y="331"/>
                      <a:pt x="0" y="259"/>
                      <a:pt x="0" y="165"/>
                    </a:cubicBezTo>
                    <a:cubicBezTo>
                      <a:pt x="0" y="71"/>
                      <a:pt x="53" y="0"/>
                      <a:pt x="123" y="0"/>
                    </a:cubicBezTo>
                  </a:path>
                </a:pathLst>
              </a:custGeom>
              <a:solidFill>
                <a:srgbClr val="00E4A8"/>
              </a:solidFill>
              <a:ln w="9360">
                <a:solidFill>
                  <a:srgbClr val="000000"/>
                </a:solidFill>
                <a:round/>
                <a:headEnd/>
                <a:tailEnd/>
              </a:ln>
            </p:spPr>
            <p:txBody>
              <a:bodyPr wrap="none" anchor="ctr"/>
              <a:lstStyle/>
              <a:p>
                <a:endParaRPr lang="en-US"/>
              </a:p>
            </p:txBody>
          </p:sp>
          <p:sp>
            <p:nvSpPr>
              <p:cNvPr id="34" name="Freeform 32"/>
              <p:cNvSpPr>
                <a:spLocks noChangeArrowheads="1"/>
              </p:cNvSpPr>
              <p:nvPr/>
            </p:nvSpPr>
            <p:spPr bwMode="auto">
              <a:xfrm>
                <a:off x="913" y="2848"/>
                <a:ext cx="57" cy="76"/>
              </a:xfrm>
              <a:custGeom>
                <a:avLst/>
                <a:gdLst>
                  <a:gd name="T0" fmla="*/ 0 w 250"/>
                  <a:gd name="T1" fmla="*/ 0 h 333"/>
                  <a:gd name="T2" fmla="*/ 0 w 250"/>
                  <a:gd name="T3" fmla="*/ 0 h 333"/>
                  <a:gd name="T4" fmla="*/ 0 w 250"/>
                  <a:gd name="T5" fmla="*/ 0 h 333"/>
                  <a:gd name="T6" fmla="*/ 0 w 250"/>
                  <a:gd name="T7" fmla="*/ 0 h 333"/>
                  <a:gd name="T8" fmla="*/ 0 w 250"/>
                  <a:gd name="T9" fmla="*/ 0 h 333"/>
                  <a:gd name="T10" fmla="*/ 0 w 250"/>
                  <a:gd name="T11" fmla="*/ 0 h 333"/>
                  <a:gd name="T12" fmla="*/ 0 60000 65536"/>
                  <a:gd name="T13" fmla="*/ 0 60000 65536"/>
                  <a:gd name="T14" fmla="*/ 0 60000 65536"/>
                  <a:gd name="T15" fmla="*/ 0 60000 65536"/>
                  <a:gd name="T16" fmla="*/ 0 60000 65536"/>
                  <a:gd name="T17" fmla="*/ 0 60000 65536"/>
                  <a:gd name="T18" fmla="*/ 0 w 250"/>
                  <a:gd name="T19" fmla="*/ 0 h 333"/>
                  <a:gd name="T20" fmla="*/ 250 w 250"/>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50" h="333">
                    <a:moveTo>
                      <a:pt x="124" y="0"/>
                    </a:moveTo>
                    <a:cubicBezTo>
                      <a:pt x="194" y="0"/>
                      <a:pt x="249" y="72"/>
                      <a:pt x="249" y="166"/>
                    </a:cubicBezTo>
                    <a:cubicBezTo>
                      <a:pt x="249" y="260"/>
                      <a:pt x="194" y="332"/>
                      <a:pt x="124" y="332"/>
                    </a:cubicBezTo>
                    <a:cubicBezTo>
                      <a:pt x="53" y="332"/>
                      <a:pt x="0" y="260"/>
                      <a:pt x="0" y="166"/>
                    </a:cubicBezTo>
                    <a:cubicBezTo>
                      <a:pt x="0" y="72"/>
                      <a:pt x="53" y="0"/>
                      <a:pt x="124" y="0"/>
                    </a:cubicBezTo>
                  </a:path>
                </a:pathLst>
              </a:custGeom>
              <a:solidFill>
                <a:srgbClr val="00E4A8"/>
              </a:solidFill>
              <a:ln w="9360">
                <a:solidFill>
                  <a:srgbClr val="000000"/>
                </a:solidFill>
                <a:round/>
                <a:headEnd/>
                <a:tailEnd/>
              </a:ln>
            </p:spPr>
            <p:txBody>
              <a:bodyPr wrap="none" anchor="ctr"/>
              <a:lstStyle/>
              <a:p>
                <a:endParaRPr lang="en-US"/>
              </a:p>
            </p:txBody>
          </p:sp>
          <p:sp>
            <p:nvSpPr>
              <p:cNvPr id="35" name="Freeform 33"/>
              <p:cNvSpPr>
                <a:spLocks noChangeArrowheads="1"/>
              </p:cNvSpPr>
              <p:nvPr/>
            </p:nvSpPr>
            <p:spPr bwMode="auto">
              <a:xfrm>
                <a:off x="981" y="2542"/>
                <a:ext cx="57" cy="75"/>
              </a:xfrm>
              <a:custGeom>
                <a:avLst/>
                <a:gdLst>
                  <a:gd name="T0" fmla="*/ 0 w 250"/>
                  <a:gd name="T1" fmla="*/ 0 h 332"/>
                  <a:gd name="T2" fmla="*/ 0 w 250"/>
                  <a:gd name="T3" fmla="*/ 0 h 332"/>
                  <a:gd name="T4" fmla="*/ 0 w 250"/>
                  <a:gd name="T5" fmla="*/ 0 h 332"/>
                  <a:gd name="T6" fmla="*/ 0 w 250"/>
                  <a:gd name="T7" fmla="*/ 0 h 332"/>
                  <a:gd name="T8" fmla="*/ 0 w 250"/>
                  <a:gd name="T9" fmla="*/ 0 h 332"/>
                  <a:gd name="T10" fmla="*/ 0 w 250"/>
                  <a:gd name="T11" fmla="*/ 0 h 332"/>
                  <a:gd name="T12" fmla="*/ 0 60000 65536"/>
                  <a:gd name="T13" fmla="*/ 0 60000 65536"/>
                  <a:gd name="T14" fmla="*/ 0 60000 65536"/>
                  <a:gd name="T15" fmla="*/ 0 60000 65536"/>
                  <a:gd name="T16" fmla="*/ 0 60000 65536"/>
                  <a:gd name="T17" fmla="*/ 0 60000 65536"/>
                  <a:gd name="T18" fmla="*/ 0 w 250"/>
                  <a:gd name="T19" fmla="*/ 0 h 332"/>
                  <a:gd name="T20" fmla="*/ 250 w 250"/>
                  <a:gd name="T21" fmla="*/ 332 h 332"/>
                </a:gdLst>
                <a:ahLst/>
                <a:cxnLst>
                  <a:cxn ang="T12">
                    <a:pos x="T0" y="T1"/>
                  </a:cxn>
                  <a:cxn ang="T13">
                    <a:pos x="T2" y="T3"/>
                  </a:cxn>
                  <a:cxn ang="T14">
                    <a:pos x="T4" y="T5"/>
                  </a:cxn>
                  <a:cxn ang="T15">
                    <a:pos x="T6" y="T7"/>
                  </a:cxn>
                  <a:cxn ang="T16">
                    <a:pos x="T8" y="T9"/>
                  </a:cxn>
                  <a:cxn ang="T17">
                    <a:pos x="T10" y="T11"/>
                  </a:cxn>
                </a:cxnLst>
                <a:rect l="T18" t="T19" r="T20" b="T21"/>
                <a:pathLst>
                  <a:path w="250" h="332">
                    <a:moveTo>
                      <a:pt x="124" y="0"/>
                    </a:moveTo>
                    <a:cubicBezTo>
                      <a:pt x="194" y="0"/>
                      <a:pt x="249" y="71"/>
                      <a:pt x="249" y="165"/>
                    </a:cubicBezTo>
                    <a:cubicBezTo>
                      <a:pt x="249" y="259"/>
                      <a:pt x="194" y="331"/>
                      <a:pt x="124" y="331"/>
                    </a:cubicBezTo>
                    <a:cubicBezTo>
                      <a:pt x="53" y="331"/>
                      <a:pt x="0" y="259"/>
                      <a:pt x="0" y="165"/>
                    </a:cubicBezTo>
                    <a:cubicBezTo>
                      <a:pt x="0" y="71"/>
                      <a:pt x="53" y="0"/>
                      <a:pt x="124" y="0"/>
                    </a:cubicBezTo>
                  </a:path>
                </a:pathLst>
              </a:custGeom>
              <a:solidFill>
                <a:srgbClr val="00E4A8"/>
              </a:solidFill>
              <a:ln w="9360">
                <a:solidFill>
                  <a:srgbClr val="000000"/>
                </a:solidFill>
                <a:round/>
                <a:headEnd/>
                <a:tailEnd/>
              </a:ln>
            </p:spPr>
            <p:txBody>
              <a:bodyPr wrap="none" anchor="ctr"/>
              <a:lstStyle/>
              <a:p>
                <a:endParaRPr lang="en-US"/>
              </a:p>
            </p:txBody>
          </p:sp>
          <p:sp>
            <p:nvSpPr>
              <p:cNvPr id="36" name="Freeform 34"/>
              <p:cNvSpPr>
                <a:spLocks noChangeArrowheads="1"/>
              </p:cNvSpPr>
              <p:nvPr/>
            </p:nvSpPr>
            <p:spPr bwMode="auto">
              <a:xfrm>
                <a:off x="987" y="2374"/>
                <a:ext cx="57" cy="76"/>
              </a:xfrm>
              <a:custGeom>
                <a:avLst/>
                <a:gdLst>
                  <a:gd name="T0" fmla="*/ 0 w 250"/>
                  <a:gd name="T1" fmla="*/ 0 h 333"/>
                  <a:gd name="T2" fmla="*/ 0 w 250"/>
                  <a:gd name="T3" fmla="*/ 0 h 333"/>
                  <a:gd name="T4" fmla="*/ 0 w 250"/>
                  <a:gd name="T5" fmla="*/ 0 h 333"/>
                  <a:gd name="T6" fmla="*/ 0 w 250"/>
                  <a:gd name="T7" fmla="*/ 0 h 333"/>
                  <a:gd name="T8" fmla="*/ 0 w 250"/>
                  <a:gd name="T9" fmla="*/ 0 h 333"/>
                  <a:gd name="T10" fmla="*/ 0 w 250"/>
                  <a:gd name="T11" fmla="*/ 0 h 333"/>
                  <a:gd name="T12" fmla="*/ 0 60000 65536"/>
                  <a:gd name="T13" fmla="*/ 0 60000 65536"/>
                  <a:gd name="T14" fmla="*/ 0 60000 65536"/>
                  <a:gd name="T15" fmla="*/ 0 60000 65536"/>
                  <a:gd name="T16" fmla="*/ 0 60000 65536"/>
                  <a:gd name="T17" fmla="*/ 0 60000 65536"/>
                  <a:gd name="T18" fmla="*/ 0 w 250"/>
                  <a:gd name="T19" fmla="*/ 0 h 333"/>
                  <a:gd name="T20" fmla="*/ 250 w 250"/>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50" h="333">
                    <a:moveTo>
                      <a:pt x="124" y="0"/>
                    </a:moveTo>
                    <a:cubicBezTo>
                      <a:pt x="195" y="0"/>
                      <a:pt x="249" y="72"/>
                      <a:pt x="249" y="166"/>
                    </a:cubicBezTo>
                    <a:cubicBezTo>
                      <a:pt x="249" y="260"/>
                      <a:pt x="195" y="332"/>
                      <a:pt x="124" y="332"/>
                    </a:cubicBezTo>
                    <a:cubicBezTo>
                      <a:pt x="54" y="332"/>
                      <a:pt x="0" y="260"/>
                      <a:pt x="0" y="166"/>
                    </a:cubicBezTo>
                    <a:cubicBezTo>
                      <a:pt x="0" y="72"/>
                      <a:pt x="54" y="0"/>
                      <a:pt x="124" y="0"/>
                    </a:cubicBezTo>
                  </a:path>
                </a:pathLst>
              </a:custGeom>
              <a:solidFill>
                <a:srgbClr val="00E4A8"/>
              </a:solidFill>
              <a:ln w="9360">
                <a:solidFill>
                  <a:srgbClr val="000000"/>
                </a:solidFill>
                <a:round/>
                <a:headEnd/>
                <a:tailEnd/>
              </a:ln>
            </p:spPr>
            <p:txBody>
              <a:bodyPr wrap="none" anchor="ctr"/>
              <a:lstStyle/>
              <a:p>
                <a:endParaRPr lang="en-US"/>
              </a:p>
            </p:txBody>
          </p:sp>
          <p:sp>
            <p:nvSpPr>
              <p:cNvPr id="37" name="Freeform 35"/>
              <p:cNvSpPr>
                <a:spLocks noChangeArrowheads="1"/>
              </p:cNvSpPr>
              <p:nvPr/>
            </p:nvSpPr>
            <p:spPr bwMode="auto">
              <a:xfrm>
                <a:off x="937" y="2227"/>
                <a:ext cx="56" cy="76"/>
              </a:xfrm>
              <a:custGeom>
                <a:avLst/>
                <a:gdLst>
                  <a:gd name="T0" fmla="*/ 0 w 249"/>
                  <a:gd name="T1" fmla="*/ 0 h 333"/>
                  <a:gd name="T2" fmla="*/ 0 w 249"/>
                  <a:gd name="T3" fmla="*/ 0 h 333"/>
                  <a:gd name="T4" fmla="*/ 0 w 249"/>
                  <a:gd name="T5" fmla="*/ 0 h 333"/>
                  <a:gd name="T6" fmla="*/ 0 w 249"/>
                  <a:gd name="T7" fmla="*/ 0 h 333"/>
                  <a:gd name="T8" fmla="*/ 0 w 249"/>
                  <a:gd name="T9" fmla="*/ 0 h 333"/>
                  <a:gd name="T10" fmla="*/ 0 w 249"/>
                  <a:gd name="T11" fmla="*/ 0 h 333"/>
                  <a:gd name="T12" fmla="*/ 0 60000 65536"/>
                  <a:gd name="T13" fmla="*/ 0 60000 65536"/>
                  <a:gd name="T14" fmla="*/ 0 60000 65536"/>
                  <a:gd name="T15" fmla="*/ 0 60000 65536"/>
                  <a:gd name="T16" fmla="*/ 0 60000 65536"/>
                  <a:gd name="T17" fmla="*/ 0 60000 65536"/>
                  <a:gd name="T18" fmla="*/ 0 w 249"/>
                  <a:gd name="T19" fmla="*/ 0 h 333"/>
                  <a:gd name="T20" fmla="*/ 249 w 249"/>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49" h="333">
                    <a:moveTo>
                      <a:pt x="124" y="0"/>
                    </a:moveTo>
                    <a:cubicBezTo>
                      <a:pt x="194" y="0"/>
                      <a:pt x="248" y="72"/>
                      <a:pt x="248" y="166"/>
                    </a:cubicBezTo>
                    <a:cubicBezTo>
                      <a:pt x="248" y="260"/>
                      <a:pt x="194" y="332"/>
                      <a:pt x="124" y="332"/>
                    </a:cubicBezTo>
                    <a:cubicBezTo>
                      <a:pt x="53" y="332"/>
                      <a:pt x="0" y="260"/>
                      <a:pt x="0" y="166"/>
                    </a:cubicBezTo>
                    <a:cubicBezTo>
                      <a:pt x="0" y="72"/>
                      <a:pt x="53" y="0"/>
                      <a:pt x="124" y="0"/>
                    </a:cubicBezTo>
                  </a:path>
                </a:pathLst>
              </a:custGeom>
              <a:solidFill>
                <a:srgbClr val="00E4A8"/>
              </a:solidFill>
              <a:ln w="9360">
                <a:solidFill>
                  <a:srgbClr val="000000"/>
                </a:solidFill>
                <a:round/>
                <a:headEnd/>
                <a:tailEnd/>
              </a:ln>
            </p:spPr>
            <p:txBody>
              <a:bodyPr wrap="none" anchor="ctr"/>
              <a:lstStyle/>
              <a:p>
                <a:endParaRPr lang="en-US"/>
              </a:p>
            </p:txBody>
          </p:sp>
          <p:sp>
            <p:nvSpPr>
              <p:cNvPr id="38" name="Freeform 36"/>
              <p:cNvSpPr>
                <a:spLocks noChangeArrowheads="1"/>
              </p:cNvSpPr>
              <p:nvPr/>
            </p:nvSpPr>
            <p:spPr bwMode="auto">
              <a:xfrm>
                <a:off x="605" y="2078"/>
                <a:ext cx="546" cy="954"/>
              </a:xfrm>
              <a:custGeom>
                <a:avLst/>
                <a:gdLst>
                  <a:gd name="T0" fmla="*/ 0 w 2408"/>
                  <a:gd name="T1" fmla="*/ 0 h 4208"/>
                  <a:gd name="T2" fmla="*/ 0 w 2408"/>
                  <a:gd name="T3" fmla="*/ 0 h 4208"/>
                  <a:gd name="T4" fmla="*/ 0 w 2408"/>
                  <a:gd name="T5" fmla="*/ 0 h 4208"/>
                  <a:gd name="T6" fmla="*/ 0 w 2408"/>
                  <a:gd name="T7" fmla="*/ 0 h 4208"/>
                  <a:gd name="T8" fmla="*/ 0 w 2408"/>
                  <a:gd name="T9" fmla="*/ 0 h 4208"/>
                  <a:gd name="T10" fmla="*/ 0 w 2408"/>
                  <a:gd name="T11" fmla="*/ 0 h 4208"/>
                  <a:gd name="T12" fmla="*/ 0 w 2408"/>
                  <a:gd name="T13" fmla="*/ 0 h 4208"/>
                  <a:gd name="T14" fmla="*/ 0 w 2408"/>
                  <a:gd name="T15" fmla="*/ 0 h 4208"/>
                  <a:gd name="T16" fmla="*/ 0 w 2408"/>
                  <a:gd name="T17" fmla="*/ 0 h 4208"/>
                  <a:gd name="T18" fmla="*/ 0 w 2408"/>
                  <a:gd name="T19" fmla="*/ 0 h 4208"/>
                  <a:gd name="T20" fmla="*/ 0 w 2408"/>
                  <a:gd name="T21" fmla="*/ 0 h 4208"/>
                  <a:gd name="T22" fmla="*/ 0 w 2408"/>
                  <a:gd name="T23" fmla="*/ 0 h 4208"/>
                  <a:gd name="T24" fmla="*/ 0 w 2408"/>
                  <a:gd name="T25" fmla="*/ 0 h 4208"/>
                  <a:gd name="T26" fmla="*/ 0 w 2408"/>
                  <a:gd name="T27" fmla="*/ 0 h 4208"/>
                  <a:gd name="T28" fmla="*/ 0 w 2408"/>
                  <a:gd name="T29" fmla="*/ 0 h 4208"/>
                  <a:gd name="T30" fmla="*/ 0 w 2408"/>
                  <a:gd name="T31" fmla="*/ 0 h 4208"/>
                  <a:gd name="T32" fmla="*/ 0 w 2408"/>
                  <a:gd name="T33" fmla="*/ 0 h 4208"/>
                  <a:gd name="T34" fmla="*/ 0 w 2408"/>
                  <a:gd name="T35" fmla="*/ 0 h 4208"/>
                  <a:gd name="T36" fmla="*/ 0 w 2408"/>
                  <a:gd name="T37" fmla="*/ 0 h 4208"/>
                  <a:gd name="T38" fmla="*/ 0 w 2408"/>
                  <a:gd name="T39" fmla="*/ 0 h 4208"/>
                  <a:gd name="T40" fmla="*/ 0 w 2408"/>
                  <a:gd name="T41" fmla="*/ 0 h 4208"/>
                  <a:gd name="T42" fmla="*/ 0 w 2408"/>
                  <a:gd name="T43" fmla="*/ 0 h 4208"/>
                  <a:gd name="T44" fmla="*/ 0 w 2408"/>
                  <a:gd name="T45" fmla="*/ 0 h 4208"/>
                  <a:gd name="T46" fmla="*/ 0 w 2408"/>
                  <a:gd name="T47" fmla="*/ 0 h 420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408"/>
                  <a:gd name="T73" fmla="*/ 0 h 4208"/>
                  <a:gd name="T74" fmla="*/ 2408 w 2408"/>
                  <a:gd name="T75" fmla="*/ 4208 h 420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408" h="4208">
                    <a:moveTo>
                      <a:pt x="2088" y="2836"/>
                    </a:moveTo>
                    <a:cubicBezTo>
                      <a:pt x="2058" y="3033"/>
                      <a:pt x="2025" y="3224"/>
                      <a:pt x="1936" y="3389"/>
                    </a:cubicBezTo>
                    <a:cubicBezTo>
                      <a:pt x="1894" y="3554"/>
                      <a:pt x="1852" y="3715"/>
                      <a:pt x="1811" y="3880"/>
                    </a:cubicBezTo>
                    <a:cubicBezTo>
                      <a:pt x="1794" y="3945"/>
                      <a:pt x="1797" y="4024"/>
                      <a:pt x="1761" y="4074"/>
                    </a:cubicBezTo>
                    <a:cubicBezTo>
                      <a:pt x="1745" y="4095"/>
                      <a:pt x="1734" y="4128"/>
                      <a:pt x="1711" y="4142"/>
                    </a:cubicBezTo>
                    <a:cubicBezTo>
                      <a:pt x="1664" y="4174"/>
                      <a:pt x="1559" y="4207"/>
                      <a:pt x="1559" y="4207"/>
                    </a:cubicBezTo>
                    <a:cubicBezTo>
                      <a:pt x="1304" y="4189"/>
                      <a:pt x="1049" y="4196"/>
                      <a:pt x="802" y="4106"/>
                    </a:cubicBezTo>
                    <a:cubicBezTo>
                      <a:pt x="639" y="4049"/>
                      <a:pt x="503" y="3934"/>
                      <a:pt x="351" y="3848"/>
                    </a:cubicBezTo>
                    <a:cubicBezTo>
                      <a:pt x="257" y="3794"/>
                      <a:pt x="166" y="3726"/>
                      <a:pt x="100" y="3618"/>
                    </a:cubicBezTo>
                    <a:cubicBezTo>
                      <a:pt x="63" y="3557"/>
                      <a:pt x="0" y="3424"/>
                      <a:pt x="0" y="3424"/>
                    </a:cubicBezTo>
                    <a:cubicBezTo>
                      <a:pt x="30" y="2886"/>
                      <a:pt x="91" y="2309"/>
                      <a:pt x="223" y="1793"/>
                    </a:cubicBezTo>
                    <a:cubicBezTo>
                      <a:pt x="255" y="1478"/>
                      <a:pt x="274" y="1162"/>
                      <a:pt x="301" y="846"/>
                    </a:cubicBezTo>
                    <a:cubicBezTo>
                      <a:pt x="312" y="706"/>
                      <a:pt x="326" y="631"/>
                      <a:pt x="426" y="588"/>
                    </a:cubicBezTo>
                    <a:cubicBezTo>
                      <a:pt x="535" y="441"/>
                      <a:pt x="407" y="591"/>
                      <a:pt x="554" y="487"/>
                    </a:cubicBezTo>
                    <a:cubicBezTo>
                      <a:pt x="667" y="408"/>
                      <a:pt x="736" y="312"/>
                      <a:pt x="856" y="261"/>
                    </a:cubicBezTo>
                    <a:cubicBezTo>
                      <a:pt x="949" y="132"/>
                      <a:pt x="853" y="243"/>
                      <a:pt x="981" y="161"/>
                    </a:cubicBezTo>
                    <a:cubicBezTo>
                      <a:pt x="1060" y="107"/>
                      <a:pt x="1093" y="39"/>
                      <a:pt x="1182" y="0"/>
                    </a:cubicBezTo>
                    <a:cubicBezTo>
                      <a:pt x="1440" y="82"/>
                      <a:pt x="1734" y="104"/>
                      <a:pt x="1963" y="294"/>
                    </a:cubicBezTo>
                    <a:cubicBezTo>
                      <a:pt x="2044" y="448"/>
                      <a:pt x="2118" y="617"/>
                      <a:pt x="2240" y="717"/>
                    </a:cubicBezTo>
                    <a:cubicBezTo>
                      <a:pt x="2273" y="782"/>
                      <a:pt x="2321" y="839"/>
                      <a:pt x="2340" y="914"/>
                    </a:cubicBezTo>
                    <a:cubicBezTo>
                      <a:pt x="2357" y="979"/>
                      <a:pt x="2390" y="1108"/>
                      <a:pt x="2390" y="1108"/>
                    </a:cubicBezTo>
                    <a:cubicBezTo>
                      <a:pt x="2376" y="1564"/>
                      <a:pt x="2407" y="2137"/>
                      <a:pt x="2188" y="2542"/>
                    </a:cubicBezTo>
                    <a:cubicBezTo>
                      <a:pt x="2180" y="2571"/>
                      <a:pt x="2149" y="2836"/>
                      <a:pt x="2088" y="2836"/>
                    </a:cubicBezTo>
                  </a:path>
                </a:pathLst>
              </a:custGeom>
              <a:noFill/>
              <a:ln w="9360">
                <a:solidFill>
                  <a:srgbClr val="000000"/>
                </a:solidFill>
                <a:round/>
                <a:headEnd/>
                <a:tailEnd/>
              </a:ln>
            </p:spPr>
            <p:txBody>
              <a:bodyPr wrap="none" anchor="ctr"/>
              <a:lstStyle/>
              <a:p>
                <a:endParaRPr lang="en-US"/>
              </a:p>
            </p:txBody>
          </p:sp>
        </p:grpSp>
      </p:grpSp>
      <p:sp>
        <p:nvSpPr>
          <p:cNvPr id="39" name="Rectangle 38"/>
          <p:cNvSpPr/>
          <p:nvPr/>
        </p:nvSpPr>
        <p:spPr>
          <a:xfrm>
            <a:off x="5867400" y="2895600"/>
            <a:ext cx="1917192" cy="369332"/>
          </a:xfrm>
          <a:prstGeom prst="rect">
            <a:avLst/>
          </a:prstGeom>
        </p:spPr>
        <p:txBody>
          <a:bodyPr wrap="none">
            <a:spAutoFit/>
          </a:bodyPr>
          <a:lstStyle/>
          <a:p>
            <a:pPr eaLnBrk="1" hangingPunct="1">
              <a:buClr>
                <a:srgbClr val="000000"/>
              </a:buClr>
              <a:buSzPct val="100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smtClean="0"/>
              <a:t>Stratified Sample</a:t>
            </a:r>
            <a:endParaRPr lang="en-GB" dirty="0"/>
          </a:p>
        </p:txBody>
      </p:sp>
      <p:sp>
        <p:nvSpPr>
          <p:cNvPr id="40" name="AutoShape 37"/>
          <p:cNvSpPr>
            <a:spLocks noChangeArrowheads="1"/>
          </p:cNvSpPr>
          <p:nvPr/>
        </p:nvSpPr>
        <p:spPr bwMode="auto">
          <a:xfrm>
            <a:off x="4800600" y="3505201"/>
            <a:ext cx="3352800" cy="2590800"/>
          </a:xfrm>
          <a:prstGeom prst="roundRect">
            <a:avLst>
              <a:gd name="adj" fmla="val 46"/>
            </a:avLst>
          </a:prstGeom>
          <a:noFill/>
          <a:ln w="9360">
            <a:solidFill>
              <a:srgbClr val="000000"/>
            </a:solidFill>
            <a:round/>
            <a:headEnd/>
            <a:tailEnd/>
          </a:ln>
        </p:spPr>
        <p:txBody>
          <a:bodyPr wrap="none" anchor="ctr"/>
          <a:lstStyle/>
          <a:p>
            <a:endParaRPr lang="en-US"/>
          </a:p>
        </p:txBody>
      </p:sp>
      <p:grpSp>
        <p:nvGrpSpPr>
          <p:cNvPr id="41" name="Group 38"/>
          <p:cNvGrpSpPr>
            <a:grpSpLocks/>
          </p:cNvGrpSpPr>
          <p:nvPr/>
        </p:nvGrpSpPr>
        <p:grpSpPr bwMode="auto">
          <a:xfrm>
            <a:off x="5181600" y="3733800"/>
            <a:ext cx="2397125" cy="2212975"/>
            <a:chOff x="3302" y="2032"/>
            <a:chExt cx="1510" cy="1394"/>
          </a:xfrm>
        </p:grpSpPr>
        <p:sp>
          <p:nvSpPr>
            <p:cNvPr id="42" name="Freeform 39"/>
            <p:cNvSpPr>
              <a:spLocks noChangeArrowheads="1"/>
            </p:cNvSpPr>
            <p:nvPr/>
          </p:nvSpPr>
          <p:spPr bwMode="auto">
            <a:xfrm>
              <a:off x="3367" y="2777"/>
              <a:ext cx="57" cy="76"/>
            </a:xfrm>
            <a:custGeom>
              <a:avLst/>
              <a:gdLst>
                <a:gd name="T0" fmla="*/ 0 w 250"/>
                <a:gd name="T1" fmla="*/ 0 h 337"/>
                <a:gd name="T2" fmla="*/ 0 w 250"/>
                <a:gd name="T3" fmla="*/ 0 h 337"/>
                <a:gd name="T4" fmla="*/ 0 w 250"/>
                <a:gd name="T5" fmla="*/ 0 h 337"/>
                <a:gd name="T6" fmla="*/ 0 w 250"/>
                <a:gd name="T7" fmla="*/ 0 h 337"/>
                <a:gd name="T8" fmla="*/ 0 w 250"/>
                <a:gd name="T9" fmla="*/ 0 h 337"/>
                <a:gd name="T10" fmla="*/ 0 w 250"/>
                <a:gd name="T11" fmla="*/ 0 h 337"/>
                <a:gd name="T12" fmla="*/ 0 60000 65536"/>
                <a:gd name="T13" fmla="*/ 0 60000 65536"/>
                <a:gd name="T14" fmla="*/ 0 60000 65536"/>
                <a:gd name="T15" fmla="*/ 0 60000 65536"/>
                <a:gd name="T16" fmla="*/ 0 60000 65536"/>
                <a:gd name="T17" fmla="*/ 0 60000 65536"/>
                <a:gd name="T18" fmla="*/ 0 w 250"/>
                <a:gd name="T19" fmla="*/ 0 h 337"/>
                <a:gd name="T20" fmla="*/ 250 w 250"/>
                <a:gd name="T21" fmla="*/ 337 h 337"/>
              </a:gdLst>
              <a:ahLst/>
              <a:cxnLst>
                <a:cxn ang="T12">
                  <a:pos x="T0" y="T1"/>
                </a:cxn>
                <a:cxn ang="T13">
                  <a:pos x="T2" y="T3"/>
                </a:cxn>
                <a:cxn ang="T14">
                  <a:pos x="T4" y="T5"/>
                </a:cxn>
                <a:cxn ang="T15">
                  <a:pos x="T6" y="T7"/>
                </a:cxn>
                <a:cxn ang="T16">
                  <a:pos x="T8" y="T9"/>
                </a:cxn>
                <a:cxn ang="T17">
                  <a:pos x="T10" y="T11"/>
                </a:cxn>
              </a:cxnLst>
              <a:rect l="T18" t="T19" r="T20" b="T21"/>
              <a:pathLst>
                <a:path w="250" h="337">
                  <a:moveTo>
                    <a:pt x="124" y="0"/>
                  </a:moveTo>
                  <a:cubicBezTo>
                    <a:pt x="195" y="0"/>
                    <a:pt x="249" y="73"/>
                    <a:pt x="249" y="168"/>
                  </a:cubicBezTo>
                  <a:cubicBezTo>
                    <a:pt x="249" y="263"/>
                    <a:pt x="195" y="336"/>
                    <a:pt x="124" y="336"/>
                  </a:cubicBezTo>
                  <a:cubicBezTo>
                    <a:pt x="53" y="336"/>
                    <a:pt x="0" y="263"/>
                    <a:pt x="0" y="168"/>
                  </a:cubicBezTo>
                  <a:cubicBezTo>
                    <a:pt x="0" y="73"/>
                    <a:pt x="53" y="0"/>
                    <a:pt x="124" y="0"/>
                  </a:cubicBezTo>
                </a:path>
              </a:pathLst>
            </a:custGeom>
            <a:solidFill>
              <a:srgbClr val="00E4A8"/>
            </a:solidFill>
            <a:ln w="9360">
              <a:solidFill>
                <a:srgbClr val="000000"/>
              </a:solidFill>
              <a:round/>
              <a:headEnd/>
              <a:tailEnd/>
            </a:ln>
          </p:spPr>
          <p:txBody>
            <a:bodyPr wrap="none" anchor="ctr"/>
            <a:lstStyle/>
            <a:p>
              <a:endParaRPr lang="en-US"/>
            </a:p>
          </p:txBody>
        </p:sp>
        <p:sp>
          <p:nvSpPr>
            <p:cNvPr id="43" name="Freeform 40"/>
            <p:cNvSpPr>
              <a:spLocks noChangeArrowheads="1"/>
            </p:cNvSpPr>
            <p:nvPr/>
          </p:nvSpPr>
          <p:spPr bwMode="auto">
            <a:xfrm>
              <a:off x="3421" y="2534"/>
              <a:ext cx="57" cy="76"/>
            </a:xfrm>
            <a:custGeom>
              <a:avLst/>
              <a:gdLst>
                <a:gd name="T0" fmla="*/ 0 w 250"/>
                <a:gd name="T1" fmla="*/ 0 h 337"/>
                <a:gd name="T2" fmla="*/ 0 w 250"/>
                <a:gd name="T3" fmla="*/ 0 h 337"/>
                <a:gd name="T4" fmla="*/ 0 w 250"/>
                <a:gd name="T5" fmla="*/ 0 h 337"/>
                <a:gd name="T6" fmla="*/ 0 w 250"/>
                <a:gd name="T7" fmla="*/ 0 h 337"/>
                <a:gd name="T8" fmla="*/ 0 w 250"/>
                <a:gd name="T9" fmla="*/ 0 h 337"/>
                <a:gd name="T10" fmla="*/ 0 w 250"/>
                <a:gd name="T11" fmla="*/ 0 h 337"/>
                <a:gd name="T12" fmla="*/ 0 60000 65536"/>
                <a:gd name="T13" fmla="*/ 0 60000 65536"/>
                <a:gd name="T14" fmla="*/ 0 60000 65536"/>
                <a:gd name="T15" fmla="*/ 0 60000 65536"/>
                <a:gd name="T16" fmla="*/ 0 60000 65536"/>
                <a:gd name="T17" fmla="*/ 0 60000 65536"/>
                <a:gd name="T18" fmla="*/ 0 w 250"/>
                <a:gd name="T19" fmla="*/ 0 h 337"/>
                <a:gd name="T20" fmla="*/ 250 w 250"/>
                <a:gd name="T21" fmla="*/ 337 h 337"/>
              </a:gdLst>
              <a:ahLst/>
              <a:cxnLst>
                <a:cxn ang="T12">
                  <a:pos x="T0" y="T1"/>
                </a:cxn>
                <a:cxn ang="T13">
                  <a:pos x="T2" y="T3"/>
                </a:cxn>
                <a:cxn ang="T14">
                  <a:pos x="T4" y="T5"/>
                </a:cxn>
                <a:cxn ang="T15">
                  <a:pos x="T6" y="T7"/>
                </a:cxn>
                <a:cxn ang="T16">
                  <a:pos x="T8" y="T9"/>
                </a:cxn>
                <a:cxn ang="T17">
                  <a:pos x="T10" y="T11"/>
                </a:cxn>
              </a:cxnLst>
              <a:rect l="T18" t="T19" r="T20" b="T21"/>
              <a:pathLst>
                <a:path w="250" h="337">
                  <a:moveTo>
                    <a:pt x="124" y="0"/>
                  </a:moveTo>
                  <a:cubicBezTo>
                    <a:pt x="195" y="0"/>
                    <a:pt x="249" y="73"/>
                    <a:pt x="249" y="168"/>
                  </a:cubicBezTo>
                  <a:cubicBezTo>
                    <a:pt x="249" y="263"/>
                    <a:pt x="195" y="336"/>
                    <a:pt x="124" y="336"/>
                  </a:cubicBezTo>
                  <a:cubicBezTo>
                    <a:pt x="54" y="336"/>
                    <a:pt x="0" y="263"/>
                    <a:pt x="0" y="168"/>
                  </a:cubicBezTo>
                  <a:cubicBezTo>
                    <a:pt x="0" y="73"/>
                    <a:pt x="54" y="0"/>
                    <a:pt x="124" y="0"/>
                  </a:cubicBezTo>
                </a:path>
              </a:pathLst>
            </a:custGeom>
            <a:solidFill>
              <a:srgbClr val="00E4A8"/>
            </a:solidFill>
            <a:ln w="9360">
              <a:solidFill>
                <a:srgbClr val="000000"/>
              </a:solidFill>
              <a:round/>
              <a:headEnd/>
              <a:tailEnd/>
            </a:ln>
          </p:spPr>
          <p:txBody>
            <a:bodyPr wrap="none" anchor="ctr"/>
            <a:lstStyle/>
            <a:p>
              <a:endParaRPr lang="en-US"/>
            </a:p>
          </p:txBody>
        </p:sp>
        <p:sp>
          <p:nvSpPr>
            <p:cNvPr id="44" name="Freeform 41"/>
            <p:cNvSpPr>
              <a:spLocks noChangeArrowheads="1"/>
            </p:cNvSpPr>
            <p:nvPr/>
          </p:nvSpPr>
          <p:spPr bwMode="auto">
            <a:xfrm>
              <a:off x="4370" y="2256"/>
              <a:ext cx="57" cy="76"/>
            </a:xfrm>
            <a:custGeom>
              <a:avLst/>
              <a:gdLst>
                <a:gd name="T0" fmla="*/ 0 w 251"/>
                <a:gd name="T1" fmla="*/ 0 h 337"/>
                <a:gd name="T2" fmla="*/ 0 w 251"/>
                <a:gd name="T3" fmla="*/ 0 h 337"/>
                <a:gd name="T4" fmla="*/ 0 w 251"/>
                <a:gd name="T5" fmla="*/ 0 h 337"/>
                <a:gd name="T6" fmla="*/ 0 w 251"/>
                <a:gd name="T7" fmla="*/ 0 h 337"/>
                <a:gd name="T8" fmla="*/ 0 w 251"/>
                <a:gd name="T9" fmla="*/ 0 h 337"/>
                <a:gd name="T10" fmla="*/ 0 w 251"/>
                <a:gd name="T11" fmla="*/ 0 h 337"/>
                <a:gd name="T12" fmla="*/ 0 60000 65536"/>
                <a:gd name="T13" fmla="*/ 0 60000 65536"/>
                <a:gd name="T14" fmla="*/ 0 60000 65536"/>
                <a:gd name="T15" fmla="*/ 0 60000 65536"/>
                <a:gd name="T16" fmla="*/ 0 60000 65536"/>
                <a:gd name="T17" fmla="*/ 0 60000 65536"/>
                <a:gd name="T18" fmla="*/ 0 w 251"/>
                <a:gd name="T19" fmla="*/ 0 h 337"/>
                <a:gd name="T20" fmla="*/ 251 w 251"/>
                <a:gd name="T21" fmla="*/ 337 h 337"/>
              </a:gdLst>
              <a:ahLst/>
              <a:cxnLst>
                <a:cxn ang="T12">
                  <a:pos x="T0" y="T1"/>
                </a:cxn>
                <a:cxn ang="T13">
                  <a:pos x="T2" y="T3"/>
                </a:cxn>
                <a:cxn ang="T14">
                  <a:pos x="T4" y="T5"/>
                </a:cxn>
                <a:cxn ang="T15">
                  <a:pos x="T6" y="T7"/>
                </a:cxn>
                <a:cxn ang="T16">
                  <a:pos x="T8" y="T9"/>
                </a:cxn>
                <a:cxn ang="T17">
                  <a:pos x="T10" y="T11"/>
                </a:cxn>
              </a:cxnLst>
              <a:rect l="T18" t="T19" r="T20" b="T21"/>
              <a:pathLst>
                <a:path w="251" h="337">
                  <a:moveTo>
                    <a:pt x="124" y="0"/>
                  </a:moveTo>
                  <a:cubicBezTo>
                    <a:pt x="195" y="0"/>
                    <a:pt x="250" y="73"/>
                    <a:pt x="250" y="168"/>
                  </a:cubicBezTo>
                  <a:cubicBezTo>
                    <a:pt x="250" y="263"/>
                    <a:pt x="195" y="336"/>
                    <a:pt x="124" y="336"/>
                  </a:cubicBezTo>
                  <a:cubicBezTo>
                    <a:pt x="54" y="336"/>
                    <a:pt x="0" y="263"/>
                    <a:pt x="0" y="168"/>
                  </a:cubicBezTo>
                  <a:cubicBezTo>
                    <a:pt x="0" y="73"/>
                    <a:pt x="54" y="0"/>
                    <a:pt x="124" y="0"/>
                  </a:cubicBezTo>
                </a:path>
              </a:pathLst>
            </a:custGeom>
            <a:solidFill>
              <a:srgbClr val="FFFFFF"/>
            </a:solidFill>
            <a:ln w="9360">
              <a:solidFill>
                <a:srgbClr val="000000"/>
              </a:solidFill>
              <a:round/>
              <a:headEnd/>
              <a:tailEnd/>
            </a:ln>
          </p:spPr>
          <p:txBody>
            <a:bodyPr wrap="none" anchor="ctr"/>
            <a:lstStyle/>
            <a:p>
              <a:endParaRPr lang="en-US"/>
            </a:p>
          </p:txBody>
        </p:sp>
        <p:sp>
          <p:nvSpPr>
            <p:cNvPr id="45" name="Freeform 42"/>
            <p:cNvSpPr>
              <a:spLocks noChangeArrowheads="1"/>
            </p:cNvSpPr>
            <p:nvPr/>
          </p:nvSpPr>
          <p:spPr bwMode="auto">
            <a:xfrm>
              <a:off x="4327" y="2583"/>
              <a:ext cx="57" cy="76"/>
            </a:xfrm>
            <a:custGeom>
              <a:avLst/>
              <a:gdLst>
                <a:gd name="T0" fmla="*/ 0 w 251"/>
                <a:gd name="T1" fmla="*/ 0 h 337"/>
                <a:gd name="T2" fmla="*/ 0 w 251"/>
                <a:gd name="T3" fmla="*/ 0 h 337"/>
                <a:gd name="T4" fmla="*/ 0 w 251"/>
                <a:gd name="T5" fmla="*/ 0 h 337"/>
                <a:gd name="T6" fmla="*/ 0 w 251"/>
                <a:gd name="T7" fmla="*/ 0 h 337"/>
                <a:gd name="T8" fmla="*/ 0 w 251"/>
                <a:gd name="T9" fmla="*/ 0 h 337"/>
                <a:gd name="T10" fmla="*/ 0 w 251"/>
                <a:gd name="T11" fmla="*/ 0 h 337"/>
                <a:gd name="T12" fmla="*/ 0 60000 65536"/>
                <a:gd name="T13" fmla="*/ 0 60000 65536"/>
                <a:gd name="T14" fmla="*/ 0 60000 65536"/>
                <a:gd name="T15" fmla="*/ 0 60000 65536"/>
                <a:gd name="T16" fmla="*/ 0 60000 65536"/>
                <a:gd name="T17" fmla="*/ 0 60000 65536"/>
                <a:gd name="T18" fmla="*/ 0 w 251"/>
                <a:gd name="T19" fmla="*/ 0 h 337"/>
                <a:gd name="T20" fmla="*/ 251 w 251"/>
                <a:gd name="T21" fmla="*/ 337 h 337"/>
              </a:gdLst>
              <a:ahLst/>
              <a:cxnLst>
                <a:cxn ang="T12">
                  <a:pos x="T0" y="T1"/>
                </a:cxn>
                <a:cxn ang="T13">
                  <a:pos x="T2" y="T3"/>
                </a:cxn>
                <a:cxn ang="T14">
                  <a:pos x="T4" y="T5"/>
                </a:cxn>
                <a:cxn ang="T15">
                  <a:pos x="T6" y="T7"/>
                </a:cxn>
                <a:cxn ang="T16">
                  <a:pos x="T8" y="T9"/>
                </a:cxn>
                <a:cxn ang="T17">
                  <a:pos x="T10" y="T11"/>
                </a:cxn>
              </a:cxnLst>
              <a:rect l="T18" t="T19" r="T20" b="T21"/>
              <a:pathLst>
                <a:path w="251" h="337">
                  <a:moveTo>
                    <a:pt x="125" y="0"/>
                  </a:moveTo>
                  <a:cubicBezTo>
                    <a:pt x="195" y="0"/>
                    <a:pt x="250" y="73"/>
                    <a:pt x="250" y="168"/>
                  </a:cubicBezTo>
                  <a:cubicBezTo>
                    <a:pt x="250" y="263"/>
                    <a:pt x="195" y="336"/>
                    <a:pt x="125" y="336"/>
                  </a:cubicBezTo>
                  <a:cubicBezTo>
                    <a:pt x="54" y="336"/>
                    <a:pt x="0" y="263"/>
                    <a:pt x="0" y="168"/>
                  </a:cubicBezTo>
                  <a:cubicBezTo>
                    <a:pt x="0" y="73"/>
                    <a:pt x="54" y="0"/>
                    <a:pt x="125" y="0"/>
                  </a:cubicBezTo>
                </a:path>
              </a:pathLst>
            </a:custGeom>
            <a:solidFill>
              <a:srgbClr val="FFFFFF"/>
            </a:solidFill>
            <a:ln w="9360">
              <a:solidFill>
                <a:srgbClr val="000000"/>
              </a:solidFill>
              <a:round/>
              <a:headEnd/>
              <a:tailEnd/>
            </a:ln>
          </p:spPr>
          <p:txBody>
            <a:bodyPr wrap="none" anchor="ctr"/>
            <a:lstStyle/>
            <a:p>
              <a:endParaRPr lang="en-US"/>
            </a:p>
          </p:txBody>
        </p:sp>
        <p:sp>
          <p:nvSpPr>
            <p:cNvPr id="46" name="Freeform 43"/>
            <p:cNvSpPr>
              <a:spLocks noChangeArrowheads="1"/>
            </p:cNvSpPr>
            <p:nvPr/>
          </p:nvSpPr>
          <p:spPr bwMode="auto">
            <a:xfrm>
              <a:off x="4709" y="2460"/>
              <a:ext cx="57" cy="75"/>
            </a:xfrm>
            <a:custGeom>
              <a:avLst/>
              <a:gdLst>
                <a:gd name="T0" fmla="*/ 0 w 250"/>
                <a:gd name="T1" fmla="*/ 0 h 332"/>
                <a:gd name="T2" fmla="*/ 0 w 250"/>
                <a:gd name="T3" fmla="*/ 0 h 332"/>
                <a:gd name="T4" fmla="*/ 0 w 250"/>
                <a:gd name="T5" fmla="*/ 0 h 332"/>
                <a:gd name="T6" fmla="*/ 0 w 250"/>
                <a:gd name="T7" fmla="*/ 0 h 332"/>
                <a:gd name="T8" fmla="*/ 0 w 250"/>
                <a:gd name="T9" fmla="*/ 0 h 332"/>
                <a:gd name="T10" fmla="*/ 0 w 250"/>
                <a:gd name="T11" fmla="*/ 0 h 332"/>
                <a:gd name="T12" fmla="*/ 0 60000 65536"/>
                <a:gd name="T13" fmla="*/ 0 60000 65536"/>
                <a:gd name="T14" fmla="*/ 0 60000 65536"/>
                <a:gd name="T15" fmla="*/ 0 60000 65536"/>
                <a:gd name="T16" fmla="*/ 0 60000 65536"/>
                <a:gd name="T17" fmla="*/ 0 60000 65536"/>
                <a:gd name="T18" fmla="*/ 0 w 250"/>
                <a:gd name="T19" fmla="*/ 0 h 332"/>
                <a:gd name="T20" fmla="*/ 250 w 250"/>
                <a:gd name="T21" fmla="*/ 332 h 332"/>
              </a:gdLst>
              <a:ahLst/>
              <a:cxnLst>
                <a:cxn ang="T12">
                  <a:pos x="T0" y="T1"/>
                </a:cxn>
                <a:cxn ang="T13">
                  <a:pos x="T2" y="T3"/>
                </a:cxn>
                <a:cxn ang="T14">
                  <a:pos x="T4" y="T5"/>
                </a:cxn>
                <a:cxn ang="T15">
                  <a:pos x="T6" y="T7"/>
                </a:cxn>
                <a:cxn ang="T16">
                  <a:pos x="T8" y="T9"/>
                </a:cxn>
                <a:cxn ang="T17">
                  <a:pos x="T10" y="T11"/>
                </a:cxn>
              </a:cxnLst>
              <a:rect l="T18" t="T19" r="T20" b="T21"/>
              <a:pathLst>
                <a:path w="250" h="332">
                  <a:moveTo>
                    <a:pt x="124" y="0"/>
                  </a:moveTo>
                  <a:cubicBezTo>
                    <a:pt x="194" y="0"/>
                    <a:pt x="249" y="72"/>
                    <a:pt x="249" y="165"/>
                  </a:cubicBezTo>
                  <a:cubicBezTo>
                    <a:pt x="249" y="258"/>
                    <a:pt x="194" y="331"/>
                    <a:pt x="124" y="331"/>
                  </a:cubicBezTo>
                  <a:cubicBezTo>
                    <a:pt x="53" y="331"/>
                    <a:pt x="0" y="258"/>
                    <a:pt x="0" y="165"/>
                  </a:cubicBezTo>
                  <a:cubicBezTo>
                    <a:pt x="0" y="72"/>
                    <a:pt x="53" y="0"/>
                    <a:pt x="124" y="0"/>
                  </a:cubicBezTo>
                </a:path>
              </a:pathLst>
            </a:custGeom>
            <a:solidFill>
              <a:srgbClr val="FFFFFF"/>
            </a:solidFill>
            <a:ln w="9360">
              <a:solidFill>
                <a:srgbClr val="000000"/>
              </a:solidFill>
              <a:round/>
              <a:headEnd/>
              <a:tailEnd/>
            </a:ln>
          </p:spPr>
          <p:txBody>
            <a:bodyPr wrap="none" anchor="ctr"/>
            <a:lstStyle/>
            <a:p>
              <a:endParaRPr lang="en-US"/>
            </a:p>
          </p:txBody>
        </p:sp>
        <p:sp>
          <p:nvSpPr>
            <p:cNvPr id="47" name="Freeform 44"/>
            <p:cNvSpPr>
              <a:spLocks noChangeArrowheads="1"/>
            </p:cNvSpPr>
            <p:nvPr/>
          </p:nvSpPr>
          <p:spPr bwMode="auto">
            <a:xfrm>
              <a:off x="3611" y="2836"/>
              <a:ext cx="57" cy="76"/>
            </a:xfrm>
            <a:custGeom>
              <a:avLst/>
              <a:gdLst>
                <a:gd name="T0" fmla="*/ 0 w 250"/>
                <a:gd name="T1" fmla="*/ 0 h 334"/>
                <a:gd name="T2" fmla="*/ 0 w 250"/>
                <a:gd name="T3" fmla="*/ 0 h 334"/>
                <a:gd name="T4" fmla="*/ 0 w 250"/>
                <a:gd name="T5" fmla="*/ 0 h 334"/>
                <a:gd name="T6" fmla="*/ 0 w 250"/>
                <a:gd name="T7" fmla="*/ 0 h 334"/>
                <a:gd name="T8" fmla="*/ 0 w 250"/>
                <a:gd name="T9" fmla="*/ 0 h 334"/>
                <a:gd name="T10" fmla="*/ 0 w 250"/>
                <a:gd name="T11" fmla="*/ 0 h 334"/>
                <a:gd name="T12" fmla="*/ 0 60000 65536"/>
                <a:gd name="T13" fmla="*/ 0 60000 65536"/>
                <a:gd name="T14" fmla="*/ 0 60000 65536"/>
                <a:gd name="T15" fmla="*/ 0 60000 65536"/>
                <a:gd name="T16" fmla="*/ 0 60000 65536"/>
                <a:gd name="T17" fmla="*/ 0 60000 65536"/>
                <a:gd name="T18" fmla="*/ 0 w 250"/>
                <a:gd name="T19" fmla="*/ 0 h 334"/>
                <a:gd name="T20" fmla="*/ 250 w 250"/>
                <a:gd name="T21" fmla="*/ 334 h 334"/>
              </a:gdLst>
              <a:ahLst/>
              <a:cxnLst>
                <a:cxn ang="T12">
                  <a:pos x="T0" y="T1"/>
                </a:cxn>
                <a:cxn ang="T13">
                  <a:pos x="T2" y="T3"/>
                </a:cxn>
                <a:cxn ang="T14">
                  <a:pos x="T4" y="T5"/>
                </a:cxn>
                <a:cxn ang="T15">
                  <a:pos x="T6" y="T7"/>
                </a:cxn>
                <a:cxn ang="T16">
                  <a:pos x="T8" y="T9"/>
                </a:cxn>
                <a:cxn ang="T17">
                  <a:pos x="T10" y="T11"/>
                </a:cxn>
              </a:cxnLst>
              <a:rect l="T18" t="T19" r="T20" b="T21"/>
              <a:pathLst>
                <a:path w="250" h="334">
                  <a:moveTo>
                    <a:pt x="124" y="0"/>
                  </a:moveTo>
                  <a:cubicBezTo>
                    <a:pt x="195" y="0"/>
                    <a:pt x="249" y="73"/>
                    <a:pt x="249" y="167"/>
                  </a:cubicBezTo>
                  <a:cubicBezTo>
                    <a:pt x="249" y="261"/>
                    <a:pt x="195" y="333"/>
                    <a:pt x="124" y="333"/>
                  </a:cubicBezTo>
                  <a:cubicBezTo>
                    <a:pt x="54" y="333"/>
                    <a:pt x="0" y="261"/>
                    <a:pt x="0" y="167"/>
                  </a:cubicBezTo>
                  <a:cubicBezTo>
                    <a:pt x="0" y="73"/>
                    <a:pt x="54" y="0"/>
                    <a:pt x="124" y="0"/>
                  </a:cubicBezTo>
                </a:path>
              </a:pathLst>
            </a:custGeom>
            <a:solidFill>
              <a:srgbClr val="00E4A8"/>
            </a:solidFill>
            <a:ln w="9360">
              <a:solidFill>
                <a:srgbClr val="000000"/>
              </a:solidFill>
              <a:round/>
              <a:headEnd/>
              <a:tailEnd/>
            </a:ln>
          </p:spPr>
          <p:txBody>
            <a:bodyPr wrap="none" anchor="ctr"/>
            <a:lstStyle/>
            <a:p>
              <a:endParaRPr lang="en-US"/>
            </a:p>
          </p:txBody>
        </p:sp>
        <p:sp>
          <p:nvSpPr>
            <p:cNvPr id="48" name="Freeform 45"/>
            <p:cNvSpPr>
              <a:spLocks noChangeArrowheads="1"/>
            </p:cNvSpPr>
            <p:nvPr/>
          </p:nvSpPr>
          <p:spPr bwMode="auto">
            <a:xfrm>
              <a:off x="4044" y="3177"/>
              <a:ext cx="57" cy="76"/>
            </a:xfrm>
            <a:custGeom>
              <a:avLst/>
              <a:gdLst>
                <a:gd name="T0" fmla="*/ 0 w 251"/>
                <a:gd name="T1" fmla="*/ 0 h 334"/>
                <a:gd name="T2" fmla="*/ 0 w 251"/>
                <a:gd name="T3" fmla="*/ 0 h 334"/>
                <a:gd name="T4" fmla="*/ 0 w 251"/>
                <a:gd name="T5" fmla="*/ 0 h 334"/>
                <a:gd name="T6" fmla="*/ 0 w 251"/>
                <a:gd name="T7" fmla="*/ 0 h 334"/>
                <a:gd name="T8" fmla="*/ 0 w 251"/>
                <a:gd name="T9" fmla="*/ 0 h 334"/>
                <a:gd name="T10" fmla="*/ 0 w 251"/>
                <a:gd name="T11" fmla="*/ 0 h 334"/>
                <a:gd name="T12" fmla="*/ 0 60000 65536"/>
                <a:gd name="T13" fmla="*/ 0 60000 65536"/>
                <a:gd name="T14" fmla="*/ 0 60000 65536"/>
                <a:gd name="T15" fmla="*/ 0 60000 65536"/>
                <a:gd name="T16" fmla="*/ 0 60000 65536"/>
                <a:gd name="T17" fmla="*/ 0 60000 65536"/>
                <a:gd name="T18" fmla="*/ 0 w 251"/>
                <a:gd name="T19" fmla="*/ 0 h 334"/>
                <a:gd name="T20" fmla="*/ 251 w 251"/>
                <a:gd name="T21" fmla="*/ 334 h 334"/>
              </a:gdLst>
              <a:ahLst/>
              <a:cxnLst>
                <a:cxn ang="T12">
                  <a:pos x="T0" y="T1"/>
                </a:cxn>
                <a:cxn ang="T13">
                  <a:pos x="T2" y="T3"/>
                </a:cxn>
                <a:cxn ang="T14">
                  <a:pos x="T4" y="T5"/>
                </a:cxn>
                <a:cxn ang="T15">
                  <a:pos x="T6" y="T7"/>
                </a:cxn>
                <a:cxn ang="T16">
                  <a:pos x="T8" y="T9"/>
                </a:cxn>
                <a:cxn ang="T17">
                  <a:pos x="T10" y="T11"/>
                </a:cxn>
              </a:cxnLst>
              <a:rect l="T18" t="T19" r="T20" b="T21"/>
              <a:pathLst>
                <a:path w="251" h="334">
                  <a:moveTo>
                    <a:pt x="125" y="0"/>
                  </a:moveTo>
                  <a:cubicBezTo>
                    <a:pt x="195" y="0"/>
                    <a:pt x="250" y="72"/>
                    <a:pt x="250" y="166"/>
                  </a:cubicBezTo>
                  <a:cubicBezTo>
                    <a:pt x="250" y="261"/>
                    <a:pt x="195" y="333"/>
                    <a:pt x="125" y="333"/>
                  </a:cubicBezTo>
                  <a:cubicBezTo>
                    <a:pt x="54" y="333"/>
                    <a:pt x="0" y="261"/>
                    <a:pt x="0" y="166"/>
                  </a:cubicBezTo>
                  <a:cubicBezTo>
                    <a:pt x="0" y="72"/>
                    <a:pt x="54" y="0"/>
                    <a:pt x="125" y="0"/>
                  </a:cubicBezTo>
                </a:path>
              </a:pathLst>
            </a:custGeom>
            <a:solidFill>
              <a:srgbClr val="333399"/>
            </a:solidFill>
            <a:ln w="9360">
              <a:solidFill>
                <a:srgbClr val="000000"/>
              </a:solidFill>
              <a:round/>
              <a:headEnd/>
              <a:tailEnd/>
            </a:ln>
          </p:spPr>
          <p:txBody>
            <a:bodyPr wrap="none" anchor="ctr"/>
            <a:lstStyle/>
            <a:p>
              <a:endParaRPr lang="en-US"/>
            </a:p>
          </p:txBody>
        </p:sp>
        <p:sp>
          <p:nvSpPr>
            <p:cNvPr id="49" name="Freeform 46"/>
            <p:cNvSpPr>
              <a:spLocks noChangeArrowheads="1"/>
            </p:cNvSpPr>
            <p:nvPr/>
          </p:nvSpPr>
          <p:spPr bwMode="auto">
            <a:xfrm>
              <a:off x="4104" y="3067"/>
              <a:ext cx="57" cy="76"/>
            </a:xfrm>
            <a:custGeom>
              <a:avLst/>
              <a:gdLst>
                <a:gd name="T0" fmla="*/ 0 w 250"/>
                <a:gd name="T1" fmla="*/ 0 h 337"/>
                <a:gd name="T2" fmla="*/ 0 w 250"/>
                <a:gd name="T3" fmla="*/ 0 h 337"/>
                <a:gd name="T4" fmla="*/ 0 w 250"/>
                <a:gd name="T5" fmla="*/ 0 h 337"/>
                <a:gd name="T6" fmla="*/ 0 w 250"/>
                <a:gd name="T7" fmla="*/ 0 h 337"/>
                <a:gd name="T8" fmla="*/ 0 w 250"/>
                <a:gd name="T9" fmla="*/ 0 h 337"/>
                <a:gd name="T10" fmla="*/ 0 w 250"/>
                <a:gd name="T11" fmla="*/ 0 h 337"/>
                <a:gd name="T12" fmla="*/ 0 60000 65536"/>
                <a:gd name="T13" fmla="*/ 0 60000 65536"/>
                <a:gd name="T14" fmla="*/ 0 60000 65536"/>
                <a:gd name="T15" fmla="*/ 0 60000 65536"/>
                <a:gd name="T16" fmla="*/ 0 60000 65536"/>
                <a:gd name="T17" fmla="*/ 0 60000 65536"/>
                <a:gd name="T18" fmla="*/ 0 w 250"/>
                <a:gd name="T19" fmla="*/ 0 h 337"/>
                <a:gd name="T20" fmla="*/ 250 w 250"/>
                <a:gd name="T21" fmla="*/ 337 h 337"/>
              </a:gdLst>
              <a:ahLst/>
              <a:cxnLst>
                <a:cxn ang="T12">
                  <a:pos x="T0" y="T1"/>
                </a:cxn>
                <a:cxn ang="T13">
                  <a:pos x="T2" y="T3"/>
                </a:cxn>
                <a:cxn ang="T14">
                  <a:pos x="T4" y="T5"/>
                </a:cxn>
                <a:cxn ang="T15">
                  <a:pos x="T6" y="T7"/>
                </a:cxn>
                <a:cxn ang="T16">
                  <a:pos x="T8" y="T9"/>
                </a:cxn>
                <a:cxn ang="T17">
                  <a:pos x="T10" y="T11"/>
                </a:cxn>
              </a:cxnLst>
              <a:rect l="T18" t="T19" r="T20" b="T21"/>
              <a:pathLst>
                <a:path w="250" h="337">
                  <a:moveTo>
                    <a:pt x="124" y="0"/>
                  </a:moveTo>
                  <a:cubicBezTo>
                    <a:pt x="195" y="0"/>
                    <a:pt x="249" y="73"/>
                    <a:pt x="249" y="168"/>
                  </a:cubicBezTo>
                  <a:cubicBezTo>
                    <a:pt x="249" y="263"/>
                    <a:pt x="195" y="336"/>
                    <a:pt x="124" y="336"/>
                  </a:cubicBezTo>
                  <a:cubicBezTo>
                    <a:pt x="53" y="336"/>
                    <a:pt x="0" y="263"/>
                    <a:pt x="0" y="168"/>
                  </a:cubicBezTo>
                  <a:cubicBezTo>
                    <a:pt x="0" y="73"/>
                    <a:pt x="53" y="0"/>
                    <a:pt x="124" y="0"/>
                  </a:cubicBezTo>
                </a:path>
              </a:pathLst>
            </a:custGeom>
            <a:solidFill>
              <a:srgbClr val="333399"/>
            </a:solidFill>
            <a:ln w="9360">
              <a:solidFill>
                <a:srgbClr val="000000"/>
              </a:solidFill>
              <a:round/>
              <a:headEnd/>
              <a:tailEnd/>
            </a:ln>
          </p:spPr>
          <p:txBody>
            <a:bodyPr wrap="none" anchor="ctr"/>
            <a:lstStyle/>
            <a:p>
              <a:endParaRPr lang="en-US"/>
            </a:p>
          </p:txBody>
        </p:sp>
        <p:sp>
          <p:nvSpPr>
            <p:cNvPr id="50" name="Freeform 47"/>
            <p:cNvSpPr>
              <a:spLocks noChangeArrowheads="1"/>
            </p:cNvSpPr>
            <p:nvPr/>
          </p:nvSpPr>
          <p:spPr bwMode="auto">
            <a:xfrm>
              <a:off x="3679" y="2526"/>
              <a:ext cx="57" cy="76"/>
            </a:xfrm>
            <a:custGeom>
              <a:avLst/>
              <a:gdLst>
                <a:gd name="T0" fmla="*/ 0 w 250"/>
                <a:gd name="T1" fmla="*/ 0 h 337"/>
                <a:gd name="T2" fmla="*/ 0 w 250"/>
                <a:gd name="T3" fmla="*/ 0 h 337"/>
                <a:gd name="T4" fmla="*/ 0 w 250"/>
                <a:gd name="T5" fmla="*/ 0 h 337"/>
                <a:gd name="T6" fmla="*/ 0 w 250"/>
                <a:gd name="T7" fmla="*/ 0 h 337"/>
                <a:gd name="T8" fmla="*/ 0 w 250"/>
                <a:gd name="T9" fmla="*/ 0 h 337"/>
                <a:gd name="T10" fmla="*/ 0 w 250"/>
                <a:gd name="T11" fmla="*/ 0 h 337"/>
                <a:gd name="T12" fmla="*/ 0 60000 65536"/>
                <a:gd name="T13" fmla="*/ 0 60000 65536"/>
                <a:gd name="T14" fmla="*/ 0 60000 65536"/>
                <a:gd name="T15" fmla="*/ 0 60000 65536"/>
                <a:gd name="T16" fmla="*/ 0 60000 65536"/>
                <a:gd name="T17" fmla="*/ 0 60000 65536"/>
                <a:gd name="T18" fmla="*/ 0 w 250"/>
                <a:gd name="T19" fmla="*/ 0 h 337"/>
                <a:gd name="T20" fmla="*/ 250 w 250"/>
                <a:gd name="T21" fmla="*/ 337 h 337"/>
              </a:gdLst>
              <a:ahLst/>
              <a:cxnLst>
                <a:cxn ang="T12">
                  <a:pos x="T0" y="T1"/>
                </a:cxn>
                <a:cxn ang="T13">
                  <a:pos x="T2" y="T3"/>
                </a:cxn>
                <a:cxn ang="T14">
                  <a:pos x="T4" y="T5"/>
                </a:cxn>
                <a:cxn ang="T15">
                  <a:pos x="T6" y="T7"/>
                </a:cxn>
                <a:cxn ang="T16">
                  <a:pos x="T8" y="T9"/>
                </a:cxn>
                <a:cxn ang="T17">
                  <a:pos x="T10" y="T11"/>
                </a:cxn>
              </a:cxnLst>
              <a:rect l="T18" t="T19" r="T20" b="T21"/>
              <a:pathLst>
                <a:path w="250" h="337">
                  <a:moveTo>
                    <a:pt x="124" y="0"/>
                  </a:moveTo>
                  <a:cubicBezTo>
                    <a:pt x="195" y="0"/>
                    <a:pt x="249" y="73"/>
                    <a:pt x="249" y="168"/>
                  </a:cubicBezTo>
                  <a:cubicBezTo>
                    <a:pt x="249" y="263"/>
                    <a:pt x="195" y="336"/>
                    <a:pt x="124" y="336"/>
                  </a:cubicBezTo>
                  <a:cubicBezTo>
                    <a:pt x="53" y="336"/>
                    <a:pt x="0" y="263"/>
                    <a:pt x="0" y="168"/>
                  </a:cubicBezTo>
                  <a:cubicBezTo>
                    <a:pt x="0" y="73"/>
                    <a:pt x="53" y="0"/>
                    <a:pt x="124" y="0"/>
                  </a:cubicBezTo>
                </a:path>
              </a:pathLst>
            </a:custGeom>
            <a:solidFill>
              <a:srgbClr val="00E4A8"/>
            </a:solidFill>
            <a:ln w="9360">
              <a:solidFill>
                <a:srgbClr val="000000"/>
              </a:solidFill>
              <a:round/>
              <a:headEnd/>
              <a:tailEnd/>
            </a:ln>
          </p:spPr>
          <p:txBody>
            <a:bodyPr wrap="none" anchor="ctr"/>
            <a:lstStyle/>
            <a:p>
              <a:endParaRPr lang="en-US"/>
            </a:p>
          </p:txBody>
        </p:sp>
        <p:sp>
          <p:nvSpPr>
            <p:cNvPr id="51" name="Freeform 48"/>
            <p:cNvSpPr>
              <a:spLocks noChangeArrowheads="1"/>
            </p:cNvSpPr>
            <p:nvPr/>
          </p:nvSpPr>
          <p:spPr bwMode="auto">
            <a:xfrm>
              <a:off x="3928" y="3024"/>
              <a:ext cx="57" cy="76"/>
            </a:xfrm>
            <a:custGeom>
              <a:avLst/>
              <a:gdLst>
                <a:gd name="T0" fmla="*/ 0 w 250"/>
                <a:gd name="T1" fmla="*/ 0 h 337"/>
                <a:gd name="T2" fmla="*/ 0 w 250"/>
                <a:gd name="T3" fmla="*/ 0 h 337"/>
                <a:gd name="T4" fmla="*/ 0 w 250"/>
                <a:gd name="T5" fmla="*/ 0 h 337"/>
                <a:gd name="T6" fmla="*/ 0 w 250"/>
                <a:gd name="T7" fmla="*/ 0 h 337"/>
                <a:gd name="T8" fmla="*/ 0 w 250"/>
                <a:gd name="T9" fmla="*/ 0 h 337"/>
                <a:gd name="T10" fmla="*/ 0 w 250"/>
                <a:gd name="T11" fmla="*/ 0 h 337"/>
                <a:gd name="T12" fmla="*/ 0 60000 65536"/>
                <a:gd name="T13" fmla="*/ 0 60000 65536"/>
                <a:gd name="T14" fmla="*/ 0 60000 65536"/>
                <a:gd name="T15" fmla="*/ 0 60000 65536"/>
                <a:gd name="T16" fmla="*/ 0 60000 65536"/>
                <a:gd name="T17" fmla="*/ 0 60000 65536"/>
                <a:gd name="T18" fmla="*/ 0 w 250"/>
                <a:gd name="T19" fmla="*/ 0 h 337"/>
                <a:gd name="T20" fmla="*/ 250 w 250"/>
                <a:gd name="T21" fmla="*/ 337 h 337"/>
              </a:gdLst>
              <a:ahLst/>
              <a:cxnLst>
                <a:cxn ang="T12">
                  <a:pos x="T0" y="T1"/>
                </a:cxn>
                <a:cxn ang="T13">
                  <a:pos x="T2" y="T3"/>
                </a:cxn>
                <a:cxn ang="T14">
                  <a:pos x="T4" y="T5"/>
                </a:cxn>
                <a:cxn ang="T15">
                  <a:pos x="T6" y="T7"/>
                </a:cxn>
                <a:cxn ang="T16">
                  <a:pos x="T8" y="T9"/>
                </a:cxn>
                <a:cxn ang="T17">
                  <a:pos x="T10" y="T11"/>
                </a:cxn>
              </a:cxnLst>
              <a:rect l="T18" t="T19" r="T20" b="T21"/>
              <a:pathLst>
                <a:path w="250" h="337">
                  <a:moveTo>
                    <a:pt x="124" y="0"/>
                  </a:moveTo>
                  <a:cubicBezTo>
                    <a:pt x="194" y="0"/>
                    <a:pt x="249" y="73"/>
                    <a:pt x="249" y="168"/>
                  </a:cubicBezTo>
                  <a:cubicBezTo>
                    <a:pt x="249" y="263"/>
                    <a:pt x="194" y="336"/>
                    <a:pt x="124" y="336"/>
                  </a:cubicBezTo>
                  <a:cubicBezTo>
                    <a:pt x="53" y="336"/>
                    <a:pt x="0" y="263"/>
                    <a:pt x="0" y="168"/>
                  </a:cubicBezTo>
                  <a:cubicBezTo>
                    <a:pt x="0" y="73"/>
                    <a:pt x="53" y="0"/>
                    <a:pt x="124" y="0"/>
                  </a:cubicBezTo>
                </a:path>
              </a:pathLst>
            </a:custGeom>
            <a:solidFill>
              <a:srgbClr val="333399"/>
            </a:solidFill>
            <a:ln w="9360">
              <a:solidFill>
                <a:srgbClr val="000000"/>
              </a:solidFill>
              <a:round/>
              <a:headEnd/>
              <a:tailEnd/>
            </a:ln>
          </p:spPr>
          <p:txBody>
            <a:bodyPr wrap="none" anchor="ctr"/>
            <a:lstStyle/>
            <a:p>
              <a:endParaRPr lang="en-US"/>
            </a:p>
          </p:txBody>
        </p:sp>
        <p:sp>
          <p:nvSpPr>
            <p:cNvPr id="52" name="Freeform 49"/>
            <p:cNvSpPr>
              <a:spLocks noChangeArrowheads="1"/>
            </p:cNvSpPr>
            <p:nvPr/>
          </p:nvSpPr>
          <p:spPr bwMode="auto">
            <a:xfrm>
              <a:off x="3686" y="2356"/>
              <a:ext cx="57" cy="76"/>
            </a:xfrm>
            <a:custGeom>
              <a:avLst/>
              <a:gdLst>
                <a:gd name="T0" fmla="*/ 0 w 251"/>
                <a:gd name="T1" fmla="*/ 0 h 337"/>
                <a:gd name="T2" fmla="*/ 0 w 251"/>
                <a:gd name="T3" fmla="*/ 0 h 337"/>
                <a:gd name="T4" fmla="*/ 0 w 251"/>
                <a:gd name="T5" fmla="*/ 0 h 337"/>
                <a:gd name="T6" fmla="*/ 0 w 251"/>
                <a:gd name="T7" fmla="*/ 0 h 337"/>
                <a:gd name="T8" fmla="*/ 0 w 251"/>
                <a:gd name="T9" fmla="*/ 0 h 337"/>
                <a:gd name="T10" fmla="*/ 0 w 251"/>
                <a:gd name="T11" fmla="*/ 0 h 337"/>
                <a:gd name="T12" fmla="*/ 0 60000 65536"/>
                <a:gd name="T13" fmla="*/ 0 60000 65536"/>
                <a:gd name="T14" fmla="*/ 0 60000 65536"/>
                <a:gd name="T15" fmla="*/ 0 60000 65536"/>
                <a:gd name="T16" fmla="*/ 0 60000 65536"/>
                <a:gd name="T17" fmla="*/ 0 60000 65536"/>
                <a:gd name="T18" fmla="*/ 0 w 251"/>
                <a:gd name="T19" fmla="*/ 0 h 337"/>
                <a:gd name="T20" fmla="*/ 251 w 251"/>
                <a:gd name="T21" fmla="*/ 337 h 337"/>
              </a:gdLst>
              <a:ahLst/>
              <a:cxnLst>
                <a:cxn ang="T12">
                  <a:pos x="T0" y="T1"/>
                </a:cxn>
                <a:cxn ang="T13">
                  <a:pos x="T2" y="T3"/>
                </a:cxn>
                <a:cxn ang="T14">
                  <a:pos x="T4" y="T5"/>
                </a:cxn>
                <a:cxn ang="T15">
                  <a:pos x="T6" y="T7"/>
                </a:cxn>
                <a:cxn ang="T16">
                  <a:pos x="T8" y="T9"/>
                </a:cxn>
                <a:cxn ang="T17">
                  <a:pos x="T10" y="T11"/>
                </a:cxn>
              </a:cxnLst>
              <a:rect l="T18" t="T19" r="T20" b="T21"/>
              <a:pathLst>
                <a:path w="251" h="337">
                  <a:moveTo>
                    <a:pt x="124" y="0"/>
                  </a:moveTo>
                  <a:cubicBezTo>
                    <a:pt x="195" y="0"/>
                    <a:pt x="250" y="73"/>
                    <a:pt x="250" y="168"/>
                  </a:cubicBezTo>
                  <a:cubicBezTo>
                    <a:pt x="250" y="263"/>
                    <a:pt x="195" y="336"/>
                    <a:pt x="124" y="336"/>
                  </a:cubicBezTo>
                  <a:cubicBezTo>
                    <a:pt x="54" y="336"/>
                    <a:pt x="0" y="263"/>
                    <a:pt x="0" y="168"/>
                  </a:cubicBezTo>
                  <a:cubicBezTo>
                    <a:pt x="0" y="73"/>
                    <a:pt x="54" y="0"/>
                    <a:pt x="124" y="0"/>
                  </a:cubicBezTo>
                </a:path>
              </a:pathLst>
            </a:custGeom>
            <a:solidFill>
              <a:srgbClr val="00E4A8"/>
            </a:solidFill>
            <a:ln w="9360">
              <a:solidFill>
                <a:srgbClr val="000000"/>
              </a:solidFill>
              <a:round/>
              <a:headEnd/>
              <a:tailEnd/>
            </a:ln>
          </p:spPr>
          <p:txBody>
            <a:bodyPr wrap="none" anchor="ctr"/>
            <a:lstStyle/>
            <a:p>
              <a:endParaRPr lang="en-US"/>
            </a:p>
          </p:txBody>
        </p:sp>
        <p:sp>
          <p:nvSpPr>
            <p:cNvPr id="53" name="Freeform 50"/>
            <p:cNvSpPr>
              <a:spLocks noChangeArrowheads="1"/>
            </p:cNvSpPr>
            <p:nvPr/>
          </p:nvSpPr>
          <p:spPr bwMode="auto">
            <a:xfrm>
              <a:off x="4193" y="2106"/>
              <a:ext cx="57" cy="75"/>
            </a:xfrm>
            <a:custGeom>
              <a:avLst/>
              <a:gdLst>
                <a:gd name="T0" fmla="*/ 0 w 250"/>
                <a:gd name="T1" fmla="*/ 0 h 331"/>
                <a:gd name="T2" fmla="*/ 0 w 250"/>
                <a:gd name="T3" fmla="*/ 0 h 331"/>
                <a:gd name="T4" fmla="*/ 0 w 250"/>
                <a:gd name="T5" fmla="*/ 0 h 331"/>
                <a:gd name="T6" fmla="*/ 0 w 250"/>
                <a:gd name="T7" fmla="*/ 0 h 331"/>
                <a:gd name="T8" fmla="*/ 0 w 250"/>
                <a:gd name="T9" fmla="*/ 0 h 331"/>
                <a:gd name="T10" fmla="*/ 0 w 250"/>
                <a:gd name="T11" fmla="*/ 0 h 331"/>
                <a:gd name="T12" fmla="*/ 0 60000 65536"/>
                <a:gd name="T13" fmla="*/ 0 60000 65536"/>
                <a:gd name="T14" fmla="*/ 0 60000 65536"/>
                <a:gd name="T15" fmla="*/ 0 60000 65536"/>
                <a:gd name="T16" fmla="*/ 0 60000 65536"/>
                <a:gd name="T17" fmla="*/ 0 60000 65536"/>
                <a:gd name="T18" fmla="*/ 0 w 250"/>
                <a:gd name="T19" fmla="*/ 0 h 331"/>
                <a:gd name="T20" fmla="*/ 250 w 250"/>
                <a:gd name="T21" fmla="*/ 331 h 331"/>
              </a:gdLst>
              <a:ahLst/>
              <a:cxnLst>
                <a:cxn ang="T12">
                  <a:pos x="T0" y="T1"/>
                </a:cxn>
                <a:cxn ang="T13">
                  <a:pos x="T2" y="T3"/>
                </a:cxn>
                <a:cxn ang="T14">
                  <a:pos x="T4" y="T5"/>
                </a:cxn>
                <a:cxn ang="T15">
                  <a:pos x="T6" y="T7"/>
                </a:cxn>
                <a:cxn ang="T16">
                  <a:pos x="T8" y="T9"/>
                </a:cxn>
                <a:cxn ang="T17">
                  <a:pos x="T10" y="T11"/>
                </a:cxn>
              </a:cxnLst>
              <a:rect l="T18" t="T19" r="T20" b="T21"/>
              <a:pathLst>
                <a:path w="250" h="331">
                  <a:moveTo>
                    <a:pt x="124" y="0"/>
                  </a:moveTo>
                  <a:cubicBezTo>
                    <a:pt x="195" y="0"/>
                    <a:pt x="249" y="71"/>
                    <a:pt x="249" y="165"/>
                  </a:cubicBezTo>
                  <a:cubicBezTo>
                    <a:pt x="249" y="258"/>
                    <a:pt x="195" y="330"/>
                    <a:pt x="124" y="330"/>
                  </a:cubicBezTo>
                  <a:cubicBezTo>
                    <a:pt x="53" y="330"/>
                    <a:pt x="0" y="258"/>
                    <a:pt x="0" y="165"/>
                  </a:cubicBezTo>
                  <a:cubicBezTo>
                    <a:pt x="0" y="71"/>
                    <a:pt x="53" y="0"/>
                    <a:pt x="124" y="0"/>
                  </a:cubicBezTo>
                </a:path>
              </a:pathLst>
            </a:custGeom>
            <a:solidFill>
              <a:srgbClr val="FFFFFF"/>
            </a:solidFill>
            <a:ln w="9360">
              <a:solidFill>
                <a:srgbClr val="000000"/>
              </a:solidFill>
              <a:round/>
              <a:headEnd/>
              <a:tailEnd/>
            </a:ln>
          </p:spPr>
          <p:txBody>
            <a:bodyPr wrap="none" anchor="ctr"/>
            <a:lstStyle/>
            <a:p>
              <a:endParaRPr lang="en-US"/>
            </a:p>
          </p:txBody>
        </p:sp>
        <p:sp>
          <p:nvSpPr>
            <p:cNvPr id="54" name="Freeform 51"/>
            <p:cNvSpPr>
              <a:spLocks noChangeArrowheads="1"/>
            </p:cNvSpPr>
            <p:nvPr/>
          </p:nvSpPr>
          <p:spPr bwMode="auto">
            <a:xfrm>
              <a:off x="3982" y="2773"/>
              <a:ext cx="57" cy="76"/>
            </a:xfrm>
            <a:custGeom>
              <a:avLst/>
              <a:gdLst>
                <a:gd name="T0" fmla="*/ 0 w 250"/>
                <a:gd name="T1" fmla="*/ 0 h 336"/>
                <a:gd name="T2" fmla="*/ 0 w 250"/>
                <a:gd name="T3" fmla="*/ 0 h 336"/>
                <a:gd name="T4" fmla="*/ 0 w 250"/>
                <a:gd name="T5" fmla="*/ 0 h 336"/>
                <a:gd name="T6" fmla="*/ 0 w 250"/>
                <a:gd name="T7" fmla="*/ 0 h 336"/>
                <a:gd name="T8" fmla="*/ 0 w 250"/>
                <a:gd name="T9" fmla="*/ 0 h 336"/>
                <a:gd name="T10" fmla="*/ 0 w 250"/>
                <a:gd name="T11" fmla="*/ 0 h 336"/>
                <a:gd name="T12" fmla="*/ 0 60000 65536"/>
                <a:gd name="T13" fmla="*/ 0 60000 65536"/>
                <a:gd name="T14" fmla="*/ 0 60000 65536"/>
                <a:gd name="T15" fmla="*/ 0 60000 65536"/>
                <a:gd name="T16" fmla="*/ 0 60000 65536"/>
                <a:gd name="T17" fmla="*/ 0 60000 65536"/>
                <a:gd name="T18" fmla="*/ 0 w 250"/>
                <a:gd name="T19" fmla="*/ 0 h 336"/>
                <a:gd name="T20" fmla="*/ 250 w 250"/>
                <a:gd name="T21" fmla="*/ 336 h 336"/>
              </a:gdLst>
              <a:ahLst/>
              <a:cxnLst>
                <a:cxn ang="T12">
                  <a:pos x="T0" y="T1"/>
                </a:cxn>
                <a:cxn ang="T13">
                  <a:pos x="T2" y="T3"/>
                </a:cxn>
                <a:cxn ang="T14">
                  <a:pos x="T4" y="T5"/>
                </a:cxn>
                <a:cxn ang="T15">
                  <a:pos x="T6" y="T7"/>
                </a:cxn>
                <a:cxn ang="T16">
                  <a:pos x="T8" y="T9"/>
                </a:cxn>
                <a:cxn ang="T17">
                  <a:pos x="T10" y="T11"/>
                </a:cxn>
              </a:cxnLst>
              <a:rect l="T18" t="T19" r="T20" b="T21"/>
              <a:pathLst>
                <a:path w="250" h="336">
                  <a:moveTo>
                    <a:pt x="124" y="0"/>
                  </a:moveTo>
                  <a:cubicBezTo>
                    <a:pt x="195" y="0"/>
                    <a:pt x="249" y="72"/>
                    <a:pt x="249" y="168"/>
                  </a:cubicBezTo>
                  <a:cubicBezTo>
                    <a:pt x="249" y="263"/>
                    <a:pt x="195" y="335"/>
                    <a:pt x="124" y="335"/>
                  </a:cubicBezTo>
                  <a:cubicBezTo>
                    <a:pt x="53" y="335"/>
                    <a:pt x="0" y="263"/>
                    <a:pt x="0" y="168"/>
                  </a:cubicBezTo>
                  <a:cubicBezTo>
                    <a:pt x="0" y="72"/>
                    <a:pt x="53" y="0"/>
                    <a:pt x="124" y="0"/>
                  </a:cubicBezTo>
                </a:path>
              </a:pathLst>
            </a:custGeom>
            <a:solidFill>
              <a:srgbClr val="333399"/>
            </a:solidFill>
            <a:ln w="9360">
              <a:solidFill>
                <a:srgbClr val="000000"/>
              </a:solidFill>
              <a:round/>
              <a:headEnd/>
              <a:tailEnd/>
            </a:ln>
          </p:spPr>
          <p:txBody>
            <a:bodyPr wrap="none" anchor="ctr"/>
            <a:lstStyle/>
            <a:p>
              <a:endParaRPr lang="en-US"/>
            </a:p>
          </p:txBody>
        </p:sp>
        <p:sp>
          <p:nvSpPr>
            <p:cNvPr id="55" name="Freeform 52"/>
            <p:cNvSpPr>
              <a:spLocks noChangeArrowheads="1"/>
            </p:cNvSpPr>
            <p:nvPr/>
          </p:nvSpPr>
          <p:spPr bwMode="auto">
            <a:xfrm>
              <a:off x="4135" y="2024"/>
              <a:ext cx="693" cy="887"/>
            </a:xfrm>
            <a:custGeom>
              <a:avLst/>
              <a:gdLst>
                <a:gd name="T0" fmla="*/ 0 w 3056"/>
                <a:gd name="T1" fmla="*/ 0 h 3912"/>
                <a:gd name="T2" fmla="*/ 0 w 3056"/>
                <a:gd name="T3" fmla="*/ 0 h 3912"/>
                <a:gd name="T4" fmla="*/ 0 w 3056"/>
                <a:gd name="T5" fmla="*/ 0 h 3912"/>
                <a:gd name="T6" fmla="*/ 0 w 3056"/>
                <a:gd name="T7" fmla="*/ 0 h 3912"/>
                <a:gd name="T8" fmla="*/ 0 w 3056"/>
                <a:gd name="T9" fmla="*/ 0 h 3912"/>
                <a:gd name="T10" fmla="*/ 0 w 3056"/>
                <a:gd name="T11" fmla="*/ 0 h 3912"/>
                <a:gd name="T12" fmla="*/ 0 w 3056"/>
                <a:gd name="T13" fmla="*/ 0 h 3912"/>
                <a:gd name="T14" fmla="*/ 0 w 3056"/>
                <a:gd name="T15" fmla="*/ 0 h 3912"/>
                <a:gd name="T16" fmla="*/ 0 w 3056"/>
                <a:gd name="T17" fmla="*/ 0 h 3912"/>
                <a:gd name="T18" fmla="*/ 0 w 3056"/>
                <a:gd name="T19" fmla="*/ 0 h 3912"/>
                <a:gd name="T20" fmla="*/ 0 w 3056"/>
                <a:gd name="T21" fmla="*/ 0 h 3912"/>
                <a:gd name="T22" fmla="*/ 0 w 3056"/>
                <a:gd name="T23" fmla="*/ 0 h 3912"/>
                <a:gd name="T24" fmla="*/ 0 w 3056"/>
                <a:gd name="T25" fmla="*/ 0 h 3912"/>
                <a:gd name="T26" fmla="*/ 0 w 3056"/>
                <a:gd name="T27" fmla="*/ 0 h 3912"/>
                <a:gd name="T28" fmla="*/ 0 w 3056"/>
                <a:gd name="T29" fmla="*/ 0 h 3912"/>
                <a:gd name="T30" fmla="*/ 0 w 3056"/>
                <a:gd name="T31" fmla="*/ 0 h 3912"/>
                <a:gd name="T32" fmla="*/ 0 w 3056"/>
                <a:gd name="T33" fmla="*/ 0 h 3912"/>
                <a:gd name="T34" fmla="*/ 0 w 3056"/>
                <a:gd name="T35" fmla="*/ 0 h 3912"/>
                <a:gd name="T36" fmla="*/ 0 w 3056"/>
                <a:gd name="T37" fmla="*/ 0 h 3912"/>
                <a:gd name="T38" fmla="*/ 0 w 3056"/>
                <a:gd name="T39" fmla="*/ 0 h 3912"/>
                <a:gd name="T40" fmla="*/ 0 w 3056"/>
                <a:gd name="T41" fmla="*/ 0 h 391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56"/>
                <a:gd name="T64" fmla="*/ 0 h 3912"/>
                <a:gd name="T65" fmla="*/ 3056 w 3056"/>
                <a:gd name="T66" fmla="*/ 3912 h 391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56" h="3912">
                  <a:moveTo>
                    <a:pt x="2889" y="1067"/>
                  </a:moveTo>
                  <a:cubicBezTo>
                    <a:pt x="2947" y="1296"/>
                    <a:pt x="2969" y="1521"/>
                    <a:pt x="2989" y="1760"/>
                  </a:cubicBezTo>
                  <a:cubicBezTo>
                    <a:pt x="2975" y="2328"/>
                    <a:pt x="3055" y="2894"/>
                    <a:pt x="2811" y="3377"/>
                  </a:cubicBezTo>
                  <a:cubicBezTo>
                    <a:pt x="2778" y="3508"/>
                    <a:pt x="2731" y="3693"/>
                    <a:pt x="2636" y="3777"/>
                  </a:cubicBezTo>
                  <a:cubicBezTo>
                    <a:pt x="2553" y="3849"/>
                    <a:pt x="2453" y="3867"/>
                    <a:pt x="2359" y="3907"/>
                  </a:cubicBezTo>
                  <a:cubicBezTo>
                    <a:pt x="1878" y="3878"/>
                    <a:pt x="1945" y="3911"/>
                    <a:pt x="1651" y="3777"/>
                  </a:cubicBezTo>
                  <a:cubicBezTo>
                    <a:pt x="1543" y="3725"/>
                    <a:pt x="1462" y="3657"/>
                    <a:pt x="1348" y="3609"/>
                  </a:cubicBezTo>
                  <a:cubicBezTo>
                    <a:pt x="1323" y="3599"/>
                    <a:pt x="1274" y="3577"/>
                    <a:pt x="1274" y="3577"/>
                  </a:cubicBezTo>
                  <a:cubicBezTo>
                    <a:pt x="1157" y="3424"/>
                    <a:pt x="1024" y="3308"/>
                    <a:pt x="893" y="3181"/>
                  </a:cubicBezTo>
                  <a:cubicBezTo>
                    <a:pt x="796" y="3086"/>
                    <a:pt x="751" y="2963"/>
                    <a:pt x="643" y="2915"/>
                  </a:cubicBezTo>
                  <a:cubicBezTo>
                    <a:pt x="544" y="2789"/>
                    <a:pt x="364" y="2636"/>
                    <a:pt x="288" y="2487"/>
                  </a:cubicBezTo>
                  <a:cubicBezTo>
                    <a:pt x="155" y="2218"/>
                    <a:pt x="58" y="1946"/>
                    <a:pt x="10" y="1630"/>
                  </a:cubicBezTo>
                  <a:cubicBezTo>
                    <a:pt x="19" y="1245"/>
                    <a:pt x="0" y="856"/>
                    <a:pt x="36" y="471"/>
                  </a:cubicBezTo>
                  <a:cubicBezTo>
                    <a:pt x="61" y="217"/>
                    <a:pt x="386" y="119"/>
                    <a:pt x="516" y="75"/>
                  </a:cubicBezTo>
                  <a:cubicBezTo>
                    <a:pt x="550" y="64"/>
                    <a:pt x="616" y="43"/>
                    <a:pt x="616" y="43"/>
                  </a:cubicBezTo>
                  <a:cubicBezTo>
                    <a:pt x="802" y="53"/>
                    <a:pt x="1004" y="0"/>
                    <a:pt x="1171" y="108"/>
                  </a:cubicBezTo>
                  <a:cubicBezTo>
                    <a:pt x="1312" y="203"/>
                    <a:pt x="1456" y="279"/>
                    <a:pt x="1601" y="373"/>
                  </a:cubicBezTo>
                  <a:cubicBezTo>
                    <a:pt x="1718" y="450"/>
                    <a:pt x="1818" y="555"/>
                    <a:pt x="1929" y="639"/>
                  </a:cubicBezTo>
                  <a:cubicBezTo>
                    <a:pt x="1992" y="685"/>
                    <a:pt x="2067" y="696"/>
                    <a:pt x="2131" y="737"/>
                  </a:cubicBezTo>
                  <a:cubicBezTo>
                    <a:pt x="2342" y="870"/>
                    <a:pt x="2650" y="1067"/>
                    <a:pt x="2889" y="1067"/>
                  </a:cubicBezTo>
                </a:path>
              </a:pathLst>
            </a:custGeom>
            <a:noFill/>
            <a:ln w="9360">
              <a:solidFill>
                <a:srgbClr val="000000"/>
              </a:solidFill>
              <a:round/>
              <a:headEnd/>
              <a:tailEnd/>
            </a:ln>
          </p:spPr>
          <p:txBody>
            <a:bodyPr wrap="none" anchor="ctr"/>
            <a:lstStyle/>
            <a:p>
              <a:endParaRPr lang="en-US"/>
            </a:p>
          </p:txBody>
        </p:sp>
        <p:sp>
          <p:nvSpPr>
            <p:cNvPr id="56" name="Freeform 53"/>
            <p:cNvSpPr>
              <a:spLocks noChangeArrowheads="1"/>
            </p:cNvSpPr>
            <p:nvPr/>
          </p:nvSpPr>
          <p:spPr bwMode="auto">
            <a:xfrm>
              <a:off x="3817" y="2640"/>
              <a:ext cx="579" cy="794"/>
            </a:xfrm>
            <a:custGeom>
              <a:avLst/>
              <a:gdLst>
                <a:gd name="T0" fmla="*/ 0 w 2553"/>
                <a:gd name="T1" fmla="*/ 0 h 3502"/>
                <a:gd name="T2" fmla="*/ 0 w 2553"/>
                <a:gd name="T3" fmla="*/ 0 h 3502"/>
                <a:gd name="T4" fmla="*/ 0 w 2553"/>
                <a:gd name="T5" fmla="*/ 0 h 3502"/>
                <a:gd name="T6" fmla="*/ 0 w 2553"/>
                <a:gd name="T7" fmla="*/ 0 h 3502"/>
                <a:gd name="T8" fmla="*/ 0 w 2553"/>
                <a:gd name="T9" fmla="*/ 0 h 3502"/>
                <a:gd name="T10" fmla="*/ 0 w 2553"/>
                <a:gd name="T11" fmla="*/ 0 h 3502"/>
                <a:gd name="T12" fmla="*/ 0 w 2553"/>
                <a:gd name="T13" fmla="*/ 0 h 3502"/>
                <a:gd name="T14" fmla="*/ 0 w 2553"/>
                <a:gd name="T15" fmla="*/ 0 h 3502"/>
                <a:gd name="T16" fmla="*/ 0 w 2553"/>
                <a:gd name="T17" fmla="*/ 0 h 3502"/>
                <a:gd name="T18" fmla="*/ 0 w 2553"/>
                <a:gd name="T19" fmla="*/ 0 h 3502"/>
                <a:gd name="T20" fmla="*/ 0 w 2553"/>
                <a:gd name="T21" fmla="*/ 0 h 3502"/>
                <a:gd name="T22" fmla="*/ 0 w 2553"/>
                <a:gd name="T23" fmla="*/ 0 h 3502"/>
                <a:gd name="T24" fmla="*/ 0 w 2553"/>
                <a:gd name="T25" fmla="*/ 0 h 3502"/>
                <a:gd name="T26" fmla="*/ 0 w 2553"/>
                <a:gd name="T27" fmla="*/ 0 h 3502"/>
                <a:gd name="T28" fmla="*/ 0 w 2553"/>
                <a:gd name="T29" fmla="*/ 0 h 3502"/>
                <a:gd name="T30" fmla="*/ 0 w 2553"/>
                <a:gd name="T31" fmla="*/ 0 h 3502"/>
                <a:gd name="T32" fmla="*/ 0 w 2553"/>
                <a:gd name="T33" fmla="*/ 0 h 3502"/>
                <a:gd name="T34" fmla="*/ 0 w 2553"/>
                <a:gd name="T35" fmla="*/ 0 h 3502"/>
                <a:gd name="T36" fmla="*/ 0 w 2553"/>
                <a:gd name="T37" fmla="*/ 0 h 3502"/>
                <a:gd name="T38" fmla="*/ 0 w 2553"/>
                <a:gd name="T39" fmla="*/ 0 h 3502"/>
                <a:gd name="T40" fmla="*/ 0 w 2553"/>
                <a:gd name="T41" fmla="*/ 0 h 3502"/>
                <a:gd name="T42" fmla="*/ 0 w 2553"/>
                <a:gd name="T43" fmla="*/ 0 h 3502"/>
                <a:gd name="T44" fmla="*/ 0 w 2553"/>
                <a:gd name="T45" fmla="*/ 0 h 3502"/>
                <a:gd name="T46" fmla="*/ 0 w 2553"/>
                <a:gd name="T47" fmla="*/ 0 h 3502"/>
                <a:gd name="T48" fmla="*/ 0 w 2553"/>
                <a:gd name="T49" fmla="*/ 0 h 3502"/>
                <a:gd name="T50" fmla="*/ 0 w 2553"/>
                <a:gd name="T51" fmla="*/ 0 h 350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553"/>
                <a:gd name="T79" fmla="*/ 0 h 3502"/>
                <a:gd name="T80" fmla="*/ 2553 w 2553"/>
                <a:gd name="T81" fmla="*/ 3502 h 3502"/>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553" h="3502">
                  <a:moveTo>
                    <a:pt x="631" y="2968"/>
                  </a:moveTo>
                  <a:cubicBezTo>
                    <a:pt x="495" y="2911"/>
                    <a:pt x="600" y="2983"/>
                    <a:pt x="530" y="2838"/>
                  </a:cubicBezTo>
                  <a:cubicBezTo>
                    <a:pt x="489" y="2747"/>
                    <a:pt x="400" y="2707"/>
                    <a:pt x="327" y="2674"/>
                  </a:cubicBezTo>
                  <a:cubicBezTo>
                    <a:pt x="294" y="2628"/>
                    <a:pt x="255" y="2591"/>
                    <a:pt x="225" y="2541"/>
                  </a:cubicBezTo>
                  <a:cubicBezTo>
                    <a:pt x="189" y="2479"/>
                    <a:pt x="124" y="2344"/>
                    <a:pt x="124" y="2344"/>
                  </a:cubicBezTo>
                  <a:cubicBezTo>
                    <a:pt x="83" y="2123"/>
                    <a:pt x="27" y="1908"/>
                    <a:pt x="0" y="1684"/>
                  </a:cubicBezTo>
                  <a:cubicBezTo>
                    <a:pt x="8" y="1364"/>
                    <a:pt x="2" y="1045"/>
                    <a:pt x="24" y="725"/>
                  </a:cubicBezTo>
                  <a:cubicBezTo>
                    <a:pt x="30" y="635"/>
                    <a:pt x="205" y="504"/>
                    <a:pt x="225" y="494"/>
                  </a:cubicBezTo>
                  <a:cubicBezTo>
                    <a:pt x="425" y="366"/>
                    <a:pt x="617" y="79"/>
                    <a:pt x="809" y="0"/>
                  </a:cubicBezTo>
                  <a:cubicBezTo>
                    <a:pt x="872" y="10"/>
                    <a:pt x="1012" y="17"/>
                    <a:pt x="1086" y="65"/>
                  </a:cubicBezTo>
                  <a:cubicBezTo>
                    <a:pt x="1195" y="134"/>
                    <a:pt x="1240" y="167"/>
                    <a:pt x="1365" y="199"/>
                  </a:cubicBezTo>
                  <a:cubicBezTo>
                    <a:pt x="1543" y="355"/>
                    <a:pt x="1773" y="362"/>
                    <a:pt x="1920" y="595"/>
                  </a:cubicBezTo>
                  <a:cubicBezTo>
                    <a:pt x="2112" y="899"/>
                    <a:pt x="1849" y="501"/>
                    <a:pt x="1996" y="791"/>
                  </a:cubicBezTo>
                  <a:cubicBezTo>
                    <a:pt x="2015" y="830"/>
                    <a:pt x="2048" y="856"/>
                    <a:pt x="2071" y="892"/>
                  </a:cubicBezTo>
                  <a:cubicBezTo>
                    <a:pt x="2140" y="1008"/>
                    <a:pt x="2174" y="1157"/>
                    <a:pt x="2248" y="1255"/>
                  </a:cubicBezTo>
                  <a:cubicBezTo>
                    <a:pt x="2307" y="1488"/>
                    <a:pt x="2269" y="1394"/>
                    <a:pt x="2348" y="1549"/>
                  </a:cubicBezTo>
                  <a:cubicBezTo>
                    <a:pt x="2366" y="1658"/>
                    <a:pt x="2380" y="1771"/>
                    <a:pt x="2399" y="1879"/>
                  </a:cubicBezTo>
                  <a:cubicBezTo>
                    <a:pt x="2421" y="1992"/>
                    <a:pt x="2457" y="2098"/>
                    <a:pt x="2474" y="2210"/>
                  </a:cubicBezTo>
                  <a:cubicBezTo>
                    <a:pt x="2507" y="2417"/>
                    <a:pt x="2502" y="2605"/>
                    <a:pt x="2552" y="2805"/>
                  </a:cubicBezTo>
                  <a:cubicBezTo>
                    <a:pt x="2529" y="3066"/>
                    <a:pt x="2513" y="3270"/>
                    <a:pt x="2299" y="3364"/>
                  </a:cubicBezTo>
                  <a:cubicBezTo>
                    <a:pt x="2232" y="3393"/>
                    <a:pt x="2163" y="3411"/>
                    <a:pt x="2096" y="3433"/>
                  </a:cubicBezTo>
                  <a:cubicBezTo>
                    <a:pt x="2063" y="3444"/>
                    <a:pt x="1996" y="3466"/>
                    <a:pt x="1996" y="3466"/>
                  </a:cubicBezTo>
                  <a:cubicBezTo>
                    <a:pt x="1857" y="3462"/>
                    <a:pt x="1284" y="3501"/>
                    <a:pt x="983" y="3400"/>
                  </a:cubicBezTo>
                  <a:cubicBezTo>
                    <a:pt x="878" y="3364"/>
                    <a:pt x="756" y="3233"/>
                    <a:pt x="680" y="3135"/>
                  </a:cubicBezTo>
                  <a:cubicBezTo>
                    <a:pt x="642" y="3085"/>
                    <a:pt x="533" y="2968"/>
                    <a:pt x="631" y="2968"/>
                  </a:cubicBezTo>
                </a:path>
              </a:pathLst>
            </a:custGeom>
            <a:noFill/>
            <a:ln w="9360">
              <a:solidFill>
                <a:srgbClr val="000000"/>
              </a:solidFill>
              <a:round/>
              <a:headEnd/>
              <a:tailEnd/>
            </a:ln>
          </p:spPr>
          <p:txBody>
            <a:bodyPr wrap="none" anchor="ctr"/>
            <a:lstStyle/>
            <a:p>
              <a:endParaRPr lang="en-US"/>
            </a:p>
          </p:txBody>
        </p:sp>
        <p:sp>
          <p:nvSpPr>
            <p:cNvPr id="57" name="Freeform 54"/>
            <p:cNvSpPr>
              <a:spLocks noChangeArrowheads="1"/>
            </p:cNvSpPr>
            <p:nvPr/>
          </p:nvSpPr>
          <p:spPr bwMode="auto">
            <a:xfrm>
              <a:off x="3302" y="2057"/>
              <a:ext cx="548" cy="965"/>
            </a:xfrm>
            <a:custGeom>
              <a:avLst/>
              <a:gdLst>
                <a:gd name="T0" fmla="*/ 0 w 2415"/>
                <a:gd name="T1" fmla="*/ 0 h 4257"/>
                <a:gd name="T2" fmla="*/ 0 w 2415"/>
                <a:gd name="T3" fmla="*/ 0 h 4257"/>
                <a:gd name="T4" fmla="*/ 0 w 2415"/>
                <a:gd name="T5" fmla="*/ 0 h 4257"/>
                <a:gd name="T6" fmla="*/ 0 w 2415"/>
                <a:gd name="T7" fmla="*/ 0 h 4257"/>
                <a:gd name="T8" fmla="*/ 0 w 2415"/>
                <a:gd name="T9" fmla="*/ 0 h 4257"/>
                <a:gd name="T10" fmla="*/ 0 w 2415"/>
                <a:gd name="T11" fmla="*/ 0 h 4257"/>
                <a:gd name="T12" fmla="*/ 0 w 2415"/>
                <a:gd name="T13" fmla="*/ 0 h 4257"/>
                <a:gd name="T14" fmla="*/ 0 w 2415"/>
                <a:gd name="T15" fmla="*/ 0 h 4257"/>
                <a:gd name="T16" fmla="*/ 0 w 2415"/>
                <a:gd name="T17" fmla="*/ 0 h 4257"/>
                <a:gd name="T18" fmla="*/ 0 w 2415"/>
                <a:gd name="T19" fmla="*/ 0 h 4257"/>
                <a:gd name="T20" fmla="*/ 0 w 2415"/>
                <a:gd name="T21" fmla="*/ 0 h 4257"/>
                <a:gd name="T22" fmla="*/ 0 w 2415"/>
                <a:gd name="T23" fmla="*/ 0 h 4257"/>
                <a:gd name="T24" fmla="*/ 0 w 2415"/>
                <a:gd name="T25" fmla="*/ 0 h 4257"/>
                <a:gd name="T26" fmla="*/ 0 w 2415"/>
                <a:gd name="T27" fmla="*/ 0 h 4257"/>
                <a:gd name="T28" fmla="*/ 0 w 2415"/>
                <a:gd name="T29" fmla="*/ 0 h 4257"/>
                <a:gd name="T30" fmla="*/ 0 w 2415"/>
                <a:gd name="T31" fmla="*/ 0 h 4257"/>
                <a:gd name="T32" fmla="*/ 0 w 2415"/>
                <a:gd name="T33" fmla="*/ 0 h 4257"/>
                <a:gd name="T34" fmla="*/ 0 w 2415"/>
                <a:gd name="T35" fmla="*/ 0 h 4257"/>
                <a:gd name="T36" fmla="*/ 0 w 2415"/>
                <a:gd name="T37" fmla="*/ 0 h 4257"/>
                <a:gd name="T38" fmla="*/ 0 w 2415"/>
                <a:gd name="T39" fmla="*/ 0 h 4257"/>
                <a:gd name="T40" fmla="*/ 0 w 2415"/>
                <a:gd name="T41" fmla="*/ 0 h 4257"/>
                <a:gd name="T42" fmla="*/ 0 w 2415"/>
                <a:gd name="T43" fmla="*/ 0 h 4257"/>
                <a:gd name="T44" fmla="*/ 0 w 2415"/>
                <a:gd name="T45" fmla="*/ 0 h 4257"/>
                <a:gd name="T46" fmla="*/ 0 w 2415"/>
                <a:gd name="T47" fmla="*/ 0 h 425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415"/>
                <a:gd name="T73" fmla="*/ 0 h 4257"/>
                <a:gd name="T74" fmla="*/ 2415 w 2415"/>
                <a:gd name="T75" fmla="*/ 4257 h 425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415" h="4257">
                  <a:moveTo>
                    <a:pt x="2094" y="2869"/>
                  </a:moveTo>
                  <a:cubicBezTo>
                    <a:pt x="2064" y="3069"/>
                    <a:pt x="2031" y="3262"/>
                    <a:pt x="1942" y="3429"/>
                  </a:cubicBezTo>
                  <a:cubicBezTo>
                    <a:pt x="1899" y="3596"/>
                    <a:pt x="1858" y="3758"/>
                    <a:pt x="1816" y="3925"/>
                  </a:cubicBezTo>
                  <a:cubicBezTo>
                    <a:pt x="1799" y="3991"/>
                    <a:pt x="1802" y="4071"/>
                    <a:pt x="1766" y="4121"/>
                  </a:cubicBezTo>
                  <a:cubicBezTo>
                    <a:pt x="1750" y="4143"/>
                    <a:pt x="1739" y="4176"/>
                    <a:pt x="1716" y="4190"/>
                  </a:cubicBezTo>
                  <a:cubicBezTo>
                    <a:pt x="1669" y="4223"/>
                    <a:pt x="1564" y="4256"/>
                    <a:pt x="1564" y="4256"/>
                  </a:cubicBezTo>
                  <a:cubicBezTo>
                    <a:pt x="1308" y="4238"/>
                    <a:pt x="1052" y="4245"/>
                    <a:pt x="805" y="4154"/>
                  </a:cubicBezTo>
                  <a:cubicBezTo>
                    <a:pt x="641" y="4096"/>
                    <a:pt x="505" y="3980"/>
                    <a:pt x="352" y="3893"/>
                  </a:cubicBezTo>
                  <a:cubicBezTo>
                    <a:pt x="257" y="3838"/>
                    <a:pt x="167" y="3770"/>
                    <a:pt x="100" y="3660"/>
                  </a:cubicBezTo>
                  <a:cubicBezTo>
                    <a:pt x="64" y="3599"/>
                    <a:pt x="0" y="3464"/>
                    <a:pt x="0" y="3464"/>
                  </a:cubicBezTo>
                  <a:cubicBezTo>
                    <a:pt x="30" y="2920"/>
                    <a:pt x="91" y="2336"/>
                    <a:pt x="224" y="1814"/>
                  </a:cubicBezTo>
                  <a:cubicBezTo>
                    <a:pt x="255" y="1495"/>
                    <a:pt x="275" y="1175"/>
                    <a:pt x="302" y="856"/>
                  </a:cubicBezTo>
                  <a:cubicBezTo>
                    <a:pt x="313" y="714"/>
                    <a:pt x="327" y="638"/>
                    <a:pt x="427" y="595"/>
                  </a:cubicBezTo>
                  <a:cubicBezTo>
                    <a:pt x="536" y="446"/>
                    <a:pt x="408" y="598"/>
                    <a:pt x="555" y="493"/>
                  </a:cubicBezTo>
                  <a:cubicBezTo>
                    <a:pt x="669" y="413"/>
                    <a:pt x="738" y="316"/>
                    <a:pt x="858" y="264"/>
                  </a:cubicBezTo>
                  <a:cubicBezTo>
                    <a:pt x="952" y="134"/>
                    <a:pt x="855" y="246"/>
                    <a:pt x="983" y="163"/>
                  </a:cubicBezTo>
                  <a:cubicBezTo>
                    <a:pt x="1063" y="108"/>
                    <a:pt x="1097" y="40"/>
                    <a:pt x="1185" y="0"/>
                  </a:cubicBezTo>
                  <a:cubicBezTo>
                    <a:pt x="1444" y="83"/>
                    <a:pt x="1739" y="105"/>
                    <a:pt x="1969" y="298"/>
                  </a:cubicBezTo>
                  <a:cubicBezTo>
                    <a:pt x="2050" y="453"/>
                    <a:pt x="2124" y="624"/>
                    <a:pt x="2247" y="725"/>
                  </a:cubicBezTo>
                  <a:cubicBezTo>
                    <a:pt x="2280" y="791"/>
                    <a:pt x="2327" y="849"/>
                    <a:pt x="2347" y="925"/>
                  </a:cubicBezTo>
                  <a:cubicBezTo>
                    <a:pt x="2364" y="990"/>
                    <a:pt x="2397" y="1121"/>
                    <a:pt x="2397" y="1121"/>
                  </a:cubicBezTo>
                  <a:cubicBezTo>
                    <a:pt x="2383" y="1582"/>
                    <a:pt x="2414" y="2162"/>
                    <a:pt x="2194" y="2572"/>
                  </a:cubicBezTo>
                  <a:cubicBezTo>
                    <a:pt x="2186" y="2601"/>
                    <a:pt x="2156" y="2869"/>
                    <a:pt x="2094" y="2869"/>
                  </a:cubicBezTo>
                </a:path>
              </a:pathLst>
            </a:custGeom>
            <a:noFill/>
            <a:ln w="9360">
              <a:solidFill>
                <a:srgbClr val="000000"/>
              </a:solidFill>
              <a:round/>
              <a:headEnd/>
              <a:tailEnd/>
            </a:ln>
          </p:spPr>
          <p:txBody>
            <a:bodyPr wrap="none" anchor="ctr"/>
            <a:lstStyle/>
            <a:p>
              <a:endParaRPr lang="en-US"/>
            </a:p>
          </p:txBody>
        </p:sp>
      </p:grpSp>
    </p:spTree>
  </p:cSld>
  <p:clrMapOvr>
    <a:masterClrMapping/>
  </p:clrMapOvr>
  <p:transition spd="med">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Limitations</a:t>
            </a:r>
            <a:endParaRPr lang="en-US" sz="2000" dirty="0"/>
          </a:p>
        </p:txBody>
      </p:sp>
      <p:sp>
        <p:nvSpPr>
          <p:cNvPr id="3" name="Content Placeholder 2"/>
          <p:cNvSpPr>
            <a:spLocks noGrp="1"/>
          </p:cNvSpPr>
          <p:nvPr>
            <p:ph idx="1"/>
          </p:nvPr>
        </p:nvSpPr>
        <p:spPr/>
        <p:txBody>
          <a:bodyPr/>
          <a:lstStyle/>
          <a:p>
            <a:pPr>
              <a:buNone/>
            </a:pPr>
            <a:r>
              <a:rPr lang="en-US" dirty="0" smtClean="0"/>
              <a:t>	</a:t>
            </a:r>
            <a:r>
              <a:rPr lang="en-US" sz="2400" dirty="0" err="1" smtClean="0"/>
              <a:t>i</a:t>
            </a:r>
            <a:r>
              <a:rPr lang="en-US" sz="2400" dirty="0" smtClean="0"/>
              <a:t>) Fewer objects are available for training as some of the objects are withheld for testing. As a result, the trained model may not be as good as when all the labeled objects are used for training.</a:t>
            </a:r>
            <a:endParaRPr lang="en-IN" sz="2400" dirty="0" smtClean="0"/>
          </a:p>
          <a:p>
            <a:pPr>
              <a:buNone/>
            </a:pPr>
            <a:r>
              <a:rPr lang="en-IN" sz="2400" dirty="0" smtClean="0"/>
              <a:t>	ii) The model may be highly dependent on the composition of the training and test sets. </a:t>
            </a:r>
          </a:p>
          <a:p>
            <a:pPr>
              <a:buNone/>
            </a:pPr>
            <a:r>
              <a:rPr lang="en-IN" sz="2400" dirty="0" smtClean="0"/>
              <a:t>	- The smaller the training set size, the larger the variance of the model. </a:t>
            </a:r>
          </a:p>
          <a:p>
            <a:pPr>
              <a:buNone/>
            </a:pPr>
            <a:r>
              <a:rPr lang="en-IN" sz="2400" dirty="0" smtClean="0"/>
              <a:t>	- On the other hand, if the training set is too large, then the estimated test accuracy is less reliable. </a:t>
            </a:r>
            <a:r>
              <a:rPr lang="en-US" sz="2400" dirty="0" smtClean="0"/>
              <a:t>With a very large training set, the model may become overly specialized in recognizing patterns in the training data, making it less </a:t>
            </a:r>
            <a:r>
              <a:rPr lang="en-US" sz="2400" dirty="0" err="1" smtClean="0"/>
              <a:t>generalizable</a:t>
            </a:r>
            <a:r>
              <a:rPr lang="en-US" sz="2400" dirty="0" smtClean="0"/>
              <a:t> to unseen test data (</a:t>
            </a:r>
            <a:r>
              <a:rPr lang="en-US" sz="2400" b="1" dirty="0" err="1" smtClean="0"/>
              <a:t>Overfitting</a:t>
            </a:r>
            <a:r>
              <a:rPr lang="en-US" sz="2400" b="1" dirty="0" smtClean="0"/>
              <a:t> to Training Data</a:t>
            </a:r>
            <a:r>
              <a:rPr lang="en-US" sz="2400" dirty="0" smtClean="0"/>
              <a:t>).</a:t>
            </a:r>
            <a:endParaRPr lang="en-IN" sz="2400" dirty="0" smtClean="0"/>
          </a:p>
          <a:p>
            <a:pPr>
              <a:buNone/>
            </a:pPr>
            <a:r>
              <a:rPr lang="en-IN" dirty="0" smtClean="0"/>
              <a:t>	</a:t>
            </a:r>
          </a:p>
        </p:txBody>
      </p:sp>
      <p:sp>
        <p:nvSpPr>
          <p:cNvPr id="4" name="Slide Number Placeholder 3"/>
          <p:cNvSpPr>
            <a:spLocks noGrp="1"/>
          </p:cNvSpPr>
          <p:nvPr>
            <p:ph type="sldNum" sz="quarter" idx="10"/>
          </p:nvPr>
        </p:nvSpPr>
        <p:spPr/>
        <p:txBody>
          <a:bodyPr/>
          <a:lstStyle/>
          <a:p>
            <a:fld id="{D37A8A04-1C0C-4C06-A72C-2BB05733F882}" type="slidenum">
              <a:rPr lang="en-US" smtClean="0"/>
              <a:pPr/>
              <a:t>6</a:t>
            </a:fld>
            <a:endParaRPr lang="en-US"/>
          </a:p>
        </p:txBody>
      </p:sp>
    </p:spTree>
  </p:cSld>
  <p:clrMapOvr>
    <a:masterClrMapping/>
  </p:clrMapOvr>
  <p:transition>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Advantages</a:t>
            </a:r>
            <a:endParaRPr lang="en-US" dirty="0">
              <a:solidFill>
                <a:srgbClr val="FF0000"/>
              </a:solidFill>
            </a:endParaRPr>
          </a:p>
        </p:txBody>
      </p:sp>
      <p:sp>
        <p:nvSpPr>
          <p:cNvPr id="3" name="Content Placeholder 2"/>
          <p:cNvSpPr>
            <a:spLocks noGrp="1"/>
          </p:cNvSpPr>
          <p:nvPr>
            <p:ph idx="1"/>
          </p:nvPr>
        </p:nvSpPr>
        <p:spPr/>
        <p:txBody>
          <a:bodyPr/>
          <a:lstStyle/>
          <a:p>
            <a:r>
              <a:rPr lang="en-US" dirty="0" smtClean="0"/>
              <a:t>It is simple and easy to implement, requiring only one split of the data. </a:t>
            </a:r>
          </a:p>
          <a:p>
            <a:r>
              <a:rPr lang="en-US" dirty="0" smtClean="0"/>
              <a:t>It is efficient and fast, as it only requires one run of the model on the test set. </a:t>
            </a:r>
          </a:p>
          <a:p>
            <a:endParaRPr lang="en-US"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7</a:t>
            </a:fld>
            <a:endParaRPr lang="en-US"/>
          </a:p>
        </p:txBody>
      </p:sp>
    </p:spTree>
  </p:cSld>
  <p:clrMapOvr>
    <a:masterClrMapping/>
  </p:clrMapOvr>
  <p:transition>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Disadvantages</a:t>
            </a:r>
            <a:endParaRPr lang="en-US" dirty="0"/>
          </a:p>
        </p:txBody>
      </p:sp>
      <p:sp>
        <p:nvSpPr>
          <p:cNvPr id="3" name="Content Placeholder 2"/>
          <p:cNvSpPr>
            <a:spLocks noGrp="1"/>
          </p:cNvSpPr>
          <p:nvPr>
            <p:ph idx="1"/>
          </p:nvPr>
        </p:nvSpPr>
        <p:spPr/>
        <p:txBody>
          <a:bodyPr/>
          <a:lstStyle/>
          <a:p>
            <a:r>
              <a:rPr lang="en-US" dirty="0" smtClean="0"/>
              <a:t>The holdout method also has some disadvantages that limit its reliability and usefulness. </a:t>
            </a:r>
          </a:p>
          <a:p>
            <a:r>
              <a:rPr lang="en-US" dirty="0" smtClean="0"/>
              <a:t>It is sensitive to the choice of the split, as different splits may result in different model performance and accuracy. </a:t>
            </a:r>
          </a:p>
          <a:p>
            <a:r>
              <a:rPr lang="en-US" dirty="0" smtClean="0"/>
              <a:t>It is wasteful and potentially biased, as it does not use all the available data for training or testing. </a:t>
            </a:r>
          </a:p>
          <a:p>
            <a:r>
              <a:rPr lang="en-US" dirty="0" smtClean="0"/>
              <a:t>It is unstable and variable, as it may not reflect the true performance of the model over multiple runs.</a:t>
            </a:r>
            <a:endParaRPr lang="en-US"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8</a:t>
            </a:fld>
            <a:endParaRPr lang="en-US"/>
          </a:p>
        </p:txBody>
      </p:sp>
    </p:spTree>
  </p:cSld>
  <p:clrMapOvr>
    <a:masterClrMapping/>
  </p:clrMapOvr>
  <p:transition>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r>
              <a:rPr lang="en-US" dirty="0" smtClean="0"/>
              <a:t/>
            </a:r>
            <a:br>
              <a:rPr lang="en-US" dirty="0" smtClean="0"/>
            </a:br>
            <a:r>
              <a:rPr lang="en-US" dirty="0" smtClean="0"/>
              <a:t/>
            </a:r>
            <a:br>
              <a:rPr lang="en-US" dirty="0" smtClean="0"/>
            </a:br>
            <a:r>
              <a:rPr lang="en-US" dirty="0" smtClean="0"/>
              <a:t>Random </a:t>
            </a:r>
            <a:r>
              <a:rPr lang="en-US" dirty="0" err="1" smtClean="0"/>
              <a:t>subsampling</a:t>
            </a:r>
            <a:endParaRPr lang="en-US" dirty="0"/>
          </a:p>
        </p:txBody>
      </p:sp>
      <p:sp>
        <p:nvSpPr>
          <p:cNvPr id="3" name="Content Placeholder 2"/>
          <p:cNvSpPr>
            <a:spLocks noGrp="1"/>
          </p:cNvSpPr>
          <p:nvPr>
            <p:ph idx="1"/>
          </p:nvPr>
        </p:nvSpPr>
        <p:spPr>
          <a:xfrm>
            <a:off x="304800" y="1066800"/>
            <a:ext cx="8458200" cy="5257800"/>
          </a:xfrm>
        </p:spPr>
        <p:txBody>
          <a:bodyPr/>
          <a:lstStyle/>
          <a:p>
            <a:r>
              <a:rPr lang="en-IN" sz="2400" dirty="0" smtClean="0"/>
              <a:t>The holdout method can be repeated several times to improve the estimation of the classifier’s performance</a:t>
            </a:r>
            <a:r>
              <a:rPr lang="en-US" sz="2400" dirty="0" smtClean="0"/>
              <a:t>. This approach is known as random </a:t>
            </a:r>
            <a:r>
              <a:rPr lang="en-US" sz="2400" dirty="0" err="1" smtClean="0"/>
              <a:t>subsampling</a:t>
            </a:r>
            <a:r>
              <a:rPr lang="en-US" sz="2400" dirty="0" smtClean="0"/>
              <a:t>.</a:t>
            </a:r>
          </a:p>
          <a:p>
            <a:r>
              <a:rPr lang="en-IN" sz="2400" dirty="0" smtClean="0"/>
              <a:t>Let </a:t>
            </a:r>
            <a:r>
              <a:rPr lang="en-IN" sz="2400" dirty="0" err="1" smtClean="0"/>
              <a:t>Acc</a:t>
            </a:r>
            <a:r>
              <a:rPr lang="en-IN" sz="2400" baseline="-25000" dirty="0" err="1" smtClean="0"/>
              <a:t>i</a:t>
            </a:r>
            <a:r>
              <a:rPr lang="en-IN" sz="2400" dirty="0" smtClean="0"/>
              <a:t> be the model accuracy during the </a:t>
            </a:r>
            <a:r>
              <a:rPr lang="en-IN" sz="2400" dirty="0" err="1" smtClean="0"/>
              <a:t>i-th</a:t>
            </a:r>
            <a:r>
              <a:rPr lang="en-IN" sz="2400" dirty="0" smtClean="0"/>
              <a:t> iteration. The overall accuracy is given by  </a:t>
            </a:r>
          </a:p>
          <a:p>
            <a:r>
              <a:rPr lang="en-IN" sz="2400" dirty="0" smtClean="0"/>
              <a:t>Random sampling still encounters some of the problems associated with the holdout method because it does not utilize as much data as possible for training. </a:t>
            </a:r>
          </a:p>
          <a:p>
            <a:r>
              <a:rPr lang="en-IN" sz="2400" dirty="0" smtClean="0"/>
              <a:t>It also has no control over the number of times each record is used for testing and training. Consequently, some objects might be used for training more often than others. </a:t>
            </a:r>
          </a:p>
        </p:txBody>
      </p:sp>
      <p:sp>
        <p:nvSpPr>
          <p:cNvPr id="4" name="Slide Number Placeholder 3"/>
          <p:cNvSpPr>
            <a:spLocks noGrp="1"/>
          </p:cNvSpPr>
          <p:nvPr>
            <p:ph type="sldNum" sz="quarter" idx="10"/>
          </p:nvPr>
        </p:nvSpPr>
        <p:spPr/>
        <p:txBody>
          <a:bodyPr/>
          <a:lstStyle/>
          <a:p>
            <a:fld id="{D37A8A04-1C0C-4C06-A72C-2BB05733F882}" type="slidenum">
              <a:rPr lang="en-US" smtClean="0"/>
              <a:pPr/>
              <a:t>9</a:t>
            </a:fld>
            <a:endParaRPr lang="en-US"/>
          </a:p>
        </p:txBody>
      </p:sp>
      <p:sp>
        <p:nvSpPr>
          <p:cNvPr id="47104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471041"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4343400" y="2590800"/>
            <a:ext cx="838200" cy="556391"/>
          </a:xfrm>
          <a:prstGeom prst="rect">
            <a:avLst/>
          </a:prstGeom>
          <a:noFill/>
        </p:spPr>
      </p:pic>
    </p:spTree>
  </p:cSld>
  <p:clrMapOvr>
    <a:masterClrMapping/>
  </p:clrMapOvr>
  <p:transition>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r>
              <a:rPr lang="en-US" dirty="0" smtClean="0"/>
              <a:t/>
            </a:r>
            <a:br>
              <a:rPr lang="en-US" dirty="0" smtClean="0"/>
            </a:br>
            <a:r>
              <a:rPr lang="en-US" dirty="0" smtClean="0"/>
              <a:t/>
            </a:r>
            <a:br>
              <a:rPr lang="en-US" dirty="0" smtClean="0"/>
            </a:br>
            <a:r>
              <a:rPr lang="en-US" dirty="0" smtClean="0"/>
              <a:t>Bootstrap</a:t>
            </a:r>
            <a:endParaRPr lang="en-US" dirty="0"/>
          </a:p>
        </p:txBody>
      </p:sp>
      <p:sp>
        <p:nvSpPr>
          <p:cNvPr id="3" name="Content Placeholder 2"/>
          <p:cNvSpPr>
            <a:spLocks noGrp="1"/>
          </p:cNvSpPr>
          <p:nvPr>
            <p:ph idx="1"/>
          </p:nvPr>
        </p:nvSpPr>
        <p:spPr/>
        <p:txBody>
          <a:bodyPr/>
          <a:lstStyle/>
          <a:p>
            <a:r>
              <a:rPr lang="en-US" sz="2400" dirty="0" smtClean="0"/>
              <a:t>The methods presented so far assume that the training records are sampled without replacement. As a result, there are no duplicate records in the training and test sets. </a:t>
            </a:r>
          </a:p>
          <a:p>
            <a:r>
              <a:rPr lang="en-US" sz="2400" b="1" dirty="0" smtClean="0"/>
              <a:t>Bootstrap</a:t>
            </a:r>
            <a:r>
              <a:rPr lang="en-US" sz="2400" dirty="0" smtClean="0"/>
              <a:t> is a technique that </a:t>
            </a:r>
            <a:r>
              <a:rPr lang="en-US" sz="2400" dirty="0" err="1" smtClean="0"/>
              <a:t>resamples</a:t>
            </a:r>
            <a:r>
              <a:rPr lang="en-US" sz="2400" dirty="0" smtClean="0"/>
              <a:t> the data with replacement. </a:t>
            </a:r>
          </a:p>
          <a:p>
            <a:r>
              <a:rPr lang="en-US" sz="2400" dirty="0" smtClean="0"/>
              <a:t>This means that some data points may be included in the </a:t>
            </a:r>
            <a:r>
              <a:rPr lang="en-US" sz="2400" dirty="0" err="1" smtClean="0"/>
              <a:t>resampled</a:t>
            </a:r>
            <a:r>
              <a:rPr lang="en-US" sz="2400" dirty="0" smtClean="0"/>
              <a:t> dataset multiple times, while others may not be included at all. </a:t>
            </a:r>
          </a:p>
          <a:p>
            <a:r>
              <a:rPr lang="en-US" sz="2400" dirty="0" smtClean="0"/>
              <a:t>The model is then trained on the </a:t>
            </a:r>
            <a:r>
              <a:rPr lang="en-US" sz="2400" dirty="0" err="1" smtClean="0"/>
              <a:t>resampled</a:t>
            </a:r>
            <a:r>
              <a:rPr lang="en-US" sz="2400" dirty="0" smtClean="0"/>
              <a:t> dataset and evaluated on the test dataset (not in the bootstrap sample). </a:t>
            </a:r>
          </a:p>
          <a:p>
            <a:r>
              <a:rPr lang="en-US" sz="2400" dirty="0" smtClean="0"/>
              <a:t>This process is repeated multiple times, and the results are averaged to get an estimate of the model's performance.</a:t>
            </a:r>
            <a:endParaRPr lang="en-US" sz="2400"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10</a:t>
            </a:fld>
            <a:endParaRPr lang="en-US"/>
          </a:p>
        </p:txBody>
      </p:sp>
    </p:spTree>
  </p:cSld>
  <p:clrMapOvr>
    <a:masterClrMapping/>
  </p:clrMapOvr>
  <p:transition>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2"/>
          <p:cNvSpPr>
            <a:spLocks noGrp="1" noChangeArrowheads="1"/>
          </p:cNvSpPr>
          <p:nvPr>
            <p:ph type="title"/>
          </p:nvPr>
        </p:nvSpPr>
        <p:spPr>
          <a:xfrm>
            <a:off x="1295400" y="228600"/>
            <a:ext cx="6324600" cy="685800"/>
          </a:xfrm>
          <a:noFill/>
        </p:spPr>
        <p:txBody>
          <a:bodyPr lIns="92075" tIns="46038" rIns="92075" bIns="46038"/>
          <a:lstStyle/>
          <a:p>
            <a:pPr eaLnBrk="1" hangingPunct="1"/>
            <a:r>
              <a:rPr lang="en-US" dirty="0" smtClean="0"/>
              <a:t>Bootstrap</a:t>
            </a:r>
            <a:endParaRPr lang="en-US" sz="4000" dirty="0" smtClean="0"/>
          </a:p>
        </p:txBody>
      </p:sp>
      <p:sp>
        <p:nvSpPr>
          <p:cNvPr id="131074" name="Rectangle 3"/>
          <p:cNvSpPr>
            <a:spLocks noGrp="1" noChangeArrowheads="1"/>
          </p:cNvSpPr>
          <p:nvPr>
            <p:ph type="body" sz="half" idx="1"/>
          </p:nvPr>
        </p:nvSpPr>
        <p:spPr>
          <a:xfrm>
            <a:off x="304800" y="1143000"/>
            <a:ext cx="8610600" cy="5105400"/>
          </a:xfrm>
          <a:noFill/>
        </p:spPr>
        <p:txBody>
          <a:bodyPr lIns="92075" tIns="46038" rIns="92075" bIns="46038"/>
          <a:lstStyle/>
          <a:p>
            <a:pPr eaLnBrk="1" hangingPunct="1">
              <a:lnSpc>
                <a:spcPct val="110000"/>
              </a:lnSpc>
            </a:pPr>
            <a:r>
              <a:rPr lang="en-US" sz="2000" b="1" dirty="0" smtClean="0"/>
              <a:t>Bootstrap</a:t>
            </a:r>
          </a:p>
          <a:p>
            <a:pPr lvl="1" eaLnBrk="1" hangingPunct="1">
              <a:lnSpc>
                <a:spcPct val="110000"/>
              </a:lnSpc>
            </a:pPr>
            <a:r>
              <a:rPr lang="en-US" sz="2000" dirty="0" smtClean="0"/>
              <a:t>Works well with small data sets</a:t>
            </a:r>
          </a:p>
          <a:p>
            <a:pPr lvl="1" eaLnBrk="1" hangingPunct="1">
              <a:lnSpc>
                <a:spcPct val="110000"/>
              </a:lnSpc>
            </a:pPr>
            <a:r>
              <a:rPr lang="en-US" sz="2000" dirty="0" smtClean="0"/>
              <a:t>Samples the given training </a:t>
            </a:r>
            <a:r>
              <a:rPr lang="en-US" sz="2000" dirty="0" err="1" smtClean="0"/>
              <a:t>tuples</a:t>
            </a:r>
            <a:r>
              <a:rPr lang="en-US" sz="2000" dirty="0" smtClean="0"/>
              <a:t> uniformly </a:t>
            </a:r>
            <a:r>
              <a:rPr lang="en-US" sz="2000" i="1" dirty="0" smtClean="0"/>
              <a:t>with replacement</a:t>
            </a:r>
          </a:p>
          <a:p>
            <a:pPr lvl="2" eaLnBrk="1" hangingPunct="1">
              <a:lnSpc>
                <a:spcPct val="110000"/>
              </a:lnSpc>
            </a:pPr>
            <a:r>
              <a:rPr lang="en-US" sz="2000" dirty="0" smtClean="0"/>
              <a:t>i.e., each time a </a:t>
            </a:r>
            <a:r>
              <a:rPr lang="en-US" sz="2000" dirty="0" err="1" smtClean="0"/>
              <a:t>tuple</a:t>
            </a:r>
            <a:r>
              <a:rPr lang="en-US" sz="2000" dirty="0" smtClean="0"/>
              <a:t> is selected, it is equally likely to be selected again and re-added to the training set</a:t>
            </a:r>
          </a:p>
          <a:p>
            <a:pPr eaLnBrk="1" hangingPunct="1">
              <a:lnSpc>
                <a:spcPct val="110000"/>
              </a:lnSpc>
            </a:pPr>
            <a:r>
              <a:rPr lang="en-US" sz="2000" dirty="0" smtClean="0"/>
              <a:t>There are several bootstrap methods, and a common one is </a:t>
            </a:r>
            <a:r>
              <a:rPr lang="en-US" sz="2000" b="1" dirty="0" smtClean="0"/>
              <a:t>0.632 </a:t>
            </a:r>
            <a:r>
              <a:rPr lang="en-US" sz="2000" b="1" dirty="0" err="1" smtClean="0"/>
              <a:t>boostrap</a:t>
            </a:r>
            <a:endParaRPr lang="en-US" sz="2000" b="1" dirty="0" smtClean="0"/>
          </a:p>
          <a:p>
            <a:pPr eaLnBrk="1" hangingPunct="1">
              <a:lnSpc>
                <a:spcPct val="110000"/>
              </a:lnSpc>
            </a:pPr>
            <a:r>
              <a:rPr lang="en-US" sz="2000" b="1" dirty="0" smtClean="0"/>
              <a:t>0.632 </a:t>
            </a:r>
            <a:r>
              <a:rPr lang="en-US" sz="2000" b="1" dirty="0" err="1" smtClean="0"/>
              <a:t>boostrap</a:t>
            </a:r>
            <a:r>
              <a:rPr lang="en-US" sz="2000" b="1" dirty="0" smtClean="0"/>
              <a:t>:</a:t>
            </a:r>
          </a:p>
          <a:p>
            <a:pPr lvl="1" eaLnBrk="1" hangingPunct="1">
              <a:lnSpc>
                <a:spcPct val="110000"/>
              </a:lnSpc>
            </a:pPr>
            <a:r>
              <a:rPr lang="en-US" sz="2000" dirty="0" smtClean="0"/>
              <a:t>Let D is a data set with size |D|=N. Let dataset D</a:t>
            </a:r>
            <a:r>
              <a:rPr lang="en-US" sz="2000" baseline="-25000" dirty="0" smtClean="0"/>
              <a:t>1</a:t>
            </a:r>
            <a:r>
              <a:rPr lang="en-US" sz="2000" dirty="0" smtClean="0"/>
              <a:t> is the bootstrap sample set with same size, N. Here, random sampling with replacement is used to make D</a:t>
            </a:r>
            <a:r>
              <a:rPr lang="en-US" sz="2000" baseline="-25000" dirty="0" smtClean="0"/>
              <a:t>1</a:t>
            </a:r>
            <a:r>
              <a:rPr lang="en-US" sz="2000" dirty="0" smtClean="0"/>
              <a:t> from D. So some samples may appear many times and some may not appear in D</a:t>
            </a:r>
            <a:r>
              <a:rPr lang="en-US" sz="2000" baseline="-25000" dirty="0" smtClean="0"/>
              <a:t>1</a:t>
            </a:r>
            <a:r>
              <a:rPr lang="en-US" sz="2000" dirty="0" smtClean="0"/>
              <a:t>. </a:t>
            </a:r>
          </a:p>
          <a:p>
            <a:pPr lvl="1" eaLnBrk="1" hangingPunct="1">
              <a:lnSpc>
                <a:spcPct val="110000"/>
              </a:lnSpc>
            </a:pPr>
            <a:r>
              <a:rPr lang="en-US" sz="2000" dirty="0" smtClean="0"/>
              <a:t>The bootstrap samples (</a:t>
            </a:r>
            <a:r>
              <a:rPr lang="en-US" sz="2000" dirty="0" err="1" smtClean="0"/>
              <a:t>i,.e</a:t>
            </a:r>
            <a:r>
              <a:rPr lang="en-US" sz="2000" dirty="0" smtClean="0"/>
              <a:t>., D</a:t>
            </a:r>
            <a:r>
              <a:rPr lang="en-US" sz="2000" baseline="-25000" dirty="0" smtClean="0"/>
              <a:t>1</a:t>
            </a:r>
            <a:r>
              <a:rPr lang="en-US" sz="2000" dirty="0" smtClean="0"/>
              <a:t>)  is used as training set and the samples of D not included in D</a:t>
            </a:r>
            <a:r>
              <a:rPr lang="en-US" sz="2000" baseline="-25000" dirty="0" smtClean="0"/>
              <a:t>1</a:t>
            </a:r>
            <a:r>
              <a:rPr lang="en-US" sz="2000" dirty="0" smtClean="0"/>
              <a:t> is the test set, say T</a:t>
            </a:r>
            <a:r>
              <a:rPr lang="en-US" sz="2000" baseline="-25000" dirty="0" smtClean="0"/>
              <a:t>1</a:t>
            </a:r>
            <a:r>
              <a:rPr lang="en-US" sz="2000" dirty="0" smtClean="0"/>
              <a:t>.  </a:t>
            </a:r>
          </a:p>
          <a:p>
            <a:pPr lvl="1" eaLnBrk="1" hangingPunct="1">
              <a:lnSpc>
                <a:spcPct val="110000"/>
              </a:lnSpc>
            </a:pPr>
            <a:endParaRPr lang="en-US" sz="2000" dirty="0" smtClean="0"/>
          </a:p>
        </p:txBody>
      </p:sp>
      <p:sp>
        <p:nvSpPr>
          <p:cNvPr id="131075" name="Slide Number Placeholder 7"/>
          <p:cNvSpPr txBox="1">
            <a:spLocks noGrp="1"/>
          </p:cNvSpPr>
          <p:nvPr/>
        </p:nvSpPr>
        <p:spPr bwMode="auto">
          <a:xfrm>
            <a:off x="7239000" y="6477000"/>
            <a:ext cx="1905000" cy="381000"/>
          </a:xfrm>
          <a:prstGeom prst="rect">
            <a:avLst/>
          </a:prstGeom>
          <a:noFill/>
          <a:ln w="9525">
            <a:noFill/>
            <a:miter lim="800000"/>
            <a:headEnd/>
            <a:tailEnd/>
          </a:ln>
        </p:spPr>
        <p:txBody>
          <a:bodyPr anchor="b"/>
          <a:lstStyle/>
          <a:p>
            <a:pPr algn="r"/>
            <a:fld id="{B343539D-F066-4F8A-8FE9-484FDEDCACA6}" type="slidenum">
              <a:rPr lang="en-US" sz="1200" b="1">
                <a:latin typeface="Calibri" pitchFamily="34" charset="0"/>
              </a:rPr>
              <a:pPr algn="r"/>
              <a:t>11</a:t>
            </a:fld>
            <a:endParaRPr lang="en-US" sz="1200" b="1">
              <a:latin typeface="Calibri" pitchFamily="34" charset="0"/>
            </a:endParaRPr>
          </a:p>
        </p:txBody>
      </p:sp>
    </p:spTree>
  </p:cSld>
  <p:clrMapOvr>
    <a:masterClrMapping/>
  </p:clrMapOvr>
  <p:transition>
    <p:zo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Bootstrap</a:t>
            </a:r>
            <a:endParaRPr lang="en-US" dirty="0"/>
          </a:p>
        </p:txBody>
      </p:sp>
      <p:sp>
        <p:nvSpPr>
          <p:cNvPr id="7" name="Content Placeholder 6"/>
          <p:cNvSpPr>
            <a:spLocks noGrp="1"/>
          </p:cNvSpPr>
          <p:nvPr>
            <p:ph idx="1"/>
          </p:nvPr>
        </p:nvSpPr>
        <p:spPr>
          <a:xfrm>
            <a:off x="304800" y="1066800"/>
            <a:ext cx="8458200" cy="5638800"/>
          </a:xfrm>
        </p:spPr>
        <p:txBody>
          <a:bodyPr/>
          <a:lstStyle/>
          <a:p>
            <a:pPr marL="342900" lvl="1" indent="-342900">
              <a:buClr>
                <a:schemeClr val="folHlink"/>
              </a:buClr>
              <a:buSzPct val="60000"/>
            </a:pPr>
            <a:r>
              <a:rPr lang="en-US" sz="2400" dirty="0" smtClean="0"/>
              <a:t>On average, a bootstrap sample set, (i.e. D</a:t>
            </a:r>
            <a:r>
              <a:rPr lang="en-US" sz="2400" baseline="-25000" dirty="0" smtClean="0"/>
              <a:t>1</a:t>
            </a:r>
            <a:r>
              <a:rPr lang="en-US" sz="2400" dirty="0" smtClean="0"/>
              <a:t>), contains approximately 63% samples of the original dataset because, each sample of D has a probability                    of being selected in D</a:t>
            </a:r>
            <a:r>
              <a:rPr lang="en-US" sz="2400" baseline="-25000" dirty="0" smtClean="0"/>
              <a:t>1</a:t>
            </a:r>
            <a:r>
              <a:rPr lang="en-US" sz="2400" dirty="0" smtClean="0"/>
              <a:t>.       </a:t>
            </a:r>
            <a:r>
              <a:rPr lang="en-US" sz="2400" dirty="0" smtClean="0">
                <a:solidFill>
                  <a:srgbClr val="FF0000"/>
                </a:solidFill>
              </a:rPr>
              <a:t>How?</a:t>
            </a:r>
          </a:p>
          <a:p>
            <a:pPr marL="342900" lvl="1" indent="-342900">
              <a:buClr>
                <a:schemeClr val="folHlink"/>
              </a:buClr>
              <a:buSzPct val="60000"/>
              <a:buNone/>
            </a:pPr>
            <a:r>
              <a:rPr lang="en-US" sz="2400" dirty="0" smtClean="0"/>
              <a:t>	- Probability that a sample is selected in D</a:t>
            </a:r>
            <a:r>
              <a:rPr lang="en-US" sz="2400" baseline="-25000" dirty="0" smtClean="0"/>
              <a:t>1</a:t>
            </a:r>
            <a:r>
              <a:rPr lang="en-US" sz="2400" dirty="0" smtClean="0"/>
              <a:t> =        .</a:t>
            </a:r>
          </a:p>
          <a:p>
            <a:pPr marL="342900" lvl="1" indent="-342900">
              <a:buClr>
                <a:schemeClr val="folHlink"/>
              </a:buClr>
              <a:buSzPct val="60000"/>
              <a:buNone/>
            </a:pPr>
            <a:r>
              <a:rPr lang="en-US" sz="2400" dirty="0" smtClean="0"/>
              <a:t>	- Therefore, probability that the sample is not selected in </a:t>
            </a:r>
          </a:p>
          <a:p>
            <a:pPr marL="342900" lvl="1" indent="-342900">
              <a:buClr>
                <a:schemeClr val="folHlink"/>
              </a:buClr>
              <a:buSzPct val="60000"/>
              <a:buNone/>
            </a:pPr>
            <a:r>
              <a:rPr lang="en-US" sz="2400" dirty="0" smtClean="0"/>
              <a:t>        D</a:t>
            </a:r>
            <a:r>
              <a:rPr lang="en-US" sz="2400" baseline="-25000" dirty="0" smtClean="0"/>
              <a:t>1</a:t>
            </a:r>
            <a:r>
              <a:rPr lang="en-US" sz="2400" dirty="0" smtClean="0"/>
              <a:t> =          </a:t>
            </a:r>
          </a:p>
          <a:p>
            <a:pPr marL="342900" lvl="1" indent="-342900">
              <a:buClr>
                <a:schemeClr val="folHlink"/>
              </a:buClr>
              <a:buSzPct val="60000"/>
              <a:buNone/>
            </a:pPr>
            <a:r>
              <a:rPr lang="en-US" sz="2400" dirty="0" smtClean="0"/>
              <a:t>	- Since, we are using sampling with replacement, so for second time sample selection in D</a:t>
            </a:r>
            <a:r>
              <a:rPr lang="en-US" sz="2400" baseline="-25000" dirty="0" smtClean="0"/>
              <a:t>1</a:t>
            </a:r>
            <a:r>
              <a:rPr lang="en-US" sz="2400" dirty="0" smtClean="0"/>
              <a:t>, probability that the sample is not selected in D</a:t>
            </a:r>
            <a:r>
              <a:rPr lang="en-US" sz="2400" baseline="-25000" dirty="0" smtClean="0"/>
              <a:t>1</a:t>
            </a:r>
            <a:r>
              <a:rPr lang="en-US" sz="2400" dirty="0" smtClean="0"/>
              <a:t> is also =</a:t>
            </a:r>
          </a:p>
          <a:p>
            <a:pPr marL="742950" lvl="2" indent="-342900">
              <a:buSzPct val="60000"/>
              <a:buNone/>
            </a:pPr>
            <a:r>
              <a:rPr lang="en-US" dirty="0" smtClean="0"/>
              <a:t>- Since, the size of D</a:t>
            </a:r>
            <a:r>
              <a:rPr lang="en-US" baseline="-25000" dirty="0" smtClean="0"/>
              <a:t>1</a:t>
            </a:r>
            <a:r>
              <a:rPr lang="en-US" dirty="0" smtClean="0"/>
              <a:t> is also = N, so the probability that a sample of D is not selected = </a:t>
            </a:r>
          </a:p>
          <a:p>
            <a:pPr marL="342900" lvl="1" indent="-342900">
              <a:buClr>
                <a:schemeClr val="folHlink"/>
              </a:buClr>
              <a:buSzPct val="60000"/>
              <a:buNone/>
            </a:pPr>
            <a:r>
              <a:rPr lang="en-US" sz="2400" dirty="0" smtClean="0"/>
              <a:t>	</a:t>
            </a:r>
          </a:p>
          <a:p>
            <a:pPr marL="342900" lvl="1" indent="-342900">
              <a:buClr>
                <a:schemeClr val="folHlink"/>
              </a:buClr>
              <a:buSzPct val="60000"/>
              <a:buNone/>
            </a:pPr>
            <a:endParaRPr lang="en-US" sz="2000" dirty="0" smtClean="0"/>
          </a:p>
          <a:p>
            <a:endParaRPr lang="en-US" dirty="0"/>
          </a:p>
        </p:txBody>
      </p:sp>
      <p:sp>
        <p:nvSpPr>
          <p:cNvPr id="5" name="Slide Number Placeholder 4"/>
          <p:cNvSpPr>
            <a:spLocks noGrp="1"/>
          </p:cNvSpPr>
          <p:nvPr>
            <p:ph type="sldNum" sz="quarter" idx="10"/>
          </p:nvPr>
        </p:nvSpPr>
        <p:spPr/>
        <p:txBody>
          <a:bodyPr/>
          <a:lstStyle/>
          <a:p>
            <a:fld id="{7312E291-2DE2-41AB-89C6-59201C6AAB75}" type="slidenum">
              <a:rPr lang="en-US" smtClean="0"/>
              <a:pPr/>
              <a:t>12</a:t>
            </a:fld>
            <a:endParaRPr lang="en-US"/>
          </a:p>
        </p:txBody>
      </p:sp>
      <p:sp>
        <p:nvSpPr>
          <p:cNvPr id="291842"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91841"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5105400" y="1828800"/>
            <a:ext cx="1143000" cy="457200"/>
          </a:xfrm>
          <a:prstGeom prst="rect">
            <a:avLst/>
          </a:prstGeom>
          <a:noFill/>
        </p:spPr>
      </p:pic>
      <p:sp>
        <p:nvSpPr>
          <p:cNvPr id="291844"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2937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29377" name="Picture 1"/>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6400800" y="2590800"/>
            <a:ext cx="237565" cy="336550"/>
          </a:xfrm>
          <a:prstGeom prst="rect">
            <a:avLst/>
          </a:prstGeom>
          <a:noFill/>
        </p:spPr>
      </p:pic>
      <p:sp>
        <p:nvSpPr>
          <p:cNvPr id="22938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29379" name="Picture 3"/>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3505200" y="4648200"/>
            <a:ext cx="537882" cy="457200"/>
          </a:xfrm>
          <a:prstGeom prst="rect">
            <a:avLst/>
          </a:prstGeom>
          <a:noFill/>
        </p:spPr>
      </p:pic>
      <p:pic>
        <p:nvPicPr>
          <p:cNvPr id="14" name="Picture 3"/>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1524000" y="3505200"/>
            <a:ext cx="457200" cy="388620"/>
          </a:xfrm>
          <a:prstGeom prst="rect">
            <a:avLst/>
          </a:prstGeom>
          <a:noFill/>
        </p:spPr>
      </p:pic>
      <p:sp>
        <p:nvSpPr>
          <p:cNvPr id="229382"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29381" name="Picture 5"/>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4800600" y="5486400"/>
            <a:ext cx="687294" cy="381000"/>
          </a:xfrm>
          <a:prstGeom prst="rect">
            <a:avLst/>
          </a:prstGeom>
          <a:noFill/>
        </p:spPr>
      </p:pic>
      <p:sp>
        <p:nvSpPr>
          <p:cNvPr id="229384"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ransition>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Bootstrap</a:t>
            </a:r>
            <a:endParaRPr lang="en-US" dirty="0"/>
          </a:p>
        </p:txBody>
      </p:sp>
      <p:sp>
        <p:nvSpPr>
          <p:cNvPr id="3" name="Content Placeholder 2"/>
          <p:cNvSpPr>
            <a:spLocks noGrp="1"/>
          </p:cNvSpPr>
          <p:nvPr>
            <p:ph idx="1"/>
          </p:nvPr>
        </p:nvSpPr>
        <p:spPr/>
        <p:txBody>
          <a:bodyPr/>
          <a:lstStyle/>
          <a:p>
            <a:r>
              <a:rPr lang="en-US" sz="2400" dirty="0" smtClean="0"/>
              <a:t>Therefore, the probability of each sample of D is selected in D</a:t>
            </a:r>
            <a:r>
              <a:rPr lang="en-US" sz="2400" baseline="-25000" dirty="0" smtClean="0"/>
              <a:t>1</a:t>
            </a:r>
            <a:r>
              <a:rPr lang="en-US" sz="2400" dirty="0" smtClean="0"/>
              <a:t> = </a:t>
            </a:r>
          </a:p>
          <a:p>
            <a:pPr marL="342900" lvl="1" indent="-342900">
              <a:buClr>
                <a:schemeClr val="folHlink"/>
              </a:buClr>
              <a:buSzPct val="60000"/>
            </a:pPr>
            <a:r>
              <a:rPr lang="en-US" sz="2400" dirty="0" smtClean="0"/>
              <a:t>If N is sufficiently large, this probability converges to</a:t>
            </a:r>
          </a:p>
          <a:p>
            <a:pPr marL="342900" lvl="1" indent="-342900">
              <a:buClr>
                <a:schemeClr val="folHlink"/>
              </a:buClr>
              <a:buSzPct val="60000"/>
            </a:pPr>
            <a:r>
              <a:rPr lang="en-US" sz="2400" dirty="0" smtClean="0"/>
              <a:t>The samples of D, which are not in D</a:t>
            </a:r>
            <a:r>
              <a:rPr lang="en-US" sz="2400" baseline="-25000" dirty="0" smtClean="0"/>
              <a:t>1</a:t>
            </a:r>
            <a:r>
              <a:rPr lang="en-US" sz="2400" dirty="0" smtClean="0"/>
              <a:t> is the test set, T</a:t>
            </a:r>
            <a:r>
              <a:rPr lang="en-US" sz="2400" baseline="-25000" dirty="0" smtClean="0"/>
              <a:t>1</a:t>
            </a:r>
            <a:r>
              <a:rPr lang="en-US" sz="2400" dirty="0" smtClean="0"/>
              <a:t>.</a:t>
            </a:r>
          </a:p>
          <a:p>
            <a:pPr marL="342900" lvl="1" indent="-342900">
              <a:buClr>
                <a:schemeClr val="folHlink"/>
              </a:buClr>
              <a:buSzPct val="60000"/>
            </a:pPr>
            <a:r>
              <a:rPr lang="en-US" sz="2400" dirty="0" smtClean="0"/>
              <a:t>Repeat the sampling procedure </a:t>
            </a:r>
            <a:r>
              <a:rPr lang="en-US" sz="2400" i="1" dirty="0" smtClean="0"/>
              <a:t>k</a:t>
            </a:r>
            <a:r>
              <a:rPr lang="en-US" sz="2400" dirty="0" smtClean="0"/>
              <a:t> times, we get the models, M</a:t>
            </a:r>
            <a:r>
              <a:rPr lang="en-US" sz="2400" baseline="-25000" dirty="0" smtClean="0"/>
              <a:t>1</a:t>
            </a:r>
            <a:r>
              <a:rPr lang="en-US" sz="2400" dirty="0" smtClean="0"/>
              <a:t>, M</a:t>
            </a:r>
            <a:r>
              <a:rPr lang="en-US" sz="2400" baseline="-25000" dirty="0" smtClean="0"/>
              <a:t>2</a:t>
            </a:r>
            <a:r>
              <a:rPr lang="en-US" sz="2400" dirty="0" smtClean="0"/>
              <a:t>, …, M</a:t>
            </a:r>
            <a:r>
              <a:rPr lang="en-US" sz="2400" baseline="-25000" dirty="0" smtClean="0"/>
              <a:t>k</a:t>
            </a:r>
            <a:r>
              <a:rPr lang="en-US" sz="2400" dirty="0" smtClean="0"/>
              <a:t>, where, the training and test set for M</a:t>
            </a:r>
            <a:r>
              <a:rPr lang="en-US" sz="2400" baseline="-25000" dirty="0" smtClean="0"/>
              <a:t>i</a:t>
            </a:r>
            <a:r>
              <a:rPr lang="en-US" sz="2400" dirty="0" smtClean="0"/>
              <a:t> are D</a:t>
            </a:r>
            <a:r>
              <a:rPr lang="en-US" sz="2400" baseline="-25000" dirty="0" smtClean="0"/>
              <a:t>i</a:t>
            </a:r>
            <a:r>
              <a:rPr lang="en-US" sz="2400" dirty="0" smtClean="0"/>
              <a:t> and T</a:t>
            </a:r>
            <a:r>
              <a:rPr lang="en-US" sz="2400" baseline="-25000" dirty="0" smtClean="0"/>
              <a:t>i</a:t>
            </a:r>
            <a:r>
              <a:rPr lang="en-US" sz="2400" dirty="0" smtClean="0"/>
              <a:t> respectively.  </a:t>
            </a:r>
            <a:endParaRPr lang="en-US" dirty="0" smtClean="0">
              <a:solidFill>
                <a:srgbClr val="FF0000"/>
              </a:solidFill>
            </a:endParaRPr>
          </a:p>
          <a:p>
            <a:pPr marL="342900" lvl="1" indent="-342900">
              <a:buClr>
                <a:schemeClr val="folHlink"/>
              </a:buClr>
              <a:buSzPct val="60000"/>
            </a:pPr>
            <a:r>
              <a:rPr lang="en-US" dirty="0" smtClean="0"/>
              <a:t>Therefore, the overall accuracy of the model:</a:t>
            </a:r>
          </a:p>
          <a:p>
            <a:pPr marL="342900" lvl="1" indent="-342900">
              <a:buClr>
                <a:schemeClr val="folHlink"/>
              </a:buClr>
              <a:buSzPct val="60000"/>
            </a:pPr>
            <a:endParaRPr lang="en-IN" dirty="0" smtClean="0"/>
          </a:p>
          <a:p>
            <a:pPr marL="342900" lvl="1" indent="-342900">
              <a:buClr>
                <a:schemeClr val="folHlink"/>
              </a:buClr>
              <a:buSzPct val="60000"/>
            </a:pPr>
            <a:r>
              <a:rPr lang="en-US" dirty="0" err="1" smtClean="0"/>
              <a:t>Accuracy</a:t>
            </a:r>
            <a:r>
              <a:rPr lang="en-US" baseline="-25000" dirty="0" err="1" smtClean="0"/>
              <a:t>test</a:t>
            </a:r>
            <a:r>
              <a:rPr lang="en-US" dirty="0" smtClean="0"/>
              <a:t>​ = average accuracy on test sets</a:t>
            </a:r>
          </a:p>
          <a:p>
            <a:pPr marL="342900" lvl="1" indent="-342900">
              <a:buClr>
                <a:schemeClr val="folHlink"/>
              </a:buClr>
              <a:buSzPct val="60000"/>
            </a:pPr>
            <a:r>
              <a:rPr lang="en-US" dirty="0" err="1" smtClean="0"/>
              <a:t>Accuracy</a:t>
            </a:r>
            <a:r>
              <a:rPr lang="en-US" baseline="-25000" dirty="0" err="1" smtClean="0"/>
              <a:t>train</a:t>
            </a:r>
            <a:r>
              <a:rPr lang="en-US" dirty="0" smtClean="0"/>
              <a:t>​ = average accuracy on the training sets.</a:t>
            </a:r>
          </a:p>
          <a:p>
            <a:pPr marL="342900" lvl="1" indent="-342900">
              <a:buClr>
                <a:schemeClr val="folHlink"/>
              </a:buClr>
              <a:buSzPct val="60000"/>
              <a:buNone/>
            </a:pPr>
            <a:r>
              <a:rPr lang="en-US" dirty="0" smtClean="0"/>
              <a:t> </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13</a:t>
            </a:fld>
            <a:endParaRPr lang="en-US"/>
          </a:p>
        </p:txBody>
      </p:sp>
      <p:pic>
        <p:nvPicPr>
          <p:cNvPr id="5" name="Picture 7"/>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1295400" y="1676400"/>
            <a:ext cx="1066800" cy="403013"/>
          </a:xfrm>
          <a:prstGeom prst="rect">
            <a:avLst/>
          </a:prstGeom>
          <a:noFill/>
        </p:spPr>
      </p:pic>
      <p:pic>
        <p:nvPicPr>
          <p:cNvPr id="6" name="Picture 3"/>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7315200" y="2057400"/>
            <a:ext cx="1295400" cy="506895"/>
          </a:xfrm>
          <a:prstGeom prst="rect">
            <a:avLst/>
          </a:prstGeom>
          <a:noFill/>
        </p:spPr>
      </p:pic>
      <p:pic>
        <p:nvPicPr>
          <p:cNvPr id="1026" name="Picture 2"/>
          <p:cNvPicPr>
            <a:picLocks noChangeAspect="1" noChangeArrowheads="1"/>
          </p:cNvPicPr>
          <p:nvPr/>
        </p:nvPicPr>
        <p:blipFill>
          <a:blip r:embed="rId4"/>
          <a:srcRect/>
          <a:stretch>
            <a:fillRect/>
          </a:stretch>
        </p:blipFill>
        <p:spPr bwMode="auto">
          <a:xfrm>
            <a:off x="762000" y="4648200"/>
            <a:ext cx="7696200" cy="591384"/>
          </a:xfrm>
          <a:prstGeom prst="rect">
            <a:avLst/>
          </a:prstGeom>
          <a:noFill/>
          <a:ln w="9525">
            <a:noFill/>
            <a:miter lim="800000"/>
            <a:headEnd/>
            <a:tailEnd/>
          </a:ln>
          <a:effectLst/>
        </p:spPr>
      </p:pic>
    </p:spTree>
  </p:cSld>
  <p:clrMapOvr>
    <a:masterClrMapping/>
  </p:clrMapOvr>
  <p:transition>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Bootstrap</a:t>
            </a:r>
            <a:endParaRPr lang="en-US" dirty="0"/>
          </a:p>
        </p:txBody>
      </p:sp>
      <p:sp>
        <p:nvSpPr>
          <p:cNvPr id="3" name="Content Placeholder 2"/>
          <p:cNvSpPr>
            <a:spLocks noGrp="1"/>
          </p:cNvSpPr>
          <p:nvPr>
            <p:ph idx="1"/>
          </p:nvPr>
        </p:nvSpPr>
        <p:spPr>
          <a:xfrm>
            <a:off x="304800" y="1066800"/>
            <a:ext cx="8458200" cy="5638800"/>
          </a:xfrm>
        </p:spPr>
        <p:txBody>
          <a:bodyPr/>
          <a:lstStyle/>
          <a:p>
            <a:r>
              <a:rPr lang="en-US" dirty="0" smtClean="0">
                <a:latin typeface="Times New Roman" pitchFamily="18" charset="0"/>
                <a:cs typeface="Times New Roman" pitchFamily="18" charset="0"/>
              </a:rPr>
              <a:t>In holdout method, the test data is </a:t>
            </a:r>
            <a:r>
              <a:rPr lang="en-US" b="1" dirty="0" smtClean="0">
                <a:latin typeface="Times New Roman" pitchFamily="18" charset="0"/>
                <a:cs typeface="Times New Roman" pitchFamily="18" charset="0"/>
              </a:rPr>
              <a:t>never seen by the model</a:t>
            </a:r>
            <a:r>
              <a:rPr lang="en-US" dirty="0" smtClean="0">
                <a:latin typeface="Times New Roman" pitchFamily="18" charset="0"/>
                <a:cs typeface="Times New Roman" pitchFamily="18" charset="0"/>
              </a:rPr>
              <a:t> during training, its accuracy gives an </a:t>
            </a:r>
            <a:r>
              <a:rPr lang="en-US" b="1" dirty="0" smtClean="0">
                <a:latin typeface="Times New Roman" pitchFamily="18" charset="0"/>
                <a:cs typeface="Times New Roman" pitchFamily="18" charset="0"/>
              </a:rPr>
              <a:t>unbiased estimate of generalization performance</a:t>
            </a:r>
            <a:r>
              <a:rPr lang="en-US" dirty="0" smtClean="0">
                <a:latin typeface="Times New Roman" pitchFamily="18" charset="0"/>
                <a:cs typeface="Times New Roman" pitchFamily="18" charset="0"/>
              </a:rPr>
              <a:t>. That is why, only test accuracy is considered.</a:t>
            </a:r>
          </a:p>
          <a:p>
            <a:r>
              <a:rPr lang="en-US" dirty="0" smtClean="0">
                <a:latin typeface="Times New Roman" pitchFamily="18" charset="0"/>
                <a:cs typeface="Times New Roman" pitchFamily="18" charset="0"/>
              </a:rPr>
              <a:t>In the </a:t>
            </a:r>
            <a:r>
              <a:rPr lang="en-US" b="1" dirty="0" smtClean="0">
                <a:latin typeface="Times New Roman" pitchFamily="18" charset="0"/>
                <a:cs typeface="Times New Roman" pitchFamily="18" charset="0"/>
              </a:rPr>
              <a:t>holdout method</a:t>
            </a:r>
            <a:r>
              <a:rPr lang="en-US" dirty="0" smtClean="0">
                <a:latin typeface="Times New Roman" pitchFamily="18" charset="0"/>
                <a:cs typeface="Times New Roman" pitchFamily="18" charset="0"/>
              </a:rPr>
              <a:t>, each data point is used </a:t>
            </a:r>
            <a:r>
              <a:rPr lang="en-US" b="1" dirty="0" smtClean="0">
                <a:latin typeface="Times New Roman" pitchFamily="18" charset="0"/>
                <a:cs typeface="Times New Roman" pitchFamily="18" charset="0"/>
              </a:rPr>
              <a:t>only once</a:t>
            </a:r>
            <a:r>
              <a:rPr lang="en-US" dirty="0" smtClean="0">
                <a:latin typeface="Times New Roman" pitchFamily="18" charset="0"/>
                <a:cs typeface="Times New Roman" pitchFamily="18" charset="0"/>
              </a:rPr>
              <a:t> (either for training or testing).</a:t>
            </a:r>
          </a:p>
          <a:p>
            <a:r>
              <a:rPr lang="en-US" dirty="0" smtClean="0">
                <a:latin typeface="Times New Roman" pitchFamily="18" charset="0"/>
                <a:cs typeface="Times New Roman" pitchFamily="18" charset="0"/>
              </a:rPr>
              <a:t>In </a:t>
            </a:r>
            <a:r>
              <a:rPr lang="en-US" b="1" dirty="0" smtClean="0">
                <a:latin typeface="Times New Roman" pitchFamily="18" charset="0"/>
                <a:cs typeface="Times New Roman" pitchFamily="18" charset="0"/>
              </a:rPr>
              <a:t>bootstrap</a:t>
            </a:r>
            <a:r>
              <a:rPr lang="en-US" dirty="0" smtClean="0">
                <a:latin typeface="Times New Roman" pitchFamily="18" charset="0"/>
                <a:cs typeface="Times New Roman" pitchFamily="18" charset="0"/>
              </a:rPr>
              <a:t>, the same data points are </a:t>
            </a:r>
            <a:r>
              <a:rPr lang="en-US" b="1" dirty="0" smtClean="0">
                <a:latin typeface="Times New Roman" pitchFamily="18" charset="0"/>
                <a:cs typeface="Times New Roman" pitchFamily="18" charset="0"/>
              </a:rPr>
              <a:t>reused</a:t>
            </a:r>
            <a:r>
              <a:rPr lang="en-US" dirty="0" smtClean="0">
                <a:latin typeface="Times New Roman" pitchFamily="18" charset="0"/>
                <a:cs typeface="Times New Roman" pitchFamily="18" charset="0"/>
              </a:rPr>
              <a:t> in different bootstrap samples, so same samples are reused in different test set which can lead to bias in test accuracy.</a:t>
            </a:r>
          </a:p>
          <a:p>
            <a:r>
              <a:rPr lang="en-US" dirty="0" smtClean="0">
                <a:latin typeface="Times New Roman" pitchFamily="18" charset="0"/>
                <a:cs typeface="Times New Roman" pitchFamily="18" charset="0"/>
              </a:rPr>
              <a:t>To correct for this bias, bootstrap uses the </a:t>
            </a:r>
            <a:r>
              <a:rPr lang="en-US" b="1" dirty="0" smtClean="0">
                <a:latin typeface="Times New Roman" pitchFamily="18" charset="0"/>
                <a:cs typeface="Times New Roman" pitchFamily="18" charset="0"/>
              </a:rPr>
              <a:t>0.632 rule</a:t>
            </a:r>
            <a:r>
              <a:rPr lang="en-US" dirty="0" smtClean="0">
                <a:latin typeface="Times New Roman" pitchFamily="18" charset="0"/>
                <a:cs typeface="Times New Roman" pitchFamily="18" charset="0"/>
              </a:rPr>
              <a:t>, incorporating training accuracy to balance the estimate.</a:t>
            </a: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0"/>
          </p:nvPr>
        </p:nvSpPr>
        <p:spPr/>
        <p:txBody>
          <a:bodyPr/>
          <a:lstStyle/>
          <a:p>
            <a:fld id="{D37A8A04-1C0C-4C06-A72C-2BB05733F882}" type="slidenum">
              <a:rPr lang="en-US" smtClean="0"/>
              <a:pPr/>
              <a:t>14</a:t>
            </a:fld>
            <a:endParaRPr lang="en-US"/>
          </a:p>
        </p:txBody>
      </p:sp>
    </p:spTree>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z="2800" dirty="0" smtClean="0"/>
              <a:t>Why used both Training or Test Accuracy?</a:t>
            </a:r>
            <a:endParaRPr lang="en-US" sz="2800"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15</a:t>
            </a:fld>
            <a:endParaRPr lang="en-US"/>
          </a:p>
        </p:txBody>
      </p:sp>
      <p:sp>
        <p:nvSpPr>
          <p:cNvPr id="12" name="Content Placeholder 11"/>
          <p:cNvSpPr>
            <a:spLocks noGrp="1"/>
          </p:cNvSpPr>
          <p:nvPr>
            <p:ph idx="1"/>
          </p:nvPr>
        </p:nvSpPr>
        <p:spPr/>
        <p:txBody>
          <a:bodyPr/>
          <a:lstStyle/>
          <a:p>
            <a:r>
              <a:rPr lang="en-US" dirty="0" smtClean="0"/>
              <a:t>The </a:t>
            </a:r>
            <a:r>
              <a:rPr lang="en-US" b="1" dirty="0" smtClean="0"/>
              <a:t>0.632 accuracy equation</a:t>
            </a:r>
            <a:r>
              <a:rPr lang="en-US" dirty="0" smtClean="0"/>
              <a:t> is used because it balances the </a:t>
            </a:r>
            <a:r>
              <a:rPr lang="en-US" b="1" dirty="0" smtClean="0"/>
              <a:t>bias</a:t>
            </a:r>
            <a:r>
              <a:rPr lang="en-US" dirty="0" smtClean="0"/>
              <a:t> from training accuracy and the </a:t>
            </a:r>
            <a:r>
              <a:rPr lang="en-US" b="1" dirty="0" smtClean="0"/>
              <a:t>variance</a:t>
            </a:r>
            <a:r>
              <a:rPr lang="en-US" dirty="0" smtClean="0"/>
              <a:t> from test accuracy, providing a more reliable estimate of a classifier’s performance.</a:t>
            </a:r>
          </a:p>
          <a:p>
            <a:r>
              <a:rPr lang="en-US" b="1" dirty="0" smtClean="0"/>
              <a:t>Training accuracy (</a:t>
            </a:r>
            <a:r>
              <a:rPr lang="en-US" b="1" dirty="0" err="1" smtClean="0"/>
              <a:t>Accuracy</a:t>
            </a:r>
            <a:r>
              <a:rPr lang="en-US" b="1" baseline="-25000" dirty="0" err="1" smtClean="0"/>
              <a:t>train</a:t>
            </a:r>
            <a:r>
              <a:rPr lang="en-US" b="1" dirty="0" smtClean="0"/>
              <a:t>​)</a:t>
            </a:r>
            <a:r>
              <a:rPr lang="en-US" dirty="0" smtClean="0"/>
              <a:t> is </a:t>
            </a:r>
            <a:r>
              <a:rPr lang="en-US" b="1" dirty="0" smtClean="0"/>
              <a:t>overoptimistic</a:t>
            </a:r>
            <a:r>
              <a:rPr lang="en-US" dirty="0" smtClean="0"/>
              <a:t> because the classifier is tested on the same data it was trained on.</a:t>
            </a:r>
          </a:p>
          <a:p>
            <a:r>
              <a:rPr lang="en-US" b="1" dirty="0" smtClean="0"/>
              <a:t>Test accuracy (</a:t>
            </a:r>
            <a:r>
              <a:rPr lang="en-US" b="1" dirty="0" err="1" smtClean="0"/>
              <a:t>Accuracy</a:t>
            </a:r>
            <a:r>
              <a:rPr lang="en-US" b="1" baseline="-25000" dirty="0" err="1" smtClean="0"/>
              <a:t>test</a:t>
            </a:r>
            <a:r>
              <a:rPr lang="en-US" b="1" dirty="0" smtClean="0"/>
              <a:t>​)</a:t>
            </a:r>
            <a:r>
              <a:rPr lang="en-US" dirty="0" smtClean="0"/>
              <a:t> from test samples is </a:t>
            </a:r>
            <a:r>
              <a:rPr lang="en-US" b="1" dirty="0" smtClean="0"/>
              <a:t>more realistic</a:t>
            </a:r>
            <a:r>
              <a:rPr lang="en-US" dirty="0" smtClean="0"/>
              <a:t> but is based on a </a:t>
            </a:r>
            <a:r>
              <a:rPr lang="en-US" b="1" dirty="0" smtClean="0"/>
              <a:t>subset (36.8%)</a:t>
            </a:r>
            <a:r>
              <a:rPr lang="en-US" dirty="0" smtClean="0"/>
              <a:t> of the data, which introduces higher variance.</a:t>
            </a:r>
          </a:p>
          <a:p>
            <a:r>
              <a:rPr lang="en-US" dirty="0" smtClean="0"/>
              <a:t>Thus, relying on either alone is not ideal.</a:t>
            </a:r>
            <a:endParaRPr lang="en-US" dirty="0"/>
          </a:p>
        </p:txBody>
      </p:sp>
    </p:spTree>
  </p:cSld>
  <p:clrMapOvr>
    <a:masterClrMapping/>
  </p:clrMapOvr>
  <p:transition>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the 0.632 Weight?</a:t>
            </a:r>
            <a:endParaRPr lang="en-US" dirty="0"/>
          </a:p>
        </p:txBody>
      </p:sp>
      <p:sp>
        <p:nvSpPr>
          <p:cNvPr id="3" name="Content Placeholder 2"/>
          <p:cNvSpPr>
            <a:spLocks noGrp="1"/>
          </p:cNvSpPr>
          <p:nvPr>
            <p:ph idx="1"/>
          </p:nvPr>
        </p:nvSpPr>
        <p:spPr/>
        <p:txBody>
          <a:bodyPr/>
          <a:lstStyle/>
          <a:p>
            <a:r>
              <a:rPr lang="en-US" dirty="0" smtClean="0"/>
              <a:t>Since </a:t>
            </a:r>
            <a:r>
              <a:rPr lang="en-US" b="1" dirty="0" smtClean="0"/>
              <a:t>not all data points are used for testing</a:t>
            </a:r>
            <a:r>
              <a:rPr lang="en-US" dirty="0" smtClean="0"/>
              <a:t>, relying only on test accuracy would result in </a:t>
            </a:r>
            <a:r>
              <a:rPr lang="en-US" b="1" dirty="0" smtClean="0"/>
              <a:t>high variance</a:t>
            </a:r>
            <a:r>
              <a:rPr lang="en-US" dirty="0" smtClean="0"/>
              <a:t> due to limited test data.</a:t>
            </a:r>
          </a:p>
          <a:p>
            <a:r>
              <a:rPr lang="en-US" dirty="0" smtClean="0"/>
              <a:t>The training accuracy is considered to </a:t>
            </a:r>
            <a:r>
              <a:rPr lang="en-US" b="1" dirty="0" smtClean="0"/>
              <a:t>compensate for the bias</a:t>
            </a:r>
            <a:r>
              <a:rPr lang="en-US" dirty="0" smtClean="0"/>
              <a:t> in the test accuracy.</a:t>
            </a:r>
          </a:p>
          <a:p>
            <a:r>
              <a:rPr lang="en-US" dirty="0" smtClean="0"/>
              <a:t>To balance the contributions of both training and test accuracy, the equation gives:</a:t>
            </a:r>
          </a:p>
          <a:p>
            <a:pPr lvl="1"/>
            <a:r>
              <a:rPr lang="en-US" b="1" dirty="0" smtClean="0"/>
              <a:t>63.2% weight to the test accuracy</a:t>
            </a:r>
            <a:r>
              <a:rPr lang="en-US" dirty="0" smtClean="0"/>
              <a:t> (since it better estimates generalization performance).</a:t>
            </a:r>
          </a:p>
          <a:p>
            <a:pPr lvl="1"/>
            <a:r>
              <a:rPr lang="en-US" b="1" dirty="0" smtClean="0"/>
              <a:t>36.8% weight to training accuracy</a:t>
            </a:r>
            <a:r>
              <a:rPr lang="en-US" dirty="0" smtClean="0"/>
              <a:t> (to compensate for the reduced training set size in each bootstrap iteration).</a:t>
            </a:r>
            <a:endParaRPr lang="en-US" b="1" dirty="0" smtClean="0"/>
          </a:p>
          <a:p>
            <a:endParaRPr lang="en-US"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16</a:t>
            </a:fld>
            <a:endParaRPr lang="en-US"/>
          </a:p>
        </p:txBody>
      </p:sp>
    </p:spTree>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Bootstrap</a:t>
            </a:r>
            <a:endParaRPr lang="en-US" dirty="0"/>
          </a:p>
        </p:txBody>
      </p:sp>
      <p:sp>
        <p:nvSpPr>
          <p:cNvPr id="3" name="Content Placeholder 2"/>
          <p:cNvSpPr>
            <a:spLocks noGrp="1"/>
          </p:cNvSpPr>
          <p:nvPr>
            <p:ph idx="1"/>
          </p:nvPr>
        </p:nvSpPr>
        <p:spPr/>
        <p:txBody>
          <a:bodyPr/>
          <a:lstStyle/>
          <a:p>
            <a:pPr>
              <a:buNone/>
            </a:pPr>
            <a:r>
              <a:rPr lang="en-US" b="1" dirty="0" smtClean="0"/>
              <a:t>1. Advantages</a:t>
            </a:r>
          </a:p>
          <a:p>
            <a:r>
              <a:rPr lang="en-US" dirty="0" smtClean="0"/>
              <a:t>Reduces the </a:t>
            </a:r>
            <a:r>
              <a:rPr lang="en-US" b="1" dirty="0" err="1" smtClean="0"/>
              <a:t>overfitting</a:t>
            </a:r>
            <a:r>
              <a:rPr lang="en-US" b="1" dirty="0" smtClean="0"/>
              <a:t> bias</a:t>
            </a:r>
            <a:r>
              <a:rPr lang="en-US" dirty="0" smtClean="0"/>
              <a:t> of training accuracy.</a:t>
            </a:r>
          </a:p>
          <a:p>
            <a:r>
              <a:rPr lang="en-US" dirty="0" smtClean="0"/>
              <a:t>Provides a better accuracy estimate compared to simple holdout validation.</a:t>
            </a:r>
          </a:p>
          <a:p>
            <a:r>
              <a:rPr lang="en-US" dirty="0" smtClean="0"/>
              <a:t>More stable than k-fold cross-validation for small datasets.</a:t>
            </a:r>
          </a:p>
          <a:p>
            <a:pPr>
              <a:buNone/>
            </a:pPr>
            <a:r>
              <a:rPr lang="en-IN" dirty="0" smtClean="0"/>
              <a:t>2. </a:t>
            </a:r>
            <a:r>
              <a:rPr lang="en-US" b="1" dirty="0" smtClean="0"/>
              <a:t>Limitations</a:t>
            </a:r>
          </a:p>
          <a:p>
            <a:r>
              <a:rPr lang="en-US" dirty="0" smtClean="0"/>
              <a:t>May still have some bias, especially if the classifier </a:t>
            </a:r>
            <a:r>
              <a:rPr lang="en-US" dirty="0" err="1" smtClean="0"/>
              <a:t>overfits</a:t>
            </a:r>
            <a:r>
              <a:rPr lang="en-US" dirty="0" smtClean="0"/>
              <a:t> to the training data.</a:t>
            </a:r>
          </a:p>
          <a:p>
            <a:r>
              <a:rPr lang="en-US" dirty="0" smtClean="0"/>
              <a:t>Computationally expensive for large datasets, as multiple bootstrap samples are required.</a:t>
            </a:r>
          </a:p>
          <a:p>
            <a:pPr>
              <a:buNone/>
            </a:pPr>
            <a:endParaRPr lang="en-US" dirty="0" smtClean="0"/>
          </a:p>
          <a:p>
            <a:endParaRPr lang="en-US"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17</a:t>
            </a:fld>
            <a:endParaRPr lang="en-US"/>
          </a:p>
        </p:txBody>
      </p:sp>
    </p:spTree>
  </p:cSld>
  <p:clrMapOvr>
    <a:masterClrMapping/>
  </p:clrMapOvr>
  <p:transition>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Cross-validation</a:t>
            </a:r>
            <a:endParaRPr lang="en-US" dirty="0"/>
          </a:p>
        </p:txBody>
      </p:sp>
      <p:sp>
        <p:nvSpPr>
          <p:cNvPr id="3" name="Content Placeholder 2"/>
          <p:cNvSpPr>
            <a:spLocks noGrp="1"/>
          </p:cNvSpPr>
          <p:nvPr>
            <p:ph idx="1"/>
          </p:nvPr>
        </p:nvSpPr>
        <p:spPr/>
        <p:txBody>
          <a:bodyPr/>
          <a:lstStyle/>
          <a:p>
            <a:pPr eaLnBrk="1" hangingPunct="1">
              <a:lnSpc>
                <a:spcPct val="80000"/>
              </a:lnSpc>
            </a:pPr>
            <a:r>
              <a:rPr lang="en-US" sz="2400" b="1" dirty="0" smtClean="0"/>
              <a:t>K-fold Cross-validation</a:t>
            </a:r>
            <a:r>
              <a:rPr lang="en-US" sz="2400" dirty="0" smtClean="0"/>
              <a:t> (</a:t>
            </a:r>
            <a:r>
              <a:rPr lang="en-US" sz="2400" i="1" dirty="0" smtClean="0"/>
              <a:t>k</a:t>
            </a:r>
            <a:r>
              <a:rPr lang="en-US" sz="2400" dirty="0" smtClean="0"/>
              <a:t>-fold, where k = 10 is most popular)</a:t>
            </a:r>
          </a:p>
          <a:p>
            <a:pPr lvl="1" eaLnBrk="1" hangingPunct="1">
              <a:lnSpc>
                <a:spcPct val="80000"/>
              </a:lnSpc>
            </a:pPr>
            <a:r>
              <a:rPr lang="en-US" sz="2400" dirty="0" smtClean="0"/>
              <a:t>Randomly partition the data into </a:t>
            </a:r>
            <a:r>
              <a:rPr lang="en-US" sz="2400" i="1" dirty="0" smtClean="0"/>
              <a:t>k</a:t>
            </a:r>
            <a:r>
              <a:rPr lang="en-US" sz="2400" dirty="0" smtClean="0"/>
              <a:t> </a:t>
            </a:r>
            <a:r>
              <a:rPr lang="en-US" sz="2400" i="1" dirty="0" smtClean="0"/>
              <a:t>mutually exclusive</a:t>
            </a:r>
            <a:r>
              <a:rPr lang="en-US" sz="2400" dirty="0" smtClean="0"/>
              <a:t> subsets, each approximately equal size</a:t>
            </a:r>
          </a:p>
          <a:p>
            <a:pPr lvl="1" eaLnBrk="1" hangingPunct="1">
              <a:lnSpc>
                <a:spcPct val="80000"/>
              </a:lnSpc>
            </a:pPr>
            <a:r>
              <a:rPr lang="en-US" sz="2400" dirty="0" smtClean="0"/>
              <a:t>At </a:t>
            </a:r>
            <a:r>
              <a:rPr lang="en-US" sz="2400" i="1" dirty="0" err="1" smtClean="0"/>
              <a:t>i</a:t>
            </a:r>
            <a:r>
              <a:rPr lang="en-US" sz="2400" dirty="0" err="1" smtClean="0"/>
              <a:t>-th</a:t>
            </a:r>
            <a:r>
              <a:rPr lang="en-US" sz="2400" dirty="0" smtClean="0"/>
              <a:t> iteration, use D</a:t>
            </a:r>
            <a:r>
              <a:rPr lang="en-US" sz="2400" baseline="-25000" dirty="0" smtClean="0"/>
              <a:t>i </a:t>
            </a:r>
            <a:r>
              <a:rPr lang="en-US" sz="2400" dirty="0" smtClean="0"/>
              <a:t>as test set and others as training set</a:t>
            </a:r>
          </a:p>
          <a:p>
            <a:pPr lvl="1" eaLnBrk="1" hangingPunct="1">
              <a:lnSpc>
                <a:spcPct val="80000"/>
              </a:lnSpc>
            </a:pPr>
            <a:r>
              <a:rPr lang="en-US" sz="2400" u="sng" dirty="0" smtClean="0"/>
              <a:t>Leave-one-out</a:t>
            </a:r>
            <a:r>
              <a:rPr lang="en-US" sz="2400" dirty="0" smtClean="0"/>
              <a:t>: </a:t>
            </a:r>
            <a:r>
              <a:rPr lang="en-US" sz="2400" i="1" dirty="0" smtClean="0"/>
              <a:t>k</a:t>
            </a:r>
            <a:r>
              <a:rPr lang="en-US" sz="2400" dirty="0" smtClean="0"/>
              <a:t> folds where </a:t>
            </a:r>
            <a:r>
              <a:rPr lang="en-US" sz="2400" i="1" dirty="0" smtClean="0"/>
              <a:t>k</a:t>
            </a:r>
            <a:r>
              <a:rPr lang="en-US" sz="2400" dirty="0" smtClean="0"/>
              <a:t> = # of </a:t>
            </a:r>
            <a:r>
              <a:rPr lang="en-US" sz="2400" dirty="0" err="1" smtClean="0"/>
              <a:t>tuples</a:t>
            </a:r>
            <a:r>
              <a:rPr lang="en-US" sz="2400" dirty="0" smtClean="0"/>
              <a:t>, for small sized data</a:t>
            </a:r>
          </a:p>
        </p:txBody>
      </p:sp>
      <p:sp>
        <p:nvSpPr>
          <p:cNvPr id="4" name="Slide Number Placeholder 3"/>
          <p:cNvSpPr>
            <a:spLocks noGrp="1"/>
          </p:cNvSpPr>
          <p:nvPr>
            <p:ph type="sldNum" sz="quarter" idx="10"/>
          </p:nvPr>
        </p:nvSpPr>
        <p:spPr/>
        <p:txBody>
          <a:bodyPr/>
          <a:lstStyle/>
          <a:p>
            <a:fld id="{D37A8A04-1C0C-4C06-A72C-2BB05733F882}" type="slidenum">
              <a:rPr lang="en-US" smtClean="0"/>
              <a:pPr/>
              <a:t>18</a:t>
            </a:fld>
            <a:endParaRPr lang="en-US"/>
          </a:p>
        </p:txBody>
      </p:sp>
      <p:grpSp>
        <p:nvGrpSpPr>
          <p:cNvPr id="58" name="Group 57"/>
          <p:cNvGrpSpPr/>
          <p:nvPr/>
        </p:nvGrpSpPr>
        <p:grpSpPr>
          <a:xfrm>
            <a:off x="1143000" y="3581400"/>
            <a:ext cx="7086600" cy="2590800"/>
            <a:chOff x="1371600" y="2590800"/>
            <a:chExt cx="7086600" cy="2590800"/>
          </a:xfrm>
        </p:grpSpPr>
        <p:sp>
          <p:nvSpPr>
            <p:cNvPr id="59" name="Rounded Rectangle 58"/>
            <p:cNvSpPr/>
            <p:nvPr/>
          </p:nvSpPr>
          <p:spPr>
            <a:xfrm>
              <a:off x="6477000" y="2590800"/>
              <a:ext cx="1981200" cy="838200"/>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Testing</a:t>
              </a:r>
            </a:p>
          </p:txBody>
        </p:sp>
        <p:sp>
          <p:nvSpPr>
            <p:cNvPr id="60" name="Rounded Rectangle 59"/>
            <p:cNvSpPr/>
            <p:nvPr/>
          </p:nvSpPr>
          <p:spPr>
            <a:xfrm>
              <a:off x="6456363" y="3478213"/>
              <a:ext cx="1981200" cy="838200"/>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Training</a:t>
              </a:r>
            </a:p>
          </p:txBody>
        </p:sp>
        <p:sp>
          <p:nvSpPr>
            <p:cNvPr id="61" name="Rounded Rectangle 60"/>
            <p:cNvSpPr/>
            <p:nvPr/>
          </p:nvSpPr>
          <p:spPr>
            <a:xfrm>
              <a:off x="6442075" y="4343400"/>
              <a:ext cx="1981200" cy="838200"/>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Training</a:t>
              </a:r>
            </a:p>
          </p:txBody>
        </p:sp>
        <p:sp>
          <p:nvSpPr>
            <p:cNvPr id="62" name="Rounded Rectangle 61"/>
            <p:cNvSpPr/>
            <p:nvPr/>
          </p:nvSpPr>
          <p:spPr>
            <a:xfrm>
              <a:off x="1371600" y="4343400"/>
              <a:ext cx="1981200" cy="838200"/>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Testing</a:t>
              </a:r>
            </a:p>
          </p:txBody>
        </p:sp>
        <p:sp>
          <p:nvSpPr>
            <p:cNvPr id="63" name="Rounded Rectangle 62"/>
            <p:cNvSpPr/>
            <p:nvPr/>
          </p:nvSpPr>
          <p:spPr>
            <a:xfrm>
              <a:off x="3844925" y="2590800"/>
              <a:ext cx="1981200" cy="838200"/>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Training</a:t>
              </a:r>
            </a:p>
          </p:txBody>
        </p:sp>
        <p:sp>
          <p:nvSpPr>
            <p:cNvPr id="64" name="Rounded Rectangle 63"/>
            <p:cNvSpPr/>
            <p:nvPr/>
          </p:nvSpPr>
          <p:spPr>
            <a:xfrm>
              <a:off x="3824288" y="3478213"/>
              <a:ext cx="1981200" cy="838200"/>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Testing</a:t>
              </a:r>
            </a:p>
          </p:txBody>
        </p:sp>
        <p:sp>
          <p:nvSpPr>
            <p:cNvPr id="65" name="Rounded Rectangle 64"/>
            <p:cNvSpPr/>
            <p:nvPr/>
          </p:nvSpPr>
          <p:spPr>
            <a:xfrm>
              <a:off x="3810000" y="4343400"/>
              <a:ext cx="1981200" cy="838200"/>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Training</a:t>
              </a:r>
            </a:p>
          </p:txBody>
        </p:sp>
        <p:sp>
          <p:nvSpPr>
            <p:cNvPr id="66" name="Rounded Rectangle 65"/>
            <p:cNvSpPr/>
            <p:nvPr/>
          </p:nvSpPr>
          <p:spPr>
            <a:xfrm>
              <a:off x="1468437" y="2617787"/>
              <a:ext cx="1981200" cy="838200"/>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Training</a:t>
              </a:r>
            </a:p>
          </p:txBody>
        </p:sp>
        <p:sp>
          <p:nvSpPr>
            <p:cNvPr id="67" name="Rounded Rectangle 66"/>
            <p:cNvSpPr/>
            <p:nvPr/>
          </p:nvSpPr>
          <p:spPr>
            <a:xfrm>
              <a:off x="1447800" y="3505200"/>
              <a:ext cx="1981200" cy="838200"/>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Training</a:t>
              </a:r>
            </a:p>
          </p:txBody>
        </p:sp>
      </p:grpSp>
      <p:sp>
        <p:nvSpPr>
          <p:cNvPr id="68" name="Rectangle 67"/>
          <p:cNvSpPr/>
          <p:nvPr/>
        </p:nvSpPr>
        <p:spPr>
          <a:xfrm>
            <a:off x="2308944" y="3167390"/>
            <a:ext cx="3532698" cy="400110"/>
          </a:xfrm>
          <a:prstGeom prst="rect">
            <a:avLst/>
          </a:prstGeom>
        </p:spPr>
        <p:txBody>
          <a:bodyPr wrap="none">
            <a:spAutoFit/>
          </a:bodyPr>
          <a:lstStyle/>
          <a:p>
            <a:pPr lvl="2" indent="-282575" eaLnBrk="1" hangingPunct="1"/>
            <a:r>
              <a:rPr lang="en-US" sz="2000" dirty="0" smtClean="0">
                <a:latin typeface="Calibri" charset="0"/>
              </a:rPr>
              <a:t>Cross validation with k = 3</a:t>
            </a:r>
            <a:endParaRPr lang="en-US" sz="2000" dirty="0">
              <a:latin typeface="Calibri" charset="0"/>
            </a:endParaRPr>
          </a:p>
        </p:txBody>
      </p:sp>
    </p:spTree>
  </p:cSld>
  <p:clrMapOvr>
    <a:masterClrMapping/>
  </p:clrMapOvr>
  <p:transition>
    <p:zo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Cross-validation</a:t>
            </a:r>
            <a:endParaRPr lang="en-US" dirty="0"/>
          </a:p>
        </p:txBody>
      </p:sp>
      <p:sp>
        <p:nvSpPr>
          <p:cNvPr id="3" name="Content Placeholder 2"/>
          <p:cNvSpPr>
            <a:spLocks noGrp="1"/>
          </p:cNvSpPr>
          <p:nvPr>
            <p:ph idx="1"/>
          </p:nvPr>
        </p:nvSpPr>
        <p:spPr>
          <a:xfrm>
            <a:off x="304800" y="1219200"/>
            <a:ext cx="8458200" cy="1371600"/>
          </a:xfrm>
        </p:spPr>
        <p:txBody>
          <a:bodyPr/>
          <a:lstStyle/>
          <a:p>
            <a:pPr lvl="1" eaLnBrk="1" hangingPunct="1">
              <a:lnSpc>
                <a:spcPct val="80000"/>
              </a:lnSpc>
            </a:pPr>
            <a:r>
              <a:rPr lang="en-US" b="1" u="sng" dirty="0" smtClean="0"/>
              <a:t>Stratified cross-validation</a:t>
            </a:r>
            <a:r>
              <a:rPr lang="en-US" dirty="0" smtClean="0"/>
              <a:t>: folds are stratified so that class distribution in each fold is approximately the same as that in the initial data</a:t>
            </a:r>
            <a:endParaRPr lang="en-US"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19</a:t>
            </a:fld>
            <a:endParaRPr lang="en-US"/>
          </a:p>
        </p:txBody>
      </p:sp>
      <p:grpSp>
        <p:nvGrpSpPr>
          <p:cNvPr id="5" name="Group 4"/>
          <p:cNvGrpSpPr>
            <a:grpSpLocks/>
          </p:cNvGrpSpPr>
          <p:nvPr/>
        </p:nvGrpSpPr>
        <p:grpSpPr bwMode="auto">
          <a:xfrm>
            <a:off x="1523999" y="2743200"/>
            <a:ext cx="2362201" cy="1854200"/>
            <a:chOff x="328" y="1700"/>
            <a:chExt cx="2362" cy="2108"/>
          </a:xfrm>
        </p:grpSpPr>
        <p:sp>
          <p:nvSpPr>
            <p:cNvPr id="6" name="AutoShape 5"/>
            <p:cNvSpPr>
              <a:spLocks noChangeArrowheads="1"/>
            </p:cNvSpPr>
            <p:nvPr/>
          </p:nvSpPr>
          <p:spPr bwMode="auto">
            <a:xfrm>
              <a:off x="328" y="1700"/>
              <a:ext cx="2363" cy="2109"/>
            </a:xfrm>
            <a:prstGeom prst="roundRect">
              <a:avLst>
                <a:gd name="adj" fmla="val 46"/>
              </a:avLst>
            </a:prstGeom>
            <a:noFill/>
            <a:ln w="9360">
              <a:solidFill>
                <a:srgbClr val="000000"/>
              </a:solidFill>
              <a:round/>
              <a:headEnd/>
              <a:tailEnd/>
            </a:ln>
          </p:spPr>
          <p:txBody>
            <a:bodyPr wrap="none" anchor="ctr"/>
            <a:lstStyle/>
            <a:p>
              <a:endParaRPr lang="en-US"/>
            </a:p>
          </p:txBody>
        </p:sp>
        <p:sp>
          <p:nvSpPr>
            <p:cNvPr id="7" name="Freeform 6"/>
            <p:cNvSpPr>
              <a:spLocks noChangeArrowheads="1"/>
            </p:cNvSpPr>
            <p:nvPr/>
          </p:nvSpPr>
          <p:spPr bwMode="auto">
            <a:xfrm>
              <a:off x="1663" y="2275"/>
              <a:ext cx="56" cy="75"/>
            </a:xfrm>
            <a:custGeom>
              <a:avLst/>
              <a:gdLst>
                <a:gd name="T0" fmla="*/ 0 w 248"/>
                <a:gd name="T1" fmla="*/ 0 h 331"/>
                <a:gd name="T2" fmla="*/ 0 w 248"/>
                <a:gd name="T3" fmla="*/ 0 h 331"/>
                <a:gd name="T4" fmla="*/ 0 w 248"/>
                <a:gd name="T5" fmla="*/ 0 h 331"/>
                <a:gd name="T6" fmla="*/ 0 w 248"/>
                <a:gd name="T7" fmla="*/ 0 h 331"/>
                <a:gd name="T8" fmla="*/ 0 w 248"/>
                <a:gd name="T9" fmla="*/ 0 h 331"/>
                <a:gd name="T10" fmla="*/ 0 w 248"/>
                <a:gd name="T11" fmla="*/ 0 h 331"/>
                <a:gd name="T12" fmla="*/ 0 60000 65536"/>
                <a:gd name="T13" fmla="*/ 0 60000 65536"/>
                <a:gd name="T14" fmla="*/ 0 60000 65536"/>
                <a:gd name="T15" fmla="*/ 0 60000 65536"/>
                <a:gd name="T16" fmla="*/ 0 60000 65536"/>
                <a:gd name="T17" fmla="*/ 0 60000 65536"/>
                <a:gd name="T18" fmla="*/ 0 w 248"/>
                <a:gd name="T19" fmla="*/ 0 h 331"/>
                <a:gd name="T20" fmla="*/ 248 w 248"/>
                <a:gd name="T21" fmla="*/ 331 h 331"/>
              </a:gdLst>
              <a:ahLst/>
              <a:cxnLst>
                <a:cxn ang="T12">
                  <a:pos x="T0" y="T1"/>
                </a:cxn>
                <a:cxn ang="T13">
                  <a:pos x="T2" y="T3"/>
                </a:cxn>
                <a:cxn ang="T14">
                  <a:pos x="T4" y="T5"/>
                </a:cxn>
                <a:cxn ang="T15">
                  <a:pos x="T6" y="T7"/>
                </a:cxn>
                <a:cxn ang="T16">
                  <a:pos x="T8" y="T9"/>
                </a:cxn>
                <a:cxn ang="T17">
                  <a:pos x="T10" y="T11"/>
                </a:cxn>
              </a:cxnLst>
              <a:rect l="T18" t="T19" r="T20" b="T21"/>
              <a:pathLst>
                <a:path w="248" h="331">
                  <a:moveTo>
                    <a:pt x="123" y="0"/>
                  </a:moveTo>
                  <a:cubicBezTo>
                    <a:pt x="193" y="0"/>
                    <a:pt x="247" y="72"/>
                    <a:pt x="247" y="165"/>
                  </a:cubicBezTo>
                  <a:cubicBezTo>
                    <a:pt x="247" y="258"/>
                    <a:pt x="193" y="330"/>
                    <a:pt x="123" y="330"/>
                  </a:cubicBezTo>
                  <a:cubicBezTo>
                    <a:pt x="53" y="330"/>
                    <a:pt x="0" y="258"/>
                    <a:pt x="0" y="165"/>
                  </a:cubicBezTo>
                  <a:cubicBezTo>
                    <a:pt x="0" y="72"/>
                    <a:pt x="53" y="0"/>
                    <a:pt x="123" y="0"/>
                  </a:cubicBezTo>
                </a:path>
              </a:pathLst>
            </a:custGeom>
            <a:solidFill>
              <a:srgbClr val="FFFFFF"/>
            </a:solidFill>
            <a:ln w="9360">
              <a:solidFill>
                <a:srgbClr val="000000"/>
              </a:solidFill>
              <a:round/>
              <a:headEnd/>
              <a:tailEnd/>
            </a:ln>
          </p:spPr>
          <p:txBody>
            <a:bodyPr wrap="none" anchor="ctr"/>
            <a:lstStyle/>
            <a:p>
              <a:endParaRPr lang="en-US"/>
            </a:p>
          </p:txBody>
        </p:sp>
        <p:sp>
          <p:nvSpPr>
            <p:cNvPr id="8" name="Freeform 7"/>
            <p:cNvSpPr>
              <a:spLocks noChangeArrowheads="1"/>
            </p:cNvSpPr>
            <p:nvPr/>
          </p:nvSpPr>
          <p:spPr bwMode="auto">
            <a:xfrm>
              <a:off x="1620" y="2598"/>
              <a:ext cx="56" cy="76"/>
            </a:xfrm>
            <a:custGeom>
              <a:avLst/>
              <a:gdLst>
                <a:gd name="T0" fmla="*/ 0 w 248"/>
                <a:gd name="T1" fmla="*/ 0 h 333"/>
                <a:gd name="T2" fmla="*/ 0 w 248"/>
                <a:gd name="T3" fmla="*/ 0 h 333"/>
                <a:gd name="T4" fmla="*/ 0 w 248"/>
                <a:gd name="T5" fmla="*/ 0 h 333"/>
                <a:gd name="T6" fmla="*/ 0 w 248"/>
                <a:gd name="T7" fmla="*/ 0 h 333"/>
                <a:gd name="T8" fmla="*/ 0 w 248"/>
                <a:gd name="T9" fmla="*/ 0 h 333"/>
                <a:gd name="T10" fmla="*/ 0 w 248"/>
                <a:gd name="T11" fmla="*/ 0 h 333"/>
                <a:gd name="T12" fmla="*/ 0 60000 65536"/>
                <a:gd name="T13" fmla="*/ 0 60000 65536"/>
                <a:gd name="T14" fmla="*/ 0 60000 65536"/>
                <a:gd name="T15" fmla="*/ 0 60000 65536"/>
                <a:gd name="T16" fmla="*/ 0 60000 65536"/>
                <a:gd name="T17" fmla="*/ 0 60000 65536"/>
                <a:gd name="T18" fmla="*/ 0 w 248"/>
                <a:gd name="T19" fmla="*/ 0 h 333"/>
                <a:gd name="T20" fmla="*/ 248 w 248"/>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48" h="333">
                  <a:moveTo>
                    <a:pt x="123" y="0"/>
                  </a:moveTo>
                  <a:cubicBezTo>
                    <a:pt x="193" y="0"/>
                    <a:pt x="247" y="72"/>
                    <a:pt x="247" y="166"/>
                  </a:cubicBezTo>
                  <a:cubicBezTo>
                    <a:pt x="247" y="260"/>
                    <a:pt x="193" y="332"/>
                    <a:pt x="123" y="332"/>
                  </a:cubicBezTo>
                  <a:cubicBezTo>
                    <a:pt x="53" y="332"/>
                    <a:pt x="0" y="260"/>
                    <a:pt x="0" y="166"/>
                  </a:cubicBezTo>
                  <a:cubicBezTo>
                    <a:pt x="0" y="72"/>
                    <a:pt x="53" y="0"/>
                    <a:pt x="123" y="0"/>
                  </a:cubicBezTo>
                </a:path>
              </a:pathLst>
            </a:custGeom>
            <a:solidFill>
              <a:srgbClr val="FFFFFF"/>
            </a:solidFill>
            <a:ln w="9360">
              <a:solidFill>
                <a:srgbClr val="000000"/>
              </a:solidFill>
              <a:round/>
              <a:headEnd/>
              <a:tailEnd/>
            </a:ln>
          </p:spPr>
          <p:txBody>
            <a:bodyPr wrap="none" anchor="ctr"/>
            <a:lstStyle/>
            <a:p>
              <a:endParaRPr lang="en-US"/>
            </a:p>
          </p:txBody>
        </p:sp>
        <p:sp>
          <p:nvSpPr>
            <p:cNvPr id="9" name="Freeform 8"/>
            <p:cNvSpPr>
              <a:spLocks noChangeArrowheads="1"/>
            </p:cNvSpPr>
            <p:nvPr/>
          </p:nvSpPr>
          <p:spPr bwMode="auto">
            <a:xfrm>
              <a:off x="1765" y="2416"/>
              <a:ext cx="56" cy="76"/>
            </a:xfrm>
            <a:custGeom>
              <a:avLst/>
              <a:gdLst>
                <a:gd name="T0" fmla="*/ 0 w 248"/>
                <a:gd name="T1" fmla="*/ 0 h 333"/>
                <a:gd name="T2" fmla="*/ 0 w 248"/>
                <a:gd name="T3" fmla="*/ 0 h 333"/>
                <a:gd name="T4" fmla="*/ 0 w 248"/>
                <a:gd name="T5" fmla="*/ 0 h 333"/>
                <a:gd name="T6" fmla="*/ 0 w 248"/>
                <a:gd name="T7" fmla="*/ 0 h 333"/>
                <a:gd name="T8" fmla="*/ 0 w 248"/>
                <a:gd name="T9" fmla="*/ 0 h 333"/>
                <a:gd name="T10" fmla="*/ 0 w 248"/>
                <a:gd name="T11" fmla="*/ 0 h 333"/>
                <a:gd name="T12" fmla="*/ 0 60000 65536"/>
                <a:gd name="T13" fmla="*/ 0 60000 65536"/>
                <a:gd name="T14" fmla="*/ 0 60000 65536"/>
                <a:gd name="T15" fmla="*/ 0 60000 65536"/>
                <a:gd name="T16" fmla="*/ 0 60000 65536"/>
                <a:gd name="T17" fmla="*/ 0 60000 65536"/>
                <a:gd name="T18" fmla="*/ 0 w 248"/>
                <a:gd name="T19" fmla="*/ 0 h 333"/>
                <a:gd name="T20" fmla="*/ 248 w 248"/>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48" h="333">
                  <a:moveTo>
                    <a:pt x="123" y="0"/>
                  </a:moveTo>
                  <a:cubicBezTo>
                    <a:pt x="193" y="0"/>
                    <a:pt x="247" y="72"/>
                    <a:pt x="247" y="166"/>
                  </a:cubicBezTo>
                  <a:cubicBezTo>
                    <a:pt x="247" y="260"/>
                    <a:pt x="193" y="332"/>
                    <a:pt x="123" y="332"/>
                  </a:cubicBezTo>
                  <a:cubicBezTo>
                    <a:pt x="53" y="332"/>
                    <a:pt x="0" y="260"/>
                    <a:pt x="0" y="166"/>
                  </a:cubicBezTo>
                  <a:cubicBezTo>
                    <a:pt x="0" y="72"/>
                    <a:pt x="53" y="0"/>
                    <a:pt x="123" y="0"/>
                  </a:cubicBezTo>
                </a:path>
              </a:pathLst>
            </a:custGeom>
            <a:solidFill>
              <a:srgbClr val="FFFFFF"/>
            </a:solidFill>
            <a:ln w="9360">
              <a:solidFill>
                <a:srgbClr val="000000"/>
              </a:solidFill>
              <a:round/>
              <a:headEnd/>
              <a:tailEnd/>
            </a:ln>
          </p:spPr>
          <p:txBody>
            <a:bodyPr wrap="none" anchor="ctr"/>
            <a:lstStyle/>
            <a:p>
              <a:endParaRPr lang="en-US"/>
            </a:p>
          </p:txBody>
        </p:sp>
        <p:sp>
          <p:nvSpPr>
            <p:cNvPr id="10" name="Freeform 9"/>
            <p:cNvSpPr>
              <a:spLocks noChangeArrowheads="1"/>
            </p:cNvSpPr>
            <p:nvPr/>
          </p:nvSpPr>
          <p:spPr bwMode="auto">
            <a:xfrm>
              <a:off x="1564" y="2450"/>
              <a:ext cx="56" cy="76"/>
            </a:xfrm>
            <a:custGeom>
              <a:avLst/>
              <a:gdLst>
                <a:gd name="T0" fmla="*/ 0 w 248"/>
                <a:gd name="T1" fmla="*/ 0 h 333"/>
                <a:gd name="T2" fmla="*/ 0 w 248"/>
                <a:gd name="T3" fmla="*/ 0 h 333"/>
                <a:gd name="T4" fmla="*/ 0 w 248"/>
                <a:gd name="T5" fmla="*/ 0 h 333"/>
                <a:gd name="T6" fmla="*/ 0 w 248"/>
                <a:gd name="T7" fmla="*/ 0 h 333"/>
                <a:gd name="T8" fmla="*/ 0 w 248"/>
                <a:gd name="T9" fmla="*/ 0 h 333"/>
                <a:gd name="T10" fmla="*/ 0 w 248"/>
                <a:gd name="T11" fmla="*/ 0 h 333"/>
                <a:gd name="T12" fmla="*/ 0 60000 65536"/>
                <a:gd name="T13" fmla="*/ 0 60000 65536"/>
                <a:gd name="T14" fmla="*/ 0 60000 65536"/>
                <a:gd name="T15" fmla="*/ 0 60000 65536"/>
                <a:gd name="T16" fmla="*/ 0 60000 65536"/>
                <a:gd name="T17" fmla="*/ 0 60000 65536"/>
                <a:gd name="T18" fmla="*/ 0 w 248"/>
                <a:gd name="T19" fmla="*/ 0 h 333"/>
                <a:gd name="T20" fmla="*/ 248 w 248"/>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48" h="333">
                  <a:moveTo>
                    <a:pt x="123" y="0"/>
                  </a:moveTo>
                  <a:cubicBezTo>
                    <a:pt x="193" y="0"/>
                    <a:pt x="247" y="72"/>
                    <a:pt x="247" y="166"/>
                  </a:cubicBezTo>
                  <a:cubicBezTo>
                    <a:pt x="247" y="260"/>
                    <a:pt x="193" y="332"/>
                    <a:pt x="123" y="332"/>
                  </a:cubicBezTo>
                  <a:cubicBezTo>
                    <a:pt x="53" y="332"/>
                    <a:pt x="0" y="260"/>
                    <a:pt x="0" y="166"/>
                  </a:cubicBezTo>
                  <a:cubicBezTo>
                    <a:pt x="0" y="72"/>
                    <a:pt x="53" y="0"/>
                    <a:pt x="123" y="0"/>
                  </a:cubicBezTo>
                </a:path>
              </a:pathLst>
            </a:custGeom>
            <a:solidFill>
              <a:srgbClr val="FFFFFF"/>
            </a:solidFill>
            <a:ln w="9360">
              <a:solidFill>
                <a:srgbClr val="000000"/>
              </a:solidFill>
              <a:round/>
              <a:headEnd/>
              <a:tailEnd/>
            </a:ln>
          </p:spPr>
          <p:txBody>
            <a:bodyPr wrap="none" anchor="ctr"/>
            <a:lstStyle/>
            <a:p>
              <a:endParaRPr lang="en-US"/>
            </a:p>
          </p:txBody>
        </p:sp>
        <p:sp>
          <p:nvSpPr>
            <p:cNvPr id="11" name="Freeform 10"/>
            <p:cNvSpPr>
              <a:spLocks noChangeArrowheads="1"/>
            </p:cNvSpPr>
            <p:nvPr/>
          </p:nvSpPr>
          <p:spPr bwMode="auto">
            <a:xfrm>
              <a:off x="1998" y="2477"/>
              <a:ext cx="56" cy="75"/>
            </a:xfrm>
            <a:custGeom>
              <a:avLst/>
              <a:gdLst>
                <a:gd name="T0" fmla="*/ 0 w 248"/>
                <a:gd name="T1" fmla="*/ 0 h 329"/>
                <a:gd name="T2" fmla="*/ 0 w 248"/>
                <a:gd name="T3" fmla="*/ 0 h 329"/>
                <a:gd name="T4" fmla="*/ 0 w 248"/>
                <a:gd name="T5" fmla="*/ 0 h 329"/>
                <a:gd name="T6" fmla="*/ 0 w 248"/>
                <a:gd name="T7" fmla="*/ 0 h 329"/>
                <a:gd name="T8" fmla="*/ 0 w 248"/>
                <a:gd name="T9" fmla="*/ 0 h 329"/>
                <a:gd name="T10" fmla="*/ 0 w 248"/>
                <a:gd name="T11" fmla="*/ 0 h 329"/>
                <a:gd name="T12" fmla="*/ 0 60000 65536"/>
                <a:gd name="T13" fmla="*/ 0 60000 65536"/>
                <a:gd name="T14" fmla="*/ 0 60000 65536"/>
                <a:gd name="T15" fmla="*/ 0 60000 65536"/>
                <a:gd name="T16" fmla="*/ 0 60000 65536"/>
                <a:gd name="T17" fmla="*/ 0 60000 65536"/>
                <a:gd name="T18" fmla="*/ 0 w 248"/>
                <a:gd name="T19" fmla="*/ 0 h 329"/>
                <a:gd name="T20" fmla="*/ 248 w 248"/>
                <a:gd name="T21" fmla="*/ 329 h 329"/>
              </a:gdLst>
              <a:ahLst/>
              <a:cxnLst>
                <a:cxn ang="T12">
                  <a:pos x="T0" y="T1"/>
                </a:cxn>
                <a:cxn ang="T13">
                  <a:pos x="T2" y="T3"/>
                </a:cxn>
                <a:cxn ang="T14">
                  <a:pos x="T4" y="T5"/>
                </a:cxn>
                <a:cxn ang="T15">
                  <a:pos x="T6" y="T7"/>
                </a:cxn>
                <a:cxn ang="T16">
                  <a:pos x="T8" y="T9"/>
                </a:cxn>
                <a:cxn ang="T17">
                  <a:pos x="T10" y="T11"/>
                </a:cxn>
              </a:cxnLst>
              <a:rect l="T18" t="T19" r="T20" b="T21"/>
              <a:pathLst>
                <a:path w="248" h="329">
                  <a:moveTo>
                    <a:pt x="123" y="0"/>
                  </a:moveTo>
                  <a:cubicBezTo>
                    <a:pt x="193" y="0"/>
                    <a:pt x="247" y="71"/>
                    <a:pt x="247" y="164"/>
                  </a:cubicBezTo>
                  <a:cubicBezTo>
                    <a:pt x="247" y="257"/>
                    <a:pt x="193" y="328"/>
                    <a:pt x="123" y="328"/>
                  </a:cubicBezTo>
                  <a:cubicBezTo>
                    <a:pt x="53" y="328"/>
                    <a:pt x="0" y="257"/>
                    <a:pt x="0" y="164"/>
                  </a:cubicBezTo>
                  <a:cubicBezTo>
                    <a:pt x="0" y="71"/>
                    <a:pt x="53" y="0"/>
                    <a:pt x="123" y="0"/>
                  </a:cubicBezTo>
                </a:path>
              </a:pathLst>
            </a:custGeom>
            <a:solidFill>
              <a:srgbClr val="FFFFFF"/>
            </a:solidFill>
            <a:ln w="9360">
              <a:solidFill>
                <a:srgbClr val="000000"/>
              </a:solidFill>
              <a:round/>
              <a:headEnd/>
              <a:tailEnd/>
            </a:ln>
          </p:spPr>
          <p:txBody>
            <a:bodyPr wrap="none" anchor="ctr"/>
            <a:lstStyle/>
            <a:p>
              <a:endParaRPr lang="en-US"/>
            </a:p>
          </p:txBody>
        </p:sp>
        <p:sp>
          <p:nvSpPr>
            <p:cNvPr id="12" name="Freeform 11"/>
            <p:cNvSpPr>
              <a:spLocks noChangeArrowheads="1"/>
            </p:cNvSpPr>
            <p:nvPr/>
          </p:nvSpPr>
          <p:spPr bwMode="auto">
            <a:xfrm>
              <a:off x="1928" y="2636"/>
              <a:ext cx="56" cy="76"/>
            </a:xfrm>
            <a:custGeom>
              <a:avLst/>
              <a:gdLst>
                <a:gd name="T0" fmla="*/ 0 w 248"/>
                <a:gd name="T1" fmla="*/ 0 h 333"/>
                <a:gd name="T2" fmla="*/ 0 w 248"/>
                <a:gd name="T3" fmla="*/ 0 h 333"/>
                <a:gd name="T4" fmla="*/ 0 w 248"/>
                <a:gd name="T5" fmla="*/ 0 h 333"/>
                <a:gd name="T6" fmla="*/ 0 w 248"/>
                <a:gd name="T7" fmla="*/ 0 h 333"/>
                <a:gd name="T8" fmla="*/ 0 w 248"/>
                <a:gd name="T9" fmla="*/ 0 h 333"/>
                <a:gd name="T10" fmla="*/ 0 w 248"/>
                <a:gd name="T11" fmla="*/ 0 h 333"/>
                <a:gd name="T12" fmla="*/ 0 60000 65536"/>
                <a:gd name="T13" fmla="*/ 0 60000 65536"/>
                <a:gd name="T14" fmla="*/ 0 60000 65536"/>
                <a:gd name="T15" fmla="*/ 0 60000 65536"/>
                <a:gd name="T16" fmla="*/ 0 60000 65536"/>
                <a:gd name="T17" fmla="*/ 0 60000 65536"/>
                <a:gd name="T18" fmla="*/ 0 w 248"/>
                <a:gd name="T19" fmla="*/ 0 h 333"/>
                <a:gd name="T20" fmla="*/ 248 w 248"/>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48" h="333">
                  <a:moveTo>
                    <a:pt x="123" y="0"/>
                  </a:moveTo>
                  <a:cubicBezTo>
                    <a:pt x="193" y="0"/>
                    <a:pt x="247" y="72"/>
                    <a:pt x="247" y="166"/>
                  </a:cubicBezTo>
                  <a:cubicBezTo>
                    <a:pt x="247" y="260"/>
                    <a:pt x="193" y="332"/>
                    <a:pt x="123" y="332"/>
                  </a:cubicBezTo>
                  <a:cubicBezTo>
                    <a:pt x="53" y="332"/>
                    <a:pt x="0" y="260"/>
                    <a:pt x="0" y="166"/>
                  </a:cubicBezTo>
                  <a:cubicBezTo>
                    <a:pt x="0" y="72"/>
                    <a:pt x="53" y="0"/>
                    <a:pt x="123" y="0"/>
                  </a:cubicBezTo>
                </a:path>
              </a:pathLst>
            </a:custGeom>
            <a:solidFill>
              <a:srgbClr val="FFFFFF"/>
            </a:solidFill>
            <a:ln w="9360">
              <a:solidFill>
                <a:srgbClr val="000000"/>
              </a:solidFill>
              <a:round/>
              <a:headEnd/>
              <a:tailEnd/>
            </a:ln>
          </p:spPr>
          <p:txBody>
            <a:bodyPr wrap="none" anchor="ctr"/>
            <a:lstStyle/>
            <a:p>
              <a:endParaRPr lang="en-US"/>
            </a:p>
          </p:txBody>
        </p:sp>
        <p:sp>
          <p:nvSpPr>
            <p:cNvPr id="13" name="Freeform 12"/>
            <p:cNvSpPr>
              <a:spLocks noChangeArrowheads="1"/>
            </p:cNvSpPr>
            <p:nvPr/>
          </p:nvSpPr>
          <p:spPr bwMode="auto">
            <a:xfrm>
              <a:off x="1794" y="2675"/>
              <a:ext cx="57" cy="76"/>
            </a:xfrm>
            <a:custGeom>
              <a:avLst/>
              <a:gdLst>
                <a:gd name="T0" fmla="*/ 0 w 253"/>
                <a:gd name="T1" fmla="*/ 0 h 333"/>
                <a:gd name="T2" fmla="*/ 0 w 253"/>
                <a:gd name="T3" fmla="*/ 0 h 333"/>
                <a:gd name="T4" fmla="*/ 0 w 253"/>
                <a:gd name="T5" fmla="*/ 0 h 333"/>
                <a:gd name="T6" fmla="*/ 0 w 253"/>
                <a:gd name="T7" fmla="*/ 0 h 333"/>
                <a:gd name="T8" fmla="*/ 0 w 253"/>
                <a:gd name="T9" fmla="*/ 0 h 333"/>
                <a:gd name="T10" fmla="*/ 0 w 253"/>
                <a:gd name="T11" fmla="*/ 0 h 333"/>
                <a:gd name="T12" fmla="*/ 0 60000 65536"/>
                <a:gd name="T13" fmla="*/ 0 60000 65536"/>
                <a:gd name="T14" fmla="*/ 0 60000 65536"/>
                <a:gd name="T15" fmla="*/ 0 60000 65536"/>
                <a:gd name="T16" fmla="*/ 0 60000 65536"/>
                <a:gd name="T17" fmla="*/ 0 60000 65536"/>
                <a:gd name="T18" fmla="*/ 0 w 253"/>
                <a:gd name="T19" fmla="*/ 0 h 333"/>
                <a:gd name="T20" fmla="*/ 253 w 253"/>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53" h="333">
                  <a:moveTo>
                    <a:pt x="126" y="0"/>
                  </a:moveTo>
                  <a:cubicBezTo>
                    <a:pt x="197" y="0"/>
                    <a:pt x="252" y="72"/>
                    <a:pt x="252" y="166"/>
                  </a:cubicBezTo>
                  <a:cubicBezTo>
                    <a:pt x="252" y="260"/>
                    <a:pt x="197" y="332"/>
                    <a:pt x="126" y="332"/>
                  </a:cubicBezTo>
                  <a:cubicBezTo>
                    <a:pt x="55" y="332"/>
                    <a:pt x="0" y="260"/>
                    <a:pt x="0" y="166"/>
                  </a:cubicBezTo>
                  <a:cubicBezTo>
                    <a:pt x="0" y="72"/>
                    <a:pt x="55" y="0"/>
                    <a:pt x="126" y="0"/>
                  </a:cubicBezTo>
                </a:path>
              </a:pathLst>
            </a:custGeom>
            <a:solidFill>
              <a:srgbClr val="FFFFFF"/>
            </a:solidFill>
            <a:ln w="9360">
              <a:solidFill>
                <a:srgbClr val="000000"/>
              </a:solidFill>
              <a:round/>
              <a:headEnd/>
              <a:tailEnd/>
            </a:ln>
          </p:spPr>
          <p:txBody>
            <a:bodyPr wrap="none" anchor="ctr"/>
            <a:lstStyle/>
            <a:p>
              <a:endParaRPr lang="en-US"/>
            </a:p>
          </p:txBody>
        </p:sp>
        <p:sp>
          <p:nvSpPr>
            <p:cNvPr id="14" name="Freeform 13"/>
            <p:cNvSpPr>
              <a:spLocks noChangeArrowheads="1"/>
            </p:cNvSpPr>
            <p:nvPr/>
          </p:nvSpPr>
          <p:spPr bwMode="auto">
            <a:xfrm>
              <a:off x="1487" y="2127"/>
              <a:ext cx="56" cy="74"/>
            </a:xfrm>
            <a:custGeom>
              <a:avLst/>
              <a:gdLst>
                <a:gd name="T0" fmla="*/ 0 w 249"/>
                <a:gd name="T1" fmla="*/ 0 h 328"/>
                <a:gd name="T2" fmla="*/ 0 w 249"/>
                <a:gd name="T3" fmla="*/ 0 h 328"/>
                <a:gd name="T4" fmla="*/ 0 w 249"/>
                <a:gd name="T5" fmla="*/ 0 h 328"/>
                <a:gd name="T6" fmla="*/ 0 w 249"/>
                <a:gd name="T7" fmla="*/ 0 h 328"/>
                <a:gd name="T8" fmla="*/ 0 w 249"/>
                <a:gd name="T9" fmla="*/ 0 h 328"/>
                <a:gd name="T10" fmla="*/ 0 w 249"/>
                <a:gd name="T11" fmla="*/ 0 h 328"/>
                <a:gd name="T12" fmla="*/ 0 60000 65536"/>
                <a:gd name="T13" fmla="*/ 0 60000 65536"/>
                <a:gd name="T14" fmla="*/ 0 60000 65536"/>
                <a:gd name="T15" fmla="*/ 0 60000 65536"/>
                <a:gd name="T16" fmla="*/ 0 60000 65536"/>
                <a:gd name="T17" fmla="*/ 0 60000 65536"/>
                <a:gd name="T18" fmla="*/ 0 w 249"/>
                <a:gd name="T19" fmla="*/ 0 h 328"/>
                <a:gd name="T20" fmla="*/ 249 w 249"/>
                <a:gd name="T21" fmla="*/ 328 h 328"/>
              </a:gdLst>
              <a:ahLst/>
              <a:cxnLst>
                <a:cxn ang="T12">
                  <a:pos x="T0" y="T1"/>
                </a:cxn>
                <a:cxn ang="T13">
                  <a:pos x="T2" y="T3"/>
                </a:cxn>
                <a:cxn ang="T14">
                  <a:pos x="T4" y="T5"/>
                </a:cxn>
                <a:cxn ang="T15">
                  <a:pos x="T6" y="T7"/>
                </a:cxn>
                <a:cxn ang="T16">
                  <a:pos x="T8" y="T9"/>
                </a:cxn>
                <a:cxn ang="T17">
                  <a:pos x="T10" y="T11"/>
                </a:cxn>
              </a:cxnLst>
              <a:rect l="T18" t="T19" r="T20" b="T21"/>
              <a:pathLst>
                <a:path w="249" h="328">
                  <a:moveTo>
                    <a:pt x="124" y="0"/>
                  </a:moveTo>
                  <a:cubicBezTo>
                    <a:pt x="194" y="0"/>
                    <a:pt x="248" y="71"/>
                    <a:pt x="248" y="163"/>
                  </a:cubicBezTo>
                  <a:cubicBezTo>
                    <a:pt x="248" y="255"/>
                    <a:pt x="194" y="327"/>
                    <a:pt x="124" y="327"/>
                  </a:cubicBezTo>
                  <a:cubicBezTo>
                    <a:pt x="53" y="327"/>
                    <a:pt x="0" y="255"/>
                    <a:pt x="0" y="163"/>
                  </a:cubicBezTo>
                  <a:cubicBezTo>
                    <a:pt x="0" y="71"/>
                    <a:pt x="53" y="0"/>
                    <a:pt x="124" y="0"/>
                  </a:cubicBezTo>
                </a:path>
              </a:pathLst>
            </a:custGeom>
            <a:solidFill>
              <a:srgbClr val="FFFFFF"/>
            </a:solidFill>
            <a:ln w="9360">
              <a:solidFill>
                <a:srgbClr val="000000"/>
              </a:solidFill>
              <a:round/>
              <a:headEnd/>
              <a:tailEnd/>
            </a:ln>
          </p:spPr>
          <p:txBody>
            <a:bodyPr wrap="none" anchor="ctr"/>
            <a:lstStyle/>
            <a:p>
              <a:endParaRPr lang="en-US"/>
            </a:p>
          </p:txBody>
        </p:sp>
        <p:sp>
          <p:nvSpPr>
            <p:cNvPr id="15" name="Freeform 14"/>
            <p:cNvSpPr>
              <a:spLocks noChangeArrowheads="1"/>
            </p:cNvSpPr>
            <p:nvPr/>
          </p:nvSpPr>
          <p:spPr bwMode="auto">
            <a:xfrm>
              <a:off x="1430" y="2045"/>
              <a:ext cx="686" cy="877"/>
            </a:xfrm>
            <a:custGeom>
              <a:avLst/>
              <a:gdLst>
                <a:gd name="T0" fmla="*/ 0 w 3027"/>
                <a:gd name="T1" fmla="*/ 0 h 3869"/>
                <a:gd name="T2" fmla="*/ 0 w 3027"/>
                <a:gd name="T3" fmla="*/ 0 h 3869"/>
                <a:gd name="T4" fmla="*/ 0 w 3027"/>
                <a:gd name="T5" fmla="*/ 0 h 3869"/>
                <a:gd name="T6" fmla="*/ 0 w 3027"/>
                <a:gd name="T7" fmla="*/ 0 h 3869"/>
                <a:gd name="T8" fmla="*/ 0 w 3027"/>
                <a:gd name="T9" fmla="*/ 0 h 3869"/>
                <a:gd name="T10" fmla="*/ 0 w 3027"/>
                <a:gd name="T11" fmla="*/ 0 h 3869"/>
                <a:gd name="T12" fmla="*/ 0 w 3027"/>
                <a:gd name="T13" fmla="*/ 0 h 3869"/>
                <a:gd name="T14" fmla="*/ 0 w 3027"/>
                <a:gd name="T15" fmla="*/ 0 h 3869"/>
                <a:gd name="T16" fmla="*/ 0 w 3027"/>
                <a:gd name="T17" fmla="*/ 0 h 3869"/>
                <a:gd name="T18" fmla="*/ 0 w 3027"/>
                <a:gd name="T19" fmla="*/ 0 h 3869"/>
                <a:gd name="T20" fmla="*/ 0 w 3027"/>
                <a:gd name="T21" fmla="*/ 0 h 3869"/>
                <a:gd name="T22" fmla="*/ 0 w 3027"/>
                <a:gd name="T23" fmla="*/ 0 h 3869"/>
                <a:gd name="T24" fmla="*/ 0 w 3027"/>
                <a:gd name="T25" fmla="*/ 0 h 3869"/>
                <a:gd name="T26" fmla="*/ 0 w 3027"/>
                <a:gd name="T27" fmla="*/ 0 h 3869"/>
                <a:gd name="T28" fmla="*/ 0 w 3027"/>
                <a:gd name="T29" fmla="*/ 0 h 3869"/>
                <a:gd name="T30" fmla="*/ 0 w 3027"/>
                <a:gd name="T31" fmla="*/ 0 h 3869"/>
                <a:gd name="T32" fmla="*/ 0 w 3027"/>
                <a:gd name="T33" fmla="*/ 0 h 3869"/>
                <a:gd name="T34" fmla="*/ 0 w 3027"/>
                <a:gd name="T35" fmla="*/ 0 h 3869"/>
                <a:gd name="T36" fmla="*/ 0 w 3027"/>
                <a:gd name="T37" fmla="*/ 0 h 3869"/>
                <a:gd name="T38" fmla="*/ 0 w 3027"/>
                <a:gd name="T39" fmla="*/ 0 h 3869"/>
                <a:gd name="T40" fmla="*/ 0 w 3027"/>
                <a:gd name="T41" fmla="*/ 0 h 386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27"/>
                <a:gd name="T64" fmla="*/ 0 h 3869"/>
                <a:gd name="T65" fmla="*/ 3027 w 3027"/>
                <a:gd name="T66" fmla="*/ 3869 h 386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27" h="3869">
                  <a:moveTo>
                    <a:pt x="2862" y="1056"/>
                  </a:moveTo>
                  <a:cubicBezTo>
                    <a:pt x="2919" y="1282"/>
                    <a:pt x="2941" y="1505"/>
                    <a:pt x="2961" y="1742"/>
                  </a:cubicBezTo>
                  <a:cubicBezTo>
                    <a:pt x="2947" y="2302"/>
                    <a:pt x="3026" y="2863"/>
                    <a:pt x="2785" y="3340"/>
                  </a:cubicBezTo>
                  <a:cubicBezTo>
                    <a:pt x="2752" y="3470"/>
                    <a:pt x="2705" y="3653"/>
                    <a:pt x="2611" y="3736"/>
                  </a:cubicBezTo>
                  <a:cubicBezTo>
                    <a:pt x="2529" y="3807"/>
                    <a:pt x="2430" y="3825"/>
                    <a:pt x="2337" y="3865"/>
                  </a:cubicBezTo>
                  <a:cubicBezTo>
                    <a:pt x="1861" y="3836"/>
                    <a:pt x="1927" y="3868"/>
                    <a:pt x="1636" y="3736"/>
                  </a:cubicBezTo>
                  <a:cubicBezTo>
                    <a:pt x="1529" y="3685"/>
                    <a:pt x="1449" y="3617"/>
                    <a:pt x="1336" y="3570"/>
                  </a:cubicBezTo>
                  <a:cubicBezTo>
                    <a:pt x="1311" y="3560"/>
                    <a:pt x="1262" y="3538"/>
                    <a:pt x="1262" y="3538"/>
                  </a:cubicBezTo>
                  <a:cubicBezTo>
                    <a:pt x="1147" y="3387"/>
                    <a:pt x="1015" y="3272"/>
                    <a:pt x="885" y="3146"/>
                  </a:cubicBezTo>
                  <a:cubicBezTo>
                    <a:pt x="789" y="3053"/>
                    <a:pt x="745" y="2931"/>
                    <a:pt x="638" y="2884"/>
                  </a:cubicBezTo>
                  <a:cubicBezTo>
                    <a:pt x="539" y="2758"/>
                    <a:pt x="361" y="2608"/>
                    <a:pt x="285" y="2460"/>
                  </a:cubicBezTo>
                  <a:cubicBezTo>
                    <a:pt x="153" y="2194"/>
                    <a:pt x="57" y="1925"/>
                    <a:pt x="10" y="1612"/>
                  </a:cubicBezTo>
                  <a:cubicBezTo>
                    <a:pt x="19" y="1232"/>
                    <a:pt x="0" y="847"/>
                    <a:pt x="35" y="467"/>
                  </a:cubicBezTo>
                  <a:cubicBezTo>
                    <a:pt x="60" y="215"/>
                    <a:pt x="383" y="118"/>
                    <a:pt x="512" y="75"/>
                  </a:cubicBezTo>
                  <a:cubicBezTo>
                    <a:pt x="545" y="64"/>
                    <a:pt x="611" y="43"/>
                    <a:pt x="611" y="43"/>
                  </a:cubicBezTo>
                  <a:cubicBezTo>
                    <a:pt x="795" y="53"/>
                    <a:pt x="995" y="0"/>
                    <a:pt x="1160" y="107"/>
                  </a:cubicBezTo>
                  <a:cubicBezTo>
                    <a:pt x="1300" y="201"/>
                    <a:pt x="1443" y="276"/>
                    <a:pt x="1586" y="370"/>
                  </a:cubicBezTo>
                  <a:cubicBezTo>
                    <a:pt x="1702" y="445"/>
                    <a:pt x="1801" y="549"/>
                    <a:pt x="1911" y="632"/>
                  </a:cubicBezTo>
                  <a:cubicBezTo>
                    <a:pt x="1974" y="678"/>
                    <a:pt x="2048" y="689"/>
                    <a:pt x="2111" y="729"/>
                  </a:cubicBezTo>
                  <a:cubicBezTo>
                    <a:pt x="2320" y="862"/>
                    <a:pt x="2625" y="1056"/>
                    <a:pt x="2862" y="1056"/>
                  </a:cubicBezTo>
                </a:path>
              </a:pathLst>
            </a:custGeom>
            <a:noFill/>
            <a:ln w="9360">
              <a:solidFill>
                <a:srgbClr val="000000"/>
              </a:solidFill>
              <a:round/>
              <a:headEnd/>
              <a:tailEnd/>
            </a:ln>
          </p:spPr>
          <p:txBody>
            <a:bodyPr wrap="none" anchor="ctr"/>
            <a:lstStyle/>
            <a:p>
              <a:endParaRPr lang="en-US"/>
            </a:p>
          </p:txBody>
        </p:sp>
        <p:sp>
          <p:nvSpPr>
            <p:cNvPr id="16" name="Freeform 15"/>
            <p:cNvSpPr>
              <a:spLocks noChangeArrowheads="1"/>
            </p:cNvSpPr>
            <p:nvPr/>
          </p:nvSpPr>
          <p:spPr bwMode="auto">
            <a:xfrm>
              <a:off x="1158" y="2866"/>
              <a:ext cx="56" cy="75"/>
            </a:xfrm>
            <a:custGeom>
              <a:avLst/>
              <a:gdLst>
                <a:gd name="T0" fmla="*/ 0 w 248"/>
                <a:gd name="T1" fmla="*/ 0 h 331"/>
                <a:gd name="T2" fmla="*/ 0 w 248"/>
                <a:gd name="T3" fmla="*/ 0 h 331"/>
                <a:gd name="T4" fmla="*/ 0 w 248"/>
                <a:gd name="T5" fmla="*/ 0 h 331"/>
                <a:gd name="T6" fmla="*/ 0 w 248"/>
                <a:gd name="T7" fmla="*/ 0 h 331"/>
                <a:gd name="T8" fmla="*/ 0 w 248"/>
                <a:gd name="T9" fmla="*/ 0 h 331"/>
                <a:gd name="T10" fmla="*/ 0 w 248"/>
                <a:gd name="T11" fmla="*/ 0 h 331"/>
                <a:gd name="T12" fmla="*/ 0 60000 65536"/>
                <a:gd name="T13" fmla="*/ 0 60000 65536"/>
                <a:gd name="T14" fmla="*/ 0 60000 65536"/>
                <a:gd name="T15" fmla="*/ 0 60000 65536"/>
                <a:gd name="T16" fmla="*/ 0 60000 65536"/>
                <a:gd name="T17" fmla="*/ 0 60000 65536"/>
                <a:gd name="T18" fmla="*/ 0 w 248"/>
                <a:gd name="T19" fmla="*/ 0 h 331"/>
                <a:gd name="T20" fmla="*/ 248 w 248"/>
                <a:gd name="T21" fmla="*/ 331 h 331"/>
              </a:gdLst>
              <a:ahLst/>
              <a:cxnLst>
                <a:cxn ang="T12">
                  <a:pos x="T0" y="T1"/>
                </a:cxn>
                <a:cxn ang="T13">
                  <a:pos x="T2" y="T3"/>
                </a:cxn>
                <a:cxn ang="T14">
                  <a:pos x="T4" y="T5"/>
                </a:cxn>
                <a:cxn ang="T15">
                  <a:pos x="T6" y="T7"/>
                </a:cxn>
                <a:cxn ang="T16">
                  <a:pos x="T8" y="T9"/>
                </a:cxn>
                <a:cxn ang="T17">
                  <a:pos x="T10" y="T11"/>
                </a:cxn>
              </a:cxnLst>
              <a:rect l="T18" t="T19" r="T20" b="T21"/>
              <a:pathLst>
                <a:path w="248" h="331">
                  <a:moveTo>
                    <a:pt x="123" y="0"/>
                  </a:moveTo>
                  <a:cubicBezTo>
                    <a:pt x="193" y="0"/>
                    <a:pt x="247" y="72"/>
                    <a:pt x="247" y="165"/>
                  </a:cubicBezTo>
                  <a:cubicBezTo>
                    <a:pt x="247" y="258"/>
                    <a:pt x="193" y="330"/>
                    <a:pt x="123" y="330"/>
                  </a:cubicBezTo>
                  <a:cubicBezTo>
                    <a:pt x="53" y="330"/>
                    <a:pt x="0" y="258"/>
                    <a:pt x="0" y="165"/>
                  </a:cubicBezTo>
                  <a:cubicBezTo>
                    <a:pt x="0" y="72"/>
                    <a:pt x="53" y="0"/>
                    <a:pt x="123" y="0"/>
                  </a:cubicBezTo>
                </a:path>
              </a:pathLst>
            </a:custGeom>
            <a:solidFill>
              <a:srgbClr val="333399"/>
            </a:solidFill>
            <a:ln w="9360">
              <a:solidFill>
                <a:srgbClr val="000000"/>
              </a:solidFill>
              <a:round/>
              <a:headEnd/>
              <a:tailEnd/>
            </a:ln>
          </p:spPr>
          <p:txBody>
            <a:bodyPr wrap="none" anchor="ctr"/>
            <a:lstStyle/>
            <a:p>
              <a:endParaRPr lang="en-US"/>
            </a:p>
          </p:txBody>
        </p:sp>
        <p:sp>
          <p:nvSpPr>
            <p:cNvPr id="17" name="Freeform 16"/>
            <p:cNvSpPr>
              <a:spLocks noChangeArrowheads="1"/>
            </p:cNvSpPr>
            <p:nvPr/>
          </p:nvSpPr>
          <p:spPr bwMode="auto">
            <a:xfrm>
              <a:off x="1445" y="2929"/>
              <a:ext cx="56" cy="75"/>
            </a:xfrm>
            <a:custGeom>
              <a:avLst/>
              <a:gdLst>
                <a:gd name="T0" fmla="*/ 0 w 248"/>
                <a:gd name="T1" fmla="*/ 0 h 331"/>
                <a:gd name="T2" fmla="*/ 0 w 248"/>
                <a:gd name="T3" fmla="*/ 0 h 331"/>
                <a:gd name="T4" fmla="*/ 0 w 248"/>
                <a:gd name="T5" fmla="*/ 0 h 331"/>
                <a:gd name="T6" fmla="*/ 0 w 248"/>
                <a:gd name="T7" fmla="*/ 0 h 331"/>
                <a:gd name="T8" fmla="*/ 0 w 248"/>
                <a:gd name="T9" fmla="*/ 0 h 331"/>
                <a:gd name="T10" fmla="*/ 0 w 248"/>
                <a:gd name="T11" fmla="*/ 0 h 331"/>
                <a:gd name="T12" fmla="*/ 0 60000 65536"/>
                <a:gd name="T13" fmla="*/ 0 60000 65536"/>
                <a:gd name="T14" fmla="*/ 0 60000 65536"/>
                <a:gd name="T15" fmla="*/ 0 60000 65536"/>
                <a:gd name="T16" fmla="*/ 0 60000 65536"/>
                <a:gd name="T17" fmla="*/ 0 60000 65536"/>
                <a:gd name="T18" fmla="*/ 0 w 248"/>
                <a:gd name="T19" fmla="*/ 0 h 331"/>
                <a:gd name="T20" fmla="*/ 248 w 248"/>
                <a:gd name="T21" fmla="*/ 331 h 331"/>
              </a:gdLst>
              <a:ahLst/>
              <a:cxnLst>
                <a:cxn ang="T12">
                  <a:pos x="T0" y="T1"/>
                </a:cxn>
                <a:cxn ang="T13">
                  <a:pos x="T2" y="T3"/>
                </a:cxn>
                <a:cxn ang="T14">
                  <a:pos x="T4" y="T5"/>
                </a:cxn>
                <a:cxn ang="T15">
                  <a:pos x="T6" y="T7"/>
                </a:cxn>
                <a:cxn ang="T16">
                  <a:pos x="T8" y="T9"/>
                </a:cxn>
                <a:cxn ang="T17">
                  <a:pos x="T10" y="T11"/>
                </a:cxn>
              </a:cxnLst>
              <a:rect l="T18" t="T19" r="T20" b="T21"/>
              <a:pathLst>
                <a:path w="248" h="331">
                  <a:moveTo>
                    <a:pt x="123" y="0"/>
                  </a:moveTo>
                  <a:cubicBezTo>
                    <a:pt x="193" y="0"/>
                    <a:pt x="247" y="72"/>
                    <a:pt x="247" y="165"/>
                  </a:cubicBezTo>
                  <a:cubicBezTo>
                    <a:pt x="247" y="258"/>
                    <a:pt x="193" y="330"/>
                    <a:pt x="123" y="330"/>
                  </a:cubicBezTo>
                  <a:cubicBezTo>
                    <a:pt x="53" y="330"/>
                    <a:pt x="0" y="258"/>
                    <a:pt x="0" y="165"/>
                  </a:cubicBezTo>
                  <a:cubicBezTo>
                    <a:pt x="0" y="72"/>
                    <a:pt x="53" y="0"/>
                    <a:pt x="123" y="0"/>
                  </a:cubicBezTo>
                </a:path>
              </a:pathLst>
            </a:custGeom>
            <a:solidFill>
              <a:srgbClr val="333399"/>
            </a:solidFill>
            <a:ln w="9360">
              <a:solidFill>
                <a:srgbClr val="000000"/>
              </a:solidFill>
              <a:round/>
              <a:headEnd/>
              <a:tailEnd/>
            </a:ln>
          </p:spPr>
          <p:txBody>
            <a:bodyPr wrap="none" anchor="ctr"/>
            <a:lstStyle/>
            <a:p>
              <a:endParaRPr lang="en-US"/>
            </a:p>
          </p:txBody>
        </p:sp>
        <p:sp>
          <p:nvSpPr>
            <p:cNvPr id="18" name="Freeform 17"/>
            <p:cNvSpPr>
              <a:spLocks noChangeArrowheads="1"/>
            </p:cNvSpPr>
            <p:nvPr/>
          </p:nvSpPr>
          <p:spPr bwMode="auto">
            <a:xfrm>
              <a:off x="1340" y="3185"/>
              <a:ext cx="56" cy="76"/>
            </a:xfrm>
            <a:custGeom>
              <a:avLst/>
              <a:gdLst>
                <a:gd name="T0" fmla="*/ 0 w 248"/>
                <a:gd name="T1" fmla="*/ 0 h 333"/>
                <a:gd name="T2" fmla="*/ 0 w 248"/>
                <a:gd name="T3" fmla="*/ 0 h 333"/>
                <a:gd name="T4" fmla="*/ 0 w 248"/>
                <a:gd name="T5" fmla="*/ 0 h 333"/>
                <a:gd name="T6" fmla="*/ 0 w 248"/>
                <a:gd name="T7" fmla="*/ 0 h 333"/>
                <a:gd name="T8" fmla="*/ 0 w 248"/>
                <a:gd name="T9" fmla="*/ 0 h 333"/>
                <a:gd name="T10" fmla="*/ 0 w 248"/>
                <a:gd name="T11" fmla="*/ 0 h 333"/>
                <a:gd name="T12" fmla="*/ 0 60000 65536"/>
                <a:gd name="T13" fmla="*/ 0 60000 65536"/>
                <a:gd name="T14" fmla="*/ 0 60000 65536"/>
                <a:gd name="T15" fmla="*/ 0 60000 65536"/>
                <a:gd name="T16" fmla="*/ 0 60000 65536"/>
                <a:gd name="T17" fmla="*/ 0 60000 65536"/>
                <a:gd name="T18" fmla="*/ 0 w 248"/>
                <a:gd name="T19" fmla="*/ 0 h 333"/>
                <a:gd name="T20" fmla="*/ 248 w 248"/>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48" h="333">
                  <a:moveTo>
                    <a:pt x="123" y="0"/>
                  </a:moveTo>
                  <a:cubicBezTo>
                    <a:pt x="193" y="0"/>
                    <a:pt x="247" y="72"/>
                    <a:pt x="247" y="166"/>
                  </a:cubicBezTo>
                  <a:cubicBezTo>
                    <a:pt x="247" y="260"/>
                    <a:pt x="193" y="332"/>
                    <a:pt x="123" y="332"/>
                  </a:cubicBezTo>
                  <a:cubicBezTo>
                    <a:pt x="53" y="332"/>
                    <a:pt x="0" y="260"/>
                    <a:pt x="0" y="166"/>
                  </a:cubicBezTo>
                  <a:cubicBezTo>
                    <a:pt x="0" y="72"/>
                    <a:pt x="53" y="0"/>
                    <a:pt x="123" y="0"/>
                  </a:cubicBezTo>
                </a:path>
              </a:pathLst>
            </a:custGeom>
            <a:solidFill>
              <a:srgbClr val="333399"/>
            </a:solidFill>
            <a:ln w="9360">
              <a:solidFill>
                <a:srgbClr val="000000"/>
              </a:solidFill>
              <a:round/>
              <a:headEnd/>
              <a:tailEnd/>
            </a:ln>
          </p:spPr>
          <p:txBody>
            <a:bodyPr wrap="none" anchor="ctr"/>
            <a:lstStyle/>
            <a:p>
              <a:endParaRPr lang="en-US"/>
            </a:p>
          </p:txBody>
        </p:sp>
        <p:sp>
          <p:nvSpPr>
            <p:cNvPr id="19" name="Freeform 18"/>
            <p:cNvSpPr>
              <a:spLocks noChangeArrowheads="1"/>
            </p:cNvSpPr>
            <p:nvPr/>
          </p:nvSpPr>
          <p:spPr bwMode="auto">
            <a:xfrm>
              <a:off x="1399" y="3077"/>
              <a:ext cx="56" cy="76"/>
            </a:xfrm>
            <a:custGeom>
              <a:avLst/>
              <a:gdLst>
                <a:gd name="T0" fmla="*/ 0 w 248"/>
                <a:gd name="T1" fmla="*/ 0 h 333"/>
                <a:gd name="T2" fmla="*/ 0 w 248"/>
                <a:gd name="T3" fmla="*/ 0 h 333"/>
                <a:gd name="T4" fmla="*/ 0 w 248"/>
                <a:gd name="T5" fmla="*/ 0 h 333"/>
                <a:gd name="T6" fmla="*/ 0 w 248"/>
                <a:gd name="T7" fmla="*/ 0 h 333"/>
                <a:gd name="T8" fmla="*/ 0 w 248"/>
                <a:gd name="T9" fmla="*/ 0 h 333"/>
                <a:gd name="T10" fmla="*/ 0 w 248"/>
                <a:gd name="T11" fmla="*/ 0 h 333"/>
                <a:gd name="T12" fmla="*/ 0 60000 65536"/>
                <a:gd name="T13" fmla="*/ 0 60000 65536"/>
                <a:gd name="T14" fmla="*/ 0 60000 65536"/>
                <a:gd name="T15" fmla="*/ 0 60000 65536"/>
                <a:gd name="T16" fmla="*/ 0 60000 65536"/>
                <a:gd name="T17" fmla="*/ 0 60000 65536"/>
                <a:gd name="T18" fmla="*/ 0 w 248"/>
                <a:gd name="T19" fmla="*/ 0 h 333"/>
                <a:gd name="T20" fmla="*/ 248 w 248"/>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48" h="333">
                  <a:moveTo>
                    <a:pt x="123" y="0"/>
                  </a:moveTo>
                  <a:cubicBezTo>
                    <a:pt x="193" y="0"/>
                    <a:pt x="247" y="72"/>
                    <a:pt x="247" y="166"/>
                  </a:cubicBezTo>
                  <a:cubicBezTo>
                    <a:pt x="247" y="260"/>
                    <a:pt x="193" y="332"/>
                    <a:pt x="123" y="332"/>
                  </a:cubicBezTo>
                  <a:cubicBezTo>
                    <a:pt x="53" y="332"/>
                    <a:pt x="0" y="260"/>
                    <a:pt x="0" y="166"/>
                  </a:cubicBezTo>
                  <a:cubicBezTo>
                    <a:pt x="0" y="72"/>
                    <a:pt x="53" y="0"/>
                    <a:pt x="123" y="0"/>
                  </a:cubicBezTo>
                </a:path>
              </a:pathLst>
            </a:custGeom>
            <a:solidFill>
              <a:srgbClr val="333399"/>
            </a:solidFill>
            <a:ln w="9360">
              <a:solidFill>
                <a:srgbClr val="000000"/>
              </a:solidFill>
              <a:round/>
              <a:headEnd/>
              <a:tailEnd/>
            </a:ln>
          </p:spPr>
          <p:txBody>
            <a:bodyPr wrap="none" anchor="ctr"/>
            <a:lstStyle/>
            <a:p>
              <a:endParaRPr lang="en-US"/>
            </a:p>
          </p:txBody>
        </p:sp>
        <p:sp>
          <p:nvSpPr>
            <p:cNvPr id="20" name="Freeform 19"/>
            <p:cNvSpPr>
              <a:spLocks noChangeArrowheads="1"/>
            </p:cNvSpPr>
            <p:nvPr/>
          </p:nvSpPr>
          <p:spPr bwMode="auto">
            <a:xfrm>
              <a:off x="1225" y="3034"/>
              <a:ext cx="56" cy="75"/>
            </a:xfrm>
            <a:custGeom>
              <a:avLst/>
              <a:gdLst>
                <a:gd name="T0" fmla="*/ 0 w 248"/>
                <a:gd name="T1" fmla="*/ 0 h 331"/>
                <a:gd name="T2" fmla="*/ 0 w 248"/>
                <a:gd name="T3" fmla="*/ 0 h 331"/>
                <a:gd name="T4" fmla="*/ 0 w 248"/>
                <a:gd name="T5" fmla="*/ 0 h 331"/>
                <a:gd name="T6" fmla="*/ 0 w 248"/>
                <a:gd name="T7" fmla="*/ 0 h 331"/>
                <a:gd name="T8" fmla="*/ 0 w 248"/>
                <a:gd name="T9" fmla="*/ 0 h 331"/>
                <a:gd name="T10" fmla="*/ 0 w 248"/>
                <a:gd name="T11" fmla="*/ 0 h 331"/>
                <a:gd name="T12" fmla="*/ 0 60000 65536"/>
                <a:gd name="T13" fmla="*/ 0 60000 65536"/>
                <a:gd name="T14" fmla="*/ 0 60000 65536"/>
                <a:gd name="T15" fmla="*/ 0 60000 65536"/>
                <a:gd name="T16" fmla="*/ 0 60000 65536"/>
                <a:gd name="T17" fmla="*/ 0 60000 65536"/>
                <a:gd name="T18" fmla="*/ 0 w 248"/>
                <a:gd name="T19" fmla="*/ 0 h 331"/>
                <a:gd name="T20" fmla="*/ 248 w 248"/>
                <a:gd name="T21" fmla="*/ 331 h 331"/>
              </a:gdLst>
              <a:ahLst/>
              <a:cxnLst>
                <a:cxn ang="T12">
                  <a:pos x="T0" y="T1"/>
                </a:cxn>
                <a:cxn ang="T13">
                  <a:pos x="T2" y="T3"/>
                </a:cxn>
                <a:cxn ang="T14">
                  <a:pos x="T4" y="T5"/>
                </a:cxn>
                <a:cxn ang="T15">
                  <a:pos x="T6" y="T7"/>
                </a:cxn>
                <a:cxn ang="T16">
                  <a:pos x="T8" y="T9"/>
                </a:cxn>
                <a:cxn ang="T17">
                  <a:pos x="T10" y="T11"/>
                </a:cxn>
              </a:cxnLst>
              <a:rect l="T18" t="T19" r="T20" b="T21"/>
              <a:pathLst>
                <a:path w="248" h="331">
                  <a:moveTo>
                    <a:pt x="123" y="0"/>
                  </a:moveTo>
                  <a:cubicBezTo>
                    <a:pt x="193" y="0"/>
                    <a:pt x="247" y="72"/>
                    <a:pt x="247" y="165"/>
                  </a:cubicBezTo>
                  <a:cubicBezTo>
                    <a:pt x="247" y="258"/>
                    <a:pt x="193" y="330"/>
                    <a:pt x="123" y="330"/>
                  </a:cubicBezTo>
                  <a:cubicBezTo>
                    <a:pt x="53" y="330"/>
                    <a:pt x="0" y="258"/>
                    <a:pt x="0" y="165"/>
                  </a:cubicBezTo>
                  <a:cubicBezTo>
                    <a:pt x="0" y="72"/>
                    <a:pt x="53" y="0"/>
                    <a:pt x="123" y="0"/>
                  </a:cubicBezTo>
                </a:path>
              </a:pathLst>
            </a:custGeom>
            <a:solidFill>
              <a:srgbClr val="333399"/>
            </a:solidFill>
            <a:ln w="9360">
              <a:solidFill>
                <a:srgbClr val="000000"/>
              </a:solidFill>
              <a:round/>
              <a:headEnd/>
              <a:tailEnd/>
            </a:ln>
          </p:spPr>
          <p:txBody>
            <a:bodyPr wrap="none" anchor="ctr"/>
            <a:lstStyle/>
            <a:p>
              <a:endParaRPr lang="en-US"/>
            </a:p>
          </p:txBody>
        </p:sp>
        <p:sp>
          <p:nvSpPr>
            <p:cNvPr id="21" name="Freeform 20"/>
            <p:cNvSpPr>
              <a:spLocks noChangeArrowheads="1"/>
            </p:cNvSpPr>
            <p:nvPr/>
          </p:nvSpPr>
          <p:spPr bwMode="auto">
            <a:xfrm>
              <a:off x="1222" y="3157"/>
              <a:ext cx="56" cy="76"/>
            </a:xfrm>
            <a:custGeom>
              <a:avLst/>
              <a:gdLst>
                <a:gd name="T0" fmla="*/ 0 w 248"/>
                <a:gd name="T1" fmla="*/ 0 h 333"/>
                <a:gd name="T2" fmla="*/ 0 w 248"/>
                <a:gd name="T3" fmla="*/ 0 h 333"/>
                <a:gd name="T4" fmla="*/ 0 w 248"/>
                <a:gd name="T5" fmla="*/ 0 h 333"/>
                <a:gd name="T6" fmla="*/ 0 w 248"/>
                <a:gd name="T7" fmla="*/ 0 h 333"/>
                <a:gd name="T8" fmla="*/ 0 w 248"/>
                <a:gd name="T9" fmla="*/ 0 h 333"/>
                <a:gd name="T10" fmla="*/ 0 w 248"/>
                <a:gd name="T11" fmla="*/ 0 h 333"/>
                <a:gd name="T12" fmla="*/ 0 60000 65536"/>
                <a:gd name="T13" fmla="*/ 0 60000 65536"/>
                <a:gd name="T14" fmla="*/ 0 60000 65536"/>
                <a:gd name="T15" fmla="*/ 0 60000 65536"/>
                <a:gd name="T16" fmla="*/ 0 60000 65536"/>
                <a:gd name="T17" fmla="*/ 0 60000 65536"/>
                <a:gd name="T18" fmla="*/ 0 w 248"/>
                <a:gd name="T19" fmla="*/ 0 h 333"/>
                <a:gd name="T20" fmla="*/ 248 w 248"/>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48" h="333">
                  <a:moveTo>
                    <a:pt x="123" y="0"/>
                  </a:moveTo>
                  <a:cubicBezTo>
                    <a:pt x="193" y="0"/>
                    <a:pt x="247" y="72"/>
                    <a:pt x="247" y="166"/>
                  </a:cubicBezTo>
                  <a:cubicBezTo>
                    <a:pt x="247" y="260"/>
                    <a:pt x="193" y="332"/>
                    <a:pt x="123" y="332"/>
                  </a:cubicBezTo>
                  <a:cubicBezTo>
                    <a:pt x="53" y="332"/>
                    <a:pt x="0" y="260"/>
                    <a:pt x="0" y="166"/>
                  </a:cubicBezTo>
                  <a:cubicBezTo>
                    <a:pt x="0" y="72"/>
                    <a:pt x="53" y="0"/>
                    <a:pt x="123" y="0"/>
                  </a:cubicBezTo>
                </a:path>
              </a:pathLst>
            </a:custGeom>
            <a:solidFill>
              <a:srgbClr val="333399"/>
            </a:solidFill>
            <a:ln w="9360">
              <a:solidFill>
                <a:srgbClr val="000000"/>
              </a:solidFill>
              <a:round/>
              <a:headEnd/>
              <a:tailEnd/>
            </a:ln>
          </p:spPr>
          <p:txBody>
            <a:bodyPr wrap="none" anchor="ctr"/>
            <a:lstStyle/>
            <a:p>
              <a:endParaRPr lang="en-US"/>
            </a:p>
          </p:txBody>
        </p:sp>
        <p:sp>
          <p:nvSpPr>
            <p:cNvPr id="22" name="Freeform 21"/>
            <p:cNvSpPr>
              <a:spLocks noChangeArrowheads="1"/>
            </p:cNvSpPr>
            <p:nvPr/>
          </p:nvSpPr>
          <p:spPr bwMode="auto">
            <a:xfrm>
              <a:off x="1278" y="2786"/>
              <a:ext cx="56" cy="76"/>
            </a:xfrm>
            <a:custGeom>
              <a:avLst/>
              <a:gdLst>
                <a:gd name="T0" fmla="*/ 0 w 248"/>
                <a:gd name="T1" fmla="*/ 0 h 333"/>
                <a:gd name="T2" fmla="*/ 0 w 248"/>
                <a:gd name="T3" fmla="*/ 0 h 333"/>
                <a:gd name="T4" fmla="*/ 0 w 248"/>
                <a:gd name="T5" fmla="*/ 0 h 333"/>
                <a:gd name="T6" fmla="*/ 0 w 248"/>
                <a:gd name="T7" fmla="*/ 0 h 333"/>
                <a:gd name="T8" fmla="*/ 0 w 248"/>
                <a:gd name="T9" fmla="*/ 0 h 333"/>
                <a:gd name="T10" fmla="*/ 0 w 248"/>
                <a:gd name="T11" fmla="*/ 0 h 333"/>
                <a:gd name="T12" fmla="*/ 0 60000 65536"/>
                <a:gd name="T13" fmla="*/ 0 60000 65536"/>
                <a:gd name="T14" fmla="*/ 0 60000 65536"/>
                <a:gd name="T15" fmla="*/ 0 60000 65536"/>
                <a:gd name="T16" fmla="*/ 0 60000 65536"/>
                <a:gd name="T17" fmla="*/ 0 60000 65536"/>
                <a:gd name="T18" fmla="*/ 0 w 248"/>
                <a:gd name="T19" fmla="*/ 0 h 333"/>
                <a:gd name="T20" fmla="*/ 248 w 248"/>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48" h="333">
                  <a:moveTo>
                    <a:pt x="123" y="0"/>
                  </a:moveTo>
                  <a:cubicBezTo>
                    <a:pt x="193" y="0"/>
                    <a:pt x="247" y="72"/>
                    <a:pt x="247" y="166"/>
                  </a:cubicBezTo>
                  <a:cubicBezTo>
                    <a:pt x="247" y="260"/>
                    <a:pt x="193" y="332"/>
                    <a:pt x="123" y="332"/>
                  </a:cubicBezTo>
                  <a:cubicBezTo>
                    <a:pt x="53" y="332"/>
                    <a:pt x="0" y="260"/>
                    <a:pt x="0" y="166"/>
                  </a:cubicBezTo>
                  <a:cubicBezTo>
                    <a:pt x="0" y="72"/>
                    <a:pt x="53" y="0"/>
                    <a:pt x="123" y="0"/>
                  </a:cubicBezTo>
                </a:path>
              </a:pathLst>
            </a:custGeom>
            <a:solidFill>
              <a:srgbClr val="333399"/>
            </a:solidFill>
            <a:ln w="9360">
              <a:solidFill>
                <a:srgbClr val="000000"/>
              </a:solidFill>
              <a:round/>
              <a:headEnd/>
              <a:tailEnd/>
            </a:ln>
          </p:spPr>
          <p:txBody>
            <a:bodyPr wrap="none" anchor="ctr"/>
            <a:lstStyle/>
            <a:p>
              <a:endParaRPr lang="en-US"/>
            </a:p>
          </p:txBody>
        </p:sp>
        <p:sp>
          <p:nvSpPr>
            <p:cNvPr id="23" name="Freeform 22"/>
            <p:cNvSpPr>
              <a:spLocks noChangeArrowheads="1"/>
            </p:cNvSpPr>
            <p:nvPr/>
          </p:nvSpPr>
          <p:spPr bwMode="auto">
            <a:xfrm>
              <a:off x="1343" y="2910"/>
              <a:ext cx="56" cy="74"/>
            </a:xfrm>
            <a:custGeom>
              <a:avLst/>
              <a:gdLst>
                <a:gd name="T0" fmla="*/ 0 w 248"/>
                <a:gd name="T1" fmla="*/ 0 h 328"/>
                <a:gd name="T2" fmla="*/ 0 w 248"/>
                <a:gd name="T3" fmla="*/ 0 h 328"/>
                <a:gd name="T4" fmla="*/ 0 w 248"/>
                <a:gd name="T5" fmla="*/ 0 h 328"/>
                <a:gd name="T6" fmla="*/ 0 w 248"/>
                <a:gd name="T7" fmla="*/ 0 h 328"/>
                <a:gd name="T8" fmla="*/ 0 w 248"/>
                <a:gd name="T9" fmla="*/ 0 h 328"/>
                <a:gd name="T10" fmla="*/ 0 w 248"/>
                <a:gd name="T11" fmla="*/ 0 h 328"/>
                <a:gd name="T12" fmla="*/ 0 60000 65536"/>
                <a:gd name="T13" fmla="*/ 0 60000 65536"/>
                <a:gd name="T14" fmla="*/ 0 60000 65536"/>
                <a:gd name="T15" fmla="*/ 0 60000 65536"/>
                <a:gd name="T16" fmla="*/ 0 60000 65536"/>
                <a:gd name="T17" fmla="*/ 0 60000 65536"/>
                <a:gd name="T18" fmla="*/ 0 w 248"/>
                <a:gd name="T19" fmla="*/ 0 h 328"/>
                <a:gd name="T20" fmla="*/ 248 w 248"/>
                <a:gd name="T21" fmla="*/ 328 h 328"/>
              </a:gdLst>
              <a:ahLst/>
              <a:cxnLst>
                <a:cxn ang="T12">
                  <a:pos x="T0" y="T1"/>
                </a:cxn>
                <a:cxn ang="T13">
                  <a:pos x="T2" y="T3"/>
                </a:cxn>
                <a:cxn ang="T14">
                  <a:pos x="T4" y="T5"/>
                </a:cxn>
                <a:cxn ang="T15">
                  <a:pos x="T6" y="T7"/>
                </a:cxn>
                <a:cxn ang="T16">
                  <a:pos x="T8" y="T9"/>
                </a:cxn>
                <a:cxn ang="T17">
                  <a:pos x="T10" y="T11"/>
                </a:cxn>
              </a:cxnLst>
              <a:rect l="T18" t="T19" r="T20" b="T21"/>
              <a:pathLst>
                <a:path w="248" h="328">
                  <a:moveTo>
                    <a:pt x="123" y="0"/>
                  </a:moveTo>
                  <a:cubicBezTo>
                    <a:pt x="193" y="0"/>
                    <a:pt x="247" y="71"/>
                    <a:pt x="247" y="163"/>
                  </a:cubicBezTo>
                  <a:cubicBezTo>
                    <a:pt x="247" y="255"/>
                    <a:pt x="193" y="327"/>
                    <a:pt x="123" y="327"/>
                  </a:cubicBezTo>
                  <a:cubicBezTo>
                    <a:pt x="53" y="327"/>
                    <a:pt x="0" y="255"/>
                    <a:pt x="0" y="163"/>
                  </a:cubicBezTo>
                  <a:cubicBezTo>
                    <a:pt x="0" y="71"/>
                    <a:pt x="53" y="0"/>
                    <a:pt x="123" y="0"/>
                  </a:cubicBezTo>
                </a:path>
              </a:pathLst>
            </a:custGeom>
            <a:solidFill>
              <a:srgbClr val="333399"/>
            </a:solidFill>
            <a:ln w="9360">
              <a:solidFill>
                <a:srgbClr val="000000"/>
              </a:solidFill>
              <a:round/>
              <a:headEnd/>
              <a:tailEnd/>
            </a:ln>
          </p:spPr>
          <p:txBody>
            <a:bodyPr wrap="none" anchor="ctr"/>
            <a:lstStyle/>
            <a:p>
              <a:endParaRPr lang="en-US"/>
            </a:p>
          </p:txBody>
        </p:sp>
        <p:sp>
          <p:nvSpPr>
            <p:cNvPr id="24" name="Freeform 23"/>
            <p:cNvSpPr>
              <a:spLocks noChangeArrowheads="1"/>
            </p:cNvSpPr>
            <p:nvPr/>
          </p:nvSpPr>
          <p:spPr bwMode="auto">
            <a:xfrm>
              <a:off x="1483" y="3164"/>
              <a:ext cx="56" cy="76"/>
            </a:xfrm>
            <a:custGeom>
              <a:avLst/>
              <a:gdLst>
                <a:gd name="T0" fmla="*/ 0 w 249"/>
                <a:gd name="T1" fmla="*/ 0 h 333"/>
                <a:gd name="T2" fmla="*/ 0 w 249"/>
                <a:gd name="T3" fmla="*/ 0 h 333"/>
                <a:gd name="T4" fmla="*/ 0 w 249"/>
                <a:gd name="T5" fmla="*/ 0 h 333"/>
                <a:gd name="T6" fmla="*/ 0 w 249"/>
                <a:gd name="T7" fmla="*/ 0 h 333"/>
                <a:gd name="T8" fmla="*/ 0 w 249"/>
                <a:gd name="T9" fmla="*/ 0 h 333"/>
                <a:gd name="T10" fmla="*/ 0 w 249"/>
                <a:gd name="T11" fmla="*/ 0 h 333"/>
                <a:gd name="T12" fmla="*/ 0 60000 65536"/>
                <a:gd name="T13" fmla="*/ 0 60000 65536"/>
                <a:gd name="T14" fmla="*/ 0 60000 65536"/>
                <a:gd name="T15" fmla="*/ 0 60000 65536"/>
                <a:gd name="T16" fmla="*/ 0 60000 65536"/>
                <a:gd name="T17" fmla="*/ 0 60000 65536"/>
                <a:gd name="T18" fmla="*/ 0 w 249"/>
                <a:gd name="T19" fmla="*/ 0 h 333"/>
                <a:gd name="T20" fmla="*/ 249 w 249"/>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49" h="333">
                  <a:moveTo>
                    <a:pt x="124" y="0"/>
                  </a:moveTo>
                  <a:cubicBezTo>
                    <a:pt x="194" y="0"/>
                    <a:pt x="248" y="72"/>
                    <a:pt x="248" y="166"/>
                  </a:cubicBezTo>
                  <a:cubicBezTo>
                    <a:pt x="248" y="260"/>
                    <a:pt x="194" y="332"/>
                    <a:pt x="124" y="332"/>
                  </a:cubicBezTo>
                  <a:cubicBezTo>
                    <a:pt x="53" y="332"/>
                    <a:pt x="0" y="260"/>
                    <a:pt x="0" y="166"/>
                  </a:cubicBezTo>
                  <a:cubicBezTo>
                    <a:pt x="0" y="72"/>
                    <a:pt x="53" y="0"/>
                    <a:pt x="124" y="0"/>
                  </a:cubicBezTo>
                </a:path>
              </a:pathLst>
            </a:custGeom>
            <a:solidFill>
              <a:srgbClr val="333399"/>
            </a:solidFill>
            <a:ln w="9360">
              <a:solidFill>
                <a:srgbClr val="000000"/>
              </a:solidFill>
              <a:round/>
              <a:headEnd/>
              <a:tailEnd/>
            </a:ln>
          </p:spPr>
          <p:txBody>
            <a:bodyPr wrap="none" anchor="ctr"/>
            <a:lstStyle/>
            <a:p>
              <a:endParaRPr lang="en-US"/>
            </a:p>
          </p:txBody>
        </p:sp>
        <p:sp>
          <p:nvSpPr>
            <p:cNvPr id="25" name="Freeform 24"/>
            <p:cNvSpPr>
              <a:spLocks noChangeArrowheads="1"/>
            </p:cNvSpPr>
            <p:nvPr/>
          </p:nvSpPr>
          <p:spPr bwMode="auto">
            <a:xfrm>
              <a:off x="1115" y="2655"/>
              <a:ext cx="573" cy="785"/>
            </a:xfrm>
            <a:custGeom>
              <a:avLst/>
              <a:gdLst>
                <a:gd name="T0" fmla="*/ 0 w 2528"/>
                <a:gd name="T1" fmla="*/ 0 h 3463"/>
                <a:gd name="T2" fmla="*/ 0 w 2528"/>
                <a:gd name="T3" fmla="*/ 0 h 3463"/>
                <a:gd name="T4" fmla="*/ 0 w 2528"/>
                <a:gd name="T5" fmla="*/ 0 h 3463"/>
                <a:gd name="T6" fmla="*/ 0 w 2528"/>
                <a:gd name="T7" fmla="*/ 0 h 3463"/>
                <a:gd name="T8" fmla="*/ 0 w 2528"/>
                <a:gd name="T9" fmla="*/ 0 h 3463"/>
                <a:gd name="T10" fmla="*/ 0 w 2528"/>
                <a:gd name="T11" fmla="*/ 0 h 3463"/>
                <a:gd name="T12" fmla="*/ 0 w 2528"/>
                <a:gd name="T13" fmla="*/ 0 h 3463"/>
                <a:gd name="T14" fmla="*/ 0 w 2528"/>
                <a:gd name="T15" fmla="*/ 0 h 3463"/>
                <a:gd name="T16" fmla="*/ 0 w 2528"/>
                <a:gd name="T17" fmla="*/ 0 h 3463"/>
                <a:gd name="T18" fmla="*/ 0 w 2528"/>
                <a:gd name="T19" fmla="*/ 0 h 3463"/>
                <a:gd name="T20" fmla="*/ 0 w 2528"/>
                <a:gd name="T21" fmla="*/ 0 h 3463"/>
                <a:gd name="T22" fmla="*/ 0 w 2528"/>
                <a:gd name="T23" fmla="*/ 0 h 3463"/>
                <a:gd name="T24" fmla="*/ 0 w 2528"/>
                <a:gd name="T25" fmla="*/ 0 h 3463"/>
                <a:gd name="T26" fmla="*/ 0 w 2528"/>
                <a:gd name="T27" fmla="*/ 0 h 3463"/>
                <a:gd name="T28" fmla="*/ 0 w 2528"/>
                <a:gd name="T29" fmla="*/ 0 h 3463"/>
                <a:gd name="T30" fmla="*/ 0 w 2528"/>
                <a:gd name="T31" fmla="*/ 0 h 3463"/>
                <a:gd name="T32" fmla="*/ 0 w 2528"/>
                <a:gd name="T33" fmla="*/ 0 h 3463"/>
                <a:gd name="T34" fmla="*/ 0 w 2528"/>
                <a:gd name="T35" fmla="*/ 0 h 3463"/>
                <a:gd name="T36" fmla="*/ 0 w 2528"/>
                <a:gd name="T37" fmla="*/ 0 h 3463"/>
                <a:gd name="T38" fmla="*/ 0 w 2528"/>
                <a:gd name="T39" fmla="*/ 0 h 3463"/>
                <a:gd name="T40" fmla="*/ 0 w 2528"/>
                <a:gd name="T41" fmla="*/ 0 h 3463"/>
                <a:gd name="T42" fmla="*/ 0 w 2528"/>
                <a:gd name="T43" fmla="*/ 0 h 3463"/>
                <a:gd name="T44" fmla="*/ 0 w 2528"/>
                <a:gd name="T45" fmla="*/ 0 h 3463"/>
                <a:gd name="T46" fmla="*/ 0 w 2528"/>
                <a:gd name="T47" fmla="*/ 0 h 3463"/>
                <a:gd name="T48" fmla="*/ 0 w 2528"/>
                <a:gd name="T49" fmla="*/ 0 h 3463"/>
                <a:gd name="T50" fmla="*/ 0 w 2528"/>
                <a:gd name="T51" fmla="*/ 0 h 346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528"/>
                <a:gd name="T79" fmla="*/ 0 h 3463"/>
                <a:gd name="T80" fmla="*/ 2528 w 2528"/>
                <a:gd name="T81" fmla="*/ 3463 h 346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528" h="3463">
                  <a:moveTo>
                    <a:pt x="624" y="2935"/>
                  </a:moveTo>
                  <a:cubicBezTo>
                    <a:pt x="489" y="2878"/>
                    <a:pt x="594" y="2949"/>
                    <a:pt x="525" y="2806"/>
                  </a:cubicBezTo>
                  <a:cubicBezTo>
                    <a:pt x="484" y="2716"/>
                    <a:pt x="396" y="2677"/>
                    <a:pt x="324" y="2644"/>
                  </a:cubicBezTo>
                  <a:cubicBezTo>
                    <a:pt x="291" y="2598"/>
                    <a:pt x="253" y="2562"/>
                    <a:pt x="222" y="2512"/>
                  </a:cubicBezTo>
                  <a:cubicBezTo>
                    <a:pt x="187" y="2451"/>
                    <a:pt x="123" y="2318"/>
                    <a:pt x="123" y="2318"/>
                  </a:cubicBezTo>
                  <a:cubicBezTo>
                    <a:pt x="82" y="2099"/>
                    <a:pt x="27" y="1887"/>
                    <a:pt x="0" y="1665"/>
                  </a:cubicBezTo>
                  <a:cubicBezTo>
                    <a:pt x="8" y="1349"/>
                    <a:pt x="2" y="1033"/>
                    <a:pt x="24" y="717"/>
                  </a:cubicBezTo>
                  <a:cubicBezTo>
                    <a:pt x="30" y="628"/>
                    <a:pt x="203" y="498"/>
                    <a:pt x="222" y="488"/>
                  </a:cubicBezTo>
                  <a:cubicBezTo>
                    <a:pt x="421" y="362"/>
                    <a:pt x="611" y="78"/>
                    <a:pt x="801" y="0"/>
                  </a:cubicBezTo>
                  <a:cubicBezTo>
                    <a:pt x="864" y="10"/>
                    <a:pt x="1001" y="17"/>
                    <a:pt x="1076" y="64"/>
                  </a:cubicBezTo>
                  <a:cubicBezTo>
                    <a:pt x="1183" y="132"/>
                    <a:pt x="1227" y="165"/>
                    <a:pt x="1351" y="197"/>
                  </a:cubicBezTo>
                  <a:cubicBezTo>
                    <a:pt x="1527" y="351"/>
                    <a:pt x="1757" y="358"/>
                    <a:pt x="1903" y="588"/>
                  </a:cubicBezTo>
                  <a:cubicBezTo>
                    <a:pt x="2093" y="889"/>
                    <a:pt x="1831" y="495"/>
                    <a:pt x="1977" y="782"/>
                  </a:cubicBezTo>
                  <a:cubicBezTo>
                    <a:pt x="1996" y="821"/>
                    <a:pt x="2029" y="846"/>
                    <a:pt x="2051" y="882"/>
                  </a:cubicBezTo>
                  <a:cubicBezTo>
                    <a:pt x="2120" y="997"/>
                    <a:pt x="2153" y="1144"/>
                    <a:pt x="2227" y="1241"/>
                  </a:cubicBezTo>
                  <a:cubicBezTo>
                    <a:pt x="2285" y="1471"/>
                    <a:pt x="2247" y="1378"/>
                    <a:pt x="2327" y="1532"/>
                  </a:cubicBezTo>
                  <a:cubicBezTo>
                    <a:pt x="2343" y="1639"/>
                    <a:pt x="2357" y="1751"/>
                    <a:pt x="2376" y="1858"/>
                  </a:cubicBezTo>
                  <a:cubicBezTo>
                    <a:pt x="2398" y="1970"/>
                    <a:pt x="2434" y="2074"/>
                    <a:pt x="2450" y="2185"/>
                  </a:cubicBezTo>
                  <a:cubicBezTo>
                    <a:pt x="2483" y="2390"/>
                    <a:pt x="2478" y="2576"/>
                    <a:pt x="2527" y="2773"/>
                  </a:cubicBezTo>
                  <a:cubicBezTo>
                    <a:pt x="2505" y="3032"/>
                    <a:pt x="2489" y="3233"/>
                    <a:pt x="2277" y="3326"/>
                  </a:cubicBezTo>
                  <a:cubicBezTo>
                    <a:pt x="2211" y="3355"/>
                    <a:pt x="2142" y="3373"/>
                    <a:pt x="2076" y="3394"/>
                  </a:cubicBezTo>
                  <a:cubicBezTo>
                    <a:pt x="2043" y="3405"/>
                    <a:pt x="1977" y="3427"/>
                    <a:pt x="1977" y="3427"/>
                  </a:cubicBezTo>
                  <a:cubicBezTo>
                    <a:pt x="1839" y="3423"/>
                    <a:pt x="1271" y="3462"/>
                    <a:pt x="974" y="3362"/>
                  </a:cubicBezTo>
                  <a:cubicBezTo>
                    <a:pt x="869" y="3326"/>
                    <a:pt x="748" y="3197"/>
                    <a:pt x="674" y="3100"/>
                  </a:cubicBezTo>
                  <a:cubicBezTo>
                    <a:pt x="635" y="3050"/>
                    <a:pt x="528" y="2935"/>
                    <a:pt x="624" y="2935"/>
                  </a:cubicBezTo>
                </a:path>
              </a:pathLst>
            </a:custGeom>
            <a:noFill/>
            <a:ln w="9360">
              <a:solidFill>
                <a:srgbClr val="000000"/>
              </a:solidFill>
              <a:round/>
              <a:headEnd/>
              <a:tailEnd/>
            </a:ln>
          </p:spPr>
          <p:txBody>
            <a:bodyPr wrap="none" anchor="ctr"/>
            <a:lstStyle/>
            <a:p>
              <a:endParaRPr lang="en-US"/>
            </a:p>
          </p:txBody>
        </p:sp>
        <p:grpSp>
          <p:nvGrpSpPr>
            <p:cNvPr id="26" name="Group 25"/>
            <p:cNvGrpSpPr>
              <a:grpSpLocks/>
            </p:cNvGrpSpPr>
            <p:nvPr/>
          </p:nvGrpSpPr>
          <p:grpSpPr bwMode="auto">
            <a:xfrm>
              <a:off x="605" y="2078"/>
              <a:ext cx="546" cy="954"/>
              <a:chOff x="605" y="2078"/>
              <a:chExt cx="546" cy="954"/>
            </a:xfrm>
          </p:grpSpPr>
          <p:sp>
            <p:nvSpPr>
              <p:cNvPr id="27" name="Freeform 26"/>
              <p:cNvSpPr>
                <a:spLocks noChangeArrowheads="1"/>
              </p:cNvSpPr>
              <p:nvPr/>
            </p:nvSpPr>
            <p:spPr bwMode="auto">
              <a:xfrm>
                <a:off x="782" y="2774"/>
                <a:ext cx="57" cy="76"/>
              </a:xfrm>
              <a:custGeom>
                <a:avLst/>
                <a:gdLst>
                  <a:gd name="T0" fmla="*/ 0 w 250"/>
                  <a:gd name="T1" fmla="*/ 0 h 333"/>
                  <a:gd name="T2" fmla="*/ 0 w 250"/>
                  <a:gd name="T3" fmla="*/ 0 h 333"/>
                  <a:gd name="T4" fmla="*/ 0 w 250"/>
                  <a:gd name="T5" fmla="*/ 0 h 333"/>
                  <a:gd name="T6" fmla="*/ 0 w 250"/>
                  <a:gd name="T7" fmla="*/ 0 h 333"/>
                  <a:gd name="T8" fmla="*/ 0 w 250"/>
                  <a:gd name="T9" fmla="*/ 0 h 333"/>
                  <a:gd name="T10" fmla="*/ 0 w 250"/>
                  <a:gd name="T11" fmla="*/ 0 h 333"/>
                  <a:gd name="T12" fmla="*/ 0 60000 65536"/>
                  <a:gd name="T13" fmla="*/ 0 60000 65536"/>
                  <a:gd name="T14" fmla="*/ 0 60000 65536"/>
                  <a:gd name="T15" fmla="*/ 0 60000 65536"/>
                  <a:gd name="T16" fmla="*/ 0 60000 65536"/>
                  <a:gd name="T17" fmla="*/ 0 60000 65536"/>
                  <a:gd name="T18" fmla="*/ 0 w 250"/>
                  <a:gd name="T19" fmla="*/ 0 h 333"/>
                  <a:gd name="T20" fmla="*/ 250 w 250"/>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50" h="333">
                    <a:moveTo>
                      <a:pt x="124" y="0"/>
                    </a:moveTo>
                    <a:cubicBezTo>
                      <a:pt x="195" y="0"/>
                      <a:pt x="249" y="72"/>
                      <a:pt x="249" y="166"/>
                    </a:cubicBezTo>
                    <a:cubicBezTo>
                      <a:pt x="249" y="260"/>
                      <a:pt x="195" y="332"/>
                      <a:pt x="124" y="332"/>
                    </a:cubicBezTo>
                    <a:cubicBezTo>
                      <a:pt x="54" y="332"/>
                      <a:pt x="0" y="260"/>
                      <a:pt x="0" y="166"/>
                    </a:cubicBezTo>
                    <a:cubicBezTo>
                      <a:pt x="0" y="72"/>
                      <a:pt x="54" y="0"/>
                      <a:pt x="124" y="0"/>
                    </a:cubicBezTo>
                  </a:path>
                </a:pathLst>
              </a:custGeom>
              <a:solidFill>
                <a:srgbClr val="00E4A8"/>
              </a:solidFill>
              <a:ln w="9360">
                <a:solidFill>
                  <a:srgbClr val="000000"/>
                </a:solidFill>
                <a:round/>
                <a:headEnd/>
                <a:tailEnd/>
              </a:ln>
            </p:spPr>
            <p:txBody>
              <a:bodyPr wrap="none" anchor="ctr"/>
              <a:lstStyle/>
              <a:p>
                <a:endParaRPr lang="en-US"/>
              </a:p>
            </p:txBody>
          </p:sp>
          <p:sp>
            <p:nvSpPr>
              <p:cNvPr id="28" name="Freeform 27"/>
              <p:cNvSpPr>
                <a:spLocks noChangeArrowheads="1"/>
              </p:cNvSpPr>
              <p:nvPr/>
            </p:nvSpPr>
            <p:spPr bwMode="auto">
              <a:xfrm>
                <a:off x="706" y="2674"/>
                <a:ext cx="57" cy="76"/>
              </a:xfrm>
              <a:custGeom>
                <a:avLst/>
                <a:gdLst>
                  <a:gd name="T0" fmla="*/ 0 w 250"/>
                  <a:gd name="T1" fmla="*/ 0 h 333"/>
                  <a:gd name="T2" fmla="*/ 0 w 250"/>
                  <a:gd name="T3" fmla="*/ 0 h 333"/>
                  <a:gd name="T4" fmla="*/ 0 w 250"/>
                  <a:gd name="T5" fmla="*/ 0 h 333"/>
                  <a:gd name="T6" fmla="*/ 0 w 250"/>
                  <a:gd name="T7" fmla="*/ 0 h 333"/>
                  <a:gd name="T8" fmla="*/ 0 w 250"/>
                  <a:gd name="T9" fmla="*/ 0 h 333"/>
                  <a:gd name="T10" fmla="*/ 0 w 250"/>
                  <a:gd name="T11" fmla="*/ 0 h 333"/>
                  <a:gd name="T12" fmla="*/ 0 60000 65536"/>
                  <a:gd name="T13" fmla="*/ 0 60000 65536"/>
                  <a:gd name="T14" fmla="*/ 0 60000 65536"/>
                  <a:gd name="T15" fmla="*/ 0 60000 65536"/>
                  <a:gd name="T16" fmla="*/ 0 60000 65536"/>
                  <a:gd name="T17" fmla="*/ 0 60000 65536"/>
                  <a:gd name="T18" fmla="*/ 0 w 250"/>
                  <a:gd name="T19" fmla="*/ 0 h 333"/>
                  <a:gd name="T20" fmla="*/ 250 w 250"/>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50" h="333">
                    <a:moveTo>
                      <a:pt x="124" y="0"/>
                    </a:moveTo>
                    <a:cubicBezTo>
                      <a:pt x="194" y="0"/>
                      <a:pt x="249" y="72"/>
                      <a:pt x="249" y="166"/>
                    </a:cubicBezTo>
                    <a:cubicBezTo>
                      <a:pt x="249" y="260"/>
                      <a:pt x="194" y="332"/>
                      <a:pt x="124" y="332"/>
                    </a:cubicBezTo>
                    <a:cubicBezTo>
                      <a:pt x="53" y="332"/>
                      <a:pt x="0" y="260"/>
                      <a:pt x="0" y="166"/>
                    </a:cubicBezTo>
                    <a:cubicBezTo>
                      <a:pt x="0" y="72"/>
                      <a:pt x="53" y="0"/>
                      <a:pt x="124" y="0"/>
                    </a:cubicBezTo>
                  </a:path>
                </a:pathLst>
              </a:custGeom>
              <a:solidFill>
                <a:srgbClr val="00E4A8"/>
              </a:solidFill>
              <a:ln w="9360">
                <a:solidFill>
                  <a:srgbClr val="000000"/>
                </a:solidFill>
                <a:round/>
                <a:headEnd/>
                <a:tailEnd/>
              </a:ln>
            </p:spPr>
            <p:txBody>
              <a:bodyPr wrap="none" anchor="ctr"/>
              <a:lstStyle/>
              <a:p>
                <a:endParaRPr lang="en-US"/>
              </a:p>
            </p:txBody>
          </p:sp>
          <p:sp>
            <p:nvSpPr>
              <p:cNvPr id="29" name="Freeform 28"/>
              <p:cNvSpPr>
                <a:spLocks noChangeArrowheads="1"/>
              </p:cNvSpPr>
              <p:nvPr/>
            </p:nvSpPr>
            <p:spPr bwMode="auto">
              <a:xfrm>
                <a:off x="904" y="2687"/>
                <a:ext cx="56" cy="75"/>
              </a:xfrm>
              <a:custGeom>
                <a:avLst/>
                <a:gdLst>
                  <a:gd name="T0" fmla="*/ 0 w 249"/>
                  <a:gd name="T1" fmla="*/ 0 h 329"/>
                  <a:gd name="T2" fmla="*/ 0 w 249"/>
                  <a:gd name="T3" fmla="*/ 0 h 329"/>
                  <a:gd name="T4" fmla="*/ 0 w 249"/>
                  <a:gd name="T5" fmla="*/ 0 h 329"/>
                  <a:gd name="T6" fmla="*/ 0 w 249"/>
                  <a:gd name="T7" fmla="*/ 0 h 329"/>
                  <a:gd name="T8" fmla="*/ 0 w 249"/>
                  <a:gd name="T9" fmla="*/ 0 h 329"/>
                  <a:gd name="T10" fmla="*/ 0 w 249"/>
                  <a:gd name="T11" fmla="*/ 0 h 329"/>
                  <a:gd name="T12" fmla="*/ 0 60000 65536"/>
                  <a:gd name="T13" fmla="*/ 0 60000 65536"/>
                  <a:gd name="T14" fmla="*/ 0 60000 65536"/>
                  <a:gd name="T15" fmla="*/ 0 60000 65536"/>
                  <a:gd name="T16" fmla="*/ 0 60000 65536"/>
                  <a:gd name="T17" fmla="*/ 0 60000 65536"/>
                  <a:gd name="T18" fmla="*/ 0 w 249"/>
                  <a:gd name="T19" fmla="*/ 0 h 329"/>
                  <a:gd name="T20" fmla="*/ 249 w 249"/>
                  <a:gd name="T21" fmla="*/ 329 h 329"/>
                </a:gdLst>
                <a:ahLst/>
                <a:cxnLst>
                  <a:cxn ang="T12">
                    <a:pos x="T0" y="T1"/>
                  </a:cxn>
                  <a:cxn ang="T13">
                    <a:pos x="T2" y="T3"/>
                  </a:cxn>
                  <a:cxn ang="T14">
                    <a:pos x="T4" y="T5"/>
                  </a:cxn>
                  <a:cxn ang="T15">
                    <a:pos x="T6" y="T7"/>
                  </a:cxn>
                  <a:cxn ang="T16">
                    <a:pos x="T8" y="T9"/>
                  </a:cxn>
                  <a:cxn ang="T17">
                    <a:pos x="T10" y="T11"/>
                  </a:cxn>
                </a:cxnLst>
                <a:rect l="T18" t="T19" r="T20" b="T21"/>
                <a:pathLst>
                  <a:path w="249" h="329">
                    <a:moveTo>
                      <a:pt x="124" y="0"/>
                    </a:moveTo>
                    <a:cubicBezTo>
                      <a:pt x="194" y="0"/>
                      <a:pt x="248" y="71"/>
                      <a:pt x="248" y="164"/>
                    </a:cubicBezTo>
                    <a:cubicBezTo>
                      <a:pt x="248" y="257"/>
                      <a:pt x="194" y="328"/>
                      <a:pt x="124" y="328"/>
                    </a:cubicBezTo>
                    <a:cubicBezTo>
                      <a:pt x="53" y="328"/>
                      <a:pt x="0" y="257"/>
                      <a:pt x="0" y="164"/>
                    </a:cubicBezTo>
                    <a:cubicBezTo>
                      <a:pt x="0" y="71"/>
                      <a:pt x="53" y="0"/>
                      <a:pt x="124" y="0"/>
                    </a:cubicBezTo>
                  </a:path>
                </a:pathLst>
              </a:custGeom>
              <a:solidFill>
                <a:srgbClr val="00E4A8"/>
              </a:solidFill>
              <a:ln w="9360">
                <a:solidFill>
                  <a:srgbClr val="000000"/>
                </a:solidFill>
                <a:round/>
                <a:headEnd/>
                <a:tailEnd/>
              </a:ln>
            </p:spPr>
            <p:txBody>
              <a:bodyPr wrap="none" anchor="ctr"/>
              <a:lstStyle/>
              <a:p>
                <a:endParaRPr lang="en-US"/>
              </a:p>
            </p:txBody>
          </p:sp>
          <p:sp>
            <p:nvSpPr>
              <p:cNvPr id="30" name="Freeform 29"/>
              <p:cNvSpPr>
                <a:spLocks noChangeArrowheads="1"/>
              </p:cNvSpPr>
              <p:nvPr/>
            </p:nvSpPr>
            <p:spPr bwMode="auto">
              <a:xfrm>
                <a:off x="808" y="2512"/>
                <a:ext cx="58" cy="75"/>
              </a:xfrm>
              <a:custGeom>
                <a:avLst/>
                <a:gdLst>
                  <a:gd name="T0" fmla="*/ 0 w 255"/>
                  <a:gd name="T1" fmla="*/ 0 h 330"/>
                  <a:gd name="T2" fmla="*/ 0 w 255"/>
                  <a:gd name="T3" fmla="*/ 0 h 330"/>
                  <a:gd name="T4" fmla="*/ 0 w 255"/>
                  <a:gd name="T5" fmla="*/ 0 h 330"/>
                  <a:gd name="T6" fmla="*/ 0 w 255"/>
                  <a:gd name="T7" fmla="*/ 0 h 330"/>
                  <a:gd name="T8" fmla="*/ 0 w 255"/>
                  <a:gd name="T9" fmla="*/ 0 h 330"/>
                  <a:gd name="T10" fmla="*/ 0 w 255"/>
                  <a:gd name="T11" fmla="*/ 0 h 330"/>
                  <a:gd name="T12" fmla="*/ 0 60000 65536"/>
                  <a:gd name="T13" fmla="*/ 0 60000 65536"/>
                  <a:gd name="T14" fmla="*/ 0 60000 65536"/>
                  <a:gd name="T15" fmla="*/ 0 60000 65536"/>
                  <a:gd name="T16" fmla="*/ 0 60000 65536"/>
                  <a:gd name="T17" fmla="*/ 0 60000 65536"/>
                  <a:gd name="T18" fmla="*/ 0 w 255"/>
                  <a:gd name="T19" fmla="*/ 0 h 330"/>
                  <a:gd name="T20" fmla="*/ 255 w 255"/>
                  <a:gd name="T21" fmla="*/ 330 h 330"/>
                </a:gdLst>
                <a:ahLst/>
                <a:cxnLst>
                  <a:cxn ang="T12">
                    <a:pos x="T0" y="T1"/>
                  </a:cxn>
                  <a:cxn ang="T13">
                    <a:pos x="T2" y="T3"/>
                  </a:cxn>
                  <a:cxn ang="T14">
                    <a:pos x="T4" y="T5"/>
                  </a:cxn>
                  <a:cxn ang="T15">
                    <a:pos x="T6" y="T7"/>
                  </a:cxn>
                  <a:cxn ang="T16">
                    <a:pos x="T8" y="T9"/>
                  </a:cxn>
                  <a:cxn ang="T17">
                    <a:pos x="T10" y="T11"/>
                  </a:cxn>
                </a:cxnLst>
                <a:rect l="T18" t="T19" r="T20" b="T21"/>
                <a:pathLst>
                  <a:path w="255" h="330">
                    <a:moveTo>
                      <a:pt x="127" y="0"/>
                    </a:moveTo>
                    <a:cubicBezTo>
                      <a:pt x="198" y="0"/>
                      <a:pt x="254" y="72"/>
                      <a:pt x="254" y="165"/>
                    </a:cubicBezTo>
                    <a:cubicBezTo>
                      <a:pt x="254" y="257"/>
                      <a:pt x="198" y="329"/>
                      <a:pt x="127" y="329"/>
                    </a:cubicBezTo>
                    <a:cubicBezTo>
                      <a:pt x="55" y="329"/>
                      <a:pt x="0" y="257"/>
                      <a:pt x="0" y="165"/>
                    </a:cubicBezTo>
                    <a:cubicBezTo>
                      <a:pt x="0" y="72"/>
                      <a:pt x="55" y="0"/>
                      <a:pt x="127" y="0"/>
                    </a:cubicBezTo>
                  </a:path>
                </a:pathLst>
              </a:custGeom>
              <a:solidFill>
                <a:srgbClr val="00E4A8"/>
              </a:solidFill>
              <a:ln w="9360">
                <a:solidFill>
                  <a:srgbClr val="000000"/>
                </a:solidFill>
                <a:round/>
                <a:headEnd/>
                <a:tailEnd/>
              </a:ln>
            </p:spPr>
            <p:txBody>
              <a:bodyPr wrap="none" anchor="ctr"/>
              <a:lstStyle/>
              <a:p>
                <a:endParaRPr lang="en-US"/>
              </a:p>
            </p:txBody>
          </p:sp>
          <p:sp>
            <p:nvSpPr>
              <p:cNvPr id="31" name="Freeform 30"/>
              <p:cNvSpPr>
                <a:spLocks noChangeArrowheads="1"/>
              </p:cNvSpPr>
              <p:nvPr/>
            </p:nvSpPr>
            <p:spPr bwMode="auto">
              <a:xfrm>
                <a:off x="669" y="2790"/>
                <a:ext cx="57" cy="75"/>
              </a:xfrm>
              <a:custGeom>
                <a:avLst/>
                <a:gdLst>
                  <a:gd name="T0" fmla="*/ 0 w 250"/>
                  <a:gd name="T1" fmla="*/ 0 h 331"/>
                  <a:gd name="T2" fmla="*/ 0 w 250"/>
                  <a:gd name="T3" fmla="*/ 0 h 331"/>
                  <a:gd name="T4" fmla="*/ 0 w 250"/>
                  <a:gd name="T5" fmla="*/ 0 h 331"/>
                  <a:gd name="T6" fmla="*/ 0 w 250"/>
                  <a:gd name="T7" fmla="*/ 0 h 331"/>
                  <a:gd name="T8" fmla="*/ 0 w 250"/>
                  <a:gd name="T9" fmla="*/ 0 h 331"/>
                  <a:gd name="T10" fmla="*/ 0 w 250"/>
                  <a:gd name="T11" fmla="*/ 0 h 331"/>
                  <a:gd name="T12" fmla="*/ 0 60000 65536"/>
                  <a:gd name="T13" fmla="*/ 0 60000 65536"/>
                  <a:gd name="T14" fmla="*/ 0 60000 65536"/>
                  <a:gd name="T15" fmla="*/ 0 60000 65536"/>
                  <a:gd name="T16" fmla="*/ 0 60000 65536"/>
                  <a:gd name="T17" fmla="*/ 0 60000 65536"/>
                  <a:gd name="T18" fmla="*/ 0 w 250"/>
                  <a:gd name="T19" fmla="*/ 0 h 331"/>
                  <a:gd name="T20" fmla="*/ 250 w 250"/>
                  <a:gd name="T21" fmla="*/ 331 h 331"/>
                </a:gdLst>
                <a:ahLst/>
                <a:cxnLst>
                  <a:cxn ang="T12">
                    <a:pos x="T0" y="T1"/>
                  </a:cxn>
                  <a:cxn ang="T13">
                    <a:pos x="T2" y="T3"/>
                  </a:cxn>
                  <a:cxn ang="T14">
                    <a:pos x="T4" y="T5"/>
                  </a:cxn>
                  <a:cxn ang="T15">
                    <a:pos x="T6" y="T7"/>
                  </a:cxn>
                  <a:cxn ang="T16">
                    <a:pos x="T8" y="T9"/>
                  </a:cxn>
                  <a:cxn ang="T17">
                    <a:pos x="T10" y="T11"/>
                  </a:cxn>
                </a:cxnLst>
                <a:rect l="T18" t="T19" r="T20" b="T21"/>
                <a:pathLst>
                  <a:path w="250" h="331">
                    <a:moveTo>
                      <a:pt x="124" y="0"/>
                    </a:moveTo>
                    <a:cubicBezTo>
                      <a:pt x="194" y="0"/>
                      <a:pt x="249" y="72"/>
                      <a:pt x="249" y="165"/>
                    </a:cubicBezTo>
                    <a:cubicBezTo>
                      <a:pt x="249" y="258"/>
                      <a:pt x="194" y="330"/>
                      <a:pt x="124" y="330"/>
                    </a:cubicBezTo>
                    <a:cubicBezTo>
                      <a:pt x="53" y="330"/>
                      <a:pt x="0" y="258"/>
                      <a:pt x="0" y="165"/>
                    </a:cubicBezTo>
                    <a:cubicBezTo>
                      <a:pt x="0" y="72"/>
                      <a:pt x="53" y="0"/>
                      <a:pt x="124" y="0"/>
                    </a:cubicBezTo>
                  </a:path>
                </a:pathLst>
              </a:custGeom>
              <a:solidFill>
                <a:srgbClr val="00E4A8"/>
              </a:solidFill>
              <a:ln w="9360">
                <a:solidFill>
                  <a:srgbClr val="000000"/>
                </a:solidFill>
                <a:round/>
                <a:headEnd/>
                <a:tailEnd/>
              </a:ln>
            </p:spPr>
            <p:txBody>
              <a:bodyPr wrap="none" anchor="ctr"/>
              <a:lstStyle/>
              <a:p>
                <a:endParaRPr lang="en-US"/>
              </a:p>
            </p:txBody>
          </p:sp>
          <p:sp>
            <p:nvSpPr>
              <p:cNvPr id="32" name="Freeform 31"/>
              <p:cNvSpPr>
                <a:spLocks noChangeArrowheads="1"/>
              </p:cNvSpPr>
              <p:nvPr/>
            </p:nvSpPr>
            <p:spPr bwMode="auto">
              <a:xfrm>
                <a:off x="724" y="2550"/>
                <a:ext cx="56" cy="75"/>
              </a:xfrm>
              <a:custGeom>
                <a:avLst/>
                <a:gdLst>
                  <a:gd name="T0" fmla="*/ 0 w 249"/>
                  <a:gd name="T1" fmla="*/ 0 h 332"/>
                  <a:gd name="T2" fmla="*/ 0 w 249"/>
                  <a:gd name="T3" fmla="*/ 0 h 332"/>
                  <a:gd name="T4" fmla="*/ 0 w 249"/>
                  <a:gd name="T5" fmla="*/ 0 h 332"/>
                  <a:gd name="T6" fmla="*/ 0 w 249"/>
                  <a:gd name="T7" fmla="*/ 0 h 332"/>
                  <a:gd name="T8" fmla="*/ 0 w 249"/>
                  <a:gd name="T9" fmla="*/ 0 h 332"/>
                  <a:gd name="T10" fmla="*/ 0 w 249"/>
                  <a:gd name="T11" fmla="*/ 0 h 332"/>
                  <a:gd name="T12" fmla="*/ 0 60000 65536"/>
                  <a:gd name="T13" fmla="*/ 0 60000 65536"/>
                  <a:gd name="T14" fmla="*/ 0 60000 65536"/>
                  <a:gd name="T15" fmla="*/ 0 60000 65536"/>
                  <a:gd name="T16" fmla="*/ 0 60000 65536"/>
                  <a:gd name="T17" fmla="*/ 0 60000 65536"/>
                  <a:gd name="T18" fmla="*/ 0 w 249"/>
                  <a:gd name="T19" fmla="*/ 0 h 332"/>
                  <a:gd name="T20" fmla="*/ 249 w 249"/>
                  <a:gd name="T21" fmla="*/ 332 h 332"/>
                </a:gdLst>
                <a:ahLst/>
                <a:cxnLst>
                  <a:cxn ang="T12">
                    <a:pos x="T0" y="T1"/>
                  </a:cxn>
                  <a:cxn ang="T13">
                    <a:pos x="T2" y="T3"/>
                  </a:cxn>
                  <a:cxn ang="T14">
                    <a:pos x="T4" y="T5"/>
                  </a:cxn>
                  <a:cxn ang="T15">
                    <a:pos x="T6" y="T7"/>
                  </a:cxn>
                  <a:cxn ang="T16">
                    <a:pos x="T8" y="T9"/>
                  </a:cxn>
                  <a:cxn ang="T17">
                    <a:pos x="T10" y="T11"/>
                  </a:cxn>
                </a:cxnLst>
                <a:rect l="T18" t="T19" r="T20" b="T21"/>
                <a:pathLst>
                  <a:path w="249" h="332">
                    <a:moveTo>
                      <a:pt x="123" y="0"/>
                    </a:moveTo>
                    <a:cubicBezTo>
                      <a:pt x="194" y="0"/>
                      <a:pt x="248" y="71"/>
                      <a:pt x="248" y="165"/>
                    </a:cubicBezTo>
                    <a:cubicBezTo>
                      <a:pt x="248" y="259"/>
                      <a:pt x="194" y="331"/>
                      <a:pt x="123" y="331"/>
                    </a:cubicBezTo>
                    <a:cubicBezTo>
                      <a:pt x="53" y="331"/>
                      <a:pt x="0" y="259"/>
                      <a:pt x="0" y="165"/>
                    </a:cubicBezTo>
                    <a:cubicBezTo>
                      <a:pt x="0" y="71"/>
                      <a:pt x="53" y="0"/>
                      <a:pt x="123" y="0"/>
                    </a:cubicBezTo>
                  </a:path>
                </a:pathLst>
              </a:custGeom>
              <a:solidFill>
                <a:srgbClr val="00E4A8"/>
              </a:solidFill>
              <a:ln w="9360">
                <a:solidFill>
                  <a:srgbClr val="000000"/>
                </a:solidFill>
                <a:round/>
                <a:headEnd/>
                <a:tailEnd/>
              </a:ln>
            </p:spPr>
            <p:txBody>
              <a:bodyPr wrap="none" anchor="ctr"/>
              <a:lstStyle/>
              <a:p>
                <a:endParaRPr lang="en-US"/>
              </a:p>
            </p:txBody>
          </p:sp>
          <p:sp>
            <p:nvSpPr>
              <p:cNvPr id="33" name="Freeform 32"/>
              <p:cNvSpPr>
                <a:spLocks noChangeArrowheads="1"/>
              </p:cNvSpPr>
              <p:nvPr/>
            </p:nvSpPr>
            <p:spPr bwMode="auto">
              <a:xfrm>
                <a:off x="913" y="2848"/>
                <a:ext cx="57" cy="76"/>
              </a:xfrm>
              <a:custGeom>
                <a:avLst/>
                <a:gdLst>
                  <a:gd name="T0" fmla="*/ 0 w 250"/>
                  <a:gd name="T1" fmla="*/ 0 h 333"/>
                  <a:gd name="T2" fmla="*/ 0 w 250"/>
                  <a:gd name="T3" fmla="*/ 0 h 333"/>
                  <a:gd name="T4" fmla="*/ 0 w 250"/>
                  <a:gd name="T5" fmla="*/ 0 h 333"/>
                  <a:gd name="T6" fmla="*/ 0 w 250"/>
                  <a:gd name="T7" fmla="*/ 0 h 333"/>
                  <a:gd name="T8" fmla="*/ 0 w 250"/>
                  <a:gd name="T9" fmla="*/ 0 h 333"/>
                  <a:gd name="T10" fmla="*/ 0 w 250"/>
                  <a:gd name="T11" fmla="*/ 0 h 333"/>
                  <a:gd name="T12" fmla="*/ 0 60000 65536"/>
                  <a:gd name="T13" fmla="*/ 0 60000 65536"/>
                  <a:gd name="T14" fmla="*/ 0 60000 65536"/>
                  <a:gd name="T15" fmla="*/ 0 60000 65536"/>
                  <a:gd name="T16" fmla="*/ 0 60000 65536"/>
                  <a:gd name="T17" fmla="*/ 0 60000 65536"/>
                  <a:gd name="T18" fmla="*/ 0 w 250"/>
                  <a:gd name="T19" fmla="*/ 0 h 333"/>
                  <a:gd name="T20" fmla="*/ 250 w 250"/>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50" h="333">
                    <a:moveTo>
                      <a:pt x="124" y="0"/>
                    </a:moveTo>
                    <a:cubicBezTo>
                      <a:pt x="194" y="0"/>
                      <a:pt x="249" y="72"/>
                      <a:pt x="249" y="166"/>
                    </a:cubicBezTo>
                    <a:cubicBezTo>
                      <a:pt x="249" y="260"/>
                      <a:pt x="194" y="332"/>
                      <a:pt x="124" y="332"/>
                    </a:cubicBezTo>
                    <a:cubicBezTo>
                      <a:pt x="53" y="332"/>
                      <a:pt x="0" y="260"/>
                      <a:pt x="0" y="166"/>
                    </a:cubicBezTo>
                    <a:cubicBezTo>
                      <a:pt x="0" y="72"/>
                      <a:pt x="53" y="0"/>
                      <a:pt x="124" y="0"/>
                    </a:cubicBezTo>
                  </a:path>
                </a:pathLst>
              </a:custGeom>
              <a:solidFill>
                <a:srgbClr val="00E4A8"/>
              </a:solidFill>
              <a:ln w="9360">
                <a:solidFill>
                  <a:srgbClr val="000000"/>
                </a:solidFill>
                <a:round/>
                <a:headEnd/>
                <a:tailEnd/>
              </a:ln>
            </p:spPr>
            <p:txBody>
              <a:bodyPr wrap="none" anchor="ctr"/>
              <a:lstStyle/>
              <a:p>
                <a:endParaRPr lang="en-US"/>
              </a:p>
            </p:txBody>
          </p:sp>
          <p:sp>
            <p:nvSpPr>
              <p:cNvPr id="34" name="Freeform 33"/>
              <p:cNvSpPr>
                <a:spLocks noChangeArrowheads="1"/>
              </p:cNvSpPr>
              <p:nvPr/>
            </p:nvSpPr>
            <p:spPr bwMode="auto">
              <a:xfrm>
                <a:off x="981" y="2542"/>
                <a:ext cx="57" cy="75"/>
              </a:xfrm>
              <a:custGeom>
                <a:avLst/>
                <a:gdLst>
                  <a:gd name="T0" fmla="*/ 0 w 250"/>
                  <a:gd name="T1" fmla="*/ 0 h 332"/>
                  <a:gd name="T2" fmla="*/ 0 w 250"/>
                  <a:gd name="T3" fmla="*/ 0 h 332"/>
                  <a:gd name="T4" fmla="*/ 0 w 250"/>
                  <a:gd name="T5" fmla="*/ 0 h 332"/>
                  <a:gd name="T6" fmla="*/ 0 w 250"/>
                  <a:gd name="T7" fmla="*/ 0 h 332"/>
                  <a:gd name="T8" fmla="*/ 0 w 250"/>
                  <a:gd name="T9" fmla="*/ 0 h 332"/>
                  <a:gd name="T10" fmla="*/ 0 w 250"/>
                  <a:gd name="T11" fmla="*/ 0 h 332"/>
                  <a:gd name="T12" fmla="*/ 0 60000 65536"/>
                  <a:gd name="T13" fmla="*/ 0 60000 65536"/>
                  <a:gd name="T14" fmla="*/ 0 60000 65536"/>
                  <a:gd name="T15" fmla="*/ 0 60000 65536"/>
                  <a:gd name="T16" fmla="*/ 0 60000 65536"/>
                  <a:gd name="T17" fmla="*/ 0 60000 65536"/>
                  <a:gd name="T18" fmla="*/ 0 w 250"/>
                  <a:gd name="T19" fmla="*/ 0 h 332"/>
                  <a:gd name="T20" fmla="*/ 250 w 250"/>
                  <a:gd name="T21" fmla="*/ 332 h 332"/>
                </a:gdLst>
                <a:ahLst/>
                <a:cxnLst>
                  <a:cxn ang="T12">
                    <a:pos x="T0" y="T1"/>
                  </a:cxn>
                  <a:cxn ang="T13">
                    <a:pos x="T2" y="T3"/>
                  </a:cxn>
                  <a:cxn ang="T14">
                    <a:pos x="T4" y="T5"/>
                  </a:cxn>
                  <a:cxn ang="T15">
                    <a:pos x="T6" y="T7"/>
                  </a:cxn>
                  <a:cxn ang="T16">
                    <a:pos x="T8" y="T9"/>
                  </a:cxn>
                  <a:cxn ang="T17">
                    <a:pos x="T10" y="T11"/>
                  </a:cxn>
                </a:cxnLst>
                <a:rect l="T18" t="T19" r="T20" b="T21"/>
                <a:pathLst>
                  <a:path w="250" h="332">
                    <a:moveTo>
                      <a:pt x="124" y="0"/>
                    </a:moveTo>
                    <a:cubicBezTo>
                      <a:pt x="194" y="0"/>
                      <a:pt x="249" y="71"/>
                      <a:pt x="249" y="165"/>
                    </a:cubicBezTo>
                    <a:cubicBezTo>
                      <a:pt x="249" y="259"/>
                      <a:pt x="194" y="331"/>
                      <a:pt x="124" y="331"/>
                    </a:cubicBezTo>
                    <a:cubicBezTo>
                      <a:pt x="53" y="331"/>
                      <a:pt x="0" y="259"/>
                      <a:pt x="0" y="165"/>
                    </a:cubicBezTo>
                    <a:cubicBezTo>
                      <a:pt x="0" y="71"/>
                      <a:pt x="53" y="0"/>
                      <a:pt x="124" y="0"/>
                    </a:cubicBezTo>
                  </a:path>
                </a:pathLst>
              </a:custGeom>
              <a:solidFill>
                <a:srgbClr val="00E4A8"/>
              </a:solidFill>
              <a:ln w="9360">
                <a:solidFill>
                  <a:srgbClr val="000000"/>
                </a:solidFill>
                <a:round/>
                <a:headEnd/>
                <a:tailEnd/>
              </a:ln>
            </p:spPr>
            <p:txBody>
              <a:bodyPr wrap="none" anchor="ctr"/>
              <a:lstStyle/>
              <a:p>
                <a:endParaRPr lang="en-US"/>
              </a:p>
            </p:txBody>
          </p:sp>
          <p:sp>
            <p:nvSpPr>
              <p:cNvPr id="35" name="Freeform 34"/>
              <p:cNvSpPr>
                <a:spLocks noChangeArrowheads="1"/>
              </p:cNvSpPr>
              <p:nvPr/>
            </p:nvSpPr>
            <p:spPr bwMode="auto">
              <a:xfrm>
                <a:off x="987" y="2374"/>
                <a:ext cx="57" cy="76"/>
              </a:xfrm>
              <a:custGeom>
                <a:avLst/>
                <a:gdLst>
                  <a:gd name="T0" fmla="*/ 0 w 250"/>
                  <a:gd name="T1" fmla="*/ 0 h 333"/>
                  <a:gd name="T2" fmla="*/ 0 w 250"/>
                  <a:gd name="T3" fmla="*/ 0 h 333"/>
                  <a:gd name="T4" fmla="*/ 0 w 250"/>
                  <a:gd name="T5" fmla="*/ 0 h 333"/>
                  <a:gd name="T6" fmla="*/ 0 w 250"/>
                  <a:gd name="T7" fmla="*/ 0 h 333"/>
                  <a:gd name="T8" fmla="*/ 0 w 250"/>
                  <a:gd name="T9" fmla="*/ 0 h 333"/>
                  <a:gd name="T10" fmla="*/ 0 w 250"/>
                  <a:gd name="T11" fmla="*/ 0 h 333"/>
                  <a:gd name="T12" fmla="*/ 0 60000 65536"/>
                  <a:gd name="T13" fmla="*/ 0 60000 65536"/>
                  <a:gd name="T14" fmla="*/ 0 60000 65536"/>
                  <a:gd name="T15" fmla="*/ 0 60000 65536"/>
                  <a:gd name="T16" fmla="*/ 0 60000 65536"/>
                  <a:gd name="T17" fmla="*/ 0 60000 65536"/>
                  <a:gd name="T18" fmla="*/ 0 w 250"/>
                  <a:gd name="T19" fmla="*/ 0 h 333"/>
                  <a:gd name="T20" fmla="*/ 250 w 250"/>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50" h="333">
                    <a:moveTo>
                      <a:pt x="124" y="0"/>
                    </a:moveTo>
                    <a:cubicBezTo>
                      <a:pt x="195" y="0"/>
                      <a:pt x="249" y="72"/>
                      <a:pt x="249" y="166"/>
                    </a:cubicBezTo>
                    <a:cubicBezTo>
                      <a:pt x="249" y="260"/>
                      <a:pt x="195" y="332"/>
                      <a:pt x="124" y="332"/>
                    </a:cubicBezTo>
                    <a:cubicBezTo>
                      <a:pt x="54" y="332"/>
                      <a:pt x="0" y="260"/>
                      <a:pt x="0" y="166"/>
                    </a:cubicBezTo>
                    <a:cubicBezTo>
                      <a:pt x="0" y="72"/>
                      <a:pt x="54" y="0"/>
                      <a:pt x="124" y="0"/>
                    </a:cubicBezTo>
                  </a:path>
                </a:pathLst>
              </a:custGeom>
              <a:solidFill>
                <a:srgbClr val="00E4A8"/>
              </a:solidFill>
              <a:ln w="9360">
                <a:solidFill>
                  <a:srgbClr val="000000"/>
                </a:solidFill>
                <a:round/>
                <a:headEnd/>
                <a:tailEnd/>
              </a:ln>
            </p:spPr>
            <p:txBody>
              <a:bodyPr wrap="none" anchor="ctr"/>
              <a:lstStyle/>
              <a:p>
                <a:endParaRPr lang="en-US"/>
              </a:p>
            </p:txBody>
          </p:sp>
          <p:sp>
            <p:nvSpPr>
              <p:cNvPr id="36" name="Freeform 35"/>
              <p:cNvSpPr>
                <a:spLocks noChangeArrowheads="1"/>
              </p:cNvSpPr>
              <p:nvPr/>
            </p:nvSpPr>
            <p:spPr bwMode="auto">
              <a:xfrm>
                <a:off x="937" y="2227"/>
                <a:ext cx="56" cy="76"/>
              </a:xfrm>
              <a:custGeom>
                <a:avLst/>
                <a:gdLst>
                  <a:gd name="T0" fmla="*/ 0 w 249"/>
                  <a:gd name="T1" fmla="*/ 0 h 333"/>
                  <a:gd name="T2" fmla="*/ 0 w 249"/>
                  <a:gd name="T3" fmla="*/ 0 h 333"/>
                  <a:gd name="T4" fmla="*/ 0 w 249"/>
                  <a:gd name="T5" fmla="*/ 0 h 333"/>
                  <a:gd name="T6" fmla="*/ 0 w 249"/>
                  <a:gd name="T7" fmla="*/ 0 h 333"/>
                  <a:gd name="T8" fmla="*/ 0 w 249"/>
                  <a:gd name="T9" fmla="*/ 0 h 333"/>
                  <a:gd name="T10" fmla="*/ 0 w 249"/>
                  <a:gd name="T11" fmla="*/ 0 h 333"/>
                  <a:gd name="T12" fmla="*/ 0 60000 65536"/>
                  <a:gd name="T13" fmla="*/ 0 60000 65536"/>
                  <a:gd name="T14" fmla="*/ 0 60000 65536"/>
                  <a:gd name="T15" fmla="*/ 0 60000 65536"/>
                  <a:gd name="T16" fmla="*/ 0 60000 65536"/>
                  <a:gd name="T17" fmla="*/ 0 60000 65536"/>
                  <a:gd name="T18" fmla="*/ 0 w 249"/>
                  <a:gd name="T19" fmla="*/ 0 h 333"/>
                  <a:gd name="T20" fmla="*/ 249 w 249"/>
                  <a:gd name="T21" fmla="*/ 333 h 333"/>
                </a:gdLst>
                <a:ahLst/>
                <a:cxnLst>
                  <a:cxn ang="T12">
                    <a:pos x="T0" y="T1"/>
                  </a:cxn>
                  <a:cxn ang="T13">
                    <a:pos x="T2" y="T3"/>
                  </a:cxn>
                  <a:cxn ang="T14">
                    <a:pos x="T4" y="T5"/>
                  </a:cxn>
                  <a:cxn ang="T15">
                    <a:pos x="T6" y="T7"/>
                  </a:cxn>
                  <a:cxn ang="T16">
                    <a:pos x="T8" y="T9"/>
                  </a:cxn>
                  <a:cxn ang="T17">
                    <a:pos x="T10" y="T11"/>
                  </a:cxn>
                </a:cxnLst>
                <a:rect l="T18" t="T19" r="T20" b="T21"/>
                <a:pathLst>
                  <a:path w="249" h="333">
                    <a:moveTo>
                      <a:pt x="124" y="0"/>
                    </a:moveTo>
                    <a:cubicBezTo>
                      <a:pt x="194" y="0"/>
                      <a:pt x="248" y="72"/>
                      <a:pt x="248" y="166"/>
                    </a:cubicBezTo>
                    <a:cubicBezTo>
                      <a:pt x="248" y="260"/>
                      <a:pt x="194" y="332"/>
                      <a:pt x="124" y="332"/>
                    </a:cubicBezTo>
                    <a:cubicBezTo>
                      <a:pt x="53" y="332"/>
                      <a:pt x="0" y="260"/>
                      <a:pt x="0" y="166"/>
                    </a:cubicBezTo>
                    <a:cubicBezTo>
                      <a:pt x="0" y="72"/>
                      <a:pt x="53" y="0"/>
                      <a:pt x="124" y="0"/>
                    </a:cubicBezTo>
                  </a:path>
                </a:pathLst>
              </a:custGeom>
              <a:solidFill>
                <a:srgbClr val="00E4A8"/>
              </a:solidFill>
              <a:ln w="9360">
                <a:solidFill>
                  <a:srgbClr val="000000"/>
                </a:solidFill>
                <a:round/>
                <a:headEnd/>
                <a:tailEnd/>
              </a:ln>
            </p:spPr>
            <p:txBody>
              <a:bodyPr wrap="none" anchor="ctr"/>
              <a:lstStyle/>
              <a:p>
                <a:endParaRPr lang="en-US"/>
              </a:p>
            </p:txBody>
          </p:sp>
          <p:sp>
            <p:nvSpPr>
              <p:cNvPr id="37" name="Freeform 36"/>
              <p:cNvSpPr>
                <a:spLocks noChangeArrowheads="1"/>
              </p:cNvSpPr>
              <p:nvPr/>
            </p:nvSpPr>
            <p:spPr bwMode="auto">
              <a:xfrm>
                <a:off x="605" y="2078"/>
                <a:ext cx="546" cy="954"/>
              </a:xfrm>
              <a:custGeom>
                <a:avLst/>
                <a:gdLst>
                  <a:gd name="T0" fmla="*/ 0 w 2408"/>
                  <a:gd name="T1" fmla="*/ 0 h 4208"/>
                  <a:gd name="T2" fmla="*/ 0 w 2408"/>
                  <a:gd name="T3" fmla="*/ 0 h 4208"/>
                  <a:gd name="T4" fmla="*/ 0 w 2408"/>
                  <a:gd name="T5" fmla="*/ 0 h 4208"/>
                  <a:gd name="T6" fmla="*/ 0 w 2408"/>
                  <a:gd name="T7" fmla="*/ 0 h 4208"/>
                  <a:gd name="T8" fmla="*/ 0 w 2408"/>
                  <a:gd name="T9" fmla="*/ 0 h 4208"/>
                  <a:gd name="T10" fmla="*/ 0 w 2408"/>
                  <a:gd name="T11" fmla="*/ 0 h 4208"/>
                  <a:gd name="T12" fmla="*/ 0 w 2408"/>
                  <a:gd name="T13" fmla="*/ 0 h 4208"/>
                  <a:gd name="T14" fmla="*/ 0 w 2408"/>
                  <a:gd name="T15" fmla="*/ 0 h 4208"/>
                  <a:gd name="T16" fmla="*/ 0 w 2408"/>
                  <a:gd name="T17" fmla="*/ 0 h 4208"/>
                  <a:gd name="T18" fmla="*/ 0 w 2408"/>
                  <a:gd name="T19" fmla="*/ 0 h 4208"/>
                  <a:gd name="T20" fmla="*/ 0 w 2408"/>
                  <a:gd name="T21" fmla="*/ 0 h 4208"/>
                  <a:gd name="T22" fmla="*/ 0 w 2408"/>
                  <a:gd name="T23" fmla="*/ 0 h 4208"/>
                  <a:gd name="T24" fmla="*/ 0 w 2408"/>
                  <a:gd name="T25" fmla="*/ 0 h 4208"/>
                  <a:gd name="T26" fmla="*/ 0 w 2408"/>
                  <a:gd name="T27" fmla="*/ 0 h 4208"/>
                  <a:gd name="T28" fmla="*/ 0 w 2408"/>
                  <a:gd name="T29" fmla="*/ 0 h 4208"/>
                  <a:gd name="T30" fmla="*/ 0 w 2408"/>
                  <a:gd name="T31" fmla="*/ 0 h 4208"/>
                  <a:gd name="T32" fmla="*/ 0 w 2408"/>
                  <a:gd name="T33" fmla="*/ 0 h 4208"/>
                  <a:gd name="T34" fmla="*/ 0 w 2408"/>
                  <a:gd name="T35" fmla="*/ 0 h 4208"/>
                  <a:gd name="T36" fmla="*/ 0 w 2408"/>
                  <a:gd name="T37" fmla="*/ 0 h 4208"/>
                  <a:gd name="T38" fmla="*/ 0 w 2408"/>
                  <a:gd name="T39" fmla="*/ 0 h 4208"/>
                  <a:gd name="T40" fmla="*/ 0 w 2408"/>
                  <a:gd name="T41" fmla="*/ 0 h 4208"/>
                  <a:gd name="T42" fmla="*/ 0 w 2408"/>
                  <a:gd name="T43" fmla="*/ 0 h 4208"/>
                  <a:gd name="T44" fmla="*/ 0 w 2408"/>
                  <a:gd name="T45" fmla="*/ 0 h 4208"/>
                  <a:gd name="T46" fmla="*/ 0 w 2408"/>
                  <a:gd name="T47" fmla="*/ 0 h 420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408"/>
                  <a:gd name="T73" fmla="*/ 0 h 4208"/>
                  <a:gd name="T74" fmla="*/ 2408 w 2408"/>
                  <a:gd name="T75" fmla="*/ 4208 h 420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408" h="4208">
                    <a:moveTo>
                      <a:pt x="2088" y="2836"/>
                    </a:moveTo>
                    <a:cubicBezTo>
                      <a:pt x="2058" y="3033"/>
                      <a:pt x="2025" y="3224"/>
                      <a:pt x="1936" y="3389"/>
                    </a:cubicBezTo>
                    <a:cubicBezTo>
                      <a:pt x="1894" y="3554"/>
                      <a:pt x="1852" y="3715"/>
                      <a:pt x="1811" y="3880"/>
                    </a:cubicBezTo>
                    <a:cubicBezTo>
                      <a:pt x="1794" y="3945"/>
                      <a:pt x="1797" y="4024"/>
                      <a:pt x="1761" y="4074"/>
                    </a:cubicBezTo>
                    <a:cubicBezTo>
                      <a:pt x="1745" y="4095"/>
                      <a:pt x="1734" y="4128"/>
                      <a:pt x="1711" y="4142"/>
                    </a:cubicBezTo>
                    <a:cubicBezTo>
                      <a:pt x="1664" y="4174"/>
                      <a:pt x="1559" y="4207"/>
                      <a:pt x="1559" y="4207"/>
                    </a:cubicBezTo>
                    <a:cubicBezTo>
                      <a:pt x="1304" y="4189"/>
                      <a:pt x="1049" y="4196"/>
                      <a:pt x="802" y="4106"/>
                    </a:cubicBezTo>
                    <a:cubicBezTo>
                      <a:pt x="639" y="4049"/>
                      <a:pt x="503" y="3934"/>
                      <a:pt x="351" y="3848"/>
                    </a:cubicBezTo>
                    <a:cubicBezTo>
                      <a:pt x="257" y="3794"/>
                      <a:pt x="166" y="3726"/>
                      <a:pt x="100" y="3618"/>
                    </a:cubicBezTo>
                    <a:cubicBezTo>
                      <a:pt x="63" y="3557"/>
                      <a:pt x="0" y="3424"/>
                      <a:pt x="0" y="3424"/>
                    </a:cubicBezTo>
                    <a:cubicBezTo>
                      <a:pt x="30" y="2886"/>
                      <a:pt x="91" y="2309"/>
                      <a:pt x="223" y="1793"/>
                    </a:cubicBezTo>
                    <a:cubicBezTo>
                      <a:pt x="255" y="1478"/>
                      <a:pt x="274" y="1162"/>
                      <a:pt x="301" y="846"/>
                    </a:cubicBezTo>
                    <a:cubicBezTo>
                      <a:pt x="312" y="706"/>
                      <a:pt x="326" y="631"/>
                      <a:pt x="426" y="588"/>
                    </a:cubicBezTo>
                    <a:cubicBezTo>
                      <a:pt x="535" y="441"/>
                      <a:pt x="407" y="591"/>
                      <a:pt x="554" y="487"/>
                    </a:cubicBezTo>
                    <a:cubicBezTo>
                      <a:pt x="667" y="408"/>
                      <a:pt x="736" y="312"/>
                      <a:pt x="856" y="261"/>
                    </a:cubicBezTo>
                    <a:cubicBezTo>
                      <a:pt x="949" y="132"/>
                      <a:pt x="853" y="243"/>
                      <a:pt x="981" y="161"/>
                    </a:cubicBezTo>
                    <a:cubicBezTo>
                      <a:pt x="1060" y="107"/>
                      <a:pt x="1093" y="39"/>
                      <a:pt x="1182" y="0"/>
                    </a:cubicBezTo>
                    <a:cubicBezTo>
                      <a:pt x="1440" y="82"/>
                      <a:pt x="1734" y="104"/>
                      <a:pt x="1963" y="294"/>
                    </a:cubicBezTo>
                    <a:cubicBezTo>
                      <a:pt x="2044" y="448"/>
                      <a:pt x="2118" y="617"/>
                      <a:pt x="2240" y="717"/>
                    </a:cubicBezTo>
                    <a:cubicBezTo>
                      <a:pt x="2273" y="782"/>
                      <a:pt x="2321" y="839"/>
                      <a:pt x="2340" y="914"/>
                    </a:cubicBezTo>
                    <a:cubicBezTo>
                      <a:pt x="2357" y="979"/>
                      <a:pt x="2390" y="1108"/>
                      <a:pt x="2390" y="1108"/>
                    </a:cubicBezTo>
                    <a:cubicBezTo>
                      <a:pt x="2376" y="1564"/>
                      <a:pt x="2407" y="2137"/>
                      <a:pt x="2188" y="2542"/>
                    </a:cubicBezTo>
                    <a:cubicBezTo>
                      <a:pt x="2180" y="2571"/>
                      <a:pt x="2149" y="2836"/>
                      <a:pt x="2088" y="2836"/>
                    </a:cubicBezTo>
                  </a:path>
                </a:pathLst>
              </a:custGeom>
              <a:noFill/>
              <a:ln w="9360">
                <a:solidFill>
                  <a:srgbClr val="000000"/>
                </a:solidFill>
                <a:round/>
                <a:headEnd/>
                <a:tailEnd/>
              </a:ln>
            </p:spPr>
            <p:txBody>
              <a:bodyPr wrap="none" anchor="ctr"/>
              <a:lstStyle/>
              <a:p>
                <a:endParaRPr lang="en-US"/>
              </a:p>
            </p:txBody>
          </p:sp>
        </p:grpSp>
      </p:grpSp>
      <p:sp>
        <p:nvSpPr>
          <p:cNvPr id="38" name="AutoShape 37"/>
          <p:cNvSpPr>
            <a:spLocks noChangeArrowheads="1"/>
          </p:cNvSpPr>
          <p:nvPr/>
        </p:nvSpPr>
        <p:spPr bwMode="auto">
          <a:xfrm>
            <a:off x="4953000" y="2667000"/>
            <a:ext cx="2286000" cy="1828801"/>
          </a:xfrm>
          <a:prstGeom prst="roundRect">
            <a:avLst>
              <a:gd name="adj" fmla="val 46"/>
            </a:avLst>
          </a:prstGeom>
          <a:noFill/>
          <a:ln w="9360">
            <a:solidFill>
              <a:srgbClr val="000000"/>
            </a:solidFill>
            <a:round/>
            <a:headEnd/>
            <a:tailEnd/>
          </a:ln>
        </p:spPr>
        <p:txBody>
          <a:bodyPr wrap="none" anchor="ctr"/>
          <a:lstStyle/>
          <a:p>
            <a:endParaRPr lang="en-US"/>
          </a:p>
        </p:txBody>
      </p:sp>
      <p:grpSp>
        <p:nvGrpSpPr>
          <p:cNvPr id="39" name="Group 38"/>
          <p:cNvGrpSpPr>
            <a:grpSpLocks/>
          </p:cNvGrpSpPr>
          <p:nvPr/>
        </p:nvGrpSpPr>
        <p:grpSpPr bwMode="auto">
          <a:xfrm>
            <a:off x="5181600" y="2819400"/>
            <a:ext cx="1797844" cy="1462088"/>
            <a:chOff x="3302" y="2032"/>
            <a:chExt cx="1510" cy="1394"/>
          </a:xfrm>
        </p:grpSpPr>
        <p:sp>
          <p:nvSpPr>
            <p:cNvPr id="40" name="Freeform 39"/>
            <p:cNvSpPr>
              <a:spLocks noChangeArrowheads="1"/>
            </p:cNvSpPr>
            <p:nvPr/>
          </p:nvSpPr>
          <p:spPr bwMode="auto">
            <a:xfrm>
              <a:off x="3367" y="2777"/>
              <a:ext cx="57" cy="76"/>
            </a:xfrm>
            <a:custGeom>
              <a:avLst/>
              <a:gdLst>
                <a:gd name="T0" fmla="*/ 0 w 250"/>
                <a:gd name="T1" fmla="*/ 0 h 337"/>
                <a:gd name="T2" fmla="*/ 0 w 250"/>
                <a:gd name="T3" fmla="*/ 0 h 337"/>
                <a:gd name="T4" fmla="*/ 0 w 250"/>
                <a:gd name="T5" fmla="*/ 0 h 337"/>
                <a:gd name="T6" fmla="*/ 0 w 250"/>
                <a:gd name="T7" fmla="*/ 0 h 337"/>
                <a:gd name="T8" fmla="*/ 0 w 250"/>
                <a:gd name="T9" fmla="*/ 0 h 337"/>
                <a:gd name="T10" fmla="*/ 0 w 250"/>
                <a:gd name="T11" fmla="*/ 0 h 337"/>
                <a:gd name="T12" fmla="*/ 0 60000 65536"/>
                <a:gd name="T13" fmla="*/ 0 60000 65536"/>
                <a:gd name="T14" fmla="*/ 0 60000 65536"/>
                <a:gd name="T15" fmla="*/ 0 60000 65536"/>
                <a:gd name="T16" fmla="*/ 0 60000 65536"/>
                <a:gd name="T17" fmla="*/ 0 60000 65536"/>
                <a:gd name="T18" fmla="*/ 0 w 250"/>
                <a:gd name="T19" fmla="*/ 0 h 337"/>
                <a:gd name="T20" fmla="*/ 250 w 250"/>
                <a:gd name="T21" fmla="*/ 337 h 337"/>
              </a:gdLst>
              <a:ahLst/>
              <a:cxnLst>
                <a:cxn ang="T12">
                  <a:pos x="T0" y="T1"/>
                </a:cxn>
                <a:cxn ang="T13">
                  <a:pos x="T2" y="T3"/>
                </a:cxn>
                <a:cxn ang="T14">
                  <a:pos x="T4" y="T5"/>
                </a:cxn>
                <a:cxn ang="T15">
                  <a:pos x="T6" y="T7"/>
                </a:cxn>
                <a:cxn ang="T16">
                  <a:pos x="T8" y="T9"/>
                </a:cxn>
                <a:cxn ang="T17">
                  <a:pos x="T10" y="T11"/>
                </a:cxn>
              </a:cxnLst>
              <a:rect l="T18" t="T19" r="T20" b="T21"/>
              <a:pathLst>
                <a:path w="250" h="337">
                  <a:moveTo>
                    <a:pt x="124" y="0"/>
                  </a:moveTo>
                  <a:cubicBezTo>
                    <a:pt x="195" y="0"/>
                    <a:pt x="249" y="73"/>
                    <a:pt x="249" y="168"/>
                  </a:cubicBezTo>
                  <a:cubicBezTo>
                    <a:pt x="249" y="263"/>
                    <a:pt x="195" y="336"/>
                    <a:pt x="124" y="336"/>
                  </a:cubicBezTo>
                  <a:cubicBezTo>
                    <a:pt x="53" y="336"/>
                    <a:pt x="0" y="263"/>
                    <a:pt x="0" y="168"/>
                  </a:cubicBezTo>
                  <a:cubicBezTo>
                    <a:pt x="0" y="73"/>
                    <a:pt x="53" y="0"/>
                    <a:pt x="124" y="0"/>
                  </a:cubicBezTo>
                </a:path>
              </a:pathLst>
            </a:custGeom>
            <a:solidFill>
              <a:srgbClr val="00E4A8"/>
            </a:solidFill>
            <a:ln w="9360">
              <a:solidFill>
                <a:srgbClr val="000000"/>
              </a:solidFill>
              <a:round/>
              <a:headEnd/>
              <a:tailEnd/>
            </a:ln>
          </p:spPr>
          <p:txBody>
            <a:bodyPr wrap="none" anchor="ctr"/>
            <a:lstStyle/>
            <a:p>
              <a:endParaRPr lang="en-US"/>
            </a:p>
          </p:txBody>
        </p:sp>
        <p:sp>
          <p:nvSpPr>
            <p:cNvPr id="41" name="Freeform 40"/>
            <p:cNvSpPr>
              <a:spLocks noChangeArrowheads="1"/>
            </p:cNvSpPr>
            <p:nvPr/>
          </p:nvSpPr>
          <p:spPr bwMode="auto">
            <a:xfrm>
              <a:off x="3421" y="2534"/>
              <a:ext cx="57" cy="76"/>
            </a:xfrm>
            <a:custGeom>
              <a:avLst/>
              <a:gdLst>
                <a:gd name="T0" fmla="*/ 0 w 250"/>
                <a:gd name="T1" fmla="*/ 0 h 337"/>
                <a:gd name="T2" fmla="*/ 0 w 250"/>
                <a:gd name="T3" fmla="*/ 0 h 337"/>
                <a:gd name="T4" fmla="*/ 0 w 250"/>
                <a:gd name="T5" fmla="*/ 0 h 337"/>
                <a:gd name="T6" fmla="*/ 0 w 250"/>
                <a:gd name="T7" fmla="*/ 0 h 337"/>
                <a:gd name="T8" fmla="*/ 0 w 250"/>
                <a:gd name="T9" fmla="*/ 0 h 337"/>
                <a:gd name="T10" fmla="*/ 0 w 250"/>
                <a:gd name="T11" fmla="*/ 0 h 337"/>
                <a:gd name="T12" fmla="*/ 0 60000 65536"/>
                <a:gd name="T13" fmla="*/ 0 60000 65536"/>
                <a:gd name="T14" fmla="*/ 0 60000 65536"/>
                <a:gd name="T15" fmla="*/ 0 60000 65536"/>
                <a:gd name="T16" fmla="*/ 0 60000 65536"/>
                <a:gd name="T17" fmla="*/ 0 60000 65536"/>
                <a:gd name="T18" fmla="*/ 0 w 250"/>
                <a:gd name="T19" fmla="*/ 0 h 337"/>
                <a:gd name="T20" fmla="*/ 250 w 250"/>
                <a:gd name="T21" fmla="*/ 337 h 337"/>
              </a:gdLst>
              <a:ahLst/>
              <a:cxnLst>
                <a:cxn ang="T12">
                  <a:pos x="T0" y="T1"/>
                </a:cxn>
                <a:cxn ang="T13">
                  <a:pos x="T2" y="T3"/>
                </a:cxn>
                <a:cxn ang="T14">
                  <a:pos x="T4" y="T5"/>
                </a:cxn>
                <a:cxn ang="T15">
                  <a:pos x="T6" y="T7"/>
                </a:cxn>
                <a:cxn ang="T16">
                  <a:pos x="T8" y="T9"/>
                </a:cxn>
                <a:cxn ang="T17">
                  <a:pos x="T10" y="T11"/>
                </a:cxn>
              </a:cxnLst>
              <a:rect l="T18" t="T19" r="T20" b="T21"/>
              <a:pathLst>
                <a:path w="250" h="337">
                  <a:moveTo>
                    <a:pt x="124" y="0"/>
                  </a:moveTo>
                  <a:cubicBezTo>
                    <a:pt x="195" y="0"/>
                    <a:pt x="249" y="73"/>
                    <a:pt x="249" y="168"/>
                  </a:cubicBezTo>
                  <a:cubicBezTo>
                    <a:pt x="249" y="263"/>
                    <a:pt x="195" y="336"/>
                    <a:pt x="124" y="336"/>
                  </a:cubicBezTo>
                  <a:cubicBezTo>
                    <a:pt x="54" y="336"/>
                    <a:pt x="0" y="263"/>
                    <a:pt x="0" y="168"/>
                  </a:cubicBezTo>
                  <a:cubicBezTo>
                    <a:pt x="0" y="73"/>
                    <a:pt x="54" y="0"/>
                    <a:pt x="124" y="0"/>
                  </a:cubicBezTo>
                </a:path>
              </a:pathLst>
            </a:custGeom>
            <a:solidFill>
              <a:srgbClr val="00E4A8"/>
            </a:solidFill>
            <a:ln w="9360">
              <a:solidFill>
                <a:srgbClr val="000000"/>
              </a:solidFill>
              <a:round/>
              <a:headEnd/>
              <a:tailEnd/>
            </a:ln>
          </p:spPr>
          <p:txBody>
            <a:bodyPr wrap="none" anchor="ctr"/>
            <a:lstStyle/>
            <a:p>
              <a:endParaRPr lang="en-US"/>
            </a:p>
          </p:txBody>
        </p:sp>
        <p:sp>
          <p:nvSpPr>
            <p:cNvPr id="42" name="Freeform 41"/>
            <p:cNvSpPr>
              <a:spLocks noChangeArrowheads="1"/>
            </p:cNvSpPr>
            <p:nvPr/>
          </p:nvSpPr>
          <p:spPr bwMode="auto">
            <a:xfrm>
              <a:off x="4370" y="2256"/>
              <a:ext cx="57" cy="76"/>
            </a:xfrm>
            <a:custGeom>
              <a:avLst/>
              <a:gdLst>
                <a:gd name="T0" fmla="*/ 0 w 251"/>
                <a:gd name="T1" fmla="*/ 0 h 337"/>
                <a:gd name="T2" fmla="*/ 0 w 251"/>
                <a:gd name="T3" fmla="*/ 0 h 337"/>
                <a:gd name="T4" fmla="*/ 0 w 251"/>
                <a:gd name="T5" fmla="*/ 0 h 337"/>
                <a:gd name="T6" fmla="*/ 0 w 251"/>
                <a:gd name="T7" fmla="*/ 0 h 337"/>
                <a:gd name="T8" fmla="*/ 0 w 251"/>
                <a:gd name="T9" fmla="*/ 0 h 337"/>
                <a:gd name="T10" fmla="*/ 0 w 251"/>
                <a:gd name="T11" fmla="*/ 0 h 337"/>
                <a:gd name="T12" fmla="*/ 0 60000 65536"/>
                <a:gd name="T13" fmla="*/ 0 60000 65536"/>
                <a:gd name="T14" fmla="*/ 0 60000 65536"/>
                <a:gd name="T15" fmla="*/ 0 60000 65536"/>
                <a:gd name="T16" fmla="*/ 0 60000 65536"/>
                <a:gd name="T17" fmla="*/ 0 60000 65536"/>
                <a:gd name="T18" fmla="*/ 0 w 251"/>
                <a:gd name="T19" fmla="*/ 0 h 337"/>
                <a:gd name="T20" fmla="*/ 251 w 251"/>
                <a:gd name="T21" fmla="*/ 337 h 337"/>
              </a:gdLst>
              <a:ahLst/>
              <a:cxnLst>
                <a:cxn ang="T12">
                  <a:pos x="T0" y="T1"/>
                </a:cxn>
                <a:cxn ang="T13">
                  <a:pos x="T2" y="T3"/>
                </a:cxn>
                <a:cxn ang="T14">
                  <a:pos x="T4" y="T5"/>
                </a:cxn>
                <a:cxn ang="T15">
                  <a:pos x="T6" y="T7"/>
                </a:cxn>
                <a:cxn ang="T16">
                  <a:pos x="T8" y="T9"/>
                </a:cxn>
                <a:cxn ang="T17">
                  <a:pos x="T10" y="T11"/>
                </a:cxn>
              </a:cxnLst>
              <a:rect l="T18" t="T19" r="T20" b="T21"/>
              <a:pathLst>
                <a:path w="251" h="337">
                  <a:moveTo>
                    <a:pt x="124" y="0"/>
                  </a:moveTo>
                  <a:cubicBezTo>
                    <a:pt x="195" y="0"/>
                    <a:pt x="250" y="73"/>
                    <a:pt x="250" y="168"/>
                  </a:cubicBezTo>
                  <a:cubicBezTo>
                    <a:pt x="250" y="263"/>
                    <a:pt x="195" y="336"/>
                    <a:pt x="124" y="336"/>
                  </a:cubicBezTo>
                  <a:cubicBezTo>
                    <a:pt x="54" y="336"/>
                    <a:pt x="0" y="263"/>
                    <a:pt x="0" y="168"/>
                  </a:cubicBezTo>
                  <a:cubicBezTo>
                    <a:pt x="0" y="73"/>
                    <a:pt x="54" y="0"/>
                    <a:pt x="124" y="0"/>
                  </a:cubicBezTo>
                </a:path>
              </a:pathLst>
            </a:custGeom>
            <a:solidFill>
              <a:srgbClr val="FFFFFF"/>
            </a:solidFill>
            <a:ln w="9360">
              <a:solidFill>
                <a:srgbClr val="000000"/>
              </a:solidFill>
              <a:round/>
              <a:headEnd/>
              <a:tailEnd/>
            </a:ln>
          </p:spPr>
          <p:txBody>
            <a:bodyPr wrap="none" anchor="ctr"/>
            <a:lstStyle/>
            <a:p>
              <a:endParaRPr lang="en-US"/>
            </a:p>
          </p:txBody>
        </p:sp>
        <p:sp>
          <p:nvSpPr>
            <p:cNvPr id="43" name="Freeform 42"/>
            <p:cNvSpPr>
              <a:spLocks noChangeArrowheads="1"/>
            </p:cNvSpPr>
            <p:nvPr/>
          </p:nvSpPr>
          <p:spPr bwMode="auto">
            <a:xfrm>
              <a:off x="4327" y="2583"/>
              <a:ext cx="57" cy="76"/>
            </a:xfrm>
            <a:custGeom>
              <a:avLst/>
              <a:gdLst>
                <a:gd name="T0" fmla="*/ 0 w 251"/>
                <a:gd name="T1" fmla="*/ 0 h 337"/>
                <a:gd name="T2" fmla="*/ 0 w 251"/>
                <a:gd name="T3" fmla="*/ 0 h 337"/>
                <a:gd name="T4" fmla="*/ 0 w 251"/>
                <a:gd name="T5" fmla="*/ 0 h 337"/>
                <a:gd name="T6" fmla="*/ 0 w 251"/>
                <a:gd name="T7" fmla="*/ 0 h 337"/>
                <a:gd name="T8" fmla="*/ 0 w 251"/>
                <a:gd name="T9" fmla="*/ 0 h 337"/>
                <a:gd name="T10" fmla="*/ 0 w 251"/>
                <a:gd name="T11" fmla="*/ 0 h 337"/>
                <a:gd name="T12" fmla="*/ 0 60000 65536"/>
                <a:gd name="T13" fmla="*/ 0 60000 65536"/>
                <a:gd name="T14" fmla="*/ 0 60000 65536"/>
                <a:gd name="T15" fmla="*/ 0 60000 65536"/>
                <a:gd name="T16" fmla="*/ 0 60000 65536"/>
                <a:gd name="T17" fmla="*/ 0 60000 65536"/>
                <a:gd name="T18" fmla="*/ 0 w 251"/>
                <a:gd name="T19" fmla="*/ 0 h 337"/>
                <a:gd name="T20" fmla="*/ 251 w 251"/>
                <a:gd name="T21" fmla="*/ 337 h 337"/>
              </a:gdLst>
              <a:ahLst/>
              <a:cxnLst>
                <a:cxn ang="T12">
                  <a:pos x="T0" y="T1"/>
                </a:cxn>
                <a:cxn ang="T13">
                  <a:pos x="T2" y="T3"/>
                </a:cxn>
                <a:cxn ang="T14">
                  <a:pos x="T4" y="T5"/>
                </a:cxn>
                <a:cxn ang="T15">
                  <a:pos x="T6" y="T7"/>
                </a:cxn>
                <a:cxn ang="T16">
                  <a:pos x="T8" y="T9"/>
                </a:cxn>
                <a:cxn ang="T17">
                  <a:pos x="T10" y="T11"/>
                </a:cxn>
              </a:cxnLst>
              <a:rect l="T18" t="T19" r="T20" b="T21"/>
              <a:pathLst>
                <a:path w="251" h="337">
                  <a:moveTo>
                    <a:pt x="125" y="0"/>
                  </a:moveTo>
                  <a:cubicBezTo>
                    <a:pt x="195" y="0"/>
                    <a:pt x="250" y="73"/>
                    <a:pt x="250" y="168"/>
                  </a:cubicBezTo>
                  <a:cubicBezTo>
                    <a:pt x="250" y="263"/>
                    <a:pt x="195" y="336"/>
                    <a:pt x="125" y="336"/>
                  </a:cubicBezTo>
                  <a:cubicBezTo>
                    <a:pt x="54" y="336"/>
                    <a:pt x="0" y="263"/>
                    <a:pt x="0" y="168"/>
                  </a:cubicBezTo>
                  <a:cubicBezTo>
                    <a:pt x="0" y="73"/>
                    <a:pt x="54" y="0"/>
                    <a:pt x="125" y="0"/>
                  </a:cubicBezTo>
                </a:path>
              </a:pathLst>
            </a:custGeom>
            <a:solidFill>
              <a:srgbClr val="FFFFFF"/>
            </a:solidFill>
            <a:ln w="9360">
              <a:solidFill>
                <a:srgbClr val="000000"/>
              </a:solidFill>
              <a:round/>
              <a:headEnd/>
              <a:tailEnd/>
            </a:ln>
          </p:spPr>
          <p:txBody>
            <a:bodyPr wrap="none" anchor="ctr"/>
            <a:lstStyle/>
            <a:p>
              <a:endParaRPr lang="en-US"/>
            </a:p>
          </p:txBody>
        </p:sp>
        <p:sp>
          <p:nvSpPr>
            <p:cNvPr id="44" name="Freeform 43"/>
            <p:cNvSpPr>
              <a:spLocks noChangeArrowheads="1"/>
            </p:cNvSpPr>
            <p:nvPr/>
          </p:nvSpPr>
          <p:spPr bwMode="auto">
            <a:xfrm>
              <a:off x="4709" y="2460"/>
              <a:ext cx="57" cy="75"/>
            </a:xfrm>
            <a:custGeom>
              <a:avLst/>
              <a:gdLst>
                <a:gd name="T0" fmla="*/ 0 w 250"/>
                <a:gd name="T1" fmla="*/ 0 h 332"/>
                <a:gd name="T2" fmla="*/ 0 w 250"/>
                <a:gd name="T3" fmla="*/ 0 h 332"/>
                <a:gd name="T4" fmla="*/ 0 w 250"/>
                <a:gd name="T5" fmla="*/ 0 h 332"/>
                <a:gd name="T6" fmla="*/ 0 w 250"/>
                <a:gd name="T7" fmla="*/ 0 h 332"/>
                <a:gd name="T8" fmla="*/ 0 w 250"/>
                <a:gd name="T9" fmla="*/ 0 h 332"/>
                <a:gd name="T10" fmla="*/ 0 w 250"/>
                <a:gd name="T11" fmla="*/ 0 h 332"/>
                <a:gd name="T12" fmla="*/ 0 60000 65536"/>
                <a:gd name="T13" fmla="*/ 0 60000 65536"/>
                <a:gd name="T14" fmla="*/ 0 60000 65536"/>
                <a:gd name="T15" fmla="*/ 0 60000 65536"/>
                <a:gd name="T16" fmla="*/ 0 60000 65536"/>
                <a:gd name="T17" fmla="*/ 0 60000 65536"/>
                <a:gd name="T18" fmla="*/ 0 w 250"/>
                <a:gd name="T19" fmla="*/ 0 h 332"/>
                <a:gd name="T20" fmla="*/ 250 w 250"/>
                <a:gd name="T21" fmla="*/ 332 h 332"/>
              </a:gdLst>
              <a:ahLst/>
              <a:cxnLst>
                <a:cxn ang="T12">
                  <a:pos x="T0" y="T1"/>
                </a:cxn>
                <a:cxn ang="T13">
                  <a:pos x="T2" y="T3"/>
                </a:cxn>
                <a:cxn ang="T14">
                  <a:pos x="T4" y="T5"/>
                </a:cxn>
                <a:cxn ang="T15">
                  <a:pos x="T6" y="T7"/>
                </a:cxn>
                <a:cxn ang="T16">
                  <a:pos x="T8" y="T9"/>
                </a:cxn>
                <a:cxn ang="T17">
                  <a:pos x="T10" y="T11"/>
                </a:cxn>
              </a:cxnLst>
              <a:rect l="T18" t="T19" r="T20" b="T21"/>
              <a:pathLst>
                <a:path w="250" h="332">
                  <a:moveTo>
                    <a:pt x="124" y="0"/>
                  </a:moveTo>
                  <a:cubicBezTo>
                    <a:pt x="194" y="0"/>
                    <a:pt x="249" y="72"/>
                    <a:pt x="249" y="165"/>
                  </a:cubicBezTo>
                  <a:cubicBezTo>
                    <a:pt x="249" y="258"/>
                    <a:pt x="194" y="331"/>
                    <a:pt x="124" y="331"/>
                  </a:cubicBezTo>
                  <a:cubicBezTo>
                    <a:pt x="53" y="331"/>
                    <a:pt x="0" y="258"/>
                    <a:pt x="0" y="165"/>
                  </a:cubicBezTo>
                  <a:cubicBezTo>
                    <a:pt x="0" y="72"/>
                    <a:pt x="53" y="0"/>
                    <a:pt x="124" y="0"/>
                  </a:cubicBezTo>
                </a:path>
              </a:pathLst>
            </a:custGeom>
            <a:solidFill>
              <a:srgbClr val="FFFFFF"/>
            </a:solidFill>
            <a:ln w="9360">
              <a:solidFill>
                <a:srgbClr val="000000"/>
              </a:solidFill>
              <a:round/>
              <a:headEnd/>
              <a:tailEnd/>
            </a:ln>
          </p:spPr>
          <p:txBody>
            <a:bodyPr wrap="none" anchor="ctr"/>
            <a:lstStyle/>
            <a:p>
              <a:endParaRPr lang="en-US"/>
            </a:p>
          </p:txBody>
        </p:sp>
        <p:sp>
          <p:nvSpPr>
            <p:cNvPr id="45" name="Freeform 44"/>
            <p:cNvSpPr>
              <a:spLocks noChangeArrowheads="1"/>
            </p:cNvSpPr>
            <p:nvPr/>
          </p:nvSpPr>
          <p:spPr bwMode="auto">
            <a:xfrm>
              <a:off x="3611" y="2836"/>
              <a:ext cx="57" cy="76"/>
            </a:xfrm>
            <a:custGeom>
              <a:avLst/>
              <a:gdLst>
                <a:gd name="T0" fmla="*/ 0 w 250"/>
                <a:gd name="T1" fmla="*/ 0 h 334"/>
                <a:gd name="T2" fmla="*/ 0 w 250"/>
                <a:gd name="T3" fmla="*/ 0 h 334"/>
                <a:gd name="T4" fmla="*/ 0 w 250"/>
                <a:gd name="T5" fmla="*/ 0 h 334"/>
                <a:gd name="T6" fmla="*/ 0 w 250"/>
                <a:gd name="T7" fmla="*/ 0 h 334"/>
                <a:gd name="T8" fmla="*/ 0 w 250"/>
                <a:gd name="T9" fmla="*/ 0 h 334"/>
                <a:gd name="T10" fmla="*/ 0 w 250"/>
                <a:gd name="T11" fmla="*/ 0 h 334"/>
                <a:gd name="T12" fmla="*/ 0 60000 65536"/>
                <a:gd name="T13" fmla="*/ 0 60000 65536"/>
                <a:gd name="T14" fmla="*/ 0 60000 65536"/>
                <a:gd name="T15" fmla="*/ 0 60000 65536"/>
                <a:gd name="T16" fmla="*/ 0 60000 65536"/>
                <a:gd name="T17" fmla="*/ 0 60000 65536"/>
                <a:gd name="T18" fmla="*/ 0 w 250"/>
                <a:gd name="T19" fmla="*/ 0 h 334"/>
                <a:gd name="T20" fmla="*/ 250 w 250"/>
                <a:gd name="T21" fmla="*/ 334 h 334"/>
              </a:gdLst>
              <a:ahLst/>
              <a:cxnLst>
                <a:cxn ang="T12">
                  <a:pos x="T0" y="T1"/>
                </a:cxn>
                <a:cxn ang="T13">
                  <a:pos x="T2" y="T3"/>
                </a:cxn>
                <a:cxn ang="T14">
                  <a:pos x="T4" y="T5"/>
                </a:cxn>
                <a:cxn ang="T15">
                  <a:pos x="T6" y="T7"/>
                </a:cxn>
                <a:cxn ang="T16">
                  <a:pos x="T8" y="T9"/>
                </a:cxn>
                <a:cxn ang="T17">
                  <a:pos x="T10" y="T11"/>
                </a:cxn>
              </a:cxnLst>
              <a:rect l="T18" t="T19" r="T20" b="T21"/>
              <a:pathLst>
                <a:path w="250" h="334">
                  <a:moveTo>
                    <a:pt x="124" y="0"/>
                  </a:moveTo>
                  <a:cubicBezTo>
                    <a:pt x="195" y="0"/>
                    <a:pt x="249" y="73"/>
                    <a:pt x="249" y="167"/>
                  </a:cubicBezTo>
                  <a:cubicBezTo>
                    <a:pt x="249" y="261"/>
                    <a:pt x="195" y="333"/>
                    <a:pt x="124" y="333"/>
                  </a:cubicBezTo>
                  <a:cubicBezTo>
                    <a:pt x="54" y="333"/>
                    <a:pt x="0" y="261"/>
                    <a:pt x="0" y="167"/>
                  </a:cubicBezTo>
                  <a:cubicBezTo>
                    <a:pt x="0" y="73"/>
                    <a:pt x="54" y="0"/>
                    <a:pt x="124" y="0"/>
                  </a:cubicBezTo>
                </a:path>
              </a:pathLst>
            </a:custGeom>
            <a:solidFill>
              <a:srgbClr val="00E4A8"/>
            </a:solidFill>
            <a:ln w="9360">
              <a:solidFill>
                <a:srgbClr val="000000"/>
              </a:solidFill>
              <a:round/>
              <a:headEnd/>
              <a:tailEnd/>
            </a:ln>
          </p:spPr>
          <p:txBody>
            <a:bodyPr wrap="none" anchor="ctr"/>
            <a:lstStyle/>
            <a:p>
              <a:endParaRPr lang="en-US"/>
            </a:p>
          </p:txBody>
        </p:sp>
        <p:sp>
          <p:nvSpPr>
            <p:cNvPr id="46" name="Freeform 45"/>
            <p:cNvSpPr>
              <a:spLocks noChangeArrowheads="1"/>
            </p:cNvSpPr>
            <p:nvPr/>
          </p:nvSpPr>
          <p:spPr bwMode="auto">
            <a:xfrm>
              <a:off x="4044" y="3177"/>
              <a:ext cx="57" cy="76"/>
            </a:xfrm>
            <a:custGeom>
              <a:avLst/>
              <a:gdLst>
                <a:gd name="T0" fmla="*/ 0 w 251"/>
                <a:gd name="T1" fmla="*/ 0 h 334"/>
                <a:gd name="T2" fmla="*/ 0 w 251"/>
                <a:gd name="T3" fmla="*/ 0 h 334"/>
                <a:gd name="T4" fmla="*/ 0 w 251"/>
                <a:gd name="T5" fmla="*/ 0 h 334"/>
                <a:gd name="T6" fmla="*/ 0 w 251"/>
                <a:gd name="T7" fmla="*/ 0 h 334"/>
                <a:gd name="T8" fmla="*/ 0 w 251"/>
                <a:gd name="T9" fmla="*/ 0 h 334"/>
                <a:gd name="T10" fmla="*/ 0 w 251"/>
                <a:gd name="T11" fmla="*/ 0 h 334"/>
                <a:gd name="T12" fmla="*/ 0 60000 65536"/>
                <a:gd name="T13" fmla="*/ 0 60000 65536"/>
                <a:gd name="T14" fmla="*/ 0 60000 65536"/>
                <a:gd name="T15" fmla="*/ 0 60000 65536"/>
                <a:gd name="T16" fmla="*/ 0 60000 65536"/>
                <a:gd name="T17" fmla="*/ 0 60000 65536"/>
                <a:gd name="T18" fmla="*/ 0 w 251"/>
                <a:gd name="T19" fmla="*/ 0 h 334"/>
                <a:gd name="T20" fmla="*/ 251 w 251"/>
                <a:gd name="T21" fmla="*/ 334 h 334"/>
              </a:gdLst>
              <a:ahLst/>
              <a:cxnLst>
                <a:cxn ang="T12">
                  <a:pos x="T0" y="T1"/>
                </a:cxn>
                <a:cxn ang="T13">
                  <a:pos x="T2" y="T3"/>
                </a:cxn>
                <a:cxn ang="T14">
                  <a:pos x="T4" y="T5"/>
                </a:cxn>
                <a:cxn ang="T15">
                  <a:pos x="T6" y="T7"/>
                </a:cxn>
                <a:cxn ang="T16">
                  <a:pos x="T8" y="T9"/>
                </a:cxn>
                <a:cxn ang="T17">
                  <a:pos x="T10" y="T11"/>
                </a:cxn>
              </a:cxnLst>
              <a:rect l="T18" t="T19" r="T20" b="T21"/>
              <a:pathLst>
                <a:path w="251" h="334">
                  <a:moveTo>
                    <a:pt x="125" y="0"/>
                  </a:moveTo>
                  <a:cubicBezTo>
                    <a:pt x="195" y="0"/>
                    <a:pt x="250" y="72"/>
                    <a:pt x="250" y="166"/>
                  </a:cubicBezTo>
                  <a:cubicBezTo>
                    <a:pt x="250" y="261"/>
                    <a:pt x="195" y="333"/>
                    <a:pt x="125" y="333"/>
                  </a:cubicBezTo>
                  <a:cubicBezTo>
                    <a:pt x="54" y="333"/>
                    <a:pt x="0" y="261"/>
                    <a:pt x="0" y="166"/>
                  </a:cubicBezTo>
                  <a:cubicBezTo>
                    <a:pt x="0" y="72"/>
                    <a:pt x="54" y="0"/>
                    <a:pt x="125" y="0"/>
                  </a:cubicBezTo>
                </a:path>
              </a:pathLst>
            </a:custGeom>
            <a:solidFill>
              <a:srgbClr val="333399"/>
            </a:solidFill>
            <a:ln w="9360">
              <a:solidFill>
                <a:srgbClr val="000000"/>
              </a:solidFill>
              <a:round/>
              <a:headEnd/>
              <a:tailEnd/>
            </a:ln>
          </p:spPr>
          <p:txBody>
            <a:bodyPr wrap="none" anchor="ctr"/>
            <a:lstStyle/>
            <a:p>
              <a:endParaRPr lang="en-US"/>
            </a:p>
          </p:txBody>
        </p:sp>
        <p:sp>
          <p:nvSpPr>
            <p:cNvPr id="47" name="Freeform 46"/>
            <p:cNvSpPr>
              <a:spLocks noChangeArrowheads="1"/>
            </p:cNvSpPr>
            <p:nvPr/>
          </p:nvSpPr>
          <p:spPr bwMode="auto">
            <a:xfrm>
              <a:off x="4104" y="3067"/>
              <a:ext cx="57" cy="76"/>
            </a:xfrm>
            <a:custGeom>
              <a:avLst/>
              <a:gdLst>
                <a:gd name="T0" fmla="*/ 0 w 250"/>
                <a:gd name="T1" fmla="*/ 0 h 337"/>
                <a:gd name="T2" fmla="*/ 0 w 250"/>
                <a:gd name="T3" fmla="*/ 0 h 337"/>
                <a:gd name="T4" fmla="*/ 0 w 250"/>
                <a:gd name="T5" fmla="*/ 0 h 337"/>
                <a:gd name="T6" fmla="*/ 0 w 250"/>
                <a:gd name="T7" fmla="*/ 0 h 337"/>
                <a:gd name="T8" fmla="*/ 0 w 250"/>
                <a:gd name="T9" fmla="*/ 0 h 337"/>
                <a:gd name="T10" fmla="*/ 0 w 250"/>
                <a:gd name="T11" fmla="*/ 0 h 337"/>
                <a:gd name="T12" fmla="*/ 0 60000 65536"/>
                <a:gd name="T13" fmla="*/ 0 60000 65536"/>
                <a:gd name="T14" fmla="*/ 0 60000 65536"/>
                <a:gd name="T15" fmla="*/ 0 60000 65536"/>
                <a:gd name="T16" fmla="*/ 0 60000 65536"/>
                <a:gd name="T17" fmla="*/ 0 60000 65536"/>
                <a:gd name="T18" fmla="*/ 0 w 250"/>
                <a:gd name="T19" fmla="*/ 0 h 337"/>
                <a:gd name="T20" fmla="*/ 250 w 250"/>
                <a:gd name="T21" fmla="*/ 337 h 337"/>
              </a:gdLst>
              <a:ahLst/>
              <a:cxnLst>
                <a:cxn ang="T12">
                  <a:pos x="T0" y="T1"/>
                </a:cxn>
                <a:cxn ang="T13">
                  <a:pos x="T2" y="T3"/>
                </a:cxn>
                <a:cxn ang="T14">
                  <a:pos x="T4" y="T5"/>
                </a:cxn>
                <a:cxn ang="T15">
                  <a:pos x="T6" y="T7"/>
                </a:cxn>
                <a:cxn ang="T16">
                  <a:pos x="T8" y="T9"/>
                </a:cxn>
                <a:cxn ang="T17">
                  <a:pos x="T10" y="T11"/>
                </a:cxn>
              </a:cxnLst>
              <a:rect l="T18" t="T19" r="T20" b="T21"/>
              <a:pathLst>
                <a:path w="250" h="337">
                  <a:moveTo>
                    <a:pt x="124" y="0"/>
                  </a:moveTo>
                  <a:cubicBezTo>
                    <a:pt x="195" y="0"/>
                    <a:pt x="249" y="73"/>
                    <a:pt x="249" y="168"/>
                  </a:cubicBezTo>
                  <a:cubicBezTo>
                    <a:pt x="249" y="263"/>
                    <a:pt x="195" y="336"/>
                    <a:pt x="124" y="336"/>
                  </a:cubicBezTo>
                  <a:cubicBezTo>
                    <a:pt x="53" y="336"/>
                    <a:pt x="0" y="263"/>
                    <a:pt x="0" y="168"/>
                  </a:cubicBezTo>
                  <a:cubicBezTo>
                    <a:pt x="0" y="73"/>
                    <a:pt x="53" y="0"/>
                    <a:pt x="124" y="0"/>
                  </a:cubicBezTo>
                </a:path>
              </a:pathLst>
            </a:custGeom>
            <a:solidFill>
              <a:srgbClr val="333399"/>
            </a:solidFill>
            <a:ln w="9360">
              <a:solidFill>
                <a:srgbClr val="000000"/>
              </a:solidFill>
              <a:round/>
              <a:headEnd/>
              <a:tailEnd/>
            </a:ln>
          </p:spPr>
          <p:txBody>
            <a:bodyPr wrap="none" anchor="ctr"/>
            <a:lstStyle/>
            <a:p>
              <a:endParaRPr lang="en-US"/>
            </a:p>
          </p:txBody>
        </p:sp>
        <p:sp>
          <p:nvSpPr>
            <p:cNvPr id="48" name="Freeform 47"/>
            <p:cNvSpPr>
              <a:spLocks noChangeArrowheads="1"/>
            </p:cNvSpPr>
            <p:nvPr/>
          </p:nvSpPr>
          <p:spPr bwMode="auto">
            <a:xfrm>
              <a:off x="3679" y="2526"/>
              <a:ext cx="57" cy="76"/>
            </a:xfrm>
            <a:custGeom>
              <a:avLst/>
              <a:gdLst>
                <a:gd name="T0" fmla="*/ 0 w 250"/>
                <a:gd name="T1" fmla="*/ 0 h 337"/>
                <a:gd name="T2" fmla="*/ 0 w 250"/>
                <a:gd name="T3" fmla="*/ 0 h 337"/>
                <a:gd name="T4" fmla="*/ 0 w 250"/>
                <a:gd name="T5" fmla="*/ 0 h 337"/>
                <a:gd name="T6" fmla="*/ 0 w 250"/>
                <a:gd name="T7" fmla="*/ 0 h 337"/>
                <a:gd name="T8" fmla="*/ 0 w 250"/>
                <a:gd name="T9" fmla="*/ 0 h 337"/>
                <a:gd name="T10" fmla="*/ 0 w 250"/>
                <a:gd name="T11" fmla="*/ 0 h 337"/>
                <a:gd name="T12" fmla="*/ 0 60000 65536"/>
                <a:gd name="T13" fmla="*/ 0 60000 65536"/>
                <a:gd name="T14" fmla="*/ 0 60000 65536"/>
                <a:gd name="T15" fmla="*/ 0 60000 65536"/>
                <a:gd name="T16" fmla="*/ 0 60000 65536"/>
                <a:gd name="T17" fmla="*/ 0 60000 65536"/>
                <a:gd name="T18" fmla="*/ 0 w 250"/>
                <a:gd name="T19" fmla="*/ 0 h 337"/>
                <a:gd name="T20" fmla="*/ 250 w 250"/>
                <a:gd name="T21" fmla="*/ 337 h 337"/>
              </a:gdLst>
              <a:ahLst/>
              <a:cxnLst>
                <a:cxn ang="T12">
                  <a:pos x="T0" y="T1"/>
                </a:cxn>
                <a:cxn ang="T13">
                  <a:pos x="T2" y="T3"/>
                </a:cxn>
                <a:cxn ang="T14">
                  <a:pos x="T4" y="T5"/>
                </a:cxn>
                <a:cxn ang="T15">
                  <a:pos x="T6" y="T7"/>
                </a:cxn>
                <a:cxn ang="T16">
                  <a:pos x="T8" y="T9"/>
                </a:cxn>
                <a:cxn ang="T17">
                  <a:pos x="T10" y="T11"/>
                </a:cxn>
              </a:cxnLst>
              <a:rect l="T18" t="T19" r="T20" b="T21"/>
              <a:pathLst>
                <a:path w="250" h="337">
                  <a:moveTo>
                    <a:pt x="124" y="0"/>
                  </a:moveTo>
                  <a:cubicBezTo>
                    <a:pt x="195" y="0"/>
                    <a:pt x="249" y="73"/>
                    <a:pt x="249" y="168"/>
                  </a:cubicBezTo>
                  <a:cubicBezTo>
                    <a:pt x="249" y="263"/>
                    <a:pt x="195" y="336"/>
                    <a:pt x="124" y="336"/>
                  </a:cubicBezTo>
                  <a:cubicBezTo>
                    <a:pt x="53" y="336"/>
                    <a:pt x="0" y="263"/>
                    <a:pt x="0" y="168"/>
                  </a:cubicBezTo>
                  <a:cubicBezTo>
                    <a:pt x="0" y="73"/>
                    <a:pt x="53" y="0"/>
                    <a:pt x="124" y="0"/>
                  </a:cubicBezTo>
                </a:path>
              </a:pathLst>
            </a:custGeom>
            <a:solidFill>
              <a:srgbClr val="00E4A8"/>
            </a:solidFill>
            <a:ln w="9360">
              <a:solidFill>
                <a:srgbClr val="000000"/>
              </a:solidFill>
              <a:round/>
              <a:headEnd/>
              <a:tailEnd/>
            </a:ln>
          </p:spPr>
          <p:txBody>
            <a:bodyPr wrap="none" anchor="ctr"/>
            <a:lstStyle/>
            <a:p>
              <a:endParaRPr lang="en-US"/>
            </a:p>
          </p:txBody>
        </p:sp>
        <p:sp>
          <p:nvSpPr>
            <p:cNvPr id="49" name="Freeform 48"/>
            <p:cNvSpPr>
              <a:spLocks noChangeArrowheads="1"/>
            </p:cNvSpPr>
            <p:nvPr/>
          </p:nvSpPr>
          <p:spPr bwMode="auto">
            <a:xfrm>
              <a:off x="3928" y="3024"/>
              <a:ext cx="57" cy="76"/>
            </a:xfrm>
            <a:custGeom>
              <a:avLst/>
              <a:gdLst>
                <a:gd name="T0" fmla="*/ 0 w 250"/>
                <a:gd name="T1" fmla="*/ 0 h 337"/>
                <a:gd name="T2" fmla="*/ 0 w 250"/>
                <a:gd name="T3" fmla="*/ 0 h 337"/>
                <a:gd name="T4" fmla="*/ 0 w 250"/>
                <a:gd name="T5" fmla="*/ 0 h 337"/>
                <a:gd name="T6" fmla="*/ 0 w 250"/>
                <a:gd name="T7" fmla="*/ 0 h 337"/>
                <a:gd name="T8" fmla="*/ 0 w 250"/>
                <a:gd name="T9" fmla="*/ 0 h 337"/>
                <a:gd name="T10" fmla="*/ 0 w 250"/>
                <a:gd name="T11" fmla="*/ 0 h 337"/>
                <a:gd name="T12" fmla="*/ 0 60000 65536"/>
                <a:gd name="T13" fmla="*/ 0 60000 65536"/>
                <a:gd name="T14" fmla="*/ 0 60000 65536"/>
                <a:gd name="T15" fmla="*/ 0 60000 65536"/>
                <a:gd name="T16" fmla="*/ 0 60000 65536"/>
                <a:gd name="T17" fmla="*/ 0 60000 65536"/>
                <a:gd name="T18" fmla="*/ 0 w 250"/>
                <a:gd name="T19" fmla="*/ 0 h 337"/>
                <a:gd name="T20" fmla="*/ 250 w 250"/>
                <a:gd name="T21" fmla="*/ 337 h 337"/>
              </a:gdLst>
              <a:ahLst/>
              <a:cxnLst>
                <a:cxn ang="T12">
                  <a:pos x="T0" y="T1"/>
                </a:cxn>
                <a:cxn ang="T13">
                  <a:pos x="T2" y="T3"/>
                </a:cxn>
                <a:cxn ang="T14">
                  <a:pos x="T4" y="T5"/>
                </a:cxn>
                <a:cxn ang="T15">
                  <a:pos x="T6" y="T7"/>
                </a:cxn>
                <a:cxn ang="T16">
                  <a:pos x="T8" y="T9"/>
                </a:cxn>
                <a:cxn ang="T17">
                  <a:pos x="T10" y="T11"/>
                </a:cxn>
              </a:cxnLst>
              <a:rect l="T18" t="T19" r="T20" b="T21"/>
              <a:pathLst>
                <a:path w="250" h="337">
                  <a:moveTo>
                    <a:pt x="124" y="0"/>
                  </a:moveTo>
                  <a:cubicBezTo>
                    <a:pt x="194" y="0"/>
                    <a:pt x="249" y="73"/>
                    <a:pt x="249" y="168"/>
                  </a:cubicBezTo>
                  <a:cubicBezTo>
                    <a:pt x="249" y="263"/>
                    <a:pt x="194" y="336"/>
                    <a:pt x="124" y="336"/>
                  </a:cubicBezTo>
                  <a:cubicBezTo>
                    <a:pt x="53" y="336"/>
                    <a:pt x="0" y="263"/>
                    <a:pt x="0" y="168"/>
                  </a:cubicBezTo>
                  <a:cubicBezTo>
                    <a:pt x="0" y="73"/>
                    <a:pt x="53" y="0"/>
                    <a:pt x="124" y="0"/>
                  </a:cubicBezTo>
                </a:path>
              </a:pathLst>
            </a:custGeom>
            <a:solidFill>
              <a:srgbClr val="333399"/>
            </a:solidFill>
            <a:ln w="9360">
              <a:solidFill>
                <a:srgbClr val="000000"/>
              </a:solidFill>
              <a:round/>
              <a:headEnd/>
              <a:tailEnd/>
            </a:ln>
          </p:spPr>
          <p:txBody>
            <a:bodyPr wrap="none" anchor="ctr"/>
            <a:lstStyle/>
            <a:p>
              <a:endParaRPr lang="en-US"/>
            </a:p>
          </p:txBody>
        </p:sp>
        <p:sp>
          <p:nvSpPr>
            <p:cNvPr id="50" name="Freeform 49"/>
            <p:cNvSpPr>
              <a:spLocks noChangeArrowheads="1"/>
            </p:cNvSpPr>
            <p:nvPr/>
          </p:nvSpPr>
          <p:spPr bwMode="auto">
            <a:xfrm>
              <a:off x="3686" y="2356"/>
              <a:ext cx="57" cy="76"/>
            </a:xfrm>
            <a:custGeom>
              <a:avLst/>
              <a:gdLst>
                <a:gd name="T0" fmla="*/ 0 w 251"/>
                <a:gd name="T1" fmla="*/ 0 h 337"/>
                <a:gd name="T2" fmla="*/ 0 w 251"/>
                <a:gd name="T3" fmla="*/ 0 h 337"/>
                <a:gd name="T4" fmla="*/ 0 w 251"/>
                <a:gd name="T5" fmla="*/ 0 h 337"/>
                <a:gd name="T6" fmla="*/ 0 w 251"/>
                <a:gd name="T7" fmla="*/ 0 h 337"/>
                <a:gd name="T8" fmla="*/ 0 w 251"/>
                <a:gd name="T9" fmla="*/ 0 h 337"/>
                <a:gd name="T10" fmla="*/ 0 w 251"/>
                <a:gd name="T11" fmla="*/ 0 h 337"/>
                <a:gd name="T12" fmla="*/ 0 60000 65536"/>
                <a:gd name="T13" fmla="*/ 0 60000 65536"/>
                <a:gd name="T14" fmla="*/ 0 60000 65536"/>
                <a:gd name="T15" fmla="*/ 0 60000 65536"/>
                <a:gd name="T16" fmla="*/ 0 60000 65536"/>
                <a:gd name="T17" fmla="*/ 0 60000 65536"/>
                <a:gd name="T18" fmla="*/ 0 w 251"/>
                <a:gd name="T19" fmla="*/ 0 h 337"/>
                <a:gd name="T20" fmla="*/ 251 w 251"/>
                <a:gd name="T21" fmla="*/ 337 h 337"/>
              </a:gdLst>
              <a:ahLst/>
              <a:cxnLst>
                <a:cxn ang="T12">
                  <a:pos x="T0" y="T1"/>
                </a:cxn>
                <a:cxn ang="T13">
                  <a:pos x="T2" y="T3"/>
                </a:cxn>
                <a:cxn ang="T14">
                  <a:pos x="T4" y="T5"/>
                </a:cxn>
                <a:cxn ang="T15">
                  <a:pos x="T6" y="T7"/>
                </a:cxn>
                <a:cxn ang="T16">
                  <a:pos x="T8" y="T9"/>
                </a:cxn>
                <a:cxn ang="T17">
                  <a:pos x="T10" y="T11"/>
                </a:cxn>
              </a:cxnLst>
              <a:rect l="T18" t="T19" r="T20" b="T21"/>
              <a:pathLst>
                <a:path w="251" h="337">
                  <a:moveTo>
                    <a:pt x="124" y="0"/>
                  </a:moveTo>
                  <a:cubicBezTo>
                    <a:pt x="195" y="0"/>
                    <a:pt x="250" y="73"/>
                    <a:pt x="250" y="168"/>
                  </a:cubicBezTo>
                  <a:cubicBezTo>
                    <a:pt x="250" y="263"/>
                    <a:pt x="195" y="336"/>
                    <a:pt x="124" y="336"/>
                  </a:cubicBezTo>
                  <a:cubicBezTo>
                    <a:pt x="54" y="336"/>
                    <a:pt x="0" y="263"/>
                    <a:pt x="0" y="168"/>
                  </a:cubicBezTo>
                  <a:cubicBezTo>
                    <a:pt x="0" y="73"/>
                    <a:pt x="54" y="0"/>
                    <a:pt x="124" y="0"/>
                  </a:cubicBezTo>
                </a:path>
              </a:pathLst>
            </a:custGeom>
            <a:solidFill>
              <a:srgbClr val="00E4A8"/>
            </a:solidFill>
            <a:ln w="9360">
              <a:solidFill>
                <a:srgbClr val="000000"/>
              </a:solidFill>
              <a:round/>
              <a:headEnd/>
              <a:tailEnd/>
            </a:ln>
          </p:spPr>
          <p:txBody>
            <a:bodyPr wrap="none" anchor="ctr"/>
            <a:lstStyle/>
            <a:p>
              <a:endParaRPr lang="en-US"/>
            </a:p>
          </p:txBody>
        </p:sp>
        <p:sp>
          <p:nvSpPr>
            <p:cNvPr id="51" name="Freeform 50"/>
            <p:cNvSpPr>
              <a:spLocks noChangeArrowheads="1"/>
            </p:cNvSpPr>
            <p:nvPr/>
          </p:nvSpPr>
          <p:spPr bwMode="auto">
            <a:xfrm>
              <a:off x="4193" y="2106"/>
              <a:ext cx="57" cy="75"/>
            </a:xfrm>
            <a:custGeom>
              <a:avLst/>
              <a:gdLst>
                <a:gd name="T0" fmla="*/ 0 w 250"/>
                <a:gd name="T1" fmla="*/ 0 h 331"/>
                <a:gd name="T2" fmla="*/ 0 w 250"/>
                <a:gd name="T3" fmla="*/ 0 h 331"/>
                <a:gd name="T4" fmla="*/ 0 w 250"/>
                <a:gd name="T5" fmla="*/ 0 h 331"/>
                <a:gd name="T6" fmla="*/ 0 w 250"/>
                <a:gd name="T7" fmla="*/ 0 h 331"/>
                <a:gd name="T8" fmla="*/ 0 w 250"/>
                <a:gd name="T9" fmla="*/ 0 h 331"/>
                <a:gd name="T10" fmla="*/ 0 w 250"/>
                <a:gd name="T11" fmla="*/ 0 h 331"/>
                <a:gd name="T12" fmla="*/ 0 60000 65536"/>
                <a:gd name="T13" fmla="*/ 0 60000 65536"/>
                <a:gd name="T14" fmla="*/ 0 60000 65536"/>
                <a:gd name="T15" fmla="*/ 0 60000 65536"/>
                <a:gd name="T16" fmla="*/ 0 60000 65536"/>
                <a:gd name="T17" fmla="*/ 0 60000 65536"/>
                <a:gd name="T18" fmla="*/ 0 w 250"/>
                <a:gd name="T19" fmla="*/ 0 h 331"/>
                <a:gd name="T20" fmla="*/ 250 w 250"/>
                <a:gd name="T21" fmla="*/ 331 h 331"/>
              </a:gdLst>
              <a:ahLst/>
              <a:cxnLst>
                <a:cxn ang="T12">
                  <a:pos x="T0" y="T1"/>
                </a:cxn>
                <a:cxn ang="T13">
                  <a:pos x="T2" y="T3"/>
                </a:cxn>
                <a:cxn ang="T14">
                  <a:pos x="T4" y="T5"/>
                </a:cxn>
                <a:cxn ang="T15">
                  <a:pos x="T6" y="T7"/>
                </a:cxn>
                <a:cxn ang="T16">
                  <a:pos x="T8" y="T9"/>
                </a:cxn>
                <a:cxn ang="T17">
                  <a:pos x="T10" y="T11"/>
                </a:cxn>
              </a:cxnLst>
              <a:rect l="T18" t="T19" r="T20" b="T21"/>
              <a:pathLst>
                <a:path w="250" h="331">
                  <a:moveTo>
                    <a:pt x="124" y="0"/>
                  </a:moveTo>
                  <a:cubicBezTo>
                    <a:pt x="195" y="0"/>
                    <a:pt x="249" y="71"/>
                    <a:pt x="249" y="165"/>
                  </a:cubicBezTo>
                  <a:cubicBezTo>
                    <a:pt x="249" y="258"/>
                    <a:pt x="195" y="330"/>
                    <a:pt x="124" y="330"/>
                  </a:cubicBezTo>
                  <a:cubicBezTo>
                    <a:pt x="53" y="330"/>
                    <a:pt x="0" y="258"/>
                    <a:pt x="0" y="165"/>
                  </a:cubicBezTo>
                  <a:cubicBezTo>
                    <a:pt x="0" y="71"/>
                    <a:pt x="53" y="0"/>
                    <a:pt x="124" y="0"/>
                  </a:cubicBezTo>
                </a:path>
              </a:pathLst>
            </a:custGeom>
            <a:solidFill>
              <a:srgbClr val="FFFFFF"/>
            </a:solidFill>
            <a:ln w="9360">
              <a:solidFill>
                <a:srgbClr val="000000"/>
              </a:solidFill>
              <a:round/>
              <a:headEnd/>
              <a:tailEnd/>
            </a:ln>
          </p:spPr>
          <p:txBody>
            <a:bodyPr wrap="none" anchor="ctr"/>
            <a:lstStyle/>
            <a:p>
              <a:endParaRPr lang="en-US"/>
            </a:p>
          </p:txBody>
        </p:sp>
        <p:sp>
          <p:nvSpPr>
            <p:cNvPr id="52" name="Freeform 51"/>
            <p:cNvSpPr>
              <a:spLocks noChangeArrowheads="1"/>
            </p:cNvSpPr>
            <p:nvPr/>
          </p:nvSpPr>
          <p:spPr bwMode="auto">
            <a:xfrm>
              <a:off x="3982" y="2773"/>
              <a:ext cx="57" cy="76"/>
            </a:xfrm>
            <a:custGeom>
              <a:avLst/>
              <a:gdLst>
                <a:gd name="T0" fmla="*/ 0 w 250"/>
                <a:gd name="T1" fmla="*/ 0 h 336"/>
                <a:gd name="T2" fmla="*/ 0 w 250"/>
                <a:gd name="T3" fmla="*/ 0 h 336"/>
                <a:gd name="T4" fmla="*/ 0 w 250"/>
                <a:gd name="T5" fmla="*/ 0 h 336"/>
                <a:gd name="T6" fmla="*/ 0 w 250"/>
                <a:gd name="T7" fmla="*/ 0 h 336"/>
                <a:gd name="T8" fmla="*/ 0 w 250"/>
                <a:gd name="T9" fmla="*/ 0 h 336"/>
                <a:gd name="T10" fmla="*/ 0 w 250"/>
                <a:gd name="T11" fmla="*/ 0 h 336"/>
                <a:gd name="T12" fmla="*/ 0 60000 65536"/>
                <a:gd name="T13" fmla="*/ 0 60000 65536"/>
                <a:gd name="T14" fmla="*/ 0 60000 65536"/>
                <a:gd name="T15" fmla="*/ 0 60000 65536"/>
                <a:gd name="T16" fmla="*/ 0 60000 65536"/>
                <a:gd name="T17" fmla="*/ 0 60000 65536"/>
                <a:gd name="T18" fmla="*/ 0 w 250"/>
                <a:gd name="T19" fmla="*/ 0 h 336"/>
                <a:gd name="T20" fmla="*/ 250 w 250"/>
                <a:gd name="T21" fmla="*/ 336 h 336"/>
              </a:gdLst>
              <a:ahLst/>
              <a:cxnLst>
                <a:cxn ang="T12">
                  <a:pos x="T0" y="T1"/>
                </a:cxn>
                <a:cxn ang="T13">
                  <a:pos x="T2" y="T3"/>
                </a:cxn>
                <a:cxn ang="T14">
                  <a:pos x="T4" y="T5"/>
                </a:cxn>
                <a:cxn ang="T15">
                  <a:pos x="T6" y="T7"/>
                </a:cxn>
                <a:cxn ang="T16">
                  <a:pos x="T8" y="T9"/>
                </a:cxn>
                <a:cxn ang="T17">
                  <a:pos x="T10" y="T11"/>
                </a:cxn>
              </a:cxnLst>
              <a:rect l="T18" t="T19" r="T20" b="T21"/>
              <a:pathLst>
                <a:path w="250" h="336">
                  <a:moveTo>
                    <a:pt x="124" y="0"/>
                  </a:moveTo>
                  <a:cubicBezTo>
                    <a:pt x="195" y="0"/>
                    <a:pt x="249" y="72"/>
                    <a:pt x="249" y="168"/>
                  </a:cubicBezTo>
                  <a:cubicBezTo>
                    <a:pt x="249" y="263"/>
                    <a:pt x="195" y="335"/>
                    <a:pt x="124" y="335"/>
                  </a:cubicBezTo>
                  <a:cubicBezTo>
                    <a:pt x="53" y="335"/>
                    <a:pt x="0" y="263"/>
                    <a:pt x="0" y="168"/>
                  </a:cubicBezTo>
                  <a:cubicBezTo>
                    <a:pt x="0" y="72"/>
                    <a:pt x="53" y="0"/>
                    <a:pt x="124" y="0"/>
                  </a:cubicBezTo>
                </a:path>
              </a:pathLst>
            </a:custGeom>
            <a:solidFill>
              <a:srgbClr val="333399"/>
            </a:solidFill>
            <a:ln w="9360">
              <a:solidFill>
                <a:srgbClr val="000000"/>
              </a:solidFill>
              <a:round/>
              <a:headEnd/>
              <a:tailEnd/>
            </a:ln>
          </p:spPr>
          <p:txBody>
            <a:bodyPr wrap="none" anchor="ctr"/>
            <a:lstStyle/>
            <a:p>
              <a:endParaRPr lang="en-US"/>
            </a:p>
          </p:txBody>
        </p:sp>
        <p:sp>
          <p:nvSpPr>
            <p:cNvPr id="53" name="Freeform 52"/>
            <p:cNvSpPr>
              <a:spLocks noChangeArrowheads="1"/>
            </p:cNvSpPr>
            <p:nvPr/>
          </p:nvSpPr>
          <p:spPr bwMode="auto">
            <a:xfrm>
              <a:off x="4135" y="2024"/>
              <a:ext cx="693" cy="887"/>
            </a:xfrm>
            <a:custGeom>
              <a:avLst/>
              <a:gdLst>
                <a:gd name="T0" fmla="*/ 0 w 3056"/>
                <a:gd name="T1" fmla="*/ 0 h 3912"/>
                <a:gd name="T2" fmla="*/ 0 w 3056"/>
                <a:gd name="T3" fmla="*/ 0 h 3912"/>
                <a:gd name="T4" fmla="*/ 0 w 3056"/>
                <a:gd name="T5" fmla="*/ 0 h 3912"/>
                <a:gd name="T6" fmla="*/ 0 w 3056"/>
                <a:gd name="T7" fmla="*/ 0 h 3912"/>
                <a:gd name="T8" fmla="*/ 0 w 3056"/>
                <a:gd name="T9" fmla="*/ 0 h 3912"/>
                <a:gd name="T10" fmla="*/ 0 w 3056"/>
                <a:gd name="T11" fmla="*/ 0 h 3912"/>
                <a:gd name="T12" fmla="*/ 0 w 3056"/>
                <a:gd name="T13" fmla="*/ 0 h 3912"/>
                <a:gd name="T14" fmla="*/ 0 w 3056"/>
                <a:gd name="T15" fmla="*/ 0 h 3912"/>
                <a:gd name="T16" fmla="*/ 0 w 3056"/>
                <a:gd name="T17" fmla="*/ 0 h 3912"/>
                <a:gd name="T18" fmla="*/ 0 w 3056"/>
                <a:gd name="T19" fmla="*/ 0 h 3912"/>
                <a:gd name="T20" fmla="*/ 0 w 3056"/>
                <a:gd name="T21" fmla="*/ 0 h 3912"/>
                <a:gd name="T22" fmla="*/ 0 w 3056"/>
                <a:gd name="T23" fmla="*/ 0 h 3912"/>
                <a:gd name="T24" fmla="*/ 0 w 3056"/>
                <a:gd name="T25" fmla="*/ 0 h 3912"/>
                <a:gd name="T26" fmla="*/ 0 w 3056"/>
                <a:gd name="T27" fmla="*/ 0 h 3912"/>
                <a:gd name="T28" fmla="*/ 0 w 3056"/>
                <a:gd name="T29" fmla="*/ 0 h 3912"/>
                <a:gd name="T30" fmla="*/ 0 w 3056"/>
                <a:gd name="T31" fmla="*/ 0 h 3912"/>
                <a:gd name="T32" fmla="*/ 0 w 3056"/>
                <a:gd name="T33" fmla="*/ 0 h 3912"/>
                <a:gd name="T34" fmla="*/ 0 w 3056"/>
                <a:gd name="T35" fmla="*/ 0 h 3912"/>
                <a:gd name="T36" fmla="*/ 0 w 3056"/>
                <a:gd name="T37" fmla="*/ 0 h 3912"/>
                <a:gd name="T38" fmla="*/ 0 w 3056"/>
                <a:gd name="T39" fmla="*/ 0 h 3912"/>
                <a:gd name="T40" fmla="*/ 0 w 3056"/>
                <a:gd name="T41" fmla="*/ 0 h 391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56"/>
                <a:gd name="T64" fmla="*/ 0 h 3912"/>
                <a:gd name="T65" fmla="*/ 3056 w 3056"/>
                <a:gd name="T66" fmla="*/ 3912 h 391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56" h="3912">
                  <a:moveTo>
                    <a:pt x="2889" y="1067"/>
                  </a:moveTo>
                  <a:cubicBezTo>
                    <a:pt x="2947" y="1296"/>
                    <a:pt x="2969" y="1521"/>
                    <a:pt x="2989" y="1760"/>
                  </a:cubicBezTo>
                  <a:cubicBezTo>
                    <a:pt x="2975" y="2328"/>
                    <a:pt x="3055" y="2894"/>
                    <a:pt x="2811" y="3377"/>
                  </a:cubicBezTo>
                  <a:cubicBezTo>
                    <a:pt x="2778" y="3508"/>
                    <a:pt x="2731" y="3693"/>
                    <a:pt x="2636" y="3777"/>
                  </a:cubicBezTo>
                  <a:cubicBezTo>
                    <a:pt x="2553" y="3849"/>
                    <a:pt x="2453" y="3867"/>
                    <a:pt x="2359" y="3907"/>
                  </a:cubicBezTo>
                  <a:cubicBezTo>
                    <a:pt x="1878" y="3878"/>
                    <a:pt x="1945" y="3911"/>
                    <a:pt x="1651" y="3777"/>
                  </a:cubicBezTo>
                  <a:cubicBezTo>
                    <a:pt x="1543" y="3725"/>
                    <a:pt x="1462" y="3657"/>
                    <a:pt x="1348" y="3609"/>
                  </a:cubicBezTo>
                  <a:cubicBezTo>
                    <a:pt x="1323" y="3599"/>
                    <a:pt x="1274" y="3577"/>
                    <a:pt x="1274" y="3577"/>
                  </a:cubicBezTo>
                  <a:cubicBezTo>
                    <a:pt x="1157" y="3424"/>
                    <a:pt x="1024" y="3308"/>
                    <a:pt x="893" y="3181"/>
                  </a:cubicBezTo>
                  <a:cubicBezTo>
                    <a:pt x="796" y="3086"/>
                    <a:pt x="751" y="2963"/>
                    <a:pt x="643" y="2915"/>
                  </a:cubicBezTo>
                  <a:cubicBezTo>
                    <a:pt x="544" y="2789"/>
                    <a:pt x="364" y="2636"/>
                    <a:pt x="288" y="2487"/>
                  </a:cubicBezTo>
                  <a:cubicBezTo>
                    <a:pt x="155" y="2218"/>
                    <a:pt x="58" y="1946"/>
                    <a:pt x="10" y="1630"/>
                  </a:cubicBezTo>
                  <a:cubicBezTo>
                    <a:pt x="19" y="1245"/>
                    <a:pt x="0" y="856"/>
                    <a:pt x="36" y="471"/>
                  </a:cubicBezTo>
                  <a:cubicBezTo>
                    <a:pt x="61" y="217"/>
                    <a:pt x="386" y="119"/>
                    <a:pt x="516" y="75"/>
                  </a:cubicBezTo>
                  <a:cubicBezTo>
                    <a:pt x="550" y="64"/>
                    <a:pt x="616" y="43"/>
                    <a:pt x="616" y="43"/>
                  </a:cubicBezTo>
                  <a:cubicBezTo>
                    <a:pt x="802" y="53"/>
                    <a:pt x="1004" y="0"/>
                    <a:pt x="1171" y="108"/>
                  </a:cubicBezTo>
                  <a:cubicBezTo>
                    <a:pt x="1312" y="203"/>
                    <a:pt x="1456" y="279"/>
                    <a:pt x="1601" y="373"/>
                  </a:cubicBezTo>
                  <a:cubicBezTo>
                    <a:pt x="1718" y="450"/>
                    <a:pt x="1818" y="555"/>
                    <a:pt x="1929" y="639"/>
                  </a:cubicBezTo>
                  <a:cubicBezTo>
                    <a:pt x="1992" y="685"/>
                    <a:pt x="2067" y="696"/>
                    <a:pt x="2131" y="737"/>
                  </a:cubicBezTo>
                  <a:cubicBezTo>
                    <a:pt x="2342" y="870"/>
                    <a:pt x="2650" y="1067"/>
                    <a:pt x="2889" y="1067"/>
                  </a:cubicBezTo>
                </a:path>
              </a:pathLst>
            </a:custGeom>
            <a:noFill/>
            <a:ln w="9360">
              <a:solidFill>
                <a:srgbClr val="000000"/>
              </a:solidFill>
              <a:round/>
              <a:headEnd/>
              <a:tailEnd/>
            </a:ln>
          </p:spPr>
          <p:txBody>
            <a:bodyPr wrap="none" anchor="ctr"/>
            <a:lstStyle/>
            <a:p>
              <a:endParaRPr lang="en-US"/>
            </a:p>
          </p:txBody>
        </p:sp>
        <p:sp>
          <p:nvSpPr>
            <p:cNvPr id="54" name="Freeform 53"/>
            <p:cNvSpPr>
              <a:spLocks noChangeArrowheads="1"/>
            </p:cNvSpPr>
            <p:nvPr/>
          </p:nvSpPr>
          <p:spPr bwMode="auto">
            <a:xfrm>
              <a:off x="3817" y="2640"/>
              <a:ext cx="579" cy="794"/>
            </a:xfrm>
            <a:custGeom>
              <a:avLst/>
              <a:gdLst>
                <a:gd name="T0" fmla="*/ 0 w 2553"/>
                <a:gd name="T1" fmla="*/ 0 h 3502"/>
                <a:gd name="T2" fmla="*/ 0 w 2553"/>
                <a:gd name="T3" fmla="*/ 0 h 3502"/>
                <a:gd name="T4" fmla="*/ 0 w 2553"/>
                <a:gd name="T5" fmla="*/ 0 h 3502"/>
                <a:gd name="T6" fmla="*/ 0 w 2553"/>
                <a:gd name="T7" fmla="*/ 0 h 3502"/>
                <a:gd name="T8" fmla="*/ 0 w 2553"/>
                <a:gd name="T9" fmla="*/ 0 h 3502"/>
                <a:gd name="T10" fmla="*/ 0 w 2553"/>
                <a:gd name="T11" fmla="*/ 0 h 3502"/>
                <a:gd name="T12" fmla="*/ 0 w 2553"/>
                <a:gd name="T13" fmla="*/ 0 h 3502"/>
                <a:gd name="T14" fmla="*/ 0 w 2553"/>
                <a:gd name="T15" fmla="*/ 0 h 3502"/>
                <a:gd name="T16" fmla="*/ 0 w 2553"/>
                <a:gd name="T17" fmla="*/ 0 h 3502"/>
                <a:gd name="T18" fmla="*/ 0 w 2553"/>
                <a:gd name="T19" fmla="*/ 0 h 3502"/>
                <a:gd name="T20" fmla="*/ 0 w 2553"/>
                <a:gd name="T21" fmla="*/ 0 h 3502"/>
                <a:gd name="T22" fmla="*/ 0 w 2553"/>
                <a:gd name="T23" fmla="*/ 0 h 3502"/>
                <a:gd name="T24" fmla="*/ 0 w 2553"/>
                <a:gd name="T25" fmla="*/ 0 h 3502"/>
                <a:gd name="T26" fmla="*/ 0 w 2553"/>
                <a:gd name="T27" fmla="*/ 0 h 3502"/>
                <a:gd name="T28" fmla="*/ 0 w 2553"/>
                <a:gd name="T29" fmla="*/ 0 h 3502"/>
                <a:gd name="T30" fmla="*/ 0 w 2553"/>
                <a:gd name="T31" fmla="*/ 0 h 3502"/>
                <a:gd name="T32" fmla="*/ 0 w 2553"/>
                <a:gd name="T33" fmla="*/ 0 h 3502"/>
                <a:gd name="T34" fmla="*/ 0 w 2553"/>
                <a:gd name="T35" fmla="*/ 0 h 3502"/>
                <a:gd name="T36" fmla="*/ 0 w 2553"/>
                <a:gd name="T37" fmla="*/ 0 h 3502"/>
                <a:gd name="T38" fmla="*/ 0 w 2553"/>
                <a:gd name="T39" fmla="*/ 0 h 3502"/>
                <a:gd name="T40" fmla="*/ 0 w 2553"/>
                <a:gd name="T41" fmla="*/ 0 h 3502"/>
                <a:gd name="T42" fmla="*/ 0 w 2553"/>
                <a:gd name="T43" fmla="*/ 0 h 3502"/>
                <a:gd name="T44" fmla="*/ 0 w 2553"/>
                <a:gd name="T45" fmla="*/ 0 h 3502"/>
                <a:gd name="T46" fmla="*/ 0 w 2553"/>
                <a:gd name="T47" fmla="*/ 0 h 3502"/>
                <a:gd name="T48" fmla="*/ 0 w 2553"/>
                <a:gd name="T49" fmla="*/ 0 h 3502"/>
                <a:gd name="T50" fmla="*/ 0 w 2553"/>
                <a:gd name="T51" fmla="*/ 0 h 350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553"/>
                <a:gd name="T79" fmla="*/ 0 h 3502"/>
                <a:gd name="T80" fmla="*/ 2553 w 2553"/>
                <a:gd name="T81" fmla="*/ 3502 h 3502"/>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553" h="3502">
                  <a:moveTo>
                    <a:pt x="631" y="2968"/>
                  </a:moveTo>
                  <a:cubicBezTo>
                    <a:pt x="495" y="2911"/>
                    <a:pt x="600" y="2983"/>
                    <a:pt x="530" y="2838"/>
                  </a:cubicBezTo>
                  <a:cubicBezTo>
                    <a:pt x="489" y="2747"/>
                    <a:pt x="400" y="2707"/>
                    <a:pt x="327" y="2674"/>
                  </a:cubicBezTo>
                  <a:cubicBezTo>
                    <a:pt x="294" y="2628"/>
                    <a:pt x="255" y="2591"/>
                    <a:pt x="225" y="2541"/>
                  </a:cubicBezTo>
                  <a:cubicBezTo>
                    <a:pt x="189" y="2479"/>
                    <a:pt x="124" y="2344"/>
                    <a:pt x="124" y="2344"/>
                  </a:cubicBezTo>
                  <a:cubicBezTo>
                    <a:pt x="83" y="2123"/>
                    <a:pt x="27" y="1908"/>
                    <a:pt x="0" y="1684"/>
                  </a:cubicBezTo>
                  <a:cubicBezTo>
                    <a:pt x="8" y="1364"/>
                    <a:pt x="2" y="1045"/>
                    <a:pt x="24" y="725"/>
                  </a:cubicBezTo>
                  <a:cubicBezTo>
                    <a:pt x="30" y="635"/>
                    <a:pt x="205" y="504"/>
                    <a:pt x="225" y="494"/>
                  </a:cubicBezTo>
                  <a:cubicBezTo>
                    <a:pt x="425" y="366"/>
                    <a:pt x="617" y="79"/>
                    <a:pt x="809" y="0"/>
                  </a:cubicBezTo>
                  <a:cubicBezTo>
                    <a:pt x="872" y="10"/>
                    <a:pt x="1012" y="17"/>
                    <a:pt x="1086" y="65"/>
                  </a:cubicBezTo>
                  <a:cubicBezTo>
                    <a:pt x="1195" y="134"/>
                    <a:pt x="1240" y="167"/>
                    <a:pt x="1365" y="199"/>
                  </a:cubicBezTo>
                  <a:cubicBezTo>
                    <a:pt x="1543" y="355"/>
                    <a:pt x="1773" y="362"/>
                    <a:pt x="1920" y="595"/>
                  </a:cubicBezTo>
                  <a:cubicBezTo>
                    <a:pt x="2112" y="899"/>
                    <a:pt x="1849" y="501"/>
                    <a:pt x="1996" y="791"/>
                  </a:cubicBezTo>
                  <a:cubicBezTo>
                    <a:pt x="2015" y="830"/>
                    <a:pt x="2048" y="856"/>
                    <a:pt x="2071" y="892"/>
                  </a:cubicBezTo>
                  <a:cubicBezTo>
                    <a:pt x="2140" y="1008"/>
                    <a:pt x="2174" y="1157"/>
                    <a:pt x="2248" y="1255"/>
                  </a:cubicBezTo>
                  <a:cubicBezTo>
                    <a:pt x="2307" y="1488"/>
                    <a:pt x="2269" y="1394"/>
                    <a:pt x="2348" y="1549"/>
                  </a:cubicBezTo>
                  <a:cubicBezTo>
                    <a:pt x="2366" y="1658"/>
                    <a:pt x="2380" y="1771"/>
                    <a:pt x="2399" y="1879"/>
                  </a:cubicBezTo>
                  <a:cubicBezTo>
                    <a:pt x="2421" y="1992"/>
                    <a:pt x="2457" y="2098"/>
                    <a:pt x="2474" y="2210"/>
                  </a:cubicBezTo>
                  <a:cubicBezTo>
                    <a:pt x="2507" y="2417"/>
                    <a:pt x="2502" y="2605"/>
                    <a:pt x="2552" y="2805"/>
                  </a:cubicBezTo>
                  <a:cubicBezTo>
                    <a:pt x="2529" y="3066"/>
                    <a:pt x="2513" y="3270"/>
                    <a:pt x="2299" y="3364"/>
                  </a:cubicBezTo>
                  <a:cubicBezTo>
                    <a:pt x="2232" y="3393"/>
                    <a:pt x="2163" y="3411"/>
                    <a:pt x="2096" y="3433"/>
                  </a:cubicBezTo>
                  <a:cubicBezTo>
                    <a:pt x="2063" y="3444"/>
                    <a:pt x="1996" y="3466"/>
                    <a:pt x="1996" y="3466"/>
                  </a:cubicBezTo>
                  <a:cubicBezTo>
                    <a:pt x="1857" y="3462"/>
                    <a:pt x="1284" y="3501"/>
                    <a:pt x="983" y="3400"/>
                  </a:cubicBezTo>
                  <a:cubicBezTo>
                    <a:pt x="878" y="3364"/>
                    <a:pt x="756" y="3233"/>
                    <a:pt x="680" y="3135"/>
                  </a:cubicBezTo>
                  <a:cubicBezTo>
                    <a:pt x="642" y="3085"/>
                    <a:pt x="533" y="2968"/>
                    <a:pt x="631" y="2968"/>
                  </a:cubicBezTo>
                </a:path>
              </a:pathLst>
            </a:custGeom>
            <a:noFill/>
            <a:ln w="9360">
              <a:solidFill>
                <a:srgbClr val="000000"/>
              </a:solidFill>
              <a:round/>
              <a:headEnd/>
              <a:tailEnd/>
            </a:ln>
          </p:spPr>
          <p:txBody>
            <a:bodyPr wrap="none" anchor="ctr"/>
            <a:lstStyle/>
            <a:p>
              <a:endParaRPr lang="en-US"/>
            </a:p>
          </p:txBody>
        </p:sp>
        <p:sp>
          <p:nvSpPr>
            <p:cNvPr id="55" name="Freeform 54"/>
            <p:cNvSpPr>
              <a:spLocks noChangeArrowheads="1"/>
            </p:cNvSpPr>
            <p:nvPr/>
          </p:nvSpPr>
          <p:spPr bwMode="auto">
            <a:xfrm>
              <a:off x="3302" y="2057"/>
              <a:ext cx="548" cy="965"/>
            </a:xfrm>
            <a:custGeom>
              <a:avLst/>
              <a:gdLst>
                <a:gd name="T0" fmla="*/ 0 w 2415"/>
                <a:gd name="T1" fmla="*/ 0 h 4257"/>
                <a:gd name="T2" fmla="*/ 0 w 2415"/>
                <a:gd name="T3" fmla="*/ 0 h 4257"/>
                <a:gd name="T4" fmla="*/ 0 w 2415"/>
                <a:gd name="T5" fmla="*/ 0 h 4257"/>
                <a:gd name="T6" fmla="*/ 0 w 2415"/>
                <a:gd name="T7" fmla="*/ 0 h 4257"/>
                <a:gd name="T8" fmla="*/ 0 w 2415"/>
                <a:gd name="T9" fmla="*/ 0 h 4257"/>
                <a:gd name="T10" fmla="*/ 0 w 2415"/>
                <a:gd name="T11" fmla="*/ 0 h 4257"/>
                <a:gd name="T12" fmla="*/ 0 w 2415"/>
                <a:gd name="T13" fmla="*/ 0 h 4257"/>
                <a:gd name="T14" fmla="*/ 0 w 2415"/>
                <a:gd name="T15" fmla="*/ 0 h 4257"/>
                <a:gd name="T16" fmla="*/ 0 w 2415"/>
                <a:gd name="T17" fmla="*/ 0 h 4257"/>
                <a:gd name="T18" fmla="*/ 0 w 2415"/>
                <a:gd name="T19" fmla="*/ 0 h 4257"/>
                <a:gd name="T20" fmla="*/ 0 w 2415"/>
                <a:gd name="T21" fmla="*/ 0 h 4257"/>
                <a:gd name="T22" fmla="*/ 0 w 2415"/>
                <a:gd name="T23" fmla="*/ 0 h 4257"/>
                <a:gd name="T24" fmla="*/ 0 w 2415"/>
                <a:gd name="T25" fmla="*/ 0 h 4257"/>
                <a:gd name="T26" fmla="*/ 0 w 2415"/>
                <a:gd name="T27" fmla="*/ 0 h 4257"/>
                <a:gd name="T28" fmla="*/ 0 w 2415"/>
                <a:gd name="T29" fmla="*/ 0 h 4257"/>
                <a:gd name="T30" fmla="*/ 0 w 2415"/>
                <a:gd name="T31" fmla="*/ 0 h 4257"/>
                <a:gd name="T32" fmla="*/ 0 w 2415"/>
                <a:gd name="T33" fmla="*/ 0 h 4257"/>
                <a:gd name="T34" fmla="*/ 0 w 2415"/>
                <a:gd name="T35" fmla="*/ 0 h 4257"/>
                <a:gd name="T36" fmla="*/ 0 w 2415"/>
                <a:gd name="T37" fmla="*/ 0 h 4257"/>
                <a:gd name="T38" fmla="*/ 0 w 2415"/>
                <a:gd name="T39" fmla="*/ 0 h 4257"/>
                <a:gd name="T40" fmla="*/ 0 w 2415"/>
                <a:gd name="T41" fmla="*/ 0 h 4257"/>
                <a:gd name="T42" fmla="*/ 0 w 2415"/>
                <a:gd name="T43" fmla="*/ 0 h 4257"/>
                <a:gd name="T44" fmla="*/ 0 w 2415"/>
                <a:gd name="T45" fmla="*/ 0 h 4257"/>
                <a:gd name="T46" fmla="*/ 0 w 2415"/>
                <a:gd name="T47" fmla="*/ 0 h 425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415"/>
                <a:gd name="T73" fmla="*/ 0 h 4257"/>
                <a:gd name="T74" fmla="*/ 2415 w 2415"/>
                <a:gd name="T75" fmla="*/ 4257 h 425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415" h="4257">
                  <a:moveTo>
                    <a:pt x="2094" y="2869"/>
                  </a:moveTo>
                  <a:cubicBezTo>
                    <a:pt x="2064" y="3069"/>
                    <a:pt x="2031" y="3262"/>
                    <a:pt x="1942" y="3429"/>
                  </a:cubicBezTo>
                  <a:cubicBezTo>
                    <a:pt x="1899" y="3596"/>
                    <a:pt x="1858" y="3758"/>
                    <a:pt x="1816" y="3925"/>
                  </a:cubicBezTo>
                  <a:cubicBezTo>
                    <a:pt x="1799" y="3991"/>
                    <a:pt x="1802" y="4071"/>
                    <a:pt x="1766" y="4121"/>
                  </a:cubicBezTo>
                  <a:cubicBezTo>
                    <a:pt x="1750" y="4143"/>
                    <a:pt x="1739" y="4176"/>
                    <a:pt x="1716" y="4190"/>
                  </a:cubicBezTo>
                  <a:cubicBezTo>
                    <a:pt x="1669" y="4223"/>
                    <a:pt x="1564" y="4256"/>
                    <a:pt x="1564" y="4256"/>
                  </a:cubicBezTo>
                  <a:cubicBezTo>
                    <a:pt x="1308" y="4238"/>
                    <a:pt x="1052" y="4245"/>
                    <a:pt x="805" y="4154"/>
                  </a:cubicBezTo>
                  <a:cubicBezTo>
                    <a:pt x="641" y="4096"/>
                    <a:pt x="505" y="3980"/>
                    <a:pt x="352" y="3893"/>
                  </a:cubicBezTo>
                  <a:cubicBezTo>
                    <a:pt x="257" y="3838"/>
                    <a:pt x="167" y="3770"/>
                    <a:pt x="100" y="3660"/>
                  </a:cubicBezTo>
                  <a:cubicBezTo>
                    <a:pt x="64" y="3599"/>
                    <a:pt x="0" y="3464"/>
                    <a:pt x="0" y="3464"/>
                  </a:cubicBezTo>
                  <a:cubicBezTo>
                    <a:pt x="30" y="2920"/>
                    <a:pt x="91" y="2336"/>
                    <a:pt x="224" y="1814"/>
                  </a:cubicBezTo>
                  <a:cubicBezTo>
                    <a:pt x="255" y="1495"/>
                    <a:pt x="275" y="1175"/>
                    <a:pt x="302" y="856"/>
                  </a:cubicBezTo>
                  <a:cubicBezTo>
                    <a:pt x="313" y="714"/>
                    <a:pt x="327" y="638"/>
                    <a:pt x="427" y="595"/>
                  </a:cubicBezTo>
                  <a:cubicBezTo>
                    <a:pt x="536" y="446"/>
                    <a:pt x="408" y="598"/>
                    <a:pt x="555" y="493"/>
                  </a:cubicBezTo>
                  <a:cubicBezTo>
                    <a:pt x="669" y="413"/>
                    <a:pt x="738" y="316"/>
                    <a:pt x="858" y="264"/>
                  </a:cubicBezTo>
                  <a:cubicBezTo>
                    <a:pt x="952" y="134"/>
                    <a:pt x="855" y="246"/>
                    <a:pt x="983" y="163"/>
                  </a:cubicBezTo>
                  <a:cubicBezTo>
                    <a:pt x="1063" y="108"/>
                    <a:pt x="1097" y="40"/>
                    <a:pt x="1185" y="0"/>
                  </a:cubicBezTo>
                  <a:cubicBezTo>
                    <a:pt x="1444" y="83"/>
                    <a:pt x="1739" y="105"/>
                    <a:pt x="1969" y="298"/>
                  </a:cubicBezTo>
                  <a:cubicBezTo>
                    <a:pt x="2050" y="453"/>
                    <a:pt x="2124" y="624"/>
                    <a:pt x="2247" y="725"/>
                  </a:cubicBezTo>
                  <a:cubicBezTo>
                    <a:pt x="2280" y="791"/>
                    <a:pt x="2327" y="849"/>
                    <a:pt x="2347" y="925"/>
                  </a:cubicBezTo>
                  <a:cubicBezTo>
                    <a:pt x="2364" y="990"/>
                    <a:pt x="2397" y="1121"/>
                    <a:pt x="2397" y="1121"/>
                  </a:cubicBezTo>
                  <a:cubicBezTo>
                    <a:pt x="2383" y="1582"/>
                    <a:pt x="2414" y="2162"/>
                    <a:pt x="2194" y="2572"/>
                  </a:cubicBezTo>
                  <a:cubicBezTo>
                    <a:pt x="2186" y="2601"/>
                    <a:pt x="2156" y="2869"/>
                    <a:pt x="2094" y="2869"/>
                  </a:cubicBezTo>
                </a:path>
              </a:pathLst>
            </a:custGeom>
            <a:noFill/>
            <a:ln w="9360">
              <a:solidFill>
                <a:srgbClr val="000000"/>
              </a:solidFill>
              <a:round/>
              <a:headEnd/>
              <a:tailEnd/>
            </a:ln>
          </p:spPr>
          <p:txBody>
            <a:bodyPr wrap="none" anchor="ctr"/>
            <a:lstStyle/>
            <a:p>
              <a:endParaRPr lang="en-US"/>
            </a:p>
          </p:txBody>
        </p:sp>
      </p:grpSp>
      <p:sp>
        <p:nvSpPr>
          <p:cNvPr id="56" name="TextBox 55"/>
          <p:cNvSpPr txBox="1"/>
          <p:nvPr/>
        </p:nvSpPr>
        <p:spPr>
          <a:xfrm>
            <a:off x="2054162" y="4876800"/>
            <a:ext cx="1451038" cy="369332"/>
          </a:xfrm>
          <a:prstGeom prst="rect">
            <a:avLst/>
          </a:prstGeom>
          <a:noFill/>
        </p:spPr>
        <p:txBody>
          <a:bodyPr wrap="none" rtlCol="0">
            <a:spAutoFit/>
          </a:bodyPr>
          <a:lstStyle/>
          <a:p>
            <a:r>
              <a:rPr lang="en-US" dirty="0" smtClean="0"/>
              <a:t>original data</a:t>
            </a:r>
            <a:endParaRPr lang="en-US" dirty="0"/>
          </a:p>
        </p:txBody>
      </p:sp>
      <p:sp>
        <p:nvSpPr>
          <p:cNvPr id="57" name="TextBox 56"/>
          <p:cNvSpPr txBox="1"/>
          <p:nvPr/>
        </p:nvSpPr>
        <p:spPr>
          <a:xfrm>
            <a:off x="5181600" y="4724400"/>
            <a:ext cx="1891543" cy="369332"/>
          </a:xfrm>
          <a:prstGeom prst="rect">
            <a:avLst/>
          </a:prstGeom>
          <a:noFill/>
        </p:spPr>
        <p:txBody>
          <a:bodyPr wrap="none" rtlCol="0">
            <a:spAutoFit/>
          </a:bodyPr>
          <a:lstStyle/>
          <a:p>
            <a:r>
              <a:rPr lang="en-US" dirty="0" smtClean="0"/>
              <a:t>Stratified sample</a:t>
            </a:r>
            <a:endParaRPr lang="en-US" dirty="0"/>
          </a:p>
        </p:txBody>
      </p:sp>
    </p:spTree>
  </p:cSld>
  <p:clrMapOvr>
    <a:masterClrMapping/>
  </p:clrMapOvr>
  <p:transition>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solidFill>
                  <a:srgbClr val="333399"/>
                </a:solidFill>
              </a:rPr>
              <a:t>Classifier Evaluation Metrics: Confusion Matrix</a:t>
            </a:r>
            <a:endParaRPr lang="en-US" dirty="0"/>
          </a:p>
        </p:txBody>
      </p:sp>
      <p:sp>
        <p:nvSpPr>
          <p:cNvPr id="3" name="Content Placeholder 2"/>
          <p:cNvSpPr>
            <a:spLocks noGrp="1"/>
          </p:cNvSpPr>
          <p:nvPr>
            <p:ph idx="1"/>
          </p:nvPr>
        </p:nvSpPr>
        <p:spPr/>
        <p:txBody>
          <a:bodyPr/>
          <a:lstStyle/>
          <a:p>
            <a:r>
              <a:rPr lang="en-US" dirty="0" smtClean="0"/>
              <a:t>A confusion matrix, as the name suggests, is a matrix of numbers that tell us where a model gets confused.</a:t>
            </a:r>
          </a:p>
          <a:p>
            <a:r>
              <a:rPr lang="en-US" dirty="0" smtClean="0"/>
              <a:t>It is a class-wise distribution of the predictive performance of a classification model, i.e., the confusion matrix is an organized way of mapping the predictions to the original classes to which the data belong.</a:t>
            </a:r>
          </a:p>
          <a:p>
            <a:r>
              <a:rPr lang="en-US" dirty="0" smtClean="0"/>
              <a:t>A binary class dataset is one that consists of just two distinct categories of data. These two categories can be named the “positive” and “negative” for the sake of simplicity.</a:t>
            </a:r>
          </a:p>
          <a:p>
            <a:endParaRPr lang="en-US"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20</a:t>
            </a:fld>
            <a:endParaRPr lang="en-US"/>
          </a:p>
        </p:txBody>
      </p:sp>
    </p:spTree>
  </p:cSld>
  <p:clrMapOvr>
    <a:masterClrMapping/>
  </p:clrMapOvr>
  <p:transition>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sz="2800" dirty="0" smtClean="0">
                <a:solidFill>
                  <a:srgbClr val="333399"/>
                </a:solidFill>
              </a:rPr>
              <a:t>Confusion Matrix for Binary Classifier</a:t>
            </a:r>
            <a:endParaRPr lang="en-US" sz="2800" dirty="0">
              <a:solidFill>
                <a:schemeClr val="tx2">
                  <a:satMod val="130000"/>
                </a:schemeClr>
              </a:solidFill>
            </a:endParaRPr>
          </a:p>
        </p:txBody>
      </p:sp>
      <p:sp>
        <p:nvSpPr>
          <p:cNvPr id="53251" name="Content Placeholder 9"/>
          <p:cNvSpPr>
            <a:spLocks noGrp="1"/>
          </p:cNvSpPr>
          <p:nvPr>
            <p:ph idx="1"/>
          </p:nvPr>
        </p:nvSpPr>
        <p:spPr/>
        <p:style>
          <a:lnRef idx="2">
            <a:schemeClr val="accent3"/>
          </a:lnRef>
          <a:fillRef idx="1">
            <a:schemeClr val="lt1"/>
          </a:fillRef>
          <a:effectRef idx="0">
            <a:schemeClr val="accent3"/>
          </a:effectRef>
          <a:fontRef idx="minor">
            <a:schemeClr val="dk1"/>
          </a:fontRef>
        </p:style>
        <p:txBody>
          <a:bodyPr/>
          <a:lstStyle/>
          <a:p>
            <a:pPr lvl="1" indent="-282575" eaLnBrk="1" hangingPunct="1"/>
            <a:r>
              <a:rPr lang="en-US" sz="2400" dirty="0" smtClean="0">
                <a:latin typeface="Calibri" charset="0"/>
              </a:rPr>
              <a:t>The basic classifier evaluation metrics are: Accuracy, Precision, Recall, and F-Measure</a:t>
            </a:r>
          </a:p>
          <a:p>
            <a:pPr lvl="1" indent="-282575" eaLnBrk="1" hangingPunct="1"/>
            <a:r>
              <a:rPr lang="en-IN" sz="2400" dirty="0" smtClean="0">
                <a:latin typeface="Calibri" charset="0"/>
              </a:rPr>
              <a:t>These metrics are defined by the following terms:</a:t>
            </a:r>
          </a:p>
          <a:p>
            <a:pPr marL="1031875" lvl="1" indent="-571500" eaLnBrk="1" hangingPunct="1">
              <a:buFont typeface="Wingdings" pitchFamily="2" charset="2"/>
              <a:buAutoNum type="romanLcPeriod"/>
            </a:pPr>
            <a:r>
              <a:rPr lang="en-IN" sz="2400" dirty="0" smtClean="0">
                <a:latin typeface="Calibri" charset="0"/>
              </a:rPr>
              <a:t>True Positive (TP): </a:t>
            </a:r>
            <a:r>
              <a:rPr lang="en-US" sz="2400" dirty="0" smtClean="0">
                <a:latin typeface="Calibri" charset="0"/>
              </a:rPr>
              <a:t>Positive class correctly classified as positive</a:t>
            </a:r>
          </a:p>
          <a:p>
            <a:pPr marL="1031875" lvl="1" indent="-571500" eaLnBrk="1" hangingPunct="1">
              <a:buAutoNum type="romanLcPeriod"/>
            </a:pPr>
            <a:r>
              <a:rPr lang="en-US" sz="2400" dirty="0" smtClean="0">
                <a:latin typeface="Calibri" charset="0"/>
              </a:rPr>
              <a:t>False positive (FP): Negative class incorrectly classified as positive </a:t>
            </a:r>
          </a:p>
          <a:p>
            <a:pPr marL="1031875" lvl="1" indent="-571500" eaLnBrk="1" hangingPunct="1">
              <a:buAutoNum type="romanLcPeriod"/>
            </a:pPr>
            <a:r>
              <a:rPr lang="en-IN" sz="2400" dirty="0" smtClean="0">
                <a:latin typeface="Calibri" charset="0"/>
              </a:rPr>
              <a:t>True Negative (TN): </a:t>
            </a:r>
            <a:r>
              <a:rPr lang="en-US" sz="2400" dirty="0" smtClean="0">
                <a:latin typeface="Calibri" charset="0"/>
              </a:rPr>
              <a:t>Negative class correctly classified as negative</a:t>
            </a:r>
          </a:p>
          <a:p>
            <a:pPr marL="1031875" lvl="1" indent="-571500" eaLnBrk="1" hangingPunct="1">
              <a:buAutoNum type="romanLcPeriod"/>
            </a:pPr>
            <a:r>
              <a:rPr lang="en-IN" sz="2400" dirty="0" smtClean="0">
                <a:latin typeface="Calibri" charset="0"/>
              </a:rPr>
              <a:t>False Negative (FN): Positive </a:t>
            </a:r>
            <a:r>
              <a:rPr lang="en-US" sz="2400" dirty="0" smtClean="0">
                <a:latin typeface="Calibri" charset="0"/>
              </a:rPr>
              <a:t>class incorrectly classified as negative </a:t>
            </a:r>
          </a:p>
          <a:p>
            <a:pPr lvl="1" indent="-282575" eaLnBrk="1" hangingPunct="1"/>
            <a:r>
              <a:rPr lang="en-US" sz="2400" dirty="0" smtClean="0">
                <a:latin typeface="Calibri" charset="0"/>
              </a:rPr>
              <a:t>Usually, the larger class is the negative class</a:t>
            </a:r>
          </a:p>
          <a:p>
            <a:pPr lvl="1" indent="-282575" eaLnBrk="1" hangingPunct="1"/>
            <a:endParaRPr lang="en-US" dirty="0" smtClean="0">
              <a:latin typeface="Calibri" charset="0"/>
            </a:endParaRPr>
          </a:p>
          <a:p>
            <a:pPr lvl="2" indent="-282575" eaLnBrk="1" hangingPunct="1">
              <a:buFont typeface="Wingdings 2" charset="0"/>
              <a:buChar char=""/>
            </a:pPr>
            <a:endParaRPr lang="en-US" dirty="0">
              <a:latin typeface="Calibri" charset="0"/>
            </a:endParaRPr>
          </a:p>
        </p:txBody>
      </p:sp>
    </p:spTree>
    <p:extLst>
      <p:ext uri="{BB962C8B-B14F-4D97-AF65-F5344CB8AC3E}">
        <p14:creationId xmlns:p14="http://schemas.microsoft.com/office/powerpoint/2010/main" xmlns="" val="3437254879"/>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6450" y="274638"/>
            <a:ext cx="7499350" cy="634082"/>
          </a:xfrm>
        </p:spPr>
        <p:txBody>
          <a:bodyPr/>
          <a:lstStyle/>
          <a:p>
            <a:pPr eaLnBrk="1" fontAlgn="auto" hangingPunct="1">
              <a:spcAft>
                <a:spcPts val="0"/>
              </a:spcAft>
              <a:defRPr/>
            </a:pPr>
            <a:r>
              <a:rPr lang="en-US" sz="2800" dirty="0" smtClean="0">
                <a:solidFill>
                  <a:srgbClr val="333399"/>
                </a:solidFill>
              </a:rPr>
              <a:t>Classifier Evaluation Metrics: Confusion Matrix</a:t>
            </a:r>
            <a:endParaRPr lang="en-US" dirty="0">
              <a:solidFill>
                <a:schemeClr val="tx2">
                  <a:satMod val="130000"/>
                </a:schemeClr>
              </a:solidFill>
            </a:endParaRPr>
          </a:p>
        </p:txBody>
      </p:sp>
      <p:sp>
        <p:nvSpPr>
          <p:cNvPr id="55298" name="TextBox 6"/>
          <p:cNvSpPr txBox="1">
            <a:spLocks noChangeArrowheads="1"/>
          </p:cNvSpPr>
          <p:nvPr/>
        </p:nvSpPr>
        <p:spPr bwMode="auto">
          <a:xfrm>
            <a:off x="6858000" y="228600"/>
            <a:ext cx="1524000" cy="381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800">
                <a:latin typeface="Gill Sans MT" charset="0"/>
              </a:rPr>
              <a:t>Classification</a:t>
            </a:r>
          </a:p>
        </p:txBody>
      </p:sp>
      <p:pic>
        <p:nvPicPr>
          <p:cNvPr id="55300"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447800" y="1905000"/>
            <a:ext cx="6734175" cy="42957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cxnSp>
        <p:nvCxnSpPr>
          <p:cNvPr id="13" name="Straight Arrow Connector 12"/>
          <p:cNvCxnSpPr>
            <a:endCxn id="27" idx="7"/>
          </p:cNvCxnSpPr>
          <p:nvPr/>
        </p:nvCxnSpPr>
        <p:spPr>
          <a:xfrm rot="5400000">
            <a:off x="4363243" y="2672557"/>
            <a:ext cx="1128713" cy="508000"/>
          </a:xfrm>
          <a:prstGeom prst="straightConnector1">
            <a:avLst/>
          </a:prstGeom>
          <a:ln w="15875">
            <a:solidFill>
              <a:srgbClr val="002060"/>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endCxn id="32" idx="0"/>
          </p:cNvCxnSpPr>
          <p:nvPr/>
        </p:nvCxnSpPr>
        <p:spPr>
          <a:xfrm rot="5400000">
            <a:off x="4368006" y="2982119"/>
            <a:ext cx="1509713" cy="117475"/>
          </a:xfrm>
          <a:prstGeom prst="straightConnector1">
            <a:avLst/>
          </a:prstGeom>
          <a:ln w="15875">
            <a:solidFill>
              <a:srgbClr val="002060"/>
            </a:solidFill>
            <a:tailEnd type="arrow"/>
          </a:ln>
        </p:spPr>
        <p:style>
          <a:lnRef idx="1">
            <a:schemeClr val="accent1"/>
          </a:lnRef>
          <a:fillRef idx="0">
            <a:schemeClr val="accent1"/>
          </a:fillRef>
          <a:effectRef idx="0">
            <a:schemeClr val="accent1"/>
          </a:effectRef>
          <a:fontRef idx="minor">
            <a:schemeClr val="tx1"/>
          </a:fontRef>
        </p:style>
      </p:cxnSp>
      <p:sp>
        <p:nvSpPr>
          <p:cNvPr id="55303" name="TextBox 16"/>
          <p:cNvSpPr txBox="1">
            <a:spLocks noChangeArrowheads="1"/>
          </p:cNvSpPr>
          <p:nvPr/>
        </p:nvSpPr>
        <p:spPr bwMode="auto">
          <a:xfrm>
            <a:off x="4495800" y="1992313"/>
            <a:ext cx="160020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800" dirty="0"/>
              <a:t>F</a:t>
            </a:r>
            <a:r>
              <a:rPr lang="en-US" sz="1800" dirty="0" smtClean="0"/>
              <a:t>alse </a:t>
            </a:r>
            <a:r>
              <a:rPr lang="en-US" sz="1800" dirty="0"/>
              <a:t>P</a:t>
            </a:r>
            <a:r>
              <a:rPr lang="en-US" sz="1800" dirty="0" smtClean="0"/>
              <a:t>ositive</a:t>
            </a:r>
            <a:endParaRPr lang="en-US" sz="1800" dirty="0"/>
          </a:p>
        </p:txBody>
      </p:sp>
      <p:sp>
        <p:nvSpPr>
          <p:cNvPr id="55304" name="TextBox 17"/>
          <p:cNvSpPr txBox="1">
            <a:spLocks noChangeArrowheads="1"/>
          </p:cNvSpPr>
          <p:nvPr/>
        </p:nvSpPr>
        <p:spPr bwMode="auto">
          <a:xfrm>
            <a:off x="3200400" y="5410200"/>
            <a:ext cx="1905000"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800" dirty="0"/>
              <a:t>F</a:t>
            </a:r>
            <a:r>
              <a:rPr lang="en-US" sz="1800" dirty="0" smtClean="0"/>
              <a:t>alse </a:t>
            </a:r>
            <a:r>
              <a:rPr lang="en-US" sz="1800" dirty="0"/>
              <a:t>N</a:t>
            </a:r>
            <a:r>
              <a:rPr lang="en-US" sz="1800" dirty="0" smtClean="0"/>
              <a:t>egative</a:t>
            </a:r>
            <a:endParaRPr lang="en-US" sz="1800" dirty="0"/>
          </a:p>
        </p:txBody>
      </p:sp>
      <p:cxnSp>
        <p:nvCxnSpPr>
          <p:cNvPr id="19" name="Straight Arrow Connector 18"/>
          <p:cNvCxnSpPr>
            <a:endCxn id="33" idx="3"/>
          </p:cNvCxnSpPr>
          <p:nvPr/>
        </p:nvCxnSpPr>
        <p:spPr>
          <a:xfrm rot="5400000" flipH="1" flipV="1">
            <a:off x="3246437" y="4429126"/>
            <a:ext cx="1522413" cy="646112"/>
          </a:xfrm>
          <a:prstGeom prst="straightConnector1">
            <a:avLst/>
          </a:prstGeom>
          <a:ln w="15875">
            <a:solidFill>
              <a:srgbClr val="002060"/>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endCxn id="34" idx="3"/>
          </p:cNvCxnSpPr>
          <p:nvPr/>
        </p:nvCxnSpPr>
        <p:spPr>
          <a:xfrm rot="5400000" flipH="1" flipV="1">
            <a:off x="3225800" y="4818063"/>
            <a:ext cx="1176337" cy="312738"/>
          </a:xfrm>
          <a:prstGeom prst="straightConnector1">
            <a:avLst/>
          </a:prstGeom>
          <a:ln w="15875">
            <a:solidFill>
              <a:srgbClr val="002060"/>
            </a:solidFill>
            <a:tailEnd type="arrow"/>
          </a:ln>
        </p:spPr>
        <p:style>
          <a:lnRef idx="1">
            <a:schemeClr val="accent1"/>
          </a:lnRef>
          <a:fillRef idx="0">
            <a:schemeClr val="accent1"/>
          </a:fillRef>
          <a:effectRef idx="0">
            <a:schemeClr val="accent1"/>
          </a:effectRef>
          <a:fontRef idx="minor">
            <a:schemeClr val="tx1"/>
          </a:fontRef>
        </p:style>
      </p:cxnSp>
      <p:sp>
        <p:nvSpPr>
          <p:cNvPr id="27" name="Oval 26"/>
          <p:cNvSpPr/>
          <p:nvPr/>
        </p:nvSpPr>
        <p:spPr>
          <a:xfrm>
            <a:off x="4545013" y="3455988"/>
            <a:ext cx="152400" cy="228600"/>
          </a:xfrm>
          <a:prstGeom prst="ellipse">
            <a:avLst/>
          </a:prstGeom>
          <a:solidFill>
            <a:schemeClr val="accent1">
              <a:alpha val="1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 name="Oval 31"/>
          <p:cNvSpPr/>
          <p:nvPr/>
        </p:nvSpPr>
        <p:spPr>
          <a:xfrm>
            <a:off x="4987925" y="3795713"/>
            <a:ext cx="152400" cy="228600"/>
          </a:xfrm>
          <a:prstGeom prst="ellipse">
            <a:avLst/>
          </a:prstGeom>
          <a:solidFill>
            <a:schemeClr val="accent1">
              <a:alpha val="1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3" name="Oval 32"/>
          <p:cNvSpPr/>
          <p:nvPr/>
        </p:nvSpPr>
        <p:spPr>
          <a:xfrm>
            <a:off x="4308475" y="3795713"/>
            <a:ext cx="152400" cy="228600"/>
          </a:xfrm>
          <a:prstGeom prst="ellipse">
            <a:avLst/>
          </a:prstGeom>
          <a:solidFill>
            <a:schemeClr val="accent1">
              <a:alpha val="1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4" name="Oval 33"/>
          <p:cNvSpPr/>
          <p:nvPr/>
        </p:nvSpPr>
        <p:spPr>
          <a:xfrm>
            <a:off x="3948113" y="4191000"/>
            <a:ext cx="152400" cy="228600"/>
          </a:xfrm>
          <a:prstGeom prst="ellipse">
            <a:avLst/>
          </a:prstGeom>
          <a:solidFill>
            <a:schemeClr val="accent1">
              <a:alpha val="1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TextBox 2"/>
          <p:cNvSpPr txBox="1"/>
          <p:nvPr/>
        </p:nvSpPr>
        <p:spPr>
          <a:xfrm>
            <a:off x="5292080" y="2492896"/>
            <a:ext cx="1287883" cy="369332"/>
          </a:xfrm>
          <a:prstGeom prst="rect">
            <a:avLst/>
          </a:prstGeom>
          <a:noFill/>
        </p:spPr>
        <p:txBody>
          <a:bodyPr wrap="none" rtlCol="0">
            <a:spAutoFit/>
          </a:bodyPr>
          <a:lstStyle/>
          <a:p>
            <a:r>
              <a:rPr lang="en-US" sz="18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POSITIVE</a:t>
            </a:r>
            <a:endParaRPr lang="en-US" sz="18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
        <p:nvSpPr>
          <p:cNvPr id="4" name="TextBox 3"/>
          <p:cNvSpPr txBox="1"/>
          <p:nvPr/>
        </p:nvSpPr>
        <p:spPr>
          <a:xfrm>
            <a:off x="2339752" y="2492896"/>
            <a:ext cx="1411727" cy="369332"/>
          </a:xfrm>
          <a:prstGeom prst="rect">
            <a:avLst/>
          </a:prstGeom>
          <a:noFill/>
        </p:spPr>
        <p:txBody>
          <a:bodyPr wrap="none" rtlCol="0">
            <a:spAutoFit/>
          </a:bodyPr>
          <a:lstStyle/>
          <a:p>
            <a:r>
              <a:rPr lang="en-US" sz="18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Negative</a:t>
            </a:r>
            <a:endParaRPr lang="en-US" sz="18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
        <p:nvSpPr>
          <p:cNvPr id="5" name="TextBox 4"/>
          <p:cNvSpPr txBox="1"/>
          <p:nvPr/>
        </p:nvSpPr>
        <p:spPr>
          <a:xfrm>
            <a:off x="7164288" y="5589240"/>
            <a:ext cx="1700405" cy="369332"/>
          </a:xfrm>
          <a:prstGeom prst="rect">
            <a:avLst/>
          </a:prstGeom>
          <a:noFill/>
        </p:spPr>
        <p:txBody>
          <a:bodyPr wrap="none" rtlCol="0">
            <a:spAutoFit/>
          </a:bodyPr>
          <a:lstStyle/>
          <a:p>
            <a:r>
              <a:rPr lang="en-US" sz="18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Attribute 2</a:t>
            </a:r>
            <a:endParaRPr lang="en-US" sz="18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
        <p:nvSpPr>
          <p:cNvPr id="6" name="Rectangle 5"/>
          <p:cNvSpPr/>
          <p:nvPr/>
        </p:nvSpPr>
        <p:spPr>
          <a:xfrm>
            <a:off x="1043608" y="2205335"/>
            <a:ext cx="2205652" cy="461665"/>
          </a:xfrm>
          <a:prstGeom prst="rect">
            <a:avLst/>
          </a:prstGeom>
        </p:spPr>
        <p:txBody>
          <a:bodyPr wrap="none">
            <a:spAutoFit/>
          </a:bodyPr>
          <a:lstStyle/>
          <a:p>
            <a:r>
              <a:rPr lang="en-US"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Attribute </a:t>
            </a:r>
            <a:r>
              <a:rPr lang="en-US"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4</a:t>
            </a:r>
            <a:endParaRPr lang="en-US"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Tree>
    <p:extLst>
      <p:ext uri="{BB962C8B-B14F-4D97-AF65-F5344CB8AC3E}">
        <p14:creationId xmlns:p14="http://schemas.microsoft.com/office/powerpoint/2010/main" xmlns="" val="3786241480"/>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solidFill>
                  <a:srgbClr val="333399"/>
                </a:solidFill>
              </a:rPr>
              <a:t>Classifier Evaluation Metrics: Confusion Matrix</a:t>
            </a:r>
            <a:endParaRPr lang="en-US" dirty="0"/>
          </a:p>
        </p:txBody>
      </p:sp>
      <p:sp>
        <p:nvSpPr>
          <p:cNvPr id="5" name="Content Placeholder 4"/>
          <p:cNvSpPr>
            <a:spLocks noGrp="1"/>
          </p:cNvSpPr>
          <p:nvPr>
            <p:ph idx="1"/>
          </p:nvPr>
        </p:nvSpPr>
        <p:spPr/>
        <p:txBody>
          <a:bodyPr/>
          <a:lstStyle/>
          <a:p>
            <a:endParaRPr lang="en-IN" dirty="0" smtClean="0"/>
          </a:p>
          <a:p>
            <a:endParaRPr lang="en-IN" dirty="0" smtClean="0"/>
          </a:p>
          <a:p>
            <a:pPr>
              <a:buNone/>
            </a:pPr>
            <a:endParaRPr lang="en-IN" dirty="0" smtClean="0"/>
          </a:p>
          <a:p>
            <a:r>
              <a:rPr lang="en-US" b="1" dirty="0" smtClean="0"/>
              <a:t>Classifier Accuracy, </a:t>
            </a:r>
            <a:r>
              <a:rPr lang="en-US" dirty="0" smtClean="0"/>
              <a:t>or recognition rate: percentage of test set </a:t>
            </a:r>
            <a:r>
              <a:rPr lang="en-US" dirty="0" err="1" smtClean="0"/>
              <a:t>tuples</a:t>
            </a:r>
            <a:r>
              <a:rPr lang="en-US" dirty="0" smtClean="0"/>
              <a:t> that are correctly classified. </a:t>
            </a:r>
          </a:p>
          <a:p>
            <a:pPr lvl="1" algn="just">
              <a:lnSpc>
                <a:spcPct val="200000"/>
              </a:lnSpc>
              <a:buClr>
                <a:srgbClr val="000000"/>
              </a:buClr>
              <a:defRPr/>
            </a:pPr>
            <a:r>
              <a:rPr lang="en-US" sz="2400" dirty="0" smtClean="0">
                <a:solidFill>
                  <a:srgbClr val="000000"/>
                </a:solidFill>
                <a:sym typeface="Candara" charset="0"/>
              </a:rPr>
              <a:t>Accuracy (A) = (TP+TN) / (TP+ TN + FP + FN)</a:t>
            </a:r>
          </a:p>
          <a:p>
            <a:pPr lvl="1" algn="just">
              <a:lnSpc>
                <a:spcPct val="200000"/>
              </a:lnSpc>
              <a:buClr>
                <a:srgbClr val="000000"/>
              </a:buClr>
              <a:defRPr/>
            </a:pPr>
            <a:r>
              <a:rPr lang="en-IN" sz="2400" dirty="0" smtClean="0">
                <a:solidFill>
                  <a:srgbClr val="000000"/>
                </a:solidFill>
                <a:sym typeface="Candara" charset="0"/>
              </a:rPr>
              <a:t>Error Rate (E) = 1 – Accuracy = </a:t>
            </a:r>
            <a:r>
              <a:rPr lang="en-US" sz="2400" dirty="0" smtClean="0">
                <a:solidFill>
                  <a:srgbClr val="000000"/>
                </a:solidFill>
                <a:sym typeface="Candara" charset="0"/>
              </a:rPr>
              <a:t>(FP+FN) / (TP+ TN + FP + FN)</a:t>
            </a:r>
          </a:p>
          <a:p>
            <a:endParaRPr lang="en-US" dirty="0"/>
          </a:p>
        </p:txBody>
      </p:sp>
      <p:pic>
        <p:nvPicPr>
          <p:cNvPr id="4" name="Picture 3"/>
          <p:cNvPicPr>
            <a:picLocks noChangeAspect="1"/>
          </p:cNvPicPr>
          <p:nvPr/>
        </p:nvPicPr>
        <p:blipFill>
          <a:blip r:embed="rId2"/>
          <a:stretch>
            <a:fillRect/>
          </a:stretch>
        </p:blipFill>
        <p:spPr>
          <a:xfrm>
            <a:off x="1828800" y="1219200"/>
            <a:ext cx="4800600" cy="1656545"/>
          </a:xfrm>
          <a:prstGeom prst="rect">
            <a:avLst/>
          </a:prstGeom>
        </p:spPr>
      </p:pic>
    </p:spTree>
    <p:extLst>
      <p:ext uri="{BB962C8B-B14F-4D97-AF65-F5344CB8AC3E}">
        <p14:creationId xmlns:p14="http://schemas.microsoft.com/office/powerpoint/2010/main" xmlns="" val="3709682856"/>
      </p:ext>
    </p:extLst>
  </p:cSld>
  <p:clrMapOvr>
    <a:masterClrMapping/>
  </p:clrMapOvr>
  <p:transition>
    <p:zo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solidFill>
                  <a:srgbClr val="333399"/>
                </a:solidFill>
              </a:rPr>
              <a:t>Classifier Evaluation Metrics: Confusion Matrix</a:t>
            </a:r>
            <a:endParaRPr lang="en-US" dirty="0"/>
          </a:p>
        </p:txBody>
      </p:sp>
      <p:sp>
        <p:nvSpPr>
          <p:cNvPr id="5" name="Content Placeholder 4"/>
          <p:cNvSpPr>
            <a:spLocks noGrp="1"/>
          </p:cNvSpPr>
          <p:nvPr>
            <p:ph idx="1"/>
          </p:nvPr>
        </p:nvSpPr>
        <p:spPr>
          <a:xfrm>
            <a:off x="304800" y="1143000"/>
            <a:ext cx="8458200" cy="5257800"/>
          </a:xfrm>
        </p:spPr>
        <p:txBody>
          <a:bodyPr/>
          <a:lstStyle/>
          <a:p>
            <a:pPr lvl="1" algn="just">
              <a:spcBef>
                <a:spcPts val="0"/>
              </a:spcBef>
              <a:buClr>
                <a:srgbClr val="000000"/>
              </a:buClr>
              <a:defRPr/>
            </a:pPr>
            <a:r>
              <a:rPr lang="en-IN" dirty="0" smtClean="0">
                <a:solidFill>
                  <a:srgbClr val="000000"/>
                </a:solidFill>
                <a:sym typeface="Candara" charset="0"/>
              </a:rPr>
              <a:t>In many cases, accuracy may be very high but the model is not useful, in case of class imbalanced data set. </a:t>
            </a:r>
          </a:p>
          <a:p>
            <a:pPr lvl="1" algn="just">
              <a:spcBef>
                <a:spcPts val="0"/>
              </a:spcBef>
              <a:buClr>
                <a:srgbClr val="000000"/>
              </a:buClr>
              <a:defRPr/>
            </a:pPr>
            <a:r>
              <a:rPr lang="en-IN" dirty="0" smtClean="0">
                <a:solidFill>
                  <a:srgbClr val="000000"/>
                </a:solidFill>
                <a:sym typeface="Candara" charset="0"/>
              </a:rPr>
              <a:t>Let in disease data set, positive samples are very few compare to negative samples. </a:t>
            </a:r>
          </a:p>
          <a:p>
            <a:pPr lvl="1" algn="just">
              <a:spcBef>
                <a:spcPts val="0"/>
              </a:spcBef>
              <a:buClr>
                <a:srgbClr val="000000"/>
              </a:buClr>
              <a:defRPr/>
            </a:pPr>
            <a:r>
              <a:rPr lang="en-IN" dirty="0" smtClean="0">
                <a:solidFill>
                  <a:srgbClr val="000000"/>
                </a:solidFill>
                <a:sym typeface="Candara" charset="0"/>
              </a:rPr>
              <a:t>If the model predict most of the negative samples correctly but predict correctly very few of the positive samples, then though the accuracy is very high still the model is not useful.</a:t>
            </a:r>
          </a:p>
          <a:p>
            <a:pPr lvl="1" algn="just">
              <a:spcBef>
                <a:spcPts val="0"/>
              </a:spcBef>
              <a:buClr>
                <a:srgbClr val="000000"/>
              </a:buClr>
              <a:defRPr/>
            </a:pPr>
            <a:r>
              <a:rPr lang="en-IN" dirty="0" smtClean="0">
                <a:solidFill>
                  <a:srgbClr val="000000"/>
                </a:solidFill>
                <a:sym typeface="Candara" charset="0"/>
              </a:rPr>
              <a:t>In this situation, we use other performance metrics, such as precision, recall, etc.</a:t>
            </a:r>
          </a:p>
        </p:txBody>
      </p:sp>
    </p:spTree>
    <p:extLst>
      <p:ext uri="{BB962C8B-B14F-4D97-AF65-F5344CB8AC3E}">
        <p14:creationId xmlns:p14="http://schemas.microsoft.com/office/powerpoint/2010/main" xmlns="" val="3709682856"/>
      </p:ext>
    </p:extLst>
  </p:cSld>
  <p:clrMapOvr>
    <a:masterClrMapping/>
  </p:clrMapOvr>
  <p:transition>
    <p:zo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solidFill>
                  <a:srgbClr val="333399"/>
                </a:solidFill>
              </a:rPr>
              <a:t>Classifier Evaluation Metrics: Confusion Matrix</a:t>
            </a:r>
            <a:endParaRPr lang="en-US" dirty="0"/>
          </a:p>
        </p:txBody>
      </p:sp>
      <p:sp>
        <p:nvSpPr>
          <p:cNvPr id="5" name="Content Placeholder 4"/>
          <p:cNvSpPr>
            <a:spLocks noGrp="1"/>
          </p:cNvSpPr>
          <p:nvPr>
            <p:ph idx="1"/>
          </p:nvPr>
        </p:nvSpPr>
        <p:spPr>
          <a:xfrm>
            <a:off x="304800" y="1143000"/>
            <a:ext cx="8458200" cy="5257800"/>
          </a:xfrm>
        </p:spPr>
        <p:txBody>
          <a:bodyPr/>
          <a:lstStyle/>
          <a:p>
            <a:endParaRPr lang="en-IN" dirty="0" smtClean="0"/>
          </a:p>
          <a:p>
            <a:pPr lvl="1" algn="just">
              <a:spcBef>
                <a:spcPts val="0"/>
              </a:spcBef>
              <a:buClr>
                <a:srgbClr val="000000"/>
              </a:buClr>
              <a:buNone/>
              <a:defRPr/>
            </a:pPr>
            <a:endParaRPr lang="en-IN" sz="1800" dirty="0" smtClean="0">
              <a:solidFill>
                <a:srgbClr val="000000"/>
              </a:solidFill>
              <a:sym typeface="Candara" charset="0"/>
            </a:endParaRPr>
          </a:p>
          <a:p>
            <a:pPr lvl="1" algn="just">
              <a:spcBef>
                <a:spcPts val="0"/>
              </a:spcBef>
              <a:buClr>
                <a:srgbClr val="000000"/>
              </a:buClr>
              <a:buNone/>
              <a:defRPr/>
            </a:pPr>
            <a:endParaRPr lang="en-IN" sz="1800" dirty="0" smtClean="0">
              <a:solidFill>
                <a:srgbClr val="000000"/>
              </a:solidFill>
              <a:sym typeface="Candara" charset="0"/>
            </a:endParaRPr>
          </a:p>
          <a:p>
            <a:pPr lvl="1" algn="just">
              <a:spcBef>
                <a:spcPts val="0"/>
              </a:spcBef>
              <a:buClr>
                <a:srgbClr val="000000"/>
              </a:buClr>
              <a:buNone/>
              <a:defRPr/>
            </a:pPr>
            <a:endParaRPr lang="en-US" sz="1800" dirty="0" smtClean="0">
              <a:solidFill>
                <a:srgbClr val="000000"/>
              </a:solidFill>
              <a:sym typeface="Candara" charset="0"/>
            </a:endParaRPr>
          </a:p>
          <a:p>
            <a:pPr marL="342900" lvl="1" indent="-342900">
              <a:lnSpc>
                <a:spcPct val="90000"/>
              </a:lnSpc>
              <a:buClr>
                <a:schemeClr val="folHlink"/>
              </a:buClr>
              <a:buSzPct val="60000"/>
            </a:pPr>
            <a:r>
              <a:rPr lang="en-US" sz="2400" b="1" dirty="0" smtClean="0"/>
              <a:t>Precision</a:t>
            </a:r>
            <a:r>
              <a:rPr lang="en-US" sz="2400" dirty="0" smtClean="0"/>
              <a:t>: exactness – what % of </a:t>
            </a:r>
            <a:r>
              <a:rPr lang="en-US" sz="2400" dirty="0" err="1" smtClean="0"/>
              <a:t>tuples</a:t>
            </a:r>
            <a:r>
              <a:rPr lang="en-US" sz="2400" dirty="0" smtClean="0"/>
              <a:t> that the classifier labeled as positive are actually positive? </a:t>
            </a:r>
          </a:p>
          <a:p>
            <a:pPr marL="342900" lvl="1" indent="-342900">
              <a:lnSpc>
                <a:spcPct val="90000"/>
              </a:lnSpc>
              <a:buClr>
                <a:schemeClr val="folHlink"/>
              </a:buClr>
              <a:buSzPct val="60000"/>
            </a:pPr>
            <a:endParaRPr lang="en-US" sz="2400" dirty="0" smtClean="0">
              <a:solidFill>
                <a:srgbClr val="000000"/>
              </a:solidFill>
              <a:sym typeface="Candara" charset="0"/>
            </a:endParaRPr>
          </a:p>
          <a:p>
            <a:pPr marL="342900" lvl="1" indent="-342900">
              <a:lnSpc>
                <a:spcPct val="90000"/>
              </a:lnSpc>
              <a:buClr>
                <a:schemeClr val="folHlink"/>
              </a:buClr>
              <a:buSzPct val="60000"/>
              <a:buNone/>
            </a:pPr>
            <a:endParaRPr lang="en-US" sz="2400" dirty="0" smtClean="0">
              <a:solidFill>
                <a:srgbClr val="000000"/>
              </a:solidFill>
              <a:sym typeface="Candara" charset="0"/>
            </a:endParaRPr>
          </a:p>
          <a:p>
            <a:pPr marL="342900" lvl="1" indent="-342900">
              <a:lnSpc>
                <a:spcPct val="90000"/>
              </a:lnSpc>
              <a:buClr>
                <a:schemeClr val="folHlink"/>
              </a:buClr>
              <a:buSzPct val="60000"/>
            </a:pPr>
            <a:r>
              <a:rPr lang="en-US" sz="2400" b="1" dirty="0" smtClean="0"/>
              <a:t>Recall: </a:t>
            </a:r>
            <a:r>
              <a:rPr lang="en-US" sz="2400" dirty="0" smtClean="0"/>
              <a:t>completeness – what % of positive </a:t>
            </a:r>
            <a:r>
              <a:rPr lang="en-US" sz="2400" dirty="0" err="1" smtClean="0"/>
              <a:t>tuples</a:t>
            </a:r>
            <a:r>
              <a:rPr lang="en-US" sz="2400" dirty="0" smtClean="0"/>
              <a:t> did the classifier label as positive?</a:t>
            </a:r>
            <a:endParaRPr lang="en-US" sz="2400" dirty="0" smtClean="0">
              <a:solidFill>
                <a:srgbClr val="000000"/>
              </a:solidFill>
              <a:sym typeface="Candara" charset="0"/>
            </a:endParaRPr>
          </a:p>
          <a:p>
            <a:pPr marL="342900" lvl="1" indent="-342900">
              <a:lnSpc>
                <a:spcPct val="90000"/>
              </a:lnSpc>
              <a:buClr>
                <a:schemeClr val="folHlink"/>
              </a:buClr>
              <a:buSzPct val="60000"/>
              <a:buNone/>
            </a:pPr>
            <a:endParaRPr lang="en-IN" sz="2400" dirty="0" smtClean="0">
              <a:solidFill>
                <a:srgbClr val="000000"/>
              </a:solidFill>
              <a:sym typeface="Candara" charset="0"/>
            </a:endParaRPr>
          </a:p>
          <a:p>
            <a:pPr marL="342900" lvl="1" indent="-342900">
              <a:lnSpc>
                <a:spcPct val="90000"/>
              </a:lnSpc>
              <a:buClr>
                <a:schemeClr val="folHlink"/>
              </a:buClr>
              <a:buSzPct val="60000"/>
              <a:buNone/>
            </a:pPr>
            <a:endParaRPr lang="en-US" sz="2400" dirty="0" smtClean="0">
              <a:solidFill>
                <a:srgbClr val="000000"/>
              </a:solidFill>
              <a:sym typeface="Candara" charset="0"/>
            </a:endParaRPr>
          </a:p>
          <a:p>
            <a:pPr marL="342900" lvl="1" indent="-342900">
              <a:lnSpc>
                <a:spcPct val="90000"/>
              </a:lnSpc>
              <a:buClr>
                <a:schemeClr val="folHlink"/>
              </a:buClr>
              <a:buSzPct val="60000"/>
            </a:pPr>
            <a:r>
              <a:rPr lang="en-US" sz="2400" dirty="0" smtClean="0"/>
              <a:t>Perfect score of Precision and Recall is 1.0</a:t>
            </a:r>
          </a:p>
          <a:p>
            <a:pPr>
              <a:lnSpc>
                <a:spcPct val="90000"/>
              </a:lnSpc>
            </a:pPr>
            <a:r>
              <a:rPr lang="en-US" sz="2400" dirty="0" smtClean="0"/>
              <a:t>There is an inverse relationship between precision &amp; recall</a:t>
            </a:r>
          </a:p>
          <a:p>
            <a:pPr>
              <a:lnSpc>
                <a:spcPct val="90000"/>
              </a:lnSpc>
            </a:pPr>
            <a:endParaRPr lang="en-US" sz="2400" dirty="0" smtClean="0"/>
          </a:p>
          <a:p>
            <a:pPr>
              <a:lnSpc>
                <a:spcPct val="90000"/>
              </a:lnSpc>
            </a:pPr>
            <a:endParaRPr lang="en-US" sz="2400" b="1" dirty="0" smtClean="0"/>
          </a:p>
          <a:p>
            <a:pPr>
              <a:lnSpc>
                <a:spcPct val="90000"/>
              </a:lnSpc>
            </a:pPr>
            <a:endParaRPr lang="en-US" sz="2400" dirty="0" smtClean="0"/>
          </a:p>
          <a:p>
            <a:pPr lvl="1" algn="just">
              <a:spcBef>
                <a:spcPts val="0"/>
              </a:spcBef>
              <a:buClr>
                <a:srgbClr val="000000"/>
              </a:buClr>
              <a:buNone/>
              <a:defRPr/>
            </a:pPr>
            <a:endParaRPr lang="en-IN" sz="2400" dirty="0" smtClean="0">
              <a:solidFill>
                <a:srgbClr val="000000"/>
              </a:solidFill>
              <a:cs typeface="Arial" charset="0"/>
              <a:sym typeface="Arial" charset="0"/>
            </a:endParaRPr>
          </a:p>
          <a:p>
            <a:pPr lvl="1" algn="just">
              <a:spcBef>
                <a:spcPts val="0"/>
              </a:spcBef>
              <a:buClr>
                <a:srgbClr val="000000"/>
              </a:buClr>
              <a:buNone/>
              <a:defRPr/>
            </a:pPr>
            <a:endParaRPr lang="en-IN" sz="2400" dirty="0" smtClean="0">
              <a:solidFill>
                <a:srgbClr val="000000"/>
              </a:solidFill>
              <a:cs typeface="Arial" charset="0"/>
              <a:sym typeface="Arial" charset="0"/>
            </a:endParaRPr>
          </a:p>
          <a:p>
            <a:pPr lvl="1" algn="just">
              <a:spcBef>
                <a:spcPts val="0"/>
              </a:spcBef>
              <a:buClr>
                <a:srgbClr val="000000"/>
              </a:buClr>
              <a:buNone/>
              <a:defRPr/>
            </a:pPr>
            <a:endParaRPr lang="en-US" sz="1800" dirty="0" smtClean="0">
              <a:solidFill>
                <a:srgbClr val="000000"/>
              </a:solidFill>
              <a:cs typeface="Arial" charset="0"/>
              <a:sym typeface="Arial" charset="0"/>
            </a:endParaRPr>
          </a:p>
          <a:p>
            <a:endParaRPr lang="en-US" dirty="0"/>
          </a:p>
        </p:txBody>
      </p:sp>
      <p:pic>
        <p:nvPicPr>
          <p:cNvPr id="4" name="Picture 3"/>
          <p:cNvPicPr>
            <a:picLocks noChangeAspect="1"/>
          </p:cNvPicPr>
          <p:nvPr/>
        </p:nvPicPr>
        <p:blipFill>
          <a:blip r:embed="rId2"/>
          <a:stretch>
            <a:fillRect/>
          </a:stretch>
        </p:blipFill>
        <p:spPr>
          <a:xfrm>
            <a:off x="2362200" y="1143000"/>
            <a:ext cx="4876800" cy="1447800"/>
          </a:xfrm>
          <a:prstGeom prst="rect">
            <a:avLst/>
          </a:prstGeom>
        </p:spPr>
      </p:pic>
      <p:pic>
        <p:nvPicPr>
          <p:cNvPr id="6" name="Picture 7" descr="8precision"/>
          <p:cNvPicPr>
            <a:picLocks noChangeAspect="1" noChangeArrowheads="1"/>
          </p:cNvPicPr>
          <p:nvPr/>
        </p:nvPicPr>
        <p:blipFill>
          <a:blip r:embed="rId3"/>
          <a:srcRect/>
          <a:stretch>
            <a:fillRect/>
          </a:stretch>
        </p:blipFill>
        <p:spPr bwMode="auto">
          <a:xfrm>
            <a:off x="1981200" y="3200400"/>
            <a:ext cx="3581400" cy="725487"/>
          </a:xfrm>
          <a:prstGeom prst="rect">
            <a:avLst/>
          </a:prstGeom>
          <a:noFill/>
          <a:ln w="9525">
            <a:noFill/>
            <a:miter lim="800000"/>
            <a:headEnd/>
            <a:tailEnd/>
          </a:ln>
        </p:spPr>
      </p:pic>
      <p:pic>
        <p:nvPicPr>
          <p:cNvPr id="7" name="Picture 8" descr="8recall"/>
          <p:cNvPicPr>
            <a:picLocks noChangeAspect="1" noChangeArrowheads="1"/>
          </p:cNvPicPr>
          <p:nvPr/>
        </p:nvPicPr>
        <p:blipFill>
          <a:blip r:embed="rId4"/>
          <a:srcRect/>
          <a:stretch>
            <a:fillRect/>
          </a:stretch>
        </p:blipFill>
        <p:spPr bwMode="auto">
          <a:xfrm>
            <a:off x="1828800" y="4648200"/>
            <a:ext cx="3124200" cy="739775"/>
          </a:xfrm>
          <a:prstGeom prst="rect">
            <a:avLst/>
          </a:prstGeom>
          <a:noFill/>
          <a:ln w="9525">
            <a:noFill/>
            <a:miter lim="800000"/>
            <a:headEnd/>
            <a:tailEnd/>
          </a:ln>
        </p:spPr>
      </p:pic>
    </p:spTree>
    <p:extLst>
      <p:ext uri="{BB962C8B-B14F-4D97-AF65-F5344CB8AC3E}">
        <p14:creationId xmlns:p14="http://schemas.microsoft.com/office/powerpoint/2010/main" xmlns="" val="3709682856"/>
      </p:ext>
    </p:extLst>
  </p:cSld>
  <p:clrMapOvr>
    <a:masterClrMapping/>
  </p:clrMapOvr>
  <p:transition>
    <p:zo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solidFill>
                  <a:srgbClr val="333399"/>
                </a:solidFill>
              </a:rPr>
              <a:t>Classifier Evaluation Metrics: Confusion Matrix</a:t>
            </a:r>
            <a:endParaRPr lang="en-US" dirty="0"/>
          </a:p>
        </p:txBody>
      </p:sp>
      <p:sp>
        <p:nvSpPr>
          <p:cNvPr id="5" name="Content Placeholder 4"/>
          <p:cNvSpPr>
            <a:spLocks noGrp="1"/>
          </p:cNvSpPr>
          <p:nvPr>
            <p:ph idx="1"/>
          </p:nvPr>
        </p:nvSpPr>
        <p:spPr>
          <a:xfrm>
            <a:off x="304800" y="1143000"/>
            <a:ext cx="8458200" cy="5257800"/>
          </a:xfrm>
        </p:spPr>
        <p:txBody>
          <a:bodyPr/>
          <a:lstStyle/>
          <a:p>
            <a:endParaRPr lang="en-IN" dirty="0" smtClean="0"/>
          </a:p>
          <a:p>
            <a:pPr lvl="1" algn="just">
              <a:spcBef>
                <a:spcPts val="0"/>
              </a:spcBef>
              <a:buClr>
                <a:srgbClr val="000000"/>
              </a:buClr>
              <a:buNone/>
              <a:defRPr/>
            </a:pPr>
            <a:endParaRPr lang="en-IN" sz="1800" dirty="0" smtClean="0">
              <a:solidFill>
                <a:srgbClr val="000000"/>
              </a:solidFill>
              <a:sym typeface="Candara" charset="0"/>
            </a:endParaRPr>
          </a:p>
          <a:p>
            <a:pPr lvl="1" algn="just">
              <a:spcBef>
                <a:spcPts val="0"/>
              </a:spcBef>
              <a:buClr>
                <a:srgbClr val="000000"/>
              </a:buClr>
              <a:buNone/>
              <a:defRPr/>
            </a:pPr>
            <a:endParaRPr lang="en-IN" sz="1800" dirty="0" smtClean="0">
              <a:solidFill>
                <a:srgbClr val="000000"/>
              </a:solidFill>
              <a:sym typeface="Candara" charset="0"/>
            </a:endParaRPr>
          </a:p>
          <a:p>
            <a:pPr marL="342900" lvl="1" indent="-342900">
              <a:lnSpc>
                <a:spcPct val="90000"/>
              </a:lnSpc>
              <a:buClr>
                <a:schemeClr val="folHlink"/>
              </a:buClr>
              <a:buSzPct val="60000"/>
              <a:buNone/>
            </a:pPr>
            <a:endParaRPr lang="en-US" sz="2400" dirty="0" smtClean="0"/>
          </a:p>
          <a:p>
            <a:pPr>
              <a:lnSpc>
                <a:spcPct val="90000"/>
              </a:lnSpc>
            </a:pPr>
            <a:r>
              <a:rPr lang="en-US" sz="2400" b="1" i="1" dirty="0" smtClean="0"/>
              <a:t>F-M</a:t>
            </a:r>
            <a:r>
              <a:rPr lang="en-US" sz="2400" b="1" dirty="0" smtClean="0"/>
              <a:t>easure (</a:t>
            </a:r>
            <a:r>
              <a:rPr lang="en-US" sz="2400" b="1" i="1" dirty="0" smtClean="0"/>
              <a:t>F</a:t>
            </a:r>
            <a:r>
              <a:rPr lang="en-US" sz="2400" b="1" i="1" baseline="-25000" dirty="0" smtClean="0"/>
              <a:t>1</a:t>
            </a:r>
            <a:r>
              <a:rPr lang="en-US" sz="2400" b="1" dirty="0" smtClean="0"/>
              <a:t> </a:t>
            </a:r>
            <a:r>
              <a:rPr lang="en-US" sz="2400" dirty="0" smtClean="0"/>
              <a:t>or</a:t>
            </a:r>
            <a:r>
              <a:rPr lang="en-US" sz="2400" b="1" dirty="0" smtClean="0"/>
              <a:t> </a:t>
            </a:r>
            <a:r>
              <a:rPr lang="en-US" sz="2400" b="1" i="1" dirty="0" smtClean="0"/>
              <a:t>F</a:t>
            </a:r>
            <a:r>
              <a:rPr lang="en-US" sz="2400" b="1" dirty="0" smtClean="0"/>
              <a:t>-score)</a:t>
            </a:r>
            <a:r>
              <a:rPr lang="en-US" sz="2400" dirty="0" smtClean="0"/>
              <a:t>: harmonic mean of precision and recall. </a:t>
            </a:r>
            <a:endParaRPr lang="en-US" sz="2400" b="1" i="1" dirty="0" smtClean="0"/>
          </a:p>
          <a:p>
            <a:pPr>
              <a:lnSpc>
                <a:spcPct val="90000"/>
              </a:lnSpc>
            </a:pPr>
            <a:endParaRPr lang="en-US" sz="2400" b="1" i="1" dirty="0" smtClean="0"/>
          </a:p>
          <a:p>
            <a:pPr>
              <a:lnSpc>
                <a:spcPct val="90000"/>
              </a:lnSpc>
            </a:pPr>
            <a:endParaRPr lang="en-US" sz="2400" b="1" i="1" dirty="0" smtClean="0"/>
          </a:p>
          <a:p>
            <a:pPr>
              <a:lnSpc>
                <a:spcPct val="80000"/>
              </a:lnSpc>
            </a:pPr>
            <a:endParaRPr lang="en-IN" sz="2400" dirty="0" smtClean="0">
              <a:cs typeface="Tahoma" pitchFamily="34" charset="0"/>
            </a:endParaRPr>
          </a:p>
          <a:p>
            <a:pPr>
              <a:lnSpc>
                <a:spcPct val="80000"/>
              </a:lnSpc>
              <a:buNone/>
            </a:pPr>
            <a:endParaRPr lang="en-IN" sz="2400" dirty="0" smtClean="0">
              <a:cs typeface="Tahoma" pitchFamily="34" charset="0"/>
            </a:endParaRPr>
          </a:p>
          <a:p>
            <a:pPr>
              <a:lnSpc>
                <a:spcPct val="80000"/>
              </a:lnSpc>
            </a:pPr>
            <a:endParaRPr lang="en-IN" sz="2400" dirty="0" smtClean="0">
              <a:cs typeface="Tahoma" pitchFamily="34" charset="0"/>
            </a:endParaRPr>
          </a:p>
          <a:p>
            <a:pPr>
              <a:lnSpc>
                <a:spcPct val="80000"/>
              </a:lnSpc>
            </a:pPr>
            <a:endParaRPr lang="en-US" sz="2400" dirty="0" smtClean="0"/>
          </a:p>
          <a:p>
            <a:pPr>
              <a:lnSpc>
                <a:spcPct val="90000"/>
              </a:lnSpc>
            </a:pPr>
            <a:endParaRPr lang="en-US" sz="2400" dirty="0" smtClean="0"/>
          </a:p>
          <a:p>
            <a:pPr>
              <a:lnSpc>
                <a:spcPct val="90000"/>
              </a:lnSpc>
            </a:pPr>
            <a:endParaRPr lang="en-US" sz="2400" b="1" dirty="0" smtClean="0"/>
          </a:p>
          <a:p>
            <a:pPr>
              <a:lnSpc>
                <a:spcPct val="90000"/>
              </a:lnSpc>
            </a:pPr>
            <a:endParaRPr lang="en-US" sz="2400" dirty="0" smtClean="0"/>
          </a:p>
          <a:p>
            <a:pPr lvl="1" algn="just">
              <a:spcBef>
                <a:spcPts val="0"/>
              </a:spcBef>
              <a:buClr>
                <a:srgbClr val="000000"/>
              </a:buClr>
              <a:buNone/>
              <a:defRPr/>
            </a:pPr>
            <a:endParaRPr lang="en-IN" sz="2400" dirty="0" smtClean="0">
              <a:solidFill>
                <a:srgbClr val="000000"/>
              </a:solidFill>
              <a:cs typeface="Arial" charset="0"/>
              <a:sym typeface="Arial" charset="0"/>
            </a:endParaRPr>
          </a:p>
        </p:txBody>
      </p:sp>
      <p:pic>
        <p:nvPicPr>
          <p:cNvPr id="4" name="Picture 3"/>
          <p:cNvPicPr>
            <a:picLocks noChangeAspect="1"/>
          </p:cNvPicPr>
          <p:nvPr/>
        </p:nvPicPr>
        <p:blipFill>
          <a:blip r:embed="rId2"/>
          <a:stretch>
            <a:fillRect/>
          </a:stretch>
        </p:blipFill>
        <p:spPr>
          <a:xfrm>
            <a:off x="2362200" y="1143000"/>
            <a:ext cx="4876800" cy="1447800"/>
          </a:xfrm>
          <a:prstGeom prst="rect">
            <a:avLst/>
          </a:prstGeom>
        </p:spPr>
      </p:pic>
      <p:pic>
        <p:nvPicPr>
          <p:cNvPr id="7" name="Picture 7" descr="8F"/>
          <p:cNvPicPr>
            <a:picLocks noChangeAspect="1" noChangeArrowheads="1"/>
          </p:cNvPicPr>
          <p:nvPr/>
        </p:nvPicPr>
        <p:blipFill>
          <a:blip r:embed="rId3"/>
          <a:srcRect/>
          <a:stretch>
            <a:fillRect/>
          </a:stretch>
        </p:blipFill>
        <p:spPr bwMode="auto">
          <a:xfrm>
            <a:off x="1905000" y="3048000"/>
            <a:ext cx="4267200" cy="820738"/>
          </a:xfrm>
          <a:prstGeom prst="rect">
            <a:avLst/>
          </a:prstGeom>
          <a:noFill/>
          <a:ln w="9525">
            <a:noFill/>
            <a:miter lim="800000"/>
            <a:headEnd/>
            <a:tailEnd/>
          </a:ln>
        </p:spPr>
      </p:pic>
    </p:spTree>
    <p:extLst>
      <p:ext uri="{BB962C8B-B14F-4D97-AF65-F5344CB8AC3E}">
        <p14:creationId xmlns:p14="http://schemas.microsoft.com/office/powerpoint/2010/main" xmlns="" val="3709682856"/>
      </p:ext>
    </p:extLst>
  </p:cSld>
  <p:clrMapOvr>
    <a:masterClrMapping/>
  </p:clrMapOvr>
  <p:transition>
    <p:zo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2800" dirty="0" smtClean="0">
                <a:solidFill>
                  <a:srgbClr val="333399"/>
                </a:solidFill>
              </a:rPr>
              <a:t>Classifier Evaluation Metrics: Confusion Matrix</a:t>
            </a:r>
            <a:endParaRPr lang="en-US" dirty="0"/>
          </a:p>
        </p:txBody>
      </p:sp>
      <p:sp>
        <p:nvSpPr>
          <p:cNvPr id="8" name="Content Placeholder 7"/>
          <p:cNvSpPr>
            <a:spLocks noGrp="1"/>
          </p:cNvSpPr>
          <p:nvPr>
            <p:ph idx="1"/>
          </p:nvPr>
        </p:nvSpPr>
        <p:spPr>
          <a:xfrm>
            <a:off x="304800" y="1066800"/>
            <a:ext cx="8458200" cy="5410200"/>
          </a:xfrm>
        </p:spPr>
        <p:txBody>
          <a:bodyPr/>
          <a:lstStyle/>
          <a:p>
            <a:r>
              <a:rPr lang="en-US" b="1" i="1" dirty="0" err="1" smtClean="0"/>
              <a:t>F</a:t>
            </a:r>
            <a:r>
              <a:rPr lang="en-US" b="1" i="1" baseline="-25000" dirty="0" err="1" smtClean="0">
                <a:cs typeface="Tahoma" pitchFamily="34" charset="0"/>
              </a:rPr>
              <a:t>ß</a:t>
            </a:r>
            <a:r>
              <a:rPr lang="en-US" b="1" dirty="0" smtClean="0"/>
              <a:t>:  </a:t>
            </a:r>
            <a:r>
              <a:rPr lang="en-US" dirty="0" smtClean="0"/>
              <a:t>weighted measure of precision and recall. It assigns </a:t>
            </a:r>
            <a:r>
              <a:rPr lang="en-US" dirty="0" smtClean="0">
                <a:cs typeface="Tahoma" pitchFamily="34" charset="0"/>
              </a:rPr>
              <a:t>ß times as much weight to recall as to precision</a:t>
            </a:r>
          </a:p>
          <a:p>
            <a:r>
              <a:rPr lang="en-US" dirty="0" smtClean="0"/>
              <a:t>It means that recall is considered </a:t>
            </a:r>
            <a:r>
              <a:rPr lang="en-US" b="1" dirty="0" smtClean="0"/>
              <a:t>ß times more important</a:t>
            </a:r>
            <a:r>
              <a:rPr lang="en-US" dirty="0" smtClean="0"/>
              <a:t> than precision</a:t>
            </a:r>
          </a:p>
          <a:p>
            <a:r>
              <a:rPr lang="en-US" b="1" dirty="0" smtClean="0"/>
              <a:t>If ß &gt; 1</a:t>
            </a:r>
            <a:r>
              <a:rPr lang="en-US" dirty="0" smtClean="0"/>
              <a:t>, recall is more </a:t>
            </a:r>
          </a:p>
          <a:p>
            <a:pPr>
              <a:buNone/>
            </a:pPr>
            <a:r>
              <a:rPr lang="en-US" dirty="0" smtClean="0"/>
              <a:t>    important than precision. </a:t>
            </a:r>
          </a:p>
          <a:p>
            <a:r>
              <a:rPr lang="en-US" b="1" dirty="0" smtClean="0"/>
              <a:t>If ß &lt; 1</a:t>
            </a:r>
            <a:r>
              <a:rPr lang="en-US" dirty="0" smtClean="0"/>
              <a:t>, precision is more </a:t>
            </a:r>
          </a:p>
          <a:p>
            <a:pPr>
              <a:buNone/>
            </a:pPr>
            <a:r>
              <a:rPr lang="en-US" dirty="0" smtClean="0"/>
              <a:t>    important than recall. </a:t>
            </a:r>
          </a:p>
          <a:p>
            <a:r>
              <a:rPr lang="en-US" b="1" dirty="0" smtClean="0"/>
              <a:t>If ß = 1</a:t>
            </a:r>
            <a:r>
              <a:rPr lang="en-US" dirty="0" smtClean="0"/>
              <a:t>, it becomes the standard </a:t>
            </a:r>
            <a:r>
              <a:rPr lang="en-US" b="1" dirty="0" smtClean="0"/>
              <a:t>F1-score</a:t>
            </a:r>
            <a:r>
              <a:rPr lang="en-US" dirty="0" smtClean="0"/>
              <a:t>, where precision and recall are equally weighted</a:t>
            </a:r>
            <a:endParaRPr lang="en-US" dirty="0" smtClean="0">
              <a:cs typeface="Tahoma" pitchFamily="34" charset="0"/>
            </a:endParaRPr>
          </a:p>
          <a:p>
            <a:endParaRPr lang="en-US"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27</a:t>
            </a:fld>
            <a:endParaRPr lang="en-US"/>
          </a:p>
        </p:txBody>
      </p:sp>
      <p:sp>
        <p:nvSpPr>
          <p:cNvPr id="502786" name="AutoShape 2" descr="F1 Score in Machine Learning: Intro &amp; Calcul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502788" name="AutoShape 4" descr="F1 Score in Machine Learning: Intro &amp; Calcul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502790" name="Picture 6" descr="F1 Score in Machine Learning: Intro &amp; Calculation"/>
          <p:cNvPicPr>
            <a:picLocks noChangeAspect="1" noChangeArrowheads="1"/>
          </p:cNvPicPr>
          <p:nvPr/>
        </p:nvPicPr>
        <p:blipFill>
          <a:blip r:embed="rId2"/>
          <a:srcRect/>
          <a:stretch>
            <a:fillRect/>
          </a:stretch>
        </p:blipFill>
        <p:spPr bwMode="auto">
          <a:xfrm>
            <a:off x="4800600" y="3124200"/>
            <a:ext cx="3733800" cy="2133600"/>
          </a:xfrm>
          <a:prstGeom prst="rect">
            <a:avLst/>
          </a:prstGeom>
          <a:noFill/>
        </p:spPr>
      </p:pic>
    </p:spTree>
  </p:cSld>
  <p:clrMapOvr>
    <a:masterClrMapping/>
  </p:clrMapOvr>
  <p:transition>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2"/>
          <p:cNvSpPr>
            <a:spLocks noGrp="1" noChangeArrowheads="1"/>
          </p:cNvSpPr>
          <p:nvPr>
            <p:ph type="title"/>
          </p:nvPr>
        </p:nvSpPr>
        <p:spPr/>
        <p:txBody>
          <a:bodyPr/>
          <a:lstStyle/>
          <a:p>
            <a:r>
              <a:rPr lang="en-US" sz="2400" dirty="0" smtClean="0"/>
              <a:t>Classifier Evaluation Metrics: Sensitivity and Specificity</a:t>
            </a:r>
          </a:p>
        </p:txBody>
      </p:sp>
      <p:sp>
        <p:nvSpPr>
          <p:cNvPr id="6" name="Content Placeholder 5"/>
          <p:cNvSpPr>
            <a:spLocks noGrp="1"/>
          </p:cNvSpPr>
          <p:nvPr>
            <p:ph idx="1"/>
          </p:nvPr>
        </p:nvSpPr>
        <p:spPr>
          <a:xfrm>
            <a:off x="304800" y="1143000"/>
            <a:ext cx="8458200" cy="5257800"/>
          </a:xfrm>
        </p:spPr>
        <p:txBody>
          <a:bodyPr/>
          <a:lstStyle/>
          <a:p>
            <a:endParaRPr lang="en-IN" dirty="0" smtClean="0"/>
          </a:p>
          <a:p>
            <a:endParaRPr lang="en-IN" dirty="0" smtClean="0"/>
          </a:p>
          <a:p>
            <a:pPr>
              <a:spcBef>
                <a:spcPts val="0"/>
              </a:spcBef>
            </a:pPr>
            <a:endParaRPr lang="en-IN" sz="2400" b="1" dirty="0" smtClean="0"/>
          </a:p>
          <a:p>
            <a:pPr>
              <a:spcBef>
                <a:spcPts val="0"/>
              </a:spcBef>
            </a:pPr>
            <a:r>
              <a:rPr lang="en-IN" sz="2400" b="1" dirty="0" smtClean="0"/>
              <a:t>S</a:t>
            </a:r>
            <a:r>
              <a:rPr lang="en-US" sz="2400" b="1" dirty="0" err="1" smtClean="0"/>
              <a:t>ensitivity</a:t>
            </a:r>
            <a:r>
              <a:rPr lang="en-US" sz="2400" dirty="0" smtClean="0"/>
              <a:t>: True Positive recognition rate </a:t>
            </a:r>
            <a:r>
              <a:rPr lang="en-US" b="1" dirty="0" smtClean="0"/>
              <a:t>=                 = Recall</a:t>
            </a:r>
          </a:p>
          <a:p>
            <a:pPr>
              <a:spcBef>
                <a:spcPts val="0"/>
              </a:spcBef>
            </a:pPr>
            <a:r>
              <a:rPr lang="en-US" sz="2400" b="1" dirty="0" smtClean="0"/>
              <a:t>Specificity</a:t>
            </a:r>
            <a:r>
              <a:rPr lang="en-US" sz="2400" dirty="0" smtClean="0"/>
              <a:t>: True Negative recognition rate </a:t>
            </a:r>
            <a:r>
              <a:rPr lang="en-US" b="1" dirty="0" smtClean="0"/>
              <a:t>= </a:t>
            </a:r>
          </a:p>
          <a:p>
            <a:endParaRPr lang="en-US" dirty="0"/>
          </a:p>
        </p:txBody>
      </p:sp>
      <p:sp>
        <p:nvSpPr>
          <p:cNvPr id="122911" name="Slide Number Placeholder 7"/>
          <p:cNvSpPr txBox="1">
            <a:spLocks noGrp="1"/>
          </p:cNvSpPr>
          <p:nvPr/>
        </p:nvSpPr>
        <p:spPr bwMode="auto">
          <a:xfrm>
            <a:off x="7239000" y="6477000"/>
            <a:ext cx="1905000" cy="381000"/>
          </a:xfrm>
          <a:prstGeom prst="rect">
            <a:avLst/>
          </a:prstGeom>
          <a:noFill/>
          <a:ln w="9525">
            <a:noFill/>
            <a:miter lim="800000"/>
            <a:headEnd/>
            <a:tailEnd/>
          </a:ln>
        </p:spPr>
        <p:txBody>
          <a:bodyPr anchor="b"/>
          <a:lstStyle/>
          <a:p>
            <a:pPr algn="r"/>
            <a:fld id="{C67AAADB-C5FD-4207-B42B-6BEC445F437A}" type="slidenum">
              <a:rPr lang="en-US" sz="1200" b="1">
                <a:latin typeface="Calibri" pitchFamily="34" charset="0"/>
              </a:rPr>
              <a:pPr algn="r"/>
              <a:t>28</a:t>
            </a:fld>
            <a:endParaRPr lang="en-US" sz="1200" b="1">
              <a:latin typeface="Calibri" pitchFamily="34" charset="0"/>
            </a:endParaRPr>
          </a:p>
        </p:txBody>
      </p:sp>
      <p:pic>
        <p:nvPicPr>
          <p:cNvPr id="5" name="Picture 4"/>
          <p:cNvPicPr>
            <a:picLocks noChangeAspect="1"/>
          </p:cNvPicPr>
          <p:nvPr/>
        </p:nvPicPr>
        <p:blipFill>
          <a:blip r:embed="rId3"/>
          <a:stretch>
            <a:fillRect/>
          </a:stretch>
        </p:blipFill>
        <p:spPr>
          <a:xfrm>
            <a:off x="2362200" y="1143000"/>
            <a:ext cx="4495800" cy="1334691"/>
          </a:xfrm>
          <a:prstGeom prst="rect">
            <a:avLst/>
          </a:prstGeom>
        </p:spPr>
      </p:pic>
      <p:sp>
        <p:nvSpPr>
          <p:cNvPr id="45158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451585" name="Picture 1"/>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6096000" y="2438400"/>
            <a:ext cx="1295400" cy="481149"/>
          </a:xfrm>
          <a:prstGeom prst="rect">
            <a:avLst/>
          </a:prstGeom>
          <a:noFill/>
        </p:spPr>
      </p:pic>
      <p:sp>
        <p:nvSpPr>
          <p:cNvPr id="45158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451587" name="Picture 3"/>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6324600" y="2971800"/>
            <a:ext cx="1219200" cy="446468"/>
          </a:xfrm>
          <a:prstGeom prst="rect">
            <a:avLst/>
          </a:prstGeom>
          <a:noFill/>
        </p:spPr>
      </p:pic>
      <p:graphicFrame>
        <p:nvGraphicFramePr>
          <p:cNvPr id="11" name="Group 54"/>
          <p:cNvGraphicFramePr>
            <a:graphicFrameLocks noGrp="1"/>
          </p:cNvGraphicFramePr>
          <p:nvPr/>
        </p:nvGraphicFramePr>
        <p:xfrm>
          <a:off x="609600" y="3733800"/>
          <a:ext cx="7467600" cy="2458305"/>
        </p:xfrm>
        <a:graphic>
          <a:graphicData uri="http://schemas.openxmlformats.org/drawingml/2006/table">
            <a:tbl>
              <a:tblPr/>
              <a:tblGrid>
                <a:gridCol w="1600200"/>
                <a:gridCol w="990600"/>
                <a:gridCol w="1066800"/>
                <a:gridCol w="914400"/>
                <a:gridCol w="2895600"/>
              </a:tblGrid>
              <a:tr h="57981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Calibri" pitchFamily="34" charset="0"/>
                        </a:rPr>
                        <a:t>Actual Class \ Predicted class</a:t>
                      </a:r>
                    </a:p>
                  </a:txBody>
                  <a:tcPr marT="45740" marB="4574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cancer = yes</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cancer = no</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Total</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Recognition(%)</a:t>
                      </a:r>
                    </a:p>
                  </a:txBody>
                  <a:tcPr marT="45740" marB="4574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8647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Calibri" pitchFamily="34" charset="0"/>
                        </a:rPr>
                        <a:t>cancer = yes</a:t>
                      </a:r>
                    </a:p>
                  </a:txBody>
                  <a:tcPr marT="45740" marB="4574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1" i="0" u="none" strike="noStrike" cap="none" normalizeH="0" baseline="0" smtClean="0">
                          <a:ln>
                            <a:noFill/>
                          </a:ln>
                          <a:solidFill>
                            <a:schemeClr val="tx1"/>
                          </a:solidFill>
                          <a:effectLst/>
                          <a:latin typeface="Calibri" pitchFamily="34" charset="0"/>
                        </a:rPr>
                        <a:t>90</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1" i="0" u="none" strike="noStrike" cap="none" normalizeH="0" baseline="0" smtClean="0">
                          <a:ln>
                            <a:noFill/>
                          </a:ln>
                          <a:solidFill>
                            <a:schemeClr val="tx1"/>
                          </a:solidFill>
                          <a:effectLst/>
                          <a:latin typeface="Calibri" pitchFamily="34" charset="0"/>
                        </a:rPr>
                        <a:t>210</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300</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Calibri" pitchFamily="34" charset="0"/>
                        </a:rPr>
                        <a:t>Sensitivity = 30.00</a:t>
                      </a:r>
                      <a:endParaRPr kumimoji="0" lang="en-US" sz="1800" b="0" i="1" u="none" strike="noStrike" cap="none" normalizeH="0" baseline="0" dirty="0" smtClean="0">
                        <a:ln>
                          <a:noFill/>
                        </a:ln>
                        <a:solidFill>
                          <a:schemeClr val="tx1"/>
                        </a:solidFill>
                        <a:effectLst/>
                        <a:latin typeface="Calibri" pitchFamily="34" charset="0"/>
                      </a:endParaRPr>
                    </a:p>
                  </a:txBody>
                  <a:tcPr marT="45740" marB="4574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4510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cancer = no</a:t>
                      </a:r>
                    </a:p>
                  </a:txBody>
                  <a:tcPr marT="45740" marB="4574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1" i="0" u="none" strike="noStrike" cap="none" normalizeH="0" baseline="0" smtClean="0">
                          <a:ln>
                            <a:noFill/>
                          </a:ln>
                          <a:solidFill>
                            <a:schemeClr val="tx1"/>
                          </a:solidFill>
                          <a:effectLst/>
                          <a:latin typeface="Calibri" pitchFamily="34" charset="0"/>
                        </a:rPr>
                        <a:t>140</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1" i="0" u="none" strike="noStrike" cap="none" normalizeH="0" baseline="0" smtClean="0">
                          <a:ln>
                            <a:noFill/>
                          </a:ln>
                          <a:solidFill>
                            <a:schemeClr val="tx1"/>
                          </a:solidFill>
                          <a:effectLst/>
                          <a:latin typeface="Calibri" pitchFamily="34" charset="0"/>
                        </a:rPr>
                        <a:t>9560</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smtClean="0">
                          <a:ln>
                            <a:noFill/>
                          </a:ln>
                          <a:solidFill>
                            <a:schemeClr val="tx1"/>
                          </a:solidFill>
                          <a:effectLst/>
                          <a:latin typeface="Calibri" pitchFamily="34" charset="0"/>
                        </a:rPr>
                        <a:t>9700</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Calibri" pitchFamily="34" charset="0"/>
                        </a:rPr>
                        <a:t>Specificity = 98.56</a:t>
                      </a:r>
                      <a:endParaRPr kumimoji="0" lang="en-US" sz="1800" b="0" i="1" u="none" strike="noStrike" cap="none" normalizeH="0" baseline="0" dirty="0" smtClean="0">
                        <a:ln>
                          <a:noFill/>
                        </a:ln>
                        <a:solidFill>
                          <a:schemeClr val="tx1"/>
                        </a:solidFill>
                        <a:effectLst/>
                        <a:latin typeface="Calibri" pitchFamily="34" charset="0"/>
                      </a:endParaRPr>
                    </a:p>
                  </a:txBody>
                  <a:tcPr marT="45740" marB="4574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36401">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Calibri" pitchFamily="34" charset="0"/>
                        </a:rPr>
                        <a:t>Total</a:t>
                      </a:r>
                    </a:p>
                  </a:txBody>
                  <a:tcPr marT="45740" marB="4574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Calibri" pitchFamily="34" charset="0"/>
                        </a:rPr>
                        <a:t>230</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Calibri" pitchFamily="34" charset="0"/>
                        </a:rPr>
                        <a:t>9770</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Calibri" pitchFamily="34" charset="0"/>
                        </a:rPr>
                        <a:t>10000</a:t>
                      </a: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dirty="0" smtClean="0">
                          <a:ln>
                            <a:noFill/>
                          </a:ln>
                          <a:solidFill>
                            <a:schemeClr val="tx1"/>
                          </a:solidFill>
                          <a:effectLst/>
                          <a:latin typeface="Calibri" pitchFamily="34" charset="0"/>
                        </a:rPr>
                        <a:t>Accuracy=96.40</a:t>
                      </a:r>
                    </a:p>
                  </a:txBody>
                  <a:tcPr marT="45740" marB="4574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r h="629505">
                <a:tc gridSpan="5">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IN" sz="1800" b="0" i="0" u="none" strike="noStrike" cap="none" normalizeH="0" baseline="0" dirty="0" smtClean="0">
                          <a:ln>
                            <a:noFill/>
                          </a:ln>
                          <a:solidFill>
                            <a:schemeClr val="tx1"/>
                          </a:solidFill>
                          <a:effectLst/>
                          <a:latin typeface="Calibri" pitchFamily="34" charset="0"/>
                        </a:rPr>
                        <a:t>Precision=90/230 = 39.13,         Recall=90/300=30.00,       F-Score=33.96</a:t>
                      </a:r>
                      <a:endParaRPr kumimoji="0" lang="en-US" sz="1800" b="0" i="0" u="none" strike="noStrike" cap="none" normalizeH="0" baseline="0" dirty="0" smtClean="0">
                        <a:ln>
                          <a:noFill/>
                        </a:ln>
                        <a:solidFill>
                          <a:schemeClr val="tx1"/>
                        </a:solidFill>
                        <a:effectLst/>
                        <a:latin typeface="Calibri" pitchFamily="34" charset="0"/>
                      </a:endParaRPr>
                    </a:p>
                  </a:txBody>
                  <a:tcPr marT="45740" marB="4574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1800" b="0" i="0" u="none" strike="noStrike" cap="none" normalizeH="0" baseline="0" dirty="0" smtClean="0">
                        <a:ln>
                          <a:noFill/>
                        </a:ln>
                        <a:solidFill>
                          <a:schemeClr val="tx1"/>
                        </a:solidFill>
                        <a:effectLst/>
                        <a:latin typeface="Calibri" pitchFamily="34" charset="0"/>
                      </a:endParaRP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1800" b="0" i="0" u="none" strike="noStrike" cap="none" normalizeH="0" baseline="0" dirty="0" smtClean="0">
                        <a:ln>
                          <a:noFill/>
                        </a:ln>
                        <a:solidFill>
                          <a:schemeClr val="tx1"/>
                        </a:solidFill>
                        <a:effectLst/>
                        <a:latin typeface="Calibri" pitchFamily="34" charset="0"/>
                      </a:endParaRP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1800" b="0" i="0" u="none" strike="noStrike" cap="none" normalizeH="0" baseline="0" dirty="0" smtClean="0">
                        <a:ln>
                          <a:noFill/>
                        </a:ln>
                        <a:solidFill>
                          <a:schemeClr val="tx1"/>
                        </a:solidFill>
                        <a:effectLst/>
                        <a:latin typeface="Calibri" pitchFamily="34" charset="0"/>
                      </a:endParaRPr>
                    </a:p>
                  </a:txBody>
                  <a:tcPr marT="45740" marB="4574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1800" b="0" i="0" u="none" strike="noStrike" cap="none" normalizeH="0" baseline="0" dirty="0" smtClean="0">
                        <a:ln>
                          <a:noFill/>
                        </a:ln>
                        <a:solidFill>
                          <a:schemeClr val="tx1"/>
                        </a:solidFill>
                        <a:effectLst/>
                        <a:latin typeface="Calibri" pitchFamily="34" charset="0"/>
                      </a:endParaRPr>
                    </a:p>
                  </a:txBody>
                  <a:tcPr marT="45740" marB="4574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Tree>
  </p:cSld>
  <p:clrMapOvr>
    <a:masterClrMapping/>
  </p:clrMapOvr>
  <p:transition>
    <p:zo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2"/>
          <p:cNvSpPr>
            <a:spLocks noGrp="1" noChangeArrowheads="1"/>
          </p:cNvSpPr>
          <p:nvPr>
            <p:ph type="title"/>
          </p:nvPr>
        </p:nvSpPr>
        <p:spPr/>
        <p:txBody>
          <a:bodyPr/>
          <a:lstStyle/>
          <a:p>
            <a:r>
              <a:rPr lang="en-US" sz="3200" dirty="0" smtClean="0"/>
              <a:t>Confusion Matrix for Multiple Classes</a:t>
            </a:r>
          </a:p>
        </p:txBody>
      </p:sp>
      <p:sp>
        <p:nvSpPr>
          <p:cNvPr id="120882" name="Slide Number Placeholder 7"/>
          <p:cNvSpPr txBox="1">
            <a:spLocks noGrp="1"/>
          </p:cNvSpPr>
          <p:nvPr/>
        </p:nvSpPr>
        <p:spPr bwMode="auto">
          <a:xfrm>
            <a:off x="7239000" y="6477000"/>
            <a:ext cx="1905000" cy="381000"/>
          </a:xfrm>
          <a:prstGeom prst="rect">
            <a:avLst/>
          </a:prstGeom>
          <a:noFill/>
          <a:ln w="9525">
            <a:noFill/>
            <a:miter lim="800000"/>
            <a:headEnd/>
            <a:tailEnd/>
          </a:ln>
        </p:spPr>
        <p:txBody>
          <a:bodyPr anchor="b"/>
          <a:lstStyle/>
          <a:p>
            <a:pPr algn="r"/>
            <a:fld id="{361C59A3-C496-4F36-9BFB-10470A4AF754}" type="slidenum">
              <a:rPr lang="en-US" sz="1200" b="1">
                <a:latin typeface="Calibri" pitchFamily="34" charset="0"/>
              </a:rPr>
              <a:pPr algn="r"/>
              <a:t>29</a:t>
            </a:fld>
            <a:endParaRPr lang="en-US" sz="1200" b="1">
              <a:latin typeface="Calibri" pitchFamily="34" charset="0"/>
            </a:endParaRPr>
          </a:p>
        </p:txBody>
      </p:sp>
      <p:sp>
        <p:nvSpPr>
          <p:cNvPr id="7" name="Content Placeholder 6"/>
          <p:cNvSpPr>
            <a:spLocks noGrp="1"/>
          </p:cNvSpPr>
          <p:nvPr>
            <p:ph idx="1"/>
          </p:nvPr>
        </p:nvSpPr>
        <p:spPr>
          <a:xfrm>
            <a:off x="381000" y="1143000"/>
            <a:ext cx="8229600" cy="5257800"/>
          </a:xfrm>
        </p:spPr>
        <p:txBody>
          <a:bodyPr/>
          <a:lstStyle/>
          <a:p>
            <a:r>
              <a:rPr lang="en-US" sz="2400" dirty="0" smtClean="0"/>
              <a:t>The concept of the multi-class confusion matrix is similar to the binary-class matrix. Let, the columns represent the actual class, and the rows represent the predicted class distribution by the classifier.</a:t>
            </a:r>
          </a:p>
          <a:p>
            <a:r>
              <a:rPr lang="en-US" sz="2400" dirty="0" smtClean="0"/>
              <a:t>Let us elaborate on the features of the multi-class confusion matrix with an example. </a:t>
            </a:r>
          </a:p>
          <a:p>
            <a:r>
              <a:rPr lang="en-US" sz="2400" dirty="0" smtClean="0"/>
              <a:t>Suppose we have the test set (consisting of 191 total samples) of a dataset with the following distribution:</a:t>
            </a:r>
          </a:p>
          <a:p>
            <a:endParaRPr lang="en-US" sz="2400" dirty="0"/>
          </a:p>
        </p:txBody>
      </p:sp>
      <p:pic>
        <p:nvPicPr>
          <p:cNvPr id="447491" name="Picture 3"/>
          <p:cNvPicPr>
            <a:picLocks noChangeAspect="1" noChangeArrowheads="1"/>
          </p:cNvPicPr>
          <p:nvPr/>
        </p:nvPicPr>
        <p:blipFill>
          <a:blip r:embed="rId3"/>
          <a:srcRect/>
          <a:stretch>
            <a:fillRect/>
          </a:stretch>
        </p:blipFill>
        <p:spPr bwMode="auto">
          <a:xfrm>
            <a:off x="2590800" y="4267200"/>
            <a:ext cx="3677330" cy="1981200"/>
          </a:xfrm>
          <a:prstGeom prst="rect">
            <a:avLst/>
          </a:prstGeom>
          <a:noFill/>
          <a:ln w="9525">
            <a:noFill/>
            <a:miter lim="800000"/>
            <a:headEnd/>
            <a:tailEnd/>
          </a:ln>
          <a:effectLst/>
        </p:spPr>
      </p:pic>
    </p:spTree>
  </p:cSld>
  <p:clrMapOvr>
    <a:masterClrMapping/>
  </p:clrMapOvr>
  <p:transition>
    <p:zo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Confusion Matrix for Multiple Classes</a:t>
            </a:r>
            <a:endParaRPr lang="en-US" dirty="0"/>
          </a:p>
        </p:txBody>
      </p:sp>
      <p:sp>
        <p:nvSpPr>
          <p:cNvPr id="3" name="Content Placeholder 2"/>
          <p:cNvSpPr>
            <a:spLocks noGrp="1"/>
          </p:cNvSpPr>
          <p:nvPr>
            <p:ph idx="1"/>
          </p:nvPr>
        </p:nvSpPr>
        <p:spPr>
          <a:xfrm>
            <a:off x="304800" y="1219200"/>
            <a:ext cx="8458200" cy="5486400"/>
          </a:xfrm>
        </p:spPr>
        <p:txBody>
          <a:bodyPr/>
          <a:lstStyle/>
          <a:p>
            <a:r>
              <a:rPr lang="en-US" sz="2400" dirty="0" smtClean="0"/>
              <a:t>The confusion matrix obtained by training a classifier and evaluating the trained model on this test set is shown below. </a:t>
            </a:r>
          </a:p>
          <a:p>
            <a:pPr>
              <a:buNone/>
            </a:pPr>
            <a:endParaRPr lang="en-US" sz="2400" dirty="0" smtClean="0"/>
          </a:p>
          <a:p>
            <a:pPr>
              <a:buNone/>
            </a:pPr>
            <a:endParaRPr lang="en-US" sz="2400" dirty="0" smtClean="0"/>
          </a:p>
          <a:p>
            <a:endParaRPr lang="en-US" sz="2400" dirty="0" smtClean="0"/>
          </a:p>
          <a:p>
            <a:endParaRPr lang="en-IN" sz="2400" dirty="0" smtClean="0"/>
          </a:p>
          <a:p>
            <a:endParaRPr lang="en-IN" sz="2400" dirty="0" smtClean="0"/>
          </a:p>
          <a:p>
            <a:endParaRPr lang="en-US" sz="2400" dirty="0" smtClean="0"/>
          </a:p>
          <a:p>
            <a:endParaRPr lang="en-US" sz="2400" dirty="0" smtClean="0"/>
          </a:p>
          <a:p>
            <a:r>
              <a:rPr lang="en-US" sz="2400" dirty="0" smtClean="0"/>
              <a:t>Let that matrix be called “</a:t>
            </a:r>
            <a:r>
              <a:rPr lang="en-US" sz="2400" i="1" dirty="0" smtClean="0"/>
              <a:t>M</a:t>
            </a:r>
            <a:r>
              <a:rPr lang="en-US" sz="2400" dirty="0" smtClean="0"/>
              <a:t>,” and each element in the matrix be denoted by </a:t>
            </a:r>
            <a:r>
              <a:rPr lang="en-US" sz="2400" i="1" dirty="0" err="1" smtClean="0"/>
              <a:t>M</a:t>
            </a:r>
            <a:r>
              <a:rPr lang="en-US" sz="2400" i="1" baseline="-25000" dirty="0" err="1" smtClean="0"/>
              <a:t>ij</a:t>
            </a:r>
            <a:r>
              <a:rPr lang="en-US" sz="2400" dirty="0" smtClean="0"/>
              <a:t> , where “</a:t>
            </a:r>
            <a:r>
              <a:rPr lang="en-US" sz="2400" i="1" dirty="0" err="1" smtClean="0"/>
              <a:t>i</a:t>
            </a:r>
            <a:r>
              <a:rPr lang="en-US" sz="2400" dirty="0" smtClean="0"/>
              <a:t>” is the row number (predicted class), and “</a:t>
            </a:r>
            <a:r>
              <a:rPr lang="en-US" sz="2400" i="1" dirty="0" smtClean="0"/>
              <a:t>j</a:t>
            </a:r>
            <a:r>
              <a:rPr lang="en-US" sz="2400" dirty="0" smtClean="0"/>
              <a:t>” is the column number (Actual or expected class), e.g., </a:t>
            </a:r>
            <a:r>
              <a:rPr lang="en-US" sz="2400" i="1" dirty="0" smtClean="0"/>
              <a:t>M</a:t>
            </a:r>
            <a:r>
              <a:rPr lang="en-US" sz="2400" i="1" baseline="-25000" dirty="0" smtClean="0"/>
              <a:t>11</a:t>
            </a:r>
            <a:r>
              <a:rPr lang="en-US" sz="2400" dirty="0" smtClean="0"/>
              <a:t>=52, </a:t>
            </a:r>
            <a:r>
              <a:rPr lang="en-US" sz="2400" i="1" dirty="0" smtClean="0"/>
              <a:t>M</a:t>
            </a:r>
            <a:r>
              <a:rPr lang="en-US" sz="2400" i="1" baseline="-25000" dirty="0" smtClean="0"/>
              <a:t>42</a:t>
            </a:r>
            <a:r>
              <a:rPr lang="en-US" sz="2400" dirty="0" smtClean="0"/>
              <a:t>=1.</a:t>
            </a:r>
            <a:endParaRPr lang="en-US" sz="2400"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30</a:t>
            </a:fld>
            <a:endParaRPr lang="en-US"/>
          </a:p>
        </p:txBody>
      </p:sp>
      <p:pic>
        <p:nvPicPr>
          <p:cNvPr id="454657" name="Picture 1"/>
          <p:cNvPicPr>
            <a:picLocks noChangeAspect="1" noChangeArrowheads="1"/>
          </p:cNvPicPr>
          <p:nvPr/>
        </p:nvPicPr>
        <p:blipFill>
          <a:blip r:embed="rId2"/>
          <a:srcRect/>
          <a:stretch>
            <a:fillRect/>
          </a:stretch>
        </p:blipFill>
        <p:spPr bwMode="auto">
          <a:xfrm>
            <a:off x="2209800" y="2047874"/>
            <a:ext cx="4724400" cy="2905126"/>
          </a:xfrm>
          <a:prstGeom prst="rect">
            <a:avLst/>
          </a:prstGeom>
          <a:noFill/>
          <a:ln w="9525">
            <a:noFill/>
            <a:miter lim="800000"/>
            <a:headEnd/>
            <a:tailEnd/>
          </a:ln>
          <a:effectLst/>
        </p:spPr>
      </p:pic>
    </p:spTree>
  </p:cSld>
  <p:clrMapOvr>
    <a:masterClrMapping/>
  </p:clrMapOvr>
  <p:transition>
    <p:zo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Confusion Matrix for Multiple Classes</a:t>
            </a:r>
            <a:endParaRPr lang="en-US" dirty="0"/>
          </a:p>
        </p:txBody>
      </p:sp>
      <p:sp>
        <p:nvSpPr>
          <p:cNvPr id="3" name="Content Placeholder 2"/>
          <p:cNvSpPr>
            <a:spLocks noGrp="1"/>
          </p:cNvSpPr>
          <p:nvPr>
            <p:ph idx="1"/>
          </p:nvPr>
        </p:nvSpPr>
        <p:spPr/>
        <p:txBody>
          <a:bodyPr/>
          <a:lstStyle/>
          <a:p>
            <a:r>
              <a:rPr lang="en-US" dirty="0" smtClean="0"/>
              <a:t>This confusion matrix gives a lot of information about the model’s performance.</a:t>
            </a:r>
          </a:p>
          <a:p>
            <a:r>
              <a:rPr lang="en-US" dirty="0" smtClean="0"/>
              <a:t>As usual, the diagonal elements are the correctly predicted samples. A total of 145 samples were correctly predicted out of the total 191 samples. Thus, the overall accuracy is 75.92%.</a:t>
            </a:r>
          </a:p>
          <a:p>
            <a:r>
              <a:rPr lang="en-US" i="1" dirty="0" smtClean="0"/>
              <a:t>M</a:t>
            </a:r>
            <a:r>
              <a:rPr lang="en-US" i="1" baseline="-25000" dirty="0" smtClean="0"/>
              <a:t>24</a:t>
            </a:r>
            <a:r>
              <a:rPr lang="en-US" dirty="0" smtClean="0"/>
              <a:t>=0 implies that the model does not confuse samples originally belonging to class-4 with class-2, i.e., the classification boundary between classes 2 and 4 was learned well by the classifier.</a:t>
            </a:r>
          </a:p>
          <a:p>
            <a:endParaRPr lang="en-US"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31</a:t>
            </a:fld>
            <a:endParaRPr lang="en-US"/>
          </a:p>
        </p:txBody>
      </p:sp>
    </p:spTree>
  </p:cSld>
  <p:clrMapOvr>
    <a:masterClrMapping/>
  </p:clrMapOvr>
  <p:transition>
    <p:zo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Confusion Matrix for Multiple Classes</a:t>
            </a:r>
            <a:endParaRPr lang="en-US" dirty="0"/>
          </a:p>
        </p:txBody>
      </p:sp>
      <p:sp>
        <p:nvSpPr>
          <p:cNvPr id="3" name="Content Placeholder 2"/>
          <p:cNvSpPr>
            <a:spLocks noGrp="1"/>
          </p:cNvSpPr>
          <p:nvPr>
            <p:ph idx="1"/>
          </p:nvPr>
        </p:nvSpPr>
        <p:spPr/>
        <p:txBody>
          <a:bodyPr/>
          <a:lstStyle/>
          <a:p>
            <a:r>
              <a:rPr lang="en-US" dirty="0" smtClean="0"/>
              <a:t>To improve the model’s performance, one should focus on the predictive results in class-3. </a:t>
            </a:r>
          </a:p>
          <a:p>
            <a:r>
              <a:rPr lang="en-US" dirty="0" smtClean="0"/>
              <a:t>A total of 18 samples (adding the numbers in the red boxes of column 3) were misclassified by the classifier, which is the highest misclassification rate among all the classes. </a:t>
            </a:r>
          </a:p>
          <a:p>
            <a:r>
              <a:rPr lang="en-US" dirty="0" smtClean="0"/>
              <a:t>Accuracy in prediction for </a:t>
            </a:r>
          </a:p>
          <a:p>
            <a:pPr>
              <a:buNone/>
            </a:pPr>
            <a:r>
              <a:rPr lang="en-US" dirty="0" smtClean="0"/>
              <a:t>	class-3 is, thus, </a:t>
            </a:r>
          </a:p>
          <a:p>
            <a:pPr>
              <a:buNone/>
            </a:pPr>
            <a:r>
              <a:rPr lang="en-US" dirty="0" smtClean="0"/>
              <a:t>	25/(25+18)=58.14% only.</a:t>
            </a:r>
          </a:p>
          <a:p>
            <a:endParaRPr lang="en-US"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32</a:t>
            </a:fld>
            <a:endParaRPr lang="en-US"/>
          </a:p>
        </p:txBody>
      </p:sp>
      <p:pic>
        <p:nvPicPr>
          <p:cNvPr id="452609" name="Picture 1"/>
          <p:cNvPicPr>
            <a:picLocks noChangeAspect="1" noChangeArrowheads="1"/>
          </p:cNvPicPr>
          <p:nvPr/>
        </p:nvPicPr>
        <p:blipFill>
          <a:blip r:embed="rId2"/>
          <a:srcRect/>
          <a:stretch>
            <a:fillRect/>
          </a:stretch>
        </p:blipFill>
        <p:spPr bwMode="auto">
          <a:xfrm>
            <a:off x="4952999" y="3733800"/>
            <a:ext cx="3384645" cy="2362200"/>
          </a:xfrm>
          <a:prstGeom prst="rect">
            <a:avLst/>
          </a:prstGeom>
          <a:noFill/>
          <a:ln w="9525">
            <a:noFill/>
            <a:miter lim="800000"/>
            <a:headEnd/>
            <a:tailEnd/>
          </a:ln>
          <a:effectLst/>
        </p:spPr>
      </p:pic>
    </p:spTree>
  </p:cSld>
  <p:clrMapOvr>
    <a:masterClrMapping/>
  </p:clrMapOvr>
  <p:transition>
    <p:zo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Confusion Matrix for Multiple Classes</a:t>
            </a:r>
            <a:endParaRPr lang="en-US" dirty="0"/>
          </a:p>
        </p:txBody>
      </p:sp>
      <p:sp>
        <p:nvSpPr>
          <p:cNvPr id="3" name="Content Placeholder 2"/>
          <p:cNvSpPr>
            <a:spLocks noGrp="1"/>
          </p:cNvSpPr>
          <p:nvPr>
            <p:ph idx="1"/>
          </p:nvPr>
        </p:nvSpPr>
        <p:spPr/>
        <p:txBody>
          <a:bodyPr/>
          <a:lstStyle/>
          <a:p>
            <a:r>
              <a:rPr lang="en-US" dirty="0" smtClean="0"/>
              <a:t>The confusion matrix can be converted into a one-</a:t>
            </a:r>
            <a:r>
              <a:rPr lang="en-US" dirty="0" err="1" smtClean="0"/>
              <a:t>vs</a:t>
            </a:r>
            <a:r>
              <a:rPr lang="en-US" dirty="0" smtClean="0"/>
              <a:t>-all type matrix (binary-class confusion matrix) for calculating class-wise metrics like accuracy, precision, recall, etc. </a:t>
            </a:r>
          </a:p>
          <a:p>
            <a:r>
              <a:rPr lang="en-US" dirty="0" smtClean="0"/>
              <a:t>Converting the matrix to a one-</a:t>
            </a:r>
            <a:r>
              <a:rPr lang="en-US" dirty="0" err="1" smtClean="0"/>
              <a:t>vs</a:t>
            </a:r>
            <a:r>
              <a:rPr lang="en-US" dirty="0" smtClean="0"/>
              <a:t>-all matrix for class-1 of the data looks like as shown below. </a:t>
            </a:r>
          </a:p>
          <a:p>
            <a:endParaRPr lang="en-US"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33</a:t>
            </a:fld>
            <a:endParaRPr lang="en-US"/>
          </a:p>
        </p:txBody>
      </p:sp>
      <p:pic>
        <p:nvPicPr>
          <p:cNvPr id="451585" name="Picture 1"/>
          <p:cNvPicPr>
            <a:picLocks noChangeAspect="1" noChangeArrowheads="1"/>
          </p:cNvPicPr>
          <p:nvPr/>
        </p:nvPicPr>
        <p:blipFill>
          <a:blip r:embed="rId2"/>
          <a:srcRect/>
          <a:stretch>
            <a:fillRect/>
          </a:stretch>
        </p:blipFill>
        <p:spPr bwMode="auto">
          <a:xfrm>
            <a:off x="990600" y="3885790"/>
            <a:ext cx="7467600" cy="2819810"/>
          </a:xfrm>
          <a:prstGeom prst="rect">
            <a:avLst/>
          </a:prstGeom>
          <a:noFill/>
          <a:ln w="9525">
            <a:noFill/>
            <a:miter lim="800000"/>
            <a:headEnd/>
            <a:tailEnd/>
          </a:ln>
          <a:effectLst/>
        </p:spPr>
      </p:pic>
    </p:spTree>
  </p:cSld>
  <p:clrMapOvr>
    <a:masterClrMapping/>
  </p:clrMapOvr>
  <p:transition>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Confusion Matrix for Multiple Classes</a:t>
            </a:r>
            <a:endParaRPr lang="en-US"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34</a:t>
            </a:fld>
            <a:endParaRPr lang="en-US"/>
          </a:p>
        </p:txBody>
      </p:sp>
      <p:sp>
        <p:nvSpPr>
          <p:cNvPr id="6" name="Rectangle 5"/>
          <p:cNvSpPr/>
          <p:nvPr/>
        </p:nvSpPr>
        <p:spPr>
          <a:xfrm>
            <a:off x="533400" y="4876800"/>
            <a:ext cx="7772400" cy="1569660"/>
          </a:xfrm>
          <a:prstGeom prst="rect">
            <a:avLst/>
          </a:prstGeom>
        </p:spPr>
        <p:txBody>
          <a:bodyPr wrap="square">
            <a:spAutoFit/>
          </a:bodyPr>
          <a:lstStyle/>
          <a:p>
            <a:pPr>
              <a:buFont typeface="Arial" pitchFamily="34" charset="0"/>
              <a:buChar char="•"/>
            </a:pPr>
            <a:r>
              <a:rPr lang="en-US" sz="2400" dirty="0" smtClean="0"/>
              <a:t> Here, the positive class refers to class-1, and the negative class refers to “NOT class-1”. Now, the formulae for the binary-class confusion matrices can be used for calculating the class-wise metrics.</a:t>
            </a:r>
            <a:endParaRPr lang="en-US" sz="2400" dirty="0"/>
          </a:p>
        </p:txBody>
      </p:sp>
      <p:pic>
        <p:nvPicPr>
          <p:cNvPr id="450561" name="Picture 1"/>
          <p:cNvPicPr>
            <a:picLocks noChangeAspect="1" noChangeArrowheads="1"/>
          </p:cNvPicPr>
          <p:nvPr/>
        </p:nvPicPr>
        <p:blipFill>
          <a:blip r:embed="rId2"/>
          <a:srcRect/>
          <a:stretch>
            <a:fillRect/>
          </a:stretch>
        </p:blipFill>
        <p:spPr bwMode="auto">
          <a:xfrm>
            <a:off x="762000" y="1371600"/>
            <a:ext cx="7467600" cy="3352800"/>
          </a:xfrm>
          <a:prstGeom prst="rect">
            <a:avLst/>
          </a:prstGeom>
          <a:noFill/>
          <a:ln w="9525">
            <a:noFill/>
            <a:miter lim="800000"/>
            <a:headEnd/>
            <a:tailEnd/>
          </a:ln>
          <a:effectLst/>
        </p:spPr>
      </p:pic>
    </p:spTree>
  </p:cSld>
  <p:clrMapOvr>
    <a:masterClrMapping/>
  </p:clrMapOvr>
  <p:transition>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Confusion Matrix for Multiple Classes</a:t>
            </a:r>
            <a:endParaRPr lang="en-US" dirty="0"/>
          </a:p>
        </p:txBody>
      </p:sp>
      <p:sp>
        <p:nvSpPr>
          <p:cNvPr id="3" name="Content Placeholder 2"/>
          <p:cNvSpPr>
            <a:spLocks noGrp="1"/>
          </p:cNvSpPr>
          <p:nvPr>
            <p:ph idx="1"/>
          </p:nvPr>
        </p:nvSpPr>
        <p:spPr/>
        <p:txBody>
          <a:bodyPr/>
          <a:lstStyle/>
          <a:p>
            <a:r>
              <a:rPr lang="en-US" dirty="0" smtClean="0"/>
              <a:t>Similarly, for class-2, the converted one-</a:t>
            </a:r>
            <a:r>
              <a:rPr lang="en-US" dirty="0" err="1" smtClean="0"/>
              <a:t>vs</a:t>
            </a:r>
            <a:r>
              <a:rPr lang="en-US" dirty="0" smtClean="0"/>
              <a:t>-all confusion matrix will look like the following:</a:t>
            </a:r>
            <a:endParaRPr lang="en-US"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35</a:t>
            </a:fld>
            <a:endParaRPr lang="en-US"/>
          </a:p>
        </p:txBody>
      </p:sp>
      <p:pic>
        <p:nvPicPr>
          <p:cNvPr id="449537" name="Picture 1"/>
          <p:cNvPicPr>
            <a:picLocks noChangeAspect="1" noChangeArrowheads="1"/>
          </p:cNvPicPr>
          <p:nvPr/>
        </p:nvPicPr>
        <p:blipFill>
          <a:blip r:embed="rId2"/>
          <a:srcRect/>
          <a:stretch>
            <a:fillRect/>
          </a:stretch>
        </p:blipFill>
        <p:spPr bwMode="auto">
          <a:xfrm>
            <a:off x="533400" y="2362200"/>
            <a:ext cx="7779362" cy="3657600"/>
          </a:xfrm>
          <a:prstGeom prst="rect">
            <a:avLst/>
          </a:prstGeom>
          <a:noFill/>
          <a:ln w="9525">
            <a:noFill/>
            <a:miter lim="800000"/>
            <a:headEnd/>
            <a:tailEnd/>
          </a:ln>
          <a:effectLst/>
        </p:spPr>
      </p:pic>
    </p:spTree>
  </p:cSld>
  <p:clrMapOvr>
    <a:masterClrMapping/>
  </p:clrMapOvr>
  <p:transition>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Confusion Matrix for Multiple Classes</a:t>
            </a:r>
            <a:endParaRPr lang="en-US" dirty="0"/>
          </a:p>
        </p:txBody>
      </p:sp>
      <p:sp>
        <p:nvSpPr>
          <p:cNvPr id="3" name="Content Placeholder 2"/>
          <p:cNvSpPr>
            <a:spLocks noGrp="1"/>
          </p:cNvSpPr>
          <p:nvPr>
            <p:ph idx="1"/>
          </p:nvPr>
        </p:nvSpPr>
        <p:spPr/>
        <p:txBody>
          <a:bodyPr/>
          <a:lstStyle/>
          <a:p>
            <a:r>
              <a:rPr lang="en-US" dirty="0" smtClean="0"/>
              <a:t>Using this concept, we can calculate the class-wise accuracy, precision, recall, and f1-scores and tabulate the results:</a:t>
            </a:r>
            <a:endParaRPr lang="en-US"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36</a:t>
            </a:fld>
            <a:endParaRPr lang="en-US"/>
          </a:p>
        </p:txBody>
      </p:sp>
      <p:pic>
        <p:nvPicPr>
          <p:cNvPr id="448513" name="Picture 1"/>
          <p:cNvPicPr>
            <a:picLocks noChangeAspect="1" noChangeArrowheads="1"/>
          </p:cNvPicPr>
          <p:nvPr/>
        </p:nvPicPr>
        <p:blipFill>
          <a:blip r:embed="rId2"/>
          <a:srcRect/>
          <a:stretch>
            <a:fillRect/>
          </a:stretch>
        </p:blipFill>
        <p:spPr bwMode="auto">
          <a:xfrm>
            <a:off x="1219200" y="2819400"/>
            <a:ext cx="6911536" cy="3505200"/>
          </a:xfrm>
          <a:prstGeom prst="rect">
            <a:avLst/>
          </a:prstGeom>
          <a:noFill/>
          <a:ln w="9525">
            <a:noFill/>
            <a:miter lim="800000"/>
            <a:headEnd/>
            <a:tailEnd/>
          </a:ln>
          <a:effectLst/>
        </p:spPr>
      </p:pic>
    </p:spTree>
  </p:cSld>
  <p:clrMapOvr>
    <a:masterClrMapping/>
  </p:clrMapOvr>
  <p:transition>
    <p:zo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Confusion Matrix for Multiple Classes</a:t>
            </a:r>
            <a:endParaRPr lang="en-US" dirty="0"/>
          </a:p>
        </p:txBody>
      </p:sp>
      <p:sp>
        <p:nvSpPr>
          <p:cNvPr id="3" name="Content Placeholder 2"/>
          <p:cNvSpPr>
            <a:spLocks noGrp="1"/>
          </p:cNvSpPr>
          <p:nvPr>
            <p:ph idx="1"/>
          </p:nvPr>
        </p:nvSpPr>
        <p:spPr/>
        <p:txBody>
          <a:bodyPr/>
          <a:lstStyle/>
          <a:p>
            <a:r>
              <a:rPr lang="en-US" dirty="0" smtClean="0"/>
              <a:t>In addition to these, two more global metrics can be calculated for evaluating the model’s performance over the entire dataset. </a:t>
            </a:r>
          </a:p>
          <a:p>
            <a:r>
              <a:rPr lang="en-US" dirty="0" smtClean="0"/>
              <a:t>These metrics are variations of the F1-Score we calculated earlier. </a:t>
            </a:r>
          </a:p>
          <a:p>
            <a:r>
              <a:rPr lang="en-US" dirty="0" smtClean="0"/>
              <a:t>These are:</a:t>
            </a:r>
          </a:p>
          <a:p>
            <a:pPr>
              <a:buNone/>
            </a:pPr>
            <a:r>
              <a:rPr lang="en-IN" dirty="0" smtClean="0"/>
              <a:t>	</a:t>
            </a:r>
            <a:r>
              <a:rPr lang="en-IN" dirty="0" err="1" smtClean="0"/>
              <a:t>i</a:t>
            </a:r>
            <a:r>
              <a:rPr lang="en-IN" dirty="0" smtClean="0"/>
              <a:t>) M</a:t>
            </a:r>
            <a:r>
              <a:rPr lang="en-US" dirty="0" err="1" smtClean="0"/>
              <a:t>icro</a:t>
            </a:r>
            <a:r>
              <a:rPr lang="en-US" dirty="0" smtClean="0"/>
              <a:t>-averaged F1-score</a:t>
            </a:r>
            <a:r>
              <a:rPr lang="en-IN" dirty="0" smtClean="0"/>
              <a:t>,  and</a:t>
            </a:r>
          </a:p>
          <a:p>
            <a:pPr>
              <a:buNone/>
            </a:pPr>
            <a:r>
              <a:rPr lang="en-IN" dirty="0" smtClean="0"/>
              <a:t>	ii) Macro-averaged F1-Score</a:t>
            </a:r>
            <a:endParaRPr lang="en-US"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37</a:t>
            </a:fld>
            <a:endParaRPr lang="en-US"/>
          </a:p>
        </p:txBody>
      </p:sp>
    </p:spTree>
  </p:cSld>
  <p:clrMapOvr>
    <a:masterClrMapping/>
  </p:clrMapOvr>
  <p:transition>
    <p:zo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Micro-averaged F1-score </a:t>
            </a:r>
            <a:endParaRPr lang="en-US"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38</a:t>
            </a:fld>
            <a:endParaRPr lang="en-US"/>
          </a:p>
        </p:txBody>
      </p:sp>
      <p:sp>
        <p:nvSpPr>
          <p:cNvPr id="5" name="Content Placeholder 4"/>
          <p:cNvSpPr>
            <a:spLocks noGrp="1"/>
          </p:cNvSpPr>
          <p:nvPr>
            <p:ph idx="1"/>
          </p:nvPr>
        </p:nvSpPr>
        <p:spPr>
          <a:xfrm>
            <a:off x="304800" y="1219200"/>
            <a:ext cx="8458200" cy="4598182"/>
          </a:xfrm>
          <a:prstGeom prst="rect">
            <a:avLst/>
          </a:prstGeom>
        </p:spPr>
        <p:txBody>
          <a:bodyPr wrap="square">
            <a:spAutoFit/>
          </a:bodyPr>
          <a:lstStyle/>
          <a:p>
            <a:r>
              <a:rPr lang="en-US" sz="2400" dirty="0" smtClean="0"/>
              <a:t>The micro-averaged F1-score is a global metric that is calculated by considering the </a:t>
            </a:r>
          </a:p>
          <a:p>
            <a:pPr>
              <a:buNone/>
            </a:pPr>
            <a:r>
              <a:rPr lang="en-US" sz="2400" dirty="0" smtClean="0"/>
              <a:t>	</a:t>
            </a:r>
            <a:r>
              <a:rPr lang="en-US" sz="2400" dirty="0" err="1" smtClean="0"/>
              <a:t>i</a:t>
            </a:r>
            <a:r>
              <a:rPr lang="en-US" sz="2400" dirty="0" smtClean="0"/>
              <a:t>) Net TP, i.e., the sum of the class-wise TP (from the respective one-</a:t>
            </a:r>
            <a:r>
              <a:rPr lang="en-US" sz="2400" dirty="0" err="1" smtClean="0"/>
              <a:t>vs</a:t>
            </a:r>
            <a:r>
              <a:rPr lang="en-US" sz="2400" dirty="0" smtClean="0"/>
              <a:t>-all matrices), </a:t>
            </a:r>
          </a:p>
          <a:p>
            <a:pPr>
              <a:buNone/>
            </a:pPr>
            <a:r>
              <a:rPr lang="en-US" sz="2400" dirty="0" smtClean="0"/>
              <a:t>	ii) Net FP, and </a:t>
            </a:r>
          </a:p>
          <a:p>
            <a:pPr>
              <a:buNone/>
            </a:pPr>
            <a:r>
              <a:rPr lang="en-US" sz="2400" dirty="0" smtClean="0"/>
              <a:t>	iii) Net FN</a:t>
            </a:r>
          </a:p>
          <a:p>
            <a:r>
              <a:rPr lang="en-US" sz="2400" dirty="0" smtClean="0"/>
              <a:t>These are obtained as follows:</a:t>
            </a:r>
          </a:p>
          <a:p>
            <a:pPr>
              <a:buNone/>
            </a:pPr>
            <a:r>
              <a:rPr lang="en-US" sz="2400" dirty="0" smtClean="0"/>
              <a:t>	Net TP = 52+28+25+40 = 145</a:t>
            </a:r>
            <a:br>
              <a:rPr lang="en-US" sz="2400" dirty="0" smtClean="0"/>
            </a:br>
            <a:r>
              <a:rPr lang="en-US" sz="2400" dirty="0" smtClean="0"/>
              <a:t>Net FP = (3+7+2)+(2+2+0)+(5+2+12)+(1+1+9) = 46</a:t>
            </a:r>
            <a:br>
              <a:rPr lang="en-US" sz="2400" dirty="0" smtClean="0"/>
            </a:br>
            <a:r>
              <a:rPr lang="en-US" sz="2400" dirty="0" smtClean="0"/>
              <a:t>Net FN = (2+5+1)+(3+2+1)+(7+2+9)+(2+0+12) = 46</a:t>
            </a:r>
          </a:p>
          <a:p>
            <a:r>
              <a:rPr lang="en-US" sz="2400" dirty="0" smtClean="0"/>
              <a:t>Note that, the net FP and net FN have the same value. </a:t>
            </a:r>
            <a:endParaRPr lang="en-US" sz="2400" dirty="0"/>
          </a:p>
        </p:txBody>
      </p:sp>
    </p:spTree>
  </p:cSld>
  <p:clrMapOvr>
    <a:masterClrMapping/>
  </p:clrMapOvr>
  <p:transition>
    <p:zo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Micro-averaged F1-score </a:t>
            </a:r>
            <a:endParaRPr lang="en-US" dirty="0"/>
          </a:p>
        </p:txBody>
      </p:sp>
      <p:sp>
        <p:nvSpPr>
          <p:cNvPr id="7" name="Content Placeholder 6"/>
          <p:cNvSpPr>
            <a:spLocks noGrp="1"/>
          </p:cNvSpPr>
          <p:nvPr>
            <p:ph idx="1"/>
          </p:nvPr>
        </p:nvSpPr>
        <p:spPr/>
        <p:txBody>
          <a:bodyPr/>
          <a:lstStyle/>
          <a:p>
            <a:r>
              <a:rPr lang="en-US" dirty="0" smtClean="0"/>
              <a:t>Thus, the micro precision and micro recall can be calculated as:</a:t>
            </a:r>
          </a:p>
          <a:p>
            <a:pPr>
              <a:buNone/>
            </a:pPr>
            <a:r>
              <a:rPr lang="en-US" dirty="0" smtClean="0"/>
              <a:t>	</a:t>
            </a:r>
            <a:r>
              <a:rPr lang="en-US" dirty="0" err="1" smtClean="0"/>
              <a:t>i</a:t>
            </a:r>
            <a:r>
              <a:rPr lang="en-US" dirty="0" smtClean="0"/>
              <a:t>) Micro Precision = Net TP/(Net </a:t>
            </a:r>
            <a:r>
              <a:rPr lang="en-US" dirty="0" err="1" smtClean="0"/>
              <a:t>TP+Net</a:t>
            </a:r>
            <a:r>
              <a:rPr lang="en-US" dirty="0" smtClean="0"/>
              <a:t> FP) = 145/(145+46) = 75.92%</a:t>
            </a:r>
            <a:br>
              <a:rPr lang="en-US" dirty="0" smtClean="0"/>
            </a:br>
            <a:r>
              <a:rPr lang="en-US" dirty="0" smtClean="0"/>
              <a:t>ii) Micro Recall = Net TP/(Net </a:t>
            </a:r>
            <a:r>
              <a:rPr lang="en-US" dirty="0" err="1" smtClean="0"/>
              <a:t>TP+Net</a:t>
            </a:r>
            <a:r>
              <a:rPr lang="en-US" dirty="0" smtClean="0"/>
              <a:t> FN) = 75.92%</a:t>
            </a:r>
            <a:endParaRPr lang="en-IN" dirty="0" smtClean="0"/>
          </a:p>
          <a:p>
            <a:r>
              <a:rPr lang="en-US" dirty="0" smtClean="0"/>
              <a:t>So, Micro F1-score = Harmonic Mean of Micro Precision and Micro Recall = 75.92%.</a:t>
            </a:r>
          </a:p>
          <a:p>
            <a:r>
              <a:rPr lang="en-US" dirty="0" smtClean="0"/>
              <a:t>Here,  Micro Precision = Micro Recall = Micro F1-Score = Accuracy = 75.92%</a:t>
            </a:r>
          </a:p>
          <a:p>
            <a:pPr>
              <a:buNone/>
            </a:pPr>
            <a:endParaRPr lang="en-US" dirty="0" smtClean="0"/>
          </a:p>
          <a:p>
            <a:endParaRPr lang="en-IN" dirty="0" smtClean="0"/>
          </a:p>
        </p:txBody>
      </p:sp>
      <p:sp>
        <p:nvSpPr>
          <p:cNvPr id="4" name="Slide Number Placeholder 3"/>
          <p:cNvSpPr>
            <a:spLocks noGrp="1"/>
          </p:cNvSpPr>
          <p:nvPr>
            <p:ph type="sldNum" sz="quarter" idx="10"/>
          </p:nvPr>
        </p:nvSpPr>
        <p:spPr/>
        <p:txBody>
          <a:bodyPr/>
          <a:lstStyle/>
          <a:p>
            <a:fld id="{D37A8A04-1C0C-4C06-A72C-2BB05733F882}" type="slidenum">
              <a:rPr lang="en-US" smtClean="0"/>
              <a:pPr/>
              <a:t>39</a:t>
            </a:fld>
            <a:endParaRPr lang="en-US"/>
          </a:p>
        </p:txBody>
      </p:sp>
    </p:spTree>
  </p:cSld>
  <p:clrMapOvr>
    <a:masterClrMapping/>
  </p:clrMapOvr>
  <p:transition>
    <p:zo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Macro </a:t>
            </a:r>
            <a:r>
              <a:rPr lang="en-US" dirty="0" err="1" smtClean="0"/>
              <a:t>unweighted</a:t>
            </a:r>
            <a:r>
              <a:rPr lang="en-US" dirty="0" smtClean="0"/>
              <a:t> average score </a:t>
            </a:r>
            <a:endParaRPr lang="en-US" dirty="0"/>
          </a:p>
        </p:txBody>
      </p:sp>
      <p:sp>
        <p:nvSpPr>
          <p:cNvPr id="7" name="Content Placeholder 6"/>
          <p:cNvSpPr>
            <a:spLocks noGrp="1"/>
          </p:cNvSpPr>
          <p:nvPr>
            <p:ph idx="1"/>
          </p:nvPr>
        </p:nvSpPr>
        <p:spPr>
          <a:xfrm>
            <a:off x="304800" y="1143000"/>
            <a:ext cx="8458200" cy="5257800"/>
          </a:xfrm>
        </p:spPr>
        <p:txBody>
          <a:bodyPr/>
          <a:lstStyle/>
          <a:p>
            <a:r>
              <a:rPr lang="en-US" sz="2400" b="1" dirty="0" smtClean="0"/>
              <a:t>Macro averaged F1-Score: </a:t>
            </a:r>
            <a:r>
              <a:rPr lang="en-US" sz="2400" dirty="0" smtClean="0"/>
              <a:t>The macro-average scores are calculated for each class individually, and then the </a:t>
            </a:r>
            <a:r>
              <a:rPr lang="en-US" sz="2400" dirty="0" err="1" smtClean="0"/>
              <a:t>unweighted</a:t>
            </a:r>
            <a:r>
              <a:rPr lang="en-US" sz="2400" dirty="0" smtClean="0"/>
              <a:t> mean of the measures is calculated to calculate the net global score. </a:t>
            </a:r>
          </a:p>
          <a:p>
            <a:r>
              <a:rPr lang="en-US" sz="2400" dirty="0" smtClean="0"/>
              <a:t>For the example we have been using, the scores are obtained as the following:</a:t>
            </a:r>
          </a:p>
          <a:p>
            <a:r>
              <a:rPr lang="en-US" sz="2400" dirty="0" smtClean="0"/>
              <a:t>The </a:t>
            </a:r>
            <a:r>
              <a:rPr lang="en-US" sz="2400" dirty="0" err="1" smtClean="0"/>
              <a:t>unweighted</a:t>
            </a:r>
            <a:r>
              <a:rPr lang="en-US" sz="2400" dirty="0" smtClean="0"/>
              <a:t> </a:t>
            </a:r>
          </a:p>
          <a:p>
            <a:pPr>
              <a:buNone/>
            </a:pPr>
            <a:r>
              <a:rPr lang="en-US" sz="2400" dirty="0" smtClean="0"/>
              <a:t>	means of the measures</a:t>
            </a:r>
          </a:p>
          <a:p>
            <a:pPr>
              <a:buNone/>
            </a:pPr>
            <a:r>
              <a:rPr lang="en-US" sz="2400" dirty="0" smtClean="0"/>
              <a:t>     are:</a:t>
            </a:r>
          </a:p>
          <a:p>
            <a:r>
              <a:rPr lang="en-US" sz="2400" dirty="0" smtClean="0"/>
              <a:t>Macro Precision = 76.00%</a:t>
            </a:r>
            <a:br>
              <a:rPr lang="en-US" sz="2400" dirty="0" smtClean="0"/>
            </a:br>
            <a:r>
              <a:rPr lang="en-US" sz="2400" dirty="0" smtClean="0"/>
              <a:t>Macro Recall = 75.31%</a:t>
            </a:r>
            <a:br>
              <a:rPr lang="en-US" sz="2400" dirty="0" smtClean="0"/>
            </a:br>
            <a:r>
              <a:rPr lang="en-US" sz="2400" dirty="0" smtClean="0"/>
              <a:t>Macro F1-Score = 75.60%</a:t>
            </a:r>
          </a:p>
          <a:p>
            <a:pPr>
              <a:buNone/>
            </a:pPr>
            <a:endParaRPr lang="en-US" sz="2400" dirty="0" smtClean="0"/>
          </a:p>
          <a:p>
            <a:endParaRPr lang="en-US"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40</a:t>
            </a:fld>
            <a:endParaRPr lang="en-US"/>
          </a:p>
        </p:txBody>
      </p:sp>
      <p:pic>
        <p:nvPicPr>
          <p:cNvPr id="8" name="Picture 1"/>
          <p:cNvPicPr>
            <a:picLocks noChangeAspect="1" noChangeArrowheads="1"/>
          </p:cNvPicPr>
          <p:nvPr/>
        </p:nvPicPr>
        <p:blipFill>
          <a:blip r:embed="rId2"/>
          <a:srcRect/>
          <a:stretch>
            <a:fillRect/>
          </a:stretch>
        </p:blipFill>
        <p:spPr bwMode="auto">
          <a:xfrm>
            <a:off x="4114800" y="3200400"/>
            <a:ext cx="4444482" cy="3124200"/>
          </a:xfrm>
          <a:prstGeom prst="rect">
            <a:avLst/>
          </a:prstGeom>
          <a:noFill/>
          <a:ln w="9525">
            <a:noFill/>
            <a:miter lim="800000"/>
            <a:headEnd/>
            <a:tailEnd/>
          </a:ln>
          <a:effectLst/>
        </p:spPr>
      </p:pic>
    </p:spTree>
  </p:cSld>
  <p:clrMapOvr>
    <a:masterClrMapping/>
  </p:clrMapOvr>
  <p:transition>
    <p:zo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Macro weighted average score </a:t>
            </a:r>
            <a:endParaRPr lang="en-US" dirty="0"/>
          </a:p>
        </p:txBody>
      </p:sp>
      <p:sp>
        <p:nvSpPr>
          <p:cNvPr id="8" name="Content Placeholder 7"/>
          <p:cNvSpPr>
            <a:spLocks noGrp="1"/>
          </p:cNvSpPr>
          <p:nvPr>
            <p:ph idx="1"/>
          </p:nvPr>
        </p:nvSpPr>
        <p:spPr/>
        <p:txBody>
          <a:bodyPr/>
          <a:lstStyle/>
          <a:p>
            <a:r>
              <a:rPr lang="en-US" dirty="0" smtClean="0"/>
              <a:t>The macro weighted-average scores take a sample-weighted mean of the class-wise scores obtained. </a:t>
            </a:r>
          </a:p>
          <a:p>
            <a:r>
              <a:rPr lang="en-US" dirty="0" smtClean="0"/>
              <a:t>So, the macro weighted scores obtained are:</a:t>
            </a:r>
          </a:p>
          <a:p>
            <a:endParaRPr lang="en-US"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41</a:t>
            </a:fld>
            <a:endParaRPr lang="en-US"/>
          </a:p>
        </p:txBody>
      </p:sp>
      <p:sp>
        <p:nvSpPr>
          <p:cNvPr id="509953" name="Rectangle 1"/>
          <p:cNvSpPr>
            <a:spLocks noChangeArrowheads="1"/>
          </p:cNvSpPr>
          <p:nvPr/>
        </p:nvSpPr>
        <p:spPr bwMode="auto">
          <a:xfrm>
            <a:off x="0" y="0"/>
            <a:ext cx="9144000" cy="457200"/>
          </a:xfrm>
          <a:prstGeom prst="rect">
            <a:avLst/>
          </a:prstGeom>
          <a:solidFill>
            <a:srgbClr val="FFFFFF"/>
          </a:solidFill>
          <a:ln w="9525">
            <a:noFill/>
            <a:miter lim="800000"/>
            <a:headEnd/>
            <a:tailEnd/>
          </a:ln>
          <a:effectLst/>
        </p:spPr>
        <p:txBody>
          <a:bodyPr vert="horz" wrap="none" lIns="91440" tIns="101568" rIns="91440" bIns="50784"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chemeClr val="tx1"/>
                </a:solidFill>
                <a:effectLst/>
                <a:latin typeface="Inter"/>
                <a:cs typeface="Arial" pitchFamily="34" charset="0"/>
              </a:rPr>
              <a:t>Weighted F1-Score</a:t>
            </a:r>
            <a:endParaRPr kumimoji="0" lang="en-US" sz="2400" b="0" i="0" u="none" strike="noStrike" cap="none" normalizeH="0" baseline="0" smtClean="0">
              <a:ln>
                <a:noFill/>
              </a:ln>
              <a:solidFill>
                <a:schemeClr val="tx1"/>
              </a:solidFill>
              <a:effectLst/>
              <a:latin typeface="Inter"/>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80A13"/>
                </a:solidFill>
                <a:effectLst/>
                <a:latin typeface="Inter"/>
                <a:cs typeface="Arial" pitchFamily="34" charset="0"/>
              </a:rPr>
              <a:t>The weighted-average scores take a sample-weighted mean of the class-wise scores obtained. So, the weighted scores obtained are:</a:t>
            </a:r>
            <a:endParaRPr kumimoji="0" lang="en-US" sz="600" b="0" i="0" u="none" strike="noStrike" cap="none" normalizeH="0" baseline="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smtClean="0">
                <a:ln>
                  <a:noFill/>
                </a:ln>
                <a:solidFill>
                  <a:schemeClr val="tx1"/>
                </a:solidFill>
                <a:effectLst/>
                <a:latin typeface="Arial" pitchFamily="34" charset="0"/>
                <a:cs typeface="Arial" pitchFamily="34" charset="0"/>
              </a:rPr>
              <a:t>  </a:t>
            </a:r>
            <a:endParaRPr kumimoji="0" lang="en-US" sz="30500" b="0" i="0" u="none" strike="noStrike" cap="none" normalizeH="0" baseline="0" smtClean="0">
              <a:ln>
                <a:noFill/>
              </a:ln>
              <a:solidFill>
                <a:schemeClr val="tx1"/>
              </a:solidFill>
              <a:effectLst/>
              <a:latin typeface="Arial" pitchFamily="34" charset="0"/>
              <a:cs typeface="Arial" pitchFamily="34" charset="0"/>
            </a:endParaRPr>
          </a:p>
        </p:txBody>
      </p:sp>
      <p:pic>
        <p:nvPicPr>
          <p:cNvPr id="1026" name="Picture 2"/>
          <p:cNvPicPr>
            <a:picLocks noChangeAspect="1" noChangeArrowheads="1"/>
          </p:cNvPicPr>
          <p:nvPr/>
        </p:nvPicPr>
        <p:blipFill>
          <a:blip r:embed="rId2"/>
          <a:srcRect/>
          <a:stretch>
            <a:fillRect/>
          </a:stretch>
        </p:blipFill>
        <p:spPr bwMode="auto">
          <a:xfrm>
            <a:off x="533400" y="3124200"/>
            <a:ext cx="7859713" cy="2476500"/>
          </a:xfrm>
          <a:prstGeom prst="rect">
            <a:avLst/>
          </a:prstGeom>
          <a:noFill/>
          <a:ln w="9525">
            <a:noFill/>
            <a:miter lim="800000"/>
            <a:headEnd/>
            <a:tailEnd/>
          </a:ln>
          <a:effectLst/>
        </p:spPr>
      </p:pic>
    </p:spTree>
  </p:cSld>
  <p:clrMapOvr>
    <a:masterClrMapping/>
  </p:clrMapOvr>
  <p:transition>
    <p:zo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0" dirty="0" smtClean="0">
                <a:solidFill>
                  <a:srgbClr val="000000"/>
                </a:solidFill>
                <a:latin typeface="Calibri" pitchFamily="34" charset="0"/>
              </a:rPr>
              <a:t>Receiver Operating Characteristics (ROC) curve</a:t>
            </a:r>
            <a:endParaRPr lang="en-US" dirty="0"/>
          </a:p>
        </p:txBody>
      </p:sp>
      <p:sp>
        <p:nvSpPr>
          <p:cNvPr id="3" name="Content Placeholder 2"/>
          <p:cNvSpPr>
            <a:spLocks noGrp="1"/>
          </p:cNvSpPr>
          <p:nvPr>
            <p:ph idx="1"/>
          </p:nvPr>
        </p:nvSpPr>
        <p:spPr/>
        <p:txBody>
          <a:bodyPr/>
          <a:lstStyle/>
          <a:p>
            <a:r>
              <a:rPr lang="en-US" sz="2400" dirty="0" smtClean="0"/>
              <a:t>A Receiver Operating Characteristics (ROC) curve is a plot for displaying the tradeoff between “true positive rate” and “false positive rate” of a classifier at different threshold settings. </a:t>
            </a:r>
          </a:p>
          <a:p>
            <a:r>
              <a:rPr lang="en-US" sz="2400" dirty="0" smtClean="0"/>
              <a:t>ROC curves are usually defined for a binary classification model, although that can be extended to a multi-class setting.</a:t>
            </a:r>
          </a:p>
          <a:p>
            <a:r>
              <a:rPr lang="en-US" sz="2400" dirty="0" smtClean="0"/>
              <a:t>The definition of the true positive rate (TPR) coincides exactly with the sensitivity (or recall).</a:t>
            </a:r>
          </a:p>
          <a:p>
            <a:r>
              <a:rPr lang="en-US" sz="2400" dirty="0" smtClean="0"/>
              <a:t>TPR is defined as the number of samples belonging to the positive class of a dataset, being classified correctly by the predictive model. </a:t>
            </a:r>
          </a:p>
          <a:p>
            <a:r>
              <a:rPr lang="en-US" sz="2400" dirty="0" smtClean="0"/>
              <a:t>So the formula for computing the TPR is,</a:t>
            </a:r>
          </a:p>
          <a:p>
            <a:endParaRPr lang="en-US"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42</a:t>
            </a:fld>
            <a:endParaRPr lang="en-US"/>
          </a:p>
        </p:txBody>
      </p:sp>
      <p:pic>
        <p:nvPicPr>
          <p:cNvPr id="5" name="Picture 2" descr="https://assets-global.website-files.com/5d7b77b063a9066d83e1209c/6356a755d951c606bbb85e30_DrVww8i0egpBHUxJJn4571bAvC4fm9MM5RH3Hrh50S4cGUVIQDDGoZnxcvoaXCPN1qFAYfBcfFyNWGNAMfrlHd6c1IgYeVeKAK0jMgtCfq-G8mTTaKGe8sHHsdmdFthVnUbbGNY6cnLmFSI8TCpneaH2UP7fCrcE1a9ffw5L0YXYRXRwyNUS20MeEA.png"/>
          <p:cNvPicPr>
            <a:picLocks noChangeAspect="1" noChangeArrowheads="1"/>
          </p:cNvPicPr>
          <p:nvPr/>
        </p:nvPicPr>
        <p:blipFill>
          <a:blip r:embed="rId2" cstate="print"/>
          <a:srcRect/>
          <a:stretch>
            <a:fillRect/>
          </a:stretch>
        </p:blipFill>
        <p:spPr bwMode="auto">
          <a:xfrm>
            <a:off x="2438400" y="5791200"/>
            <a:ext cx="2895600" cy="570072"/>
          </a:xfrm>
          <a:prstGeom prst="rect">
            <a:avLst/>
          </a:prstGeom>
          <a:noFill/>
        </p:spPr>
      </p:pic>
    </p:spTree>
  </p:cSld>
  <p:clrMapOvr>
    <a:masterClrMapping/>
  </p:clrMapOvr>
  <p:transition>
    <p:zo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0" dirty="0" smtClean="0">
                <a:solidFill>
                  <a:srgbClr val="000000"/>
                </a:solidFill>
                <a:latin typeface="Calibri" pitchFamily="34" charset="0"/>
              </a:rPr>
              <a:t>Receiver Operating Characteristics (ROC) curve</a:t>
            </a:r>
            <a:endParaRPr lang="en-US" dirty="0"/>
          </a:p>
        </p:txBody>
      </p:sp>
      <p:sp>
        <p:nvSpPr>
          <p:cNvPr id="7" name="Content Placeholder 6"/>
          <p:cNvSpPr>
            <a:spLocks noGrp="1"/>
          </p:cNvSpPr>
          <p:nvPr>
            <p:ph idx="1"/>
          </p:nvPr>
        </p:nvSpPr>
        <p:spPr/>
        <p:txBody>
          <a:bodyPr/>
          <a:lstStyle/>
          <a:p>
            <a:r>
              <a:rPr lang="en-US" sz="2400" dirty="0" smtClean="0"/>
              <a:t>The false positive rate (FP) is defined as the number of negative class samples predicted </a:t>
            </a:r>
            <a:r>
              <a:rPr lang="en-US" sz="2400" i="1" dirty="0" smtClean="0"/>
              <a:t>wrongly</a:t>
            </a:r>
            <a:r>
              <a:rPr lang="en-US" sz="2400" dirty="0" smtClean="0"/>
              <a:t> to be in the positive class (i.e., the False Positives), out of all the samples in the dataset that actually belong to the negative class. </a:t>
            </a:r>
          </a:p>
          <a:p>
            <a:r>
              <a:rPr lang="en-US" sz="2400" dirty="0" smtClean="0"/>
              <a:t>Mathematically it is represented as the following:</a:t>
            </a:r>
          </a:p>
          <a:p>
            <a:endParaRPr lang="en-IN" sz="2400" dirty="0" smtClean="0"/>
          </a:p>
          <a:p>
            <a:endParaRPr lang="en-IN" sz="2400" dirty="0" smtClean="0"/>
          </a:p>
          <a:p>
            <a:endParaRPr lang="en-IN" sz="2400" dirty="0" smtClean="0"/>
          </a:p>
          <a:p>
            <a:endParaRPr lang="en-IN" sz="2400" dirty="0" smtClean="0"/>
          </a:p>
          <a:p>
            <a:endParaRPr lang="en-IN" sz="2400" dirty="0" smtClean="0"/>
          </a:p>
          <a:p>
            <a:r>
              <a:rPr lang="en-US" sz="2400" dirty="0" smtClean="0"/>
              <a:t>Note that, the FPR is the additive inverse of Specificity . So both the TPR and FPR can be computed easily from our existing computations from the Confusion Matrix.</a:t>
            </a:r>
          </a:p>
          <a:p>
            <a:endParaRPr lang="en-US" sz="2400" dirty="0" smtClean="0"/>
          </a:p>
          <a:p>
            <a:endParaRPr lang="en-US"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43</a:t>
            </a:fld>
            <a:endParaRPr lang="en-US"/>
          </a:p>
        </p:txBody>
      </p:sp>
      <p:pic>
        <p:nvPicPr>
          <p:cNvPr id="510980" name="Picture 4" descr="https://assets-global.website-files.com/5d7b77b063a9066d83e1209c/6356a75590b841e347fc3ba7_81Nv4sqFralWb6-0pjh-ROMR75q8tLw0xtcWOGlyqd-IoKjqrjNnuTn2d9GnJX7YwH7gXzoRPlH5Jp4k38-a63rZfv2pylwLrOgkhZlKYXQp2S4Px_pf2VdKVKc6iM24BgJ9DqR0U-dNQROaYy92AyAHFOx8kGrb6suRniDvZqf3PuY2q62KCvzjoQ.png"/>
          <p:cNvPicPr>
            <a:picLocks noChangeAspect="1" noChangeArrowheads="1"/>
          </p:cNvPicPr>
          <p:nvPr/>
        </p:nvPicPr>
        <p:blipFill>
          <a:blip r:embed="rId2"/>
          <a:srcRect/>
          <a:stretch>
            <a:fillRect/>
          </a:stretch>
        </p:blipFill>
        <p:spPr bwMode="auto">
          <a:xfrm>
            <a:off x="2590800" y="3190917"/>
            <a:ext cx="3962400" cy="1914483"/>
          </a:xfrm>
          <a:prstGeom prst="rect">
            <a:avLst/>
          </a:prstGeom>
          <a:noFill/>
        </p:spPr>
      </p:pic>
    </p:spTree>
  </p:cSld>
  <p:clrMapOvr>
    <a:masterClrMapping/>
  </p:clrMapOvr>
  <p:transition>
    <p:zo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smtClean="0">
                <a:solidFill>
                  <a:srgbClr val="000000"/>
                </a:solidFill>
                <a:latin typeface="Calibri" pitchFamily="34" charset="0"/>
              </a:rPr>
              <a:t>ROC curve</a:t>
            </a:r>
            <a:endParaRPr lang="en-US" dirty="0"/>
          </a:p>
        </p:txBody>
      </p:sp>
      <p:sp>
        <p:nvSpPr>
          <p:cNvPr id="3" name="Content Placeholder 2"/>
          <p:cNvSpPr>
            <a:spLocks noGrp="1"/>
          </p:cNvSpPr>
          <p:nvPr>
            <p:ph idx="1"/>
          </p:nvPr>
        </p:nvSpPr>
        <p:spPr/>
        <p:txBody>
          <a:bodyPr/>
          <a:lstStyle/>
          <a:p>
            <a:r>
              <a:rPr lang="en-US" sz="2400" dirty="0" smtClean="0"/>
              <a:t>In a ROC curve, TPR is plotted along the y-axis and the FPR is plotted along the x-axis. </a:t>
            </a:r>
          </a:p>
          <a:p>
            <a:r>
              <a:rPr lang="en-US" sz="2400" dirty="0" smtClean="0"/>
              <a:t>Each point along the curve corresponds to one of the models induced by the classifier.</a:t>
            </a:r>
          </a:p>
          <a:p>
            <a:r>
              <a:rPr lang="en-US" sz="2400" dirty="0" smtClean="0"/>
              <a:t>Figure shows the ROC curves</a:t>
            </a:r>
          </a:p>
          <a:p>
            <a:pPr>
              <a:buNone/>
            </a:pPr>
            <a:r>
              <a:rPr lang="en-US" sz="2400" dirty="0" smtClean="0"/>
              <a:t>	for three different classifiers.</a:t>
            </a:r>
          </a:p>
          <a:p>
            <a:pPr>
              <a:buNone/>
            </a:pPr>
            <a:r>
              <a:rPr lang="en-US" sz="2400" dirty="0" smtClean="0"/>
              <a:t>	 </a:t>
            </a:r>
            <a:endParaRPr lang="en-US" sz="2400"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44</a:t>
            </a:fld>
            <a:endParaRPr lang="en-US"/>
          </a:p>
        </p:txBody>
      </p:sp>
      <p:sp>
        <p:nvSpPr>
          <p:cNvPr id="288770" name="AutoShape 2" descr="roc curve from en.wikipedia.or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88772" name="AutoShape 4" descr="roc curve from en.wikipedia.or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88774" name="Picture 6" descr="https://upload.wikimedia.org/wikipedia/commons/thumb/6/6b/Roccurves.png/220px-Roccurves.png"/>
          <p:cNvPicPr>
            <a:picLocks noChangeAspect="1" noChangeArrowheads="1"/>
          </p:cNvPicPr>
          <p:nvPr/>
        </p:nvPicPr>
        <p:blipFill>
          <a:blip r:embed="rId2"/>
          <a:srcRect/>
          <a:stretch>
            <a:fillRect/>
          </a:stretch>
        </p:blipFill>
        <p:spPr bwMode="auto">
          <a:xfrm>
            <a:off x="4800600" y="2590800"/>
            <a:ext cx="3581400" cy="2785327"/>
          </a:xfrm>
          <a:prstGeom prst="rect">
            <a:avLst/>
          </a:prstGeom>
          <a:noFill/>
        </p:spPr>
      </p:pic>
    </p:spTree>
  </p:cSld>
  <p:clrMapOvr>
    <a:masterClrMapping/>
  </p:clrMapOvr>
  <p:transition>
    <p:zo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533400"/>
            <a:ext cx="4724400" cy="457200"/>
          </a:xfrm>
        </p:spPr>
        <p:txBody>
          <a:bodyPr/>
          <a:lstStyle/>
          <a:p>
            <a:r>
              <a:rPr lang="en-US" dirty="0" smtClean="0"/>
              <a:t>ROC Curve</a:t>
            </a:r>
            <a:endParaRPr lang="en-US" dirty="0"/>
          </a:p>
        </p:txBody>
      </p:sp>
      <p:sp>
        <p:nvSpPr>
          <p:cNvPr id="3" name="Content Placeholder 2"/>
          <p:cNvSpPr>
            <a:spLocks noGrp="1"/>
          </p:cNvSpPr>
          <p:nvPr>
            <p:ph idx="1"/>
          </p:nvPr>
        </p:nvSpPr>
        <p:spPr/>
        <p:txBody>
          <a:bodyPr/>
          <a:lstStyle/>
          <a:p>
            <a:r>
              <a:rPr lang="en-US" sz="2400" dirty="0" smtClean="0"/>
              <a:t>There are several critical </a:t>
            </a:r>
          </a:p>
          <a:p>
            <a:pPr>
              <a:buNone/>
            </a:pPr>
            <a:r>
              <a:rPr lang="en-US" sz="2400" dirty="0" smtClean="0"/>
              <a:t>	points along an ROC curve </a:t>
            </a:r>
          </a:p>
          <a:p>
            <a:pPr>
              <a:buNone/>
            </a:pPr>
            <a:r>
              <a:rPr lang="en-US" sz="2400" dirty="0" smtClean="0"/>
              <a:t>	that have well-known </a:t>
            </a:r>
          </a:p>
          <a:p>
            <a:pPr>
              <a:buNone/>
            </a:pPr>
            <a:r>
              <a:rPr lang="en-US" sz="2400" dirty="0" smtClean="0"/>
              <a:t>	interpretations:</a:t>
            </a:r>
          </a:p>
          <a:p>
            <a:pPr>
              <a:buNone/>
            </a:pPr>
            <a:r>
              <a:rPr lang="en-US" sz="2400" dirty="0" smtClean="0"/>
              <a:t>	</a:t>
            </a:r>
          </a:p>
          <a:p>
            <a:pPr>
              <a:buNone/>
            </a:pPr>
            <a:endParaRPr lang="en-US" sz="2400" dirty="0" smtClean="0"/>
          </a:p>
          <a:p>
            <a:pPr>
              <a:buNone/>
            </a:pPr>
            <a:endParaRPr lang="en-US" sz="2400" dirty="0" smtClean="0"/>
          </a:p>
          <a:p>
            <a:pPr>
              <a:buNone/>
            </a:pPr>
            <a:r>
              <a:rPr lang="en-US" sz="2400" dirty="0" smtClean="0"/>
              <a:t>	</a:t>
            </a:r>
            <a:r>
              <a:rPr lang="en-US" sz="2400" dirty="0" err="1" smtClean="0"/>
              <a:t>i</a:t>
            </a:r>
            <a:r>
              <a:rPr lang="en-US" sz="2400" dirty="0" smtClean="0"/>
              <a:t>) (TPR=0, FPR=0): Model predicts every instance to be a negative class.</a:t>
            </a:r>
          </a:p>
          <a:p>
            <a:pPr>
              <a:buNone/>
            </a:pPr>
            <a:r>
              <a:rPr lang="en-US" sz="2400" dirty="0" smtClean="0"/>
              <a:t>	ii) (TPR=1, FPR=1): Model predicts every instance to be a positive class. </a:t>
            </a:r>
          </a:p>
          <a:p>
            <a:pPr>
              <a:buNone/>
            </a:pPr>
            <a:r>
              <a:rPr lang="en-US" sz="2400" dirty="0" smtClean="0"/>
              <a:t>	iii) (TPR=1, FPR=0): The ideal model.</a:t>
            </a:r>
          </a:p>
          <a:p>
            <a:endParaRPr lang="en-US" sz="2400"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45</a:t>
            </a:fld>
            <a:endParaRPr lang="en-US"/>
          </a:p>
        </p:txBody>
      </p:sp>
      <p:pic>
        <p:nvPicPr>
          <p:cNvPr id="296962" name="Picture 2" descr="undefined"/>
          <p:cNvPicPr>
            <a:picLocks noChangeAspect="1" noChangeArrowheads="1"/>
          </p:cNvPicPr>
          <p:nvPr/>
        </p:nvPicPr>
        <p:blipFill>
          <a:blip r:embed="rId2"/>
          <a:srcRect/>
          <a:stretch>
            <a:fillRect/>
          </a:stretch>
        </p:blipFill>
        <p:spPr bwMode="auto">
          <a:xfrm>
            <a:off x="4724400" y="1295400"/>
            <a:ext cx="3505200" cy="2819401"/>
          </a:xfrm>
          <a:prstGeom prst="rect">
            <a:avLst/>
          </a:prstGeom>
          <a:noFill/>
        </p:spPr>
      </p:pic>
    </p:spTree>
  </p:cSld>
  <p:clrMapOvr>
    <a:masterClrMapping/>
  </p:clrMapOvr>
  <p:transition>
    <p:zo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ROC Curve</a:t>
            </a:r>
            <a:endParaRPr lang="en-US" dirty="0"/>
          </a:p>
        </p:txBody>
      </p:sp>
      <p:sp>
        <p:nvSpPr>
          <p:cNvPr id="3" name="Content Placeholder 2"/>
          <p:cNvSpPr>
            <a:spLocks noGrp="1"/>
          </p:cNvSpPr>
          <p:nvPr>
            <p:ph idx="1"/>
          </p:nvPr>
        </p:nvSpPr>
        <p:spPr/>
        <p:txBody>
          <a:bodyPr/>
          <a:lstStyle/>
          <a:p>
            <a:r>
              <a:rPr lang="en-US" sz="2400" dirty="0" smtClean="0"/>
              <a:t>A good classifier should be located </a:t>
            </a:r>
          </a:p>
          <a:p>
            <a:pPr>
              <a:buNone/>
            </a:pPr>
            <a:r>
              <a:rPr lang="en-US" sz="2400" dirty="0" smtClean="0"/>
              <a:t>	as close as possible to the upper left</a:t>
            </a:r>
          </a:p>
          <a:p>
            <a:pPr>
              <a:buNone/>
            </a:pPr>
            <a:r>
              <a:rPr lang="en-US" sz="2400" dirty="0" smtClean="0"/>
              <a:t>	corner of the diagram. </a:t>
            </a:r>
          </a:p>
          <a:p>
            <a:r>
              <a:rPr lang="en-US" sz="2400" dirty="0" smtClean="0"/>
              <a:t>A model that makes random </a:t>
            </a:r>
          </a:p>
          <a:p>
            <a:pPr>
              <a:buNone/>
            </a:pPr>
            <a:r>
              <a:rPr lang="en-US" sz="2400" dirty="0" smtClean="0"/>
              <a:t>	predictions is called a </a:t>
            </a:r>
            <a:r>
              <a:rPr lang="en-US" sz="2400" dirty="0" smtClean="0">
                <a:solidFill>
                  <a:srgbClr val="FF0000"/>
                </a:solidFill>
              </a:rPr>
              <a:t>Random </a:t>
            </a:r>
          </a:p>
          <a:p>
            <a:pPr>
              <a:buNone/>
            </a:pPr>
            <a:r>
              <a:rPr lang="en-US" sz="2400" dirty="0" smtClean="0">
                <a:solidFill>
                  <a:srgbClr val="FF0000"/>
                </a:solidFill>
              </a:rPr>
              <a:t>	classifier</a:t>
            </a:r>
            <a:r>
              <a:rPr lang="en-US" sz="2400" dirty="0" smtClean="0"/>
              <a:t> or “No Skill” classifier. </a:t>
            </a:r>
          </a:p>
          <a:p>
            <a:pPr>
              <a:buNone/>
            </a:pPr>
            <a:r>
              <a:rPr lang="en-US" sz="2400" dirty="0" smtClean="0"/>
              <a:t>	This model should reside along the main diagonal, connecting the points (TPR=0, FPR=0) and (TPR=1, FPR=1).</a:t>
            </a:r>
          </a:p>
          <a:p>
            <a:r>
              <a:rPr lang="en-US" sz="2400" dirty="0" smtClean="0"/>
              <a:t>In Random classifier, for a class-balanced dataset, the class-wise probabilities will be 50%. It acts as a reference line for the plot of the precision-recall curve.</a:t>
            </a:r>
          </a:p>
          <a:p>
            <a:pPr>
              <a:buNone/>
            </a:pPr>
            <a:r>
              <a:rPr lang="en-US" sz="2400" dirty="0" smtClean="0"/>
              <a:t> </a:t>
            </a:r>
            <a:endParaRPr lang="en-US" sz="2400"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46</a:t>
            </a:fld>
            <a:endParaRPr lang="en-US"/>
          </a:p>
        </p:txBody>
      </p:sp>
      <p:pic>
        <p:nvPicPr>
          <p:cNvPr id="5" name="Picture 2" descr="undefined"/>
          <p:cNvPicPr>
            <a:picLocks noChangeAspect="1" noChangeArrowheads="1"/>
          </p:cNvPicPr>
          <p:nvPr/>
        </p:nvPicPr>
        <p:blipFill>
          <a:blip r:embed="rId2"/>
          <a:srcRect/>
          <a:stretch>
            <a:fillRect/>
          </a:stretch>
        </p:blipFill>
        <p:spPr bwMode="auto">
          <a:xfrm>
            <a:off x="5257800" y="1219201"/>
            <a:ext cx="3429000" cy="2667000"/>
          </a:xfrm>
          <a:prstGeom prst="rect">
            <a:avLst/>
          </a:prstGeom>
          <a:noFill/>
        </p:spPr>
      </p:pic>
    </p:spTree>
  </p:cSld>
  <p:clrMapOvr>
    <a:masterClrMapping/>
  </p:clrMapOvr>
  <p:transition>
    <p:zo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3962400" cy="609600"/>
          </a:xfrm>
        </p:spPr>
        <p:txBody>
          <a:bodyPr/>
          <a:lstStyle/>
          <a:p>
            <a:r>
              <a:rPr lang="en-IN" dirty="0" smtClean="0"/>
              <a:t>ROC Curve</a:t>
            </a:r>
            <a:endParaRPr lang="en-US" dirty="0"/>
          </a:p>
        </p:txBody>
      </p:sp>
      <p:sp>
        <p:nvSpPr>
          <p:cNvPr id="3" name="Content Placeholder 2"/>
          <p:cNvSpPr>
            <a:spLocks noGrp="1"/>
          </p:cNvSpPr>
          <p:nvPr>
            <p:ph idx="1"/>
          </p:nvPr>
        </p:nvSpPr>
        <p:spPr>
          <a:xfrm>
            <a:off x="381000" y="1219200"/>
            <a:ext cx="8458200" cy="5181600"/>
          </a:xfrm>
        </p:spPr>
        <p:txBody>
          <a:bodyPr/>
          <a:lstStyle/>
          <a:p>
            <a:r>
              <a:rPr lang="en-US" dirty="0" smtClean="0"/>
              <a:t>A </a:t>
            </a:r>
            <a:r>
              <a:rPr lang="en-US" dirty="0" smtClean="0">
                <a:solidFill>
                  <a:srgbClr val="FF0000"/>
                </a:solidFill>
              </a:rPr>
              <a:t>perfect learner </a:t>
            </a:r>
            <a:r>
              <a:rPr lang="en-US" dirty="0" smtClean="0"/>
              <a:t>is one </a:t>
            </a:r>
          </a:p>
          <a:p>
            <a:pPr>
              <a:buNone/>
            </a:pPr>
            <a:r>
              <a:rPr lang="en-US" dirty="0" smtClean="0"/>
              <a:t>	which classifies every </a:t>
            </a:r>
          </a:p>
          <a:p>
            <a:pPr>
              <a:buNone/>
            </a:pPr>
            <a:r>
              <a:rPr lang="en-US" dirty="0" smtClean="0"/>
              <a:t>	sample correctly, and it </a:t>
            </a:r>
          </a:p>
          <a:p>
            <a:pPr>
              <a:buNone/>
            </a:pPr>
            <a:r>
              <a:rPr lang="en-US" dirty="0" smtClean="0"/>
              <a:t>	also acts as a reference line for the ROC plot.</a:t>
            </a:r>
          </a:p>
          <a:p>
            <a:r>
              <a:rPr lang="en-US" dirty="0" smtClean="0"/>
              <a:t>A real-life classifier will have a plot somewhere in between these two reference lines. </a:t>
            </a:r>
          </a:p>
          <a:p>
            <a:r>
              <a:rPr lang="en-US" dirty="0" smtClean="0"/>
              <a:t>The more a ROC of a learner is shifted towards the (TPR=0, FPR=1) point (i.e., towards the perfect learner curve), the better is its predictive performance across all thresholds.</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47</a:t>
            </a:fld>
            <a:endParaRPr lang="en-US"/>
          </a:p>
        </p:txBody>
      </p:sp>
      <p:pic>
        <p:nvPicPr>
          <p:cNvPr id="5" name="Picture 2" descr="undefined"/>
          <p:cNvPicPr>
            <a:picLocks noChangeAspect="1" noChangeArrowheads="1"/>
          </p:cNvPicPr>
          <p:nvPr/>
        </p:nvPicPr>
        <p:blipFill>
          <a:blip r:embed="rId2"/>
          <a:srcRect/>
          <a:stretch>
            <a:fillRect/>
          </a:stretch>
        </p:blipFill>
        <p:spPr bwMode="auto">
          <a:xfrm>
            <a:off x="4724400" y="152400"/>
            <a:ext cx="3429000" cy="2667000"/>
          </a:xfrm>
          <a:prstGeom prst="rect">
            <a:avLst/>
          </a:prstGeom>
          <a:noFill/>
        </p:spPr>
      </p:pic>
    </p:spTree>
  </p:cSld>
  <p:clrMapOvr>
    <a:masterClrMapping/>
  </p:clrMapOvr>
  <p:transition>
    <p:zo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ROC Curve</a:t>
            </a:r>
            <a:endParaRPr lang="en-US" dirty="0"/>
          </a:p>
        </p:txBody>
      </p:sp>
      <p:sp>
        <p:nvSpPr>
          <p:cNvPr id="3" name="Content Placeholder 2"/>
          <p:cNvSpPr>
            <a:spLocks noGrp="1"/>
          </p:cNvSpPr>
          <p:nvPr>
            <p:ph idx="1"/>
          </p:nvPr>
        </p:nvSpPr>
        <p:spPr>
          <a:xfrm>
            <a:off x="304800" y="990600"/>
            <a:ext cx="8458200" cy="5257800"/>
          </a:xfrm>
        </p:spPr>
        <p:txBody>
          <a:bodyPr/>
          <a:lstStyle/>
          <a:p>
            <a:r>
              <a:rPr lang="en-US" dirty="0" smtClean="0"/>
              <a:t>Another important metric that measures the overall performance of a classifier is the “Area Under ROC” or AUROC (or just AUC) value. </a:t>
            </a:r>
          </a:p>
          <a:p>
            <a:r>
              <a:rPr lang="en-US" dirty="0" smtClean="0"/>
              <a:t>As the name suggests, it is simply the area measured under the ROC curve. </a:t>
            </a:r>
          </a:p>
          <a:p>
            <a:r>
              <a:rPr lang="en-US" dirty="0" smtClean="0"/>
              <a:t>A higher value of AUC represents a better classifier. The AUC of the practical learner above is 90% which is a good score. </a:t>
            </a:r>
          </a:p>
          <a:p>
            <a:r>
              <a:rPr lang="en-US" dirty="0" smtClean="0"/>
              <a:t>The AUC of the random classifier = 0.5 and that of perfect learner = 1. </a:t>
            </a:r>
          </a:p>
          <a:p>
            <a:pPr>
              <a:buNone/>
            </a:pPr>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48</a:t>
            </a:fld>
            <a:endParaRPr lang="en-US"/>
          </a:p>
        </p:txBody>
      </p:sp>
    </p:spTree>
  </p:cSld>
  <p:clrMapOvr>
    <a:masterClrMapping/>
  </p:clrMapOvr>
  <p:transition>
    <p:zo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0" dirty="0" smtClean="0">
                <a:solidFill>
                  <a:srgbClr val="000000"/>
                </a:solidFill>
                <a:latin typeface="Calibri" pitchFamily="34" charset="0"/>
              </a:rPr>
              <a:t>Receiver Operating Characteristics (ROC) curve</a:t>
            </a:r>
            <a:endParaRPr lang="en-US" dirty="0"/>
          </a:p>
        </p:txBody>
      </p:sp>
      <p:sp>
        <p:nvSpPr>
          <p:cNvPr id="3" name="Content Placeholder 2"/>
          <p:cNvSpPr>
            <a:spLocks noGrp="1"/>
          </p:cNvSpPr>
          <p:nvPr>
            <p:ph idx="1"/>
          </p:nvPr>
        </p:nvSpPr>
        <p:spPr/>
        <p:txBody>
          <a:bodyPr/>
          <a:lstStyle/>
          <a:p>
            <a:r>
              <a:rPr lang="en-US" sz="2400" dirty="0" smtClean="0"/>
              <a:t>We have mentioned earlier that an ROC curve is a plot for displaying the tradeoff between “true positive rate” and “false positive rate” of a classifier at different threshold settings. </a:t>
            </a:r>
          </a:p>
          <a:p>
            <a:r>
              <a:rPr lang="en-US" sz="2400" dirty="0" smtClean="0"/>
              <a:t>Now, what do we mean by “</a:t>
            </a:r>
            <a:r>
              <a:rPr lang="en-US" sz="2400" dirty="0" smtClean="0">
                <a:solidFill>
                  <a:srgbClr val="FF0000"/>
                </a:solidFill>
              </a:rPr>
              <a:t>thresholds</a:t>
            </a:r>
            <a:r>
              <a:rPr lang="en-US" sz="2400" dirty="0" smtClean="0"/>
              <a:t>” in the context of ROC curves? </a:t>
            </a:r>
          </a:p>
          <a:p>
            <a:pPr>
              <a:buNone/>
            </a:pPr>
            <a:r>
              <a:rPr lang="en-US" sz="2400" dirty="0" smtClean="0"/>
              <a:t>	- Different thresholds represent the different possible classification boundaries of a model. Let us understand this with an example. </a:t>
            </a:r>
          </a:p>
          <a:p>
            <a:r>
              <a:rPr lang="en-US" sz="2400" dirty="0" smtClean="0"/>
              <a:t>Suppose we have a binary class dataset with 4 positive class samples and 6 negative class samples.</a:t>
            </a:r>
          </a:p>
        </p:txBody>
      </p:sp>
      <p:sp>
        <p:nvSpPr>
          <p:cNvPr id="4" name="Slide Number Placeholder 3"/>
          <p:cNvSpPr>
            <a:spLocks noGrp="1"/>
          </p:cNvSpPr>
          <p:nvPr>
            <p:ph type="sldNum" sz="quarter" idx="10"/>
          </p:nvPr>
        </p:nvSpPr>
        <p:spPr/>
        <p:txBody>
          <a:bodyPr/>
          <a:lstStyle/>
          <a:p>
            <a:fld id="{D37A8A04-1C0C-4C06-A72C-2BB05733F882}" type="slidenum">
              <a:rPr lang="en-US" smtClean="0"/>
              <a:pPr/>
              <a:t>49</a:t>
            </a:fld>
            <a:endParaRPr lang="en-US"/>
          </a:p>
        </p:txBody>
      </p:sp>
    </p:spTree>
  </p:cSld>
  <p:clrMapOvr>
    <a:masterClrMapping/>
  </p:clrMapOvr>
  <p:transition>
    <p:zo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IN" dirty="0" smtClean="0"/>
              <a:t>ROC Curve</a:t>
            </a:r>
            <a:endParaRPr lang="en-US"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50</a:t>
            </a:fld>
            <a:endParaRPr lang="en-US"/>
          </a:p>
        </p:txBody>
      </p:sp>
      <p:sp>
        <p:nvSpPr>
          <p:cNvPr id="10" name="Content Placeholder 9"/>
          <p:cNvSpPr>
            <a:spLocks noGrp="1"/>
          </p:cNvSpPr>
          <p:nvPr>
            <p:ph idx="1"/>
          </p:nvPr>
        </p:nvSpPr>
        <p:spPr>
          <a:xfrm>
            <a:off x="381000" y="1219200"/>
            <a:ext cx="8458200" cy="1676400"/>
          </a:xfrm>
        </p:spPr>
        <p:txBody>
          <a:bodyPr/>
          <a:lstStyle/>
          <a:p>
            <a:r>
              <a:rPr lang="en-US" sz="2400" dirty="0" smtClean="0"/>
              <a:t>Let the model decision boundary is as shown by the green line in case (A) below. </a:t>
            </a:r>
          </a:p>
          <a:p>
            <a:r>
              <a:rPr lang="en-US" sz="2400" dirty="0" smtClean="0"/>
              <a:t>Let, the RIGHT side of the decision boundary depicts the positive class, and the LEFT side depicts the negative class.</a:t>
            </a:r>
          </a:p>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r>
              <a:rPr lang="en-US" sz="2400" dirty="0" smtClean="0"/>
              <a:t>Now, this decision boundary threshold can be changed to arrive at case (B), where the precision is 100% (but recall is 50%), or to case (C) where the recall is 100% (but precision is 50%).</a:t>
            </a:r>
          </a:p>
          <a:p>
            <a:endParaRPr lang="en-US" sz="2400" dirty="0" smtClean="0"/>
          </a:p>
          <a:p>
            <a:endParaRPr lang="en-US" dirty="0"/>
          </a:p>
        </p:txBody>
      </p:sp>
      <p:pic>
        <p:nvPicPr>
          <p:cNvPr id="11" name="Picture 2"/>
          <p:cNvPicPr>
            <a:picLocks noChangeAspect="1" noChangeArrowheads="1"/>
          </p:cNvPicPr>
          <p:nvPr/>
        </p:nvPicPr>
        <p:blipFill>
          <a:blip r:embed="rId2"/>
          <a:stretch>
            <a:fillRect/>
          </a:stretch>
        </p:blipFill>
        <p:spPr bwMode="auto">
          <a:xfrm>
            <a:off x="2209800" y="2971800"/>
            <a:ext cx="4419600" cy="2366100"/>
          </a:xfrm>
          <a:prstGeom prst="rect">
            <a:avLst/>
          </a:prstGeom>
          <a:noFill/>
          <a:ln w="9525">
            <a:noFill/>
            <a:miter lim="800000"/>
            <a:headEnd/>
            <a:tailEnd/>
          </a:ln>
          <a:effectLst/>
        </p:spPr>
      </p:pic>
    </p:spTree>
  </p:cSld>
  <p:clrMapOvr>
    <a:masterClrMapping/>
  </p:clrMapOvr>
  <p:transition>
    <p:zo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ROC Curve</a:t>
            </a:r>
            <a:endParaRPr lang="en-US" dirty="0"/>
          </a:p>
        </p:txBody>
      </p:sp>
      <p:sp>
        <p:nvSpPr>
          <p:cNvPr id="5" name="Content Placeholder 4"/>
          <p:cNvSpPr>
            <a:spLocks noGrp="1"/>
          </p:cNvSpPr>
          <p:nvPr>
            <p:ph idx="1"/>
          </p:nvPr>
        </p:nvSpPr>
        <p:spPr>
          <a:xfrm>
            <a:off x="304800" y="1066800"/>
            <a:ext cx="8458200" cy="1143000"/>
          </a:xfrm>
        </p:spPr>
        <p:txBody>
          <a:bodyPr/>
          <a:lstStyle/>
          <a:p>
            <a:r>
              <a:rPr lang="en-US" sz="2000" dirty="0" smtClean="0"/>
              <a:t>Now, this decision boundary threshold can be changed to arrive at case (B), where the precision is 100% (but recall is 50%), or to case (C) where the recall is 100% (but precision is 50%). </a:t>
            </a:r>
            <a:r>
              <a:rPr lang="en-US" dirty="0" smtClean="0"/>
              <a:t>The corresponding confusion matrices are shown. </a:t>
            </a:r>
            <a:endParaRPr lang="en-US"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51</a:t>
            </a:fld>
            <a:endParaRPr lang="en-US"/>
          </a:p>
        </p:txBody>
      </p:sp>
      <p:pic>
        <p:nvPicPr>
          <p:cNvPr id="440321" name="Picture 1"/>
          <p:cNvPicPr>
            <a:picLocks noChangeAspect="1" noChangeArrowheads="1"/>
          </p:cNvPicPr>
          <p:nvPr/>
        </p:nvPicPr>
        <p:blipFill>
          <a:blip r:embed="rId2"/>
          <a:srcRect/>
          <a:stretch>
            <a:fillRect/>
          </a:stretch>
        </p:blipFill>
        <p:spPr bwMode="auto">
          <a:xfrm>
            <a:off x="1219200" y="2668466"/>
            <a:ext cx="7238999" cy="4037134"/>
          </a:xfrm>
          <a:prstGeom prst="rect">
            <a:avLst/>
          </a:prstGeom>
          <a:noFill/>
          <a:ln w="9525">
            <a:noFill/>
            <a:miter lim="800000"/>
            <a:headEnd/>
            <a:tailEnd/>
          </a:ln>
          <a:effectLst/>
        </p:spPr>
      </p:pic>
    </p:spTree>
  </p:cSld>
  <p:clrMapOvr>
    <a:masterClrMapping/>
  </p:clrMapOvr>
  <p:transition>
    <p:zo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ROC Curve</a:t>
            </a:r>
            <a:endParaRPr lang="en-US" dirty="0"/>
          </a:p>
        </p:txBody>
      </p:sp>
      <p:sp>
        <p:nvSpPr>
          <p:cNvPr id="3" name="Content Placeholder 2"/>
          <p:cNvSpPr>
            <a:spLocks noGrp="1"/>
          </p:cNvSpPr>
          <p:nvPr>
            <p:ph idx="1"/>
          </p:nvPr>
        </p:nvSpPr>
        <p:spPr/>
        <p:txBody>
          <a:bodyPr/>
          <a:lstStyle/>
          <a:p>
            <a:r>
              <a:rPr lang="en-US" dirty="0" smtClean="0"/>
              <a:t>The TPR and FPR values for these three scenarios with the different thresholds are thus as shown below.</a:t>
            </a:r>
            <a:endParaRPr lang="en-US"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52</a:t>
            </a:fld>
            <a:endParaRPr lang="en-US"/>
          </a:p>
        </p:txBody>
      </p:sp>
      <p:pic>
        <p:nvPicPr>
          <p:cNvPr id="515074" name="Picture 2" descr="https://assets-global.website-files.com/5d7b77b063a9066d83e1209c/6356a75617d1c46f8793d026_yGV5N-aug2lnnN9eor_CY3FaOeDONsIK45V0roMJO0bTOht42McQ61DGRyQzUl36YJYaCRozcbHeS60snp9rtHsnO-RxdjJ6o2Pg_TXeEPGUO-pW4U0W3bouc0uM7RaYyesaEl2OcGKhc9UxP8zBCHUd8GM8PsFGT67Ou0tUo64M0hgq2hKZdLp-FA.png"/>
          <p:cNvPicPr>
            <a:picLocks noChangeAspect="1" noChangeArrowheads="1"/>
          </p:cNvPicPr>
          <p:nvPr/>
        </p:nvPicPr>
        <p:blipFill>
          <a:blip r:embed="rId2" cstate="print"/>
          <a:srcRect/>
          <a:stretch>
            <a:fillRect/>
          </a:stretch>
        </p:blipFill>
        <p:spPr bwMode="auto">
          <a:xfrm>
            <a:off x="1600200" y="2286000"/>
            <a:ext cx="5447491" cy="1600201"/>
          </a:xfrm>
          <a:prstGeom prst="rect">
            <a:avLst/>
          </a:prstGeom>
          <a:noFill/>
        </p:spPr>
      </p:pic>
      <p:sp>
        <p:nvSpPr>
          <p:cNvPr id="6" name="TextBox 5"/>
          <p:cNvSpPr txBox="1"/>
          <p:nvPr/>
        </p:nvSpPr>
        <p:spPr>
          <a:xfrm>
            <a:off x="685800" y="5334000"/>
            <a:ext cx="7138814" cy="584775"/>
          </a:xfrm>
          <a:prstGeom prst="rect">
            <a:avLst/>
          </a:prstGeom>
          <a:noFill/>
        </p:spPr>
        <p:txBody>
          <a:bodyPr wrap="none" rtlCol="0">
            <a:spAutoFit/>
          </a:bodyPr>
          <a:lstStyle/>
          <a:p>
            <a:pPr>
              <a:buFont typeface="Arial" pitchFamily="34" charset="0"/>
              <a:buChar char="•"/>
            </a:pPr>
            <a:r>
              <a:rPr lang="en-US" sz="1600" dirty="0" smtClean="0"/>
              <a:t> To know in details about how to generate ROC curve, go through the book, </a:t>
            </a:r>
          </a:p>
          <a:p>
            <a:r>
              <a:rPr lang="en-US" sz="1600" dirty="0" smtClean="0"/>
              <a:t>“Introduction to Data Mining” by TAN, STEINBACH, AND VIPIN KUMAR</a:t>
            </a:r>
            <a:endParaRPr lang="en-US" sz="1600" dirty="0"/>
          </a:p>
        </p:txBody>
      </p:sp>
    </p:spTree>
  </p:cSld>
  <p:clrMapOvr>
    <a:masterClrMapping/>
  </p:clrMapOvr>
  <p:transition>
    <p:zo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ROC Curve</a:t>
            </a:r>
            <a:endParaRPr lang="en-US" dirty="0"/>
          </a:p>
        </p:txBody>
      </p:sp>
      <p:sp>
        <p:nvSpPr>
          <p:cNvPr id="3" name="Content Placeholder 2"/>
          <p:cNvSpPr>
            <a:spLocks noGrp="1"/>
          </p:cNvSpPr>
          <p:nvPr>
            <p:ph idx="1"/>
          </p:nvPr>
        </p:nvSpPr>
        <p:spPr/>
        <p:txBody>
          <a:bodyPr/>
          <a:lstStyle/>
          <a:p>
            <a:r>
              <a:rPr lang="en-US" dirty="0" smtClean="0"/>
              <a:t>Using these values, the ROC curve can be plotted. An example of a ROC curve for a binary classification problem (with randomly generated samples) is shown below.</a:t>
            </a:r>
            <a:endParaRPr lang="en-US"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53</a:t>
            </a:fld>
            <a:endParaRPr lang="en-US"/>
          </a:p>
        </p:txBody>
      </p:sp>
      <p:pic>
        <p:nvPicPr>
          <p:cNvPr id="438273" name="Picture 1"/>
          <p:cNvPicPr>
            <a:picLocks noChangeAspect="1" noChangeArrowheads="1"/>
          </p:cNvPicPr>
          <p:nvPr/>
        </p:nvPicPr>
        <p:blipFill>
          <a:blip r:embed="rId2"/>
          <a:srcRect/>
          <a:stretch>
            <a:fillRect/>
          </a:stretch>
        </p:blipFill>
        <p:spPr bwMode="auto">
          <a:xfrm>
            <a:off x="1981200" y="2827149"/>
            <a:ext cx="5334000" cy="3345051"/>
          </a:xfrm>
          <a:prstGeom prst="rect">
            <a:avLst/>
          </a:prstGeom>
          <a:noFill/>
          <a:ln w="9525">
            <a:noFill/>
            <a:miter lim="800000"/>
            <a:headEnd/>
            <a:tailEnd/>
          </a:ln>
          <a:effectLst/>
        </p:spPr>
      </p:pic>
    </p:spTree>
  </p:cSld>
  <p:clrMapOvr>
    <a:masterClrMapping/>
  </p:clrMapOvr>
  <p:transition>
    <p:zoom/>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ROC Curve</a:t>
            </a:r>
            <a:endParaRPr lang="en-US" dirty="0"/>
          </a:p>
        </p:txBody>
      </p:sp>
      <p:sp>
        <p:nvSpPr>
          <p:cNvPr id="3" name="Content Placeholder 2"/>
          <p:cNvSpPr>
            <a:spLocks noGrp="1"/>
          </p:cNvSpPr>
          <p:nvPr>
            <p:ph idx="1"/>
          </p:nvPr>
        </p:nvSpPr>
        <p:spPr/>
        <p:txBody>
          <a:bodyPr/>
          <a:lstStyle/>
          <a:p>
            <a:r>
              <a:rPr lang="en-US" dirty="0" smtClean="0"/>
              <a:t>For multi-class datasets, the ROC curves are plotted by dissolving the confusion matrix into one-</a:t>
            </a:r>
            <a:r>
              <a:rPr lang="en-US" dirty="0" err="1" smtClean="0"/>
              <a:t>vs</a:t>
            </a:r>
            <a:r>
              <a:rPr lang="en-US" dirty="0" smtClean="0"/>
              <a:t>-all matrices. </a:t>
            </a:r>
            <a:endParaRPr lang="en-US" dirty="0"/>
          </a:p>
        </p:txBody>
      </p:sp>
      <p:sp>
        <p:nvSpPr>
          <p:cNvPr id="4" name="Slide Number Placeholder 3"/>
          <p:cNvSpPr>
            <a:spLocks noGrp="1"/>
          </p:cNvSpPr>
          <p:nvPr>
            <p:ph type="sldNum" sz="quarter" idx="10"/>
          </p:nvPr>
        </p:nvSpPr>
        <p:spPr/>
        <p:txBody>
          <a:bodyPr/>
          <a:lstStyle/>
          <a:p>
            <a:fld id="{D37A8A04-1C0C-4C06-A72C-2BB05733F882}" type="slidenum">
              <a:rPr lang="en-US" smtClean="0"/>
              <a:pPr/>
              <a:t>54</a:t>
            </a:fld>
            <a:endParaRPr lang="en-US"/>
          </a:p>
        </p:txBody>
      </p:sp>
      <p:pic>
        <p:nvPicPr>
          <p:cNvPr id="5" name="Picture 2" descr="https://assets-global.website-files.com/5d7b77b063a9066d83e1209c/6356a755455c27d86d3e7fa1_zwCTbMvc-FbWrXbFYsFUBg3PVcG5uws5zq2QJSEScw83s2sEOX0IsP_iOTcHhUsVMhd0Enf_GfaA7p_IVUw2BdCZBos82NEbr42SvNmJ16lpU3ybagLjfN7HLxjmsrsLaYm2GUOBp5bBzAnd4HKUEhObhm83_rZM1hMdVbkT4lFpNW1abUaj8kFlQw.png"/>
          <p:cNvPicPr>
            <a:picLocks noChangeAspect="1" noChangeArrowheads="1"/>
          </p:cNvPicPr>
          <p:nvPr/>
        </p:nvPicPr>
        <p:blipFill>
          <a:blip r:embed="rId2"/>
          <a:srcRect/>
          <a:stretch>
            <a:fillRect/>
          </a:stretch>
        </p:blipFill>
        <p:spPr bwMode="auto">
          <a:xfrm>
            <a:off x="1219200" y="2667000"/>
            <a:ext cx="7010400" cy="3673540"/>
          </a:xfrm>
          <a:prstGeom prst="rect">
            <a:avLst/>
          </a:prstGeom>
          <a:noFill/>
        </p:spPr>
      </p:pic>
    </p:spTree>
  </p:cSld>
  <p:clrMapOvr>
    <a:masterClrMapping/>
  </p:clrMapOvr>
  <p:transition>
    <p:zo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CustomShape 1"/>
          <p:cNvSpPr/>
          <p:nvPr/>
        </p:nvSpPr>
        <p:spPr>
          <a:xfrm>
            <a:off x="457200" y="1049338"/>
            <a:ext cx="8228013" cy="609600"/>
          </a:xfrm>
          <a:prstGeom prst="rect">
            <a:avLst/>
          </a:prstGeom>
          <a:noFill/>
          <a:ln>
            <a:noFill/>
          </a:ln>
        </p:spPr>
        <p:style>
          <a:lnRef idx="0">
            <a:scrgbClr r="0" g="0" b="0"/>
          </a:lnRef>
          <a:fillRef idx="0">
            <a:scrgbClr r="0" g="0" b="0"/>
          </a:fillRef>
          <a:effectRef idx="0">
            <a:scrgbClr r="0" g="0" b="0"/>
          </a:effectRef>
          <a:fontRef idx="minor"/>
        </p:style>
      </p:sp>
      <p:pic>
        <p:nvPicPr>
          <p:cNvPr id="93186" name="Picture 153"/>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704975" y="1535113"/>
            <a:ext cx="5702300" cy="3759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ransition spd="slow"/>
  <p:timing>
    <p:tnLst>
      <p:par>
        <p:cTn id="1" dur="indefinite" restart="never" nodeType="tmRoot"/>
      </p:par>
    </p:tnLst>
  </p:timing>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17122</TotalTime>
  <Words>3145</Words>
  <Application>Microsoft Macintosh PowerPoint</Application>
  <PresentationFormat>On-screen Show (4:3)</PresentationFormat>
  <Paragraphs>424</Paragraphs>
  <Slides>55</Slides>
  <Notes>9</Notes>
  <HiddenSlides>0</HiddenSlides>
  <MMClips>0</MMClips>
  <ScaleCrop>false</ScaleCrop>
  <HeadingPairs>
    <vt:vector size="4" baseType="variant">
      <vt:variant>
        <vt:lpstr>Theme</vt:lpstr>
      </vt:variant>
      <vt:variant>
        <vt:i4>1</vt:i4>
      </vt:variant>
      <vt:variant>
        <vt:lpstr>Slide Titles</vt:lpstr>
      </vt:variant>
      <vt:variant>
        <vt:i4>55</vt:i4>
      </vt:variant>
    </vt:vector>
  </HeadingPairs>
  <TitlesOfParts>
    <vt:vector size="56" baseType="lpstr">
      <vt:lpstr>Blends</vt:lpstr>
      <vt:lpstr>Classification Model</vt:lpstr>
      <vt:lpstr>Model Evaluation and Selection</vt:lpstr>
      <vt:lpstr>Holdout Method</vt:lpstr>
      <vt:lpstr>Holdout Method</vt:lpstr>
      <vt:lpstr>Sampling</vt:lpstr>
      <vt:lpstr>Limitations</vt:lpstr>
      <vt:lpstr>Advantages</vt:lpstr>
      <vt:lpstr>Disadvantages</vt:lpstr>
      <vt:lpstr>  Random subsampling</vt:lpstr>
      <vt:lpstr>  Bootstrap</vt:lpstr>
      <vt:lpstr>Bootstrap</vt:lpstr>
      <vt:lpstr>Bootstrap</vt:lpstr>
      <vt:lpstr>Bootstrap</vt:lpstr>
      <vt:lpstr>Bootstrap</vt:lpstr>
      <vt:lpstr>Why used both Training or Test Accuracy?</vt:lpstr>
      <vt:lpstr>Why the 0.632 Weight?</vt:lpstr>
      <vt:lpstr>Bootstrap</vt:lpstr>
      <vt:lpstr>Cross-validation</vt:lpstr>
      <vt:lpstr>Cross-validation</vt:lpstr>
      <vt:lpstr>Classifier Evaluation Metrics: Confusion Matrix</vt:lpstr>
      <vt:lpstr>Confusion Matrix for Binary Classifier</vt:lpstr>
      <vt:lpstr>Classifier Evaluation Metrics: Confusion Matrix</vt:lpstr>
      <vt:lpstr>Classifier Evaluation Metrics: Confusion Matrix</vt:lpstr>
      <vt:lpstr>Classifier Evaluation Metrics: Confusion Matrix</vt:lpstr>
      <vt:lpstr>Classifier Evaluation Metrics: Confusion Matrix</vt:lpstr>
      <vt:lpstr>Classifier Evaluation Metrics: Confusion Matrix</vt:lpstr>
      <vt:lpstr>Classifier Evaluation Metrics: Confusion Matrix</vt:lpstr>
      <vt:lpstr>Classifier Evaluation Metrics: Sensitivity and Specificity</vt:lpstr>
      <vt:lpstr>Confusion Matrix for Multiple Classes</vt:lpstr>
      <vt:lpstr>Confusion Matrix for Multiple Classes</vt:lpstr>
      <vt:lpstr>Confusion Matrix for Multiple Classes</vt:lpstr>
      <vt:lpstr>Confusion Matrix for Multiple Classes</vt:lpstr>
      <vt:lpstr>Confusion Matrix for Multiple Classes</vt:lpstr>
      <vt:lpstr>Confusion Matrix for Multiple Classes</vt:lpstr>
      <vt:lpstr>Confusion Matrix for Multiple Classes</vt:lpstr>
      <vt:lpstr>Confusion Matrix for Multiple Classes</vt:lpstr>
      <vt:lpstr>Confusion Matrix for Multiple Classes</vt:lpstr>
      <vt:lpstr>Micro-averaged F1-score </vt:lpstr>
      <vt:lpstr>Micro-averaged F1-score </vt:lpstr>
      <vt:lpstr>Macro unweighted average score </vt:lpstr>
      <vt:lpstr>Macro weighted average score </vt:lpstr>
      <vt:lpstr>Receiver Operating Characteristics (ROC) curve</vt:lpstr>
      <vt:lpstr>Receiver Operating Characteristics (ROC) curve</vt:lpstr>
      <vt:lpstr>ROC curve</vt:lpstr>
      <vt:lpstr>ROC Curve</vt:lpstr>
      <vt:lpstr>ROC Curve</vt:lpstr>
      <vt:lpstr>ROC Curve</vt:lpstr>
      <vt:lpstr>ROC Curve</vt:lpstr>
      <vt:lpstr>Receiver Operating Characteristics (ROC) curve</vt:lpstr>
      <vt:lpstr>ROC Curve</vt:lpstr>
      <vt:lpstr>ROC Curve</vt:lpstr>
      <vt:lpstr>ROC Curve</vt:lpstr>
      <vt:lpstr>ROC Curve</vt:lpstr>
      <vt:lpstr>ROC Curve</vt:lpstr>
      <vt:lpstr>Slide 55</vt:lpstr>
    </vt:vector>
  </TitlesOfParts>
  <Company>S.F.U.</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7class</dc:title>
  <dc:creator>Jiawei Han</dc:creator>
  <cp:lastModifiedBy>hp</cp:lastModifiedBy>
  <cp:revision>913</cp:revision>
  <cp:lastPrinted>2012-11-04T04:01:56Z</cp:lastPrinted>
  <dcterms:created xsi:type="dcterms:W3CDTF">1998-06-19T04:38:52Z</dcterms:created>
  <dcterms:modified xsi:type="dcterms:W3CDTF">2025-03-19T07:26:32Z</dcterms:modified>
  <cp:category>data mining book slides</cp:category>
</cp:coreProperties>
</file>