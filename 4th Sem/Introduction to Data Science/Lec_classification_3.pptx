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xls" ContentType="application/vnd.ms-exce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Default Extension="gif" ContentType="image/gif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57" r:id="rId2"/>
    <p:sldId id="258" r:id="rId3"/>
    <p:sldId id="259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60" r:id="rId13"/>
    <p:sldId id="292" r:id="rId14"/>
    <p:sldId id="293" r:id="rId15"/>
    <p:sldId id="261" r:id="rId16"/>
    <p:sldId id="262" r:id="rId17"/>
    <p:sldId id="263" r:id="rId18"/>
    <p:sldId id="264" r:id="rId19"/>
    <p:sldId id="265" r:id="rId20"/>
    <p:sldId id="266" r:id="rId21"/>
    <p:sldId id="295" r:id="rId22"/>
    <p:sldId id="268" r:id="rId23"/>
    <p:sldId id="299" r:id="rId24"/>
    <p:sldId id="300" r:id="rId25"/>
    <p:sldId id="267" r:id="rId26"/>
    <p:sldId id="302" r:id="rId27"/>
    <p:sldId id="301" r:id="rId28"/>
    <p:sldId id="303" r:id="rId29"/>
    <p:sldId id="304" r:id="rId30"/>
    <p:sldId id="305" r:id="rId31"/>
    <p:sldId id="306" r:id="rId32"/>
    <p:sldId id="307" r:id="rId33"/>
    <p:sldId id="269" r:id="rId34"/>
    <p:sldId id="270" r:id="rId35"/>
    <p:sldId id="271" r:id="rId36"/>
    <p:sldId id="272" r:id="rId37"/>
    <p:sldId id="273" r:id="rId38"/>
    <p:sldId id="274" r:id="rId39"/>
    <p:sldId id="275" r:id="rId40"/>
    <p:sldId id="276" r:id="rId41"/>
    <p:sldId id="277" r:id="rId42"/>
    <p:sldId id="296" r:id="rId43"/>
    <p:sldId id="297" r:id="rId44"/>
    <p:sldId id="298" r:id="rId45"/>
    <p:sldId id="278" r:id="rId46"/>
    <p:sldId id="279" r:id="rId47"/>
    <p:sldId id="281" r:id="rId48"/>
    <p:sldId id="280" r:id="rId49"/>
    <p:sldId id="282" r:id="rId50"/>
    <p:sldId id="283" r:id="rId51"/>
    <p:sldId id="294" r:id="rId5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279B15-0557-495E-BF98-E2B5BD9EAB73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74705-B064-459E-A090-7A4D6B4289B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/>
          <p:cNvSpPr txBox="1">
            <a:spLocks noGrp="1" noChangeArrowheads="1"/>
          </p:cNvSpPr>
          <p:nvPr/>
        </p:nvSpPr>
        <p:spPr bwMode="auto">
          <a:xfrm>
            <a:off x="3885581" y="8686643"/>
            <a:ext cx="2972421" cy="457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739" tIns="45871" rIns="91739" bIns="45871" anchor="b"/>
          <a:lstStyle/>
          <a:p>
            <a:pPr algn="r" defTabSz="917555" eaLnBrk="0" hangingPunct="0"/>
            <a:fld id="{02F1AB1C-5595-4A38-8DCC-0643FC80AAF6}" type="slidenum">
              <a:rPr lang="en-US" sz="1200">
                <a:latin typeface="Times New Roman" pitchFamily="18" charset="0"/>
              </a:rPr>
              <a:pPr algn="r" defTabSz="917555" eaLnBrk="0" hangingPunct="0"/>
              <a:t>1</a:t>
            </a:fld>
            <a:endParaRPr lang="en-US" sz="1200" dirty="0">
              <a:latin typeface="Times New Roman" pitchFamily="18" charset="0"/>
            </a:endParaRPr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1B29CA9-DFAB-4C06-A9D3-0556EA5ECFAB}" type="slidenum">
              <a:rPr lang="en-US"/>
              <a:pPr/>
              <a:t>2</a:t>
            </a:fld>
            <a:endParaRPr lang="en-US"/>
          </a:p>
        </p:txBody>
      </p:sp>
      <p:sp>
        <p:nvSpPr>
          <p:cNvPr id="158721" name="Text Box 1"/>
          <p:cNvSpPr txBox="1">
            <a:spLocks noChangeArrowheads="1"/>
          </p:cNvSpPr>
          <p:nvPr/>
        </p:nvSpPr>
        <p:spPr bwMode="auto">
          <a:xfrm>
            <a:off x="3884614" y="8685213"/>
            <a:ext cx="2970212" cy="4556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88629" tIns="46087" rIns="88629" bIns="46087" anchor="b"/>
          <a:lstStyle/>
          <a:p>
            <a:pPr algn="r">
              <a:tabLst>
                <a:tab pos="0" algn="l"/>
                <a:tab pos="440858" algn="l"/>
                <a:tab pos="883280" algn="l"/>
                <a:tab pos="1325700" algn="l"/>
                <a:tab pos="1768123" algn="l"/>
                <a:tab pos="2210544" algn="l"/>
                <a:tab pos="2652965" algn="l"/>
                <a:tab pos="3095386" algn="l"/>
                <a:tab pos="3537808" algn="l"/>
                <a:tab pos="3980228" algn="l"/>
                <a:tab pos="4422650" algn="l"/>
                <a:tab pos="4865071" algn="l"/>
                <a:tab pos="5307493" algn="l"/>
                <a:tab pos="5749914" algn="l"/>
                <a:tab pos="6192336" algn="l"/>
                <a:tab pos="6634756" algn="l"/>
                <a:tab pos="7077178" algn="l"/>
                <a:tab pos="7519599" algn="l"/>
                <a:tab pos="7962020" algn="l"/>
                <a:tab pos="8404442" algn="l"/>
                <a:tab pos="8846864" algn="l"/>
              </a:tabLst>
            </a:pPr>
            <a:fld id="{224C263F-C648-4D12-9CED-BFE79998023A}" type="slidenum">
              <a:rPr lang="en-US" sz="1200">
                <a:solidFill>
                  <a:srgbClr val="000000"/>
                </a:solidFill>
                <a:latin typeface="Times New Roman" pitchFamily="16" charset="0"/>
              </a:rPr>
              <a:pPr algn="r">
                <a:tabLst>
                  <a:tab pos="0" algn="l"/>
                  <a:tab pos="440858" algn="l"/>
                  <a:tab pos="883280" algn="l"/>
                  <a:tab pos="1325700" algn="l"/>
                  <a:tab pos="1768123" algn="l"/>
                  <a:tab pos="2210544" algn="l"/>
                  <a:tab pos="2652965" algn="l"/>
                  <a:tab pos="3095386" algn="l"/>
                  <a:tab pos="3537808" algn="l"/>
                  <a:tab pos="3980228" algn="l"/>
                  <a:tab pos="4422650" algn="l"/>
                  <a:tab pos="4865071" algn="l"/>
                  <a:tab pos="5307493" algn="l"/>
                  <a:tab pos="5749914" algn="l"/>
                  <a:tab pos="6192336" algn="l"/>
                  <a:tab pos="6634756" algn="l"/>
                  <a:tab pos="7077178" algn="l"/>
                  <a:tab pos="7519599" algn="l"/>
                  <a:tab pos="7962020" algn="l"/>
                  <a:tab pos="8404442" algn="l"/>
                  <a:tab pos="8846864" algn="l"/>
                </a:tabLst>
              </a:pPr>
              <a:t>2</a:t>
            </a:fld>
            <a:endParaRPr lang="en-US" sz="1200" dirty="0">
              <a:solidFill>
                <a:srgbClr val="000000"/>
              </a:solidFill>
              <a:latin typeface="Times New Roman" pitchFamily="16" charset="0"/>
            </a:endParaRPr>
          </a:p>
        </p:txBody>
      </p:sp>
      <p:sp>
        <p:nvSpPr>
          <p:cNvPr id="158722" name="Rectangle 2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23072" y="685361"/>
            <a:ext cx="5011862" cy="342973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723" name="Rectangle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6DC2F37-1F04-4F9C-98BB-CE5C79F77C7B}" type="slidenum">
              <a:rPr lang="en-US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526302A-19E7-4BA9-973C-7AA053E80ED7}" type="slidenum">
              <a:rPr lang="en-US"/>
              <a:pPr/>
              <a:t>15</a:t>
            </a:fld>
            <a:endParaRPr lang="en-US"/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6DB30E4-D25D-480F-89B8-8416610A21F5}" type="slidenum">
              <a:rPr lang="en-US"/>
              <a:pPr/>
              <a:t>16</a:t>
            </a:fld>
            <a:endParaRPr lang="en-US"/>
          </a:p>
        </p:txBody>
      </p:sp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CB591A0-35F0-48F5-9058-1A5D5EAE089B}" type="slidenum">
              <a:rPr lang="en-US"/>
              <a:pPr/>
              <a:t>17</a:t>
            </a:fld>
            <a:endParaRPr lang="en-US"/>
          </a:p>
        </p:txBody>
      </p:sp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B1EACB9-B6CA-454A-B38B-781931383194}" type="slidenum">
              <a:rPr lang="en-US"/>
              <a:pPr/>
              <a:t>18</a:t>
            </a:fld>
            <a:endParaRPr lang="en-US"/>
          </a:p>
        </p:txBody>
      </p:sp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C789E0-DB0F-4EA6-9C74-E5A22CB0BFB3}" type="slidenum">
              <a:rPr lang="en-US"/>
              <a:pPr/>
              <a:t>19</a:t>
            </a:fld>
            <a:endParaRPr lang="en-US"/>
          </a:p>
        </p:txBody>
      </p:sp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2B9FED-4ECA-4C95-9CB5-185241E228E7}" type="slidenum">
              <a:rPr lang="en-US"/>
              <a:pPr/>
              <a:t>20</a:t>
            </a:fld>
            <a:endParaRPr lang="en-US"/>
          </a:p>
        </p:txBody>
      </p:sp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2B9FED-4ECA-4C95-9CB5-185241E228E7}" type="slidenum">
              <a:rPr lang="en-US"/>
              <a:pPr/>
              <a:t>21</a:t>
            </a:fld>
            <a:endParaRPr lang="en-US"/>
          </a:p>
        </p:txBody>
      </p:sp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E91E7EC-6A31-41A1-8727-BCFB4DDF3C59}" type="slidenum">
              <a:rPr lang="en-US"/>
              <a:pPr/>
              <a:t>22</a:t>
            </a:fld>
            <a:endParaRPr lang="en-US"/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98C775-6B17-4D7A-A697-F136FD0657DA}" type="slidenum">
              <a:rPr lang="en-US"/>
              <a:pPr/>
              <a:t>25</a:t>
            </a:fld>
            <a:endParaRPr lang="en-US"/>
          </a:p>
        </p:txBody>
      </p:sp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98C775-6B17-4D7A-A697-F136FD0657DA}" type="slidenum">
              <a:rPr lang="en-US"/>
              <a:pPr/>
              <a:t>26</a:t>
            </a:fld>
            <a:endParaRPr lang="en-US"/>
          </a:p>
        </p:txBody>
      </p:sp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3541-70BA-43E6-8333-5E91C053DEF7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EBE1-184E-457C-A7F8-052BA72E39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3541-70BA-43E6-8333-5E91C053DEF7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EBE1-184E-457C-A7F8-052BA72E39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3541-70BA-43E6-8333-5E91C053DEF7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EBE1-184E-457C-A7F8-052BA72E39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3541-70BA-43E6-8333-5E91C053DEF7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EBE1-184E-457C-A7F8-052BA72E39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3541-70BA-43E6-8333-5E91C053DEF7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EBE1-184E-457C-A7F8-052BA72E39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3541-70BA-43E6-8333-5E91C053DEF7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EBE1-184E-457C-A7F8-052BA72E39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3541-70BA-43E6-8333-5E91C053DEF7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EBE1-184E-457C-A7F8-052BA72E39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3541-70BA-43E6-8333-5E91C053DEF7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EBE1-184E-457C-A7F8-052BA72E39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3541-70BA-43E6-8333-5E91C053DEF7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EBE1-184E-457C-A7F8-052BA72E39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3541-70BA-43E6-8333-5E91C053DEF7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EBE1-184E-457C-A7F8-052BA72E39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3541-70BA-43E6-8333-5E91C053DEF7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EBE1-184E-457C-A7F8-052BA72E39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402638" cy="609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371600"/>
            <a:ext cx="4152900" cy="5105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10100" y="1371600"/>
            <a:ext cx="4152900" cy="2476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10100" y="4000500"/>
            <a:ext cx="4152900" cy="2476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E7F48D-0AE6-4E48-9F98-0F65A017492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402638" cy="609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371600"/>
            <a:ext cx="4152900" cy="5105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152900" cy="5105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12E291-2DE2-41AB-89C6-59201C6AAB7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73541-70BA-43E6-8333-5E91C053DEF7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BEBE1-184E-457C-A7F8-052BA72E398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2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5" Type="http://schemas.openxmlformats.org/officeDocument/2006/relationships/oleObject" Target="../embeddings/oleObject4.bin"/><Relationship Id="rId4" Type="http://schemas.openxmlformats.org/officeDocument/2006/relationships/oleObject" Target="../embeddings/oleObject3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7.bin"/><Relationship Id="rId5" Type="http://schemas.openxmlformats.org/officeDocument/2006/relationships/oleObject" Target="../embeddings/oleObject6.bin"/><Relationship Id="rId4" Type="http://schemas.openxmlformats.org/officeDocument/2006/relationships/oleObject" Target="../embeddings/oleObject5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oleObject" Target="../embeddings/Microsoft_Office_Excel_97-2003_Worksheet1.xls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oleObject" Target="../embeddings/Microsoft_Office_Excel_97-2003_Worksheet2.xls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oleObject" Target="../embeddings/Microsoft_Office_Excel_97-2003_Worksheet3.xls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37.png"/><Relationship Id="rId4" Type="http://schemas.openxmlformats.org/officeDocument/2006/relationships/oleObject" Target="../embeddings/oleObject8.bin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gif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Number Placeholder 6"/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529C395-B24B-4949-B408-C93E53E4C7FD}" type="slidenum">
              <a:rPr lang="en-US" sz="1400" b="1">
                <a:latin typeface="Calibri" pitchFamily="34" charset="0"/>
              </a:rPr>
              <a:pPr algn="r"/>
              <a:t>1</a:t>
            </a:fld>
            <a:endParaRPr lang="en-US" sz="1400" b="1" dirty="0">
              <a:latin typeface="Calibri" pitchFamily="34" charset="0"/>
            </a:endParaRPr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609600"/>
          </a:xfrm>
          <a:noFill/>
        </p:spPr>
        <p:txBody>
          <a:bodyPr lIns="92075" tIns="46038" rIns="92075" bIns="46038" anchor="ctr">
            <a:normAutofit fontScale="90000"/>
          </a:bodyPr>
          <a:lstStyle/>
          <a:p>
            <a:pPr eaLnBrk="1" hangingPunct="1"/>
            <a:r>
              <a:rPr lang="en-US" dirty="0" smtClean="0"/>
              <a:t>Classification Model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447800"/>
            <a:ext cx="8382000" cy="5105400"/>
          </a:xfrm>
          <a:noFill/>
        </p:spPr>
        <p:txBody>
          <a:bodyPr lIns="92075" tIns="46038" rIns="92075" bIns="46038">
            <a:normAutofit lnSpcReduction="10000"/>
          </a:bodyPr>
          <a:lstStyle/>
          <a:p>
            <a:pPr>
              <a:lnSpc>
                <a:spcPct val="130000"/>
              </a:lnSpc>
            </a:pPr>
            <a:r>
              <a:rPr lang="en-US" dirty="0" smtClean="0"/>
              <a:t>Classification: Basic Concepts</a:t>
            </a:r>
          </a:p>
          <a:p>
            <a:pPr>
              <a:lnSpc>
                <a:spcPct val="130000"/>
              </a:lnSpc>
            </a:pPr>
            <a:r>
              <a:rPr lang="en-US" dirty="0" smtClean="0"/>
              <a:t>Rule-Based Classification</a:t>
            </a:r>
          </a:p>
          <a:p>
            <a:pPr>
              <a:lnSpc>
                <a:spcPct val="130000"/>
              </a:lnSpc>
            </a:pPr>
            <a:r>
              <a:rPr lang="en-US" dirty="0" smtClean="0"/>
              <a:t>Decision Tree Induction</a:t>
            </a:r>
          </a:p>
          <a:p>
            <a:pPr>
              <a:lnSpc>
                <a:spcPct val="130000"/>
              </a:lnSpc>
            </a:pPr>
            <a:r>
              <a:rPr lang="en-US" dirty="0" err="1" smtClean="0"/>
              <a:t>Bayes</a:t>
            </a:r>
            <a:r>
              <a:rPr lang="en-US" dirty="0" smtClean="0"/>
              <a:t> Classification Methods</a:t>
            </a:r>
          </a:p>
          <a:p>
            <a:pPr>
              <a:lnSpc>
                <a:spcPct val="130000"/>
              </a:lnSpc>
            </a:pPr>
            <a:r>
              <a:rPr lang="en-IN" dirty="0" err="1" smtClean="0"/>
              <a:t>kNN</a:t>
            </a:r>
            <a:r>
              <a:rPr lang="en-IN" dirty="0" smtClean="0"/>
              <a:t> Classifier</a:t>
            </a:r>
            <a:endParaRPr lang="en-US" dirty="0" smtClean="0"/>
          </a:p>
          <a:p>
            <a:pPr>
              <a:lnSpc>
                <a:spcPct val="130000"/>
              </a:lnSpc>
            </a:pPr>
            <a:r>
              <a:rPr lang="en-US" dirty="0" smtClean="0"/>
              <a:t>Performance Evaluation</a:t>
            </a:r>
          </a:p>
          <a:p>
            <a:pPr>
              <a:lnSpc>
                <a:spcPct val="130000"/>
              </a:lnSpc>
            </a:pPr>
            <a:r>
              <a:rPr lang="en-US" dirty="0" smtClean="0"/>
              <a:t>Ensemble Classification</a:t>
            </a:r>
          </a:p>
          <a:p>
            <a:pPr>
              <a:lnSpc>
                <a:spcPct val="130000"/>
              </a:lnSpc>
            </a:pPr>
            <a:r>
              <a:rPr lang="en-US" dirty="0" smtClean="0"/>
              <a:t>Summary</a:t>
            </a:r>
          </a:p>
        </p:txBody>
      </p:sp>
      <p:sp>
        <p:nvSpPr>
          <p:cNvPr id="22532" name="AutoShape 8"/>
          <p:cNvSpPr>
            <a:spLocks noChangeArrowheads="1"/>
          </p:cNvSpPr>
          <p:nvPr/>
        </p:nvSpPr>
        <p:spPr bwMode="auto">
          <a:xfrm rot="9803581">
            <a:off x="5148721" y="3268678"/>
            <a:ext cx="533400" cy="381000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ext Box 1"/>
          <p:cNvSpPr txBox="1">
            <a:spLocks noChangeArrowheads="1"/>
          </p:cNvSpPr>
          <p:nvPr/>
        </p:nvSpPr>
        <p:spPr bwMode="auto">
          <a:xfrm>
            <a:off x="457200" y="320675"/>
            <a:ext cx="7239000" cy="1143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1475656" y="908720"/>
            <a:ext cx="55188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Basic Steps of Data Analysis</a:t>
            </a:r>
            <a:endParaRPr lang="en-US" sz="3600" dirty="0"/>
          </a:p>
        </p:txBody>
      </p:sp>
      <p:pic>
        <p:nvPicPr>
          <p:cNvPr id="3" name="Picture 2" descr="Untitled Diagr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988840"/>
            <a:ext cx="6264696" cy="36004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88369980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971800"/>
            <a:ext cx="8402638" cy="609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Bayesian Classifier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A8A04-1C0C-4C06-A72C-2BB05733F882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Bayes</a:t>
            </a:r>
            <a:r>
              <a:rPr lang="en-US" dirty="0" smtClean="0"/>
              <a:t>’ Theorem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Theorem: If                 be a given set of n </a:t>
            </a:r>
            <a:r>
              <a:rPr lang="en-US" sz="2400" dirty="0" err="1" smtClean="0"/>
              <a:t>pairwise</a:t>
            </a:r>
            <a:r>
              <a:rPr lang="en-US" sz="2400" dirty="0" smtClean="0"/>
              <a:t> mutually exclusive events, one of which certainly occurs, i.e.,</a:t>
            </a:r>
          </a:p>
          <a:p>
            <a:pPr>
              <a:buNone/>
            </a:pPr>
            <a:r>
              <a:rPr lang="en-US" sz="2400" dirty="0" smtClean="0"/>
              <a:t>                                   and                      , </a:t>
            </a:r>
            <a:r>
              <a:rPr lang="en-US" sz="2000" dirty="0" smtClean="0"/>
              <a:t>then for any arbitrary event X,</a:t>
            </a:r>
          </a:p>
          <a:p>
            <a:pPr>
              <a:buNone/>
            </a:pPr>
            <a:r>
              <a:rPr lang="en-US" sz="2000" dirty="0" smtClean="0"/>
              <a:t>  (</a:t>
            </a:r>
            <a:r>
              <a:rPr lang="en-US" sz="2000" dirty="0" err="1" smtClean="0"/>
              <a:t>i</a:t>
            </a:r>
            <a:r>
              <a:rPr lang="en-US" sz="2000" dirty="0" smtClean="0"/>
              <a:t>)  </a:t>
            </a:r>
          </a:p>
          <a:p>
            <a:pPr>
              <a:buNone/>
            </a:pPr>
            <a:r>
              <a:rPr lang="en-US" sz="2000" dirty="0" smtClean="0"/>
              <a:t>  (ii) </a:t>
            </a:r>
            <a:r>
              <a:rPr lang="en-US" sz="2000" dirty="0" err="1" smtClean="0">
                <a:solidFill>
                  <a:srgbClr val="FF0000"/>
                </a:solidFill>
              </a:rPr>
              <a:t>Bayes</a:t>
            </a:r>
            <a:r>
              <a:rPr lang="en-US" sz="2000" dirty="0" smtClean="0">
                <a:solidFill>
                  <a:srgbClr val="FF0000"/>
                </a:solidFill>
              </a:rPr>
              <a:t>’ theorem: </a:t>
            </a:r>
            <a:r>
              <a:rPr lang="en-US" sz="2000" dirty="0" smtClean="0"/>
              <a:t>if P(X) ≠ 0, 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Proof: For any event X, we have X=SX=                          = </a:t>
            </a:r>
          </a:p>
          <a:p>
            <a:pPr>
              <a:buNone/>
            </a:pPr>
            <a:r>
              <a:rPr lang="en-US" sz="2000" dirty="0" smtClean="0"/>
              <a:t>Since,  </a:t>
            </a:r>
          </a:p>
          <a:p>
            <a:pPr>
              <a:buNone/>
            </a:pPr>
            <a:r>
              <a:rPr lang="en-US" sz="2000" dirty="0" smtClean="0"/>
              <a:t>Therefore,                     are </a:t>
            </a:r>
            <a:r>
              <a:rPr lang="en-US" sz="2000" dirty="0" err="1" smtClean="0"/>
              <a:t>pairwise</a:t>
            </a:r>
            <a:r>
              <a:rPr lang="en-US" sz="2000" dirty="0" smtClean="0"/>
              <a:t> mutually exclusive events, and hence</a:t>
            </a:r>
          </a:p>
          <a:p>
            <a:pPr>
              <a:buNone/>
            </a:pPr>
            <a:r>
              <a:rPr lang="en-US" sz="2000" dirty="0" smtClean="0"/>
              <a:t>                                                                                           [Addition Rule]</a:t>
            </a:r>
          </a:p>
          <a:p>
            <a:pPr>
              <a:buNone/>
            </a:pPr>
            <a:r>
              <a:rPr lang="en-US" sz="2000" dirty="0" smtClean="0"/>
              <a:t>Since,                                [Multiplication Rule]</a:t>
            </a:r>
          </a:p>
          <a:p>
            <a:pPr>
              <a:buNone/>
            </a:pPr>
            <a:r>
              <a:rPr lang="en-US" sz="2000" dirty="0" smtClean="0"/>
              <a:t>Therefore,                                                                                   [(</a:t>
            </a:r>
            <a:r>
              <a:rPr lang="en-US" sz="2000" dirty="0" err="1" smtClean="0"/>
              <a:t>i</a:t>
            </a:r>
            <a:r>
              <a:rPr lang="en-US" sz="2000" dirty="0" smtClean="0"/>
              <a:t>) is proved]</a:t>
            </a:r>
          </a:p>
          <a:p>
            <a:pPr>
              <a:buNone/>
            </a:pPr>
            <a:endParaRPr lang="en-US" sz="2000" dirty="0"/>
          </a:p>
        </p:txBody>
      </p:sp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6865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438400" y="1143000"/>
            <a:ext cx="902970" cy="228600"/>
          </a:xfrm>
          <a:prstGeom prst="rect">
            <a:avLst/>
          </a:prstGeom>
          <a:noFill/>
        </p:spPr>
      </p:pic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14400" y="1899627"/>
            <a:ext cx="1905000" cy="214923"/>
          </a:xfrm>
          <a:prstGeom prst="rect">
            <a:avLst/>
          </a:prstGeom>
          <a:noFill/>
        </p:spPr>
      </p:pic>
      <p:sp>
        <p:nvSpPr>
          <p:cNvPr id="3687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6869" name="Picture 5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05200" y="1899557"/>
            <a:ext cx="1371600" cy="195943"/>
          </a:xfrm>
          <a:prstGeom prst="rect">
            <a:avLst/>
          </a:prstGeom>
          <a:noFill/>
        </p:spPr>
      </p:pic>
      <p:sp>
        <p:nvSpPr>
          <p:cNvPr id="36872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6871" name="Picture 7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66800" y="2362200"/>
            <a:ext cx="4491990" cy="228600"/>
          </a:xfrm>
          <a:prstGeom prst="rect">
            <a:avLst/>
          </a:prstGeom>
          <a:noFill/>
        </p:spPr>
      </p:pic>
      <p:sp>
        <p:nvSpPr>
          <p:cNvPr id="36873" name="Rectangle 9"/>
          <p:cNvSpPr>
            <a:spLocks noChangeArrowheads="1"/>
          </p:cNvSpPr>
          <p:nvPr/>
        </p:nvSpPr>
        <p:spPr bwMode="auto">
          <a:xfrm>
            <a:off x="0" y="647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6875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6874" name="Picture 10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219200" y="3038086"/>
            <a:ext cx="5257800" cy="390914"/>
          </a:xfrm>
          <a:prstGeom prst="rect">
            <a:avLst/>
          </a:prstGeom>
          <a:noFill/>
        </p:spPr>
      </p:pic>
      <p:sp>
        <p:nvSpPr>
          <p:cNvPr id="36876" name="Rectangle 12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6878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6877" name="Picture 13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495800" y="3810000"/>
            <a:ext cx="1371600" cy="203200"/>
          </a:xfrm>
          <a:prstGeom prst="rect">
            <a:avLst/>
          </a:prstGeom>
          <a:noFill/>
        </p:spPr>
      </p:pic>
      <p:sp>
        <p:nvSpPr>
          <p:cNvPr id="36880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6879" name="Picture 15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172200" y="3796585"/>
            <a:ext cx="1447800" cy="203915"/>
          </a:xfrm>
          <a:prstGeom prst="rect">
            <a:avLst/>
          </a:prstGeom>
          <a:noFill/>
        </p:spPr>
      </p:pic>
      <p:sp>
        <p:nvSpPr>
          <p:cNvPr id="36882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6881" name="Picture 17"/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295400" y="4191000"/>
            <a:ext cx="3528391" cy="228600"/>
          </a:xfrm>
          <a:prstGeom prst="rect">
            <a:avLst/>
          </a:prstGeom>
          <a:noFill/>
        </p:spPr>
      </p:pic>
      <p:sp>
        <p:nvSpPr>
          <p:cNvPr id="36884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6883" name="Picture 19"/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676400" y="4564944"/>
            <a:ext cx="1066800" cy="197556"/>
          </a:xfrm>
          <a:prstGeom prst="rect">
            <a:avLst/>
          </a:prstGeom>
          <a:noFill/>
        </p:spPr>
      </p:pic>
      <p:sp>
        <p:nvSpPr>
          <p:cNvPr id="36886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6885" name="Picture 21"/>
          <p:cNvPicPr>
            <a:picLocks noChangeAspect="1" noChangeArrowheads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09600" y="4953000"/>
            <a:ext cx="5040630" cy="228600"/>
          </a:xfrm>
          <a:prstGeom prst="rect">
            <a:avLst/>
          </a:prstGeom>
          <a:noFill/>
        </p:spPr>
      </p:pic>
      <p:sp>
        <p:nvSpPr>
          <p:cNvPr id="36888" name="Rectangle 2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6887" name="Picture 23"/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295400" y="5325284"/>
            <a:ext cx="1524000" cy="199216"/>
          </a:xfrm>
          <a:prstGeom prst="rect">
            <a:avLst/>
          </a:prstGeom>
          <a:noFill/>
        </p:spPr>
      </p:pic>
      <p:pic>
        <p:nvPicPr>
          <p:cNvPr id="28" name="Picture 7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752600" y="5638800"/>
            <a:ext cx="4491990" cy="228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Bayes</a:t>
            </a:r>
            <a:r>
              <a:rPr lang="en-US" dirty="0" smtClean="0"/>
              <a:t>’ Theorem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/>
              <a:t>We have already proved that </a:t>
            </a:r>
          </a:p>
          <a:p>
            <a:pPr>
              <a:buNone/>
            </a:pPr>
            <a:r>
              <a:rPr lang="en-US" sz="2000" dirty="0" smtClean="0"/>
              <a:t>Now we have to prove the </a:t>
            </a:r>
            <a:r>
              <a:rPr lang="en-US" sz="2000" dirty="0" err="1" smtClean="0">
                <a:solidFill>
                  <a:srgbClr val="FF0000"/>
                </a:solidFill>
              </a:rPr>
              <a:t>Bayes</a:t>
            </a:r>
            <a:r>
              <a:rPr lang="en-US" sz="2000" dirty="0" smtClean="0">
                <a:solidFill>
                  <a:srgbClr val="FF0000"/>
                </a:solidFill>
              </a:rPr>
              <a:t>’ theorem: i.e., </a:t>
            </a:r>
            <a:r>
              <a:rPr lang="en-US" sz="2000" dirty="0" smtClean="0"/>
              <a:t>if P(X) ≠ 0, 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Proof:                               [Multiplication Rule]</a:t>
            </a:r>
          </a:p>
          <a:p>
            <a:pPr>
              <a:buNone/>
            </a:pPr>
            <a:r>
              <a:rPr lang="en-US" sz="2000" dirty="0" smtClean="0"/>
              <a:t>  Also,                                   [Multiplication Rule]</a:t>
            </a:r>
          </a:p>
          <a:p>
            <a:pPr>
              <a:buNone/>
            </a:pPr>
            <a:r>
              <a:rPr lang="en-US" sz="2000" dirty="0" smtClean="0"/>
              <a:t>Hence, if P(X) ≠ 0, 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Thus the </a:t>
            </a:r>
            <a:r>
              <a:rPr lang="en-US" sz="2000" dirty="0" err="1" smtClean="0"/>
              <a:t>Bayes</a:t>
            </a:r>
            <a:r>
              <a:rPr lang="en-US" sz="2000" dirty="0" smtClean="0"/>
              <a:t>’ theorem is proved.</a:t>
            </a:r>
            <a:endParaRPr lang="en-US" sz="2000" dirty="0"/>
          </a:p>
        </p:txBody>
      </p:sp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687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6872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6873" name="Rectangle 9"/>
          <p:cNvSpPr>
            <a:spLocks noChangeArrowheads="1"/>
          </p:cNvSpPr>
          <p:nvPr/>
        </p:nvSpPr>
        <p:spPr bwMode="auto">
          <a:xfrm>
            <a:off x="0" y="647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6875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6874" name="Picture 10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14400" y="1752600"/>
            <a:ext cx="5257800" cy="390914"/>
          </a:xfrm>
          <a:prstGeom prst="rect">
            <a:avLst/>
          </a:prstGeom>
          <a:noFill/>
        </p:spPr>
      </p:pic>
      <p:sp>
        <p:nvSpPr>
          <p:cNvPr id="36876" name="Rectangle 12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6878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6880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6882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6884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6886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6888" name="Rectangle 2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6887" name="Picture 2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295400" y="2590800"/>
            <a:ext cx="1524000" cy="199216"/>
          </a:xfrm>
          <a:prstGeom prst="rect">
            <a:avLst/>
          </a:prstGeom>
          <a:noFill/>
        </p:spPr>
      </p:pic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7889" name="Picture 1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295400" y="2971800"/>
            <a:ext cx="1703070" cy="228600"/>
          </a:xfrm>
          <a:prstGeom prst="rect">
            <a:avLst/>
          </a:prstGeom>
          <a:noFill/>
        </p:spPr>
      </p:pic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7893" name="Rectangle 5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7895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7894" name="Picture 6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62000" y="3810000"/>
            <a:ext cx="7162799" cy="486438"/>
          </a:xfrm>
          <a:prstGeom prst="rect">
            <a:avLst/>
          </a:prstGeom>
          <a:noFill/>
        </p:spPr>
      </p:pic>
      <p:sp>
        <p:nvSpPr>
          <p:cNvPr id="37896" name="Rectangle 8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37" name="Picture 7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733800" y="1143000"/>
            <a:ext cx="4491990" cy="228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 on </a:t>
            </a:r>
            <a:r>
              <a:rPr lang="en-US" dirty="0" err="1" smtClean="0"/>
              <a:t>Bayes</a:t>
            </a:r>
            <a:r>
              <a:rPr lang="en-US" dirty="0" smtClean="0"/>
              <a:t>’ Theorem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Example-1: There are three identical urns containing white and black balls. The first urn contains 2 white and 3 black balls, the second urn 3 white and 5 black balls, and the third urn 5 white and 2 black balls. An urn is chosen at random, and a ball is drawn from it. If the ball drawn is white, what is the probability that the second urn is chosen?  </a:t>
            </a:r>
          </a:p>
          <a:p>
            <a:pPr>
              <a:buNone/>
            </a:pPr>
            <a:r>
              <a:rPr lang="en-US" sz="1800" b="1" dirty="0" smtClean="0"/>
              <a:t>Solution: ?</a:t>
            </a:r>
          </a:p>
          <a:p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 on </a:t>
            </a:r>
            <a:r>
              <a:rPr lang="en-US" dirty="0" err="1" smtClean="0"/>
              <a:t>Bayes</a:t>
            </a:r>
            <a:r>
              <a:rPr lang="en-US" dirty="0" smtClean="0"/>
              <a:t>’ Theorem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800" dirty="0" smtClean="0"/>
              <a:t>Example-1: There are three identical urns containing white and black balls. The first urn contains 2 white and 3 black balls, the second urn 3 white and 5 black balls, and the third urn 5 white and 2 black balls. An urn is chosen at random, and a ball is drawn from it. If the ball drawn is white, what is the probability that the second urn is chosen?  </a:t>
            </a:r>
          </a:p>
          <a:p>
            <a:pPr>
              <a:buNone/>
            </a:pPr>
            <a:r>
              <a:rPr lang="en-US" sz="1800" b="1" dirty="0" smtClean="0"/>
              <a:t>Solution: </a:t>
            </a:r>
          </a:p>
          <a:p>
            <a:r>
              <a:rPr lang="en-US" sz="1800" dirty="0" smtClean="0"/>
              <a:t>Let A</a:t>
            </a:r>
            <a:r>
              <a:rPr lang="en-US" sz="1800" baseline="-25000" dirty="0" smtClean="0"/>
              <a:t>1</a:t>
            </a:r>
            <a:r>
              <a:rPr lang="en-US" sz="1800" dirty="0" smtClean="0"/>
              <a:t>= the event that the ball is drawn from the first urn, A</a:t>
            </a:r>
            <a:r>
              <a:rPr lang="en-US" sz="1800" baseline="-25000" dirty="0" smtClean="0"/>
              <a:t>2</a:t>
            </a:r>
            <a:r>
              <a:rPr lang="en-US" sz="1800" dirty="0" smtClean="0"/>
              <a:t>= the event that the ball is drawn from the second urn, and A</a:t>
            </a:r>
            <a:r>
              <a:rPr lang="en-US" sz="1800" baseline="-25000" dirty="0" smtClean="0"/>
              <a:t>3</a:t>
            </a:r>
            <a:r>
              <a:rPr lang="en-US" sz="1800" dirty="0" smtClean="0"/>
              <a:t>= the event that the ball is drawn from the third urn. </a:t>
            </a:r>
          </a:p>
          <a:p>
            <a:r>
              <a:rPr lang="en-US" sz="1800" dirty="0" smtClean="0"/>
              <a:t>The events A</a:t>
            </a:r>
            <a:r>
              <a:rPr lang="en-US" sz="1800" baseline="-25000" dirty="0" smtClean="0"/>
              <a:t>1</a:t>
            </a:r>
            <a:r>
              <a:rPr lang="en-US" sz="1800" dirty="0" smtClean="0"/>
              <a:t>, A</a:t>
            </a:r>
            <a:r>
              <a:rPr lang="en-US" sz="1800" baseline="-25000" dirty="0" smtClean="0"/>
              <a:t>2</a:t>
            </a:r>
            <a:r>
              <a:rPr lang="en-US" sz="1800" dirty="0" smtClean="0"/>
              <a:t>, and A</a:t>
            </a:r>
            <a:r>
              <a:rPr lang="en-US" sz="1800" baseline="-25000" dirty="0" smtClean="0"/>
              <a:t>3</a:t>
            </a:r>
            <a:r>
              <a:rPr lang="en-US" sz="1800" dirty="0" smtClean="0"/>
              <a:t> are </a:t>
            </a:r>
            <a:r>
              <a:rPr lang="en-US" sz="1800" dirty="0" err="1" smtClean="0"/>
              <a:t>pairwise</a:t>
            </a:r>
            <a:r>
              <a:rPr lang="en-US" sz="1800" dirty="0" smtClean="0"/>
              <a:t> mutually exclusive, and one of these necessarily occurs. </a:t>
            </a:r>
          </a:p>
          <a:p>
            <a:r>
              <a:rPr lang="en-US" sz="1800" dirty="0" smtClean="0"/>
              <a:t>P(A</a:t>
            </a:r>
            <a:r>
              <a:rPr lang="en-US" sz="1800" baseline="-25000" dirty="0" smtClean="0"/>
              <a:t>1</a:t>
            </a:r>
            <a:r>
              <a:rPr lang="en-US" sz="1800" dirty="0" smtClean="0"/>
              <a:t>) is the probability that 1</a:t>
            </a:r>
            <a:r>
              <a:rPr lang="en-US" sz="1800" baseline="30000" dirty="0" smtClean="0"/>
              <a:t>st</a:t>
            </a:r>
            <a:r>
              <a:rPr lang="en-US" sz="1800" dirty="0" smtClean="0"/>
              <a:t> urn is chosen, and so on. So, P(A</a:t>
            </a:r>
            <a:r>
              <a:rPr lang="en-US" sz="1800" baseline="-25000" dirty="0" smtClean="0"/>
              <a:t>1</a:t>
            </a:r>
            <a:r>
              <a:rPr lang="en-US" sz="1800" dirty="0" smtClean="0"/>
              <a:t>)=P(A</a:t>
            </a:r>
            <a:r>
              <a:rPr lang="en-US" sz="1800" baseline="-25000" dirty="0" smtClean="0"/>
              <a:t>2</a:t>
            </a:r>
            <a:r>
              <a:rPr lang="en-US" sz="1800" dirty="0" smtClean="0"/>
              <a:t>)=P(A</a:t>
            </a:r>
            <a:r>
              <a:rPr lang="en-US" sz="1800" baseline="-25000" dirty="0" smtClean="0"/>
              <a:t>3</a:t>
            </a:r>
            <a:r>
              <a:rPr lang="en-US" sz="1800" dirty="0" smtClean="0"/>
              <a:t>)=1/3</a:t>
            </a:r>
          </a:p>
          <a:p>
            <a:r>
              <a:rPr lang="en-US" sz="1800" dirty="0" smtClean="0"/>
              <a:t>Let X=the event that ball drawn is white. So, P(X/A</a:t>
            </a:r>
            <a:r>
              <a:rPr lang="en-US" sz="1800" baseline="-25000" dirty="0" smtClean="0"/>
              <a:t>1</a:t>
            </a:r>
            <a:r>
              <a:rPr lang="en-US" sz="1800" dirty="0" smtClean="0"/>
              <a:t>)=2/5, P(X/A</a:t>
            </a:r>
            <a:r>
              <a:rPr lang="en-US" sz="1800" baseline="-25000" dirty="0" smtClean="0"/>
              <a:t>2</a:t>
            </a:r>
            <a:r>
              <a:rPr lang="en-US" sz="1800" dirty="0" smtClean="0"/>
              <a:t>)=3/8, P(X/A</a:t>
            </a:r>
            <a:r>
              <a:rPr lang="en-US" sz="1800" baseline="-25000" dirty="0" smtClean="0"/>
              <a:t>3</a:t>
            </a:r>
            <a:r>
              <a:rPr lang="en-US" sz="1800" dirty="0" smtClean="0"/>
              <a:t>)=5/7.</a:t>
            </a:r>
          </a:p>
          <a:p>
            <a:endParaRPr lang="en-US" sz="1800" dirty="0" smtClean="0">
              <a:solidFill>
                <a:srgbClr val="FF0000"/>
              </a:solidFill>
            </a:endParaRPr>
          </a:p>
          <a:p>
            <a:r>
              <a:rPr lang="en-US" sz="1800" dirty="0" smtClean="0">
                <a:solidFill>
                  <a:srgbClr val="FF0000"/>
                </a:solidFill>
              </a:rPr>
              <a:t>We have to compute P(A</a:t>
            </a:r>
            <a:r>
              <a:rPr lang="en-US" sz="1800" baseline="-25000" dirty="0" smtClean="0">
                <a:solidFill>
                  <a:srgbClr val="FF0000"/>
                </a:solidFill>
              </a:rPr>
              <a:t>2</a:t>
            </a:r>
            <a:r>
              <a:rPr lang="en-US" sz="1800" dirty="0" smtClean="0">
                <a:solidFill>
                  <a:srgbClr val="FF0000"/>
                </a:solidFill>
              </a:rPr>
              <a:t>/X)</a:t>
            </a:r>
          </a:p>
          <a:p>
            <a:endParaRPr lang="en-US" sz="1800" dirty="0" smtClean="0"/>
          </a:p>
          <a:p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 fontScale="90000"/>
          </a:bodyPr>
          <a:lstStyle/>
          <a:p>
            <a:r>
              <a:rPr lang="en-US" sz="2700" dirty="0" smtClean="0"/>
              <a:t/>
            </a:r>
            <a:br>
              <a:rPr lang="en-US" sz="2700" dirty="0" smtClean="0"/>
            </a:br>
            <a:r>
              <a:rPr lang="en-US" sz="2700" dirty="0" smtClean="0"/>
              <a:t/>
            </a:r>
            <a:br>
              <a:rPr lang="en-US" sz="2700" dirty="0" smtClean="0"/>
            </a:br>
            <a:r>
              <a:rPr lang="en-US" sz="2700" dirty="0" smtClean="0"/>
              <a:t>Example-1 Cont…</a:t>
            </a:r>
            <a:br>
              <a:rPr lang="en-US" sz="2700" dirty="0" smtClean="0"/>
            </a:br>
            <a:r>
              <a:rPr lang="en-US" sz="2700" dirty="0" smtClean="0">
                <a:solidFill>
                  <a:srgbClr val="FF0000"/>
                </a:solidFill>
              </a:rPr>
              <a:t>Compute P(A</a:t>
            </a:r>
            <a:r>
              <a:rPr lang="en-US" sz="2700" baseline="-25000" dirty="0" smtClean="0">
                <a:solidFill>
                  <a:srgbClr val="FF0000"/>
                </a:solidFill>
              </a:rPr>
              <a:t>2</a:t>
            </a:r>
            <a:r>
              <a:rPr lang="en-US" sz="2700" dirty="0" smtClean="0">
                <a:solidFill>
                  <a:srgbClr val="FF0000"/>
                </a:solidFill>
              </a:rPr>
              <a:t>/X)</a:t>
            </a:r>
            <a:r>
              <a:rPr lang="en-US" dirty="0" smtClean="0">
                <a:solidFill>
                  <a:srgbClr val="FF0000"/>
                </a:solidFill>
              </a:rPr>
              <a:t/>
            </a:r>
            <a:br>
              <a:rPr lang="en-US" dirty="0" smtClean="0">
                <a:solidFill>
                  <a:srgbClr val="FF0000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r>
              <a:rPr lang="en-US" dirty="0" smtClean="0"/>
              <a:t>P(X)=P(A</a:t>
            </a:r>
            <a:r>
              <a:rPr lang="en-US" baseline="-25000" dirty="0" smtClean="0"/>
              <a:t>1</a:t>
            </a:r>
            <a:r>
              <a:rPr lang="en-US" dirty="0" smtClean="0"/>
              <a:t>)P(X/A</a:t>
            </a:r>
            <a:r>
              <a:rPr lang="en-US" baseline="-25000" dirty="0" smtClean="0"/>
              <a:t>1</a:t>
            </a:r>
            <a:r>
              <a:rPr lang="en-US" dirty="0" smtClean="0"/>
              <a:t>) + P(A</a:t>
            </a:r>
            <a:r>
              <a:rPr lang="en-US" baseline="-25000" dirty="0" smtClean="0"/>
              <a:t>2</a:t>
            </a:r>
            <a:r>
              <a:rPr lang="en-US" dirty="0" smtClean="0"/>
              <a:t>)P(X/A</a:t>
            </a:r>
            <a:r>
              <a:rPr lang="en-US" baseline="-25000" dirty="0" smtClean="0"/>
              <a:t>2</a:t>
            </a:r>
            <a:r>
              <a:rPr lang="en-US" dirty="0" smtClean="0"/>
              <a:t>)+P(A</a:t>
            </a:r>
            <a:r>
              <a:rPr lang="en-US" baseline="-25000" dirty="0" smtClean="0"/>
              <a:t>3</a:t>
            </a:r>
            <a:r>
              <a:rPr lang="en-US" dirty="0" smtClean="0"/>
              <a:t>)P(X/A</a:t>
            </a:r>
            <a:r>
              <a:rPr lang="en-US" baseline="-25000" dirty="0" smtClean="0"/>
              <a:t>3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/>
              <a:t>           =(1/3)(2/5)+ (1/3)(3/8)+ (1/3)(5/7)</a:t>
            </a:r>
          </a:p>
          <a:p>
            <a:pPr>
              <a:buNone/>
            </a:pPr>
            <a:r>
              <a:rPr lang="en-US" dirty="0" smtClean="0"/>
              <a:t>           =(1/3)[2/5+3/8+5/7]</a:t>
            </a:r>
          </a:p>
          <a:p>
            <a:pPr>
              <a:buNone/>
            </a:pPr>
            <a:r>
              <a:rPr lang="en-US" dirty="0" smtClean="0"/>
              <a:t>           =(1/3)(417/280) = 139/280</a:t>
            </a:r>
          </a:p>
          <a:p>
            <a:r>
              <a:rPr lang="en-US" dirty="0" smtClean="0"/>
              <a:t>So, By </a:t>
            </a:r>
            <a:r>
              <a:rPr lang="en-US" dirty="0" err="1" smtClean="0"/>
              <a:t>Bayes</a:t>
            </a:r>
            <a:r>
              <a:rPr lang="en-US" dirty="0" smtClean="0"/>
              <a:t>’ theorem:</a:t>
            </a:r>
          </a:p>
          <a:p>
            <a:pPr>
              <a:buNone/>
            </a:pPr>
            <a:r>
              <a:rPr lang="en-US" dirty="0" smtClean="0"/>
              <a:t>  P(A</a:t>
            </a:r>
            <a:r>
              <a:rPr lang="en-US" baseline="-25000" dirty="0" smtClean="0"/>
              <a:t>2</a:t>
            </a:r>
            <a:r>
              <a:rPr lang="en-US" dirty="0" smtClean="0"/>
              <a:t>/X) = [P(X/A</a:t>
            </a:r>
            <a:r>
              <a:rPr lang="en-US" baseline="-25000" dirty="0" smtClean="0"/>
              <a:t>2</a:t>
            </a:r>
            <a:r>
              <a:rPr lang="en-US" dirty="0" smtClean="0"/>
              <a:t>) P(A</a:t>
            </a:r>
            <a:r>
              <a:rPr lang="en-US" baseline="-25000" dirty="0" smtClean="0"/>
              <a:t>2</a:t>
            </a:r>
            <a:r>
              <a:rPr lang="en-US" dirty="0" smtClean="0"/>
              <a:t>)]/ P(X)</a:t>
            </a:r>
          </a:p>
          <a:p>
            <a:pPr>
              <a:buNone/>
            </a:pPr>
            <a:r>
              <a:rPr lang="en-US" dirty="0" smtClean="0"/>
              <a:t>              = [(3/8)(1/3)] / (139/280)</a:t>
            </a:r>
          </a:p>
          <a:p>
            <a:pPr>
              <a:buNone/>
            </a:pPr>
            <a:r>
              <a:rPr lang="en-US" dirty="0" smtClean="0"/>
              <a:t>              =35/139 (Ans.)</a:t>
            </a:r>
          </a:p>
          <a:p>
            <a:endParaRPr lang="en-US" dirty="0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Example-2: LAPLACE’S URN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There are (N+1) identical urns marked 0,1,2,…,N, each of which contains N white and black balls. The </a:t>
            </a:r>
            <a:r>
              <a:rPr lang="en-US" sz="2400" dirty="0" err="1" smtClean="0"/>
              <a:t>i-th</a:t>
            </a:r>
            <a:r>
              <a:rPr lang="en-US" sz="2400" dirty="0" smtClean="0"/>
              <a:t> urn contains </a:t>
            </a:r>
            <a:r>
              <a:rPr lang="en-US" sz="2400" dirty="0" err="1" smtClean="0"/>
              <a:t>i</a:t>
            </a:r>
            <a:r>
              <a:rPr lang="en-US" sz="2400" dirty="0" smtClean="0"/>
              <a:t> black and N-</a:t>
            </a:r>
            <a:r>
              <a:rPr lang="en-US" sz="2400" dirty="0" err="1" smtClean="0"/>
              <a:t>i</a:t>
            </a:r>
            <a:r>
              <a:rPr lang="en-US" sz="2400" dirty="0" smtClean="0"/>
              <a:t> white balls (</a:t>
            </a:r>
            <a:r>
              <a:rPr lang="en-US" sz="2400" dirty="0" err="1" smtClean="0"/>
              <a:t>i</a:t>
            </a:r>
            <a:r>
              <a:rPr lang="en-US" sz="2400" dirty="0" smtClean="0"/>
              <a:t>=0,1,2,…,N). An urn is chosen at random, and n random drawings are made from it, the ball drawn being always replaced. If all the n balls turn out to be black, what is the probability that the next ball drawn will also be black?</a:t>
            </a:r>
          </a:p>
          <a:p>
            <a:pPr>
              <a:buNone/>
            </a:pPr>
            <a:r>
              <a:rPr lang="en-US" sz="2400" dirty="0" smtClean="0"/>
              <a:t>Solution: </a:t>
            </a:r>
          </a:p>
          <a:p>
            <a:r>
              <a:rPr lang="en-US" sz="2400" dirty="0" smtClean="0"/>
              <a:t>Let       =the event that the </a:t>
            </a:r>
            <a:r>
              <a:rPr lang="en-US" sz="2400" dirty="0" err="1" smtClean="0"/>
              <a:t>i-th</a:t>
            </a:r>
            <a:r>
              <a:rPr lang="en-US" sz="2400" dirty="0" smtClean="0"/>
              <a:t> urn is chosen. So, the events</a:t>
            </a:r>
          </a:p>
          <a:p>
            <a:pPr>
              <a:buNone/>
            </a:pPr>
            <a:r>
              <a:rPr lang="en-US" sz="2400" dirty="0" smtClean="0"/>
              <a:t>                 are </a:t>
            </a:r>
            <a:r>
              <a:rPr lang="en-US" sz="2400" dirty="0" err="1" smtClean="0"/>
              <a:t>pairwise</a:t>
            </a:r>
            <a:r>
              <a:rPr lang="en-US" sz="2400" dirty="0" smtClean="0"/>
              <a:t> mutually exclusive, one of which certainly occurs. Obviously,                  , for </a:t>
            </a:r>
            <a:r>
              <a:rPr lang="en-US" sz="2400" dirty="0" err="1" smtClean="0"/>
              <a:t>i</a:t>
            </a:r>
            <a:r>
              <a:rPr lang="en-US" sz="2400" dirty="0" smtClean="0"/>
              <a:t>=0,1,2,…,N.</a:t>
            </a:r>
            <a:endParaRPr lang="en-US" sz="2400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447800" y="4191000"/>
            <a:ext cx="228600" cy="326571"/>
          </a:xfrm>
          <a:prstGeom prst="rect">
            <a:avLst/>
          </a:prstGeom>
          <a:noFill/>
        </p:spPr>
      </p:pic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62000" y="4629150"/>
            <a:ext cx="838200" cy="209550"/>
          </a:xfrm>
          <a:prstGeom prst="rect">
            <a:avLst/>
          </a:prstGeom>
          <a:noFill/>
        </p:spPr>
      </p:pic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647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276600" y="5010359"/>
            <a:ext cx="914400" cy="361741"/>
          </a:xfrm>
          <a:prstGeom prst="rect">
            <a:avLst/>
          </a:prstGeom>
          <a:noFill/>
        </p:spPr>
      </p:pic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8001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sz="2700" dirty="0" smtClean="0"/>
              <a:t>Example-2 Cont..</a:t>
            </a:r>
            <a:r>
              <a:rPr lang="en-US" dirty="0" smtClean="0"/>
              <a:t>: LAPLACE’S URN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Let  X = the event that all n balls drawn are black. So,</a:t>
            </a:r>
          </a:p>
          <a:p>
            <a:pPr>
              <a:buNone/>
            </a:pPr>
            <a:r>
              <a:rPr lang="en-US" sz="2400" dirty="0" smtClean="0"/>
              <a:t>                                                         </a:t>
            </a:r>
          </a:p>
          <a:p>
            <a:r>
              <a:rPr lang="en-US" sz="2400" dirty="0" smtClean="0"/>
              <a:t>                                                                              …….(1)</a:t>
            </a:r>
          </a:p>
          <a:p>
            <a:endParaRPr lang="en-US" sz="2400" dirty="0" smtClean="0"/>
          </a:p>
          <a:p>
            <a:r>
              <a:rPr lang="en-US" sz="2400" dirty="0" smtClean="0"/>
              <a:t>Let Y=the event that (n+1)</a:t>
            </a:r>
            <a:r>
              <a:rPr lang="en-US" sz="2400" dirty="0" err="1" smtClean="0"/>
              <a:t>th</a:t>
            </a:r>
            <a:r>
              <a:rPr lang="en-US" sz="2400" dirty="0" smtClean="0"/>
              <a:t> ball drawn is black. The XY=the event that all the n+1 balls drawn are black. So, replacing n by n+1 in (1), we get :</a:t>
            </a:r>
          </a:p>
          <a:p>
            <a:endParaRPr lang="en-US" sz="2400" dirty="0" smtClean="0"/>
          </a:p>
          <a:p>
            <a:r>
              <a:rPr lang="en-US" sz="2400" dirty="0" smtClean="0"/>
              <a:t>Hence the required probability is:  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                                                                                 ………(2)</a:t>
            </a: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647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8001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993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9937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14400" y="1475014"/>
            <a:ext cx="990600" cy="391886"/>
          </a:xfrm>
          <a:prstGeom prst="rect">
            <a:avLst/>
          </a:prstGeom>
          <a:noFill/>
        </p:spPr>
      </p:pic>
      <p:sp>
        <p:nvSpPr>
          <p:cNvPr id="39939" name="Rectangle 3"/>
          <p:cNvSpPr>
            <a:spLocks noChangeArrowheads="1"/>
          </p:cNvSpPr>
          <p:nvPr/>
        </p:nvSpPr>
        <p:spPr bwMode="auto">
          <a:xfrm>
            <a:off x="0" y="8001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9941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9940" name="Picture 4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90600" y="1884485"/>
            <a:ext cx="5029200" cy="515815"/>
          </a:xfrm>
          <a:prstGeom prst="rect">
            <a:avLst/>
          </a:prstGeom>
          <a:noFill/>
        </p:spPr>
      </p:pic>
      <p:sp>
        <p:nvSpPr>
          <p:cNvPr id="39942" name="Rectangle 6"/>
          <p:cNvSpPr>
            <a:spLocks noChangeArrowheads="1"/>
          </p:cNvSpPr>
          <p:nvPr/>
        </p:nvSpPr>
        <p:spPr bwMode="auto">
          <a:xfrm>
            <a:off x="0" y="9525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9944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9943" name="Picture 7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276600" y="3505200"/>
            <a:ext cx="1676400" cy="534802"/>
          </a:xfrm>
          <a:prstGeom prst="rect">
            <a:avLst/>
          </a:prstGeom>
          <a:noFill/>
        </p:spPr>
      </p:pic>
      <p:sp>
        <p:nvSpPr>
          <p:cNvPr id="39945" name="Rectangle 9"/>
          <p:cNvSpPr>
            <a:spLocks noChangeArrowheads="1"/>
          </p:cNvSpPr>
          <p:nvPr/>
        </p:nvSpPr>
        <p:spPr bwMode="auto">
          <a:xfrm>
            <a:off x="0" y="9525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9947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9946" name="Picture 10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752600" y="4889754"/>
            <a:ext cx="2819400" cy="859917"/>
          </a:xfrm>
          <a:prstGeom prst="rect">
            <a:avLst/>
          </a:prstGeom>
          <a:noFill/>
        </p:spPr>
      </p:pic>
      <p:sp>
        <p:nvSpPr>
          <p:cNvPr id="39948" name="Rectangle 12"/>
          <p:cNvSpPr>
            <a:spLocks noChangeArrowheads="1"/>
          </p:cNvSpPr>
          <p:nvPr/>
        </p:nvSpPr>
        <p:spPr bwMode="auto">
          <a:xfrm>
            <a:off x="0" y="1038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sz="2700" dirty="0" smtClean="0"/>
              <a:t>Example-2 Cont..</a:t>
            </a:r>
            <a:r>
              <a:rPr lang="en-US" dirty="0" smtClean="0"/>
              <a:t>: LAPLACE’S URN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/>
          <a:lstStyle/>
          <a:p>
            <a:r>
              <a:rPr lang="en-US" sz="2000" dirty="0" smtClean="0"/>
              <a:t>If N is very large:   In this case,</a:t>
            </a:r>
          </a:p>
          <a:p>
            <a:pPr>
              <a:buNone/>
            </a:pPr>
            <a:r>
              <a:rPr lang="en-US" dirty="0" smtClean="0"/>
              <a:t>                                       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sz="2400" dirty="0" smtClean="0"/>
              <a:t>Therefore, </a:t>
            </a:r>
          </a:p>
          <a:p>
            <a:endParaRPr lang="en-US" dirty="0" smtClean="0"/>
          </a:p>
          <a:p>
            <a:r>
              <a:rPr lang="en-US" sz="2400" dirty="0" smtClean="0"/>
              <a:t>This is called the law of succession </a:t>
            </a:r>
          </a:p>
          <a:p>
            <a:pPr>
              <a:buNone/>
            </a:pPr>
            <a:r>
              <a:rPr lang="en-US" sz="2400" dirty="0" smtClean="0"/>
              <a:t>      of Laplace.</a:t>
            </a:r>
          </a:p>
          <a:p>
            <a:pPr>
              <a:buNone/>
            </a:pPr>
            <a:r>
              <a:rPr lang="en-US" dirty="0" smtClean="0"/>
              <a:t>    </a:t>
            </a:r>
            <a:endParaRPr lang="en-US" dirty="0"/>
          </a:p>
        </p:txBody>
      </p:sp>
      <p:sp>
        <p:nvSpPr>
          <p:cNvPr id="4096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0961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90600" y="1752600"/>
            <a:ext cx="2948354" cy="628338"/>
          </a:xfrm>
          <a:prstGeom prst="rect">
            <a:avLst/>
          </a:prstGeom>
          <a:noFill/>
        </p:spPr>
      </p:pic>
      <p:sp>
        <p:nvSpPr>
          <p:cNvPr id="40964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14400" y="2514600"/>
            <a:ext cx="3282463" cy="609600"/>
          </a:xfrm>
          <a:prstGeom prst="rect">
            <a:avLst/>
          </a:prstGeom>
          <a:noFill/>
        </p:spPr>
      </p:pic>
      <p:sp>
        <p:nvSpPr>
          <p:cNvPr id="40965" name="Rectangle 5"/>
          <p:cNvSpPr>
            <a:spLocks noChangeArrowheads="1"/>
          </p:cNvSpPr>
          <p:nvPr/>
        </p:nvSpPr>
        <p:spPr bwMode="auto">
          <a:xfrm>
            <a:off x="0" y="9525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0967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0966" name="Picture 6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057400" y="3505200"/>
            <a:ext cx="2667000" cy="643032"/>
          </a:xfrm>
          <a:prstGeom prst="rect">
            <a:avLst/>
          </a:prstGeom>
          <a:noFill/>
        </p:spPr>
      </p:pic>
      <p:sp>
        <p:nvSpPr>
          <p:cNvPr id="40968" name="Rectangle 8"/>
          <p:cNvSpPr>
            <a:spLocks noChangeArrowheads="1"/>
          </p:cNvSpPr>
          <p:nvPr/>
        </p:nvSpPr>
        <p:spPr bwMode="auto">
          <a:xfrm>
            <a:off x="0" y="1038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6146" name="Picture 2" descr="https://img.brainkart.com/imagebk39/vykjHYG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029200" y="838200"/>
            <a:ext cx="3232023" cy="1295400"/>
          </a:xfrm>
          <a:prstGeom prst="rect">
            <a:avLst/>
          </a:prstGeom>
          <a:noFill/>
        </p:spPr>
      </p:pic>
      <p:pic>
        <p:nvPicPr>
          <p:cNvPr id="6148" name="Picture 4" descr="https://img.brainkart.com/imagebk39/WCso8gT.jp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410200" y="2209800"/>
            <a:ext cx="3276600" cy="403013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D674AB43-681F-4B7D-A604-B0B051921CE2}" type="slidenum">
              <a:rPr lang="en-US"/>
              <a:pPr/>
              <a:t>12</a:t>
            </a:fld>
            <a:endParaRPr lang="en-US"/>
          </a:p>
        </p:txBody>
      </p:sp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696200" cy="685800"/>
          </a:xfrm>
          <a:noFill/>
        </p:spPr>
        <p:txBody>
          <a:bodyPr lIns="92075" tIns="46038" rIns="92075" bIns="46038" anchor="ctr">
            <a:normAutofit fontScale="90000"/>
          </a:bodyPr>
          <a:lstStyle/>
          <a:p>
            <a:pPr eaLnBrk="1" hangingPunct="1"/>
            <a:r>
              <a:rPr lang="en-US" dirty="0" smtClean="0"/>
              <a:t>Naïve Bayesian Classification</a:t>
            </a:r>
            <a:endParaRPr lang="en-US" sz="2400" dirty="0" smtClean="0"/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8458200" cy="3733800"/>
          </a:xfrm>
          <a:noFill/>
        </p:spPr>
        <p:txBody>
          <a:bodyPr lIns="92075" tIns="46038" rIns="92075" bIns="46038">
            <a:normAutofit fontScale="92500" lnSpcReduction="200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u="sng" dirty="0" smtClean="0"/>
              <a:t>A statistical classifier</a:t>
            </a:r>
            <a:r>
              <a:rPr lang="en-US" dirty="0" smtClean="0"/>
              <a:t>: performs </a:t>
            </a:r>
            <a:r>
              <a:rPr lang="en-US" i="1" dirty="0" smtClean="0"/>
              <a:t>probabilistic prediction, i.e.,</a:t>
            </a:r>
            <a:r>
              <a:rPr lang="en-US" dirty="0" smtClean="0"/>
              <a:t> predicts class membership probabilities</a:t>
            </a:r>
          </a:p>
          <a:p>
            <a:pPr eaLnBrk="1" hangingPunct="1">
              <a:lnSpc>
                <a:spcPct val="110000"/>
              </a:lnSpc>
            </a:pPr>
            <a:r>
              <a:rPr lang="en-US" u="sng" dirty="0" smtClean="0"/>
              <a:t>Foundation:</a:t>
            </a:r>
            <a:r>
              <a:rPr lang="en-US" dirty="0" smtClean="0"/>
              <a:t> Based on </a:t>
            </a:r>
            <a:r>
              <a:rPr lang="en-US" dirty="0" err="1" smtClean="0"/>
              <a:t>Bayes</a:t>
            </a:r>
            <a:r>
              <a:rPr lang="ja-JP" altLang="en-US" smtClean="0"/>
              <a:t>’</a:t>
            </a:r>
            <a:r>
              <a:rPr lang="en-US" altLang="ja-JP" dirty="0" smtClean="0"/>
              <a:t> Theorem. </a:t>
            </a:r>
          </a:p>
          <a:p>
            <a:pPr eaLnBrk="1" hangingPunct="1">
              <a:lnSpc>
                <a:spcPct val="110000"/>
              </a:lnSpc>
            </a:pPr>
            <a:r>
              <a:rPr lang="en-US" u="sng" dirty="0" smtClean="0"/>
              <a:t>Performance:</a:t>
            </a:r>
            <a:r>
              <a:rPr lang="en-US" dirty="0" smtClean="0"/>
              <a:t> A simple Bayesian classifier, </a:t>
            </a:r>
            <a:r>
              <a:rPr lang="en-US" i="1" dirty="0" smtClean="0"/>
              <a:t>naïve Bayesian classifier</a:t>
            </a:r>
            <a:r>
              <a:rPr lang="en-US" dirty="0" smtClean="0"/>
              <a:t>, has comparable performance with decision tree and selected neural network classifiers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Bayesian Classification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8A9D77-8E78-4F80-9077-1B8906CB5587}" type="datetime4">
              <a:rPr lang="en-US" smtClean="0"/>
              <a:pPr>
                <a:defRPr/>
              </a:pPr>
              <a:t>March 6,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Data Mining: Concepts and Techniques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64B65B-CD9A-4522-9E02-4F31596921B4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524000"/>
            <a:ext cx="79248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Bayesian Classification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8A9D77-8E78-4F80-9077-1B8906CB5587}" type="datetime4">
              <a:rPr lang="en-US" smtClean="0"/>
              <a:pPr>
                <a:defRPr/>
              </a:pPr>
              <a:t>March 6,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Data Mining: Concepts and Techniques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64B65B-CD9A-4522-9E02-4F31596921B4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1524000"/>
            <a:ext cx="7620000" cy="4571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D3817FEC-2093-495C-88C5-07A363A72FDA}" type="slidenum">
              <a:rPr lang="en-US"/>
              <a:pPr/>
              <a:t>15</a:t>
            </a:fld>
            <a:endParaRPr lang="en-US"/>
          </a:p>
        </p:txBody>
      </p:sp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848600" cy="762000"/>
          </a:xfrm>
        </p:spPr>
        <p:txBody>
          <a:bodyPr/>
          <a:lstStyle/>
          <a:p>
            <a:pPr eaLnBrk="1" hangingPunct="1"/>
            <a:r>
              <a:rPr lang="en-US" smtClean="0"/>
              <a:t>Bayes</a:t>
            </a:r>
            <a:r>
              <a:rPr lang="ja-JP" altLang="en-US" smtClean="0"/>
              <a:t>’</a:t>
            </a:r>
            <a:r>
              <a:rPr lang="en-US" altLang="ja-JP" smtClean="0"/>
              <a:t> Theorem: Basics</a:t>
            </a:r>
            <a:endParaRPr lang="en-US" smtClean="0"/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610600" cy="5410200"/>
          </a:xfrm>
        </p:spPr>
        <p:txBody>
          <a:bodyPr/>
          <a:lstStyle/>
          <a:p>
            <a:pPr eaLnBrk="1" hangingPunct="1"/>
            <a:r>
              <a:rPr lang="en-US" sz="2000" dirty="0" err="1" smtClean="0"/>
              <a:t>Bayes</a:t>
            </a:r>
            <a:r>
              <a:rPr lang="ja-JP" altLang="en-US" sz="2000" smtClean="0"/>
              <a:t>’</a:t>
            </a:r>
            <a:r>
              <a:rPr lang="en-US" altLang="ja-JP" sz="2000" dirty="0" smtClean="0"/>
              <a:t> Theorem:</a:t>
            </a:r>
          </a:p>
          <a:p>
            <a:pPr eaLnBrk="1" hangingPunct="1"/>
            <a:endParaRPr lang="en-US" sz="2000" dirty="0" smtClean="0"/>
          </a:p>
          <a:p>
            <a:pPr lvl="1" eaLnBrk="1" hangingPunct="1"/>
            <a:r>
              <a:rPr lang="en-US" sz="2000" dirty="0" smtClean="0"/>
              <a:t>Let </a:t>
            </a:r>
            <a:r>
              <a:rPr lang="en-US" sz="2000" b="1" dirty="0" smtClean="0"/>
              <a:t>X</a:t>
            </a:r>
            <a:r>
              <a:rPr lang="en-US" sz="2000" dirty="0" smtClean="0"/>
              <a:t> be a data sample</a:t>
            </a:r>
            <a:r>
              <a:rPr lang="en-US" altLang="ja-JP" sz="2000" dirty="0" smtClean="0"/>
              <a:t>: class label is unknown</a:t>
            </a:r>
          </a:p>
          <a:p>
            <a:pPr lvl="1" eaLnBrk="1" hangingPunct="1"/>
            <a:r>
              <a:rPr lang="en-US" sz="2000" dirty="0" smtClean="0"/>
              <a:t>Let H be a </a:t>
            </a:r>
            <a:r>
              <a:rPr lang="en-US" sz="2000" i="1" dirty="0" smtClean="0"/>
              <a:t>hypothesis</a:t>
            </a:r>
            <a:r>
              <a:rPr lang="en-US" sz="2000" dirty="0" smtClean="0"/>
              <a:t> that X belongs to class C </a:t>
            </a:r>
          </a:p>
          <a:p>
            <a:pPr lvl="1" eaLnBrk="1" hangingPunct="1"/>
            <a:r>
              <a:rPr lang="en-US" sz="2000" dirty="0" smtClean="0"/>
              <a:t>Classification is to determine P(H|</a:t>
            </a:r>
            <a:r>
              <a:rPr lang="en-US" sz="2000" b="1" dirty="0" smtClean="0"/>
              <a:t>X</a:t>
            </a:r>
            <a:r>
              <a:rPr lang="en-US" sz="2000" dirty="0" smtClean="0"/>
              <a:t>), (i.e., </a:t>
            </a:r>
            <a:r>
              <a:rPr lang="en-US" sz="2000" i="1" dirty="0" smtClean="0"/>
              <a:t>posteriori probability): </a:t>
            </a:r>
            <a:r>
              <a:rPr lang="en-US" sz="2000" dirty="0" smtClean="0"/>
              <a:t> the probability that the hypothesis holds given the observed data sample </a:t>
            </a:r>
            <a:r>
              <a:rPr lang="en-US" sz="2000" b="1" dirty="0" smtClean="0"/>
              <a:t>X</a:t>
            </a:r>
          </a:p>
          <a:p>
            <a:pPr lvl="1" eaLnBrk="1" hangingPunct="1"/>
            <a:r>
              <a:rPr lang="en-US" sz="2000" dirty="0" smtClean="0"/>
              <a:t>P(H) (</a:t>
            </a:r>
            <a:r>
              <a:rPr lang="en-US" sz="2000" i="1" dirty="0" smtClean="0"/>
              <a:t>prior probability</a:t>
            </a:r>
            <a:r>
              <a:rPr lang="en-US" sz="2000" dirty="0" smtClean="0"/>
              <a:t>): the initial probability</a:t>
            </a:r>
          </a:p>
          <a:p>
            <a:pPr lvl="2" eaLnBrk="1" hangingPunct="1"/>
            <a:r>
              <a:rPr lang="en-US" sz="2000" dirty="0" smtClean="0"/>
              <a:t>E.g.,</a:t>
            </a:r>
            <a:r>
              <a:rPr lang="en-US" sz="2000" b="1" dirty="0" smtClean="0"/>
              <a:t> X</a:t>
            </a:r>
            <a:r>
              <a:rPr lang="en-US" sz="2000" dirty="0" smtClean="0"/>
              <a:t> will buy computer, regardless of age, income, student, </a:t>
            </a:r>
            <a:r>
              <a:rPr lang="en-US" sz="2000" dirty="0" err="1" smtClean="0"/>
              <a:t>credit_rating</a:t>
            </a:r>
            <a:r>
              <a:rPr lang="en-US" sz="2000" dirty="0" smtClean="0"/>
              <a:t>.</a:t>
            </a:r>
          </a:p>
          <a:p>
            <a:pPr lvl="1" eaLnBrk="1" hangingPunct="1"/>
            <a:r>
              <a:rPr lang="en-US" sz="2000" dirty="0" smtClean="0"/>
              <a:t>P(</a:t>
            </a:r>
            <a:r>
              <a:rPr lang="en-US" sz="2000" b="1" dirty="0" smtClean="0"/>
              <a:t>X</a:t>
            </a:r>
            <a:r>
              <a:rPr lang="en-US" sz="2000" dirty="0" smtClean="0"/>
              <a:t>): probability that sample data is observed</a:t>
            </a:r>
          </a:p>
          <a:p>
            <a:pPr lvl="1" eaLnBrk="1" hangingPunct="1"/>
            <a:r>
              <a:rPr lang="en-US" sz="2000" dirty="0" smtClean="0"/>
              <a:t>P(</a:t>
            </a:r>
            <a:r>
              <a:rPr lang="en-US" sz="2000" b="1" dirty="0" smtClean="0"/>
              <a:t>X</a:t>
            </a:r>
            <a:r>
              <a:rPr lang="en-US" sz="2000" dirty="0" smtClean="0"/>
              <a:t>|H) : the probability of observing the sample </a:t>
            </a:r>
            <a:r>
              <a:rPr lang="en-US" sz="2000" b="1" dirty="0" smtClean="0"/>
              <a:t>X</a:t>
            </a:r>
            <a:r>
              <a:rPr lang="en-US" sz="2000" dirty="0" smtClean="0"/>
              <a:t>, given that the hypothesis holds</a:t>
            </a:r>
          </a:p>
          <a:p>
            <a:pPr lvl="2" eaLnBrk="1" hangingPunct="1"/>
            <a:r>
              <a:rPr lang="en-US" sz="2000" dirty="0" smtClean="0"/>
              <a:t>E.g.,</a:t>
            </a:r>
            <a:r>
              <a:rPr lang="en-US" sz="2000" b="1" dirty="0" smtClean="0"/>
              <a:t> </a:t>
            </a:r>
            <a:r>
              <a:rPr lang="en-US" sz="2000" dirty="0" smtClean="0"/>
              <a:t>Given that</a:t>
            </a:r>
            <a:r>
              <a:rPr lang="en-US" sz="2000" b="1" dirty="0" smtClean="0"/>
              <a:t> X</a:t>
            </a:r>
            <a:r>
              <a:rPr lang="en-US" sz="2000" dirty="0" smtClean="0"/>
              <a:t> will buy computer, the prob. that X is 31..40, medium income</a:t>
            </a:r>
          </a:p>
        </p:txBody>
      </p:sp>
      <p:graphicFrame>
        <p:nvGraphicFramePr>
          <p:cNvPr id="86021" name="Object 1"/>
          <p:cNvGraphicFramePr>
            <a:graphicFrameLocks noChangeAspect="1"/>
          </p:cNvGraphicFramePr>
          <p:nvPr/>
        </p:nvGraphicFramePr>
        <p:xfrm>
          <a:off x="2667000" y="1219200"/>
          <a:ext cx="6080125" cy="615950"/>
        </p:xfrm>
        <a:graphic>
          <a:graphicData uri="http://schemas.openxmlformats.org/presentationml/2006/ole">
            <p:oleObj spid="_x0000_s1026" name="Equation" r:id="rId4" imgW="4813300" imgH="558800" progId="Equation.3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86F06E0E-1011-4B36-8D6C-082C0BB298B5}" type="slidenum">
              <a:rPr lang="en-US"/>
              <a:pPr/>
              <a:t>16</a:t>
            </a:fld>
            <a:endParaRPr lang="en-US"/>
          </a:p>
        </p:txBody>
      </p:sp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Prediction Based on Bayes</a:t>
            </a:r>
            <a:r>
              <a:rPr lang="ja-JP" altLang="en-US" smtClean="0"/>
              <a:t>’</a:t>
            </a:r>
            <a:r>
              <a:rPr lang="en-US" altLang="ja-JP" smtClean="0"/>
              <a:t> Theorem</a:t>
            </a:r>
            <a:endParaRPr lang="en-US" smtClean="0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458200" cy="50292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sz="2400" dirty="0" smtClean="0"/>
              <a:t>Given training data</a:t>
            </a:r>
            <a:r>
              <a:rPr lang="en-US" sz="2400" i="1" dirty="0" smtClean="0"/>
              <a:t> </a:t>
            </a:r>
            <a:r>
              <a:rPr lang="en-US" sz="2400" b="1" dirty="0" smtClean="0"/>
              <a:t>X</a:t>
            </a:r>
            <a:r>
              <a:rPr lang="en-US" sz="2400" i="1" dirty="0" smtClean="0"/>
              <a:t>, posteriori probability of a hypothesis </a:t>
            </a:r>
            <a:r>
              <a:rPr lang="en-US" sz="2400" dirty="0" smtClean="0"/>
              <a:t>H</a:t>
            </a:r>
            <a:r>
              <a:rPr lang="en-US" sz="2400" i="1" dirty="0" smtClean="0"/>
              <a:t>, </a:t>
            </a:r>
            <a:r>
              <a:rPr lang="en-US" sz="2400" dirty="0" smtClean="0"/>
              <a:t>P(H|</a:t>
            </a:r>
            <a:r>
              <a:rPr lang="en-US" sz="2400" b="1" dirty="0" smtClean="0"/>
              <a:t>X</a:t>
            </a:r>
            <a:r>
              <a:rPr lang="en-US" sz="2400" dirty="0" smtClean="0"/>
              <a:t>)</a:t>
            </a:r>
            <a:r>
              <a:rPr lang="en-US" sz="2400" i="1" dirty="0" smtClean="0"/>
              <a:t>, </a:t>
            </a:r>
            <a:r>
              <a:rPr lang="en-US" sz="2400" dirty="0" smtClean="0"/>
              <a:t>follows the </a:t>
            </a:r>
            <a:r>
              <a:rPr lang="en-US" sz="2400" dirty="0" err="1" smtClean="0"/>
              <a:t>Bayes</a:t>
            </a:r>
            <a:r>
              <a:rPr lang="ja-JP" altLang="en-US" sz="2400" smtClean="0"/>
              <a:t>’</a:t>
            </a:r>
            <a:r>
              <a:rPr lang="en-US" altLang="ja-JP" sz="2400" dirty="0" smtClean="0"/>
              <a:t> theorem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sz="2400" dirty="0" smtClean="0"/>
              <a:t>			</a:t>
            </a:r>
          </a:p>
          <a:p>
            <a:pPr eaLnBrk="1" hangingPunct="1">
              <a:lnSpc>
                <a:spcPct val="120000"/>
              </a:lnSpc>
            </a:pPr>
            <a:endParaRPr lang="en-US" sz="2400" dirty="0" smtClean="0"/>
          </a:p>
          <a:p>
            <a:pPr eaLnBrk="1" hangingPunct="1">
              <a:lnSpc>
                <a:spcPct val="120000"/>
              </a:lnSpc>
            </a:pPr>
            <a:r>
              <a:rPr lang="en-US" sz="2400" dirty="0" smtClean="0"/>
              <a:t>Predicts </a:t>
            </a:r>
            <a:r>
              <a:rPr lang="en-US" sz="2400" b="1" dirty="0" smtClean="0"/>
              <a:t>X</a:t>
            </a:r>
            <a:r>
              <a:rPr lang="en-US" sz="2400" dirty="0" smtClean="0"/>
              <a:t> belongs to </a:t>
            </a:r>
            <a:r>
              <a:rPr lang="en-US" sz="2400" dirty="0" err="1" smtClean="0"/>
              <a:t>C</a:t>
            </a:r>
            <a:r>
              <a:rPr lang="en-US" sz="2400" baseline="-250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iff</a:t>
            </a:r>
            <a:r>
              <a:rPr lang="en-US" sz="2400" dirty="0" smtClean="0"/>
              <a:t> the probability P(</a:t>
            </a:r>
            <a:r>
              <a:rPr lang="en-US" sz="2400" dirty="0" err="1" smtClean="0"/>
              <a:t>C</a:t>
            </a:r>
            <a:r>
              <a:rPr lang="en-US" sz="2400" baseline="-25000" dirty="0" err="1" smtClean="0"/>
              <a:t>i</a:t>
            </a:r>
            <a:r>
              <a:rPr lang="en-US" sz="2400" dirty="0" err="1" smtClean="0"/>
              <a:t>|</a:t>
            </a:r>
            <a:r>
              <a:rPr lang="en-US" sz="2400" b="1" dirty="0" err="1" smtClean="0"/>
              <a:t>X</a:t>
            </a:r>
            <a:r>
              <a:rPr lang="en-US" sz="2400" dirty="0" smtClean="0"/>
              <a:t>) is the highest among all the P(</a:t>
            </a:r>
            <a:r>
              <a:rPr lang="en-US" sz="2400" dirty="0" err="1" smtClean="0"/>
              <a:t>C</a:t>
            </a:r>
            <a:r>
              <a:rPr lang="en-US" sz="2400" baseline="-25000" dirty="0" err="1" smtClean="0"/>
              <a:t>k</a:t>
            </a:r>
            <a:r>
              <a:rPr lang="en-US" sz="2400" dirty="0" err="1" smtClean="0"/>
              <a:t>|X</a:t>
            </a:r>
            <a:r>
              <a:rPr lang="en-US" sz="2400" dirty="0" smtClean="0"/>
              <a:t>) for all the </a:t>
            </a:r>
            <a:r>
              <a:rPr lang="en-US" sz="2400" i="1" dirty="0" smtClean="0"/>
              <a:t>k</a:t>
            </a:r>
            <a:r>
              <a:rPr lang="en-US" sz="2400" dirty="0" smtClean="0"/>
              <a:t> classes</a:t>
            </a:r>
          </a:p>
          <a:p>
            <a:pPr eaLnBrk="1" hangingPunct="1">
              <a:lnSpc>
                <a:spcPct val="120000"/>
              </a:lnSpc>
            </a:pPr>
            <a:r>
              <a:rPr lang="en-US" sz="2400" dirty="0" smtClean="0"/>
              <a:t>Practical difficulty:  It requires initial knowledge of many probabilities, involving significant computational cost</a:t>
            </a:r>
          </a:p>
        </p:txBody>
      </p:sp>
      <p:graphicFrame>
        <p:nvGraphicFramePr>
          <p:cNvPr id="88068" name="Object 4"/>
          <p:cNvGraphicFramePr>
            <a:graphicFrameLocks noChangeAspect="1"/>
          </p:cNvGraphicFramePr>
          <p:nvPr/>
        </p:nvGraphicFramePr>
        <p:xfrm>
          <a:off x="990600" y="2438400"/>
          <a:ext cx="7585075" cy="768350"/>
        </p:xfrm>
        <a:graphic>
          <a:graphicData uri="http://schemas.openxmlformats.org/presentationml/2006/ole">
            <p:oleObj spid="_x0000_s2050" name="Equation" r:id="rId4" imgW="4813300" imgH="558800" progId="Equation.3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Number Placeholder 7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62972390-6BEE-4E3E-A071-A347B4159B33}" type="slidenum">
              <a:rPr lang="en-US"/>
              <a:pPr/>
              <a:t>17</a:t>
            </a:fld>
            <a:endParaRPr lang="en-US"/>
          </a:p>
        </p:txBody>
      </p:sp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-228600" y="304800"/>
            <a:ext cx="9601200" cy="609600"/>
          </a:xfrm>
        </p:spPr>
        <p:txBody>
          <a:bodyPr/>
          <a:lstStyle/>
          <a:p>
            <a:pPr eaLnBrk="1" hangingPunct="1"/>
            <a:r>
              <a:rPr lang="en-US" sz="3200" smtClean="0"/>
              <a:t>Classification Is to Derive the Maximum Posteriori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219200"/>
            <a:ext cx="8458200" cy="5181600"/>
          </a:xfrm>
        </p:spPr>
        <p:txBody>
          <a:bodyPr/>
          <a:lstStyle/>
          <a:p>
            <a:pPr eaLnBrk="1" hangingPunct="1"/>
            <a:r>
              <a:rPr lang="en-US" sz="2400" dirty="0" smtClean="0"/>
              <a:t>Let D be a training set of </a:t>
            </a:r>
            <a:r>
              <a:rPr lang="en-US" sz="2400" dirty="0" err="1" smtClean="0"/>
              <a:t>tuples</a:t>
            </a:r>
            <a:r>
              <a:rPr lang="en-US" sz="2400" dirty="0" smtClean="0"/>
              <a:t> and their associated class labels, and each </a:t>
            </a:r>
            <a:r>
              <a:rPr lang="en-US" sz="2400" dirty="0" err="1" smtClean="0"/>
              <a:t>tuple</a:t>
            </a:r>
            <a:r>
              <a:rPr lang="en-US" sz="2400" dirty="0" smtClean="0"/>
              <a:t> is represented by an n-D attribute vector </a:t>
            </a:r>
            <a:r>
              <a:rPr lang="en-US" sz="2400" b="1" dirty="0" smtClean="0"/>
              <a:t>X</a:t>
            </a:r>
            <a:r>
              <a:rPr lang="en-US" sz="2400" dirty="0" smtClean="0"/>
              <a:t> = (x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, x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, …, </a:t>
            </a:r>
            <a:r>
              <a:rPr lang="en-US" sz="2400" dirty="0" err="1" smtClean="0"/>
              <a:t>x</a:t>
            </a:r>
            <a:r>
              <a:rPr lang="en-US" sz="2400" baseline="-25000" dirty="0" err="1" smtClean="0"/>
              <a:t>n</a:t>
            </a:r>
            <a:r>
              <a:rPr lang="en-US" sz="2400" dirty="0" smtClean="0"/>
              <a:t>)</a:t>
            </a:r>
          </a:p>
          <a:p>
            <a:pPr eaLnBrk="1" hangingPunct="1"/>
            <a:r>
              <a:rPr lang="en-US" sz="2400" dirty="0" smtClean="0"/>
              <a:t>Suppose there are </a:t>
            </a:r>
            <a:r>
              <a:rPr lang="en-US" sz="2400" i="1" dirty="0" smtClean="0"/>
              <a:t>m</a:t>
            </a:r>
            <a:r>
              <a:rPr lang="en-US" sz="2400" dirty="0" smtClean="0"/>
              <a:t> classes C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, C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, …, C</a:t>
            </a:r>
            <a:r>
              <a:rPr lang="en-US" sz="2400" baseline="-25000" dirty="0" smtClean="0"/>
              <a:t>m</a:t>
            </a:r>
            <a:r>
              <a:rPr lang="en-US" sz="2400" dirty="0" smtClean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Classification is to derive the maximum posteriori, i.e., the maximal P(</a:t>
            </a:r>
            <a:r>
              <a:rPr lang="en-US" sz="2400" dirty="0" err="1" smtClean="0"/>
              <a:t>C</a:t>
            </a:r>
            <a:r>
              <a:rPr lang="en-US" sz="2400" baseline="-25000" dirty="0" err="1" smtClean="0"/>
              <a:t>i</a:t>
            </a:r>
            <a:r>
              <a:rPr lang="en-US" sz="2400" dirty="0" err="1" smtClean="0"/>
              <a:t>|</a:t>
            </a:r>
            <a:r>
              <a:rPr lang="en-US" sz="2400" b="1" dirty="0" err="1" smtClean="0"/>
              <a:t>X</a:t>
            </a:r>
            <a:r>
              <a:rPr lang="en-US" sz="2400" dirty="0" smtClean="0"/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This can be derived from </a:t>
            </a:r>
            <a:r>
              <a:rPr lang="en-US" sz="2400" dirty="0" err="1" smtClean="0"/>
              <a:t>Bayes</a:t>
            </a:r>
            <a:r>
              <a:rPr lang="ja-JP" altLang="en-US" sz="2400" smtClean="0"/>
              <a:t>’</a:t>
            </a:r>
            <a:r>
              <a:rPr lang="en-US" altLang="ja-JP" sz="2400" dirty="0" smtClean="0"/>
              <a:t> theorem</a:t>
            </a:r>
          </a:p>
          <a:p>
            <a:pPr eaLnBrk="1" hangingPunct="1">
              <a:lnSpc>
                <a:spcPct val="90000"/>
              </a:lnSpc>
            </a:pPr>
            <a:endParaRPr lang="en-US" sz="2400" dirty="0" smtClean="0"/>
          </a:p>
          <a:p>
            <a:pPr eaLnBrk="1" hangingPunct="1">
              <a:lnSpc>
                <a:spcPct val="90000"/>
              </a:lnSpc>
            </a:pPr>
            <a:endParaRPr lang="en-US" sz="2400" dirty="0" smtClean="0"/>
          </a:p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Since P(X) is constant for all classes, so only                                        </a:t>
            </a:r>
          </a:p>
          <a:p>
            <a:pPr eaLnBrk="1" hangingPunct="1">
              <a:lnSpc>
                <a:spcPct val="90000"/>
              </a:lnSpc>
            </a:pPr>
            <a:endParaRPr lang="en-US" sz="2400" dirty="0" smtClean="0"/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 smtClean="0"/>
              <a:t>needs to be maximized</a:t>
            </a:r>
          </a:p>
        </p:txBody>
      </p:sp>
      <p:graphicFrame>
        <p:nvGraphicFramePr>
          <p:cNvPr id="90116" name="Object 5"/>
          <p:cNvGraphicFramePr>
            <a:graphicFrameLocks noChangeAspect="1"/>
          </p:cNvGraphicFramePr>
          <p:nvPr>
            <p:ph sz="quarter" idx="2"/>
          </p:nvPr>
        </p:nvGraphicFramePr>
        <p:xfrm>
          <a:off x="4648200" y="3962400"/>
          <a:ext cx="2743200" cy="709613"/>
        </p:xfrm>
        <a:graphic>
          <a:graphicData uri="http://schemas.openxmlformats.org/presentationml/2006/ole">
            <p:oleObj spid="_x0000_s3074" name="Equation" r:id="rId4" imgW="2501900" imgH="647700" progId="Equation.3">
              <p:embed/>
            </p:oleObj>
          </a:graphicData>
        </a:graphic>
      </p:graphicFrame>
      <p:graphicFrame>
        <p:nvGraphicFramePr>
          <p:cNvPr id="90117" name="Object 7"/>
          <p:cNvGraphicFramePr>
            <a:graphicFrameLocks noChangeAspect="1"/>
          </p:cNvGraphicFramePr>
          <p:nvPr>
            <p:ph sz="quarter" idx="3"/>
          </p:nvPr>
        </p:nvGraphicFramePr>
        <p:xfrm>
          <a:off x="4191000" y="5181600"/>
          <a:ext cx="2895600" cy="446088"/>
        </p:xfrm>
        <a:graphic>
          <a:graphicData uri="http://schemas.openxmlformats.org/presentationml/2006/ole">
            <p:oleObj spid="_x0000_s3075" name="Equation" r:id="rId5" imgW="2476500" imgH="381000" progId="Equation.3">
              <p:embed/>
            </p:oleObj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Slide Number Placeholder 7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CDE73855-6868-4168-96C9-E7CCCA4A438B}" type="slidenum">
              <a:rPr lang="en-US"/>
              <a:pPr/>
              <a:t>18</a:t>
            </a:fld>
            <a:endParaRPr lang="en-US"/>
          </a:p>
        </p:txBody>
      </p:sp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81000"/>
            <a:ext cx="8402638" cy="533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Naïve Bayes Classifier 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295400"/>
            <a:ext cx="8382000" cy="5410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A simplified assumption: attributes are conditionally independent (i.e., no dependence relation between attributes):</a:t>
            </a:r>
          </a:p>
          <a:p>
            <a:pPr eaLnBrk="1" hangingPunct="1">
              <a:lnSpc>
                <a:spcPct val="90000"/>
              </a:lnSpc>
            </a:pPr>
            <a:endParaRPr lang="en-US" sz="2400" dirty="0" smtClean="0"/>
          </a:p>
          <a:p>
            <a:pPr eaLnBrk="1" hangingPunct="1">
              <a:lnSpc>
                <a:spcPct val="90000"/>
              </a:lnSpc>
            </a:pPr>
            <a:endParaRPr lang="en-US" sz="2400" dirty="0" smtClean="0"/>
          </a:p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This greatly reduces the computation cost: Only counts the class distribution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If </a:t>
            </a:r>
            <a:r>
              <a:rPr lang="en-US" sz="2400" dirty="0" err="1" smtClean="0"/>
              <a:t>A</a:t>
            </a:r>
            <a:r>
              <a:rPr lang="en-US" sz="2400" baseline="-25000" dirty="0" err="1" smtClean="0"/>
              <a:t>k</a:t>
            </a:r>
            <a:r>
              <a:rPr lang="en-US" sz="2400" dirty="0" smtClean="0"/>
              <a:t> is categorical, P(</a:t>
            </a:r>
            <a:r>
              <a:rPr lang="en-US" sz="2400" dirty="0" err="1" smtClean="0"/>
              <a:t>x</a:t>
            </a:r>
            <a:r>
              <a:rPr lang="en-US" sz="2400" baseline="-25000" dirty="0" err="1" smtClean="0"/>
              <a:t>k</a:t>
            </a:r>
            <a:r>
              <a:rPr lang="en-US" sz="2400" dirty="0" err="1" smtClean="0"/>
              <a:t>|C</a:t>
            </a:r>
            <a:r>
              <a:rPr lang="en-US" sz="2400" baseline="-25000" dirty="0" err="1" smtClean="0"/>
              <a:t>i</a:t>
            </a:r>
            <a:r>
              <a:rPr lang="en-US" sz="2400" dirty="0" smtClean="0"/>
              <a:t>) is the # of </a:t>
            </a:r>
            <a:r>
              <a:rPr lang="en-US" sz="2400" dirty="0" err="1" smtClean="0"/>
              <a:t>tuples</a:t>
            </a:r>
            <a:r>
              <a:rPr lang="en-US" sz="2400" dirty="0" smtClean="0"/>
              <a:t> in </a:t>
            </a:r>
            <a:r>
              <a:rPr lang="en-US" sz="2400" dirty="0" err="1" smtClean="0"/>
              <a:t>C</a:t>
            </a:r>
            <a:r>
              <a:rPr lang="en-US" sz="2400" baseline="-25000" dirty="0" err="1" smtClean="0"/>
              <a:t>i</a:t>
            </a:r>
            <a:r>
              <a:rPr lang="en-US" sz="2400" dirty="0" smtClean="0"/>
              <a:t> having value </a:t>
            </a:r>
            <a:r>
              <a:rPr lang="en-US" sz="2400" dirty="0" err="1" smtClean="0"/>
              <a:t>x</a:t>
            </a:r>
            <a:r>
              <a:rPr lang="en-US" sz="2400" baseline="-25000" dirty="0" err="1" smtClean="0"/>
              <a:t>k</a:t>
            </a:r>
            <a:r>
              <a:rPr lang="en-US" sz="2400" dirty="0" smtClean="0"/>
              <a:t> for </a:t>
            </a:r>
            <a:r>
              <a:rPr lang="en-US" sz="2400" dirty="0" err="1" smtClean="0"/>
              <a:t>A</a:t>
            </a:r>
            <a:r>
              <a:rPr lang="en-US" sz="2400" baseline="-25000" dirty="0" err="1" smtClean="0"/>
              <a:t>k</a:t>
            </a:r>
            <a:r>
              <a:rPr lang="en-US" sz="2400" dirty="0" smtClean="0"/>
              <a:t> divided by |</a:t>
            </a:r>
            <a:r>
              <a:rPr lang="en-US" sz="2400" dirty="0" err="1" smtClean="0"/>
              <a:t>C</a:t>
            </a:r>
            <a:r>
              <a:rPr lang="en-US" sz="2400" baseline="-25000" dirty="0" err="1" smtClean="0"/>
              <a:t>i</a:t>
            </a:r>
            <a:r>
              <a:rPr lang="en-US" sz="2400" baseline="-25000" dirty="0" smtClean="0"/>
              <a:t>, D</a:t>
            </a:r>
            <a:r>
              <a:rPr lang="en-US" sz="2400" dirty="0" smtClean="0"/>
              <a:t>| (# of </a:t>
            </a:r>
            <a:r>
              <a:rPr lang="en-US" sz="2400" dirty="0" err="1" smtClean="0"/>
              <a:t>tuples</a:t>
            </a:r>
            <a:r>
              <a:rPr lang="en-US" sz="2400" dirty="0" smtClean="0"/>
              <a:t> of </a:t>
            </a:r>
            <a:r>
              <a:rPr lang="en-US" sz="2400" dirty="0" err="1" smtClean="0"/>
              <a:t>C</a:t>
            </a:r>
            <a:r>
              <a:rPr lang="en-US" sz="2400" baseline="-25000" dirty="0" err="1" smtClean="0"/>
              <a:t>i</a:t>
            </a:r>
            <a:r>
              <a:rPr lang="en-US" sz="2400" dirty="0" smtClean="0"/>
              <a:t> in D)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If </a:t>
            </a:r>
            <a:r>
              <a:rPr lang="en-US" sz="2400" dirty="0" err="1" smtClean="0"/>
              <a:t>A</a:t>
            </a:r>
            <a:r>
              <a:rPr lang="en-US" sz="2400" baseline="-25000" dirty="0" err="1" smtClean="0"/>
              <a:t>k</a:t>
            </a:r>
            <a:r>
              <a:rPr lang="en-US" sz="2400" dirty="0" smtClean="0"/>
              <a:t> is </a:t>
            </a:r>
            <a:r>
              <a:rPr lang="en-US" sz="2400" dirty="0" err="1" smtClean="0"/>
              <a:t>continous</a:t>
            </a:r>
            <a:r>
              <a:rPr lang="en-US" sz="2400" dirty="0" smtClean="0"/>
              <a:t>-valued, P(</a:t>
            </a:r>
            <a:r>
              <a:rPr lang="en-US" sz="2400" dirty="0" err="1" smtClean="0"/>
              <a:t>x</a:t>
            </a:r>
            <a:r>
              <a:rPr lang="en-US" sz="2400" baseline="-25000" dirty="0" err="1" smtClean="0"/>
              <a:t>k</a:t>
            </a:r>
            <a:r>
              <a:rPr lang="en-US" sz="2400" dirty="0" err="1" smtClean="0"/>
              <a:t>|C</a:t>
            </a:r>
            <a:r>
              <a:rPr lang="en-US" sz="2400" baseline="-25000" dirty="0" err="1" smtClean="0"/>
              <a:t>i</a:t>
            </a:r>
            <a:r>
              <a:rPr lang="en-US" sz="2400" dirty="0" smtClean="0"/>
              <a:t>) is usually computed based on Gaussian distribution with a mean </a:t>
            </a:r>
            <a:r>
              <a:rPr lang="el-GR" sz="2400" dirty="0" smtClean="0"/>
              <a:t>μ</a:t>
            </a:r>
            <a:r>
              <a:rPr lang="en-US" sz="2400" dirty="0" smtClean="0"/>
              <a:t> and standard deviation </a:t>
            </a:r>
            <a:r>
              <a:rPr lang="el-GR" sz="2400" dirty="0" smtClean="0"/>
              <a:t>σ</a:t>
            </a:r>
          </a:p>
          <a:p>
            <a:pPr eaLnBrk="1" hangingPunct="1">
              <a:lnSpc>
                <a:spcPct val="90000"/>
              </a:lnSpc>
            </a:pPr>
            <a:endParaRPr lang="en-US" sz="2400" dirty="0" smtClean="0"/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400" dirty="0" smtClean="0"/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400" dirty="0" smtClean="0"/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 smtClean="0"/>
              <a:t>and P(</a:t>
            </a:r>
            <a:r>
              <a:rPr lang="en-US" sz="2400" dirty="0" err="1" smtClean="0"/>
              <a:t>x</a:t>
            </a:r>
            <a:r>
              <a:rPr lang="en-US" sz="2400" baseline="-25000" dirty="0" err="1" smtClean="0"/>
              <a:t>k</a:t>
            </a:r>
            <a:r>
              <a:rPr lang="en-US" sz="2400" dirty="0" err="1" smtClean="0"/>
              <a:t>|C</a:t>
            </a:r>
            <a:r>
              <a:rPr lang="en-US" sz="2400" baseline="-25000" dirty="0" err="1" smtClean="0"/>
              <a:t>i</a:t>
            </a:r>
            <a:r>
              <a:rPr lang="en-US" sz="2400" dirty="0" smtClean="0"/>
              <a:t>) = </a:t>
            </a:r>
          </a:p>
        </p:txBody>
      </p:sp>
      <p:graphicFrame>
        <p:nvGraphicFramePr>
          <p:cNvPr id="92164" name="Object 10"/>
          <p:cNvGraphicFramePr>
            <a:graphicFrameLocks noGrp="1"/>
          </p:cNvGraphicFramePr>
          <p:nvPr>
            <p:ph sz="quarter" idx="2"/>
          </p:nvPr>
        </p:nvGraphicFramePr>
        <p:xfrm>
          <a:off x="2133600" y="1997075"/>
          <a:ext cx="6172200" cy="898525"/>
        </p:xfrm>
        <a:graphic>
          <a:graphicData uri="http://schemas.openxmlformats.org/presentationml/2006/ole">
            <p:oleObj spid="_x0000_s4098" name="Equation" r:id="rId4" imgW="4089400" imgH="508000" progId="Equation.3">
              <p:embed/>
            </p:oleObj>
          </a:graphicData>
        </a:graphic>
      </p:graphicFrame>
      <p:graphicFrame>
        <p:nvGraphicFramePr>
          <p:cNvPr id="92165" name="Object 12"/>
          <p:cNvGraphicFramePr>
            <a:graphicFrameLocks/>
          </p:cNvGraphicFramePr>
          <p:nvPr>
            <p:ph sz="quarter" idx="3"/>
          </p:nvPr>
        </p:nvGraphicFramePr>
        <p:xfrm>
          <a:off x="1295400" y="5105400"/>
          <a:ext cx="3657600" cy="990600"/>
        </p:xfrm>
        <a:graphic>
          <a:graphicData uri="http://schemas.openxmlformats.org/presentationml/2006/ole">
            <p:oleObj spid="_x0000_s4099" name="Equation" r:id="rId5" imgW="1663700" imgH="482600" progId="Equation.3">
              <p:embed/>
            </p:oleObj>
          </a:graphicData>
        </a:graphic>
      </p:graphicFrame>
      <p:graphicFrame>
        <p:nvGraphicFramePr>
          <p:cNvPr id="92166" name="Object 14"/>
          <p:cNvGraphicFramePr>
            <a:graphicFrameLocks/>
          </p:cNvGraphicFramePr>
          <p:nvPr/>
        </p:nvGraphicFramePr>
        <p:xfrm>
          <a:off x="2667000" y="6096000"/>
          <a:ext cx="1563687" cy="533400"/>
        </p:xfrm>
        <a:graphic>
          <a:graphicData uri="http://schemas.openxmlformats.org/presentationml/2006/ole">
            <p:oleObj spid="_x0000_s4100" name="Equation" r:id="rId6" imgW="901440" imgH="241200" progId="Equation.3">
              <p:embed/>
            </p:oleObj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CCE4C554-6E88-43A3-80BE-A1CD9650AF1E}" type="slidenum">
              <a:rPr lang="en-US"/>
              <a:pPr/>
              <a:t>19</a:t>
            </a:fld>
            <a:endParaRPr lang="en-US"/>
          </a:p>
        </p:txBody>
      </p:sp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Naïve Bayes Classifier: Training Dataset</a:t>
            </a:r>
          </a:p>
        </p:txBody>
      </p:sp>
      <p:sp>
        <p:nvSpPr>
          <p:cNvPr id="94211" name="Text Box 4"/>
          <p:cNvSpPr txBox="1">
            <a:spLocks noChangeArrowheads="1"/>
          </p:cNvSpPr>
          <p:nvPr/>
        </p:nvSpPr>
        <p:spPr bwMode="auto">
          <a:xfrm>
            <a:off x="152400" y="1828800"/>
            <a:ext cx="3429000" cy="3748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sz="2400">
                <a:latin typeface="Calibri" pitchFamily="34" charset="0"/>
              </a:rPr>
              <a:t>Class:</a:t>
            </a:r>
          </a:p>
          <a:p>
            <a:pPr>
              <a:lnSpc>
                <a:spcPct val="110000"/>
              </a:lnSpc>
            </a:pPr>
            <a:r>
              <a:rPr lang="en-US" sz="2400">
                <a:latin typeface="Calibri" pitchFamily="34" charset="0"/>
              </a:rPr>
              <a:t>C1:buys_computer = </a:t>
            </a:r>
            <a:r>
              <a:rPr lang="ja-JP" altLang="en-US" sz="2400">
                <a:latin typeface="Calibri" pitchFamily="34" charset="0"/>
              </a:rPr>
              <a:t>‘</a:t>
            </a:r>
            <a:r>
              <a:rPr lang="en-US" altLang="ja-JP" sz="2400">
                <a:latin typeface="Calibri" pitchFamily="34" charset="0"/>
              </a:rPr>
              <a:t>yes</a:t>
            </a:r>
            <a:r>
              <a:rPr lang="ja-JP" altLang="en-US" sz="2400">
                <a:latin typeface="Calibri" pitchFamily="34" charset="0"/>
              </a:rPr>
              <a:t>’</a:t>
            </a:r>
            <a:endParaRPr lang="en-US" altLang="ja-JP" sz="2400">
              <a:latin typeface="Calibri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2400">
                <a:latin typeface="Calibri" pitchFamily="34" charset="0"/>
              </a:rPr>
              <a:t>C2:buys_computer = </a:t>
            </a:r>
            <a:r>
              <a:rPr lang="ja-JP" altLang="en-US" sz="2400">
                <a:latin typeface="Calibri" pitchFamily="34" charset="0"/>
              </a:rPr>
              <a:t>‘</a:t>
            </a:r>
            <a:r>
              <a:rPr lang="en-US" altLang="ja-JP" sz="2400">
                <a:latin typeface="Calibri" pitchFamily="34" charset="0"/>
              </a:rPr>
              <a:t>no</a:t>
            </a:r>
            <a:r>
              <a:rPr lang="ja-JP" altLang="en-US" sz="2400">
                <a:latin typeface="Calibri" pitchFamily="34" charset="0"/>
              </a:rPr>
              <a:t>’</a:t>
            </a:r>
            <a:endParaRPr lang="en-US" altLang="ja-JP" sz="2400">
              <a:latin typeface="Calibri" pitchFamily="34" charset="0"/>
            </a:endParaRPr>
          </a:p>
          <a:p>
            <a:pPr>
              <a:lnSpc>
                <a:spcPct val="110000"/>
              </a:lnSpc>
            </a:pPr>
            <a:endParaRPr lang="en-US" sz="2400">
              <a:latin typeface="Calibri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2400">
                <a:latin typeface="Calibri" pitchFamily="34" charset="0"/>
              </a:rPr>
              <a:t>Data to be classified: </a:t>
            </a:r>
          </a:p>
          <a:p>
            <a:pPr>
              <a:lnSpc>
                <a:spcPct val="110000"/>
              </a:lnSpc>
            </a:pPr>
            <a:r>
              <a:rPr lang="en-US" sz="2400">
                <a:latin typeface="Calibri" pitchFamily="34" charset="0"/>
              </a:rPr>
              <a:t>X = (age &lt;=30, </a:t>
            </a:r>
          </a:p>
          <a:p>
            <a:pPr>
              <a:lnSpc>
                <a:spcPct val="110000"/>
              </a:lnSpc>
            </a:pPr>
            <a:r>
              <a:rPr lang="en-US" sz="2400">
                <a:latin typeface="Calibri" pitchFamily="34" charset="0"/>
              </a:rPr>
              <a:t>Income = medium,</a:t>
            </a:r>
          </a:p>
          <a:p>
            <a:pPr>
              <a:lnSpc>
                <a:spcPct val="110000"/>
              </a:lnSpc>
            </a:pPr>
            <a:r>
              <a:rPr lang="en-US" sz="2400">
                <a:latin typeface="Calibri" pitchFamily="34" charset="0"/>
              </a:rPr>
              <a:t>Student = yes</a:t>
            </a:r>
          </a:p>
          <a:p>
            <a:pPr>
              <a:lnSpc>
                <a:spcPct val="110000"/>
              </a:lnSpc>
            </a:pPr>
            <a:r>
              <a:rPr lang="en-US" sz="2400">
                <a:latin typeface="Calibri" pitchFamily="34" charset="0"/>
              </a:rPr>
              <a:t>Credit_rating = Fair)</a:t>
            </a:r>
          </a:p>
        </p:txBody>
      </p:sp>
      <p:graphicFrame>
        <p:nvGraphicFramePr>
          <p:cNvPr id="94212" name="Object 5"/>
          <p:cNvGraphicFramePr>
            <a:graphicFrameLocks/>
          </p:cNvGraphicFramePr>
          <p:nvPr>
            <p:ph idx="1"/>
          </p:nvPr>
        </p:nvGraphicFramePr>
        <p:xfrm>
          <a:off x="3810000" y="1295400"/>
          <a:ext cx="5110163" cy="5257800"/>
        </p:xfrm>
        <a:graphic>
          <a:graphicData uri="http://schemas.openxmlformats.org/presentationml/2006/ole">
            <p:oleObj spid="_x0000_s5122" name="Worksheet" r:id="rId4" imgW="4324438" imgH="4457652" progId="Excel.Sheet.8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003369B6-F783-45D5-AFEE-6293BF4BF338}" type="slidenum">
              <a:rPr lang="en-US"/>
              <a:pPr/>
              <a:t>20</a:t>
            </a:fld>
            <a:endParaRPr lang="en-US"/>
          </a:p>
        </p:txBody>
      </p:sp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067800" cy="381000"/>
          </a:xfrm>
        </p:spPr>
        <p:txBody>
          <a:bodyPr>
            <a:noAutofit/>
          </a:bodyPr>
          <a:lstStyle/>
          <a:p>
            <a:pPr eaLnBrk="1" hangingPunct="1"/>
            <a:r>
              <a:rPr lang="en-US" sz="3200" b="1" dirty="0" smtClean="0"/>
              <a:t>Naïve </a:t>
            </a:r>
            <a:r>
              <a:rPr lang="en-US" sz="3200" b="1" dirty="0" err="1" smtClean="0"/>
              <a:t>Bayes</a:t>
            </a:r>
            <a:r>
              <a:rPr lang="en-US" sz="3200" b="1" dirty="0" smtClean="0"/>
              <a:t> Classifier: An Example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838201"/>
            <a:ext cx="4953000" cy="5638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P(</a:t>
            </a:r>
            <a:r>
              <a:rPr lang="en-US" sz="2000" dirty="0" err="1" smtClean="0"/>
              <a:t>C</a:t>
            </a:r>
            <a:r>
              <a:rPr lang="en-US" sz="2000" baseline="-25000" dirty="0" err="1" smtClean="0"/>
              <a:t>i</a:t>
            </a:r>
            <a:r>
              <a:rPr lang="en-US" sz="2000" dirty="0" smtClean="0"/>
              <a:t>):    P(</a:t>
            </a:r>
            <a:r>
              <a:rPr lang="en-US" sz="2000" dirty="0" err="1" smtClean="0"/>
              <a:t>buys_computer</a:t>
            </a:r>
            <a:r>
              <a:rPr lang="en-US" sz="2000" dirty="0" smtClean="0"/>
              <a:t> = </a:t>
            </a:r>
            <a:r>
              <a:rPr lang="ja-JP" altLang="en-US" sz="2000" smtClean="0"/>
              <a:t>“</a:t>
            </a:r>
            <a:r>
              <a:rPr lang="en-US" altLang="ja-JP" sz="2000" dirty="0" smtClean="0"/>
              <a:t>yes</a:t>
            </a:r>
            <a:r>
              <a:rPr lang="ja-JP" altLang="en-US" sz="2000" smtClean="0"/>
              <a:t>”</a:t>
            </a:r>
            <a:r>
              <a:rPr lang="en-US" altLang="ja-JP" sz="2000" dirty="0" smtClean="0"/>
              <a:t>)  = 9/14 = 0.643</a:t>
            </a:r>
          </a:p>
          <a:p>
            <a:pPr>
              <a:lnSpc>
                <a:spcPct val="90000"/>
              </a:lnSpc>
            </a:pPr>
            <a:r>
              <a:rPr lang="en-US" sz="2000" dirty="0" smtClean="0"/>
              <a:t>To Compute P(X|</a:t>
            </a:r>
            <a:r>
              <a:rPr lang="en-US" altLang="ja-JP" sz="2000" dirty="0" smtClean="0"/>
              <a:t> </a:t>
            </a:r>
            <a:r>
              <a:rPr lang="en-US" altLang="ja-JP" sz="2000" dirty="0" err="1" smtClean="0"/>
              <a:t>buys_computer</a:t>
            </a:r>
            <a:r>
              <a:rPr lang="en-US" altLang="ja-JP" sz="2000" dirty="0" smtClean="0"/>
              <a:t> = </a:t>
            </a:r>
            <a:r>
              <a:rPr lang="ja-JP" altLang="en-US" sz="2000" smtClean="0"/>
              <a:t>“</a:t>
            </a:r>
            <a:r>
              <a:rPr lang="en-US" altLang="ja-JP" sz="2000" dirty="0" smtClean="0"/>
              <a:t>yes</a:t>
            </a:r>
            <a:r>
              <a:rPr lang="ja-JP" altLang="en-US" sz="2000" smtClean="0"/>
              <a:t>”</a:t>
            </a:r>
            <a:r>
              <a:rPr lang="en-US" sz="2000" dirty="0" smtClean="0"/>
              <a:t>)</a:t>
            </a:r>
          </a:p>
          <a:p>
            <a:pPr>
              <a:lnSpc>
                <a:spcPct val="90000"/>
              </a:lnSpc>
              <a:buNone/>
            </a:pPr>
            <a:r>
              <a:rPr lang="en-US" sz="2000" dirty="0" smtClean="0"/>
              <a:t>    - P(age = </a:t>
            </a:r>
            <a:r>
              <a:rPr lang="ja-JP" altLang="en-US" sz="2000" smtClean="0"/>
              <a:t>“</a:t>
            </a:r>
            <a:r>
              <a:rPr lang="en-US" altLang="ja-JP" sz="2000" dirty="0" smtClean="0"/>
              <a:t>&lt;=30</a:t>
            </a:r>
            <a:r>
              <a:rPr lang="ja-JP" altLang="en-US" sz="2000" smtClean="0"/>
              <a:t>”</a:t>
            </a:r>
            <a:r>
              <a:rPr lang="en-US" altLang="ja-JP" sz="2000" dirty="0" smtClean="0"/>
              <a:t> | </a:t>
            </a:r>
            <a:r>
              <a:rPr lang="en-US" altLang="ja-JP" sz="2000" dirty="0" err="1" smtClean="0"/>
              <a:t>buys_computer</a:t>
            </a:r>
            <a:r>
              <a:rPr lang="en-US" altLang="ja-JP" sz="2000" dirty="0" smtClean="0"/>
              <a:t> = </a:t>
            </a:r>
            <a:r>
              <a:rPr lang="ja-JP" altLang="en-US" sz="2000" smtClean="0"/>
              <a:t>“</a:t>
            </a:r>
            <a:r>
              <a:rPr lang="en-US" altLang="ja-JP" sz="2000" dirty="0" smtClean="0"/>
              <a:t>yes</a:t>
            </a:r>
            <a:r>
              <a:rPr lang="ja-JP" altLang="en-US" sz="2000" smtClean="0"/>
              <a:t>”</a:t>
            </a:r>
            <a:r>
              <a:rPr lang="en-US" altLang="ja-JP" sz="2000" dirty="0" smtClean="0"/>
              <a:t>)  = 2/9 = 0.222</a:t>
            </a:r>
            <a:r>
              <a:rPr lang="en-US" sz="2000" dirty="0" smtClean="0"/>
              <a:t> </a:t>
            </a:r>
          </a:p>
          <a:p>
            <a:pPr>
              <a:lnSpc>
                <a:spcPct val="90000"/>
              </a:lnSpc>
              <a:buNone/>
            </a:pPr>
            <a:r>
              <a:rPr lang="en-US" sz="2000" dirty="0" smtClean="0"/>
              <a:t>   - P(income = </a:t>
            </a:r>
            <a:r>
              <a:rPr lang="ja-JP" altLang="en-US" sz="2000" smtClean="0"/>
              <a:t>“</a:t>
            </a:r>
            <a:r>
              <a:rPr lang="en-US" altLang="ja-JP" sz="2000" dirty="0" smtClean="0"/>
              <a:t>medium</a:t>
            </a:r>
            <a:r>
              <a:rPr lang="ja-JP" altLang="en-US" sz="2000" smtClean="0"/>
              <a:t>”</a:t>
            </a:r>
            <a:r>
              <a:rPr lang="en-US" altLang="ja-JP" sz="2000" dirty="0" smtClean="0"/>
              <a:t> | </a:t>
            </a:r>
            <a:r>
              <a:rPr lang="en-US" altLang="ja-JP" sz="2000" dirty="0" err="1" smtClean="0"/>
              <a:t>buys_computer</a:t>
            </a:r>
            <a:r>
              <a:rPr lang="en-US" altLang="ja-JP" sz="2000" dirty="0" smtClean="0"/>
              <a:t> = </a:t>
            </a:r>
            <a:r>
              <a:rPr lang="ja-JP" altLang="en-US" sz="2000" smtClean="0"/>
              <a:t>“</a:t>
            </a:r>
            <a:r>
              <a:rPr lang="en-US" altLang="ja-JP" sz="2000" dirty="0" smtClean="0"/>
              <a:t>yes</a:t>
            </a:r>
            <a:r>
              <a:rPr lang="ja-JP" altLang="en-US" sz="2000" smtClean="0"/>
              <a:t>”</a:t>
            </a:r>
            <a:r>
              <a:rPr lang="en-US" altLang="ja-JP" sz="2000" dirty="0" smtClean="0"/>
              <a:t>) = 4/9 = 0.444</a:t>
            </a:r>
          </a:p>
          <a:p>
            <a:pPr>
              <a:lnSpc>
                <a:spcPct val="90000"/>
              </a:lnSpc>
              <a:buNone/>
            </a:pPr>
            <a:r>
              <a:rPr lang="en-US" sz="2000" dirty="0" smtClean="0"/>
              <a:t>   - P(student = </a:t>
            </a:r>
            <a:r>
              <a:rPr lang="ja-JP" altLang="en-US" sz="2000" smtClean="0"/>
              <a:t>“</a:t>
            </a:r>
            <a:r>
              <a:rPr lang="en-US" altLang="ja-JP" sz="2000" dirty="0" smtClean="0"/>
              <a:t>yes</a:t>
            </a:r>
            <a:r>
              <a:rPr lang="ja-JP" altLang="en-US" sz="2000" smtClean="0"/>
              <a:t>”</a:t>
            </a:r>
            <a:r>
              <a:rPr lang="en-US" altLang="ja-JP" sz="2000" dirty="0" smtClean="0"/>
              <a:t> | </a:t>
            </a:r>
            <a:r>
              <a:rPr lang="en-US" altLang="ja-JP" sz="2000" dirty="0" err="1" smtClean="0"/>
              <a:t>buys_computer</a:t>
            </a:r>
            <a:r>
              <a:rPr lang="en-US" altLang="ja-JP" sz="2000" dirty="0" smtClean="0"/>
              <a:t> = </a:t>
            </a:r>
            <a:r>
              <a:rPr lang="ja-JP" altLang="en-US" sz="2000" smtClean="0"/>
              <a:t>“</a:t>
            </a:r>
            <a:r>
              <a:rPr lang="en-US" altLang="ja-JP" sz="2000" dirty="0" smtClean="0"/>
              <a:t>yes) = 6/9 = 0.667</a:t>
            </a:r>
          </a:p>
          <a:p>
            <a:pPr>
              <a:lnSpc>
                <a:spcPct val="90000"/>
              </a:lnSpc>
              <a:buNone/>
            </a:pPr>
            <a:r>
              <a:rPr lang="en-US" sz="2000" dirty="0" smtClean="0"/>
              <a:t>   - P(</a:t>
            </a:r>
            <a:r>
              <a:rPr lang="en-US" sz="2000" dirty="0" err="1" smtClean="0"/>
              <a:t>credit_rating</a:t>
            </a:r>
            <a:r>
              <a:rPr lang="en-US" sz="2000" dirty="0" smtClean="0"/>
              <a:t> = </a:t>
            </a:r>
            <a:r>
              <a:rPr lang="ja-JP" altLang="en-US" sz="2000" smtClean="0"/>
              <a:t>“</a:t>
            </a:r>
            <a:r>
              <a:rPr lang="en-US" altLang="ja-JP" sz="2000" dirty="0" smtClean="0"/>
              <a:t>fair</a:t>
            </a:r>
            <a:r>
              <a:rPr lang="ja-JP" altLang="en-US" sz="2000" smtClean="0"/>
              <a:t>”</a:t>
            </a:r>
            <a:r>
              <a:rPr lang="en-US" altLang="ja-JP" sz="2000" dirty="0" smtClean="0"/>
              <a:t> | </a:t>
            </a:r>
            <a:r>
              <a:rPr lang="en-US" altLang="ja-JP" sz="2000" dirty="0" err="1" smtClean="0"/>
              <a:t>buys_computer</a:t>
            </a:r>
            <a:r>
              <a:rPr lang="en-US" altLang="ja-JP" sz="2000" dirty="0" smtClean="0"/>
              <a:t> = </a:t>
            </a:r>
            <a:r>
              <a:rPr lang="ja-JP" altLang="en-US" sz="2000" smtClean="0"/>
              <a:t>“</a:t>
            </a:r>
            <a:r>
              <a:rPr lang="en-US" altLang="ja-JP" sz="2000" dirty="0" smtClean="0"/>
              <a:t>yes</a:t>
            </a:r>
            <a:r>
              <a:rPr lang="ja-JP" altLang="en-US" sz="2000" smtClean="0"/>
              <a:t>”</a:t>
            </a:r>
            <a:r>
              <a:rPr lang="en-US" altLang="ja-JP" sz="2000" dirty="0" smtClean="0"/>
              <a:t>) = 6/9 = 0.667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b="1" dirty="0" smtClean="0"/>
              <a:t> X = (age &lt;= 30 , income = medium, student = yes, </a:t>
            </a:r>
            <a:r>
              <a:rPr lang="en-US" sz="2000" b="1" dirty="0" err="1" smtClean="0"/>
              <a:t>credit_rating</a:t>
            </a:r>
            <a:r>
              <a:rPr lang="en-US" sz="2000" b="1" dirty="0" smtClean="0"/>
              <a:t> = fair)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/>
              <a:t> </a:t>
            </a:r>
            <a:r>
              <a:rPr lang="en-US" sz="2000" b="1" dirty="0" smtClean="0"/>
              <a:t>P(</a:t>
            </a:r>
            <a:r>
              <a:rPr lang="en-US" sz="2000" b="1" dirty="0" err="1" smtClean="0"/>
              <a:t>X|C</a:t>
            </a:r>
            <a:r>
              <a:rPr lang="en-US" sz="2000" b="1" baseline="-25000" dirty="0" err="1" smtClean="0"/>
              <a:t>i</a:t>
            </a:r>
            <a:r>
              <a:rPr lang="en-US" sz="2000" b="1" dirty="0" smtClean="0"/>
              <a:t>) :</a:t>
            </a:r>
            <a:r>
              <a:rPr lang="en-US" sz="2000" dirty="0" smtClean="0"/>
              <a:t> P(</a:t>
            </a:r>
            <a:r>
              <a:rPr lang="en-US" sz="2000" dirty="0" err="1" smtClean="0"/>
              <a:t>X|buys_computer</a:t>
            </a:r>
            <a:r>
              <a:rPr lang="en-US" sz="2000" dirty="0" smtClean="0"/>
              <a:t> = </a:t>
            </a:r>
            <a:r>
              <a:rPr lang="ja-JP" altLang="en-US" sz="2000" smtClean="0"/>
              <a:t>“</a:t>
            </a:r>
            <a:r>
              <a:rPr lang="en-US" altLang="ja-JP" sz="2000" dirty="0" smtClean="0"/>
              <a:t>yes</a:t>
            </a:r>
            <a:r>
              <a:rPr lang="ja-JP" altLang="en-US" sz="2000" smtClean="0"/>
              <a:t>”</a:t>
            </a:r>
            <a:r>
              <a:rPr lang="en-US" altLang="ja-JP" sz="2000" dirty="0" smtClean="0"/>
              <a:t>) = 0.222 x 0.444 x 0.667 x 0.667 = 0.044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b="1" dirty="0" smtClean="0"/>
              <a:t>P(</a:t>
            </a:r>
            <a:r>
              <a:rPr lang="en-US" sz="2000" b="1" dirty="0" err="1" smtClean="0"/>
              <a:t>X|C</a:t>
            </a:r>
            <a:r>
              <a:rPr lang="en-US" sz="2000" b="1" baseline="-25000" dirty="0" err="1" smtClean="0"/>
              <a:t>i</a:t>
            </a:r>
            <a:r>
              <a:rPr lang="en-US" sz="2000" b="1" dirty="0" smtClean="0"/>
              <a:t>)*P(</a:t>
            </a:r>
            <a:r>
              <a:rPr lang="en-US" sz="2000" b="1" dirty="0" err="1" smtClean="0"/>
              <a:t>C</a:t>
            </a:r>
            <a:r>
              <a:rPr lang="en-US" sz="2000" b="1" baseline="-25000" dirty="0" err="1" smtClean="0"/>
              <a:t>i</a:t>
            </a:r>
            <a:r>
              <a:rPr lang="en-US" sz="2000" b="1" dirty="0" smtClean="0"/>
              <a:t>) : </a:t>
            </a:r>
            <a:r>
              <a:rPr lang="en-US" sz="2000" dirty="0" smtClean="0"/>
              <a:t>P(</a:t>
            </a:r>
            <a:r>
              <a:rPr lang="en-US" sz="2000" dirty="0" err="1" smtClean="0"/>
              <a:t>X|buys_computer</a:t>
            </a:r>
            <a:r>
              <a:rPr lang="en-US" sz="2000" dirty="0" smtClean="0"/>
              <a:t> = </a:t>
            </a:r>
            <a:r>
              <a:rPr lang="ja-JP" altLang="en-US" sz="2000" smtClean="0"/>
              <a:t>“</a:t>
            </a:r>
            <a:r>
              <a:rPr lang="en-US" altLang="ja-JP" sz="2000" dirty="0" smtClean="0"/>
              <a:t>yes</a:t>
            </a:r>
            <a:r>
              <a:rPr lang="ja-JP" altLang="en-US" sz="2000" smtClean="0"/>
              <a:t>”</a:t>
            </a:r>
            <a:r>
              <a:rPr lang="en-US" altLang="ja-JP" sz="2000" dirty="0" smtClean="0"/>
              <a:t>) * P(</a:t>
            </a:r>
            <a:r>
              <a:rPr lang="en-US" altLang="ja-JP" sz="2000" dirty="0" err="1" smtClean="0"/>
              <a:t>buys_computer</a:t>
            </a:r>
            <a:r>
              <a:rPr lang="en-US" altLang="ja-JP" sz="2000" dirty="0" smtClean="0"/>
              <a:t> = </a:t>
            </a:r>
            <a:r>
              <a:rPr lang="ja-JP" altLang="en-US" sz="2000" smtClean="0"/>
              <a:t>“</a:t>
            </a:r>
            <a:r>
              <a:rPr lang="en-US" altLang="ja-JP" sz="2000" dirty="0" smtClean="0"/>
              <a:t>yes</a:t>
            </a:r>
            <a:r>
              <a:rPr lang="ja-JP" altLang="en-US" sz="2000" smtClean="0"/>
              <a:t>”</a:t>
            </a:r>
            <a:r>
              <a:rPr lang="en-US" altLang="ja-JP" sz="2000" dirty="0" smtClean="0"/>
              <a:t>) = 0.028</a:t>
            </a:r>
            <a:endParaRPr lang="en-US" altLang="ja-JP" sz="2000" b="1" dirty="0" smtClean="0"/>
          </a:p>
        </p:txBody>
      </p:sp>
      <p:graphicFrame>
        <p:nvGraphicFramePr>
          <p:cNvPr id="96260" name="Object 1"/>
          <p:cNvGraphicFramePr>
            <a:graphicFrameLocks/>
          </p:cNvGraphicFramePr>
          <p:nvPr/>
        </p:nvGraphicFramePr>
        <p:xfrm>
          <a:off x="5410200" y="1371600"/>
          <a:ext cx="3276600" cy="4114800"/>
        </p:xfrm>
        <a:graphic>
          <a:graphicData uri="http://schemas.openxmlformats.org/presentationml/2006/ole">
            <p:oleObj spid="_x0000_s6146" name="Worksheet" r:id="rId4" imgW="4324438" imgH="4457652" progId="Excel.Sheet.8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003369B6-F783-45D5-AFEE-6293BF4BF338}" type="slidenum">
              <a:rPr lang="en-US"/>
              <a:pPr/>
              <a:t>21</a:t>
            </a:fld>
            <a:endParaRPr lang="en-US"/>
          </a:p>
        </p:txBody>
      </p:sp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067800" cy="381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2800" b="1" dirty="0" smtClean="0"/>
              <a:t>Naïve </a:t>
            </a:r>
            <a:r>
              <a:rPr lang="en-US" sz="2800" b="1" dirty="0" err="1" smtClean="0"/>
              <a:t>Bayes</a:t>
            </a:r>
            <a:r>
              <a:rPr lang="en-US" sz="2800" b="1" dirty="0" smtClean="0"/>
              <a:t> Classifier: An Example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762001"/>
            <a:ext cx="4572000" cy="56388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P(</a:t>
            </a:r>
            <a:r>
              <a:rPr lang="en-US" sz="2000" dirty="0" err="1" smtClean="0"/>
              <a:t>C</a:t>
            </a:r>
            <a:r>
              <a:rPr lang="en-US" sz="2000" baseline="-25000" dirty="0" err="1" smtClean="0"/>
              <a:t>i</a:t>
            </a:r>
            <a:r>
              <a:rPr lang="en-US" sz="2000" dirty="0" smtClean="0"/>
              <a:t>):    P(</a:t>
            </a:r>
            <a:r>
              <a:rPr lang="en-US" sz="2000" dirty="0" err="1" smtClean="0"/>
              <a:t>buys_computer</a:t>
            </a:r>
            <a:r>
              <a:rPr lang="en-US" sz="2000" dirty="0" smtClean="0"/>
              <a:t> = </a:t>
            </a:r>
            <a:r>
              <a:rPr lang="ja-JP" altLang="en-US" sz="2000" smtClean="0"/>
              <a:t>“</a:t>
            </a:r>
            <a:r>
              <a:rPr lang="en-US" altLang="ja-JP" sz="2000" dirty="0" smtClean="0"/>
              <a:t>no</a:t>
            </a:r>
            <a:r>
              <a:rPr lang="ja-JP" altLang="en-US" sz="2000" smtClean="0"/>
              <a:t>”</a:t>
            </a:r>
            <a:r>
              <a:rPr lang="en-US" altLang="ja-JP" sz="2000" dirty="0" smtClean="0"/>
              <a:t>) = 5/14= 0.357</a:t>
            </a:r>
          </a:p>
          <a:p>
            <a:pPr>
              <a:lnSpc>
                <a:spcPct val="90000"/>
              </a:lnSpc>
            </a:pPr>
            <a:r>
              <a:rPr lang="en-US" sz="2000" dirty="0" smtClean="0"/>
              <a:t>To Compute P(</a:t>
            </a:r>
            <a:r>
              <a:rPr lang="en-US" sz="2000" dirty="0" err="1" smtClean="0"/>
              <a:t>X|buys_computer</a:t>
            </a:r>
            <a:r>
              <a:rPr lang="en-US" sz="2000" dirty="0" smtClean="0"/>
              <a:t> = </a:t>
            </a:r>
            <a:r>
              <a:rPr lang="ja-JP" altLang="en-US" sz="2000" smtClean="0"/>
              <a:t>“</a:t>
            </a:r>
            <a:r>
              <a:rPr lang="en-US" altLang="ja-JP" sz="2000" dirty="0" smtClean="0"/>
              <a:t>no</a:t>
            </a:r>
            <a:r>
              <a:rPr lang="ja-JP" altLang="en-US" sz="2000" smtClean="0"/>
              <a:t>”</a:t>
            </a:r>
            <a:r>
              <a:rPr lang="en-US" sz="2000" dirty="0" smtClean="0"/>
              <a:t>)</a:t>
            </a:r>
          </a:p>
          <a:p>
            <a:pPr>
              <a:lnSpc>
                <a:spcPct val="90000"/>
              </a:lnSpc>
              <a:buNone/>
            </a:pPr>
            <a:r>
              <a:rPr lang="en-US" sz="2000" dirty="0" smtClean="0"/>
              <a:t>    - P(age = </a:t>
            </a:r>
            <a:r>
              <a:rPr lang="ja-JP" altLang="en-US" sz="2000" smtClean="0"/>
              <a:t>“</a:t>
            </a:r>
            <a:r>
              <a:rPr lang="en-US" altLang="ja-JP" sz="2000" dirty="0" smtClean="0"/>
              <a:t>&lt;= 30</a:t>
            </a:r>
            <a:r>
              <a:rPr lang="ja-JP" altLang="en-US" sz="2000" smtClean="0"/>
              <a:t>”</a:t>
            </a:r>
            <a:r>
              <a:rPr lang="en-US" altLang="ja-JP" sz="2000" dirty="0" smtClean="0"/>
              <a:t> | </a:t>
            </a:r>
            <a:r>
              <a:rPr lang="en-US" altLang="ja-JP" sz="2000" dirty="0" err="1" smtClean="0"/>
              <a:t>buys_computer</a:t>
            </a:r>
            <a:r>
              <a:rPr lang="en-US" altLang="ja-JP" sz="2000" dirty="0" smtClean="0"/>
              <a:t> = </a:t>
            </a:r>
            <a:r>
              <a:rPr lang="ja-JP" altLang="en-US" sz="2000" smtClean="0"/>
              <a:t>“</a:t>
            </a:r>
            <a:r>
              <a:rPr lang="en-US" altLang="ja-JP" sz="2000" dirty="0" smtClean="0"/>
              <a:t>no</a:t>
            </a:r>
            <a:r>
              <a:rPr lang="ja-JP" altLang="en-US" sz="2000" smtClean="0"/>
              <a:t>”</a:t>
            </a:r>
            <a:r>
              <a:rPr lang="en-US" altLang="ja-JP" sz="2000" dirty="0" smtClean="0"/>
              <a:t>) = 3/5 = 0.6</a:t>
            </a:r>
          </a:p>
          <a:p>
            <a:pPr>
              <a:lnSpc>
                <a:spcPct val="90000"/>
              </a:lnSpc>
              <a:buNone/>
            </a:pPr>
            <a:r>
              <a:rPr lang="en-US" sz="2000" dirty="0" smtClean="0"/>
              <a:t>    - P(income = </a:t>
            </a:r>
            <a:r>
              <a:rPr lang="ja-JP" altLang="en-US" sz="2000" smtClean="0"/>
              <a:t>“</a:t>
            </a:r>
            <a:r>
              <a:rPr lang="en-US" altLang="ja-JP" sz="2000" dirty="0" smtClean="0"/>
              <a:t>medium</a:t>
            </a:r>
            <a:r>
              <a:rPr lang="ja-JP" altLang="en-US" sz="2000" smtClean="0"/>
              <a:t>”</a:t>
            </a:r>
            <a:r>
              <a:rPr lang="en-US" altLang="ja-JP" sz="2000" dirty="0" smtClean="0"/>
              <a:t> | </a:t>
            </a:r>
            <a:r>
              <a:rPr lang="en-US" altLang="ja-JP" sz="2000" dirty="0" err="1" smtClean="0"/>
              <a:t>buys_computer</a:t>
            </a:r>
            <a:r>
              <a:rPr lang="en-US" altLang="ja-JP" sz="2000" dirty="0" smtClean="0"/>
              <a:t> = </a:t>
            </a:r>
            <a:r>
              <a:rPr lang="ja-JP" altLang="en-US" sz="2000" smtClean="0"/>
              <a:t>“</a:t>
            </a:r>
            <a:r>
              <a:rPr lang="en-US" altLang="ja-JP" sz="2000" dirty="0" smtClean="0"/>
              <a:t>no</a:t>
            </a:r>
            <a:r>
              <a:rPr lang="ja-JP" altLang="en-US" sz="2000" smtClean="0"/>
              <a:t>”</a:t>
            </a:r>
            <a:r>
              <a:rPr lang="en-US" altLang="ja-JP" sz="2000" dirty="0" smtClean="0"/>
              <a:t>) = 2/5 = 0.4</a:t>
            </a:r>
          </a:p>
          <a:p>
            <a:pPr>
              <a:lnSpc>
                <a:spcPct val="90000"/>
              </a:lnSpc>
              <a:buNone/>
            </a:pPr>
            <a:r>
              <a:rPr lang="en-US" sz="2000" dirty="0" smtClean="0"/>
              <a:t>    - P(student = </a:t>
            </a:r>
            <a:r>
              <a:rPr lang="ja-JP" altLang="en-US" sz="2000" smtClean="0"/>
              <a:t>“</a:t>
            </a:r>
            <a:r>
              <a:rPr lang="en-US" altLang="ja-JP" sz="2000" dirty="0" smtClean="0"/>
              <a:t>yes</a:t>
            </a:r>
            <a:r>
              <a:rPr lang="ja-JP" altLang="en-US" sz="2000" smtClean="0"/>
              <a:t>”</a:t>
            </a:r>
            <a:r>
              <a:rPr lang="en-US" altLang="ja-JP" sz="2000" dirty="0" smtClean="0"/>
              <a:t> | </a:t>
            </a:r>
            <a:r>
              <a:rPr lang="en-US" altLang="ja-JP" sz="2000" dirty="0" err="1" smtClean="0"/>
              <a:t>buys_computer</a:t>
            </a:r>
            <a:r>
              <a:rPr lang="en-US" altLang="ja-JP" sz="2000" dirty="0" smtClean="0"/>
              <a:t> = </a:t>
            </a:r>
            <a:r>
              <a:rPr lang="ja-JP" altLang="en-US" sz="2000" smtClean="0"/>
              <a:t>“</a:t>
            </a:r>
            <a:r>
              <a:rPr lang="en-US" altLang="ja-JP" sz="2000" dirty="0" smtClean="0"/>
              <a:t>no</a:t>
            </a:r>
            <a:r>
              <a:rPr lang="ja-JP" altLang="en-US" sz="2000" smtClean="0"/>
              <a:t>”</a:t>
            </a:r>
            <a:r>
              <a:rPr lang="en-US" altLang="ja-JP" sz="2000" dirty="0" smtClean="0"/>
              <a:t>) = 1/5 = 0.2</a:t>
            </a:r>
          </a:p>
          <a:p>
            <a:pPr>
              <a:lnSpc>
                <a:spcPct val="90000"/>
              </a:lnSpc>
              <a:buNone/>
            </a:pPr>
            <a:r>
              <a:rPr lang="en-US" sz="2000" dirty="0" smtClean="0"/>
              <a:t>    - P(</a:t>
            </a:r>
            <a:r>
              <a:rPr lang="en-US" sz="2000" dirty="0" err="1" smtClean="0"/>
              <a:t>credit_rating</a:t>
            </a:r>
            <a:r>
              <a:rPr lang="en-US" sz="2000" dirty="0" smtClean="0"/>
              <a:t> = </a:t>
            </a:r>
            <a:r>
              <a:rPr lang="ja-JP" altLang="en-US" sz="2000" smtClean="0"/>
              <a:t>“</a:t>
            </a:r>
            <a:r>
              <a:rPr lang="en-US" altLang="ja-JP" sz="2000" dirty="0" smtClean="0"/>
              <a:t>fair</a:t>
            </a:r>
            <a:r>
              <a:rPr lang="ja-JP" altLang="en-US" sz="2000" smtClean="0"/>
              <a:t>”</a:t>
            </a:r>
            <a:r>
              <a:rPr lang="en-US" altLang="ja-JP" sz="2000" dirty="0" smtClean="0"/>
              <a:t> | </a:t>
            </a:r>
            <a:r>
              <a:rPr lang="en-US" altLang="ja-JP" sz="2000" dirty="0" err="1" smtClean="0"/>
              <a:t>buys_computer</a:t>
            </a:r>
            <a:r>
              <a:rPr lang="en-US" altLang="ja-JP" sz="2000" dirty="0" smtClean="0"/>
              <a:t> = </a:t>
            </a:r>
            <a:r>
              <a:rPr lang="ja-JP" altLang="en-US" sz="2000" smtClean="0"/>
              <a:t>“</a:t>
            </a:r>
            <a:r>
              <a:rPr lang="en-US" altLang="ja-JP" sz="2000" dirty="0" smtClean="0"/>
              <a:t>no</a:t>
            </a:r>
            <a:r>
              <a:rPr lang="ja-JP" altLang="en-US" sz="2000" smtClean="0"/>
              <a:t>”</a:t>
            </a:r>
            <a:r>
              <a:rPr lang="en-US" altLang="ja-JP" sz="2000" dirty="0" smtClean="0"/>
              <a:t>) = 2/5 = 0.4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b="1" dirty="0" smtClean="0"/>
              <a:t> X = (age &lt;= 30 , income = medium, student = yes, </a:t>
            </a:r>
            <a:r>
              <a:rPr lang="en-US" sz="2000" b="1" dirty="0" err="1" smtClean="0"/>
              <a:t>credit_rating</a:t>
            </a:r>
            <a:r>
              <a:rPr lang="en-US" sz="2000" b="1" dirty="0" smtClean="0"/>
              <a:t> = fair)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/>
              <a:t> </a:t>
            </a:r>
            <a:r>
              <a:rPr lang="en-US" sz="2000" b="1" dirty="0" smtClean="0"/>
              <a:t>P(</a:t>
            </a:r>
            <a:r>
              <a:rPr lang="en-US" sz="2000" b="1" dirty="0" err="1" smtClean="0"/>
              <a:t>X|C</a:t>
            </a:r>
            <a:r>
              <a:rPr lang="en-US" sz="2000" b="1" baseline="-25000" dirty="0" err="1" smtClean="0"/>
              <a:t>i</a:t>
            </a:r>
            <a:r>
              <a:rPr lang="en-US" sz="2000" b="1" dirty="0" smtClean="0"/>
              <a:t>) : </a:t>
            </a:r>
            <a:r>
              <a:rPr lang="en-US" sz="2000" dirty="0" smtClean="0"/>
              <a:t>P(</a:t>
            </a:r>
            <a:r>
              <a:rPr lang="en-US" sz="2000" dirty="0" err="1" smtClean="0"/>
              <a:t>X|buys_computer</a:t>
            </a:r>
            <a:r>
              <a:rPr lang="en-US" sz="2000" dirty="0" smtClean="0"/>
              <a:t> = </a:t>
            </a:r>
            <a:r>
              <a:rPr lang="ja-JP" altLang="en-US" sz="2000" smtClean="0"/>
              <a:t>“</a:t>
            </a:r>
            <a:r>
              <a:rPr lang="en-US" altLang="ja-JP" sz="2000" dirty="0" smtClean="0"/>
              <a:t>no</a:t>
            </a:r>
            <a:r>
              <a:rPr lang="ja-JP" altLang="en-US" sz="2000" smtClean="0"/>
              <a:t>”</a:t>
            </a:r>
            <a:r>
              <a:rPr lang="en-US" altLang="ja-JP" sz="2000" dirty="0" smtClean="0"/>
              <a:t>)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2000" dirty="0" smtClean="0"/>
              <a:t> = 0.6 x 0.4 x 0.2 x 0.4 = 0.019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b="1" dirty="0" smtClean="0"/>
              <a:t>P(</a:t>
            </a:r>
            <a:r>
              <a:rPr lang="en-US" sz="2000" b="1" dirty="0" err="1" smtClean="0"/>
              <a:t>X|C</a:t>
            </a:r>
            <a:r>
              <a:rPr lang="en-US" sz="2000" b="1" baseline="-25000" dirty="0" err="1" smtClean="0"/>
              <a:t>i</a:t>
            </a:r>
            <a:r>
              <a:rPr lang="en-US" sz="2000" b="1" dirty="0" smtClean="0"/>
              <a:t>)*P(</a:t>
            </a:r>
            <a:r>
              <a:rPr lang="en-US" sz="2000" b="1" dirty="0" err="1" smtClean="0"/>
              <a:t>C</a:t>
            </a:r>
            <a:r>
              <a:rPr lang="en-US" sz="2000" b="1" baseline="-25000" dirty="0" err="1" smtClean="0"/>
              <a:t>i</a:t>
            </a:r>
            <a:r>
              <a:rPr lang="en-US" sz="2000" b="1" dirty="0" smtClean="0"/>
              <a:t>) : </a:t>
            </a:r>
            <a:r>
              <a:rPr lang="en-US" sz="2000" dirty="0" smtClean="0"/>
              <a:t>P(</a:t>
            </a:r>
            <a:r>
              <a:rPr lang="en-US" sz="2000" dirty="0" err="1" smtClean="0"/>
              <a:t>X|buys_computer</a:t>
            </a:r>
            <a:r>
              <a:rPr lang="en-US" sz="2000" dirty="0" smtClean="0"/>
              <a:t> = </a:t>
            </a:r>
            <a:r>
              <a:rPr lang="ja-JP" altLang="en-US" sz="2000" smtClean="0"/>
              <a:t>“</a:t>
            </a:r>
            <a:r>
              <a:rPr lang="en-US" altLang="ja-JP" sz="2000" dirty="0" smtClean="0"/>
              <a:t>no</a:t>
            </a:r>
            <a:r>
              <a:rPr lang="ja-JP" altLang="en-US" sz="2000" smtClean="0"/>
              <a:t>”</a:t>
            </a:r>
            <a:r>
              <a:rPr lang="en-US" altLang="ja-JP" sz="2000" dirty="0" smtClean="0"/>
              <a:t>) * P(</a:t>
            </a:r>
            <a:r>
              <a:rPr lang="en-US" altLang="ja-JP" sz="2000" dirty="0" err="1" smtClean="0"/>
              <a:t>buys_computer</a:t>
            </a:r>
            <a:r>
              <a:rPr lang="en-US" altLang="ja-JP" sz="2000" dirty="0" smtClean="0"/>
              <a:t> = </a:t>
            </a:r>
            <a:r>
              <a:rPr lang="ja-JP" altLang="en-US" sz="2000" smtClean="0"/>
              <a:t>“</a:t>
            </a:r>
            <a:r>
              <a:rPr lang="en-US" altLang="ja-JP" sz="2000" dirty="0" smtClean="0"/>
              <a:t>no</a:t>
            </a:r>
            <a:r>
              <a:rPr lang="ja-JP" altLang="en-US" sz="2000" smtClean="0"/>
              <a:t>”</a:t>
            </a:r>
            <a:r>
              <a:rPr lang="en-US" altLang="ja-JP" sz="2000" dirty="0" smtClean="0"/>
              <a:t>)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2000" dirty="0" smtClean="0"/>
              <a:t>= 0.007</a:t>
            </a:r>
            <a:endParaRPr lang="en-US" altLang="ja-JP" sz="2000" b="1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2000" b="1" dirty="0" smtClean="0"/>
              <a:t>	</a:t>
            </a:r>
            <a:r>
              <a:rPr lang="en-US" altLang="ja-JP" sz="1800" b="1" dirty="0" smtClean="0"/>
              <a:t>	</a:t>
            </a:r>
            <a:endParaRPr lang="en-US" sz="1800" b="1" dirty="0" smtClean="0"/>
          </a:p>
        </p:txBody>
      </p:sp>
      <p:graphicFrame>
        <p:nvGraphicFramePr>
          <p:cNvPr id="96260" name="Object 1"/>
          <p:cNvGraphicFramePr>
            <a:graphicFrameLocks/>
          </p:cNvGraphicFramePr>
          <p:nvPr/>
        </p:nvGraphicFramePr>
        <p:xfrm>
          <a:off x="5029200" y="762000"/>
          <a:ext cx="3352800" cy="3124200"/>
        </p:xfrm>
        <a:graphic>
          <a:graphicData uri="http://schemas.openxmlformats.org/presentationml/2006/ole">
            <p:oleObj spid="_x0000_s47106" name="Worksheet" r:id="rId4" imgW="4324438" imgH="4457652" progId="Excel.Sheet.8">
              <p:embed/>
            </p:oleObj>
          </a:graphicData>
        </a:graphic>
      </p:graphicFrame>
      <p:sp>
        <p:nvSpPr>
          <p:cNvPr id="6" name="Rectangle 5"/>
          <p:cNvSpPr/>
          <p:nvPr/>
        </p:nvSpPr>
        <p:spPr>
          <a:xfrm>
            <a:off x="4876800" y="4191000"/>
            <a:ext cx="3886200" cy="2336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dirty="0" smtClean="0"/>
              <a:t>P(</a:t>
            </a:r>
            <a:r>
              <a:rPr lang="en-US" b="1" dirty="0" err="1" smtClean="0"/>
              <a:t>X|C</a:t>
            </a:r>
            <a:r>
              <a:rPr lang="en-US" b="1" baseline="-25000" dirty="0" err="1" smtClean="0"/>
              <a:t>i</a:t>
            </a:r>
            <a:r>
              <a:rPr lang="en-US" b="1" dirty="0" smtClean="0"/>
              <a:t>)*P(</a:t>
            </a:r>
            <a:r>
              <a:rPr lang="en-US" b="1" dirty="0" err="1" smtClean="0"/>
              <a:t>C</a:t>
            </a:r>
            <a:r>
              <a:rPr lang="en-US" b="1" baseline="-25000" dirty="0" err="1" smtClean="0"/>
              <a:t>i</a:t>
            </a:r>
            <a:r>
              <a:rPr lang="en-US" b="1" dirty="0" smtClean="0"/>
              <a:t>) : </a:t>
            </a:r>
            <a:r>
              <a:rPr lang="en-US" dirty="0" smtClean="0"/>
              <a:t>P(</a:t>
            </a:r>
            <a:r>
              <a:rPr lang="en-US" dirty="0" err="1" smtClean="0"/>
              <a:t>X|buys_computer</a:t>
            </a:r>
            <a:r>
              <a:rPr lang="en-US" dirty="0" smtClean="0"/>
              <a:t> = </a:t>
            </a:r>
            <a:r>
              <a:rPr lang="ja-JP" altLang="en-US" smtClean="0"/>
              <a:t>“</a:t>
            </a:r>
            <a:r>
              <a:rPr lang="en-US" altLang="ja-JP" dirty="0" smtClean="0"/>
              <a:t>yes</a:t>
            </a:r>
            <a:r>
              <a:rPr lang="ja-JP" altLang="en-US" smtClean="0"/>
              <a:t>”</a:t>
            </a:r>
            <a:r>
              <a:rPr lang="en-US" altLang="ja-JP" dirty="0" smtClean="0"/>
              <a:t>) * P(</a:t>
            </a:r>
            <a:r>
              <a:rPr lang="en-US" altLang="ja-JP" dirty="0" err="1" smtClean="0"/>
              <a:t>buys_computer</a:t>
            </a:r>
            <a:r>
              <a:rPr lang="en-US" altLang="ja-JP" dirty="0" smtClean="0"/>
              <a:t> = </a:t>
            </a:r>
            <a:r>
              <a:rPr lang="ja-JP" altLang="en-US" smtClean="0"/>
              <a:t>“</a:t>
            </a:r>
            <a:r>
              <a:rPr lang="en-US" altLang="ja-JP" dirty="0" smtClean="0"/>
              <a:t>yes</a:t>
            </a:r>
            <a:r>
              <a:rPr lang="ja-JP" altLang="en-US" smtClean="0"/>
              <a:t>”</a:t>
            </a:r>
            <a:r>
              <a:rPr lang="en-US" altLang="ja-JP" dirty="0" smtClean="0"/>
              <a:t>) = 0.028</a:t>
            </a:r>
            <a:endParaRPr lang="en-US" altLang="ja-JP" b="1" dirty="0" smtClean="0"/>
          </a:p>
          <a:p>
            <a:pPr>
              <a:lnSpc>
                <a:spcPct val="90000"/>
              </a:lnSpc>
            </a:pPr>
            <a:endParaRPr lang="en-US" b="1" dirty="0" smtClean="0"/>
          </a:p>
          <a:p>
            <a:pPr>
              <a:lnSpc>
                <a:spcPct val="90000"/>
              </a:lnSpc>
            </a:pPr>
            <a:r>
              <a:rPr lang="en-US" b="1" dirty="0" smtClean="0"/>
              <a:t>P(</a:t>
            </a:r>
            <a:r>
              <a:rPr lang="en-US" b="1" dirty="0" err="1" smtClean="0"/>
              <a:t>X|C</a:t>
            </a:r>
            <a:r>
              <a:rPr lang="en-US" b="1" baseline="-25000" dirty="0" err="1" smtClean="0"/>
              <a:t>i</a:t>
            </a:r>
            <a:r>
              <a:rPr lang="en-US" b="1" dirty="0" smtClean="0"/>
              <a:t>)*P(</a:t>
            </a:r>
            <a:r>
              <a:rPr lang="en-US" b="1" dirty="0" err="1" smtClean="0"/>
              <a:t>C</a:t>
            </a:r>
            <a:r>
              <a:rPr lang="en-US" b="1" baseline="-25000" dirty="0" err="1" smtClean="0"/>
              <a:t>i</a:t>
            </a:r>
            <a:r>
              <a:rPr lang="en-US" b="1" dirty="0" smtClean="0"/>
              <a:t>) : </a:t>
            </a:r>
            <a:r>
              <a:rPr lang="en-US" dirty="0" smtClean="0"/>
              <a:t>P(</a:t>
            </a:r>
            <a:r>
              <a:rPr lang="en-US" dirty="0" err="1" smtClean="0"/>
              <a:t>X|buys_computer</a:t>
            </a:r>
            <a:r>
              <a:rPr lang="en-US" dirty="0" smtClean="0"/>
              <a:t> = </a:t>
            </a:r>
            <a:r>
              <a:rPr lang="ja-JP" altLang="en-US" smtClean="0"/>
              <a:t>“</a:t>
            </a:r>
            <a:r>
              <a:rPr lang="en-US" altLang="ja-JP" dirty="0" smtClean="0"/>
              <a:t>no</a:t>
            </a:r>
            <a:r>
              <a:rPr lang="ja-JP" altLang="en-US" smtClean="0"/>
              <a:t>”</a:t>
            </a:r>
            <a:r>
              <a:rPr lang="en-US" altLang="ja-JP" dirty="0" smtClean="0"/>
              <a:t>) * P(</a:t>
            </a:r>
            <a:r>
              <a:rPr lang="en-US" altLang="ja-JP" dirty="0" err="1" smtClean="0"/>
              <a:t>buys_computer</a:t>
            </a:r>
            <a:r>
              <a:rPr lang="en-US" altLang="ja-JP" dirty="0" smtClean="0"/>
              <a:t> = </a:t>
            </a:r>
            <a:r>
              <a:rPr lang="ja-JP" altLang="en-US" smtClean="0"/>
              <a:t>“</a:t>
            </a:r>
            <a:r>
              <a:rPr lang="en-US" altLang="ja-JP" dirty="0" smtClean="0"/>
              <a:t>no</a:t>
            </a:r>
            <a:r>
              <a:rPr lang="ja-JP" altLang="en-US" smtClean="0"/>
              <a:t>”</a:t>
            </a:r>
            <a:r>
              <a:rPr lang="en-US" altLang="ja-JP" dirty="0" smtClean="0"/>
              <a:t>) = 0.007</a:t>
            </a:r>
            <a:endParaRPr lang="en-US" altLang="ja-JP" b="1" dirty="0" smtClean="0"/>
          </a:p>
          <a:p>
            <a:pPr>
              <a:lnSpc>
                <a:spcPct val="90000"/>
              </a:lnSpc>
            </a:pPr>
            <a:r>
              <a:rPr lang="en-US" b="1" dirty="0" smtClean="0"/>
              <a:t>Therefore,  X belongs to class (</a:t>
            </a:r>
            <a:r>
              <a:rPr lang="ja-JP" altLang="en-US" b="1" smtClean="0"/>
              <a:t>“</a:t>
            </a:r>
            <a:r>
              <a:rPr lang="en-US" altLang="ja-JP" b="1" dirty="0" err="1" smtClean="0"/>
              <a:t>buys_computer</a:t>
            </a:r>
            <a:r>
              <a:rPr lang="en-US" altLang="ja-JP" b="1" dirty="0" smtClean="0"/>
              <a:t> = yes</a:t>
            </a:r>
            <a:r>
              <a:rPr lang="ja-JP" altLang="en-US" b="1" smtClean="0"/>
              <a:t>”</a:t>
            </a:r>
            <a:r>
              <a:rPr lang="en-US" altLang="ja-JP" b="1" dirty="0" smtClean="0"/>
              <a:t>)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C6B40C59-433C-494A-BD0B-384F1D24ABCF}" type="slidenum">
              <a:rPr lang="en-US"/>
              <a:pPr/>
              <a:t>22</a:t>
            </a:fld>
            <a:endParaRPr lang="en-US"/>
          </a:p>
        </p:txBody>
      </p:sp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>
          <a:xfrm>
            <a:off x="9525" y="304800"/>
            <a:ext cx="91440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Naïve Bayes Classifier: Comments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6106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Advantages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/>
              <a:t>Easy to implement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/>
              <a:t>Good results obtained in most of the cases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Disadvantages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/>
              <a:t>Assumption: class conditional independence, therefore loss of accuracy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/>
              <a:t>Practically, dependencies exist among variables 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 smtClean="0"/>
              <a:t>E.g.,  hospitals: patients=&gt; Profile: age, family history, etc. </a:t>
            </a:r>
          </a:p>
          <a:p>
            <a:pPr lvl="3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dirty="0" smtClean="0"/>
              <a:t> </a:t>
            </a:r>
            <a:r>
              <a:rPr lang="en-US" sz="2400" dirty="0" smtClean="0"/>
              <a:t>Symptoms: fever, cough etc., Disease: lung cancer, diabetes, etc. 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 smtClean="0"/>
              <a:t>Dependencies among these cannot be modeled by Naïve </a:t>
            </a:r>
            <a:r>
              <a:rPr lang="en-US" dirty="0" err="1" smtClean="0"/>
              <a:t>Bayes</a:t>
            </a:r>
            <a:r>
              <a:rPr lang="en-US" dirty="0" smtClean="0"/>
              <a:t> Classifier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How to deal with these dependencies? Bayesian Belief Networks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sz="2800" b="1" dirty="0" err="1" smtClean="0"/>
              <a:t>Overfitting</a:t>
            </a:r>
            <a:r>
              <a:rPr lang="en-US" sz="2800" b="1" dirty="0" smtClean="0"/>
              <a:t> in Naïve </a:t>
            </a:r>
            <a:r>
              <a:rPr lang="en-US" sz="2800" b="1" dirty="0" err="1" smtClean="0"/>
              <a:t>Bayes</a:t>
            </a:r>
            <a:r>
              <a:rPr lang="en-US" sz="2800" b="1" dirty="0" smtClean="0"/>
              <a:t> Classification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 smtClean="0"/>
              <a:t>Naïve </a:t>
            </a:r>
            <a:r>
              <a:rPr lang="en-US" sz="2400" b="1" dirty="0" err="1" smtClean="0"/>
              <a:t>Bayes</a:t>
            </a:r>
            <a:r>
              <a:rPr lang="en-US" sz="2400" dirty="0" smtClean="0"/>
              <a:t> can suffer from </a:t>
            </a:r>
            <a:r>
              <a:rPr lang="en-US" sz="2400" b="1" dirty="0" err="1" smtClean="0"/>
              <a:t>overfitting</a:t>
            </a:r>
            <a:r>
              <a:rPr lang="en-US" sz="2400" dirty="0" smtClean="0"/>
              <a:t>, although it is generally less prone to it compared to more complex models. </a:t>
            </a:r>
            <a:r>
              <a:rPr lang="en-US" sz="2400" dirty="0" err="1" smtClean="0"/>
              <a:t>Overfitting</a:t>
            </a:r>
            <a:r>
              <a:rPr lang="en-US" sz="2400" dirty="0" smtClean="0"/>
              <a:t> in Naïve </a:t>
            </a:r>
            <a:r>
              <a:rPr lang="en-US" sz="2400" dirty="0" err="1" smtClean="0"/>
              <a:t>Bayes</a:t>
            </a:r>
            <a:r>
              <a:rPr lang="en-US" sz="2400" dirty="0" smtClean="0"/>
              <a:t> can happen in the following cases:</a:t>
            </a:r>
          </a:p>
          <a:p>
            <a:pPr>
              <a:buNone/>
            </a:pPr>
            <a:r>
              <a:rPr lang="en-US" sz="2400" b="1" dirty="0" smtClean="0"/>
              <a:t>1. When the Training Data is Noisy or Small</a:t>
            </a:r>
          </a:p>
          <a:p>
            <a:r>
              <a:rPr lang="en-US" sz="2400" dirty="0" smtClean="0"/>
              <a:t>If the dataset is small, the estimated probabilities may not generalize well to new data.</a:t>
            </a:r>
          </a:p>
          <a:p>
            <a:r>
              <a:rPr lang="en-US" sz="2400" dirty="0" smtClean="0"/>
              <a:t>The model might assign very high or very low probabilities to certain features, making predictions too </a:t>
            </a:r>
            <a:r>
              <a:rPr lang="en-US" sz="2400" b="1" dirty="0" smtClean="0"/>
              <a:t>rigid</a:t>
            </a:r>
            <a:r>
              <a:rPr lang="en-US" sz="2400" dirty="0" smtClean="0"/>
              <a:t>.</a:t>
            </a:r>
          </a:p>
          <a:p>
            <a:pPr>
              <a:buNone/>
            </a:pPr>
            <a:r>
              <a:rPr lang="en-US" sz="2400" b="1" dirty="0" smtClean="0"/>
              <a:t>2. When Features are Strongly Correlated</a:t>
            </a:r>
          </a:p>
          <a:p>
            <a:r>
              <a:rPr lang="en-US" sz="2400" dirty="0" smtClean="0"/>
              <a:t>Naïve </a:t>
            </a:r>
            <a:r>
              <a:rPr lang="en-US" sz="2400" dirty="0" err="1" smtClean="0"/>
              <a:t>Bayes</a:t>
            </a:r>
            <a:r>
              <a:rPr lang="en-US" sz="2400" dirty="0" smtClean="0"/>
              <a:t> assumes </a:t>
            </a:r>
            <a:r>
              <a:rPr lang="en-US" sz="2400" b="1" dirty="0" smtClean="0"/>
              <a:t>independence</a:t>
            </a:r>
            <a:r>
              <a:rPr lang="en-US" sz="2400" dirty="0" smtClean="0"/>
              <a:t> between features, which is often unrealistic.</a:t>
            </a:r>
          </a:p>
          <a:p>
            <a:r>
              <a:rPr lang="en-US" sz="2400" dirty="0" smtClean="0"/>
              <a:t>If features are highly correlated, the model might </a:t>
            </a:r>
            <a:r>
              <a:rPr lang="en-US" sz="2400" b="1" dirty="0" smtClean="0"/>
              <a:t>double-count information</a:t>
            </a:r>
            <a:r>
              <a:rPr lang="en-US" sz="2400" dirty="0" smtClean="0"/>
              <a:t>, leading to biased probability estimations and poor generalization.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sz="2800" b="1" dirty="0" err="1" smtClean="0">
                <a:solidFill>
                  <a:prstClr val="black"/>
                </a:solidFill>
              </a:rPr>
              <a:t>Overfitting</a:t>
            </a:r>
            <a:r>
              <a:rPr lang="en-US" sz="2800" b="1" dirty="0" smtClean="0">
                <a:solidFill>
                  <a:prstClr val="black"/>
                </a:solidFill>
              </a:rPr>
              <a:t> in Naïve </a:t>
            </a:r>
            <a:r>
              <a:rPr lang="en-US" sz="2800" b="1" dirty="0" err="1" smtClean="0">
                <a:solidFill>
                  <a:prstClr val="black"/>
                </a:solidFill>
              </a:rPr>
              <a:t>Bayes</a:t>
            </a:r>
            <a:r>
              <a:rPr lang="en-US" sz="2800" b="1" dirty="0" smtClean="0">
                <a:solidFill>
                  <a:prstClr val="black"/>
                </a:solidFill>
              </a:rPr>
              <a:t> Classification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pPr>
              <a:buNone/>
            </a:pPr>
            <a:r>
              <a:rPr lang="en-US" b="1" dirty="0" smtClean="0"/>
              <a:t>3. When Using Maximum Likelihood Estimation (MLE)</a:t>
            </a:r>
          </a:p>
          <a:p>
            <a:r>
              <a:rPr lang="en-US" dirty="0" smtClean="0"/>
              <a:t>If a class-feature combination does not appear in the training set, Naïve </a:t>
            </a:r>
            <a:r>
              <a:rPr lang="en-US" dirty="0" err="1" smtClean="0"/>
              <a:t>Bayes</a:t>
            </a:r>
            <a:r>
              <a:rPr lang="en-US" dirty="0" smtClean="0"/>
              <a:t> assigns it a </a:t>
            </a:r>
            <a:r>
              <a:rPr lang="en-US" b="1" dirty="0" smtClean="0"/>
              <a:t>zero probability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This makes the classifier </a:t>
            </a:r>
            <a:r>
              <a:rPr lang="en-US" dirty="0" err="1" smtClean="0"/>
              <a:t>overfit</a:t>
            </a:r>
            <a:r>
              <a:rPr lang="en-US" dirty="0" smtClean="0"/>
              <a:t> by being overly confident about observed data and failing on unseen examples.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Slide Number Placeholder 6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D7876D3-3C9C-4052-8F5F-37D31F2FA80B}" type="slidenum">
              <a:rPr lang="en-US"/>
              <a:pPr/>
              <a:t>25</a:t>
            </a:fld>
            <a:endParaRPr lang="en-US"/>
          </a:p>
        </p:txBody>
      </p:sp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402638" cy="609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Resolve </a:t>
            </a:r>
            <a:r>
              <a:rPr lang="en-US" dirty="0" err="1" smtClean="0"/>
              <a:t>Overfitting</a:t>
            </a:r>
            <a:r>
              <a:rPr lang="en-US" dirty="0" smtClean="0"/>
              <a:t> in Naïve </a:t>
            </a:r>
            <a:r>
              <a:rPr lang="en-US" dirty="0" err="1" smtClean="0"/>
              <a:t>Bayes</a:t>
            </a:r>
            <a:endParaRPr lang="en-US" dirty="0" smtClean="0"/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990600"/>
            <a:ext cx="8382000" cy="5715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>1. Avoiding the Zero-Probability Problem</a:t>
            </a:r>
          </a:p>
          <a:p>
            <a:pPr eaLnBrk="1" hangingPunct="1"/>
            <a:r>
              <a:rPr lang="en-US" sz="2400" dirty="0" smtClean="0"/>
              <a:t>Naïve Bayesian prediction requires each conditional prob. be </a:t>
            </a:r>
            <a:r>
              <a:rPr lang="en-US" sz="2400" b="1" dirty="0" smtClean="0"/>
              <a:t>non-zero</a:t>
            </a:r>
            <a:r>
              <a:rPr lang="en-US" sz="2400" dirty="0" smtClean="0"/>
              <a:t>.  Otherwise, the predicted prob. will be zero.</a:t>
            </a:r>
          </a:p>
          <a:p>
            <a:pPr eaLnBrk="1" hangingPunct="1"/>
            <a:endParaRPr lang="en-US" sz="2400" dirty="0" smtClean="0"/>
          </a:p>
          <a:p>
            <a:pPr eaLnBrk="1" hangingPunct="1"/>
            <a:endParaRPr lang="en-US" sz="2400" dirty="0" smtClean="0"/>
          </a:p>
          <a:p>
            <a:r>
              <a:rPr lang="en-US" sz="2400" b="1" dirty="0" smtClean="0"/>
              <a:t>Use Smoothing (Laplace / Additive Smoothing)</a:t>
            </a:r>
          </a:p>
          <a:p>
            <a:r>
              <a:rPr lang="en-US" sz="2400" dirty="0" smtClean="0"/>
              <a:t>Prevents </a:t>
            </a:r>
            <a:r>
              <a:rPr lang="en-US" sz="2400" b="1" dirty="0" smtClean="0"/>
              <a:t>zero probabilities</a:t>
            </a:r>
            <a:r>
              <a:rPr lang="en-US" sz="2400" dirty="0" smtClean="0"/>
              <a:t> by adding a small value (e.g., 1) to all counts.</a:t>
            </a:r>
          </a:p>
          <a:p>
            <a:r>
              <a:rPr lang="en-US" sz="2400" dirty="0" smtClean="0"/>
              <a:t>Formula for </a:t>
            </a:r>
            <a:r>
              <a:rPr lang="en-US" sz="2400" b="1" dirty="0" smtClean="0"/>
              <a:t>Laplace Smoothing</a:t>
            </a:r>
          </a:p>
          <a:p>
            <a:endParaRPr lang="en-US" sz="2400" b="1" dirty="0" smtClean="0"/>
          </a:p>
          <a:p>
            <a:r>
              <a:rPr lang="en-US" sz="2400" dirty="0" smtClean="0"/>
              <a:t>where: α is a smoothing parameter (typically </a:t>
            </a:r>
            <a:r>
              <a:rPr lang="en-US" sz="2400" b="1" dirty="0" smtClean="0"/>
              <a:t>1</a:t>
            </a:r>
            <a:r>
              <a:rPr lang="en-US" sz="2400" dirty="0" smtClean="0"/>
              <a:t>), and ∣V| is the vocabulary size.</a:t>
            </a:r>
          </a:p>
          <a:p>
            <a:endParaRPr lang="en-US" sz="2400" dirty="0" smtClean="0"/>
          </a:p>
          <a:p>
            <a:pPr eaLnBrk="1" hangingPunct="1"/>
            <a:endParaRPr lang="en-US" sz="2400" dirty="0" smtClean="0"/>
          </a:p>
          <a:p>
            <a:pPr eaLnBrk="1" hangingPunct="1"/>
            <a:endParaRPr lang="en-US" sz="2400" dirty="0" smtClean="0"/>
          </a:p>
          <a:p>
            <a:pPr eaLnBrk="1" hangingPunct="1">
              <a:buFont typeface="Wingdings" pitchFamily="2" charset="2"/>
              <a:buNone/>
            </a:pPr>
            <a:endParaRPr lang="en-US" sz="2400" b="1" dirty="0" smtClean="0"/>
          </a:p>
        </p:txBody>
      </p:sp>
      <p:graphicFrame>
        <p:nvGraphicFramePr>
          <p:cNvPr id="98308" name="Object 4"/>
          <p:cNvGraphicFramePr>
            <a:graphicFrameLocks/>
          </p:cNvGraphicFramePr>
          <p:nvPr>
            <p:ph sz="half" idx="2"/>
          </p:nvPr>
        </p:nvGraphicFramePr>
        <p:xfrm>
          <a:off x="2209800" y="2286000"/>
          <a:ext cx="4038600" cy="685800"/>
        </p:xfrm>
        <a:graphic>
          <a:graphicData uri="http://schemas.openxmlformats.org/presentationml/2006/ole">
            <p:oleObj spid="_x0000_s7170" name="Equation" r:id="rId4" imgW="1765300" imgH="508000" progId="Equation.3">
              <p:embed/>
            </p:oleObj>
          </a:graphicData>
        </a:graphic>
      </p:graphicFrame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724400" y="4267200"/>
            <a:ext cx="3505200" cy="8607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Slide Number Placeholder 6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D7876D3-3C9C-4052-8F5F-37D31F2FA80B}" type="slidenum">
              <a:rPr lang="en-US"/>
              <a:pPr/>
              <a:t>26</a:t>
            </a:fld>
            <a:endParaRPr lang="en-US"/>
          </a:p>
        </p:txBody>
      </p:sp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402638" cy="609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Resolve </a:t>
            </a:r>
            <a:r>
              <a:rPr lang="en-US" dirty="0" err="1" smtClean="0"/>
              <a:t>Overfitting</a:t>
            </a:r>
            <a:r>
              <a:rPr lang="en-US" dirty="0" smtClean="0"/>
              <a:t> in Naïve </a:t>
            </a:r>
            <a:r>
              <a:rPr lang="en-US" dirty="0" err="1" smtClean="0"/>
              <a:t>Bayes</a:t>
            </a:r>
            <a:endParaRPr lang="en-US" dirty="0" smtClean="0"/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990600"/>
            <a:ext cx="8382000" cy="571500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400" dirty="0" smtClean="0"/>
              <a:t>Avoiding the Zero-Probability Problem</a:t>
            </a:r>
          </a:p>
          <a:p>
            <a:pPr eaLnBrk="1" hangingPunct="1">
              <a:buFont typeface="Wingdings" pitchFamily="2" charset="2"/>
              <a:buNone/>
            </a:pPr>
            <a:endParaRPr lang="en-US" sz="2400" b="1" dirty="0" smtClean="0"/>
          </a:p>
          <a:p>
            <a:pPr eaLnBrk="1" hangingPunct="1"/>
            <a:r>
              <a:rPr lang="en-US" sz="2400" dirty="0" smtClean="0"/>
              <a:t>Ex. Suppose a dataset with 1000 </a:t>
            </a:r>
            <a:r>
              <a:rPr lang="en-US" sz="2400" dirty="0" err="1" smtClean="0"/>
              <a:t>tuples</a:t>
            </a:r>
            <a:r>
              <a:rPr lang="en-US" sz="2400" dirty="0" smtClean="0"/>
              <a:t>, income=low (990), income= medium (0), and income = high (10)</a:t>
            </a:r>
          </a:p>
          <a:p>
            <a:pPr eaLnBrk="1" hangingPunct="1"/>
            <a:r>
              <a:rPr lang="en-US" sz="2400" dirty="0" smtClean="0"/>
              <a:t>Use </a:t>
            </a:r>
            <a:r>
              <a:rPr lang="en-US" sz="2400" b="1" dirty="0" err="1" smtClean="0"/>
              <a:t>Laplacian</a:t>
            </a:r>
            <a:r>
              <a:rPr lang="en-US" sz="2400" b="1" dirty="0" smtClean="0"/>
              <a:t> correction</a:t>
            </a:r>
            <a:r>
              <a:rPr lang="en-US" sz="2400" dirty="0" smtClean="0"/>
              <a:t> (or </a:t>
            </a:r>
            <a:r>
              <a:rPr lang="en-US" sz="2400" dirty="0" err="1" smtClean="0"/>
              <a:t>Laplacian</a:t>
            </a:r>
            <a:r>
              <a:rPr lang="en-US" sz="2400" dirty="0" smtClean="0"/>
              <a:t> estimator)</a:t>
            </a:r>
          </a:p>
          <a:p>
            <a:pPr lvl="1" eaLnBrk="1" hangingPunct="1"/>
            <a:r>
              <a:rPr lang="en-US" sz="2400" i="1" dirty="0" smtClean="0"/>
              <a:t>Adding 1 to each case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dirty="0" err="1" smtClean="0"/>
              <a:t>Prob</a:t>
            </a:r>
            <a:r>
              <a:rPr lang="en-US" dirty="0" smtClean="0"/>
              <a:t>(income = low) = 991/1003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dirty="0" err="1" smtClean="0"/>
              <a:t>Prob</a:t>
            </a:r>
            <a:r>
              <a:rPr lang="en-US" dirty="0" smtClean="0"/>
              <a:t>(income = medium) = 1/1003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dirty="0" err="1" smtClean="0"/>
              <a:t>Prob</a:t>
            </a:r>
            <a:r>
              <a:rPr lang="en-US" dirty="0" smtClean="0"/>
              <a:t>(income = high) = 11/1003</a:t>
            </a:r>
          </a:p>
          <a:p>
            <a:pPr lvl="1" eaLnBrk="1" hangingPunct="1"/>
            <a:r>
              <a:rPr lang="en-US" sz="2400" dirty="0" smtClean="0"/>
              <a:t>The </a:t>
            </a:r>
            <a:r>
              <a:rPr lang="ja-JP" altLang="en-US" sz="2400" smtClean="0"/>
              <a:t>“</a:t>
            </a:r>
            <a:r>
              <a:rPr lang="en-US" altLang="ja-JP" sz="2400" dirty="0" smtClean="0"/>
              <a:t>corrected</a:t>
            </a:r>
            <a:r>
              <a:rPr lang="ja-JP" altLang="en-US" sz="2400" smtClean="0"/>
              <a:t>”</a:t>
            </a:r>
            <a:r>
              <a:rPr lang="en-US" altLang="ja-JP" sz="2400" dirty="0" smtClean="0"/>
              <a:t> prob. estimates are close to their </a:t>
            </a:r>
            <a:r>
              <a:rPr lang="ja-JP" altLang="en-US" sz="2400" smtClean="0"/>
              <a:t>“</a:t>
            </a:r>
            <a:r>
              <a:rPr lang="en-US" altLang="ja-JP" sz="2400" dirty="0" smtClean="0"/>
              <a:t>uncorrected</a:t>
            </a:r>
            <a:r>
              <a:rPr lang="ja-JP" altLang="en-US" sz="2400" smtClean="0"/>
              <a:t>”</a:t>
            </a:r>
            <a:r>
              <a:rPr lang="en-US" altLang="ja-JP" sz="2400" dirty="0" smtClean="0"/>
              <a:t> counterparts</a:t>
            </a:r>
            <a:endParaRPr lang="en-US" sz="2400" dirty="0" smtClean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Resolve </a:t>
            </a:r>
            <a:r>
              <a:rPr lang="en-US" dirty="0" err="1" smtClean="0"/>
              <a:t>Overfitting</a:t>
            </a:r>
            <a:r>
              <a:rPr lang="en-US" dirty="0" smtClean="0"/>
              <a:t> in Naïve </a:t>
            </a:r>
            <a:r>
              <a:rPr lang="en-US" dirty="0" err="1" smtClean="0"/>
              <a:t>Bayes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 smtClean="0"/>
              <a:t>2. Feature Selection / Dimensionality Reduction</a:t>
            </a:r>
          </a:p>
          <a:p>
            <a:r>
              <a:rPr lang="en-US" dirty="0" smtClean="0"/>
              <a:t>Remove redundant or highly correlated features to better align with the Naïve </a:t>
            </a:r>
            <a:r>
              <a:rPr lang="en-US" dirty="0" err="1" smtClean="0"/>
              <a:t>Bayes</a:t>
            </a:r>
            <a:r>
              <a:rPr lang="en-US" dirty="0" smtClean="0"/>
              <a:t> independence assumption.</a:t>
            </a:r>
          </a:p>
          <a:p>
            <a:r>
              <a:rPr lang="en-US" dirty="0" smtClean="0"/>
              <a:t>Use PCA, LDA, or Mutual Information to select only relevant features.</a:t>
            </a:r>
          </a:p>
          <a:p>
            <a:pPr>
              <a:buNone/>
            </a:pPr>
            <a:r>
              <a:rPr lang="en-US" dirty="0" smtClean="0"/>
              <a:t>3. </a:t>
            </a:r>
            <a:r>
              <a:rPr lang="en-US" b="1" dirty="0" smtClean="0"/>
              <a:t>Use a More Advanced Naïve </a:t>
            </a:r>
            <a:r>
              <a:rPr lang="en-US" b="1" dirty="0" err="1" smtClean="0"/>
              <a:t>Bayes</a:t>
            </a:r>
            <a:r>
              <a:rPr lang="en-US" b="1" dirty="0" smtClean="0"/>
              <a:t> Variant</a:t>
            </a:r>
          </a:p>
          <a:p>
            <a:r>
              <a:rPr lang="en-US" dirty="0" smtClean="0"/>
              <a:t>Gaussian Naïve </a:t>
            </a:r>
            <a:r>
              <a:rPr lang="en-US" dirty="0" err="1" smtClean="0"/>
              <a:t>Bayes</a:t>
            </a:r>
            <a:r>
              <a:rPr lang="en-US" dirty="0" smtClean="0"/>
              <a:t>: If features are continuous, assume they follow a Gaussian distribution.</a:t>
            </a:r>
          </a:p>
          <a:p>
            <a:r>
              <a:rPr lang="en-US" dirty="0" smtClean="0"/>
              <a:t>Multinomial Naïve </a:t>
            </a:r>
            <a:r>
              <a:rPr lang="en-US" dirty="0" err="1" smtClean="0"/>
              <a:t>Bayes</a:t>
            </a:r>
            <a:r>
              <a:rPr lang="en-US" dirty="0" smtClean="0"/>
              <a:t>: Suitable for text classification.</a:t>
            </a:r>
          </a:p>
          <a:p>
            <a:r>
              <a:rPr lang="en-US" dirty="0" smtClean="0"/>
              <a:t>Bernoulli Naïve </a:t>
            </a:r>
            <a:r>
              <a:rPr lang="en-US" dirty="0" err="1" smtClean="0"/>
              <a:t>Bayes</a:t>
            </a:r>
            <a:r>
              <a:rPr lang="en-US" dirty="0" smtClean="0"/>
              <a:t>: Best for binary feature representation.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Resolve </a:t>
            </a:r>
            <a:r>
              <a:rPr lang="en-US" dirty="0" err="1" smtClean="0"/>
              <a:t>Overfitting</a:t>
            </a:r>
            <a:r>
              <a:rPr lang="en-US" dirty="0" smtClean="0"/>
              <a:t> in Naïve </a:t>
            </a:r>
            <a:r>
              <a:rPr lang="en-US" dirty="0" err="1" smtClean="0"/>
              <a:t>Bayes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/>
              <a:t>4. </a:t>
            </a:r>
            <a:r>
              <a:rPr lang="en-US" b="1" dirty="0" smtClean="0"/>
              <a:t>Bayesian </a:t>
            </a:r>
            <a:r>
              <a:rPr lang="en-US" b="1" dirty="0" smtClean="0"/>
              <a:t>Priors</a:t>
            </a:r>
          </a:p>
          <a:p>
            <a:r>
              <a:rPr lang="en-US" dirty="0" smtClean="0"/>
              <a:t>Instead of relying purely on observed data, incorporate </a:t>
            </a:r>
            <a:r>
              <a:rPr lang="en-US" b="1" dirty="0" smtClean="0"/>
              <a:t>prior knowledge</a:t>
            </a:r>
            <a:r>
              <a:rPr lang="en-US" dirty="0" smtClean="0"/>
              <a:t> to balance probabilities.</a:t>
            </a:r>
          </a:p>
          <a:p>
            <a:r>
              <a:rPr lang="en-US" dirty="0" smtClean="0"/>
              <a:t>Helps when dealing with </a:t>
            </a:r>
            <a:r>
              <a:rPr lang="en-US" b="1" dirty="0" smtClean="0"/>
              <a:t>imbalanced datasets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5</a:t>
            </a:r>
            <a:r>
              <a:rPr lang="en-US" b="1" dirty="0" smtClean="0"/>
              <a:t>. </a:t>
            </a:r>
            <a:r>
              <a:rPr lang="en-US" b="1" dirty="0" smtClean="0"/>
              <a:t>Cross-Validation</a:t>
            </a:r>
            <a:endParaRPr lang="en-US" b="1" dirty="0" smtClean="0"/>
          </a:p>
          <a:p>
            <a:r>
              <a:rPr lang="en-US" dirty="0" smtClean="0"/>
              <a:t>Use </a:t>
            </a:r>
            <a:r>
              <a:rPr lang="en-US" b="1" dirty="0" smtClean="0"/>
              <a:t>k-fold cross-validation</a:t>
            </a:r>
            <a:r>
              <a:rPr lang="en-US" dirty="0" smtClean="0"/>
              <a:t> to ensure the model generalizes well across different training sets.</a:t>
            </a:r>
          </a:p>
          <a:p>
            <a:r>
              <a:rPr lang="en-US" dirty="0" smtClean="0"/>
              <a:t>Helps in choosing the best smoothing parameter (α</a:t>
            </a:r>
            <a:r>
              <a:rPr lang="en-US" dirty="0" smtClean="0"/>
              <a:t>). (How?)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Cross-validation for tuning </a:t>
            </a:r>
            <a:r>
              <a:rPr lang="en-US" dirty="0" smtClean="0"/>
              <a:t>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/>
          <a:p>
            <a:r>
              <a:rPr lang="en-US" sz="2800" dirty="0" smtClean="0"/>
              <a:t>K-fold cross-validation helps in selecting the best smoothing parameter </a:t>
            </a:r>
            <a:r>
              <a:rPr lang="en-US" sz="2800" dirty="0" smtClean="0"/>
              <a:t>(α</a:t>
            </a:r>
            <a:r>
              <a:rPr lang="el-GR" sz="2800" dirty="0" smtClean="0"/>
              <a:t>) </a:t>
            </a:r>
            <a:r>
              <a:rPr lang="en-US" sz="2800" dirty="0" smtClean="0"/>
              <a:t>for </a:t>
            </a:r>
            <a:r>
              <a:rPr lang="en-US" sz="2800" b="1" dirty="0" err="1" smtClean="0"/>
              <a:t>Laplacian</a:t>
            </a:r>
            <a:r>
              <a:rPr lang="en-US" sz="2800" b="1" dirty="0" smtClean="0"/>
              <a:t> smoothing</a:t>
            </a:r>
            <a:r>
              <a:rPr lang="en-US" sz="2800" dirty="0" smtClean="0"/>
              <a:t> in </a:t>
            </a:r>
            <a:r>
              <a:rPr lang="en-US" sz="2800" b="1" dirty="0" smtClean="0"/>
              <a:t>Naïve </a:t>
            </a:r>
            <a:r>
              <a:rPr lang="en-US" sz="2800" b="1" dirty="0" err="1" smtClean="0"/>
              <a:t>Bayes</a:t>
            </a:r>
            <a:r>
              <a:rPr lang="en-US" sz="2800" b="1" dirty="0" smtClean="0"/>
              <a:t> </a:t>
            </a:r>
            <a:r>
              <a:rPr lang="en-US" sz="2800" b="1" dirty="0" smtClean="0"/>
              <a:t>classification</a:t>
            </a:r>
          </a:p>
          <a:p>
            <a:r>
              <a:rPr lang="en-US" sz="2800" dirty="0" smtClean="0"/>
              <a:t>It systematically evaluates different </a:t>
            </a:r>
            <a:r>
              <a:rPr lang="en-US" sz="2800" dirty="0" smtClean="0"/>
              <a:t>values of α </a:t>
            </a:r>
            <a:r>
              <a:rPr lang="en-US" sz="2800" dirty="0" smtClean="0"/>
              <a:t>on </a:t>
            </a:r>
            <a:r>
              <a:rPr lang="en-US" sz="2800" dirty="0" smtClean="0"/>
              <a:t>multiple training and validation sets, ensuring optimal performance. </a:t>
            </a:r>
            <a:endParaRPr lang="en-US" sz="2800" dirty="0" smtClean="0"/>
          </a:p>
          <a:p>
            <a:r>
              <a:rPr lang="en-IN" sz="2800" dirty="0" smtClean="0"/>
              <a:t>In </a:t>
            </a:r>
            <a:r>
              <a:rPr lang="en-IN" sz="2800" dirty="0" err="1" smtClean="0"/>
              <a:t>Laplacian</a:t>
            </a:r>
            <a:r>
              <a:rPr lang="en-IN" sz="2800" dirty="0" smtClean="0"/>
              <a:t> Smoothing, </a:t>
            </a:r>
            <a:r>
              <a:rPr lang="en-US" sz="2800" dirty="0" smtClean="0"/>
              <a:t>α &gt; 0 prevents </a:t>
            </a:r>
            <a:r>
              <a:rPr lang="en-US" sz="2800" dirty="0" smtClean="0"/>
              <a:t>zero probability. The effectiveness of smoothing depends on the choice of α</a:t>
            </a:r>
            <a:r>
              <a:rPr lang="en-US" sz="2800" dirty="0" smtClean="0"/>
              <a:t>. </a:t>
            </a:r>
            <a:r>
              <a:rPr lang="en-US" sz="2800" dirty="0" smtClean="0"/>
              <a:t>Too small α </a:t>
            </a:r>
            <a:r>
              <a:rPr lang="en-US" sz="2800" dirty="0" smtClean="0"/>
              <a:t>can </a:t>
            </a:r>
            <a:r>
              <a:rPr lang="en-US" sz="2800" dirty="0" smtClean="0"/>
              <a:t>lead to </a:t>
            </a:r>
            <a:r>
              <a:rPr lang="en-US" sz="2800" dirty="0" err="1" smtClean="0"/>
              <a:t>underfitting</a:t>
            </a:r>
            <a:r>
              <a:rPr lang="en-US" sz="2800" dirty="0" smtClean="0"/>
              <a:t>, while too large α</a:t>
            </a:r>
            <a:r>
              <a:rPr lang="en-US" sz="2800" dirty="0" smtClean="0"/>
              <a:t> </a:t>
            </a:r>
            <a:r>
              <a:rPr lang="en-US" sz="2800" dirty="0" smtClean="0"/>
              <a:t>can cause over-smoothing.</a:t>
            </a:r>
            <a:endParaRPr lang="en-US" sz="2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Cross-validation for tuning 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334000"/>
          </a:xfrm>
        </p:spPr>
        <p:txBody>
          <a:bodyPr/>
          <a:lstStyle/>
          <a:p>
            <a:r>
              <a:rPr lang="en-US" b="1" dirty="0" smtClean="0"/>
              <a:t>K-fold cross-validation</a:t>
            </a:r>
            <a:r>
              <a:rPr lang="en-US" dirty="0" smtClean="0"/>
              <a:t> helps determine the best α</a:t>
            </a:r>
            <a:r>
              <a:rPr lang="en-US" dirty="0" smtClean="0"/>
              <a:t> </a:t>
            </a:r>
            <a:r>
              <a:rPr lang="en-US" dirty="0" smtClean="0"/>
              <a:t>as follows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b="1" dirty="0" smtClean="0"/>
              <a:t>1. Divide </a:t>
            </a:r>
            <a:r>
              <a:rPr lang="en-US" b="1" dirty="0" smtClean="0"/>
              <a:t>Data into K-Folds</a:t>
            </a:r>
            <a:endParaRPr lang="en-US" dirty="0" smtClean="0"/>
          </a:p>
          <a:p>
            <a:r>
              <a:rPr lang="en-US" dirty="0" smtClean="0"/>
              <a:t>The dataset is split into </a:t>
            </a:r>
            <a:r>
              <a:rPr lang="en-US" dirty="0" smtClean="0"/>
              <a:t>K </a:t>
            </a:r>
            <a:r>
              <a:rPr lang="en-US" dirty="0" smtClean="0"/>
              <a:t>subsets (folds).</a:t>
            </a:r>
          </a:p>
          <a:p>
            <a:r>
              <a:rPr lang="en-US" dirty="0" smtClean="0"/>
              <a:t>The model is trained on K−</a:t>
            </a:r>
            <a:r>
              <a:rPr lang="en-US" dirty="0" smtClean="0"/>
              <a:t>1 </a:t>
            </a:r>
            <a:r>
              <a:rPr lang="en-US" dirty="0" smtClean="0"/>
              <a:t>folds and validated on the remaining fold.</a:t>
            </a:r>
          </a:p>
          <a:p>
            <a:r>
              <a:rPr lang="en-US" dirty="0" smtClean="0"/>
              <a:t>This process is repeated </a:t>
            </a:r>
            <a:r>
              <a:rPr lang="en-US" dirty="0" smtClean="0"/>
              <a:t>K </a:t>
            </a:r>
            <a:r>
              <a:rPr lang="en-US" dirty="0" smtClean="0"/>
              <a:t>times, with each fold serving as validation once.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Cross-validation for tuning 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 smtClean="0"/>
              <a:t>2. Test </a:t>
            </a:r>
            <a:r>
              <a:rPr lang="en-US" b="1" dirty="0" smtClean="0"/>
              <a:t>Multiple Values </a:t>
            </a:r>
            <a:r>
              <a:rPr lang="en-US" b="1" dirty="0" smtClean="0"/>
              <a:t>of </a:t>
            </a:r>
            <a:r>
              <a:rPr lang="en-US" dirty="0" smtClean="0"/>
              <a:t>α</a:t>
            </a:r>
          </a:p>
          <a:p>
            <a:r>
              <a:rPr lang="en-US" dirty="0" smtClean="0"/>
              <a:t>Train the Naïve </a:t>
            </a:r>
            <a:r>
              <a:rPr lang="en-US" dirty="0" err="1" smtClean="0"/>
              <a:t>Bayes</a:t>
            </a:r>
            <a:r>
              <a:rPr lang="en-US" dirty="0" smtClean="0"/>
              <a:t> model using different values of α</a:t>
            </a:r>
            <a:r>
              <a:rPr lang="en-US" dirty="0" smtClean="0"/>
              <a:t> </a:t>
            </a:r>
            <a:r>
              <a:rPr lang="en-US" dirty="0" smtClean="0"/>
              <a:t>(e.g., 0.1, 0.5, 1, 10).</a:t>
            </a:r>
          </a:p>
          <a:p>
            <a:r>
              <a:rPr lang="en-US" dirty="0" smtClean="0"/>
              <a:t>Compute performance metrics (accuracy, log-likelihood, F1-score) on the validation fold.</a:t>
            </a:r>
          </a:p>
          <a:p>
            <a:pPr>
              <a:buNone/>
            </a:pPr>
            <a:r>
              <a:rPr lang="en-US" b="1" dirty="0" smtClean="0"/>
              <a:t>3. Average </a:t>
            </a:r>
            <a:r>
              <a:rPr lang="en-US" b="1" dirty="0" smtClean="0"/>
              <a:t>Performance Across Folds</a:t>
            </a:r>
            <a:endParaRPr lang="en-US" dirty="0" smtClean="0"/>
          </a:p>
          <a:p>
            <a:r>
              <a:rPr lang="en-US" dirty="0" smtClean="0"/>
              <a:t>The performance of each </a:t>
            </a:r>
            <a:r>
              <a:rPr lang="en-US" dirty="0" smtClean="0"/>
              <a:t>α </a:t>
            </a:r>
            <a:r>
              <a:rPr lang="en-US" dirty="0" smtClean="0"/>
              <a:t>is averaged over all </a:t>
            </a:r>
            <a:r>
              <a:rPr lang="en-US" dirty="0" smtClean="0"/>
              <a:t>K </a:t>
            </a:r>
            <a:r>
              <a:rPr lang="en-US" dirty="0" smtClean="0"/>
              <a:t>iterations.</a:t>
            </a:r>
          </a:p>
          <a:p>
            <a:r>
              <a:rPr lang="en-US" dirty="0" smtClean="0"/>
              <a:t>This ensures that results are not biased by any specific data split.</a:t>
            </a:r>
          </a:p>
          <a:p>
            <a:pPr>
              <a:buNone/>
            </a:pPr>
            <a:r>
              <a:rPr lang="en-US" b="1" dirty="0" smtClean="0"/>
              <a:t>4. Select </a:t>
            </a:r>
            <a:r>
              <a:rPr lang="en-US" b="1" dirty="0" smtClean="0"/>
              <a:t>the Best </a:t>
            </a:r>
            <a:r>
              <a:rPr lang="en-US" dirty="0" smtClean="0"/>
              <a:t>α</a:t>
            </a:r>
          </a:p>
          <a:p>
            <a:r>
              <a:rPr lang="en-US" dirty="0" smtClean="0"/>
              <a:t>The α</a:t>
            </a:r>
            <a:r>
              <a:rPr lang="en-US" dirty="0" smtClean="0"/>
              <a:t> </a:t>
            </a:r>
            <a:r>
              <a:rPr lang="en-US" dirty="0" smtClean="0"/>
              <a:t>yielding the highest average validation performance is chosen as the optimal smoothing parameter</a:t>
            </a:r>
            <a:r>
              <a:rPr lang="en-US" dirty="0" smtClean="0"/>
              <a:t>. </a:t>
            </a:r>
            <a:endParaRPr lang="en-US" dirty="0" smtClean="0"/>
          </a:p>
          <a:p>
            <a:r>
              <a:rPr lang="en-US" dirty="0" smtClean="0"/>
              <a:t>This optimally balances generalization and model accuracy.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Cross-validation for tuning 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K-fold cross-validation helps in </a:t>
            </a:r>
            <a:r>
              <a:rPr lang="en-US" b="1" dirty="0" smtClean="0"/>
              <a:t>fine-tuning the </a:t>
            </a:r>
            <a:r>
              <a:rPr lang="en-US" b="1" dirty="0" err="1" smtClean="0"/>
              <a:t>Laplacian</a:t>
            </a:r>
            <a:r>
              <a:rPr lang="en-US" b="1" dirty="0" smtClean="0"/>
              <a:t> smoothing parameter </a:t>
            </a:r>
            <a:r>
              <a:rPr lang="en-US" dirty="0" smtClean="0"/>
              <a:t>α</a:t>
            </a:r>
            <a:r>
              <a:rPr lang="en-US" dirty="0" smtClean="0"/>
              <a:t> </a:t>
            </a:r>
            <a:r>
              <a:rPr lang="en-US" dirty="0" smtClean="0"/>
              <a:t>by systematically evaluating different values and selecting the one that minimizes classification error.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 smtClean="0"/>
              <a:t>improves the generalization ability of the Naïve </a:t>
            </a:r>
            <a:r>
              <a:rPr lang="en-US" dirty="0" err="1" smtClean="0"/>
              <a:t>Bayes</a:t>
            </a:r>
            <a:r>
              <a:rPr lang="en-US" dirty="0" smtClean="0"/>
              <a:t> classifier, ensuring it handles unseen data effectively.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828800"/>
            <a:ext cx="8402638" cy="1295400"/>
          </a:xfrm>
        </p:spPr>
        <p:txBody>
          <a:bodyPr/>
          <a:lstStyle/>
          <a:p>
            <a:r>
              <a:rPr lang="en-IN" sz="7200" dirty="0" err="1" smtClean="0"/>
              <a:t>kNN</a:t>
            </a:r>
            <a:r>
              <a:rPr lang="en-IN" sz="7200" dirty="0" smtClean="0"/>
              <a:t> Algorithm</a:t>
            </a:r>
            <a:endParaRPr lang="en-US" sz="7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A8A04-1C0C-4C06-A72C-2BB05733F882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kNN</a:t>
            </a:r>
            <a:r>
              <a:rPr lang="en-IN" dirty="0" smtClean="0"/>
              <a:t> Classifier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839200" cy="5791200"/>
          </a:xfrm>
        </p:spPr>
        <p:txBody>
          <a:bodyPr>
            <a:normAutofit lnSpcReduction="10000"/>
          </a:bodyPr>
          <a:lstStyle/>
          <a:p>
            <a:r>
              <a:rPr lang="en-IN" sz="2400" dirty="0" smtClean="0"/>
              <a:t>k-nearest neighbours (</a:t>
            </a:r>
            <a:r>
              <a:rPr lang="en-IN" sz="2400" dirty="0" err="1" smtClean="0"/>
              <a:t>kNN</a:t>
            </a:r>
            <a:r>
              <a:rPr lang="en-IN" sz="2400" dirty="0" smtClean="0"/>
              <a:t>) algorithm as a type of supervised algorithm which can be used for both classification as well as regression predictive problems.</a:t>
            </a:r>
          </a:p>
          <a:p>
            <a:r>
              <a:rPr lang="en-IN" sz="2400" dirty="0" smtClean="0"/>
              <a:t>There are three categories of learning algorithms:</a:t>
            </a:r>
          </a:p>
          <a:p>
            <a:pPr>
              <a:buNone/>
            </a:pPr>
            <a:r>
              <a:rPr lang="en-IN" sz="2400" dirty="0" smtClean="0"/>
              <a:t>	</a:t>
            </a:r>
            <a:r>
              <a:rPr lang="en-IN" sz="2400" dirty="0" err="1" smtClean="0"/>
              <a:t>i</a:t>
            </a:r>
            <a:r>
              <a:rPr lang="en-IN" sz="2400" dirty="0" smtClean="0"/>
              <a:t>) </a:t>
            </a:r>
            <a:r>
              <a:rPr lang="en-IN" sz="2400" b="1" dirty="0" smtClean="0"/>
              <a:t>Lazy learning algorithm: </a:t>
            </a:r>
            <a:r>
              <a:rPr lang="en-IN" sz="2400" dirty="0" smtClean="0"/>
              <a:t> </a:t>
            </a:r>
            <a:r>
              <a:rPr lang="en-IN" sz="2400" dirty="0" err="1" smtClean="0"/>
              <a:t>kNN</a:t>
            </a:r>
            <a:r>
              <a:rPr lang="en-IN" sz="2400" dirty="0" smtClean="0"/>
              <a:t> is a lazy learning algorithm because it does not have a specialized training phase or model and uses all the data for training while classification</a:t>
            </a:r>
          </a:p>
          <a:p>
            <a:pPr>
              <a:buNone/>
            </a:pPr>
            <a:r>
              <a:rPr lang="en-IN" sz="2400" dirty="0" smtClean="0"/>
              <a:t>	ii) </a:t>
            </a:r>
            <a:r>
              <a:rPr lang="en-IN" sz="2400" b="1" dirty="0" smtClean="0"/>
              <a:t>Non-parametric learning algorithm:</a:t>
            </a:r>
            <a:r>
              <a:rPr lang="en-IN" sz="2400" dirty="0" smtClean="0"/>
              <a:t> </a:t>
            </a:r>
            <a:r>
              <a:rPr lang="en-IN" sz="2400" dirty="0" err="1" smtClean="0"/>
              <a:t>kNN</a:t>
            </a:r>
            <a:r>
              <a:rPr lang="en-IN" sz="2400" dirty="0" smtClean="0"/>
              <a:t> is also a non-parametric learning algorithm because it does not assume </a:t>
            </a:r>
            <a:r>
              <a:rPr lang="en-US" sz="2400" dirty="0" smtClean="0"/>
              <a:t>about the distribution of the underlying data (as opposed to other algorithms such as Gaussian Mixture Model (GMM), which assume a Gaussian distribution </a:t>
            </a:r>
            <a:r>
              <a:rPr lang="en-IN" sz="2400" dirty="0" smtClean="0"/>
              <a:t>about the data</a:t>
            </a:r>
          </a:p>
          <a:p>
            <a:pPr>
              <a:buNone/>
            </a:pPr>
            <a:r>
              <a:rPr lang="en-IN" sz="2400" dirty="0" smtClean="0"/>
              <a:t>	iii) </a:t>
            </a:r>
            <a:r>
              <a:rPr lang="en-IN" sz="2400" b="1" dirty="0" smtClean="0"/>
              <a:t>Eager learning algorithm: </a:t>
            </a:r>
            <a:r>
              <a:rPr lang="en-IN" sz="2400" dirty="0" smtClean="0"/>
              <a:t>Eager learners, when given a set of training </a:t>
            </a:r>
            <a:r>
              <a:rPr lang="en-IN" sz="2400" dirty="0" err="1" smtClean="0"/>
              <a:t>tuples</a:t>
            </a:r>
            <a:r>
              <a:rPr lang="en-IN" sz="2400" dirty="0" smtClean="0"/>
              <a:t>, will construct a generalization model before receiving new (e.g., test) </a:t>
            </a:r>
            <a:r>
              <a:rPr lang="en-IN" sz="2400" dirty="0" err="1" smtClean="0"/>
              <a:t>tuples</a:t>
            </a:r>
            <a:r>
              <a:rPr lang="en-IN" sz="2400" dirty="0" smtClean="0"/>
              <a:t> to classify.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A8A04-1C0C-4C06-A72C-2BB05733F882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kNN</a:t>
            </a:r>
            <a:r>
              <a:rPr lang="en-IN" dirty="0" smtClean="0"/>
              <a:t> Classifier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458200" cy="54102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The </a:t>
            </a:r>
            <a:r>
              <a:rPr lang="en-US" dirty="0" err="1" smtClean="0"/>
              <a:t>kNN</a:t>
            </a:r>
            <a:r>
              <a:rPr lang="en-US" dirty="0" smtClean="0"/>
              <a:t> algorithm begins with a training dataset made up of examples that are classified into several categories. </a:t>
            </a:r>
          </a:p>
          <a:p>
            <a:r>
              <a:rPr lang="en-US" dirty="0" smtClean="0"/>
              <a:t>Assume that we have a test dataset containing unlabeled examples that otherwise have the same features as the training data. </a:t>
            </a:r>
          </a:p>
          <a:p>
            <a:r>
              <a:rPr lang="en-US" dirty="0" smtClean="0"/>
              <a:t>For each example (i.e., record) in the test dataset, </a:t>
            </a:r>
            <a:r>
              <a:rPr lang="en-US" dirty="0" err="1" smtClean="0"/>
              <a:t>kNN</a:t>
            </a:r>
            <a:r>
              <a:rPr lang="en-US" dirty="0" smtClean="0"/>
              <a:t> identifies k examples in the training data that are the "nearest" in similarity, where k is an integer specified in advance.</a:t>
            </a:r>
          </a:p>
          <a:p>
            <a:r>
              <a:rPr lang="en-US" dirty="0" smtClean="0"/>
              <a:t>The unlabeled test instance is assigned the class of the majority of the k nearest </a:t>
            </a:r>
            <a:r>
              <a:rPr lang="en-US" dirty="0" smtClean="0"/>
              <a:t>neighbors.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A8A04-1C0C-4C06-A72C-2BB05733F882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Autofit/>
          </a:bodyPr>
          <a:lstStyle/>
          <a:p>
            <a:r>
              <a:rPr lang="en-US" sz="3200" spc="-315" dirty="0" smtClean="0">
                <a:latin typeface="Times New Roman" pitchFamily="18" charset="0"/>
                <a:cs typeface="Times New Roman" pitchFamily="18" charset="0"/>
              </a:rPr>
              <a:t>KNN:</a:t>
            </a:r>
            <a:r>
              <a:rPr lang="en-US" sz="3200" spc="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spc="-235" dirty="0" smtClean="0">
                <a:latin typeface="Times New Roman" pitchFamily="18" charset="0"/>
                <a:cs typeface="Times New Roman" pitchFamily="18" charset="0"/>
              </a:rPr>
              <a:t>Classification</a:t>
            </a:r>
            <a:r>
              <a:rPr lang="en-US" sz="3200" spc="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spc="-190" dirty="0" smtClean="0">
                <a:latin typeface="Times New Roman" pitchFamily="18" charset="0"/>
                <a:cs typeface="Times New Roman" pitchFamily="18" charset="0"/>
              </a:rPr>
              <a:t>Approach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458200" cy="5867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Locating the unlabeled instance’s nearest neighbors requires a distance function, or a formula that measures the similarity between two instances. </a:t>
            </a:r>
          </a:p>
          <a:p>
            <a:r>
              <a:rPr lang="en-US" dirty="0" smtClean="0"/>
              <a:t>There are many different ways to calculate distance. Traditionally, the </a:t>
            </a:r>
            <a:r>
              <a:rPr lang="en-US" dirty="0" err="1" smtClean="0"/>
              <a:t>kNN</a:t>
            </a:r>
            <a:r>
              <a:rPr lang="en-US" dirty="0" smtClean="0"/>
              <a:t> algorithm uses Euclidean distance.</a:t>
            </a:r>
          </a:p>
          <a:p>
            <a:r>
              <a:rPr lang="en-US" dirty="0" smtClean="0"/>
              <a:t>The K-NN algorithm works by finding the K nearest neighbors to a given data point based on a distance metric, such as Euclidean distance. </a:t>
            </a:r>
          </a:p>
          <a:p>
            <a:r>
              <a:rPr lang="en-US" dirty="0" smtClean="0"/>
              <a:t>The class or value of the data point is then determined by the majority vote (for classification) or average (for regression) of the K neighbors.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A8A04-1C0C-4C06-A72C-2BB05733F882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4170"/>
            <a:ext cx="660463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15" dirty="0">
                <a:latin typeface="Arial" pitchFamily="34" charset="0"/>
                <a:cs typeface="Arial" pitchFamily="34" charset="0"/>
              </a:rPr>
              <a:t>KNN:</a:t>
            </a:r>
            <a:r>
              <a:rPr spc="25" dirty="0">
                <a:latin typeface="Arial" pitchFamily="34" charset="0"/>
                <a:cs typeface="Arial" pitchFamily="34" charset="0"/>
              </a:rPr>
              <a:t> </a:t>
            </a:r>
            <a:r>
              <a:rPr spc="-235" dirty="0">
                <a:latin typeface="Arial" pitchFamily="34" charset="0"/>
                <a:cs typeface="Arial" pitchFamily="34" charset="0"/>
              </a:rPr>
              <a:t>Classification</a:t>
            </a:r>
            <a:r>
              <a:rPr spc="15" dirty="0">
                <a:latin typeface="Arial" pitchFamily="34" charset="0"/>
                <a:cs typeface="Arial" pitchFamily="34" charset="0"/>
              </a:rPr>
              <a:t> </a:t>
            </a:r>
            <a:r>
              <a:rPr spc="-190" dirty="0">
                <a:latin typeface="Arial" pitchFamily="34" charset="0"/>
                <a:cs typeface="Arial" pitchFamily="34" charset="0"/>
              </a:rPr>
              <a:t>Approach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295400"/>
            <a:ext cx="7995413" cy="181395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indent="-320675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800" spc="-145" dirty="0">
                <a:latin typeface="Times New Roman" pitchFamily="18" charset="0"/>
                <a:cs typeface="Times New Roman" pitchFamily="18" charset="0"/>
              </a:rPr>
              <a:t>Classified</a:t>
            </a:r>
            <a:r>
              <a:rPr sz="2800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75" dirty="0">
                <a:latin typeface="Times New Roman" pitchFamily="18" charset="0"/>
                <a:cs typeface="Times New Roman" pitchFamily="18" charset="0"/>
              </a:rPr>
              <a:t>by</a:t>
            </a:r>
            <a:r>
              <a:rPr sz="2800" spc="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180" dirty="0">
                <a:latin typeface="Times New Roman" pitchFamily="18" charset="0"/>
                <a:cs typeface="Times New Roman" pitchFamily="18" charset="0"/>
              </a:rPr>
              <a:t>“</a:t>
            </a:r>
            <a:r>
              <a:rPr sz="2800" b="1" spc="-180" dirty="0">
                <a:latin typeface="Times New Roman" pitchFamily="18" charset="0"/>
                <a:cs typeface="Times New Roman" pitchFamily="18" charset="0"/>
              </a:rPr>
              <a:t>MAJORITY</a:t>
            </a:r>
            <a:r>
              <a:rPr sz="2800" b="1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spc="-275" dirty="0">
                <a:latin typeface="Times New Roman" pitchFamily="18" charset="0"/>
                <a:cs typeface="Times New Roman" pitchFamily="18" charset="0"/>
              </a:rPr>
              <a:t>VOTES</a:t>
            </a:r>
            <a:r>
              <a:rPr sz="2800" spc="-275" dirty="0">
                <a:latin typeface="Times New Roman" pitchFamily="18" charset="0"/>
                <a:cs typeface="Times New Roman" pitchFamily="18" charset="0"/>
              </a:rPr>
              <a:t>”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20" dirty="0">
                <a:latin typeface="Times New Roman" pitchFamily="18" charset="0"/>
                <a:cs typeface="Times New Roman" pitchFamily="18" charset="0"/>
              </a:rPr>
              <a:t>for</a:t>
            </a:r>
            <a:r>
              <a:rPr sz="2800" spc="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180" dirty="0">
                <a:latin typeface="Times New Roman" pitchFamily="18" charset="0"/>
                <a:cs typeface="Times New Roman" pitchFamily="18" charset="0"/>
              </a:rPr>
              <a:t>its</a:t>
            </a:r>
            <a:r>
              <a:rPr sz="2800" spc="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135" dirty="0">
                <a:latin typeface="Times New Roman" pitchFamily="18" charset="0"/>
                <a:cs typeface="Times New Roman" pitchFamily="18" charset="0"/>
              </a:rPr>
              <a:t>neighbor</a:t>
            </a:r>
            <a:endParaRPr sz="2800">
              <a:latin typeface="Times New Roman" pitchFamily="18" charset="0"/>
              <a:cs typeface="Times New Roman" pitchFamily="18" charset="0"/>
            </a:endParaRPr>
          </a:p>
          <a:p>
            <a:pPr marL="332740">
              <a:lnSpc>
                <a:spcPct val="100000"/>
              </a:lnSpc>
            </a:pPr>
            <a:r>
              <a:rPr sz="2800" spc="-285" dirty="0">
                <a:latin typeface="Times New Roman" pitchFamily="18" charset="0"/>
                <a:cs typeface="Times New Roman" pitchFamily="18" charset="0"/>
              </a:rPr>
              <a:t>classes</a:t>
            </a:r>
            <a:endParaRPr sz="2800">
              <a:latin typeface="Times New Roman" pitchFamily="18" charset="0"/>
              <a:cs typeface="Times New Roman" pitchFamily="18" charset="0"/>
            </a:endParaRPr>
          </a:p>
          <a:p>
            <a:pPr marL="652780" marR="388620" indent="-274320">
              <a:lnSpc>
                <a:spcPct val="100000"/>
              </a:lnSpc>
              <a:spcBef>
                <a:spcPts val="610"/>
              </a:spcBef>
            </a:pPr>
            <a:r>
              <a:rPr sz="2800" spc="-55" dirty="0">
                <a:solidFill>
                  <a:srgbClr val="93B6D2"/>
                </a:solidFill>
                <a:latin typeface="Times New Roman" pitchFamily="18" charset="0"/>
                <a:cs typeface="Times New Roman" pitchFamily="18" charset="0"/>
              </a:rPr>
              <a:t>🞑 </a:t>
            </a:r>
            <a:r>
              <a:rPr sz="2800" spc="-195" dirty="0">
                <a:latin typeface="Times New Roman" pitchFamily="18" charset="0"/>
                <a:cs typeface="Times New Roman" pitchFamily="18" charset="0"/>
              </a:rPr>
              <a:t>Assigned</a:t>
            </a:r>
            <a:r>
              <a:rPr sz="2800" spc="-19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80" dirty="0">
                <a:latin typeface="Times New Roman" pitchFamily="18" charset="0"/>
                <a:cs typeface="Times New Roman" pitchFamily="18" charset="0"/>
              </a:rPr>
              <a:t>to </a:t>
            </a:r>
            <a:r>
              <a:rPr sz="2800" spc="-155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800" spc="-254" dirty="0">
                <a:latin typeface="Times New Roman" pitchFamily="18" charset="0"/>
                <a:cs typeface="Times New Roman" pitchFamily="18" charset="0"/>
              </a:rPr>
              <a:t>most</a:t>
            </a:r>
            <a:r>
              <a:rPr sz="2800" spc="-2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295" dirty="0">
                <a:latin typeface="Times New Roman" pitchFamily="18" charset="0"/>
                <a:cs typeface="Times New Roman" pitchFamily="18" charset="0"/>
              </a:rPr>
              <a:t>common</a:t>
            </a:r>
            <a:r>
              <a:rPr sz="2800" spc="-29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240" dirty="0">
                <a:latin typeface="Times New Roman" pitchFamily="18" charset="0"/>
                <a:cs typeface="Times New Roman" pitchFamily="18" charset="0"/>
              </a:rPr>
              <a:t>class</a:t>
            </a:r>
            <a:r>
              <a:rPr sz="2800" spc="-2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195" dirty="0">
                <a:latin typeface="Times New Roman" pitchFamily="18" charset="0"/>
                <a:cs typeface="Times New Roman" pitchFamily="18" charset="0"/>
              </a:rPr>
              <a:t>amongst </a:t>
            </a:r>
            <a:r>
              <a:rPr sz="2800" spc="-160" dirty="0">
                <a:latin typeface="Times New Roman" pitchFamily="18" charset="0"/>
                <a:cs typeface="Times New Roman" pitchFamily="18" charset="0"/>
              </a:rPr>
              <a:t>its </a:t>
            </a:r>
            <a:r>
              <a:rPr sz="2800" i="1" spc="-150" dirty="0">
                <a:latin typeface="Times New Roman" pitchFamily="18" charset="0"/>
                <a:cs typeface="Times New Roman" pitchFamily="18" charset="0"/>
              </a:rPr>
              <a:t>K- </a:t>
            </a:r>
            <a:r>
              <a:rPr sz="2800" i="1" spc="-1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155">
                <a:latin typeface="Times New Roman" pitchFamily="18" charset="0"/>
                <a:cs typeface="Times New Roman" pitchFamily="18" charset="0"/>
              </a:rPr>
              <a:t>ne</a:t>
            </a:r>
            <a:r>
              <a:rPr sz="2800" spc="-150">
                <a:latin typeface="Times New Roman" pitchFamily="18" charset="0"/>
                <a:cs typeface="Times New Roman" pitchFamily="18" charset="0"/>
              </a:rPr>
              <a:t>arest</a:t>
            </a:r>
            <a:r>
              <a:rPr sz="2800" spc="-1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200" smtClean="0">
                <a:latin typeface="Times New Roman" pitchFamily="18" charset="0"/>
                <a:cs typeface="Times New Roman" pitchFamily="18" charset="0"/>
              </a:rPr>
              <a:t>ne</a:t>
            </a:r>
            <a:r>
              <a:rPr sz="2800" spc="-8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sz="2800" spc="-120" smtClean="0">
                <a:latin typeface="Times New Roman" pitchFamily="18" charset="0"/>
                <a:cs typeface="Times New Roman" pitchFamily="18" charset="0"/>
              </a:rPr>
              <a:t>ghb</a:t>
            </a:r>
            <a:r>
              <a:rPr sz="2800" spc="-114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sz="2800" spc="-220" smtClean="0">
                <a:latin typeface="Times New Roman" pitchFamily="18" charset="0"/>
                <a:cs typeface="Times New Roman" pitchFamily="18" charset="0"/>
              </a:rPr>
              <a:t>rs</a:t>
            </a:r>
            <a:endParaRPr sz="28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0" y="3276600"/>
            <a:ext cx="2761896" cy="22955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4170"/>
            <a:ext cx="402145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315" dirty="0" smtClean="0"/>
              <a:t>K</a:t>
            </a:r>
            <a:r>
              <a:rPr spc="-315" smtClean="0"/>
              <a:t>NN</a:t>
            </a:r>
            <a:r>
              <a:rPr spc="-315" dirty="0"/>
              <a:t>:</a:t>
            </a:r>
            <a:r>
              <a:rPr spc="45" dirty="0"/>
              <a:t> </a:t>
            </a:r>
            <a:r>
              <a:rPr spc="-580" dirty="0"/>
              <a:t>Ps</a:t>
            </a:r>
            <a:r>
              <a:rPr spc="-550" dirty="0"/>
              <a:t>e</a:t>
            </a:r>
            <a:r>
              <a:rPr spc="-260" dirty="0"/>
              <a:t>udocode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1" y="1143000"/>
            <a:ext cx="7561484" cy="48006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Advantages of </a:t>
            </a:r>
            <a:r>
              <a:rPr lang="en-IN" dirty="0" err="1" smtClean="0"/>
              <a:t>kNN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04800" y="990600"/>
            <a:ext cx="8610600" cy="5638800"/>
          </a:xfrm>
        </p:spPr>
        <p:txBody>
          <a:bodyPr>
            <a:normAutofit fontScale="92500"/>
          </a:bodyPr>
          <a:lstStyle/>
          <a:p>
            <a:r>
              <a:rPr lang="en-US" dirty="0" err="1" smtClean="0"/>
              <a:t>kNN</a:t>
            </a:r>
            <a:r>
              <a:rPr lang="en-US" dirty="0" smtClean="0"/>
              <a:t> algorithm is a versatile and widely used machine learning algorithm that is primarily used for its simplicity and ease of implementation. </a:t>
            </a:r>
          </a:p>
          <a:p>
            <a:r>
              <a:rPr lang="en-US" dirty="0" smtClean="0"/>
              <a:t>It does not require any assumptions about the underlying data distribution. </a:t>
            </a:r>
          </a:p>
          <a:p>
            <a:r>
              <a:rPr lang="en-US" dirty="0" smtClean="0"/>
              <a:t>It can also handle both numerical and categorical data, making it a flexible choice for various types of datasets in classification and regression tasks. </a:t>
            </a:r>
          </a:p>
          <a:p>
            <a:r>
              <a:rPr lang="en-US" dirty="0" smtClean="0"/>
              <a:t>It is a non-parametric method that makes predictions based on the similarity of data points in a given dataset.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ACD332-80BB-464C-B918-56270787EF64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                 Advantages </a:t>
            </a:r>
            <a:r>
              <a:rPr lang="en-IN" dirty="0" smtClean="0"/>
              <a:t>                 </a:t>
            </a:r>
            <a:r>
              <a:rPr lang="en-IN" sz="2800" dirty="0" smtClean="0"/>
              <a:t>Contd..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K-NN is less sensitive to outliers compared to other algorithms.</a:t>
            </a:r>
          </a:p>
          <a:p>
            <a:pPr>
              <a:buNone/>
            </a:pPr>
            <a:endParaRPr lang="en-US" b="1" dirty="0" smtClean="0"/>
          </a:p>
          <a:p>
            <a:r>
              <a:rPr lang="en-US" b="1" dirty="0" smtClean="0"/>
              <a:t>Few </a:t>
            </a:r>
            <a:r>
              <a:rPr lang="en-US" b="1" dirty="0" err="1" smtClean="0"/>
              <a:t>Hyperparameters</a:t>
            </a:r>
            <a:r>
              <a:rPr lang="en-US" dirty="0" smtClean="0"/>
              <a:t> – The only parameters which are required in the training of a KNN algorithm are the value of k and the choice of the distance metric which we would like to choose from our evaluation metric.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A8A04-1C0C-4C06-A72C-2BB05733F882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Disadvantages of the KNN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458200" cy="5410200"/>
          </a:xfrm>
        </p:spPr>
        <p:txBody>
          <a:bodyPr/>
          <a:lstStyle/>
          <a:p>
            <a:r>
              <a:rPr lang="en-US" sz="2400" b="1" dirty="0" smtClean="0"/>
              <a:t>Does not scale</a:t>
            </a:r>
            <a:r>
              <a:rPr lang="en-US" sz="2400" dirty="0" smtClean="0"/>
              <a:t> – It is a lazy Algorithm. The main significance of this term is that this takes lots of computing power as well as data storage. This makes this algorithm both time-consuming and resource exhausting.</a:t>
            </a:r>
          </a:p>
          <a:p>
            <a:r>
              <a:rPr lang="en-US" sz="2400" b="1" dirty="0" smtClean="0"/>
              <a:t>Curse of Dimensionality</a:t>
            </a:r>
            <a:r>
              <a:rPr lang="en-US" sz="2400" dirty="0" smtClean="0"/>
              <a:t> – The KNN algorithm is affected by the curse of dimensionality which implies the algorithm faces a hard time classifying the data points properly when the dimensionality is too high.</a:t>
            </a:r>
          </a:p>
          <a:p>
            <a:r>
              <a:rPr lang="en-US" sz="2400" b="1" dirty="0" smtClean="0"/>
              <a:t>Prone to </a:t>
            </a:r>
            <a:r>
              <a:rPr lang="en-US" sz="2400" b="1" dirty="0" err="1" smtClean="0"/>
              <a:t>Overfitting</a:t>
            </a:r>
            <a:r>
              <a:rPr lang="en-US" sz="2400" dirty="0" smtClean="0"/>
              <a:t> – As the algorithm is affected due to the curse of dimensionality it is prone to the problem of </a:t>
            </a:r>
            <a:r>
              <a:rPr lang="en-US" sz="2400" dirty="0" err="1" smtClean="0"/>
              <a:t>overfitting</a:t>
            </a:r>
            <a:r>
              <a:rPr lang="en-US" sz="2400" dirty="0" smtClean="0"/>
              <a:t> as well. Hence, generally feature selection as well as dimensionality reduction techniques are applied to deal with this problem.</a:t>
            </a:r>
          </a:p>
          <a:p>
            <a:pPr>
              <a:buNone/>
            </a:pPr>
            <a:endParaRPr lang="en-US" sz="2400" dirty="0" smtClean="0"/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A8A04-1C0C-4C06-A72C-2BB05733F882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487362"/>
          </a:xfrm>
        </p:spPr>
        <p:txBody>
          <a:bodyPr>
            <a:no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Why KNN algorithm does not perform well on high-dimensional datasets?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2400" b="1" dirty="0" smtClean="0"/>
              <a:t>1. Curse of Dimensionality</a:t>
            </a:r>
          </a:p>
          <a:p>
            <a:r>
              <a:rPr lang="en-US" sz="2400" dirty="0" smtClean="0"/>
              <a:t>As the number of dimensions (</a:t>
            </a:r>
            <a:r>
              <a:rPr lang="en-US" sz="2400" b="1" dirty="0" smtClean="0"/>
              <a:t>features</a:t>
            </a:r>
            <a:r>
              <a:rPr lang="en-US" sz="2400" dirty="0" smtClean="0"/>
              <a:t>) increases, data points become more </a:t>
            </a:r>
            <a:r>
              <a:rPr lang="en-US" sz="2400" b="1" dirty="0" smtClean="0"/>
              <a:t>sparse</a:t>
            </a:r>
            <a:r>
              <a:rPr lang="en-US" sz="2400" dirty="0" smtClean="0"/>
              <a:t> in the feature space.</a:t>
            </a:r>
          </a:p>
          <a:p>
            <a:r>
              <a:rPr lang="en-US" sz="2400" dirty="0" smtClean="0"/>
              <a:t>The </a:t>
            </a:r>
            <a:r>
              <a:rPr lang="en-US" sz="2400" b="1" dirty="0" smtClean="0"/>
              <a:t>distance between points</a:t>
            </a:r>
            <a:r>
              <a:rPr lang="en-US" sz="2400" dirty="0" smtClean="0"/>
              <a:t> becomes </a:t>
            </a:r>
            <a:r>
              <a:rPr lang="en-US" sz="2400" b="1" dirty="0" smtClean="0"/>
              <a:t>less meaningful</a:t>
            </a:r>
            <a:r>
              <a:rPr lang="en-US" sz="2400" dirty="0" smtClean="0"/>
              <a:t>, making it difficult for KNN to find the nearest neighbors effectively.</a:t>
            </a:r>
          </a:p>
          <a:p>
            <a:r>
              <a:rPr lang="en-US" sz="2400" dirty="0" smtClean="0"/>
              <a:t>This leads to poor generalization and degraded performance.</a:t>
            </a:r>
          </a:p>
          <a:p>
            <a:pPr>
              <a:buNone/>
            </a:pPr>
            <a:r>
              <a:rPr lang="en-US" sz="2400" b="1" dirty="0" smtClean="0"/>
              <a:t>2. Increased Computational Complexity</a:t>
            </a:r>
          </a:p>
          <a:p>
            <a:r>
              <a:rPr lang="en-US" sz="2400" dirty="0" smtClean="0"/>
              <a:t>KNN is a </a:t>
            </a:r>
            <a:r>
              <a:rPr lang="en-US" sz="2400" b="1" dirty="0" smtClean="0"/>
              <a:t>lazy learner</a:t>
            </a:r>
            <a:r>
              <a:rPr lang="en-US" sz="2400" dirty="0" smtClean="0"/>
              <a:t>, meaning it </a:t>
            </a:r>
            <a:r>
              <a:rPr lang="en-US" sz="2400" b="1" dirty="0" smtClean="0"/>
              <a:t>stores</a:t>
            </a:r>
            <a:r>
              <a:rPr lang="en-US" sz="2400" dirty="0" smtClean="0"/>
              <a:t> all training samples and computes distances at query time.</a:t>
            </a:r>
          </a:p>
          <a:p>
            <a:r>
              <a:rPr lang="en-US" sz="2400" dirty="0" smtClean="0"/>
              <a:t>In high dimensions, computing distances (e.g., </a:t>
            </a:r>
            <a:r>
              <a:rPr lang="en-US" sz="2400" b="1" dirty="0" smtClean="0"/>
              <a:t>Euclidean distance</a:t>
            </a:r>
            <a:r>
              <a:rPr lang="en-US" sz="2400" dirty="0" smtClean="0"/>
              <a:t>) becomes computationally expensive.</a:t>
            </a:r>
          </a:p>
          <a:p>
            <a:r>
              <a:rPr lang="en-US" sz="2400" dirty="0" smtClean="0"/>
              <a:t>The time complexity for searching nearest neighbors increases significantly.</a:t>
            </a:r>
          </a:p>
          <a:p>
            <a:endParaRPr lang="en-US" sz="2400" dirty="0" smtClean="0"/>
          </a:p>
          <a:p>
            <a:endParaRPr lang="en-US" sz="2400" b="1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>
            <a:normAutofit fontScale="90000"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Why KNN algorithm does not perform well on high-dimensional datasets?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 smtClean="0"/>
              <a:t>3. Diminishing Differences in Distances</a:t>
            </a:r>
          </a:p>
          <a:p>
            <a:r>
              <a:rPr lang="en-US" dirty="0" smtClean="0"/>
              <a:t>In high dimensions, the </a:t>
            </a:r>
            <a:r>
              <a:rPr lang="en-US" b="1" dirty="0" smtClean="0"/>
              <a:t>difference between the closest and farthest points</a:t>
            </a:r>
            <a:r>
              <a:rPr lang="en-US" dirty="0" smtClean="0"/>
              <a:t> reduces significantly.</a:t>
            </a:r>
          </a:p>
          <a:p>
            <a:r>
              <a:rPr lang="en-US" dirty="0" smtClean="0"/>
              <a:t>Most points end up being </a:t>
            </a:r>
            <a:r>
              <a:rPr lang="en-US" b="1" dirty="0" smtClean="0"/>
              <a:t>almost equidistant</a:t>
            </a:r>
            <a:r>
              <a:rPr lang="en-US" dirty="0" smtClean="0"/>
              <a:t>, making it harder to distinguish between nearest and non-nearest neighbors.</a:t>
            </a:r>
          </a:p>
          <a:p>
            <a:pPr>
              <a:buNone/>
            </a:pPr>
            <a:r>
              <a:rPr lang="en-US" b="1" dirty="0" smtClean="0"/>
              <a:t>4. Increased Noise Sensitivity</a:t>
            </a:r>
          </a:p>
          <a:p>
            <a:r>
              <a:rPr lang="en-US" dirty="0" smtClean="0"/>
              <a:t>High-dimensional data often contains </a:t>
            </a:r>
            <a:r>
              <a:rPr lang="en-US" b="1" dirty="0" smtClean="0"/>
              <a:t>irrelevant or redundant features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KNN treats all features equally, meaning noisy or less important features can mislead the distance calculation.</a:t>
            </a:r>
          </a:p>
          <a:p>
            <a:r>
              <a:rPr lang="en-US" dirty="0" smtClean="0"/>
              <a:t>Feature selection or </a:t>
            </a:r>
            <a:r>
              <a:rPr lang="en-US" b="1" dirty="0" smtClean="0"/>
              <a:t>dimensionality reduction (PCA, t-SNE, LDA, etc.)</a:t>
            </a:r>
            <a:r>
              <a:rPr lang="en-US" dirty="0" smtClean="0"/>
              <a:t> is often needed before applying KNN.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>
            <a:normAutofit fontScale="90000"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Why KNN algorithm does not perform well on high-dimensional datasets?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 smtClean="0"/>
              <a:t>5. Memory Overhead</a:t>
            </a:r>
          </a:p>
          <a:p>
            <a:r>
              <a:rPr lang="en-US" dirty="0" smtClean="0"/>
              <a:t>Since KNN stores all training data, a high-dimensional dataset requires </a:t>
            </a:r>
            <a:r>
              <a:rPr lang="en-US" b="1" dirty="0" smtClean="0"/>
              <a:t>more storage</a:t>
            </a:r>
            <a:r>
              <a:rPr lang="en-US" dirty="0" smtClean="0"/>
              <a:t> and slows down retrieval.</a:t>
            </a:r>
          </a:p>
          <a:p>
            <a:endParaRPr lang="en-US" b="1" dirty="0" smtClean="0"/>
          </a:p>
          <a:p>
            <a:r>
              <a:rPr lang="en-US" b="1" dirty="0" smtClean="0">
                <a:solidFill>
                  <a:srgbClr val="FF0000"/>
                </a:solidFill>
              </a:rPr>
              <a:t>Possible Solutions</a:t>
            </a:r>
          </a:p>
          <a:p>
            <a:pPr>
              <a:buNone/>
            </a:pPr>
            <a:r>
              <a:rPr lang="en-US" b="1" dirty="0" smtClean="0"/>
              <a:t>	1. Dimensionality Reduction</a:t>
            </a:r>
            <a:r>
              <a:rPr lang="en-US" dirty="0" smtClean="0"/>
              <a:t>: Use PCA, LDA, or feature selection techniques to reduce dimensions before applying KNN.</a:t>
            </a:r>
          </a:p>
          <a:p>
            <a:pPr>
              <a:buNone/>
            </a:pPr>
            <a:r>
              <a:rPr lang="en-US" b="1" dirty="0" smtClean="0"/>
              <a:t>	2. Use Distance Metrics Better Suited for High-Dimensional Data</a:t>
            </a:r>
            <a:r>
              <a:rPr lang="en-US" dirty="0" smtClean="0"/>
              <a:t>: Cosine similarity or </a:t>
            </a:r>
            <a:r>
              <a:rPr lang="en-US" dirty="0" err="1" smtClean="0"/>
              <a:t>Mahalanobis</a:t>
            </a:r>
            <a:r>
              <a:rPr lang="en-US" dirty="0" smtClean="0"/>
              <a:t> distance instead of Euclidean distance.</a:t>
            </a:r>
          </a:p>
          <a:p>
            <a:pPr>
              <a:buNone/>
            </a:pPr>
            <a:r>
              <a:rPr lang="en-US" b="1" dirty="0" smtClean="0"/>
              <a:t>	3. Use Approximate Nearest Neighbors (ANN)</a:t>
            </a:r>
            <a:r>
              <a:rPr lang="en-US" dirty="0" smtClean="0"/>
              <a:t>: Faster alternatives like </a:t>
            </a:r>
            <a:r>
              <a:rPr lang="en-US" b="1" dirty="0" smtClean="0"/>
              <a:t>KD-Trees, Ball Trees, or Locality-Sensitive Hashing (LSH)</a:t>
            </a:r>
            <a:r>
              <a:rPr lang="en-US" dirty="0" smtClean="0"/>
              <a:t> can be used instead of brute-force search.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304800"/>
            <a:ext cx="6553200" cy="6731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Variation In </a:t>
            </a:r>
            <a:r>
              <a:rPr lang="en-US" b="1" dirty="0" err="1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kNN</a:t>
            </a:r>
            <a:endParaRPr lang="en-US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4100" name="Picture 4" descr="https://upload.wikimedia.org/wikipedia/commons/thumb/e/e7/KnnClassification.svg/279px-KnnClassification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905000"/>
            <a:ext cx="2895600" cy="24003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2057400"/>
            <a:ext cx="2667000" cy="22860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0780387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How to Choose the value of k?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value of k is very crucial in the KNN algorithm to define the number of neighbors in the algorithm. </a:t>
            </a:r>
          </a:p>
          <a:p>
            <a:r>
              <a:rPr lang="en-US" dirty="0" smtClean="0"/>
              <a:t>The value of k in the k-nearest neighbors (k-NN) algorithm should be chosen based on the input data. If the input data has more outliers or noise, a higher value of k would be better. </a:t>
            </a:r>
          </a:p>
          <a:p>
            <a:r>
              <a:rPr lang="en-US" dirty="0" smtClean="0"/>
              <a:t>It is recommended to choose an odd value for k to avoid ties in classification.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A8A04-1C0C-4C06-A72C-2BB05733F882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Value of 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The </a:t>
            </a:r>
            <a:r>
              <a:rPr lang="en-US" b="1" dirty="0" smtClean="0"/>
              <a:t>small k value isn’t suitable</a:t>
            </a:r>
            <a:r>
              <a:rPr lang="en-US" dirty="0" smtClean="0"/>
              <a:t> for classification.</a:t>
            </a:r>
          </a:p>
          <a:p>
            <a:r>
              <a:rPr lang="en-US" dirty="0" smtClean="0"/>
              <a:t>As a rule of thumb, setting k to the square root of the number of training samples can lead to better result.  If k becomes 10 after the square root, we can choose either k=9 or k=11 just to make sure that k is odd. </a:t>
            </a:r>
          </a:p>
          <a:p>
            <a:r>
              <a:rPr lang="en-US" dirty="0" smtClean="0"/>
              <a:t>Use an error plot or accuracy plot to find the most favorable k value.</a:t>
            </a:r>
          </a:p>
          <a:p>
            <a:r>
              <a:rPr lang="en-US" dirty="0" err="1" smtClean="0"/>
              <a:t>kNN</a:t>
            </a:r>
            <a:r>
              <a:rPr lang="en-US" dirty="0" smtClean="0"/>
              <a:t> performs well with multi-label classes, but you must be aware of the outliers.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A8A04-1C0C-4C06-A72C-2BB05733F882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How to Choose the value of k?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A8A04-1C0C-4C06-A72C-2BB05733F882}" type="slidenum">
              <a:rPr lang="en-US" smtClean="0"/>
              <a:pPr/>
              <a:t>48</a:t>
            </a:fld>
            <a:endParaRPr lang="en-US"/>
          </a:p>
        </p:txBody>
      </p:sp>
      <p:pic>
        <p:nvPicPr>
          <p:cNvPr id="503810" name="Picture 2" descr="https://miro.medium.com/v2/resize:fit:1050/1*NM4oaO6Cr9M2cJTTuKP2AQ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7861" y="1143001"/>
            <a:ext cx="6688339" cy="4251131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914400" y="5334000"/>
            <a:ext cx="7467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 We got the accuracy of 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0.41 at K=37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. As we got the minimum error at k=37, so we will get 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better efficiency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 at that K value.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Is Naïve </a:t>
            </a:r>
            <a:r>
              <a:rPr lang="en-US" dirty="0" err="1" smtClean="0"/>
              <a:t>Bayes</a:t>
            </a:r>
            <a:r>
              <a:rPr lang="en-US" dirty="0" smtClean="0"/>
              <a:t> a lazy learner?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Autofit/>
          </a:bodyPr>
          <a:lstStyle/>
          <a:p>
            <a:pPr fontAlgn="base"/>
            <a:r>
              <a:rPr lang="en-US" sz="2400" dirty="0" smtClean="0"/>
              <a:t>The Naive </a:t>
            </a:r>
            <a:r>
              <a:rPr lang="en-US" sz="2400" dirty="0" err="1" smtClean="0"/>
              <a:t>Bayes</a:t>
            </a:r>
            <a:r>
              <a:rPr lang="en-US" sz="2400" dirty="0" smtClean="0"/>
              <a:t> algorithm is not a </a:t>
            </a:r>
            <a:r>
              <a:rPr lang="en-US" sz="2400" i="1" dirty="0" smtClean="0"/>
              <a:t>lazy</a:t>
            </a:r>
            <a:r>
              <a:rPr lang="en-US" sz="2400" dirty="0" smtClean="0"/>
              <a:t> learner. It is an eager learner. It is different from the nearest neighbor algorithm. </a:t>
            </a:r>
          </a:p>
          <a:p>
            <a:pPr fontAlgn="base"/>
            <a:r>
              <a:rPr lang="en-US" sz="2400" dirty="0" smtClean="0"/>
              <a:t>A real learning takes place for Naive </a:t>
            </a:r>
            <a:r>
              <a:rPr lang="en-US" sz="2400" dirty="0" err="1" smtClean="0"/>
              <a:t>Bayes</a:t>
            </a:r>
            <a:r>
              <a:rPr lang="en-US" sz="2400" dirty="0" smtClean="0"/>
              <a:t>. The parameters that are learned in Naive </a:t>
            </a:r>
            <a:r>
              <a:rPr lang="en-US" sz="2400" dirty="0" err="1" smtClean="0"/>
              <a:t>Bayes</a:t>
            </a:r>
            <a:r>
              <a:rPr lang="en-US" sz="2400" dirty="0" smtClean="0"/>
              <a:t> are the </a:t>
            </a:r>
            <a:r>
              <a:rPr lang="en-US" sz="2400" i="1" dirty="0" smtClean="0"/>
              <a:t>prior probabilities</a:t>
            </a:r>
            <a:r>
              <a:rPr lang="en-US" sz="2400" dirty="0" smtClean="0"/>
              <a:t> of different classes, as well as the </a:t>
            </a:r>
            <a:r>
              <a:rPr lang="en-US" sz="2400" i="1" dirty="0" smtClean="0"/>
              <a:t>likelihood</a:t>
            </a:r>
            <a:r>
              <a:rPr lang="en-US" sz="2400" dirty="0" smtClean="0"/>
              <a:t> of different features for each class.</a:t>
            </a:r>
          </a:p>
          <a:p>
            <a:pPr fontAlgn="base"/>
            <a:r>
              <a:rPr lang="en-US" sz="2400" dirty="0" smtClean="0"/>
              <a:t>In the test phase, these learned parameters are used to estimate the probability of each class for the given sample.</a:t>
            </a:r>
          </a:p>
          <a:p>
            <a:pPr fontAlgn="base"/>
            <a:r>
              <a:rPr lang="en-US" sz="2400" dirty="0" smtClean="0"/>
              <a:t>In other words, in Naive </a:t>
            </a:r>
            <a:r>
              <a:rPr lang="en-US" sz="2400" dirty="0" err="1" smtClean="0"/>
              <a:t>Bayes</a:t>
            </a:r>
            <a:r>
              <a:rPr lang="en-US" sz="2400" dirty="0" smtClean="0"/>
              <a:t>, for each sample in the test set, the parameters determined during training are used to estimate the probability of that sample belonging to different classes. 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Is Naïve </a:t>
            </a:r>
            <a:r>
              <a:rPr lang="en-US" dirty="0" err="1" smtClean="0"/>
              <a:t>Bayes</a:t>
            </a:r>
            <a:r>
              <a:rPr lang="en-US" dirty="0" smtClean="0"/>
              <a:t> a lazy learner?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 fontAlgn="base"/>
            <a:r>
              <a:rPr lang="en-US" dirty="0" smtClean="0"/>
              <a:t>For example, P(</a:t>
            </a:r>
            <a:r>
              <a:rPr lang="en-US" dirty="0" err="1" smtClean="0"/>
              <a:t>c|x</a:t>
            </a:r>
            <a:r>
              <a:rPr lang="en-US" dirty="0" smtClean="0"/>
              <a:t>) ∝ P(c) P(x</a:t>
            </a:r>
            <a:r>
              <a:rPr lang="en-US" baseline="-25000" dirty="0" smtClean="0"/>
              <a:t>1</a:t>
            </a:r>
            <a:r>
              <a:rPr lang="en-US" dirty="0" smtClean="0"/>
              <a:t>|c) P(x</a:t>
            </a:r>
            <a:r>
              <a:rPr lang="en-US" baseline="-25000" dirty="0" smtClean="0"/>
              <a:t>2</a:t>
            </a:r>
            <a:r>
              <a:rPr lang="en-US" dirty="0" smtClean="0"/>
              <a:t>|c) ... p(</a:t>
            </a:r>
            <a:r>
              <a:rPr lang="en-US" dirty="0" err="1" smtClean="0"/>
              <a:t>x</a:t>
            </a:r>
            <a:r>
              <a:rPr lang="en-US" baseline="-25000" dirty="0" err="1" smtClean="0"/>
              <a:t>n</a:t>
            </a:r>
            <a:r>
              <a:rPr lang="en-US" dirty="0" err="1" smtClean="0"/>
              <a:t>|c</a:t>
            </a:r>
            <a:r>
              <a:rPr lang="en-US" dirty="0" smtClean="0"/>
              <a:t>), where c is a class and x is a test sample. </a:t>
            </a:r>
          </a:p>
          <a:p>
            <a:pPr fontAlgn="base"/>
            <a:r>
              <a:rPr lang="en-US" dirty="0" smtClean="0"/>
              <a:t>All quantities P(c) and P(</a:t>
            </a:r>
            <a:r>
              <a:rPr lang="en-US" dirty="0" err="1" smtClean="0"/>
              <a:t>x</a:t>
            </a:r>
            <a:r>
              <a:rPr lang="en-US" baseline="-25000" dirty="0" err="1" smtClean="0"/>
              <a:t>i</a:t>
            </a:r>
            <a:r>
              <a:rPr lang="en-US" dirty="0" err="1" smtClean="0"/>
              <a:t>|c</a:t>
            </a:r>
            <a:r>
              <a:rPr lang="en-US" dirty="0" smtClean="0"/>
              <a:t>) are parameters which are determined during training and are used during testing. </a:t>
            </a:r>
          </a:p>
          <a:p>
            <a:pPr fontAlgn="base"/>
            <a:r>
              <a:rPr lang="en-US" dirty="0" smtClean="0"/>
              <a:t>This is similar to NN, but the kind of learning and the kind of applying the learned model is different.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sz="6600" dirty="0" smtClean="0"/>
          </a:p>
          <a:p>
            <a:pPr>
              <a:buNone/>
            </a:pPr>
            <a:r>
              <a:rPr lang="en-US" sz="6600" dirty="0" smtClean="0"/>
              <a:t>         THANK YOU</a:t>
            </a:r>
            <a:endParaRPr lang="en-US" sz="6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3261</Words>
  <Application>Microsoft Office PowerPoint</Application>
  <PresentationFormat>On-screen Show (4:3)</PresentationFormat>
  <Paragraphs>375</Paragraphs>
  <Slides>51</Slides>
  <Notes>13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Office Theme</vt:lpstr>
      <vt:lpstr>Equation</vt:lpstr>
      <vt:lpstr>Worksheet</vt:lpstr>
      <vt:lpstr>Classification Model</vt:lpstr>
      <vt:lpstr>Slide 2</vt:lpstr>
      <vt:lpstr>Bayesian Classifier</vt:lpstr>
      <vt:lpstr>Bayes’ Theorem</vt:lpstr>
      <vt:lpstr>Bayes’ Theorem</vt:lpstr>
      <vt:lpstr>Example on Bayes’ Theorem</vt:lpstr>
      <vt:lpstr>Example on Bayes’ Theorem</vt:lpstr>
      <vt:lpstr>  Example-1 Cont… Compute P(A2/X) </vt:lpstr>
      <vt:lpstr>Example-2: LAPLACE’S URN PROBLEM</vt:lpstr>
      <vt:lpstr>Example-2 Cont..: LAPLACE’S URN PROBLEM</vt:lpstr>
      <vt:lpstr>Example-2 Cont..: LAPLACE’S URN PROBLEM</vt:lpstr>
      <vt:lpstr>Naïve Bayesian Classification</vt:lpstr>
      <vt:lpstr>Bayesian Classification</vt:lpstr>
      <vt:lpstr>Bayesian Classification</vt:lpstr>
      <vt:lpstr>Bayes’ Theorem: Basics</vt:lpstr>
      <vt:lpstr>Prediction Based on Bayes’ Theorem</vt:lpstr>
      <vt:lpstr>Classification Is to Derive the Maximum Posteriori</vt:lpstr>
      <vt:lpstr>Naïve Bayes Classifier </vt:lpstr>
      <vt:lpstr>Naïve Bayes Classifier: Training Dataset</vt:lpstr>
      <vt:lpstr>Naïve Bayes Classifier: An Example</vt:lpstr>
      <vt:lpstr>Naïve Bayes Classifier: An Example</vt:lpstr>
      <vt:lpstr>Naïve Bayes Classifier: Comments</vt:lpstr>
      <vt:lpstr>Overfitting in Naïve Bayes Classification</vt:lpstr>
      <vt:lpstr>Overfitting in Naïve Bayes Classification</vt:lpstr>
      <vt:lpstr>Resolve Overfitting in Naïve Bayes</vt:lpstr>
      <vt:lpstr>Resolve Overfitting in Naïve Bayes</vt:lpstr>
      <vt:lpstr>Resolve Overfitting in Naïve Bayes</vt:lpstr>
      <vt:lpstr>Resolve Overfitting in Naïve Bayes</vt:lpstr>
      <vt:lpstr>Cross-validation for tuning α</vt:lpstr>
      <vt:lpstr>Cross-validation for tuning α</vt:lpstr>
      <vt:lpstr>Cross-validation for tuning α</vt:lpstr>
      <vt:lpstr>Cross-validation for tuning α</vt:lpstr>
      <vt:lpstr>kNN Algorithm</vt:lpstr>
      <vt:lpstr>kNN Classifier</vt:lpstr>
      <vt:lpstr>kNN Classifier</vt:lpstr>
      <vt:lpstr>KNN: Classification Approach</vt:lpstr>
      <vt:lpstr>KNN: Classification Approach</vt:lpstr>
      <vt:lpstr>KNN: Pseudocode</vt:lpstr>
      <vt:lpstr>Advantages of kNN</vt:lpstr>
      <vt:lpstr>                 Advantages                  Contd..</vt:lpstr>
      <vt:lpstr>Disadvantages of the KNN Algorithm</vt:lpstr>
      <vt:lpstr>Why KNN algorithm does not perform well on high-dimensional datasets?</vt:lpstr>
      <vt:lpstr>Why KNN algorithm does not perform well on high-dimensional datasets?</vt:lpstr>
      <vt:lpstr>Why KNN algorithm does not perform well on high-dimensional datasets?</vt:lpstr>
      <vt:lpstr>Variation In kNN</vt:lpstr>
      <vt:lpstr>How to Choose the value of k?</vt:lpstr>
      <vt:lpstr>Value of k</vt:lpstr>
      <vt:lpstr>How to Choose the value of k?</vt:lpstr>
      <vt:lpstr>Is Naïve Bayes a lazy learner?</vt:lpstr>
      <vt:lpstr>Is Naïve Bayes a lazy learner?</vt:lpstr>
      <vt:lpstr>Slide 51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Classification Model</dc:title>
  <dc:creator>hp</dc:creator>
  <cp:lastModifiedBy>Asit Kumar Das</cp:lastModifiedBy>
  <cp:revision>27</cp:revision>
  <dcterms:created xsi:type="dcterms:W3CDTF">2024-03-04T08:21:08Z</dcterms:created>
  <dcterms:modified xsi:type="dcterms:W3CDTF">2025-03-06T04:33:53Z</dcterms:modified>
</cp:coreProperties>
</file>