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xls" ContentType="application/vnd.ms-exce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Default Extension="doc" ContentType="application/msword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549" r:id="rId2"/>
    <p:sldId id="550" r:id="rId3"/>
    <p:sldId id="551" r:id="rId4"/>
    <p:sldId id="552" r:id="rId5"/>
    <p:sldId id="566" r:id="rId6"/>
    <p:sldId id="553" r:id="rId7"/>
    <p:sldId id="564" r:id="rId8"/>
    <p:sldId id="565" r:id="rId9"/>
    <p:sldId id="554" r:id="rId10"/>
    <p:sldId id="568" r:id="rId11"/>
    <p:sldId id="556" r:id="rId12"/>
    <p:sldId id="557" r:id="rId13"/>
    <p:sldId id="558" r:id="rId14"/>
    <p:sldId id="559" r:id="rId15"/>
    <p:sldId id="560" r:id="rId16"/>
    <p:sldId id="569" r:id="rId17"/>
    <p:sldId id="570" r:id="rId18"/>
    <p:sldId id="561" r:id="rId19"/>
    <p:sldId id="571" r:id="rId20"/>
    <p:sldId id="562" r:id="rId21"/>
    <p:sldId id="563" r:id="rId22"/>
    <p:sldId id="567" r:id="rId23"/>
    <p:sldId id="256" r:id="rId24"/>
    <p:sldId id="540" r:id="rId25"/>
    <p:sldId id="523" r:id="rId26"/>
    <p:sldId id="524" r:id="rId27"/>
    <p:sldId id="525" r:id="rId28"/>
    <p:sldId id="526" r:id="rId29"/>
    <p:sldId id="527" r:id="rId30"/>
    <p:sldId id="528" r:id="rId31"/>
    <p:sldId id="529" r:id="rId32"/>
    <p:sldId id="530" r:id="rId33"/>
    <p:sldId id="531" r:id="rId34"/>
    <p:sldId id="548" r:id="rId35"/>
    <p:sldId id="533" r:id="rId36"/>
    <p:sldId id="534" r:id="rId37"/>
    <p:sldId id="535" r:id="rId38"/>
    <p:sldId id="536" r:id="rId39"/>
    <p:sldId id="572" r:id="rId40"/>
    <p:sldId id="573" r:id="rId41"/>
    <p:sldId id="574" r:id="rId42"/>
    <p:sldId id="575" r:id="rId43"/>
    <p:sldId id="538" r:id="rId44"/>
    <p:sldId id="576" r:id="rId45"/>
    <p:sldId id="577" r:id="rId46"/>
    <p:sldId id="578" r:id="rId47"/>
    <p:sldId id="579" r:id="rId48"/>
    <p:sldId id="580" r:id="rId49"/>
    <p:sldId id="547" r:id="rId50"/>
    <p:sldId id="472" r:id="rId51"/>
  </p:sldIdLst>
  <p:sldSz cx="9144000" cy="6858000" type="screen4x3"/>
  <p:notesSz cx="6781800" cy="991235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C0C0C0"/>
    <a:srgbClr val="FF66FF"/>
    <a:srgbClr val="FFFF66"/>
    <a:srgbClr val="FFFF00"/>
    <a:srgbClr val="FF9900"/>
    <a:srgbClr val="CC9900"/>
    <a:srgbClr val="99663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016" y="1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78"/>
    </p:cViewPr>
  </p:sorterViewPr>
  <p:notesViewPr>
    <p:cSldViewPr>
      <p:cViewPr>
        <p:scale>
          <a:sx n="100" d="100"/>
          <a:sy n="100" d="100"/>
        </p:scale>
        <p:origin x="-132" y="1800"/>
      </p:cViewPr>
      <p:guideLst>
        <p:guide orient="horz" pos="3122"/>
        <p:guide pos="2136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5" Type="http://schemas.openxmlformats.org/officeDocument/2006/relationships/image" Target="../media/image21.wmf"/><Relationship Id="rId4" Type="http://schemas.openxmlformats.org/officeDocument/2006/relationships/image" Target="../media/image29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3338" y="0"/>
            <a:ext cx="293846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705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3338" y="9417050"/>
            <a:ext cx="293846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FF65C0A-B9CE-7C47-9B71-18FF64B796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868111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3338" y="0"/>
            <a:ext cx="293846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1225" y="742950"/>
            <a:ext cx="4959350" cy="3717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08525"/>
            <a:ext cx="4972050" cy="446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Cliquez pour modifier les styles du texte du masque</a:t>
            </a:r>
          </a:p>
          <a:p>
            <a:pPr lvl="1"/>
            <a:r>
              <a:rPr lang="en-US" noProof="0"/>
              <a:t>Deuxième niveau</a:t>
            </a:r>
          </a:p>
          <a:p>
            <a:pPr lvl="2"/>
            <a:r>
              <a:rPr lang="en-US" noProof="0"/>
              <a:t>Troisième niveau</a:t>
            </a:r>
          </a:p>
          <a:p>
            <a:pPr lvl="3"/>
            <a:r>
              <a:rPr lang="en-US" noProof="0"/>
              <a:t>Quatrième niveau</a:t>
            </a:r>
          </a:p>
          <a:p>
            <a:pPr lvl="4"/>
            <a:r>
              <a:rPr lang="en-US" noProof="0"/>
              <a:t>Cinquième niveau</a:t>
            </a: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705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3338" y="9417050"/>
            <a:ext cx="293846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DFC2708-5B8D-5E41-997C-BAD598E890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742913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5C94CF-2850-4E9E-9790-DEF59286D444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192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7100" y="752475"/>
            <a:ext cx="4932363" cy="3700463"/>
          </a:xfrm>
          <a:ln/>
        </p:spPr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012" y="4709044"/>
            <a:ext cx="4974242" cy="4456834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03C99D-378C-456B-9CE6-B40A87F36FB2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4FA61F-0D85-4396-8331-69E213FC650E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4FA61F-0D85-4396-8331-69E213FC650E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B96E00-3BD4-4F9F-8FDE-D48A67544497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B96E00-3BD4-4F9F-8FDE-D48A67544497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26CDBA-130B-4AFE-85DE-C0CB1B7D8241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0DB692-1490-4DB6-99F7-4C6BEF14828B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7100" y="752475"/>
            <a:ext cx="4932363" cy="3700463"/>
          </a:xfrm>
          <a:ln/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012" y="4709044"/>
            <a:ext cx="4974242" cy="4456834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0CE728-3A2A-4928-8D89-A5507E594E6D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4EBEC3-2AC4-4A97-9B7B-071C0DB2597C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200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 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9CC96D-91C6-44BE-BDC0-7EBD91702AB5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7100" y="752475"/>
            <a:ext cx="4932363" cy="3700463"/>
          </a:xfrm>
          <a:ln/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012" y="4709044"/>
            <a:ext cx="4974242" cy="4456834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8BED0C-E85D-4DC1-9547-D05BD248732C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202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8120FF-3424-4AD0-B1FE-D6C1D0A389EC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8120FF-3424-4AD0-B1FE-D6C1D0A389EC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965114-B65B-4608-B298-61089FFE4E90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204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204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15C13D-A2DD-4BA2-B38F-ECA46082372A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20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Google Shape;64;g54f0d5453c_2_136:notes"/>
          <p:cNvSpPr txBox="1">
            <a:spLocks noChangeArrowheads="1"/>
          </p:cNvSpPr>
          <p:nvPr/>
        </p:nvSpPr>
        <p:spPr bwMode="auto">
          <a:xfrm>
            <a:off x="3841750" y="9415463"/>
            <a:ext cx="293687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marL="2159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r">
              <a:buClr>
                <a:srgbClr val="000000"/>
              </a:buClr>
              <a:buFont typeface="Times New Roman" charset="0"/>
              <a:buNone/>
            </a:pPr>
            <a:fld id="{3229FBEC-5CC0-C248-A10E-4CC2E65EF42F}" type="slidenum">
              <a:rPr lang="en-US" sz="1200">
                <a:solidFill>
                  <a:srgbClr val="000000"/>
                </a:solidFill>
                <a:cs typeface="Times New Roman" charset="0"/>
                <a:sym typeface="Times New Roman" charset="0"/>
              </a:rPr>
              <a:pPr algn="r">
                <a:buClr>
                  <a:srgbClr val="000000"/>
                </a:buClr>
                <a:buFont typeface="Times New Roman" charset="0"/>
                <a:buNone/>
              </a:pPr>
              <a:t>25</a:t>
            </a:fld>
            <a:endParaRPr lang="en-US" sz="140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61442" name="Google Shape;65;g54f0d5453c_2_13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12813" y="742950"/>
            <a:ext cx="4956175" cy="3717925"/>
          </a:xfrm>
          <a:custGeom>
            <a:avLst/>
            <a:gdLst>
              <a:gd name="T0" fmla="*/ 0 w 120000"/>
              <a:gd name="T1" fmla="*/ 0 h 120000"/>
              <a:gd name="T2" fmla="*/ 2147483647 w 120000"/>
              <a:gd name="T3" fmla="*/ 0 h 120000"/>
              <a:gd name="T4" fmla="*/ 2147483647 w 120000"/>
              <a:gd name="T5" fmla="*/ 2147483647 h 120000"/>
              <a:gd name="T6" fmla="*/ 0 w 120000"/>
              <a:gd name="T7" fmla="*/ 2147483647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1443" name="Google Shape;66;g54f0d5453c_2_136:notes"/>
          <p:cNvSpPr>
            <a:spLocks noGrp="1"/>
          </p:cNvSpPr>
          <p:nvPr>
            <p:ph type="body" idx="1"/>
          </p:nvPr>
        </p:nvSpPr>
        <p:spPr>
          <a:xfrm>
            <a:off x="677863" y="4708525"/>
            <a:ext cx="5426075" cy="4460875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0000" tIns="46800" rIns="90000" bIns="46800" anchor="ctr"/>
          <a:lstStyle/>
          <a:p>
            <a:pPr>
              <a:spcBef>
                <a:spcPct val="0"/>
              </a:spcBef>
              <a:buClr>
                <a:srgbClr val="000000"/>
              </a:buClr>
            </a:pPr>
            <a:endParaRPr lang="en-US" sz="1800">
              <a:solidFill>
                <a:srgbClr val="000000"/>
              </a:solidFill>
              <a:latin typeface="Arial" charset="0"/>
              <a:ea typeface="MS PGothic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986AC8-2143-4867-87CC-892946430F30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7DFCBD-98CD-4195-8C58-14F795F06D79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D0CA92-7EED-4FA9-B0AF-EE1A06B20919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EC1068-73C8-495C-A950-3967F80C567E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2813" y="742950"/>
            <a:ext cx="4956175" cy="3717925"/>
          </a:xfrm>
          <a:ln/>
        </p:spPr>
      </p:sp>
      <p:sp>
        <p:nvSpPr>
          <p:cNvPr id="56323" name="Text Box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F29C84-A2B0-4F4C-A010-B821A79863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68485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41FEA-19A2-3845-B3C2-2516271A84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78267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FE20A0-DC2B-BE45-98EB-0C4BC9190A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8223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D685F7-01AD-2A4B-A185-0BF036F27D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9489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8799CE-B3E5-C649-8CE9-6B330DC263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41331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AED72B-03E4-804B-8725-5E111FEEEA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91436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215401-CD9D-054D-A0B9-98538238BC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67783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EA698-668B-BB44-B057-CD6EE7CCED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4799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A1642-1BA0-F546-9611-5FA085DCE6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34092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8135C-8FF6-F346-B52A-436624805C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734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9CA9B-62B0-EF48-98DC-BBEE6C3768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39526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3276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UNR - Computer Vision Laboratory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2E8A113-D9E8-4913-9DB0-F562B062353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411480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0" y="3962400"/>
            <a:ext cx="411480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CCF363-E2FD-4E23-BE24-38BD3237D6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194C4F6-649D-9D46-97BC-270EBBEC01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Microsoft_Office_Word_97_-_2003_Document1.doc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Microsoft_Office_Excel_97-2003_Worksheet3.xls"/><Relationship Id="rId4" Type="http://schemas.openxmlformats.org/officeDocument/2006/relationships/oleObject" Target="../embeddings/Microsoft_Office_Excel_97-2003_Worksheet2.xls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Microsoft_Office_Excel_97-2003_Worksheet7.xls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Microsoft_Office_Excel_97-2003_Worksheet6.xls"/><Relationship Id="rId5" Type="http://schemas.openxmlformats.org/officeDocument/2006/relationships/oleObject" Target="../embeddings/Microsoft_Office_Excel_97-2003_Worksheet5.xls"/><Relationship Id="rId4" Type="http://schemas.openxmlformats.org/officeDocument/2006/relationships/oleObject" Target="../embeddings/Microsoft_Office_Excel_97-2003_Worksheet4.xls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1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4.png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48" y="2428868"/>
            <a:ext cx="7772400" cy="1143000"/>
          </a:xfrm>
        </p:spPr>
        <p:txBody>
          <a:bodyPr/>
          <a:lstStyle/>
          <a:p>
            <a:r>
              <a:rPr lang="en-US" sz="3600" dirty="0" smtClean="0"/>
              <a:t>Measuring Data Similarity and Dissimilarity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00800"/>
            <a:ext cx="1905000" cy="457200"/>
          </a:xfrm>
          <a:noFill/>
        </p:spPr>
        <p:txBody>
          <a:bodyPr/>
          <a:lstStyle/>
          <a:p>
            <a:pPr algn="l"/>
            <a:fld id="{91C79310-E821-4557-A0BE-C988D5FCB81D}" type="slidenum">
              <a:rPr lang="en-US" sz="1200" smtClean="0"/>
              <a:pPr algn="l"/>
              <a:t>2</a:t>
            </a:fld>
            <a:endParaRPr lang="en-US" sz="1200" smtClean="0"/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48" y="428604"/>
            <a:ext cx="7772400" cy="819136"/>
          </a:xfrm>
        </p:spPr>
        <p:txBody>
          <a:bodyPr/>
          <a:lstStyle/>
          <a:p>
            <a:pPr eaLnBrk="1" hangingPunct="1"/>
            <a:r>
              <a:rPr lang="en-US" sz="4000" dirty="0" smtClean="0">
                <a:solidFill>
                  <a:srgbClr val="170981"/>
                </a:solidFill>
              </a:rPr>
              <a:t>Similarity and Dissimilarity</a:t>
            </a:r>
          </a:p>
        </p:txBody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4705368"/>
          </a:xfrm>
        </p:spPr>
        <p:txBody>
          <a:bodyPr/>
          <a:lstStyle/>
          <a:p>
            <a:pPr eaLnBrk="1" hangingPunct="1"/>
            <a:r>
              <a:rPr lang="en-US" sz="2400" b="1" dirty="0" smtClean="0"/>
              <a:t>Similarity</a:t>
            </a:r>
          </a:p>
          <a:p>
            <a:pPr lvl="1" eaLnBrk="1" hangingPunct="1"/>
            <a:r>
              <a:rPr lang="en-US" sz="2400" dirty="0" smtClean="0"/>
              <a:t>Numerical measure of how alike two data objects are</a:t>
            </a:r>
          </a:p>
          <a:p>
            <a:pPr lvl="1" eaLnBrk="1" hangingPunct="1"/>
            <a:r>
              <a:rPr lang="en-US" sz="2400" dirty="0" smtClean="0"/>
              <a:t>Value is higher when objects are more alike</a:t>
            </a:r>
          </a:p>
          <a:p>
            <a:pPr lvl="1" eaLnBrk="1" hangingPunct="1"/>
            <a:r>
              <a:rPr lang="en-US" sz="2400" dirty="0" smtClean="0"/>
              <a:t>Often falls in the range [0,1]</a:t>
            </a:r>
          </a:p>
          <a:p>
            <a:pPr eaLnBrk="1" hangingPunct="1"/>
            <a:r>
              <a:rPr lang="en-US" sz="2400" b="1" dirty="0" smtClean="0"/>
              <a:t>Dissimilarity</a:t>
            </a:r>
            <a:r>
              <a:rPr lang="en-US" sz="2400" dirty="0" smtClean="0"/>
              <a:t> (e.g., distance)</a:t>
            </a:r>
          </a:p>
          <a:p>
            <a:pPr lvl="1" eaLnBrk="1" hangingPunct="1"/>
            <a:r>
              <a:rPr lang="en-US" sz="2400" dirty="0" smtClean="0"/>
              <a:t>Numerical measure of how different two data objects are</a:t>
            </a:r>
          </a:p>
          <a:p>
            <a:pPr lvl="1" eaLnBrk="1" hangingPunct="1"/>
            <a:r>
              <a:rPr lang="en-US" sz="2400" dirty="0" smtClean="0"/>
              <a:t>Lower when objects are more alike</a:t>
            </a:r>
          </a:p>
          <a:p>
            <a:pPr lvl="1" eaLnBrk="1" hangingPunct="1"/>
            <a:r>
              <a:rPr lang="en-US" sz="2400" dirty="0" smtClean="0"/>
              <a:t>Minimum dissimilarity is often 0</a:t>
            </a:r>
          </a:p>
          <a:p>
            <a:pPr lvl="1" eaLnBrk="1" hangingPunct="1"/>
            <a:r>
              <a:rPr lang="en-US" sz="2400" dirty="0" smtClean="0"/>
              <a:t>Upper limit varies</a:t>
            </a:r>
          </a:p>
          <a:p>
            <a:pPr eaLnBrk="1" hangingPunct="1"/>
            <a:r>
              <a:rPr lang="en-US" sz="2400" b="1" dirty="0" smtClean="0"/>
              <a:t>Proximity</a:t>
            </a:r>
            <a:r>
              <a:rPr lang="en-US" sz="2400" dirty="0" smtClean="0"/>
              <a:t> refers to a similarity or dissimilarity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00800"/>
            <a:ext cx="1905000" cy="457200"/>
          </a:xfrm>
          <a:noFill/>
        </p:spPr>
        <p:txBody>
          <a:bodyPr/>
          <a:lstStyle/>
          <a:p>
            <a:pPr algn="l"/>
            <a:fld id="{148DD736-B52C-45EF-A0FE-74BC8B5EBD4C}" type="slidenum">
              <a:rPr lang="en-US" sz="1200" smtClean="0"/>
              <a:pPr algn="l"/>
              <a:t>3</a:t>
            </a:fld>
            <a:endParaRPr lang="en-US" sz="1200" smtClean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001000" cy="6096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Data Matrix and Dissimilarity Matrix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357298"/>
            <a:ext cx="3962400" cy="4762512"/>
          </a:xfrm>
        </p:spPr>
        <p:txBody>
          <a:bodyPr/>
          <a:lstStyle/>
          <a:p>
            <a:pPr eaLnBrk="1" hangingPunct="1"/>
            <a:r>
              <a:rPr lang="en-US" sz="2400" dirty="0" smtClean="0"/>
              <a:t>Data matrix</a:t>
            </a:r>
          </a:p>
          <a:p>
            <a:pPr lvl="1" eaLnBrk="1" hangingPunct="1"/>
            <a:r>
              <a:rPr lang="en-US" dirty="0" smtClean="0"/>
              <a:t>n data points with p dimensions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endParaRPr lang="en-US" sz="2400" dirty="0" smtClean="0"/>
          </a:p>
          <a:p>
            <a:pPr eaLnBrk="1" hangingPunct="1"/>
            <a:r>
              <a:rPr lang="en-US" sz="2400" dirty="0" smtClean="0"/>
              <a:t>Dissimilarity matrix</a:t>
            </a:r>
          </a:p>
          <a:p>
            <a:pPr lvl="1" eaLnBrk="1" hangingPunct="1"/>
            <a:r>
              <a:rPr lang="en-US" dirty="0" smtClean="0"/>
              <a:t>n data points, but registers only the distance </a:t>
            </a:r>
          </a:p>
          <a:p>
            <a:pPr lvl="1" eaLnBrk="1" hangingPunct="1"/>
            <a:r>
              <a:rPr lang="en-US" dirty="0" smtClean="0"/>
              <a:t>A triangular matrix</a:t>
            </a:r>
          </a:p>
        </p:txBody>
      </p:sp>
      <p:graphicFrame>
        <p:nvGraphicFramePr>
          <p:cNvPr id="8194" name="Object 4"/>
          <p:cNvGraphicFramePr>
            <a:graphicFrameLocks noChangeAspect="1"/>
          </p:cNvGraphicFramePr>
          <p:nvPr/>
        </p:nvGraphicFramePr>
        <p:xfrm>
          <a:off x="4357686" y="1428736"/>
          <a:ext cx="3124200" cy="2058988"/>
        </p:xfrm>
        <a:graphic>
          <a:graphicData uri="http://schemas.openxmlformats.org/presentationml/2006/ole">
            <p:oleObj spid="_x0000_s1026" name="Equation" r:id="rId4" imgW="1778000" imgH="1244600" progId="Equation.3">
              <p:embed/>
            </p:oleObj>
          </a:graphicData>
        </a:graphic>
      </p:graphicFrame>
      <p:graphicFrame>
        <p:nvGraphicFramePr>
          <p:cNvPr id="8195" name="Object 5"/>
          <p:cNvGraphicFramePr>
            <a:graphicFrameLocks noChangeAspect="1"/>
          </p:cNvGraphicFramePr>
          <p:nvPr/>
        </p:nvGraphicFramePr>
        <p:xfrm>
          <a:off x="4357686" y="3714752"/>
          <a:ext cx="3429000" cy="1970088"/>
        </p:xfrm>
        <a:graphic>
          <a:graphicData uri="http://schemas.openxmlformats.org/presentationml/2006/ole">
            <p:oleObj spid="_x0000_s1027" name="Equation" r:id="rId5" imgW="1828800" imgH="114300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00800"/>
            <a:ext cx="1905000" cy="457200"/>
          </a:xfrm>
          <a:noFill/>
        </p:spPr>
        <p:txBody>
          <a:bodyPr/>
          <a:lstStyle/>
          <a:p>
            <a:pPr algn="l"/>
            <a:fld id="{96E29FB9-FA98-48FE-B4EB-888C2CF29098}" type="slidenum">
              <a:rPr lang="en-US" sz="1200" smtClean="0"/>
              <a:pPr algn="l"/>
              <a:t>4</a:t>
            </a:fld>
            <a:endParaRPr lang="en-US" sz="1200" smtClean="0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78263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z="3200" dirty="0" smtClean="0">
                <a:solidFill>
                  <a:srgbClr val="170981"/>
                </a:solidFill>
              </a:rPr>
              <a:t>Proximity Measure for Nominal Attributes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71546"/>
            <a:ext cx="8458200" cy="5024454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sz="2800" dirty="0" smtClean="0"/>
              <a:t>Can take 2 or more states, e.g., red, yellow, blue, green (generalization of a binary attribute)</a:t>
            </a:r>
          </a:p>
          <a:p>
            <a:pPr eaLnBrk="1" hangingPunct="1">
              <a:lnSpc>
                <a:spcPct val="120000"/>
              </a:lnSpc>
            </a:pPr>
            <a:r>
              <a:rPr lang="en-US" sz="2800" u="sng" dirty="0" smtClean="0"/>
              <a:t>Method 1</a:t>
            </a:r>
            <a:r>
              <a:rPr lang="en-US" sz="2800" dirty="0" smtClean="0"/>
              <a:t>: Simple matching</a:t>
            </a:r>
            <a:endParaRPr lang="en-US" sz="2800" i="1" dirty="0" smtClean="0"/>
          </a:p>
          <a:p>
            <a:pPr lvl="1" eaLnBrk="1" hangingPunct="1">
              <a:lnSpc>
                <a:spcPct val="120000"/>
              </a:lnSpc>
            </a:pPr>
            <a:r>
              <a:rPr lang="en-US" i="1" dirty="0" smtClean="0"/>
              <a:t>m</a:t>
            </a:r>
            <a:r>
              <a:rPr lang="en-US" dirty="0" smtClean="0"/>
              <a:t>: # of matches,</a:t>
            </a:r>
            <a:r>
              <a:rPr lang="en-US" i="1" dirty="0" smtClean="0"/>
              <a:t> p</a:t>
            </a:r>
            <a:r>
              <a:rPr lang="en-US" dirty="0" smtClean="0"/>
              <a:t>: total # of variables</a:t>
            </a:r>
          </a:p>
          <a:p>
            <a:pPr eaLnBrk="1" hangingPunct="1">
              <a:lnSpc>
                <a:spcPct val="120000"/>
              </a:lnSpc>
            </a:pPr>
            <a:endParaRPr lang="en-US" sz="2800" dirty="0" smtClean="0"/>
          </a:p>
          <a:p>
            <a:pPr eaLnBrk="1" hangingPunct="1">
              <a:lnSpc>
                <a:spcPct val="120000"/>
              </a:lnSpc>
            </a:pPr>
            <a:endParaRPr lang="en-US" sz="2800" dirty="0" smtClean="0"/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3071802" y="3357562"/>
          <a:ext cx="2667000" cy="666750"/>
        </p:xfrm>
        <a:graphic>
          <a:graphicData uri="http://schemas.openxmlformats.org/presentationml/2006/ole">
            <p:oleObj spid="_x0000_s2050" name="Equation" r:id="rId4" imgW="1384300" imgH="469900" progId="Equation.3">
              <p:embed/>
            </p:oleObj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57224" y="4071942"/>
          <a:ext cx="485778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1182710"/>
                <a:gridCol w="16430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Object   |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Attribute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Quality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 smtClean="0"/>
                        <a:t>i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good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 smtClean="0"/>
                        <a:t>j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good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100" y="5380701"/>
            <a:ext cx="2214578" cy="712139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00800"/>
            <a:ext cx="1905000" cy="457200"/>
          </a:xfrm>
          <a:noFill/>
        </p:spPr>
        <p:txBody>
          <a:bodyPr/>
          <a:lstStyle/>
          <a:p>
            <a:pPr algn="l"/>
            <a:fld id="{96E29FB9-FA98-48FE-B4EB-888C2CF29098}" type="slidenum">
              <a:rPr lang="en-US" sz="1200" smtClean="0"/>
              <a:pPr algn="l"/>
              <a:t>5</a:t>
            </a:fld>
            <a:endParaRPr lang="en-US" sz="1200" smtClean="0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78263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z="3200" dirty="0" smtClean="0">
                <a:solidFill>
                  <a:srgbClr val="170981"/>
                </a:solidFill>
              </a:rPr>
              <a:t>Proximity Measure for Nominal Attributes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71546"/>
            <a:ext cx="8458200" cy="5024454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sz="2800" dirty="0" smtClean="0"/>
              <a:t>Method 2: Use a large number of binary attributes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400" dirty="0" smtClean="0"/>
              <a:t>creating a new binary attribute for each of the </a:t>
            </a:r>
            <a:r>
              <a:rPr lang="en-US" sz="2400" i="1" dirty="0" smtClean="0"/>
              <a:t>m</a:t>
            </a:r>
            <a:r>
              <a:rPr lang="en-US" sz="2400" dirty="0" smtClean="0"/>
              <a:t> nominal states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400" dirty="0" smtClean="0"/>
              <a:t> Let, Color = {red, yellow, blue, green} and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sz="2400" dirty="0" smtClean="0"/>
              <a:t>        Quality = {good, bad}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sz="2800" dirty="0" smtClean="0"/>
              <a:t>        </a:t>
            </a:r>
          </a:p>
          <a:p>
            <a:pPr eaLnBrk="1" hangingPunct="1">
              <a:lnSpc>
                <a:spcPct val="120000"/>
              </a:lnSpc>
              <a:buNone/>
            </a:pPr>
            <a:endParaRPr lang="en-US" sz="2800" dirty="0" smtClean="0"/>
          </a:p>
          <a:p>
            <a:pPr lvl="1" eaLnBrk="1" hangingPunct="1">
              <a:lnSpc>
                <a:spcPct val="120000"/>
              </a:lnSpc>
            </a:pPr>
            <a:r>
              <a:rPr lang="en-US" sz="2400" dirty="0" smtClean="0"/>
              <a:t>For symmetric: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400" dirty="0" smtClean="0"/>
              <a:t>For asymmetric: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0100" y="3714752"/>
          <a:ext cx="6095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Object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yellow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green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good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1991" name="Picture 7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00430" y="4929198"/>
            <a:ext cx="2357454" cy="721311"/>
          </a:xfrm>
          <a:prstGeom prst="rect">
            <a:avLst/>
          </a:prstGeom>
          <a:noFill/>
        </p:spPr>
      </p:pic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1993" name="Picture 9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00430" y="5429263"/>
            <a:ext cx="2214578" cy="677595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7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B20551A-5C68-4464-AD15-0E1ECFACD3D5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106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z="3200" smtClean="0">
                <a:solidFill>
                  <a:srgbClr val="170981"/>
                </a:solidFill>
              </a:rPr>
              <a:t>Proximity Measure for Binary Attributes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4282" y="1000108"/>
            <a:ext cx="6072230" cy="523876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sz="2000" dirty="0" smtClean="0"/>
              <a:t>A contingency table for binary data</a:t>
            </a:r>
          </a:p>
          <a:p>
            <a:pPr eaLnBrk="1" hangingPunct="1">
              <a:lnSpc>
                <a:spcPct val="130000"/>
              </a:lnSpc>
            </a:pPr>
            <a:endParaRPr lang="en-IN" sz="2000" dirty="0" smtClean="0"/>
          </a:p>
          <a:p>
            <a:pPr eaLnBrk="1" hangingPunct="1">
              <a:lnSpc>
                <a:spcPct val="130000"/>
              </a:lnSpc>
            </a:pPr>
            <a:endParaRPr lang="en-IN" sz="2000" dirty="0" smtClean="0"/>
          </a:p>
          <a:p>
            <a:pPr eaLnBrk="1" hangingPunct="1">
              <a:lnSpc>
                <a:spcPct val="130000"/>
              </a:lnSpc>
            </a:pPr>
            <a:endParaRPr lang="en-IN" sz="2000" dirty="0" smtClean="0"/>
          </a:p>
          <a:p>
            <a:pPr eaLnBrk="1" hangingPunct="1">
              <a:lnSpc>
                <a:spcPct val="130000"/>
              </a:lnSpc>
            </a:pPr>
            <a:endParaRPr lang="en-US" sz="2000" dirty="0" smtClean="0"/>
          </a:p>
          <a:p>
            <a:pPr eaLnBrk="1" hangingPunct="1">
              <a:lnSpc>
                <a:spcPct val="130000"/>
              </a:lnSpc>
            </a:pPr>
            <a:r>
              <a:rPr lang="en-US" sz="2000" dirty="0" smtClean="0"/>
              <a:t>Distance measure for symmetric binary variables: </a:t>
            </a:r>
          </a:p>
          <a:p>
            <a:pPr eaLnBrk="1" hangingPunct="1">
              <a:lnSpc>
                <a:spcPct val="130000"/>
              </a:lnSpc>
            </a:pPr>
            <a:endParaRPr lang="en-IN" sz="2000" dirty="0" smtClean="0"/>
          </a:p>
          <a:p>
            <a:pPr eaLnBrk="1" hangingPunct="1">
              <a:lnSpc>
                <a:spcPct val="130000"/>
              </a:lnSpc>
            </a:pPr>
            <a:endParaRPr lang="en-US" sz="2000" dirty="0" smtClean="0"/>
          </a:p>
          <a:p>
            <a:pPr eaLnBrk="1" hangingPunct="1">
              <a:lnSpc>
                <a:spcPct val="130000"/>
              </a:lnSpc>
            </a:pPr>
            <a:r>
              <a:rPr lang="en-US" sz="2000" dirty="0" smtClean="0"/>
              <a:t>Distance measure for asymmetric binary variables: </a:t>
            </a:r>
          </a:p>
        </p:txBody>
      </p:sp>
      <p:graphicFrame>
        <p:nvGraphicFramePr>
          <p:cNvPr id="10242" name="Diagram 25"/>
          <p:cNvGraphicFramePr>
            <a:graphicFrameLocks noChangeAspect="1"/>
          </p:cNvGraphicFramePr>
          <p:nvPr>
            <p:ph sz="quarter" idx="2"/>
          </p:nvPr>
        </p:nvGraphicFramePr>
        <p:xfrm>
          <a:off x="6477000" y="2413000"/>
          <a:ext cx="381000" cy="233363"/>
        </p:xfrm>
        <a:graphic>
          <a:graphicData uri="http://schemas.openxmlformats.org/drawingml/2006/compatibility">
            <com:legacyDrawing xmlns:com="http://schemas.openxmlformats.org/drawingml/2006/compatibility" spid="_x0000_s3074"/>
          </a:graphicData>
        </a:graphic>
      </p:graphicFrame>
      <p:pic>
        <p:nvPicPr>
          <p:cNvPr id="10249" name="Picture 30" descr="eqbinarysym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71538" y="3857628"/>
            <a:ext cx="3429000" cy="74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50" name="Picture 31" descr="eqbinaryasym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85852" y="5214950"/>
            <a:ext cx="29718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52" name="Picture 36" descr="eqcontingency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357290" y="1785926"/>
            <a:ext cx="39624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3" name="Text Box 37"/>
          <p:cNvSpPr txBox="1">
            <a:spLocks noChangeArrowheads="1"/>
          </p:cNvSpPr>
          <p:nvPr/>
        </p:nvSpPr>
        <p:spPr bwMode="auto">
          <a:xfrm>
            <a:off x="500034" y="2285992"/>
            <a:ext cx="9636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/>
              <a:t>Object </a:t>
            </a:r>
            <a:r>
              <a:rPr lang="en-US" sz="1800" i="1" dirty="0" err="1"/>
              <a:t>i</a:t>
            </a:r>
            <a:endParaRPr lang="en-US" sz="1800" dirty="0"/>
          </a:p>
        </p:txBody>
      </p:sp>
      <p:sp>
        <p:nvSpPr>
          <p:cNvPr id="10254" name="Text Box 38"/>
          <p:cNvSpPr txBox="1">
            <a:spLocks noChangeArrowheads="1"/>
          </p:cNvSpPr>
          <p:nvPr/>
        </p:nvSpPr>
        <p:spPr bwMode="auto">
          <a:xfrm>
            <a:off x="2857488" y="1428736"/>
            <a:ext cx="976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/>
              <a:t>Object </a:t>
            </a:r>
            <a:r>
              <a:rPr lang="en-US" sz="1800" i="1" dirty="0"/>
              <a:t>j</a:t>
            </a:r>
            <a:endParaRPr lang="en-US" sz="180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7166"/>
            <a:ext cx="7772400" cy="785818"/>
          </a:xfrm>
        </p:spPr>
        <p:txBody>
          <a:bodyPr/>
          <a:lstStyle/>
          <a:p>
            <a:r>
              <a:rPr lang="en-US" dirty="0" err="1" smtClean="0"/>
              <a:t>Jaccard</a:t>
            </a:r>
            <a:r>
              <a:rPr lang="en-US" dirty="0" smtClean="0"/>
              <a:t> Coefficient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42910" y="1071546"/>
            <a:ext cx="7772400" cy="5072098"/>
          </a:xfrm>
        </p:spPr>
        <p:txBody>
          <a:bodyPr/>
          <a:lstStyle/>
          <a:p>
            <a:endParaRPr lang="en-IN" dirty="0" smtClean="0"/>
          </a:p>
          <a:p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 err="1" smtClean="0"/>
              <a:t>Jaccard</a:t>
            </a:r>
            <a:r>
              <a:rPr lang="en-US" sz="2000" dirty="0" smtClean="0"/>
              <a:t> Similarity will be 0 if the two sets don't share any values and 1 if the two sets are identical.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The set may contain either numerical values or strings.</a:t>
            </a:r>
          </a:p>
          <a:p>
            <a:pPr>
              <a:buFont typeface="Arial" pitchFamily="34" charset="0"/>
              <a:buChar char="•"/>
            </a:pPr>
            <a:r>
              <a:rPr lang="en-IN" sz="2000" dirty="0" smtClean="0"/>
              <a:t> </a:t>
            </a:r>
            <a:r>
              <a:rPr lang="en-US" sz="2000" dirty="0" smtClean="0"/>
              <a:t>Additionally, this function can be used to find the dissimilarity between two sets by calculating d(A,B)=1–J(A,B)</a:t>
            </a:r>
          </a:p>
          <a:p>
            <a:r>
              <a:rPr lang="en-IN" sz="2000" dirty="0" smtClean="0"/>
              <a:t> </a:t>
            </a:r>
            <a:r>
              <a:rPr lang="en-US" sz="2000" b="1" dirty="0" smtClean="0"/>
              <a:t>Example:</a:t>
            </a:r>
            <a:r>
              <a:rPr lang="en-US" sz="2000" dirty="0" smtClean="0"/>
              <a:t> Compute the </a:t>
            </a:r>
            <a:r>
              <a:rPr lang="en-US" sz="2000" dirty="0" err="1" smtClean="0"/>
              <a:t>Jaccard</a:t>
            </a:r>
            <a:r>
              <a:rPr lang="en-US" sz="2000" dirty="0" smtClean="0"/>
              <a:t> similarity:</a:t>
            </a:r>
          </a:p>
          <a:p>
            <a:r>
              <a:rPr lang="en-US" sz="2000" dirty="0" smtClean="0"/>
              <a:t>A={0,1,2,5,6} and B={0,2,3,4,5,7,9}</a:t>
            </a:r>
          </a:p>
          <a:p>
            <a:r>
              <a:rPr lang="en-US" sz="2000" dirty="0" err="1" smtClean="0"/>
              <a:t>Jaccard</a:t>
            </a:r>
            <a:r>
              <a:rPr lang="en-US" sz="2000" dirty="0" smtClean="0"/>
              <a:t> Similarity between two sets is calculated as follows:</a:t>
            </a:r>
          </a:p>
          <a:p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0364" y="1187570"/>
            <a:ext cx="2357454" cy="741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4929198"/>
            <a:ext cx="729615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7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B20551A-5C68-4464-AD15-0E1ECFACD3D5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106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z="3200" dirty="0" err="1" smtClean="0">
                <a:solidFill>
                  <a:srgbClr val="170981"/>
                </a:solidFill>
              </a:rPr>
              <a:t>Jaccard</a:t>
            </a:r>
            <a:r>
              <a:rPr lang="en-US" sz="3200" dirty="0" smtClean="0">
                <a:solidFill>
                  <a:srgbClr val="170981"/>
                </a:solidFill>
              </a:rPr>
              <a:t> Coefficient for Binary Attributes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857232"/>
            <a:ext cx="8701118" cy="4248168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sz="2000" dirty="0" smtClean="0"/>
              <a:t>A contingency table for binary data</a:t>
            </a:r>
          </a:p>
          <a:p>
            <a:pPr eaLnBrk="1" hangingPunct="1">
              <a:lnSpc>
                <a:spcPct val="130000"/>
              </a:lnSpc>
            </a:pPr>
            <a:endParaRPr lang="en-US" sz="2000" dirty="0" smtClean="0"/>
          </a:p>
          <a:p>
            <a:pPr eaLnBrk="1" hangingPunct="1">
              <a:lnSpc>
                <a:spcPct val="130000"/>
              </a:lnSpc>
            </a:pPr>
            <a:endParaRPr lang="en-US" sz="2000" dirty="0" smtClean="0"/>
          </a:p>
          <a:p>
            <a:pPr eaLnBrk="1" hangingPunct="1">
              <a:lnSpc>
                <a:spcPct val="130000"/>
              </a:lnSpc>
            </a:pPr>
            <a:endParaRPr lang="en-US" sz="2000" dirty="0" smtClean="0"/>
          </a:p>
          <a:p>
            <a:pPr eaLnBrk="1" hangingPunct="1">
              <a:lnSpc>
                <a:spcPct val="130000"/>
              </a:lnSpc>
              <a:buNone/>
            </a:pPr>
            <a:r>
              <a:rPr lang="en-US" sz="2000" dirty="0" smtClean="0"/>
              <a:t> </a:t>
            </a:r>
          </a:p>
          <a:p>
            <a:pPr eaLnBrk="1" hangingPunct="1">
              <a:lnSpc>
                <a:spcPct val="130000"/>
              </a:lnSpc>
            </a:pPr>
            <a:r>
              <a:rPr lang="en-US" sz="2000" dirty="0" err="1" smtClean="0"/>
              <a:t>Jaccard</a:t>
            </a:r>
            <a:r>
              <a:rPr lang="en-US" sz="2000" dirty="0" smtClean="0"/>
              <a:t> coefficient (</a:t>
            </a:r>
            <a:r>
              <a:rPr lang="en-US" sz="2000" i="1" dirty="0" smtClean="0"/>
              <a:t>similarity</a:t>
            </a:r>
            <a:r>
              <a:rPr lang="en-US" sz="2000" dirty="0" smtClean="0"/>
              <a:t> measure for </a:t>
            </a:r>
            <a:r>
              <a:rPr lang="en-US" sz="2000" i="1" dirty="0" smtClean="0"/>
              <a:t>asymmetric </a:t>
            </a:r>
            <a:r>
              <a:rPr lang="en-US" sz="2000" dirty="0" smtClean="0"/>
              <a:t>binary variables): </a:t>
            </a:r>
          </a:p>
        </p:txBody>
      </p:sp>
      <p:sp>
        <p:nvSpPr>
          <p:cNvPr id="10247" name="Rectangle 15"/>
          <p:cNvSpPr>
            <a:spLocks noChangeArrowheads="1"/>
          </p:cNvSpPr>
          <p:nvPr/>
        </p:nvSpPr>
        <p:spPr bwMode="auto">
          <a:xfrm>
            <a:off x="142844" y="4357694"/>
            <a:ext cx="8534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000" dirty="0"/>
              <a:t>Note: </a:t>
            </a:r>
            <a:r>
              <a:rPr lang="en-US" sz="2000" dirty="0" err="1"/>
              <a:t>Jaccard</a:t>
            </a:r>
            <a:r>
              <a:rPr lang="en-US" sz="2000" dirty="0"/>
              <a:t> coefficient is the same as “coherence”:</a:t>
            </a:r>
          </a:p>
        </p:txBody>
      </p:sp>
      <p:pic>
        <p:nvPicPr>
          <p:cNvPr id="10248" name="Picture 18" descr="eqjaccard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00100" y="3643314"/>
            <a:ext cx="43434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242" name="Diagram 25"/>
          <p:cNvGraphicFramePr>
            <a:graphicFrameLocks noChangeAspect="1"/>
          </p:cNvGraphicFramePr>
          <p:nvPr>
            <p:ph sz="quarter" idx="2"/>
          </p:nvPr>
        </p:nvGraphicFramePr>
        <p:xfrm>
          <a:off x="6477000" y="2413000"/>
          <a:ext cx="381000" cy="233363"/>
        </p:xfrm>
        <a:graphic>
          <a:graphicData uri="http://schemas.openxmlformats.org/drawingml/2006/compatibility">
            <com:legacyDrawing xmlns:com="http://schemas.openxmlformats.org/drawingml/2006/compatibility" spid="_x0000_s12290"/>
          </a:graphicData>
        </a:graphic>
      </p:graphicFrame>
      <p:pic>
        <p:nvPicPr>
          <p:cNvPr id="10251" name="Picture 35" descr="eqcoherence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/>
          <a:srcRect/>
          <a:stretch>
            <a:fillRect/>
          </a:stretch>
        </p:blipFill>
        <p:spPr>
          <a:xfrm>
            <a:off x="500034" y="4786322"/>
            <a:ext cx="8305800" cy="731838"/>
          </a:xfrm>
          <a:noFill/>
        </p:spPr>
      </p:pic>
      <p:pic>
        <p:nvPicPr>
          <p:cNvPr id="10252" name="Picture 36" descr="eqcontingency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00166" y="1714488"/>
            <a:ext cx="39624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3" name="Text Box 37"/>
          <p:cNvSpPr txBox="1">
            <a:spLocks noChangeArrowheads="1"/>
          </p:cNvSpPr>
          <p:nvPr/>
        </p:nvSpPr>
        <p:spPr bwMode="auto">
          <a:xfrm>
            <a:off x="500034" y="2071678"/>
            <a:ext cx="9636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/>
              <a:t>Object </a:t>
            </a:r>
            <a:r>
              <a:rPr lang="en-US" sz="1800" i="1" dirty="0" err="1"/>
              <a:t>i</a:t>
            </a:r>
            <a:endParaRPr lang="en-US" sz="1800" dirty="0"/>
          </a:p>
        </p:txBody>
      </p:sp>
      <p:sp>
        <p:nvSpPr>
          <p:cNvPr id="10254" name="Text Box 38"/>
          <p:cNvSpPr txBox="1">
            <a:spLocks noChangeArrowheads="1"/>
          </p:cNvSpPr>
          <p:nvPr/>
        </p:nvSpPr>
        <p:spPr bwMode="auto">
          <a:xfrm>
            <a:off x="3000364" y="1357298"/>
            <a:ext cx="976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/>
              <a:t>Object </a:t>
            </a:r>
            <a:r>
              <a:rPr lang="en-US" sz="1800" i="1" dirty="0"/>
              <a:t>j</a:t>
            </a:r>
            <a:endParaRPr lang="en-US" sz="180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00800"/>
            <a:ext cx="1905000" cy="457200"/>
          </a:xfrm>
          <a:noFill/>
        </p:spPr>
        <p:txBody>
          <a:bodyPr/>
          <a:lstStyle/>
          <a:p>
            <a:pPr algn="l"/>
            <a:fld id="{4D8D345C-DB19-4FF6-AA8D-0F3813A18151}" type="slidenum">
              <a:rPr lang="en-US" sz="1200" smtClean="0"/>
              <a:pPr algn="l"/>
              <a:t>9</a:t>
            </a:fld>
            <a:endParaRPr lang="en-US" sz="1200" smtClean="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31238" cy="557194"/>
          </a:xfrm>
        </p:spPr>
        <p:txBody>
          <a:bodyPr/>
          <a:lstStyle/>
          <a:p>
            <a:pPr eaLnBrk="1" hangingPunct="1"/>
            <a:r>
              <a:rPr lang="en-US" sz="2800" dirty="0" smtClean="0"/>
              <a:t>Dissimilarity using Asymmetric Binary Variables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785794"/>
            <a:ext cx="8382000" cy="5611831"/>
          </a:xfrm>
        </p:spPr>
        <p:txBody>
          <a:bodyPr/>
          <a:lstStyle/>
          <a:p>
            <a:pPr eaLnBrk="1" hangingPunct="1"/>
            <a:r>
              <a:rPr lang="en-US" sz="1800" dirty="0" smtClean="0"/>
              <a:t>Example: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endParaRPr lang="en-US" sz="2400" dirty="0" smtClean="0"/>
          </a:p>
          <a:p>
            <a:pPr lvl="1" eaLnBrk="1" hangingPunct="1">
              <a:buNone/>
            </a:pPr>
            <a:endParaRPr lang="en-US" sz="2000" dirty="0" smtClean="0"/>
          </a:p>
          <a:p>
            <a:pPr lvl="1" eaLnBrk="1" hangingPunct="1"/>
            <a:r>
              <a:rPr lang="en-US" sz="2000" dirty="0" smtClean="0"/>
              <a:t>Gender is a symmetric attribute (nominal)</a:t>
            </a:r>
          </a:p>
          <a:p>
            <a:pPr lvl="1" eaLnBrk="1" hangingPunct="1"/>
            <a:r>
              <a:rPr lang="en-US" sz="2000" dirty="0" smtClean="0"/>
              <a:t>The remaining attributes are asymmetric binary</a:t>
            </a:r>
          </a:p>
          <a:p>
            <a:pPr lvl="1" eaLnBrk="1" hangingPunct="1"/>
            <a:r>
              <a:rPr lang="en-US" sz="2000" dirty="0" smtClean="0"/>
              <a:t>Let the values Y and P be 1, and the value N be 0</a:t>
            </a:r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/>
        </p:nvGraphicFramePr>
        <p:xfrm>
          <a:off x="1714480" y="857232"/>
          <a:ext cx="6932613" cy="1600200"/>
        </p:xfrm>
        <a:graphic>
          <a:graphicData uri="http://schemas.openxmlformats.org/presentationml/2006/ole">
            <p:oleObj spid="_x0000_s4098" name="Document" r:id="rId4" imgW="6819900" imgH="1475232" progId="Word.Document.8">
              <p:embed/>
            </p:oleObj>
          </a:graphicData>
        </a:graphic>
      </p:graphicFrame>
      <p:graphicFrame>
        <p:nvGraphicFramePr>
          <p:cNvPr id="11267" name="Object 5"/>
          <p:cNvGraphicFramePr>
            <a:graphicFrameLocks noChangeAspect="1"/>
          </p:cNvGraphicFramePr>
          <p:nvPr/>
        </p:nvGraphicFramePr>
        <p:xfrm>
          <a:off x="1571604" y="3643314"/>
          <a:ext cx="4191000" cy="1692275"/>
        </p:xfrm>
        <a:graphic>
          <a:graphicData uri="http://schemas.openxmlformats.org/presentationml/2006/ole">
            <p:oleObj spid="_x0000_s4099" name="Equation" r:id="rId5" imgW="2019300" imgH="121920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533384"/>
          </a:xfrm>
        </p:spPr>
        <p:txBody>
          <a:bodyPr/>
          <a:lstStyle/>
          <a:p>
            <a:r>
              <a:rPr lang="en-US" sz="2800" dirty="0" smtClean="0">
                <a:solidFill>
                  <a:srgbClr val="000000"/>
                </a:solidFill>
              </a:rPr>
              <a:t>Dissimilarity using Interval-Scaled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85860"/>
            <a:ext cx="7772400" cy="4810140"/>
          </a:xfrm>
        </p:spPr>
        <p:txBody>
          <a:bodyPr/>
          <a:lstStyle/>
          <a:p>
            <a:r>
              <a:rPr lang="en-IN" sz="2400" dirty="0" smtClean="0"/>
              <a:t>Commonly used methods are distance based dissimilarity.</a:t>
            </a:r>
          </a:p>
          <a:p>
            <a:r>
              <a:rPr lang="en-IN" sz="2400" dirty="0" smtClean="0"/>
              <a:t>Generally, variables are </a:t>
            </a:r>
            <a:r>
              <a:rPr lang="en-IN" sz="2400" dirty="0" err="1" smtClean="0"/>
              <a:t>standarized</a:t>
            </a:r>
            <a:r>
              <a:rPr lang="en-IN" sz="2400" dirty="0" smtClean="0"/>
              <a:t> before measuring dissimilarity.</a:t>
            </a:r>
          </a:p>
          <a:p>
            <a:r>
              <a:rPr lang="en-IN" sz="2400" dirty="0" err="1" smtClean="0"/>
              <a:t>Standarization</a:t>
            </a:r>
            <a:r>
              <a:rPr lang="en-IN" sz="2400" dirty="0" smtClean="0"/>
              <a:t> Steps:</a:t>
            </a:r>
          </a:p>
          <a:p>
            <a:pPr marL="457200" indent="-457200">
              <a:buAutoNum type="arabicPeriod"/>
            </a:pPr>
            <a:r>
              <a:rPr lang="en-IN" sz="2400" dirty="0" smtClean="0"/>
              <a:t>Calculate the mean absolute deviation, </a:t>
            </a:r>
            <a:r>
              <a:rPr lang="en-IN" sz="2400" dirty="0" err="1" smtClean="0"/>
              <a:t>S</a:t>
            </a:r>
            <a:r>
              <a:rPr lang="en-IN" sz="2400" baseline="-25000" dirty="0" err="1" smtClean="0"/>
              <a:t>f</a:t>
            </a:r>
            <a:r>
              <a:rPr lang="en-IN" sz="2400" dirty="0" smtClean="0"/>
              <a:t> , where </a:t>
            </a:r>
            <a:r>
              <a:rPr lang="en-IN" sz="2400" i="1" dirty="0" smtClean="0"/>
              <a:t>x</a:t>
            </a:r>
            <a:r>
              <a:rPr lang="en-IN" sz="2400" baseline="-25000" dirty="0" smtClean="0"/>
              <a:t>1</a:t>
            </a:r>
            <a:r>
              <a:rPr lang="en-IN" sz="2400" i="1" baseline="-25000" dirty="0" smtClean="0"/>
              <a:t>f</a:t>
            </a:r>
            <a:r>
              <a:rPr lang="en-IN" sz="2400" dirty="0" smtClean="0"/>
              <a:t>, …, </a:t>
            </a:r>
            <a:r>
              <a:rPr lang="en-IN" sz="2400" i="1" dirty="0" err="1" smtClean="0"/>
              <a:t>x</a:t>
            </a:r>
            <a:r>
              <a:rPr lang="en-IN" sz="2400" baseline="-25000" dirty="0" err="1" smtClean="0"/>
              <a:t>n</a:t>
            </a:r>
            <a:r>
              <a:rPr lang="en-IN" sz="2400" i="1" baseline="-25000" dirty="0" err="1" smtClean="0"/>
              <a:t>f</a:t>
            </a:r>
            <a:r>
              <a:rPr lang="en-IN" sz="2400" dirty="0" smtClean="0"/>
              <a:t> are n measurements of </a:t>
            </a:r>
            <a:r>
              <a:rPr lang="en-IN" sz="2400" i="1" dirty="0" smtClean="0"/>
              <a:t>f</a:t>
            </a:r>
            <a:r>
              <a:rPr lang="en-IN" sz="2400" dirty="0" smtClean="0"/>
              <a:t>, and </a:t>
            </a:r>
            <a:r>
              <a:rPr lang="en-IN" sz="2400" i="1" dirty="0" smtClean="0"/>
              <a:t>m</a:t>
            </a:r>
            <a:r>
              <a:rPr lang="en-IN" sz="2400" i="1" baseline="-25000" dirty="0" smtClean="0"/>
              <a:t>f</a:t>
            </a:r>
            <a:r>
              <a:rPr lang="en-IN" sz="2400" dirty="0" smtClean="0"/>
              <a:t> is the mean value of </a:t>
            </a:r>
            <a:r>
              <a:rPr lang="en-IN" sz="2400" i="1" dirty="0" smtClean="0"/>
              <a:t>f</a:t>
            </a:r>
            <a:r>
              <a:rPr lang="en-IN" sz="2400" dirty="0" smtClean="0"/>
              <a:t>, i.e., </a:t>
            </a:r>
          </a:p>
          <a:p>
            <a:pPr marL="457200" indent="-457200">
              <a:buAutoNum type="arabicPeriod"/>
            </a:pPr>
            <a:endParaRPr lang="en-IN" sz="2400" dirty="0" smtClean="0"/>
          </a:p>
          <a:p>
            <a:pPr marL="457200" indent="-457200">
              <a:buAutoNum type="arabicPeriod"/>
            </a:pPr>
            <a:endParaRPr lang="en-IN" sz="2400" dirty="0" smtClean="0"/>
          </a:p>
          <a:p>
            <a:pPr marL="457200" indent="-457200">
              <a:buAutoNum type="arabicPeriod"/>
            </a:pPr>
            <a:r>
              <a:rPr lang="en-IN" sz="2400" dirty="0" smtClean="0"/>
              <a:t>Calculate the </a:t>
            </a:r>
            <a:r>
              <a:rPr lang="en-IN" sz="2400" dirty="0" err="1" smtClean="0"/>
              <a:t>standarized</a:t>
            </a:r>
            <a:r>
              <a:rPr lang="en-IN" sz="2400" dirty="0" smtClean="0"/>
              <a:t> measurement, or Z-score:</a:t>
            </a:r>
          </a:p>
          <a:p>
            <a:pPr marL="457200" indent="-457200">
              <a:buNone/>
            </a:pPr>
            <a:endParaRPr lang="en-IN" sz="2400" dirty="0" smtClean="0"/>
          </a:p>
        </p:txBody>
      </p:sp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4033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00166" y="4286256"/>
            <a:ext cx="4572032" cy="487184"/>
          </a:xfrm>
          <a:prstGeom prst="rect">
            <a:avLst/>
          </a:prstGeom>
          <a:noFill/>
        </p:spPr>
      </p:pic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0" y="787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43108" y="3786190"/>
            <a:ext cx="2786082" cy="510128"/>
          </a:xfrm>
          <a:prstGeom prst="rect">
            <a:avLst/>
          </a:prstGeom>
          <a:noFill/>
        </p:spPr>
      </p:pic>
      <p:sp>
        <p:nvSpPr>
          <p:cNvPr id="44038" name="Rectangle 6"/>
          <p:cNvSpPr>
            <a:spLocks noChangeArrowheads="1"/>
          </p:cNvSpPr>
          <p:nvPr/>
        </p:nvSpPr>
        <p:spPr bwMode="auto">
          <a:xfrm>
            <a:off x="0" y="787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4039" name="Picture 7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57356" y="5500702"/>
            <a:ext cx="1500198" cy="597905"/>
          </a:xfrm>
          <a:prstGeom prst="rect">
            <a:avLst/>
          </a:prstGeom>
          <a:noFill/>
        </p:spPr>
      </p:pic>
      <p:sp>
        <p:nvSpPr>
          <p:cNvPr id="44041" name="Rectangle 9"/>
          <p:cNvSpPr>
            <a:spLocks noChangeArrowheads="1"/>
          </p:cNvSpPr>
          <p:nvPr/>
        </p:nvSpPr>
        <p:spPr bwMode="auto">
          <a:xfrm>
            <a:off x="0" y="806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00800"/>
            <a:ext cx="1905000" cy="457200"/>
          </a:xfrm>
          <a:noFill/>
        </p:spPr>
        <p:txBody>
          <a:bodyPr/>
          <a:lstStyle/>
          <a:p>
            <a:pPr algn="l"/>
            <a:fld id="{50D81653-2E6B-4D16-B962-19EA75B03968}" type="slidenum">
              <a:rPr lang="en-US" sz="1200" smtClean="0"/>
              <a:pPr algn="l"/>
              <a:t>11</a:t>
            </a:fld>
            <a:endParaRPr lang="en-US" sz="1200" smtClean="0"/>
          </a:p>
        </p:txBody>
      </p:sp>
      <p:sp>
        <p:nvSpPr>
          <p:cNvPr id="133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763000" cy="762000"/>
          </a:xfrm>
        </p:spPr>
        <p:txBody>
          <a:bodyPr/>
          <a:lstStyle/>
          <a:p>
            <a:pPr eaLnBrk="1" hangingPunct="1"/>
            <a:r>
              <a:rPr lang="en-US" sz="3200" smtClean="0"/>
              <a:t>Example: </a:t>
            </a:r>
            <a:br>
              <a:rPr lang="en-US" sz="3200" smtClean="0"/>
            </a:br>
            <a:r>
              <a:rPr lang="en-US" sz="3200" smtClean="0"/>
              <a:t>Data Matrix and Dissimilarity Matrix</a:t>
            </a:r>
          </a:p>
        </p:txBody>
      </p:sp>
      <p:graphicFrame>
        <p:nvGraphicFramePr>
          <p:cNvPr id="13314" name="Object 4"/>
          <p:cNvGraphicFramePr>
            <a:graphicFrameLocks noChangeAspect="1"/>
          </p:cNvGraphicFramePr>
          <p:nvPr/>
        </p:nvGraphicFramePr>
        <p:xfrm>
          <a:off x="4857752" y="1785926"/>
          <a:ext cx="2947987" cy="1581150"/>
        </p:xfrm>
        <a:graphic>
          <a:graphicData uri="http://schemas.openxmlformats.org/presentationml/2006/ole">
            <p:oleObj spid="_x0000_s6146" name="Worksheet" r:id="rId4" imgW="1838249" imgH="857402" progId="Excel.Sheet.8">
              <p:embed/>
            </p:oleObj>
          </a:graphicData>
        </a:graphic>
      </p:graphicFrame>
      <p:sp>
        <p:nvSpPr>
          <p:cNvPr id="13319" name="Text Box 5"/>
          <p:cNvSpPr txBox="1">
            <a:spLocks noChangeArrowheads="1"/>
          </p:cNvSpPr>
          <p:nvPr/>
        </p:nvSpPr>
        <p:spPr bwMode="auto">
          <a:xfrm>
            <a:off x="3857620" y="3571876"/>
            <a:ext cx="4800600" cy="854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 dirty="0"/>
              <a:t>Dissimilarity Matrix </a:t>
            </a:r>
          </a:p>
          <a:p>
            <a:pPr algn="ctr" eaLnBrk="0" hangingPunct="0">
              <a:spcBef>
                <a:spcPct val="50000"/>
              </a:spcBef>
            </a:pPr>
            <a:r>
              <a:rPr lang="en-US" sz="2000" b="1" dirty="0"/>
              <a:t>(with </a:t>
            </a:r>
            <a:r>
              <a:rPr lang="en-US" sz="2000" b="1" dirty="0">
                <a:solidFill>
                  <a:schemeClr val="tx2"/>
                </a:solidFill>
              </a:rPr>
              <a:t>Euclidean Distance)</a:t>
            </a:r>
          </a:p>
        </p:txBody>
      </p:sp>
      <p:graphicFrame>
        <p:nvGraphicFramePr>
          <p:cNvPr id="13315" name="Object 6"/>
          <p:cNvGraphicFramePr>
            <a:graphicFrameLocks noChangeAspect="1"/>
          </p:cNvGraphicFramePr>
          <p:nvPr/>
        </p:nvGraphicFramePr>
        <p:xfrm>
          <a:off x="3786182" y="4500570"/>
          <a:ext cx="4906962" cy="1365250"/>
        </p:xfrm>
        <a:graphic>
          <a:graphicData uri="http://schemas.openxmlformats.org/presentationml/2006/ole">
            <p:oleObj spid="_x0000_s6147" name="Worksheet" r:id="rId5" imgW="3057449" imgH="866851" progId="Excel.Sheet.8">
              <p:embed/>
            </p:oleObj>
          </a:graphicData>
        </a:graphic>
      </p:graphicFrame>
      <p:sp>
        <p:nvSpPr>
          <p:cNvPr id="13320" name="Text Box 7"/>
          <p:cNvSpPr txBox="1">
            <a:spLocks noChangeArrowheads="1"/>
          </p:cNvSpPr>
          <p:nvPr/>
        </p:nvSpPr>
        <p:spPr bwMode="auto">
          <a:xfrm>
            <a:off x="4643438" y="1285860"/>
            <a:ext cx="32766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 dirty="0">
                <a:latin typeface="Arial" charset="0"/>
              </a:rPr>
              <a:t>Data Matrix</a:t>
            </a:r>
          </a:p>
        </p:txBody>
      </p:sp>
      <p:graphicFrame>
        <p:nvGraphicFramePr>
          <p:cNvPr id="13316" name="Object 12"/>
          <p:cNvGraphicFramePr>
            <a:graphicFrameLocks noChangeAspect="1"/>
          </p:cNvGraphicFramePr>
          <p:nvPr/>
        </p:nvGraphicFramePr>
        <p:xfrm>
          <a:off x="427038" y="1219200"/>
          <a:ext cx="3306762" cy="4191000"/>
        </p:xfrm>
        <a:graphic>
          <a:graphicData uri="http://schemas.openxmlformats.org/presentationml/2006/ole">
            <p:oleObj spid="_x0000_s6148" name="SmartDraw" r:id="rId6" imgW="4379976" imgH="5551932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00800"/>
            <a:ext cx="1905000" cy="457200"/>
          </a:xfrm>
          <a:noFill/>
        </p:spPr>
        <p:txBody>
          <a:bodyPr/>
          <a:lstStyle/>
          <a:p>
            <a:pPr algn="l"/>
            <a:fld id="{93193EBA-2B79-493F-886E-07A32037BC47}" type="slidenum">
              <a:rPr lang="en-US" sz="1200" smtClean="0"/>
              <a:pPr algn="l"/>
              <a:t>12</a:t>
            </a:fld>
            <a:endParaRPr lang="en-US" sz="1200" smtClean="0"/>
          </a:p>
        </p:txBody>
      </p:sp>
      <p:sp>
        <p:nvSpPr>
          <p:cNvPr id="10342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85800"/>
          </a:xfrm>
        </p:spPr>
        <p:txBody>
          <a:bodyPr/>
          <a:lstStyle/>
          <a:p>
            <a:pPr eaLnBrk="1" hangingPunct="1"/>
            <a:r>
              <a:rPr lang="en-US" sz="3200" smtClean="0"/>
              <a:t>Distance on Numeric Data: Minkowski Distance</a:t>
            </a:r>
          </a:p>
        </p:txBody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28670"/>
            <a:ext cx="8458200" cy="5319730"/>
          </a:xfrm>
        </p:spPr>
        <p:txBody>
          <a:bodyPr/>
          <a:lstStyle/>
          <a:p>
            <a:pPr marL="381000" indent="-3810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400" i="1" dirty="0" err="1" smtClean="0"/>
              <a:t>Minkowski</a:t>
            </a:r>
            <a:r>
              <a:rPr lang="en-US" sz="2400" i="1" dirty="0" smtClean="0"/>
              <a:t> distance</a:t>
            </a:r>
            <a:r>
              <a:rPr lang="en-US" sz="2400" dirty="0" smtClean="0"/>
              <a:t>: A popular distance measure</a:t>
            </a:r>
          </a:p>
          <a:p>
            <a:pPr marL="381000" indent="-381000" eaLnBrk="1" hangingPunct="1">
              <a:spcBef>
                <a:spcPts val="600"/>
              </a:spcBef>
              <a:spcAft>
                <a:spcPts val="600"/>
              </a:spcAft>
            </a:pPr>
            <a:endParaRPr lang="en-US" sz="2400" dirty="0" smtClean="0"/>
          </a:p>
          <a:p>
            <a:pPr marL="381000" indent="-381000" eaLnBrk="1" hangingPunct="1">
              <a:spcBef>
                <a:spcPts val="600"/>
              </a:spcBef>
              <a:spcAft>
                <a:spcPts val="600"/>
              </a:spcAft>
            </a:pPr>
            <a:endParaRPr lang="en-US" sz="2400" dirty="0" smtClean="0"/>
          </a:p>
          <a:p>
            <a:pPr marL="381000" indent="-3810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where  </a:t>
            </a:r>
            <a:r>
              <a:rPr lang="en-US" sz="2400" i="1" dirty="0" err="1" smtClean="0"/>
              <a:t>i</a:t>
            </a:r>
            <a:r>
              <a:rPr lang="en-US" sz="2400" dirty="0" smtClean="0"/>
              <a:t> = (</a:t>
            </a:r>
            <a:r>
              <a:rPr lang="en-US" sz="2400" i="1" dirty="0" smtClean="0"/>
              <a:t>x</a:t>
            </a:r>
            <a:r>
              <a:rPr lang="en-US" sz="2400" baseline="-25000" dirty="0" smtClean="0"/>
              <a:t>i1</a:t>
            </a:r>
            <a:r>
              <a:rPr lang="en-US" sz="2400" dirty="0" smtClean="0"/>
              <a:t>, </a:t>
            </a:r>
            <a:r>
              <a:rPr lang="en-US" sz="2400" i="1" dirty="0" smtClean="0"/>
              <a:t>x</a:t>
            </a:r>
            <a:r>
              <a:rPr lang="en-US" sz="2400" baseline="-25000" dirty="0" smtClean="0"/>
              <a:t>i2</a:t>
            </a:r>
            <a:r>
              <a:rPr lang="en-US" sz="2400" dirty="0" smtClean="0"/>
              <a:t>, …, </a:t>
            </a:r>
            <a:r>
              <a:rPr lang="en-US" sz="2400" i="1" dirty="0" err="1" smtClean="0"/>
              <a:t>x</a:t>
            </a:r>
            <a:r>
              <a:rPr lang="en-US" sz="2400" baseline="-25000" dirty="0" err="1" smtClean="0"/>
              <a:t>ip</a:t>
            </a:r>
            <a:r>
              <a:rPr lang="en-US" sz="2400" dirty="0" smtClean="0"/>
              <a:t>) and</a:t>
            </a:r>
            <a:r>
              <a:rPr lang="en-US" sz="2400" i="1" dirty="0" smtClean="0"/>
              <a:t> j</a:t>
            </a:r>
            <a:r>
              <a:rPr lang="en-US" sz="2400" dirty="0" smtClean="0"/>
              <a:t> = (</a:t>
            </a:r>
            <a:r>
              <a:rPr lang="en-US" sz="2400" i="1" dirty="0" smtClean="0"/>
              <a:t>x</a:t>
            </a:r>
            <a:r>
              <a:rPr lang="en-US" sz="2400" baseline="-25000" dirty="0" smtClean="0"/>
              <a:t>j1</a:t>
            </a:r>
            <a:r>
              <a:rPr lang="en-US" sz="2400" dirty="0" smtClean="0"/>
              <a:t>, </a:t>
            </a:r>
            <a:r>
              <a:rPr lang="en-US" sz="2400" i="1" dirty="0" smtClean="0"/>
              <a:t>x</a:t>
            </a:r>
            <a:r>
              <a:rPr lang="en-US" sz="2400" baseline="-25000" dirty="0" smtClean="0"/>
              <a:t>j2</a:t>
            </a:r>
            <a:r>
              <a:rPr lang="en-US" sz="2400" dirty="0" smtClean="0"/>
              <a:t>, …, </a:t>
            </a:r>
            <a:r>
              <a:rPr lang="en-US" sz="2400" i="1" dirty="0" err="1" smtClean="0"/>
              <a:t>x</a:t>
            </a:r>
            <a:r>
              <a:rPr lang="en-US" sz="2400" baseline="-25000" dirty="0" err="1" smtClean="0"/>
              <a:t>jp</a:t>
            </a:r>
            <a:r>
              <a:rPr lang="en-US" sz="2400" dirty="0" smtClean="0"/>
              <a:t>) are two </a:t>
            </a:r>
            <a:r>
              <a:rPr lang="en-US" sz="2400" i="1" dirty="0" smtClean="0"/>
              <a:t>p</a:t>
            </a:r>
            <a:r>
              <a:rPr lang="en-US" sz="2400" dirty="0" smtClean="0"/>
              <a:t>-dimensional data objects, and </a:t>
            </a:r>
            <a:r>
              <a:rPr lang="en-US" sz="2400" i="1" dirty="0" smtClean="0"/>
              <a:t>h</a:t>
            </a:r>
            <a:r>
              <a:rPr lang="en-US" sz="2400" dirty="0" smtClean="0"/>
              <a:t> is the order (the distance so defined is also called L-</a:t>
            </a:r>
            <a:r>
              <a:rPr lang="en-US" sz="2400" i="1" dirty="0" smtClean="0"/>
              <a:t>h</a:t>
            </a:r>
            <a:r>
              <a:rPr lang="en-US" sz="2400" dirty="0" smtClean="0"/>
              <a:t> norm)</a:t>
            </a:r>
          </a:p>
          <a:p>
            <a:pPr marL="381000" indent="-3810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Properties</a:t>
            </a:r>
          </a:p>
          <a:p>
            <a:pPr marL="838200" lvl="1" indent="-3810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d(</a:t>
            </a:r>
            <a:r>
              <a:rPr lang="en-US" sz="2400" dirty="0" err="1" smtClean="0"/>
              <a:t>i</a:t>
            </a:r>
            <a:r>
              <a:rPr lang="en-US" sz="2400" dirty="0" smtClean="0"/>
              <a:t>, j) </a:t>
            </a:r>
            <a:r>
              <a:rPr lang="en-US" sz="2400" dirty="0" smtClean="0">
                <a:sym typeface="Symbol" pitchFamily="18" charset="2"/>
              </a:rPr>
              <a:t>&gt; 0 if </a:t>
            </a:r>
            <a:r>
              <a:rPr lang="en-US" sz="2400" dirty="0" err="1" smtClean="0">
                <a:sym typeface="Symbol" pitchFamily="18" charset="2"/>
              </a:rPr>
              <a:t>i</a:t>
            </a:r>
            <a:r>
              <a:rPr lang="en-US" sz="2400" dirty="0" smtClean="0">
                <a:sym typeface="Symbol" pitchFamily="18" charset="2"/>
              </a:rPr>
              <a:t> </a:t>
            </a:r>
            <a:r>
              <a:rPr lang="en-US" sz="2400" dirty="0" smtClean="0">
                <a:cs typeface="Tahoma" pitchFamily="34" charset="0"/>
                <a:sym typeface="Symbol" pitchFamily="18" charset="2"/>
              </a:rPr>
              <a:t>≠ j</a:t>
            </a:r>
            <a:r>
              <a:rPr lang="en-US" sz="2400" dirty="0" smtClean="0">
                <a:cs typeface="Tahoma" pitchFamily="34" charset="0"/>
              </a:rPr>
              <a:t>, and </a:t>
            </a:r>
            <a:r>
              <a:rPr lang="en-US" sz="2400" dirty="0" smtClean="0"/>
              <a:t>d(</a:t>
            </a:r>
            <a:r>
              <a:rPr lang="en-US" sz="2400" dirty="0" err="1" smtClean="0"/>
              <a:t>i</a:t>
            </a:r>
            <a:r>
              <a:rPr lang="en-US" sz="2400" dirty="0" smtClean="0"/>
              <a:t>, </a:t>
            </a:r>
            <a:r>
              <a:rPr lang="en-US" sz="2400" dirty="0" err="1" smtClean="0"/>
              <a:t>i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pitchFamily="18" charset="2"/>
              </a:rPr>
              <a:t>= 0 </a:t>
            </a:r>
            <a:r>
              <a:rPr lang="en-US" sz="2400" dirty="0" smtClean="0"/>
              <a:t>(Positive definiteness)</a:t>
            </a:r>
          </a:p>
          <a:p>
            <a:pPr marL="838200" lvl="1" indent="-3810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d(</a:t>
            </a:r>
            <a:r>
              <a:rPr lang="en-US" sz="2400" dirty="0" err="1" smtClean="0"/>
              <a:t>i</a:t>
            </a:r>
            <a:r>
              <a:rPr lang="en-US" sz="2400" dirty="0" smtClean="0"/>
              <a:t>, j) </a:t>
            </a:r>
            <a:r>
              <a:rPr lang="en-US" sz="2400" dirty="0" smtClean="0">
                <a:sym typeface="Symbol" pitchFamily="18" charset="2"/>
              </a:rPr>
              <a:t>= </a:t>
            </a:r>
            <a:r>
              <a:rPr lang="en-US" sz="2400" dirty="0" smtClean="0"/>
              <a:t>d(j, </a:t>
            </a:r>
            <a:r>
              <a:rPr lang="en-US" sz="2400" dirty="0" err="1" smtClean="0"/>
              <a:t>i</a:t>
            </a:r>
            <a:r>
              <a:rPr lang="en-US" sz="2400" dirty="0" smtClean="0"/>
              <a:t>)</a:t>
            </a:r>
            <a:r>
              <a:rPr lang="en-US" sz="2400" i="1" dirty="0" smtClean="0"/>
              <a:t>  </a:t>
            </a:r>
            <a:r>
              <a:rPr lang="en-US" sz="2400" dirty="0" smtClean="0"/>
              <a:t>(Symmetry)</a:t>
            </a:r>
          </a:p>
          <a:p>
            <a:pPr marL="838200" lvl="1" indent="-3810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d(</a:t>
            </a:r>
            <a:r>
              <a:rPr lang="en-US" sz="2400" dirty="0" err="1" smtClean="0"/>
              <a:t>i</a:t>
            </a:r>
            <a:r>
              <a:rPr lang="en-US" sz="2400" dirty="0" smtClean="0"/>
              <a:t>, j) </a:t>
            </a:r>
            <a:r>
              <a:rPr lang="en-US" sz="2400" dirty="0" smtClean="0">
                <a:sym typeface="Symbol" pitchFamily="18" charset="2"/>
              </a:rPr>
              <a:t> </a:t>
            </a:r>
            <a:r>
              <a:rPr lang="en-US" sz="2400" dirty="0" smtClean="0"/>
              <a:t>d(</a:t>
            </a:r>
            <a:r>
              <a:rPr lang="en-US" sz="2400" dirty="0" err="1" smtClean="0"/>
              <a:t>i</a:t>
            </a:r>
            <a:r>
              <a:rPr lang="en-US" sz="2400" dirty="0" smtClean="0"/>
              <a:t>, k) </a:t>
            </a:r>
            <a:r>
              <a:rPr lang="en-US" sz="2400" dirty="0" smtClean="0">
                <a:sym typeface="Symbol" pitchFamily="18" charset="2"/>
              </a:rPr>
              <a:t>+ </a:t>
            </a:r>
            <a:r>
              <a:rPr lang="en-US" sz="2400" dirty="0" smtClean="0"/>
              <a:t>d(k, j)</a:t>
            </a:r>
            <a:r>
              <a:rPr lang="en-US" sz="2400" i="1" dirty="0" smtClean="0"/>
              <a:t>  </a:t>
            </a:r>
            <a:r>
              <a:rPr lang="en-US" sz="2400" dirty="0" smtClean="0"/>
              <a:t>(Triangle Inequality)</a:t>
            </a:r>
            <a:endParaRPr lang="en-US" sz="2400" i="1" dirty="0" smtClean="0"/>
          </a:p>
          <a:p>
            <a:pPr marL="381000" indent="-3810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A distance that satisfies these properties is a </a:t>
            </a:r>
            <a:r>
              <a:rPr lang="en-US" sz="2400" dirty="0" smtClean="0">
                <a:solidFill>
                  <a:srgbClr val="FF0000"/>
                </a:solidFill>
              </a:rPr>
              <a:t>metric</a:t>
            </a:r>
          </a:p>
        </p:txBody>
      </p:sp>
      <p:pic>
        <p:nvPicPr>
          <p:cNvPr id="103429" name="Picture 7" descr="eqminkowski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1357298"/>
            <a:ext cx="6400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F8E41E3-6E50-4AFD-8206-46E63592D00F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461946"/>
          </a:xfrm>
        </p:spPr>
        <p:txBody>
          <a:bodyPr/>
          <a:lstStyle/>
          <a:p>
            <a:pPr eaLnBrk="1" hangingPunct="1"/>
            <a:r>
              <a:rPr lang="en-US" sz="3200" dirty="0" smtClean="0"/>
              <a:t>Special Cases of </a:t>
            </a:r>
            <a:r>
              <a:rPr lang="en-US" sz="3200" dirty="0" err="1" smtClean="0"/>
              <a:t>Minkowski</a:t>
            </a:r>
            <a:r>
              <a:rPr lang="en-US" sz="3200" dirty="0" smtClean="0"/>
              <a:t> Distance</a:t>
            </a:r>
            <a:endParaRPr lang="en-US" dirty="0" smtClean="0"/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95400"/>
            <a:ext cx="8077200" cy="5181600"/>
          </a:xfrm>
        </p:spPr>
        <p:txBody>
          <a:bodyPr/>
          <a:lstStyle/>
          <a:p>
            <a:pPr eaLnBrk="1" hangingPunct="1"/>
            <a:r>
              <a:rPr lang="en-US" sz="2000" i="1" dirty="0" smtClean="0">
                <a:latin typeface="Arial" charset="0"/>
                <a:cs typeface="Times New Roman" pitchFamily="18" charset="0"/>
              </a:rPr>
              <a:t>h</a:t>
            </a:r>
            <a:r>
              <a:rPr lang="en-US" sz="2000" dirty="0" smtClean="0">
                <a:latin typeface="Arial" charset="0"/>
                <a:cs typeface="Times New Roman" pitchFamily="18" charset="0"/>
              </a:rPr>
              <a:t> = 1:  Manhattan (city block, L</a:t>
            </a:r>
            <a:r>
              <a:rPr lang="en-US" sz="2000" baseline="-30000" dirty="0" smtClean="0">
                <a:latin typeface="Arial" charset="0"/>
                <a:cs typeface="Times New Roman" pitchFamily="18" charset="0"/>
              </a:rPr>
              <a:t>1</a:t>
            </a:r>
            <a:r>
              <a:rPr lang="en-US" sz="2000" dirty="0" smtClean="0">
                <a:latin typeface="Arial" charset="0"/>
                <a:cs typeface="Times New Roman" pitchFamily="18" charset="0"/>
              </a:rPr>
              <a:t> norm)</a:t>
            </a:r>
            <a:r>
              <a:rPr lang="en-US" sz="2000" dirty="0" smtClean="0">
                <a:solidFill>
                  <a:schemeClr val="hlink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Arial" charset="0"/>
                <a:cs typeface="Times New Roman" pitchFamily="18" charset="0"/>
              </a:rPr>
              <a:t>distance </a:t>
            </a:r>
          </a:p>
          <a:p>
            <a:pPr lvl="1" eaLnBrk="1" hangingPunct="1"/>
            <a:r>
              <a:rPr lang="en-US" sz="2000" dirty="0" smtClean="0">
                <a:latin typeface="Arial" charset="0"/>
                <a:cs typeface="Times New Roman" pitchFamily="18" charset="0"/>
              </a:rPr>
              <a:t>E.g., the Hamming distance: the number of bits that are different between two binary vectors</a:t>
            </a:r>
          </a:p>
          <a:p>
            <a:pPr lvl="1" eaLnBrk="1" hangingPunct="1"/>
            <a:endParaRPr lang="en-US" sz="2000" b="1" dirty="0" smtClean="0">
              <a:latin typeface="Arial" charset="0"/>
              <a:cs typeface="Times New Roman" pitchFamily="18" charset="0"/>
            </a:endParaRPr>
          </a:p>
          <a:p>
            <a:pPr eaLnBrk="1" hangingPunct="1"/>
            <a:endParaRPr lang="en-US" sz="2000" i="1" dirty="0" smtClean="0">
              <a:latin typeface="Arial" charset="0"/>
              <a:cs typeface="Times New Roman" pitchFamily="18" charset="0"/>
            </a:endParaRPr>
          </a:p>
          <a:p>
            <a:pPr eaLnBrk="1" hangingPunct="1"/>
            <a:r>
              <a:rPr lang="en-US" sz="2000" i="1" dirty="0" smtClean="0">
                <a:latin typeface="Arial" charset="0"/>
                <a:cs typeface="Times New Roman" pitchFamily="18" charset="0"/>
              </a:rPr>
              <a:t>h </a:t>
            </a:r>
            <a:r>
              <a:rPr lang="en-US" sz="2000" dirty="0" smtClean="0">
                <a:latin typeface="Arial" charset="0"/>
                <a:cs typeface="Times New Roman" pitchFamily="18" charset="0"/>
              </a:rPr>
              <a:t>= 2:  (L</a:t>
            </a:r>
            <a:r>
              <a:rPr lang="en-US" sz="2000" baseline="-25000" dirty="0" smtClean="0">
                <a:latin typeface="Arial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Arial" charset="0"/>
                <a:cs typeface="Times New Roman" pitchFamily="18" charset="0"/>
              </a:rPr>
              <a:t> norm) Euclidean distance</a:t>
            </a:r>
          </a:p>
          <a:p>
            <a:pPr lvl="4" eaLnBrk="1" hangingPunct="1"/>
            <a:endParaRPr lang="en-US" dirty="0" smtClean="0">
              <a:latin typeface="Arial" charset="0"/>
              <a:cs typeface="Times New Roman" pitchFamily="18" charset="0"/>
            </a:endParaRPr>
          </a:p>
          <a:p>
            <a:pPr eaLnBrk="1" hangingPunct="1"/>
            <a:endParaRPr lang="en-US" sz="2000" i="1" dirty="0" smtClean="0">
              <a:latin typeface="Arial" charset="0"/>
              <a:cs typeface="Times New Roman" pitchFamily="18" charset="0"/>
            </a:endParaRPr>
          </a:p>
          <a:p>
            <a:pPr eaLnBrk="1" hangingPunct="1"/>
            <a:r>
              <a:rPr lang="en-US" sz="2000" i="1" dirty="0" smtClean="0">
                <a:latin typeface="Arial" charset="0"/>
                <a:cs typeface="Times New Roman" pitchFamily="18" charset="0"/>
              </a:rPr>
              <a:t>h </a:t>
            </a:r>
            <a:r>
              <a:rPr lang="en-US" sz="2000" dirty="0" smtClean="0">
                <a:latin typeface="Arial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sz="2000" dirty="0" smtClean="0">
                <a:latin typeface="Arial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Arial" charset="0"/>
                <a:cs typeface="Times New Roman" pitchFamily="18" charset="0"/>
                <a:sym typeface="Symbol" pitchFamily="18" charset="2"/>
              </a:rPr>
              <a:t></a:t>
            </a:r>
            <a:r>
              <a:rPr lang="en-US" sz="2000" dirty="0" smtClean="0">
                <a:latin typeface="Arial" charset="0"/>
                <a:cs typeface="Times New Roman" pitchFamily="18" charset="0"/>
              </a:rPr>
              <a:t>.  “</a:t>
            </a:r>
            <a:r>
              <a:rPr lang="en-US" sz="2000" dirty="0" err="1" smtClean="0">
                <a:latin typeface="Arial" charset="0"/>
                <a:cs typeface="Times New Roman" pitchFamily="18" charset="0"/>
              </a:rPr>
              <a:t>supremum</a:t>
            </a:r>
            <a:r>
              <a:rPr lang="en-US" sz="2000" dirty="0" smtClean="0">
                <a:latin typeface="Arial" charset="0"/>
                <a:cs typeface="Times New Roman" pitchFamily="18" charset="0"/>
              </a:rPr>
              <a:t>” (</a:t>
            </a:r>
            <a:r>
              <a:rPr lang="en-US" sz="2000" dirty="0" err="1" smtClean="0">
                <a:latin typeface="Arial" charset="0"/>
                <a:cs typeface="Times New Roman" pitchFamily="18" charset="0"/>
              </a:rPr>
              <a:t>L</a:t>
            </a:r>
            <a:r>
              <a:rPr lang="en-US" sz="2000" baseline="-30000" dirty="0" err="1" smtClean="0">
                <a:latin typeface="Arial" charset="0"/>
                <a:cs typeface="Times New Roman" pitchFamily="18" charset="0"/>
              </a:rPr>
              <a:t>max</a:t>
            </a:r>
            <a:r>
              <a:rPr lang="en-US" sz="2000" baseline="-30000" dirty="0" smtClean="0">
                <a:latin typeface="Arial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Arial" charset="0"/>
                <a:cs typeface="Times New Roman" pitchFamily="18" charset="0"/>
              </a:rPr>
              <a:t>norm, L</a:t>
            </a:r>
            <a:r>
              <a:rPr lang="en-US" sz="2000" baseline="-30000" dirty="0" smtClean="0">
                <a:latin typeface="Arial" charset="0"/>
                <a:cs typeface="Times New Roman" pitchFamily="18" charset="0"/>
                <a:sym typeface="Symbol" pitchFamily="18" charset="2"/>
              </a:rPr>
              <a:t></a:t>
            </a:r>
            <a:r>
              <a:rPr lang="en-US" sz="2000" baseline="-30000" dirty="0" smtClean="0">
                <a:latin typeface="Arial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Arial" charset="0"/>
                <a:cs typeface="Times New Roman" pitchFamily="18" charset="0"/>
              </a:rPr>
              <a:t>norm) distance. </a:t>
            </a:r>
          </a:p>
          <a:p>
            <a:pPr lvl="1" eaLnBrk="1" hangingPunct="1"/>
            <a:r>
              <a:rPr lang="en-US" sz="2000" dirty="0" smtClean="0">
                <a:latin typeface="Arial" charset="0"/>
                <a:cs typeface="Times New Roman" pitchFamily="18" charset="0"/>
              </a:rPr>
              <a:t>This is the maximum difference between any component (attribute) of the vectors</a:t>
            </a:r>
          </a:p>
          <a:p>
            <a:pPr lvl="1" eaLnBrk="1" hangingPunct="1"/>
            <a:endParaRPr lang="en-US" sz="2000" dirty="0" smtClean="0">
              <a:latin typeface="Arial" charset="0"/>
              <a:cs typeface="Times New Roman" pitchFamily="18" charset="0"/>
            </a:endParaRPr>
          </a:p>
        </p:txBody>
      </p:sp>
      <p:graphicFrame>
        <p:nvGraphicFramePr>
          <p:cNvPr id="14338" name="Object 4"/>
          <p:cNvGraphicFramePr>
            <a:graphicFrameLocks noChangeAspect="1"/>
          </p:cNvGraphicFramePr>
          <p:nvPr/>
        </p:nvGraphicFramePr>
        <p:xfrm>
          <a:off x="2063750" y="3455988"/>
          <a:ext cx="5005388" cy="582612"/>
        </p:xfrm>
        <a:graphic>
          <a:graphicData uri="http://schemas.openxmlformats.org/presentationml/2006/ole">
            <p:oleObj spid="_x0000_s7170" name="Equation" r:id="rId4" imgW="5003800" imgH="584200" progId="Equation.3">
              <p:embed/>
            </p:oleObj>
          </a:graphicData>
        </a:graphic>
      </p:graphicFrame>
      <p:graphicFrame>
        <p:nvGraphicFramePr>
          <p:cNvPr id="14339" name="Object 5"/>
          <p:cNvGraphicFramePr>
            <a:graphicFrameLocks noChangeAspect="1"/>
          </p:cNvGraphicFramePr>
          <p:nvPr>
            <p:ph sz="half" idx="2"/>
          </p:nvPr>
        </p:nvGraphicFramePr>
        <p:xfrm>
          <a:off x="1857356" y="2428868"/>
          <a:ext cx="4114800" cy="414338"/>
        </p:xfrm>
        <a:graphic>
          <a:graphicData uri="http://schemas.openxmlformats.org/presentationml/2006/ole">
            <p:oleObj spid="_x0000_s7171" name="Microsoft Equation 3.0" r:id="rId5" imgW="4292600" imgH="431800" progId="Equation.3">
              <p:embed/>
            </p:oleObj>
          </a:graphicData>
        </a:graphic>
      </p:graphicFrame>
      <p:pic>
        <p:nvPicPr>
          <p:cNvPr id="14343" name="Picture 1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71604" y="5214950"/>
            <a:ext cx="6019800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00800"/>
            <a:ext cx="1905000" cy="457200"/>
          </a:xfrm>
          <a:noFill/>
        </p:spPr>
        <p:txBody>
          <a:bodyPr/>
          <a:lstStyle/>
          <a:p>
            <a:pPr algn="l"/>
            <a:fld id="{D5BC00E0-5E22-4A35-B16C-9D7E9A3487B2}" type="slidenum">
              <a:rPr lang="en-US" sz="1200" smtClean="0"/>
              <a:pPr algn="l"/>
              <a:t>14</a:t>
            </a:fld>
            <a:endParaRPr lang="en-US" sz="1200" smtClean="0"/>
          </a:p>
        </p:txBody>
      </p:sp>
      <p:sp>
        <p:nvSpPr>
          <p:cNvPr id="15368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10" y="428604"/>
            <a:ext cx="7772400" cy="319070"/>
          </a:xfrm>
        </p:spPr>
        <p:txBody>
          <a:bodyPr/>
          <a:lstStyle/>
          <a:p>
            <a:pPr eaLnBrk="1" hangingPunct="1"/>
            <a:r>
              <a:rPr lang="en-US" sz="3200" dirty="0" smtClean="0"/>
              <a:t>Example: </a:t>
            </a:r>
            <a:r>
              <a:rPr lang="en-US" sz="3200" dirty="0" err="1" smtClean="0"/>
              <a:t>Minkowski</a:t>
            </a:r>
            <a:r>
              <a:rPr lang="en-US" sz="3200" dirty="0" smtClean="0"/>
              <a:t> Distance</a:t>
            </a:r>
          </a:p>
        </p:txBody>
      </p:sp>
      <p:sp>
        <p:nvSpPr>
          <p:cNvPr id="15369" name="Text Box 3"/>
          <p:cNvSpPr txBox="1">
            <a:spLocks noChangeArrowheads="1"/>
          </p:cNvSpPr>
          <p:nvPr/>
        </p:nvSpPr>
        <p:spPr bwMode="auto">
          <a:xfrm>
            <a:off x="5334000" y="838200"/>
            <a:ext cx="28956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 dirty="0">
                <a:latin typeface="Arial" charset="0"/>
              </a:rPr>
              <a:t>Dissimilarity Matrices</a:t>
            </a:r>
          </a:p>
        </p:txBody>
      </p:sp>
      <p:graphicFrame>
        <p:nvGraphicFramePr>
          <p:cNvPr id="15362" name="Object 4"/>
          <p:cNvGraphicFramePr>
            <a:graphicFrameLocks noChangeAspect="1"/>
          </p:cNvGraphicFramePr>
          <p:nvPr/>
        </p:nvGraphicFramePr>
        <p:xfrm>
          <a:off x="304800" y="1219200"/>
          <a:ext cx="2962275" cy="1363663"/>
        </p:xfrm>
        <a:graphic>
          <a:graphicData uri="http://schemas.openxmlformats.org/presentationml/2006/ole">
            <p:oleObj spid="_x0000_s8194" name="Worksheet" r:id="rId4" imgW="1838249" imgH="819302" progId="Excel.Sheet.8">
              <p:embed/>
            </p:oleObj>
          </a:graphicData>
        </a:graphic>
      </p:graphicFrame>
      <p:graphicFrame>
        <p:nvGraphicFramePr>
          <p:cNvPr id="15363" name="Object 5"/>
          <p:cNvGraphicFramePr>
            <a:graphicFrameLocks noChangeAspect="1"/>
          </p:cNvGraphicFramePr>
          <p:nvPr/>
        </p:nvGraphicFramePr>
        <p:xfrm>
          <a:off x="3810000" y="1500174"/>
          <a:ext cx="4948238" cy="1320800"/>
        </p:xfrm>
        <a:graphic>
          <a:graphicData uri="http://schemas.openxmlformats.org/presentationml/2006/ole">
            <p:oleObj spid="_x0000_s8195" name="Worksheet" r:id="rId5" imgW="3057449" imgH="819302" progId="Excel.Sheet.8">
              <p:embed/>
            </p:oleObj>
          </a:graphicData>
        </a:graphic>
      </p:graphicFrame>
      <p:graphicFrame>
        <p:nvGraphicFramePr>
          <p:cNvPr id="15364" name="Object 6"/>
          <p:cNvGraphicFramePr>
            <a:graphicFrameLocks noChangeAspect="1"/>
          </p:cNvGraphicFramePr>
          <p:nvPr/>
        </p:nvGraphicFramePr>
        <p:xfrm>
          <a:off x="3810000" y="3286124"/>
          <a:ext cx="4948238" cy="1320800"/>
        </p:xfrm>
        <a:graphic>
          <a:graphicData uri="http://schemas.openxmlformats.org/presentationml/2006/ole">
            <p:oleObj spid="_x0000_s8196" name="Worksheet" r:id="rId6" imgW="3057449" imgH="819302" progId="Excel.Sheet.8">
              <p:embed/>
            </p:oleObj>
          </a:graphicData>
        </a:graphic>
      </p:graphicFrame>
      <p:graphicFrame>
        <p:nvGraphicFramePr>
          <p:cNvPr id="15365" name="Object 7"/>
          <p:cNvGraphicFramePr>
            <a:graphicFrameLocks noChangeAspect="1"/>
          </p:cNvGraphicFramePr>
          <p:nvPr/>
        </p:nvGraphicFramePr>
        <p:xfrm>
          <a:off x="3810000" y="5072074"/>
          <a:ext cx="4872038" cy="1374775"/>
        </p:xfrm>
        <a:graphic>
          <a:graphicData uri="http://schemas.openxmlformats.org/presentationml/2006/ole">
            <p:oleObj spid="_x0000_s8197" name="Worksheet" r:id="rId7" imgW="3057449" imgH="838200" progId="Excel.Sheet.8">
              <p:embed/>
            </p:oleObj>
          </a:graphicData>
        </a:graphic>
      </p:graphicFrame>
      <p:sp>
        <p:nvSpPr>
          <p:cNvPr id="15370" name="Rectangle 16"/>
          <p:cNvSpPr>
            <a:spLocks noChangeArrowheads="1"/>
          </p:cNvSpPr>
          <p:nvPr/>
        </p:nvSpPr>
        <p:spPr bwMode="auto">
          <a:xfrm>
            <a:off x="3595688" y="1066800"/>
            <a:ext cx="25765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/>
              <a:t>Manhattan (L</a:t>
            </a:r>
            <a:r>
              <a:rPr lang="en-US" sz="2000" b="1" baseline="-25000" dirty="0"/>
              <a:t>1</a:t>
            </a:r>
            <a:r>
              <a:rPr lang="en-US" sz="2000" b="1" dirty="0"/>
              <a:t>)</a:t>
            </a:r>
          </a:p>
        </p:txBody>
      </p:sp>
      <p:sp>
        <p:nvSpPr>
          <p:cNvPr id="15371" name="Rectangle 17"/>
          <p:cNvSpPr>
            <a:spLocks noChangeArrowheads="1"/>
          </p:cNvSpPr>
          <p:nvPr/>
        </p:nvSpPr>
        <p:spPr bwMode="auto">
          <a:xfrm>
            <a:off x="3571868" y="2857496"/>
            <a:ext cx="177163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/>
              <a:t>Euclidean (L</a:t>
            </a:r>
            <a:r>
              <a:rPr lang="en-US" sz="2000" b="1" baseline="-25000" dirty="0"/>
              <a:t>2</a:t>
            </a:r>
            <a:r>
              <a:rPr lang="en-US" sz="2000" b="1" dirty="0"/>
              <a:t>)</a:t>
            </a:r>
          </a:p>
        </p:txBody>
      </p:sp>
      <p:sp>
        <p:nvSpPr>
          <p:cNvPr id="15372" name="Rectangle 18"/>
          <p:cNvSpPr>
            <a:spLocks noChangeArrowheads="1"/>
          </p:cNvSpPr>
          <p:nvPr/>
        </p:nvSpPr>
        <p:spPr bwMode="auto">
          <a:xfrm>
            <a:off x="3643306" y="4643446"/>
            <a:ext cx="14688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 err="1"/>
              <a:t>Supremum</a:t>
            </a:r>
            <a:r>
              <a:rPr lang="en-US" sz="2000" b="1" dirty="0"/>
              <a:t> </a:t>
            </a:r>
          </a:p>
        </p:txBody>
      </p:sp>
      <p:graphicFrame>
        <p:nvGraphicFramePr>
          <p:cNvPr id="15366" name="Object 19"/>
          <p:cNvGraphicFramePr>
            <a:graphicFrameLocks noChangeAspect="1"/>
          </p:cNvGraphicFramePr>
          <p:nvPr/>
        </p:nvGraphicFramePr>
        <p:xfrm>
          <a:off x="265114" y="2819400"/>
          <a:ext cx="2736136" cy="3467120"/>
        </p:xfrm>
        <a:graphic>
          <a:graphicData uri="http://schemas.openxmlformats.org/presentationml/2006/ole">
            <p:oleObj spid="_x0000_s8198" name="SmartDraw" r:id="rId8" imgW="4379976" imgH="5551932" progId="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00800"/>
            <a:ext cx="1905000" cy="457200"/>
          </a:xfrm>
          <a:noFill/>
        </p:spPr>
        <p:txBody>
          <a:bodyPr/>
          <a:lstStyle/>
          <a:p>
            <a:pPr algn="l"/>
            <a:fld id="{25F35966-03C0-426D-9A9B-39AA5F2AACDF}" type="slidenum">
              <a:rPr lang="en-US" sz="1200" smtClean="0"/>
              <a:pPr algn="l"/>
              <a:t>15</a:t>
            </a:fld>
            <a:endParaRPr lang="en-US" sz="1200" smtClean="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457200"/>
            <a:ext cx="6553200" cy="63023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z="3200" smtClean="0">
                <a:solidFill>
                  <a:srgbClr val="170981"/>
                </a:solidFill>
              </a:rPr>
              <a:t>Ordinal Variables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2984"/>
            <a:ext cx="8458200" cy="5181616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sz="2400" dirty="0" smtClean="0"/>
              <a:t>An ordinal variable can be discrete or continuous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 smtClean="0"/>
              <a:t>Order is important, e.g., rank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 smtClean="0"/>
              <a:t>Can be treated like interval-scaled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 smtClean="0"/>
              <a:t>replace </a:t>
            </a:r>
            <a:r>
              <a:rPr lang="en-US" sz="2400" i="1" dirty="0" err="1" smtClean="0"/>
              <a:t>x</a:t>
            </a:r>
            <a:r>
              <a:rPr lang="en-US" sz="2400" i="1" baseline="-25000" dirty="0" err="1" smtClean="0"/>
              <a:t>if</a:t>
            </a:r>
            <a:r>
              <a:rPr lang="en-US" sz="2400" baseline="-25000" dirty="0" smtClean="0"/>
              <a:t> </a:t>
            </a:r>
            <a:r>
              <a:rPr lang="en-US" sz="2400" dirty="0" smtClean="0"/>
              <a:t> by their rank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 smtClean="0"/>
              <a:t>map the range of each variable onto [0, 1] by replacing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i</a:t>
            </a:r>
            <a:r>
              <a:rPr lang="en-US" sz="2400" dirty="0" err="1" smtClean="0"/>
              <a:t>-th</a:t>
            </a:r>
            <a:r>
              <a:rPr lang="en-US" sz="2400" dirty="0" smtClean="0"/>
              <a:t> object in the </a:t>
            </a:r>
            <a:r>
              <a:rPr lang="en-US" sz="2400" i="1" dirty="0" smtClean="0"/>
              <a:t>f</a:t>
            </a:r>
            <a:r>
              <a:rPr lang="en-US" sz="2400" dirty="0" smtClean="0"/>
              <a:t>-</a:t>
            </a:r>
            <a:r>
              <a:rPr lang="en-US" sz="2400" dirty="0" err="1" smtClean="0"/>
              <a:t>th</a:t>
            </a:r>
            <a:r>
              <a:rPr lang="en-US" sz="2400" dirty="0" smtClean="0"/>
              <a:t> variable by Min-Max normalization</a:t>
            </a:r>
          </a:p>
          <a:p>
            <a:pPr lvl="1" eaLnBrk="1" hangingPunct="1">
              <a:lnSpc>
                <a:spcPct val="110000"/>
              </a:lnSpc>
              <a:buNone/>
            </a:pPr>
            <a:endParaRPr lang="en-US" sz="2400" dirty="0" smtClean="0"/>
          </a:p>
          <a:p>
            <a:pPr lvl="1" eaLnBrk="1" hangingPunct="1">
              <a:lnSpc>
                <a:spcPct val="110000"/>
              </a:lnSpc>
              <a:buNone/>
            </a:pPr>
            <a:endParaRPr lang="en-US" dirty="0" smtClean="0"/>
          </a:p>
          <a:p>
            <a:pPr lvl="1" eaLnBrk="1" hangingPunct="1">
              <a:lnSpc>
                <a:spcPct val="110000"/>
              </a:lnSpc>
            </a:pPr>
            <a:r>
              <a:rPr lang="en-US" sz="2400" dirty="0" smtClean="0"/>
              <a:t>compute the dissimilarity using methods for interval-scaled variables (like Euclidean distance etc.)</a:t>
            </a:r>
          </a:p>
        </p:txBody>
      </p:sp>
      <p:graphicFrame>
        <p:nvGraphicFramePr>
          <p:cNvPr id="16386" name="Object 4"/>
          <p:cNvGraphicFramePr>
            <a:graphicFrameLocks noChangeAspect="1"/>
          </p:cNvGraphicFramePr>
          <p:nvPr/>
        </p:nvGraphicFramePr>
        <p:xfrm>
          <a:off x="3071802" y="4071942"/>
          <a:ext cx="2438400" cy="812800"/>
        </p:xfrm>
        <a:graphic>
          <a:graphicData uri="http://schemas.openxmlformats.org/presentationml/2006/ole">
            <p:oleObj spid="_x0000_s9218" name="Equation" r:id="rId4" imgW="1168400" imgH="711200" progId="Equation.3">
              <p:embed/>
            </p:oleObj>
          </a:graphicData>
        </a:graphic>
      </p:graphicFrame>
      <p:graphicFrame>
        <p:nvGraphicFramePr>
          <p:cNvPr id="16387" name="Object 5"/>
          <p:cNvGraphicFramePr>
            <a:graphicFrameLocks noChangeAspect="1"/>
          </p:cNvGraphicFramePr>
          <p:nvPr/>
        </p:nvGraphicFramePr>
        <p:xfrm>
          <a:off x="4071934" y="2643182"/>
          <a:ext cx="2214578" cy="443870"/>
        </p:xfrm>
        <a:graphic>
          <a:graphicData uri="http://schemas.openxmlformats.org/presentationml/2006/ole">
            <p:oleObj spid="_x0000_s9219" name="Equation" r:id="rId5" imgW="1397000" imgH="36830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47698"/>
          </a:xfrm>
        </p:spPr>
        <p:txBody>
          <a:bodyPr/>
          <a:lstStyle/>
          <a:p>
            <a:r>
              <a:rPr lang="en-IN" dirty="0" smtClean="0"/>
              <a:t>Ratio-Scaled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00174"/>
            <a:ext cx="7772400" cy="4595826"/>
          </a:xfrm>
        </p:spPr>
        <p:txBody>
          <a:bodyPr/>
          <a:lstStyle/>
          <a:p>
            <a:r>
              <a:rPr lang="en-IN" sz="2400" dirty="0" smtClean="0"/>
              <a:t>A ratio scaled variable makes a positive measurement on a nonlinear scale, such as an exponential scale, approximately following the formula </a:t>
            </a:r>
            <a:r>
              <a:rPr lang="en-IN" sz="2400" dirty="0" err="1" smtClean="0"/>
              <a:t>Ae</a:t>
            </a:r>
            <a:r>
              <a:rPr lang="en-IN" sz="2400" baseline="30000" dirty="0" err="1" smtClean="0"/>
              <a:t>Bt</a:t>
            </a:r>
            <a:r>
              <a:rPr lang="en-IN" sz="2400" dirty="0" smtClean="0"/>
              <a:t> or </a:t>
            </a:r>
            <a:r>
              <a:rPr lang="en-IN" sz="2400" dirty="0" err="1" smtClean="0"/>
              <a:t>Ae</a:t>
            </a:r>
            <a:r>
              <a:rPr lang="en-IN" sz="2400" baseline="30000" dirty="0" smtClean="0"/>
              <a:t>-Bt</a:t>
            </a:r>
            <a:r>
              <a:rPr lang="en-IN" sz="2400" dirty="0" smtClean="0"/>
              <a:t>, where A and B are positive constants. </a:t>
            </a:r>
          </a:p>
          <a:p>
            <a:r>
              <a:rPr lang="en-IN" sz="2400" dirty="0" smtClean="0"/>
              <a:t>Typical examples: growth of a bacteria population, decay of a radioactive element</a:t>
            </a:r>
          </a:p>
          <a:p>
            <a:r>
              <a:rPr lang="en-IN" sz="2400" dirty="0" smtClean="0"/>
              <a:t>How to compute dissimilarity: Generally 3 methods:</a:t>
            </a:r>
          </a:p>
          <a:p>
            <a:pPr>
              <a:buNone/>
            </a:pPr>
            <a:r>
              <a:rPr lang="en-IN" sz="2400" dirty="0" smtClean="0"/>
              <a:t>1. Treat ratio-scaled variables as interval scaled variables. This is not usually a good choice since it is likely that the scaled may be distorted.  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533384"/>
          </a:xfrm>
        </p:spPr>
        <p:txBody>
          <a:bodyPr/>
          <a:lstStyle/>
          <a:p>
            <a:r>
              <a:rPr lang="en-IN" sz="2800" dirty="0" smtClean="0"/>
              <a:t>Ratio-Scaled Variable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2984"/>
            <a:ext cx="7772400" cy="4953016"/>
          </a:xfrm>
        </p:spPr>
        <p:txBody>
          <a:bodyPr/>
          <a:lstStyle/>
          <a:p>
            <a:pPr>
              <a:buNone/>
            </a:pPr>
            <a:r>
              <a:rPr lang="en-IN" sz="2400" dirty="0" smtClean="0"/>
              <a:t>2. Apply logarithmic transformation to a ratio-scaled variable f having value </a:t>
            </a:r>
            <a:r>
              <a:rPr lang="en-IN" sz="2400" dirty="0" err="1" smtClean="0"/>
              <a:t>x</a:t>
            </a:r>
            <a:r>
              <a:rPr lang="en-IN" sz="2400" baseline="-25000" dirty="0" err="1" smtClean="0"/>
              <a:t>if</a:t>
            </a:r>
            <a:r>
              <a:rPr lang="en-IN" sz="2400" dirty="0" smtClean="0"/>
              <a:t> for object </a:t>
            </a:r>
            <a:r>
              <a:rPr lang="en-IN" sz="2400" dirty="0" err="1" smtClean="0"/>
              <a:t>i</a:t>
            </a:r>
            <a:r>
              <a:rPr lang="en-IN" sz="2400" dirty="0" smtClean="0"/>
              <a:t> by using the formula </a:t>
            </a:r>
            <a:r>
              <a:rPr lang="en-IN" sz="2400" dirty="0" err="1" smtClean="0"/>
              <a:t>y</a:t>
            </a:r>
            <a:r>
              <a:rPr lang="en-IN" sz="2400" baseline="-25000" dirty="0" err="1" smtClean="0"/>
              <a:t>if</a:t>
            </a:r>
            <a:r>
              <a:rPr lang="en-IN" sz="2400" dirty="0" smtClean="0"/>
              <a:t> = log(</a:t>
            </a:r>
            <a:r>
              <a:rPr lang="en-IN" sz="2400" dirty="0" err="1" smtClean="0"/>
              <a:t>x</a:t>
            </a:r>
            <a:r>
              <a:rPr lang="en-IN" sz="2400" baseline="-25000" dirty="0" err="1" smtClean="0"/>
              <a:t>if</a:t>
            </a:r>
            <a:r>
              <a:rPr lang="en-IN" sz="2400" dirty="0" smtClean="0"/>
              <a:t>), and then </a:t>
            </a:r>
            <a:r>
              <a:rPr lang="en-IN" sz="2400" dirty="0" err="1" smtClean="0"/>
              <a:t>y</a:t>
            </a:r>
            <a:r>
              <a:rPr lang="en-IN" sz="2400" baseline="-25000" dirty="0" err="1" smtClean="0"/>
              <a:t>if</a:t>
            </a:r>
            <a:r>
              <a:rPr lang="en-IN" sz="2400" dirty="0" smtClean="0"/>
              <a:t> values can be treated as interval-valued. For some ratio-scaled variables, log-log or other transformation may be applied, depending on the definition and application. </a:t>
            </a:r>
          </a:p>
          <a:p>
            <a:pPr>
              <a:buNone/>
            </a:pPr>
            <a:r>
              <a:rPr lang="en-IN" sz="2400" dirty="0" smtClean="0"/>
              <a:t>3. Treat </a:t>
            </a:r>
            <a:r>
              <a:rPr lang="en-IN" sz="2400" dirty="0" err="1" smtClean="0"/>
              <a:t>xif</a:t>
            </a:r>
            <a:r>
              <a:rPr lang="en-IN" sz="2400" dirty="0" smtClean="0"/>
              <a:t> as continuous ordinal data and treat their ranks as interval-valued. </a:t>
            </a:r>
          </a:p>
          <a:p>
            <a:pPr>
              <a:buNone/>
            </a:pPr>
            <a:endParaRPr lang="en-IN" sz="2400" dirty="0" smtClean="0"/>
          </a:p>
          <a:p>
            <a:r>
              <a:rPr lang="en-IN" sz="2400" dirty="0" smtClean="0"/>
              <a:t>The latter two methods are the most effective, although the choice of method used may be dependent on the given application.   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Slide Number Placeholder 7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532D0D1-1C9C-48E7-8773-CFDCB6F8C6A4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>
                <a:solidFill>
                  <a:srgbClr val="170981"/>
                </a:solidFill>
              </a:rPr>
              <a:t>Attributes of Mixed Type</a:t>
            </a: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928670"/>
            <a:ext cx="8534400" cy="554833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A database may contain all attribute types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Nominal, symmetric binary, asymmetric binary, numeric, ordinal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One may use a weighted formula to combine their effects</a:t>
            </a:r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lvl="1" eaLnBrk="1" hangingPunct="1">
              <a:lnSpc>
                <a:spcPct val="90000"/>
              </a:lnSpc>
              <a:buNone/>
            </a:pPr>
            <a:endParaRPr lang="en-US" i="1" dirty="0" smtClean="0"/>
          </a:p>
          <a:p>
            <a:pPr lvl="1" eaLnBrk="1" hangingPunct="1">
              <a:lnSpc>
                <a:spcPct val="90000"/>
              </a:lnSpc>
              <a:buNone/>
            </a:pPr>
            <a:endParaRPr lang="en-US" sz="2400" i="1" dirty="0" smtClean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sz="2400" i="1" dirty="0" smtClean="0"/>
              <a:t>Where the indicator </a:t>
            </a:r>
            <a:r>
              <a:rPr lang="el-GR" dirty="0" smtClean="0"/>
              <a:t>δ</a:t>
            </a:r>
            <a:r>
              <a:rPr lang="en-US" baseline="-25000" dirty="0" err="1" smtClean="0"/>
              <a:t>ij</a:t>
            </a:r>
            <a:r>
              <a:rPr lang="en-US" baseline="30000" dirty="0" smtClean="0"/>
              <a:t>(f)</a:t>
            </a:r>
            <a:r>
              <a:rPr lang="en-US" dirty="0" smtClean="0"/>
              <a:t> = 0  if </a:t>
            </a:r>
            <a:r>
              <a:rPr lang="en-US" dirty="0" err="1" smtClean="0"/>
              <a:t>if</a:t>
            </a:r>
            <a:r>
              <a:rPr lang="en-US" dirty="0" smtClean="0"/>
              <a:t> either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err="1" smtClean="0"/>
              <a:t>x</a:t>
            </a:r>
            <a:r>
              <a:rPr lang="en-US" baseline="-25000" dirty="0" err="1" smtClean="0"/>
              <a:t>if</a:t>
            </a:r>
            <a:r>
              <a:rPr lang="en-US" baseline="-25000" dirty="0" smtClean="0"/>
              <a:t> </a:t>
            </a:r>
            <a:r>
              <a:rPr lang="en-US" dirty="0" smtClean="0"/>
              <a:t> or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jf</a:t>
            </a:r>
            <a:r>
              <a:rPr lang="en-US" dirty="0" smtClean="0"/>
              <a:t> is missing     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err="1" smtClean="0"/>
              <a:t>x</a:t>
            </a:r>
            <a:r>
              <a:rPr lang="en-US" sz="2400" baseline="-25000" dirty="0" err="1" smtClean="0"/>
              <a:t>if</a:t>
            </a:r>
            <a:r>
              <a:rPr lang="en-US" sz="2400" baseline="-25000" dirty="0" smtClean="0"/>
              <a:t> </a:t>
            </a:r>
            <a:r>
              <a:rPr lang="en-US" sz="2400" dirty="0" smtClean="0"/>
              <a:t> = </a:t>
            </a:r>
            <a:r>
              <a:rPr lang="en-US" sz="2400" dirty="0" err="1" smtClean="0"/>
              <a:t>x</a:t>
            </a:r>
            <a:r>
              <a:rPr lang="en-US" sz="2400" baseline="-25000" dirty="0" err="1" smtClean="0"/>
              <a:t>jf</a:t>
            </a:r>
            <a:r>
              <a:rPr lang="en-US" sz="2400" dirty="0" smtClean="0"/>
              <a:t> =0 and variable f is asymmetric binary</a:t>
            </a:r>
          </a:p>
          <a:p>
            <a:pPr lvl="1" eaLnBrk="1" hangingPunct="1">
              <a:lnSpc>
                <a:spcPct val="90000"/>
              </a:lnSpc>
              <a:buNone/>
            </a:pPr>
            <a:endParaRPr lang="en-US" sz="2400" dirty="0" smtClean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sz="2400" dirty="0" smtClean="0"/>
              <a:t>Otherwise: </a:t>
            </a:r>
            <a:r>
              <a:rPr lang="el-GR" sz="2400" dirty="0" smtClean="0"/>
              <a:t>δ</a:t>
            </a:r>
            <a:r>
              <a:rPr lang="en-US" sz="2400" baseline="-25000" dirty="0" err="1" smtClean="0"/>
              <a:t>ij</a:t>
            </a:r>
            <a:r>
              <a:rPr lang="en-US" sz="2400" baseline="30000" dirty="0" smtClean="0"/>
              <a:t>(f)</a:t>
            </a:r>
            <a:r>
              <a:rPr lang="en-US" sz="2400" dirty="0" smtClean="0"/>
              <a:t> = 1</a:t>
            </a:r>
          </a:p>
          <a:p>
            <a:pPr lvl="2" eaLnBrk="1" hangingPunct="1">
              <a:lnSpc>
                <a:spcPct val="90000"/>
              </a:lnSpc>
            </a:pPr>
            <a:endParaRPr lang="en-US" sz="2000" dirty="0" smtClean="0"/>
          </a:p>
        </p:txBody>
      </p:sp>
      <p:graphicFrame>
        <p:nvGraphicFramePr>
          <p:cNvPr id="17410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2857488" y="2643183"/>
          <a:ext cx="2919410" cy="1021228"/>
        </p:xfrm>
        <a:graphic>
          <a:graphicData uri="http://schemas.openxmlformats.org/presentationml/2006/ole">
            <p:oleObj spid="_x0000_s10242" name="Equation" r:id="rId4" imgW="2108200" imgH="736600" progId="Equation.3">
              <p:embed/>
            </p:oleObj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Slide Number Placeholder 7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532D0D1-1C9C-48E7-8773-CFDCB6F8C6A4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>
                <a:solidFill>
                  <a:srgbClr val="170981"/>
                </a:solidFill>
              </a:rPr>
              <a:t>Attributes of Mixed Type</a:t>
            </a: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928670"/>
            <a:ext cx="8534400" cy="554833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The contribution of variable f to the dissimilarity between </a:t>
            </a:r>
            <a:r>
              <a:rPr lang="en-US" sz="2400" dirty="0" err="1" smtClean="0"/>
              <a:t>i</a:t>
            </a:r>
            <a:r>
              <a:rPr lang="en-US" sz="2400" dirty="0" smtClean="0"/>
              <a:t> and j, i.e., </a:t>
            </a:r>
            <a:r>
              <a:rPr lang="en-US" sz="2400" dirty="0" err="1" smtClean="0">
                <a:cs typeface="Tahoma" pitchFamily="34" charset="0"/>
              </a:rPr>
              <a:t>d</a:t>
            </a:r>
            <a:r>
              <a:rPr lang="en-US" sz="2400" baseline="-25000" dirty="0" err="1" smtClean="0"/>
              <a:t>ij</a:t>
            </a:r>
            <a:r>
              <a:rPr lang="en-US" sz="2400" baseline="30000" dirty="0" smtClean="0"/>
              <a:t>(f)</a:t>
            </a:r>
            <a:r>
              <a:rPr lang="en-US" sz="2400" dirty="0" smtClean="0"/>
              <a:t> , is computed depending on its type:</a:t>
            </a:r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lvl="1" eaLnBrk="1" hangingPunct="1">
              <a:lnSpc>
                <a:spcPct val="90000"/>
              </a:lnSpc>
              <a:buNone/>
            </a:pPr>
            <a:endParaRPr lang="en-US" i="1" dirty="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If </a:t>
            </a:r>
            <a:r>
              <a:rPr lang="en-US" sz="2400" i="1" dirty="0" smtClean="0"/>
              <a:t>f</a:t>
            </a:r>
            <a:r>
              <a:rPr lang="en-US" sz="2400" dirty="0" smtClean="0"/>
              <a:t>  is binary or nominal: 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sz="2400" dirty="0" smtClean="0">
                <a:cs typeface="Tahoma" pitchFamily="34" charset="0"/>
              </a:rPr>
              <a:t>    </a:t>
            </a:r>
            <a:r>
              <a:rPr lang="en-US" dirty="0" err="1" smtClean="0">
                <a:cs typeface="Tahoma" pitchFamily="34" charset="0"/>
              </a:rPr>
              <a:t>d</a:t>
            </a:r>
            <a:r>
              <a:rPr lang="en-US" baseline="-25000" dirty="0" err="1" smtClean="0"/>
              <a:t>ij</a:t>
            </a:r>
            <a:r>
              <a:rPr lang="en-US" baseline="30000" dirty="0" smtClean="0"/>
              <a:t>(f)</a:t>
            </a:r>
            <a:r>
              <a:rPr lang="en-US" dirty="0" smtClean="0"/>
              <a:t> = 0  if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if</a:t>
            </a:r>
            <a:r>
              <a:rPr lang="en-US" baseline="-25000" dirty="0" smtClean="0"/>
              <a:t> </a:t>
            </a:r>
            <a:r>
              <a:rPr lang="en-US" dirty="0" smtClean="0"/>
              <a:t>=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jf</a:t>
            </a:r>
            <a:r>
              <a:rPr lang="en-US" dirty="0" smtClean="0"/>
              <a:t> , otherwise </a:t>
            </a:r>
            <a:r>
              <a:rPr lang="en-US" dirty="0" err="1" smtClean="0"/>
              <a:t>d</a:t>
            </a:r>
            <a:r>
              <a:rPr lang="en-US" baseline="-25000" dirty="0" err="1" smtClean="0"/>
              <a:t>ij</a:t>
            </a:r>
            <a:r>
              <a:rPr lang="en-US" baseline="30000" dirty="0" smtClean="0"/>
              <a:t>(f)</a:t>
            </a:r>
            <a:r>
              <a:rPr lang="en-US" dirty="0" smtClean="0"/>
              <a:t> = 1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If</a:t>
            </a:r>
            <a:r>
              <a:rPr lang="en-US" sz="2400" i="1" dirty="0" smtClean="0"/>
              <a:t> f</a:t>
            </a:r>
            <a:r>
              <a:rPr lang="en-US" sz="2400" dirty="0" smtClean="0"/>
              <a:t>  is interval-scaled:                                           , where                               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sz="2400" dirty="0" smtClean="0"/>
              <a:t>	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sz="2400" dirty="0" smtClean="0"/>
              <a:t>   h runs over all </a:t>
            </a:r>
            <a:r>
              <a:rPr lang="en-US" sz="2400" dirty="0" err="1" smtClean="0"/>
              <a:t>nonmissing</a:t>
            </a:r>
            <a:r>
              <a:rPr lang="en-US" sz="2400" dirty="0" smtClean="0"/>
              <a:t> objects for variable f.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If </a:t>
            </a:r>
            <a:r>
              <a:rPr lang="en-US" sz="2400" i="1" dirty="0" smtClean="0"/>
              <a:t>f</a:t>
            </a:r>
            <a:r>
              <a:rPr lang="en-US" sz="2400" dirty="0" smtClean="0"/>
              <a:t>  is ordinal or ratio-scaled: 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Compute ranks </a:t>
            </a:r>
            <a:r>
              <a:rPr lang="en-US" dirty="0" err="1" smtClean="0"/>
              <a:t>r</a:t>
            </a:r>
            <a:r>
              <a:rPr lang="en-US" baseline="-25000" dirty="0" err="1" smtClean="0"/>
              <a:t>if</a:t>
            </a:r>
            <a:r>
              <a:rPr lang="en-US" dirty="0" smtClean="0"/>
              <a:t> and  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Treat </a:t>
            </a:r>
            <a:r>
              <a:rPr lang="en-US" dirty="0" err="1" smtClean="0"/>
              <a:t>z</a:t>
            </a:r>
            <a:r>
              <a:rPr lang="en-US" baseline="-25000" dirty="0" err="1" smtClean="0"/>
              <a:t>if</a:t>
            </a:r>
            <a:r>
              <a:rPr lang="en-US" dirty="0" smtClean="0"/>
              <a:t> as interval-scaled</a:t>
            </a:r>
          </a:p>
          <a:p>
            <a:pPr lvl="2" eaLnBrk="1" hangingPunct="1">
              <a:lnSpc>
                <a:spcPct val="90000"/>
              </a:lnSpc>
            </a:pPr>
            <a:endParaRPr lang="en-US" sz="2000" dirty="0" smtClean="0"/>
          </a:p>
        </p:txBody>
      </p:sp>
      <p:graphicFrame>
        <p:nvGraphicFramePr>
          <p:cNvPr id="17410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5786446" y="1785926"/>
          <a:ext cx="2500330" cy="874631"/>
        </p:xfrm>
        <a:graphic>
          <a:graphicData uri="http://schemas.openxmlformats.org/presentationml/2006/ole">
            <p:oleObj spid="_x0000_s84994" name="Equation" r:id="rId4" imgW="2108200" imgH="736600" progId="Equation.3">
              <p:embed/>
            </p:oleObj>
          </a:graphicData>
        </a:graphic>
      </p:graphicFrame>
      <p:graphicFrame>
        <p:nvGraphicFramePr>
          <p:cNvPr id="17411" name="Object 5"/>
          <p:cNvGraphicFramePr>
            <a:graphicFrameLocks noChangeAspect="1"/>
          </p:cNvGraphicFramePr>
          <p:nvPr>
            <p:ph sz="quarter" idx="3"/>
          </p:nvPr>
        </p:nvGraphicFramePr>
        <p:xfrm>
          <a:off x="4429124" y="4857760"/>
          <a:ext cx="1371600" cy="728662"/>
        </p:xfrm>
        <a:graphic>
          <a:graphicData uri="http://schemas.openxmlformats.org/presentationml/2006/ole">
            <p:oleObj spid="_x0000_s84995" name="Equation" r:id="rId5" imgW="1002865" imgH="533169" progId="Equation.3">
              <p:embed/>
            </p:oleObj>
          </a:graphicData>
        </a:graphic>
      </p:graphicFrame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4996" name="Picture 4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857620" y="3429000"/>
            <a:ext cx="3095647" cy="714380"/>
          </a:xfrm>
          <a:prstGeom prst="rect">
            <a:avLst/>
          </a:prstGeom>
          <a:noFill/>
        </p:spPr>
      </p:pic>
      <p:sp>
        <p:nvSpPr>
          <p:cNvPr id="84998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00800"/>
            <a:ext cx="1905000" cy="457200"/>
          </a:xfrm>
          <a:noFill/>
        </p:spPr>
        <p:txBody>
          <a:bodyPr/>
          <a:lstStyle/>
          <a:p>
            <a:pPr algn="l"/>
            <a:fld id="{0DA14002-E821-4A35-9E83-4F0C4ECAADBD}" type="slidenum">
              <a:rPr lang="en-US" sz="1200" smtClean="0"/>
              <a:pPr algn="l"/>
              <a:t>20</a:t>
            </a:fld>
            <a:endParaRPr lang="en-US" sz="1200" smtClean="0"/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>
          <a:xfrm>
            <a:off x="752475" y="304800"/>
            <a:ext cx="762635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mtClean="0">
                <a:solidFill>
                  <a:srgbClr val="170981"/>
                </a:solidFill>
              </a:rPr>
              <a:t> Cosine Similarity</a:t>
            </a:r>
          </a:p>
        </p:txBody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7630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A </a:t>
            </a:r>
            <a:r>
              <a:rPr lang="en-US" sz="2000" b="1" dirty="0" smtClean="0"/>
              <a:t>document</a:t>
            </a:r>
            <a:r>
              <a:rPr lang="en-US" sz="2000" dirty="0" smtClean="0"/>
              <a:t> can be represented by thousands of attributes, each recording the </a:t>
            </a:r>
            <a:r>
              <a:rPr lang="en-US" sz="2000" i="1" dirty="0" smtClean="0"/>
              <a:t>frequency</a:t>
            </a:r>
            <a:r>
              <a:rPr lang="en-US" sz="2000" dirty="0" smtClean="0"/>
              <a:t> of a particular word (such as keywords) or phrase in the document.</a:t>
            </a:r>
          </a:p>
          <a:p>
            <a:pPr eaLnBrk="1" hangingPunct="1">
              <a:lnSpc>
                <a:spcPct val="90000"/>
              </a:lnSpc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Other vector objects: gene features in micro-arrays, …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Applications: information retrieval, biologic taxonomy, gene feature mapping, ...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Cosine measure: </a:t>
            </a:r>
            <a:r>
              <a:rPr lang="en-US" sz="2000" dirty="0" smtClean="0">
                <a:cs typeface="Times New Roman" pitchFamily="18" charset="0"/>
              </a:rPr>
              <a:t>If 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1</a:t>
            </a:r>
            <a:r>
              <a:rPr lang="en-US" sz="2000" dirty="0" smtClean="0">
                <a:cs typeface="Times New Roman" pitchFamily="18" charset="0"/>
              </a:rPr>
              <a:t> and 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2</a:t>
            </a:r>
            <a:r>
              <a:rPr lang="en-US" sz="2000" dirty="0" smtClean="0">
                <a:cs typeface="Times New Roman" pitchFamily="18" charset="0"/>
              </a:rPr>
              <a:t> are two vectors (e.g., term-frequency vectors), then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cs typeface="Times New Roman" pitchFamily="18" charset="0"/>
              </a:rPr>
              <a:t>             </a:t>
            </a:r>
            <a:r>
              <a:rPr lang="en-US" sz="2000" dirty="0" err="1" smtClean="0">
                <a:cs typeface="Times New Roman" pitchFamily="18" charset="0"/>
              </a:rPr>
              <a:t>cos</a:t>
            </a:r>
            <a:r>
              <a:rPr lang="en-US" sz="2000" dirty="0" smtClean="0">
                <a:cs typeface="Times New Roman" pitchFamily="18" charset="0"/>
              </a:rPr>
              <a:t>(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1</a:t>
            </a:r>
            <a:r>
              <a:rPr lang="en-US" sz="2000" i="1" dirty="0" smtClean="0">
                <a:cs typeface="Times New Roman" pitchFamily="18" charset="0"/>
              </a:rPr>
              <a:t>, d</a:t>
            </a:r>
            <a:r>
              <a:rPr lang="en-US" sz="2000" i="1" baseline="-30000" dirty="0" smtClean="0">
                <a:cs typeface="Times New Roman" pitchFamily="18" charset="0"/>
              </a:rPr>
              <a:t>2</a:t>
            </a:r>
            <a:r>
              <a:rPr lang="en-US" sz="2000" dirty="0" smtClean="0">
                <a:cs typeface="Times New Roman" pitchFamily="18" charset="0"/>
              </a:rPr>
              <a:t>) =  (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1</a:t>
            </a:r>
            <a:r>
              <a:rPr lang="en-US" sz="2000" dirty="0" smtClean="0">
                <a:cs typeface="Times New Roman" pitchFamily="18" charset="0"/>
              </a:rPr>
              <a:t> </a:t>
            </a:r>
            <a:r>
              <a:rPr lang="en-US" sz="2000" dirty="0" smtClean="0"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000" dirty="0" smtClean="0">
                <a:cs typeface="Times New Roman" pitchFamily="18" charset="0"/>
              </a:rPr>
              <a:t> 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2</a:t>
            </a:r>
            <a:r>
              <a:rPr lang="en-US" sz="2000" dirty="0" smtClean="0">
                <a:cs typeface="Times New Roman" pitchFamily="18" charset="0"/>
              </a:rPr>
              <a:t>) /||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1</a:t>
            </a:r>
            <a:r>
              <a:rPr lang="en-US" sz="2000" dirty="0" smtClean="0">
                <a:cs typeface="Times New Roman" pitchFamily="18" charset="0"/>
              </a:rPr>
              <a:t>|| ||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2</a:t>
            </a:r>
            <a:r>
              <a:rPr lang="en-US" sz="2000" dirty="0" smtClean="0">
                <a:cs typeface="Times New Roman" pitchFamily="18" charset="0"/>
              </a:rPr>
              <a:t>|| , 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cs typeface="Times New Roman" pitchFamily="18" charset="0"/>
              </a:rPr>
              <a:t>   where </a:t>
            </a:r>
            <a:r>
              <a:rPr lang="en-US" sz="2000" dirty="0" smtClean="0"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000" dirty="0" smtClean="0">
                <a:cs typeface="Times New Roman" pitchFamily="18" charset="0"/>
              </a:rPr>
              <a:t> indicates vector dot product, ||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dirty="0" smtClean="0">
                <a:cs typeface="Times New Roman" pitchFamily="18" charset="0"/>
              </a:rPr>
              <a:t>||: the length of vector </a:t>
            </a:r>
            <a:r>
              <a:rPr lang="en-US" sz="2000" i="1" dirty="0" smtClean="0">
                <a:cs typeface="Times New Roman" pitchFamily="18" charset="0"/>
              </a:rPr>
              <a:t>d</a:t>
            </a:r>
          </a:p>
        </p:txBody>
      </p:sp>
      <p:pic>
        <p:nvPicPr>
          <p:cNvPr id="104453" name="Picture 4" descr="eqtabl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2214554"/>
            <a:ext cx="82296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00800"/>
            <a:ext cx="1905000" cy="457200"/>
          </a:xfrm>
          <a:noFill/>
        </p:spPr>
        <p:txBody>
          <a:bodyPr/>
          <a:lstStyle/>
          <a:p>
            <a:pPr algn="l"/>
            <a:fld id="{73C2D1FA-F534-45B0-A00F-A52795BC2F8A}" type="slidenum">
              <a:rPr lang="en-US" sz="1200" smtClean="0"/>
              <a:pPr algn="l"/>
              <a:t>21</a:t>
            </a:fld>
            <a:endParaRPr lang="en-US" sz="1200" smtClean="0"/>
          </a:p>
        </p:txBody>
      </p:sp>
      <p:sp>
        <p:nvSpPr>
          <p:cNvPr id="105475" name="Rectangle 2"/>
          <p:cNvSpPr>
            <a:spLocks noGrp="1" noChangeArrowheads="1"/>
          </p:cNvSpPr>
          <p:nvPr>
            <p:ph type="title"/>
          </p:nvPr>
        </p:nvSpPr>
        <p:spPr>
          <a:xfrm>
            <a:off x="752475" y="304800"/>
            <a:ext cx="762635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mtClean="0">
                <a:solidFill>
                  <a:srgbClr val="170981"/>
                </a:solidFill>
              </a:rPr>
              <a:t> Example: Cosine Similarity</a:t>
            </a:r>
          </a:p>
        </p:txBody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7630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endParaRPr lang="en-US" sz="2000" dirty="0" smtClean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 err="1" smtClean="0">
                <a:cs typeface="Times New Roman" pitchFamily="18" charset="0"/>
              </a:rPr>
              <a:t>cos</a:t>
            </a:r>
            <a:r>
              <a:rPr lang="en-US" sz="2000" dirty="0" smtClean="0">
                <a:cs typeface="Times New Roman" pitchFamily="18" charset="0"/>
              </a:rPr>
              <a:t>(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1</a:t>
            </a:r>
            <a:r>
              <a:rPr lang="en-US" sz="2000" i="1" dirty="0" smtClean="0">
                <a:cs typeface="Times New Roman" pitchFamily="18" charset="0"/>
              </a:rPr>
              <a:t>, d</a:t>
            </a:r>
            <a:r>
              <a:rPr lang="en-US" sz="2000" i="1" baseline="-30000" dirty="0" smtClean="0">
                <a:cs typeface="Times New Roman" pitchFamily="18" charset="0"/>
              </a:rPr>
              <a:t>2</a:t>
            </a:r>
            <a:r>
              <a:rPr lang="en-US" sz="2000" dirty="0" smtClean="0">
                <a:cs typeface="Times New Roman" pitchFamily="18" charset="0"/>
              </a:rPr>
              <a:t>) =  (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1</a:t>
            </a:r>
            <a:r>
              <a:rPr lang="en-US" sz="2000" dirty="0" smtClean="0">
                <a:cs typeface="Times New Roman" pitchFamily="18" charset="0"/>
              </a:rPr>
              <a:t> </a:t>
            </a:r>
            <a:r>
              <a:rPr lang="en-US" sz="2000" dirty="0" smtClean="0"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000" dirty="0" smtClean="0">
                <a:cs typeface="Times New Roman" pitchFamily="18" charset="0"/>
              </a:rPr>
              <a:t> 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2</a:t>
            </a:r>
            <a:r>
              <a:rPr lang="en-US" sz="2000" dirty="0" smtClean="0">
                <a:cs typeface="Times New Roman" pitchFamily="18" charset="0"/>
              </a:rPr>
              <a:t>) /||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1</a:t>
            </a:r>
            <a:r>
              <a:rPr lang="en-US" sz="2000" dirty="0" smtClean="0">
                <a:cs typeface="Times New Roman" pitchFamily="18" charset="0"/>
              </a:rPr>
              <a:t>|| ||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2</a:t>
            </a:r>
            <a:r>
              <a:rPr lang="en-US" sz="2000" dirty="0" smtClean="0">
                <a:cs typeface="Times New Roman" pitchFamily="18" charset="0"/>
              </a:rPr>
              <a:t>|| , 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cs typeface="Times New Roman" pitchFamily="18" charset="0"/>
              </a:rPr>
              <a:t>   where </a:t>
            </a:r>
            <a:r>
              <a:rPr lang="en-US" sz="2000" dirty="0" smtClean="0"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000" dirty="0" smtClean="0">
                <a:cs typeface="Times New Roman" pitchFamily="18" charset="0"/>
              </a:rPr>
              <a:t> indicates vector dot product, ||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dirty="0" smtClean="0">
                <a:cs typeface="Times New Roman" pitchFamily="18" charset="0"/>
              </a:rPr>
              <a:t>|: the length of vector </a:t>
            </a:r>
            <a:r>
              <a:rPr lang="en-US" sz="2000" i="1" dirty="0" smtClean="0">
                <a:cs typeface="Times New Roman" pitchFamily="18" charset="0"/>
              </a:rPr>
              <a:t>d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i="1" dirty="0" smtClean="0"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sz="2000" dirty="0" smtClean="0">
                <a:cs typeface="Times New Roman" pitchFamily="18" charset="0"/>
              </a:rPr>
              <a:t>Ex: Find the </a:t>
            </a:r>
            <a:r>
              <a:rPr lang="en-US" sz="2000" b="1" dirty="0" smtClean="0">
                <a:cs typeface="Times New Roman" pitchFamily="18" charset="0"/>
              </a:rPr>
              <a:t>similarity</a:t>
            </a:r>
            <a:r>
              <a:rPr lang="en-US" sz="2000" dirty="0" smtClean="0">
                <a:cs typeface="Times New Roman" pitchFamily="18" charset="0"/>
              </a:rPr>
              <a:t> between documents 1 and 2.</a:t>
            </a:r>
          </a:p>
          <a:p>
            <a:pPr algn="just" eaLnBrk="1" hangingPunct="1">
              <a:lnSpc>
                <a:spcPct val="90000"/>
              </a:lnSpc>
            </a:pPr>
            <a:endParaRPr lang="en-US" sz="2000" dirty="0" smtClean="0">
              <a:cs typeface="Times New Roman" pitchFamily="18" charset="0"/>
            </a:endParaRP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1</a:t>
            </a:r>
            <a:r>
              <a:rPr lang="en-US" sz="2000" i="1" dirty="0" smtClean="0">
                <a:cs typeface="Times New Roman" pitchFamily="18" charset="0"/>
              </a:rPr>
              <a:t> </a:t>
            </a:r>
            <a:r>
              <a:rPr lang="en-US" sz="2000" b="1" dirty="0" smtClean="0">
                <a:cs typeface="Times New Roman" pitchFamily="18" charset="0"/>
              </a:rPr>
              <a:t>=  </a:t>
            </a:r>
            <a:r>
              <a:rPr lang="en-US" sz="2000" dirty="0" smtClean="0">
                <a:cs typeface="Times New Roman" pitchFamily="18" charset="0"/>
              </a:rPr>
              <a:t>(5, 0, 3, 0, 2, 0, 0, 2, 0, 0)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2</a:t>
            </a:r>
            <a:r>
              <a:rPr lang="en-US" sz="2000" b="1" dirty="0" smtClean="0">
                <a:cs typeface="Times New Roman" pitchFamily="18" charset="0"/>
              </a:rPr>
              <a:t> =  </a:t>
            </a:r>
            <a:r>
              <a:rPr lang="en-US" sz="2000" dirty="0" smtClean="0">
                <a:cs typeface="Times New Roman" pitchFamily="18" charset="0"/>
              </a:rPr>
              <a:t>(3, 0, 2, 0, 1, 1, 0, 1, 0, 1)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dirty="0" smtClean="0">
              <a:cs typeface="Times New Roman" pitchFamily="18" charset="0"/>
            </a:endParaRP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1</a:t>
            </a:r>
            <a:r>
              <a:rPr lang="en-US" sz="2000" dirty="0" smtClean="0"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2 </a:t>
            </a:r>
            <a:r>
              <a:rPr lang="en-US" sz="2000" dirty="0" smtClean="0">
                <a:cs typeface="Times New Roman" pitchFamily="18" charset="0"/>
              </a:rPr>
              <a:t>= 5*3+0*0+3*2+0*0+2*1+0*1+0*0+2*1+0*0+0*1 = 25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cs typeface="Times New Roman" pitchFamily="18" charset="0"/>
              </a:rPr>
              <a:t>||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1</a:t>
            </a:r>
            <a:r>
              <a:rPr lang="en-US" sz="2000" dirty="0" smtClean="0">
                <a:cs typeface="Times New Roman" pitchFamily="18" charset="0"/>
              </a:rPr>
              <a:t>||= (5*5+0*0+3*3+0*0+2*2+0*0+0*0+2*2+0*0+0*0)</a:t>
            </a:r>
            <a:r>
              <a:rPr lang="en-US" sz="2000" b="1" baseline="30000" dirty="0" smtClean="0">
                <a:cs typeface="Times New Roman" pitchFamily="18" charset="0"/>
              </a:rPr>
              <a:t>0.5</a:t>
            </a:r>
            <a:r>
              <a:rPr lang="en-US" sz="2000" dirty="0" smtClean="0">
                <a:cs typeface="Times New Roman" pitchFamily="18" charset="0"/>
              </a:rPr>
              <a:t>=(42)</a:t>
            </a:r>
            <a:r>
              <a:rPr lang="en-US" sz="2000" b="1" baseline="30000" dirty="0" smtClean="0">
                <a:cs typeface="Times New Roman" pitchFamily="18" charset="0"/>
              </a:rPr>
              <a:t>0.5</a:t>
            </a:r>
            <a:r>
              <a:rPr lang="en-US" sz="2000" dirty="0" smtClean="0">
                <a:cs typeface="Times New Roman" pitchFamily="18" charset="0"/>
              </a:rPr>
              <a:t>  = 6.481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cs typeface="Times New Roman" pitchFamily="18" charset="0"/>
              </a:rPr>
              <a:t>||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2</a:t>
            </a:r>
            <a:r>
              <a:rPr lang="en-US" sz="2000" dirty="0" smtClean="0">
                <a:cs typeface="Times New Roman" pitchFamily="18" charset="0"/>
              </a:rPr>
              <a:t>||= (3*3+0*0+2*2+0*0+1*1+1*1+0*0+1*1+0*0+1*1)</a:t>
            </a:r>
            <a:r>
              <a:rPr lang="en-US" sz="2000" b="1" baseline="30000" dirty="0" smtClean="0">
                <a:cs typeface="Times New Roman" pitchFamily="18" charset="0"/>
              </a:rPr>
              <a:t>0.5</a:t>
            </a:r>
            <a:r>
              <a:rPr lang="en-US" sz="2000" dirty="0" smtClean="0">
                <a:cs typeface="Times New Roman" pitchFamily="18" charset="0"/>
              </a:rPr>
              <a:t>=(17)</a:t>
            </a:r>
            <a:r>
              <a:rPr lang="en-US" sz="2000" b="1" baseline="30000" dirty="0" smtClean="0">
                <a:cs typeface="Times New Roman" pitchFamily="18" charset="0"/>
              </a:rPr>
              <a:t>0.5</a:t>
            </a:r>
            <a:r>
              <a:rPr lang="en-US" sz="2000" dirty="0" smtClean="0">
                <a:cs typeface="Times New Roman" pitchFamily="18" charset="0"/>
              </a:rPr>
              <a:t>  = 4.12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err="1" smtClean="0">
                <a:cs typeface="Times New Roman" pitchFamily="18" charset="0"/>
              </a:rPr>
              <a:t>cos</a:t>
            </a:r>
            <a:r>
              <a:rPr lang="en-US" sz="2000" dirty="0" smtClean="0">
                <a:cs typeface="Times New Roman" pitchFamily="18" charset="0"/>
              </a:rPr>
              <a:t>(</a:t>
            </a:r>
            <a:r>
              <a:rPr lang="en-US" sz="2000" i="1" dirty="0" smtClean="0">
                <a:cs typeface="Times New Roman" pitchFamily="18" charset="0"/>
              </a:rPr>
              <a:t>d</a:t>
            </a:r>
            <a:r>
              <a:rPr lang="en-US" sz="2000" i="1" baseline="-30000" dirty="0" smtClean="0">
                <a:cs typeface="Times New Roman" pitchFamily="18" charset="0"/>
              </a:rPr>
              <a:t>1</a:t>
            </a:r>
            <a:r>
              <a:rPr lang="en-US" sz="2000" i="1" dirty="0" smtClean="0">
                <a:cs typeface="Times New Roman" pitchFamily="18" charset="0"/>
              </a:rPr>
              <a:t>, d</a:t>
            </a:r>
            <a:r>
              <a:rPr lang="en-US" sz="2000" i="1" baseline="-30000" dirty="0" smtClean="0">
                <a:cs typeface="Times New Roman" pitchFamily="18" charset="0"/>
              </a:rPr>
              <a:t>2</a:t>
            </a:r>
            <a:r>
              <a:rPr lang="en-US" sz="2000" dirty="0" smtClean="0">
                <a:cs typeface="Times New Roman" pitchFamily="18" charset="0"/>
              </a:rPr>
              <a:t> ) = 0.94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57224" y="642915"/>
          <a:ext cx="7643865" cy="5854563"/>
        </p:xfrm>
        <a:graphic>
          <a:graphicData uri="http://schemas.openxmlformats.org/drawingml/2006/table">
            <a:tbl>
              <a:tblPr/>
              <a:tblGrid>
                <a:gridCol w="1785950"/>
                <a:gridCol w="2928958"/>
                <a:gridCol w="2928957"/>
              </a:tblGrid>
              <a:tr h="32613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 dirty="0"/>
                        <a:t>Criteria</a:t>
                      </a:r>
                    </a:p>
                  </a:txBody>
                  <a:tcPr marL="26007" marR="26007" marT="43345" marB="43345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 dirty="0"/>
                        <a:t>Cosine Similarity</a:t>
                      </a:r>
                    </a:p>
                  </a:txBody>
                  <a:tcPr marL="43345" marR="43345" marT="43345" marB="43345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/>
                        <a:t>Euclidean Similarity</a:t>
                      </a:r>
                    </a:p>
                  </a:txBody>
                  <a:tcPr marL="43345" marR="43345" marT="43345" marB="43345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7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/>
                        <a:t>Definition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dirty="0"/>
                        <a:t>Measures the cosine of the angle between two vectors.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dirty="0"/>
                        <a:t>Measures the distance between two vectors.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6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/>
                        <a:t>Magnitude Sensitivity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dirty="0"/>
                        <a:t>Insensitive to the magnitude of vectors.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dirty="0"/>
                        <a:t>Sensitive to the magnitude of vectors.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2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/>
                        <a:t>Dimensionality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/>
                        <a:t>Well-suited for high-dimensional spaces.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dirty="0"/>
                        <a:t>Works better in lower-dimensional spaces.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2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/>
                        <a:t>Data Sparsity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/>
                        <a:t>Effective for sparse data, such as text data.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dirty="0"/>
                        <a:t>May not perform well with sparse data.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50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/>
                        <a:t>Orthogonality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/>
                        <a:t>Handles orthogonality well, distinguishing</a:t>
                      </a:r>
                      <a:br>
                        <a:rPr lang="en-US" sz="1400" b="0"/>
                      </a:br>
                      <a:r>
                        <a:rPr lang="en-US" sz="1400" b="0"/>
                        <a:t>between similar vectors even if their magnitudes vary.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dirty="0"/>
                        <a:t>Tends to struggle with </a:t>
                      </a:r>
                      <a:r>
                        <a:rPr lang="en-US" sz="1400" b="0" dirty="0" err="1"/>
                        <a:t>orthogonality</a:t>
                      </a:r>
                      <a:r>
                        <a:rPr lang="en-US" sz="1400" b="0" dirty="0"/>
                        <a:t>,</a:t>
                      </a:r>
                      <a:br>
                        <a:rPr lang="en-US" sz="1400" b="0" dirty="0"/>
                      </a:br>
                      <a:r>
                        <a:rPr lang="en-US" sz="1400" b="0" dirty="0"/>
                        <a:t>as it considers the direct distance.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2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/>
                        <a:t>Normalization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/>
                        <a:t>Requires normalized vectors for accurate results.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dirty="0"/>
                        <a:t>Normalization is not required.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50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dirty="0"/>
                        <a:t>Application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/>
                        <a:t>Commonly used in natural language processing,</a:t>
                      </a:r>
                      <a:br>
                        <a:rPr lang="en-US" sz="1400" b="0"/>
                      </a:br>
                      <a:r>
                        <a:rPr lang="en-US" sz="1400" b="0"/>
                        <a:t>document similarity, and recommendation systems.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dirty="0"/>
                        <a:t>Commonly used in clustering, classification,</a:t>
                      </a:r>
                      <a:br>
                        <a:rPr lang="en-US" sz="1400" b="0" dirty="0"/>
                      </a:br>
                      <a:r>
                        <a:rPr lang="en-US" sz="1400" b="0" dirty="0"/>
                        <a:t>and dimensionality reduction.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50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/>
                        <a:t>Computation Complexity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/>
                        <a:t>Generally less computationally intensive.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dirty="0"/>
                        <a:t>Can be computationally intensive in high</a:t>
                      </a:r>
                      <a:br>
                        <a:rPr lang="en-US" sz="1400" b="0" dirty="0"/>
                      </a:br>
                      <a:r>
                        <a:rPr lang="en-US" sz="1400" b="0" dirty="0"/>
                        <a:t>dimensions due to the square root operation.</a:t>
                      </a:r>
                    </a:p>
                  </a:txBody>
                  <a:tcPr marL="43345" marR="43345" marT="60683" marB="60683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5720" y="2857496"/>
            <a:ext cx="8496944" cy="1008112"/>
          </a:xfrm>
        </p:spPr>
        <p:txBody>
          <a:bodyPr/>
          <a:lstStyle/>
          <a:p>
            <a:r>
              <a:rPr lang="en-US" sz="3600" b="1" dirty="0" smtClean="0">
                <a:latin typeface="Times New Roman" charset="0"/>
                <a:ea typeface="MS PGothic" charset="0"/>
              </a:rPr>
              <a:t>Feature Selection</a:t>
            </a:r>
            <a:endParaRPr lang="en-US" sz="3600" b="1" dirty="0">
              <a:latin typeface="Times New Roman" charset="0"/>
              <a:ea typeface="MS PGothic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28604"/>
            <a:ext cx="7772400" cy="500066"/>
          </a:xfrm>
        </p:spPr>
        <p:txBody>
          <a:bodyPr/>
          <a:lstStyle/>
          <a:p>
            <a:r>
              <a:rPr lang="en-US" sz="3200" b="1" dirty="0" smtClean="0">
                <a:latin typeface="Times New Roman" charset="0"/>
                <a:ea typeface="MS PGothic" charset="0"/>
              </a:rPr>
              <a:t>Feature Selection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72" y="928670"/>
            <a:ext cx="8072494" cy="4929222"/>
          </a:xfrm>
        </p:spPr>
        <p:txBody>
          <a:bodyPr/>
          <a:lstStyle/>
          <a:p>
            <a:r>
              <a:rPr lang="en-US" sz="2800" dirty="0" smtClean="0"/>
              <a:t>Recent advancements in IT have produced the rapid production of big data, as enormous volumes of data with high dimensional features grow exponentially in different fields. </a:t>
            </a:r>
          </a:p>
          <a:p>
            <a:r>
              <a:rPr lang="en-US" sz="2800" dirty="0" smtClean="0"/>
              <a:t>Therefore, dealing with high-dimensional data creates new challenges in terms of data processing efficiency and effectiveness. </a:t>
            </a:r>
          </a:p>
          <a:p>
            <a:r>
              <a:rPr lang="en-US" sz="2800" dirty="0" smtClean="0"/>
              <a:t>To address such challenges, Feature Selection (FS) is among the most utilized dimensionality reduction methods.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  <a:sym typeface="Candara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Google Shape;68;p15"/>
          <p:cNvSpPr txBox="1">
            <a:spLocks noChangeArrowheads="1"/>
          </p:cNvSpPr>
          <p:nvPr/>
        </p:nvSpPr>
        <p:spPr bwMode="auto">
          <a:xfrm>
            <a:off x="500034" y="285728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algn="ctr">
              <a:buClr>
                <a:srgbClr val="000000"/>
              </a:buClr>
              <a:buFont typeface="Calibri" charset="0"/>
              <a:buNone/>
            </a:pPr>
            <a:r>
              <a:rPr lang="en-US" sz="4000" b="1" dirty="0" smtClean="0">
                <a:solidFill>
                  <a:srgbClr val="000000"/>
                </a:solidFill>
                <a:latin typeface="Calibri" charset="0"/>
                <a:sym typeface="Calibri" charset="0"/>
              </a:rPr>
              <a:t>	Feature Selection</a:t>
            </a:r>
            <a:endParaRPr lang="en-US" sz="1400" dirty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60418" name="Google Shape;69;p15"/>
          <p:cNvSpPr txBox="1">
            <a:spLocks noChangeArrowheads="1"/>
          </p:cNvSpPr>
          <p:nvPr/>
        </p:nvSpPr>
        <p:spPr bwMode="auto">
          <a:xfrm>
            <a:off x="500034" y="1071546"/>
            <a:ext cx="8229600" cy="5072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 indent="-101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Candara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+mn-lt"/>
                <a:cs typeface="Arial" pitchFamily="34" charset="0"/>
                <a:sym typeface="Candara" charset="0"/>
              </a:rPr>
              <a:t>It is a p</a:t>
            </a:r>
            <a:r>
              <a:rPr lang="en-US" altLang="en-US" sz="2800" dirty="0" smtClean="0">
                <a:latin typeface="+mn-lt"/>
                <a:cs typeface="Arial" pitchFamily="34" charset="0"/>
              </a:rPr>
              <a:t>rocess that </a:t>
            </a:r>
            <a:r>
              <a:rPr lang="en-US" sz="2800" dirty="0" smtClean="0">
                <a:latin typeface="+mn-lt"/>
              </a:rPr>
              <a:t>reduces the high dimensionality of large-scale data by selecting a small subset of related and significant features and eliminating unrelated and redundant features in order to construct effective prediction models. 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en-IN" sz="2800" dirty="0" smtClean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 smtClean="0">
                <a:latin typeface="+mn-lt"/>
                <a:cs typeface="Arial" pitchFamily="34" charset="0"/>
                <a:sym typeface="Candara" charset="0"/>
              </a:rPr>
              <a:t>It is of two broad categories: Supervised feature selection and unsupervised feature selection</a:t>
            </a:r>
            <a:endParaRPr lang="en-US" sz="2800" dirty="0" smtClean="0">
              <a:latin typeface="+mn-lt"/>
            </a:endParaRPr>
          </a:p>
          <a:p>
            <a:pPr>
              <a:buNone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en-US" dirty="0" smtClean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  <a:buClr>
                <a:srgbClr val="000000"/>
              </a:buClr>
              <a:buFont typeface="Arial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  <a:sym typeface="Candara" charset="0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  <a:buClr>
                <a:srgbClr val="000000"/>
              </a:buClr>
            </a:pPr>
            <a:endParaRPr lang="en-US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Candara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823898"/>
          </a:xfrm>
        </p:spPr>
        <p:txBody>
          <a:bodyPr/>
          <a:lstStyle/>
          <a:p>
            <a:pPr eaLnBrk="1" hangingPunct="1"/>
            <a:r>
              <a:rPr lang="en-US" altLang="en-US" sz="4000" b="1" dirty="0" smtClean="0"/>
              <a:t>Feature Selection</a:t>
            </a:r>
          </a:p>
        </p:txBody>
      </p:sp>
      <p:sp>
        <p:nvSpPr>
          <p:cNvPr id="672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9138" y="1571612"/>
            <a:ext cx="4067176" cy="4071966"/>
          </a:xfrm>
        </p:spPr>
        <p:txBody>
          <a:bodyPr rtlCol="0">
            <a:normAutofit fontScale="47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5100" dirty="0" smtClean="0">
                <a:latin typeface="Arial" pitchFamily="34" charset="0"/>
                <a:cs typeface="Arial" pitchFamily="34" charset="0"/>
              </a:rPr>
              <a:t>Feature selection is an </a:t>
            </a:r>
            <a:r>
              <a:rPr lang="en-US" sz="5100" b="1" dirty="0" smtClean="0">
                <a:latin typeface="Arial" pitchFamily="34" charset="0"/>
                <a:cs typeface="Arial" pitchFamily="34" charset="0"/>
              </a:rPr>
              <a:t>optimization</a:t>
            </a:r>
            <a:r>
              <a:rPr lang="en-US" sz="5100" dirty="0" smtClean="0">
                <a:latin typeface="Arial" pitchFamily="34" charset="0"/>
                <a:cs typeface="Arial" pitchFamily="34" charset="0"/>
              </a:rPr>
              <a:t> problem.</a:t>
            </a:r>
          </a:p>
          <a:p>
            <a:pPr lvl="1" eaLnBrk="1" fontAlgn="auto" hangingPunct="1">
              <a:spcAft>
                <a:spcPts val="0"/>
              </a:spcAft>
              <a:buNone/>
              <a:defRPr/>
            </a:pPr>
            <a:endParaRPr lang="en-US" sz="5100" dirty="0" smtClean="0">
              <a:latin typeface="Arial" pitchFamily="34" charset="0"/>
              <a:cs typeface="Arial" pitchFamily="34" charset="0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5100" dirty="0" smtClean="0">
                <a:latin typeface="Arial" pitchFamily="34" charset="0"/>
                <a:cs typeface="Arial" pitchFamily="34" charset="0"/>
              </a:rPr>
              <a:t>Search the space of possible feature subsets.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endParaRPr lang="en-US" sz="5100" dirty="0" smtClean="0">
              <a:latin typeface="Arial" pitchFamily="34" charset="0"/>
              <a:cs typeface="Arial" pitchFamily="34" charset="0"/>
            </a:endParaRP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sz="5100" dirty="0" smtClean="0">
                <a:latin typeface="Arial" pitchFamily="34" charset="0"/>
                <a:cs typeface="Arial" pitchFamily="34" charset="0"/>
              </a:rPr>
              <a:t>Pick the subset that is optimal or near-optimal with respect to some objective function.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6" y="1524000"/>
            <a:ext cx="3429024" cy="41703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823898"/>
          </a:xfrm>
        </p:spPr>
        <p:txBody>
          <a:bodyPr/>
          <a:lstStyle/>
          <a:p>
            <a:pPr eaLnBrk="1" hangingPunct="1"/>
            <a:r>
              <a:rPr lang="en-US" altLang="en-US" sz="4000" b="1" dirty="0" smtClean="0"/>
              <a:t>Feature Selection</a:t>
            </a:r>
          </a:p>
        </p:txBody>
      </p:sp>
      <p:sp>
        <p:nvSpPr>
          <p:cNvPr id="672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7924800" cy="4724400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charset="0"/>
              <a:buNone/>
              <a:defRPr/>
            </a:pPr>
            <a:endParaRPr lang="en-US" sz="2400" dirty="0" smtClean="0">
              <a:latin typeface="Arial" charset="0"/>
            </a:endParaRPr>
          </a:p>
          <a:p>
            <a:pPr marL="0" indent="0" eaLnBrk="1" fontAlgn="auto" hangingPunct="1">
              <a:spcAft>
                <a:spcPts val="0"/>
              </a:spcAft>
              <a:defRPr/>
            </a:pPr>
            <a:r>
              <a:rPr lang="en-US" sz="2400" dirty="0">
                <a:latin typeface="Arial" charset="0"/>
              </a:rPr>
              <a:t> </a:t>
            </a:r>
            <a:r>
              <a:rPr lang="en-US" sz="2400" dirty="0" smtClean="0">
                <a:latin typeface="Arial" charset="0"/>
              </a:rPr>
              <a:t>   </a:t>
            </a:r>
            <a:r>
              <a:rPr lang="en-US" sz="2800" dirty="0" smtClean="0">
                <a:latin typeface="Arial" charset="0"/>
              </a:rPr>
              <a:t>Search methods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dirty="0" smtClean="0">
                <a:latin typeface="Arial" charset="0"/>
              </a:rPr>
              <a:t> Exhaustive	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dirty="0" smtClean="0">
                <a:latin typeface="Arial" charset="0"/>
              </a:rPr>
              <a:t>Heuristic</a:t>
            </a:r>
          </a:p>
          <a:p>
            <a:pPr lvl="1" eaLnBrk="1" fontAlgn="auto" hangingPunct="1">
              <a:spcAft>
                <a:spcPts val="0"/>
              </a:spcAft>
              <a:buNone/>
              <a:defRPr/>
            </a:pPr>
            <a:endParaRPr lang="en-US" dirty="0" smtClean="0">
              <a:latin typeface="Arial" charset="0"/>
            </a:endParaRPr>
          </a:p>
          <a:p>
            <a:pPr marL="0" indent="0"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latin typeface="Arial" charset="0"/>
              </a:rPr>
              <a:t>    Evaluation methods</a:t>
            </a:r>
          </a:p>
          <a:p>
            <a:pPr lvl="1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dirty="0" smtClean="0">
                <a:latin typeface="Arial" charset="0"/>
              </a:rPr>
              <a:t>Filter  </a:t>
            </a:r>
          </a:p>
          <a:p>
            <a:pPr lvl="1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dirty="0" smtClean="0">
                <a:latin typeface="Arial" charset="0"/>
              </a:rPr>
              <a:t>Wrapper </a:t>
            </a:r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1676400"/>
            <a:ext cx="2667000" cy="41703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b="1" smtClean="0"/>
              <a:t>Search Methods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sz="half" idx="1"/>
          </p:nvPr>
        </p:nvSpPr>
        <p:spPr>
          <a:xfrm>
            <a:off x="315913" y="1066800"/>
            <a:ext cx="8066087" cy="4076712"/>
          </a:xfrm>
        </p:spPr>
        <p:txBody>
          <a:bodyPr/>
          <a:lstStyle/>
          <a:p>
            <a:pPr algn="just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Assuming n features, an exhaustive search would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require examining        possible subsets of size d.</a:t>
            </a:r>
          </a:p>
          <a:p>
            <a:pPr marL="457200" lvl="1" indent="0" eaLnBrk="1" hangingPunct="1">
              <a:buFont typeface="Arial" panose="020B0604020202020204" pitchFamily="34" charset="0"/>
              <a:buNone/>
              <a:defRPr/>
            </a:pPr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number of subsets grows exponentially, and time required to find out the suitable subset of features is O(2</a:t>
            </a:r>
            <a:r>
              <a:rPr lang="en-US" altLang="en-US" sz="24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), which makes the exhaustive search impractical.</a:t>
            </a:r>
          </a:p>
          <a:p>
            <a:pPr eaLnBrk="1" hangingPunct="1">
              <a:buFont typeface="Arial" panose="020B0604020202020204" pitchFamily="34" charset="0"/>
              <a:buChar char="•"/>
              <a:defRPr/>
            </a:pPr>
            <a:endParaRPr lang="en-US" alt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 practice, heuristics are used to speed-up search but they </a:t>
            </a:r>
            <a:r>
              <a:rPr lang="en-US" alt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cannot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guarantee optimality.</a:t>
            </a:r>
          </a:p>
        </p:txBody>
      </p:sp>
      <p:sp>
        <p:nvSpPr>
          <p:cNvPr id="3072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1EB59C4-5E4D-421E-81BA-E610B7295344}" type="slidenum">
              <a:rPr lang="en-US" altLang="en-US"/>
              <a:pPr/>
              <a:t>28</a:t>
            </a:fld>
            <a:endParaRPr lang="en-US" altLang="en-US"/>
          </a:p>
        </p:txBody>
      </p:sp>
      <p:pic>
        <p:nvPicPr>
          <p:cNvPr id="30725" name="Picture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13100" y="1449388"/>
            <a:ext cx="635000" cy="76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752460"/>
          </a:xfrm>
        </p:spPr>
        <p:txBody>
          <a:bodyPr/>
          <a:lstStyle/>
          <a:p>
            <a:pPr eaLnBrk="1" hangingPunct="1"/>
            <a:r>
              <a:rPr lang="en-US" altLang="en-US" sz="4000" b="1" dirty="0" smtClean="0"/>
              <a:t>Evaluation Methods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835150"/>
            <a:ext cx="4267200" cy="4346575"/>
          </a:xfrm>
        </p:spPr>
        <p:txBody>
          <a:bodyPr/>
          <a:lstStyle/>
          <a:p>
            <a:pPr eaLnBrk="1" hangingPunct="1"/>
            <a:r>
              <a:rPr lang="en-US" altLang="en-US" sz="2000" dirty="0" smtClean="0">
                <a:latin typeface="Arial" charset="0"/>
              </a:rPr>
              <a:t>Filter </a:t>
            </a:r>
          </a:p>
          <a:p>
            <a:pPr lvl="1" eaLnBrk="1" hangingPunct="1"/>
            <a:r>
              <a:rPr lang="en-US" altLang="en-US" sz="2000" dirty="0" smtClean="0">
                <a:latin typeface="Arial" charset="0"/>
              </a:rPr>
              <a:t>Evaluation is </a:t>
            </a:r>
            <a:r>
              <a:rPr lang="en-US" altLang="en-US" sz="2000" b="1" dirty="0" smtClean="0">
                <a:latin typeface="Arial" charset="0"/>
              </a:rPr>
              <a:t>independent</a:t>
            </a:r>
            <a:r>
              <a:rPr lang="en-US" altLang="en-US" sz="2000" dirty="0" smtClean="0">
                <a:latin typeface="Arial" charset="0"/>
              </a:rPr>
              <a:t> of the classification Algorithm.</a:t>
            </a:r>
          </a:p>
          <a:p>
            <a:pPr lvl="1" eaLnBrk="1" hangingPunct="1"/>
            <a:r>
              <a:rPr lang="en-US" altLang="en-US" sz="2000" dirty="0" smtClean="0">
                <a:latin typeface="Arial" charset="0"/>
              </a:rPr>
              <a:t>The objective function is based on the information content of the feature subsets, e.g.: </a:t>
            </a:r>
          </a:p>
          <a:p>
            <a:pPr lvl="2" eaLnBrk="1" hangingPunct="1"/>
            <a:r>
              <a:rPr lang="en-US" altLang="en-US" sz="2000" dirty="0" smtClean="0">
                <a:latin typeface="Arial" charset="0"/>
              </a:rPr>
              <a:t>interclass distance</a:t>
            </a:r>
          </a:p>
          <a:p>
            <a:pPr lvl="2" eaLnBrk="1" hangingPunct="1"/>
            <a:r>
              <a:rPr lang="en-US" altLang="en-US" sz="2000" dirty="0" smtClean="0">
                <a:latin typeface="Arial" charset="0"/>
              </a:rPr>
              <a:t>statistical dependence </a:t>
            </a:r>
          </a:p>
          <a:p>
            <a:pPr lvl="2" eaLnBrk="1" hangingPunct="1"/>
            <a:r>
              <a:rPr lang="en-US" altLang="en-US" sz="2000" dirty="0" smtClean="0">
                <a:latin typeface="Arial" charset="0"/>
              </a:rPr>
              <a:t>information-theoretic measures (e.g., mutual information).</a:t>
            </a:r>
          </a:p>
          <a:p>
            <a:pPr lvl="1" eaLnBrk="1" hangingPunct="1">
              <a:buFontTx/>
              <a:buNone/>
            </a:pPr>
            <a:endParaRPr lang="en-US" altLang="en-US" dirty="0" smtClean="0">
              <a:latin typeface="Arial" charset="0"/>
            </a:endParaRPr>
          </a:p>
          <a:p>
            <a:pPr eaLnBrk="1" hangingPunct="1"/>
            <a:endParaRPr lang="en-US" altLang="en-US" sz="2400" dirty="0" smtClean="0">
              <a:solidFill>
                <a:srgbClr val="FF0000"/>
              </a:solidFill>
              <a:latin typeface="Arial" charset="0"/>
            </a:endParaRPr>
          </a:p>
          <a:p>
            <a:pPr eaLnBrk="1" hangingPunct="1"/>
            <a:endParaRPr lang="en-US" altLang="en-US" sz="2400" dirty="0" smtClean="0">
              <a:solidFill>
                <a:srgbClr val="FF0000"/>
              </a:solidFill>
              <a:latin typeface="Arial" charset="0"/>
            </a:endParaRPr>
          </a:p>
          <a:p>
            <a:pPr eaLnBrk="1" hangingPunct="1"/>
            <a:endParaRPr lang="en-US" altLang="en-US" sz="2000" dirty="0" smtClean="0">
              <a:latin typeface="Arial" charset="0"/>
            </a:endParaRPr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1828800"/>
            <a:ext cx="3228975" cy="4324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pic>
        <p:nvPicPr>
          <p:cNvPr id="31749" name="Picture 4"/>
          <p:cNvPicPr>
            <a:picLocks noChangeAspect="1"/>
          </p:cNvPicPr>
          <p:nvPr/>
        </p:nvPicPr>
        <p:blipFill>
          <a:blip r:embed="rId4"/>
          <a:srcRect l="27641" t="82576" r="25404"/>
          <a:stretch>
            <a:fillRect/>
          </a:stretch>
        </p:blipFill>
        <p:spPr bwMode="auto">
          <a:xfrm>
            <a:off x="5919788" y="5445125"/>
            <a:ext cx="1600200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0" name="TextBox 1"/>
          <p:cNvSpPr txBox="1">
            <a:spLocks noChangeArrowheads="1"/>
          </p:cNvSpPr>
          <p:nvPr/>
        </p:nvSpPr>
        <p:spPr bwMode="auto">
          <a:xfrm>
            <a:off x="7997825" y="3352800"/>
            <a:ext cx="12033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400" b="1"/>
              <a:t>“goodness”</a:t>
            </a:r>
          </a:p>
        </p:txBody>
      </p:sp>
      <p:cxnSp>
        <p:nvCxnSpPr>
          <p:cNvPr id="4" name="Straight Arrow Connector 3"/>
          <p:cNvCxnSpPr>
            <a:stCxn id="31750" idx="1"/>
          </p:cNvCxnSpPr>
          <p:nvPr/>
        </p:nvCxnSpPr>
        <p:spPr>
          <a:xfrm flipH="1">
            <a:off x="7391400" y="3506788"/>
            <a:ext cx="606425" cy="227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 b="1" dirty="0" smtClean="0"/>
              <a:t>Evaluation Methods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81200"/>
            <a:ext cx="4114800" cy="3810000"/>
          </a:xfrm>
        </p:spPr>
        <p:txBody>
          <a:bodyPr/>
          <a:lstStyle/>
          <a:p>
            <a:pPr eaLnBrk="1" hangingPunct="1"/>
            <a:r>
              <a:rPr lang="en-US" altLang="en-US" sz="2400" dirty="0" smtClean="0">
                <a:latin typeface="Arial" charset="0"/>
              </a:rPr>
              <a:t>Wrapper </a:t>
            </a:r>
          </a:p>
          <a:p>
            <a:pPr lvl="1" eaLnBrk="1" hangingPunct="1"/>
            <a:r>
              <a:rPr lang="en-US" altLang="en-US" sz="2400" dirty="0" smtClean="0">
                <a:latin typeface="Arial" charset="0"/>
              </a:rPr>
              <a:t>Evaluation uses criteria </a:t>
            </a:r>
            <a:r>
              <a:rPr lang="en-US" altLang="en-US" sz="2400" b="1" dirty="0" smtClean="0">
                <a:latin typeface="Arial" charset="0"/>
              </a:rPr>
              <a:t>related</a:t>
            </a:r>
            <a:r>
              <a:rPr lang="en-US" altLang="en-US" sz="2400" dirty="0" smtClean="0">
                <a:latin typeface="Arial" charset="0"/>
              </a:rPr>
              <a:t> to the classification algorithm.</a:t>
            </a:r>
          </a:p>
          <a:p>
            <a:pPr lvl="1"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The objective function is based on the predictive accuracy of the classifier</a:t>
            </a:r>
            <a:endParaRPr lang="en-US" altLang="en-US" sz="1600" dirty="0" smtClean="0">
              <a:latin typeface="Arial" charset="0"/>
            </a:endParaRPr>
          </a:p>
        </p:txBody>
      </p:sp>
      <p:pic>
        <p:nvPicPr>
          <p:cNvPr id="3379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1752600"/>
            <a:ext cx="3409950" cy="4448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cxnSp>
        <p:nvCxnSpPr>
          <p:cNvPr id="6" name="Straight Arrow Connector 5"/>
          <p:cNvCxnSpPr/>
          <p:nvPr/>
        </p:nvCxnSpPr>
        <p:spPr>
          <a:xfrm flipH="1">
            <a:off x="7391400" y="3522663"/>
            <a:ext cx="606425" cy="211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8" name="TextBox 6"/>
          <p:cNvSpPr txBox="1">
            <a:spLocks noChangeArrowheads="1"/>
          </p:cNvSpPr>
          <p:nvPr/>
        </p:nvSpPr>
        <p:spPr bwMode="auto">
          <a:xfrm>
            <a:off x="7940675" y="3330575"/>
            <a:ext cx="12033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400" b="1"/>
              <a:t>“goodness”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2"/>
          <p:cNvSpPr txBox="1">
            <a:spLocks noChangeArrowheads="1"/>
          </p:cNvSpPr>
          <p:nvPr/>
        </p:nvSpPr>
        <p:spPr bwMode="auto">
          <a:xfrm>
            <a:off x="7239000" y="65817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 eaLnBrk="1" hangingPunct="1">
              <a:lnSpc>
                <a:spcPct val="101000"/>
              </a:lnSpc>
              <a:buClr>
                <a:srgbClr val="000000"/>
              </a:buClr>
              <a:buSzPct val="100000"/>
              <a:buFont typeface="Tahoma" charset="0"/>
              <a:buNone/>
            </a:pPr>
            <a:fld id="{000D3A21-7F5B-034A-91CE-0C0C118D9EDC}" type="slidenum">
              <a:rPr lang="en-GB" sz="1200">
                <a:solidFill>
                  <a:schemeClr val="tx1"/>
                </a:solidFill>
                <a:latin typeface="Tahoma" charset="0"/>
              </a:rPr>
              <a:pPr algn="r" eaLnBrk="1" hangingPunct="1">
                <a:lnSpc>
                  <a:spcPct val="101000"/>
                </a:lnSpc>
                <a:buClr>
                  <a:srgbClr val="000000"/>
                </a:buClr>
                <a:buSzPct val="100000"/>
                <a:buFont typeface="Tahoma" charset="0"/>
                <a:buNone/>
              </a:pPr>
              <a:t>31</a:t>
            </a:fld>
            <a:endParaRPr lang="en-GB" sz="120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55298" name="Text Box 3"/>
          <p:cNvSpPr txBox="1">
            <a:spLocks noChangeArrowheads="1"/>
          </p:cNvSpPr>
          <p:nvPr/>
        </p:nvSpPr>
        <p:spPr bwMode="auto">
          <a:xfrm>
            <a:off x="762000" y="304800"/>
            <a:ext cx="7696200" cy="715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1000"/>
              </a:lnSpc>
              <a:buClr>
                <a:srgbClr val="333399"/>
              </a:buClr>
              <a:buSzPct val="100000"/>
            </a:pPr>
            <a:r>
              <a:rPr lang="en-US" altLang="en-US" sz="4000" b="1" kern="0" dirty="0" smtClean="0">
                <a:solidFill>
                  <a:srgbClr val="000000"/>
                </a:solidFill>
                <a:latin typeface="Times New Roman"/>
                <a:ea typeface="MS PGothic" pitchFamily="34" charset="-128"/>
                <a:cs typeface="MS PGothic" charset="0"/>
              </a:rPr>
              <a:t>Wrapper: </a:t>
            </a:r>
            <a:r>
              <a:rPr lang="en-GB" sz="3600" dirty="0" smtClean="0">
                <a:solidFill>
                  <a:srgbClr val="333399"/>
                </a:solidFill>
                <a:latin typeface="Tahoma" charset="0"/>
              </a:rPr>
              <a:t>Decision </a:t>
            </a:r>
            <a:r>
              <a:rPr lang="en-GB" sz="3600" dirty="0">
                <a:solidFill>
                  <a:srgbClr val="333399"/>
                </a:solidFill>
                <a:latin typeface="Tahoma" charset="0"/>
              </a:rPr>
              <a:t>Tree Induction</a:t>
            </a:r>
          </a:p>
        </p:txBody>
      </p:sp>
      <p:sp>
        <p:nvSpPr>
          <p:cNvPr id="55299" name="AutoShape 4"/>
          <p:cNvSpPr>
            <a:spLocks noChangeArrowheads="1"/>
          </p:cNvSpPr>
          <p:nvPr/>
        </p:nvSpPr>
        <p:spPr bwMode="auto">
          <a:xfrm>
            <a:off x="1219200" y="1447800"/>
            <a:ext cx="3476625" cy="822325"/>
          </a:xfrm>
          <a:prstGeom prst="roundRect">
            <a:avLst>
              <a:gd name="adj" fmla="val 190"/>
            </a:avLst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chemeClr val="tx1"/>
                </a:solidFill>
              </a:rPr>
              <a:t>Initial attribute set: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chemeClr val="tx1"/>
                </a:solidFill>
              </a:rPr>
              <a:t>{A1, A2, A3, A4, A5, A6}</a:t>
            </a:r>
          </a:p>
        </p:txBody>
      </p:sp>
      <p:sp>
        <p:nvSpPr>
          <p:cNvPr id="55300" name="AutoShape 5"/>
          <p:cNvSpPr>
            <a:spLocks noChangeArrowheads="1"/>
          </p:cNvSpPr>
          <p:nvPr/>
        </p:nvSpPr>
        <p:spPr bwMode="auto">
          <a:xfrm>
            <a:off x="3881438" y="2598738"/>
            <a:ext cx="865187" cy="519112"/>
          </a:xfrm>
          <a:prstGeom prst="roundRect">
            <a:avLst>
              <a:gd name="adj" fmla="val 306"/>
            </a:avLst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1" name="Text Box 6"/>
          <p:cNvSpPr txBox="1">
            <a:spLocks noChangeArrowheads="1"/>
          </p:cNvSpPr>
          <p:nvPr/>
        </p:nvSpPr>
        <p:spPr bwMode="auto">
          <a:xfrm>
            <a:off x="3963988" y="2619375"/>
            <a:ext cx="8826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en-GB">
                <a:solidFill>
                  <a:schemeClr val="tx1"/>
                </a:solidFill>
              </a:rPr>
              <a:t>A4 ?</a:t>
            </a:r>
          </a:p>
        </p:txBody>
      </p:sp>
      <p:sp>
        <p:nvSpPr>
          <p:cNvPr id="55302" name="AutoShape 7"/>
          <p:cNvSpPr>
            <a:spLocks noChangeArrowheads="1"/>
          </p:cNvSpPr>
          <p:nvPr/>
        </p:nvSpPr>
        <p:spPr bwMode="auto">
          <a:xfrm>
            <a:off x="2462213" y="3616325"/>
            <a:ext cx="777875" cy="519113"/>
          </a:xfrm>
          <a:prstGeom prst="roundRect">
            <a:avLst>
              <a:gd name="adj" fmla="val 306"/>
            </a:avLst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3" name="AutoShape 8"/>
          <p:cNvSpPr>
            <a:spLocks noChangeArrowheads="1"/>
          </p:cNvSpPr>
          <p:nvPr/>
        </p:nvSpPr>
        <p:spPr bwMode="auto">
          <a:xfrm>
            <a:off x="5281613" y="3551238"/>
            <a:ext cx="808037" cy="547687"/>
          </a:xfrm>
          <a:prstGeom prst="roundRect">
            <a:avLst>
              <a:gd name="adj" fmla="val 287"/>
            </a:avLst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4" name="AutoShape 9"/>
          <p:cNvSpPr>
            <a:spLocks noChangeArrowheads="1"/>
          </p:cNvSpPr>
          <p:nvPr/>
        </p:nvSpPr>
        <p:spPr bwMode="auto">
          <a:xfrm>
            <a:off x="2460625" y="3643313"/>
            <a:ext cx="692150" cy="457200"/>
          </a:xfrm>
          <a:prstGeom prst="roundRect">
            <a:avLst>
              <a:gd name="adj" fmla="val 347"/>
            </a:avLst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chemeClr val="tx1"/>
                </a:solidFill>
              </a:rPr>
              <a:t>A1?</a:t>
            </a:r>
          </a:p>
        </p:txBody>
      </p:sp>
      <p:sp>
        <p:nvSpPr>
          <p:cNvPr id="55305" name="AutoShape 10"/>
          <p:cNvSpPr>
            <a:spLocks noChangeArrowheads="1"/>
          </p:cNvSpPr>
          <p:nvPr/>
        </p:nvSpPr>
        <p:spPr bwMode="auto">
          <a:xfrm>
            <a:off x="5305425" y="3614738"/>
            <a:ext cx="692150" cy="457200"/>
          </a:xfrm>
          <a:prstGeom prst="roundRect">
            <a:avLst>
              <a:gd name="adj" fmla="val 347"/>
            </a:avLst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chemeClr val="tx1"/>
                </a:solidFill>
              </a:rPr>
              <a:t>A6?</a:t>
            </a:r>
          </a:p>
        </p:txBody>
      </p:sp>
      <p:sp>
        <p:nvSpPr>
          <p:cNvPr id="55306" name="Oval 11"/>
          <p:cNvSpPr>
            <a:spLocks noChangeArrowheads="1"/>
          </p:cNvSpPr>
          <p:nvPr/>
        </p:nvSpPr>
        <p:spPr bwMode="auto">
          <a:xfrm>
            <a:off x="1443038" y="4935538"/>
            <a:ext cx="1139825" cy="606425"/>
          </a:xfrm>
          <a:prstGeom prst="ellipse">
            <a:avLst/>
          </a:prstGeom>
          <a:noFill/>
          <a:ln w="9360">
            <a:solidFill>
              <a:srgbClr val="00E4A8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7" name="AutoShape 12"/>
          <p:cNvSpPr>
            <a:spLocks noChangeArrowheads="1"/>
          </p:cNvSpPr>
          <p:nvPr/>
        </p:nvSpPr>
        <p:spPr bwMode="auto">
          <a:xfrm>
            <a:off x="1509713" y="5030788"/>
            <a:ext cx="1073150" cy="457200"/>
          </a:xfrm>
          <a:prstGeom prst="roundRect">
            <a:avLst>
              <a:gd name="adj" fmla="val 347"/>
            </a:avLst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chemeClr val="tx1"/>
                </a:solidFill>
              </a:rPr>
              <a:t>Class 1</a:t>
            </a:r>
          </a:p>
        </p:txBody>
      </p:sp>
      <p:sp>
        <p:nvSpPr>
          <p:cNvPr id="55308" name="AutoShape 13"/>
          <p:cNvSpPr>
            <a:spLocks noChangeArrowheads="1"/>
          </p:cNvSpPr>
          <p:nvPr/>
        </p:nvSpPr>
        <p:spPr bwMode="auto">
          <a:xfrm>
            <a:off x="3127375" y="4983163"/>
            <a:ext cx="1073150" cy="457200"/>
          </a:xfrm>
          <a:prstGeom prst="roundRect">
            <a:avLst>
              <a:gd name="adj" fmla="val 347"/>
            </a:avLst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chemeClr val="tx1"/>
                </a:solidFill>
              </a:rPr>
              <a:t>Class 2</a:t>
            </a:r>
          </a:p>
        </p:txBody>
      </p:sp>
      <p:sp>
        <p:nvSpPr>
          <p:cNvPr id="55309" name="AutoShape 14"/>
          <p:cNvSpPr>
            <a:spLocks noChangeArrowheads="1"/>
          </p:cNvSpPr>
          <p:nvPr/>
        </p:nvSpPr>
        <p:spPr bwMode="auto">
          <a:xfrm>
            <a:off x="4654550" y="5024438"/>
            <a:ext cx="1073150" cy="457200"/>
          </a:xfrm>
          <a:prstGeom prst="roundRect">
            <a:avLst>
              <a:gd name="adj" fmla="val 347"/>
            </a:avLst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chemeClr val="tx1"/>
                </a:solidFill>
              </a:rPr>
              <a:t>Class 1</a:t>
            </a:r>
          </a:p>
        </p:txBody>
      </p:sp>
      <p:sp>
        <p:nvSpPr>
          <p:cNvPr id="55310" name="AutoShape 15"/>
          <p:cNvSpPr>
            <a:spLocks noChangeArrowheads="1"/>
          </p:cNvSpPr>
          <p:nvPr/>
        </p:nvSpPr>
        <p:spPr bwMode="auto">
          <a:xfrm>
            <a:off x="6056313" y="4954588"/>
            <a:ext cx="1073150" cy="457200"/>
          </a:xfrm>
          <a:prstGeom prst="roundRect">
            <a:avLst>
              <a:gd name="adj" fmla="val 347"/>
            </a:avLst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chemeClr val="tx1"/>
                </a:solidFill>
              </a:rPr>
              <a:t>Class 2</a:t>
            </a:r>
          </a:p>
        </p:txBody>
      </p:sp>
      <p:sp>
        <p:nvSpPr>
          <p:cNvPr id="55311" name="Oval 16"/>
          <p:cNvSpPr>
            <a:spLocks noChangeArrowheads="1"/>
          </p:cNvSpPr>
          <p:nvPr/>
        </p:nvSpPr>
        <p:spPr bwMode="auto">
          <a:xfrm>
            <a:off x="3052763" y="4929188"/>
            <a:ext cx="1139825" cy="606425"/>
          </a:xfrm>
          <a:prstGeom prst="ellipse">
            <a:avLst/>
          </a:prstGeom>
          <a:noFill/>
          <a:ln w="936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2" name="Oval 17"/>
          <p:cNvSpPr>
            <a:spLocks noChangeArrowheads="1"/>
          </p:cNvSpPr>
          <p:nvPr/>
        </p:nvSpPr>
        <p:spPr bwMode="auto">
          <a:xfrm>
            <a:off x="4625975" y="4943475"/>
            <a:ext cx="1139825" cy="606425"/>
          </a:xfrm>
          <a:prstGeom prst="ellipse">
            <a:avLst/>
          </a:prstGeom>
          <a:noFill/>
          <a:ln w="9360">
            <a:solidFill>
              <a:srgbClr val="00E4A8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3" name="Oval 18"/>
          <p:cNvSpPr>
            <a:spLocks noChangeArrowheads="1"/>
          </p:cNvSpPr>
          <p:nvPr/>
        </p:nvSpPr>
        <p:spPr bwMode="auto">
          <a:xfrm>
            <a:off x="5953125" y="4899025"/>
            <a:ext cx="1139825" cy="606425"/>
          </a:xfrm>
          <a:prstGeom prst="ellipse">
            <a:avLst/>
          </a:prstGeom>
          <a:noFill/>
          <a:ln w="936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4" name="Line 19"/>
          <p:cNvSpPr>
            <a:spLocks noChangeShapeType="1"/>
          </p:cNvSpPr>
          <p:nvPr/>
        </p:nvSpPr>
        <p:spPr bwMode="auto">
          <a:xfrm flipH="1">
            <a:off x="2841625" y="3132138"/>
            <a:ext cx="1417638" cy="47625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15" name="Line 20"/>
          <p:cNvSpPr>
            <a:spLocks noChangeShapeType="1"/>
          </p:cNvSpPr>
          <p:nvPr/>
        </p:nvSpPr>
        <p:spPr bwMode="auto">
          <a:xfrm>
            <a:off x="4271963" y="3132138"/>
            <a:ext cx="1355725" cy="403225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16" name="Line 21"/>
          <p:cNvSpPr>
            <a:spLocks noChangeShapeType="1"/>
          </p:cNvSpPr>
          <p:nvPr/>
        </p:nvSpPr>
        <p:spPr bwMode="auto">
          <a:xfrm flipH="1">
            <a:off x="2019300" y="4141788"/>
            <a:ext cx="811213" cy="779462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17" name="Line 22"/>
          <p:cNvSpPr>
            <a:spLocks noChangeShapeType="1"/>
          </p:cNvSpPr>
          <p:nvPr/>
        </p:nvSpPr>
        <p:spPr bwMode="auto">
          <a:xfrm>
            <a:off x="2828925" y="4141788"/>
            <a:ext cx="763588" cy="79375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18" name="Line 23"/>
          <p:cNvSpPr>
            <a:spLocks noChangeShapeType="1"/>
          </p:cNvSpPr>
          <p:nvPr/>
        </p:nvSpPr>
        <p:spPr bwMode="auto">
          <a:xfrm flipH="1">
            <a:off x="5178425" y="4113213"/>
            <a:ext cx="508000" cy="836612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19" name="Line 24"/>
          <p:cNvSpPr>
            <a:spLocks noChangeShapeType="1"/>
          </p:cNvSpPr>
          <p:nvPr/>
        </p:nvSpPr>
        <p:spPr bwMode="auto">
          <a:xfrm>
            <a:off x="5715000" y="4098925"/>
            <a:ext cx="808038" cy="79375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779463" y="5810250"/>
            <a:ext cx="650875" cy="365125"/>
            <a:chOff x="491" y="3660"/>
            <a:chExt cx="410" cy="230"/>
          </a:xfrm>
        </p:grpSpPr>
        <p:sp>
          <p:nvSpPr>
            <p:cNvPr id="55322" name="Line 26"/>
            <p:cNvSpPr>
              <a:spLocks noChangeShapeType="1"/>
            </p:cNvSpPr>
            <p:nvPr/>
          </p:nvSpPr>
          <p:spPr bwMode="auto">
            <a:xfrm>
              <a:off x="491" y="3773"/>
              <a:ext cx="273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3" name="AutoShape 27"/>
            <p:cNvSpPr>
              <a:spLocks noChangeArrowheads="1"/>
            </p:cNvSpPr>
            <p:nvPr/>
          </p:nvSpPr>
          <p:spPr bwMode="auto">
            <a:xfrm>
              <a:off x="705" y="3660"/>
              <a:ext cx="197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>
                  <a:solidFill>
                    <a:schemeClr val="tx1"/>
                  </a:solidFill>
                </a:rPr>
                <a:t>&gt;</a:t>
              </a:r>
            </a:p>
          </p:txBody>
        </p:sp>
      </p:grpSp>
      <p:sp>
        <p:nvSpPr>
          <p:cNvPr id="55321" name="AutoShape 28"/>
          <p:cNvSpPr>
            <a:spLocks noChangeArrowheads="1"/>
          </p:cNvSpPr>
          <p:nvPr/>
        </p:nvSpPr>
        <p:spPr bwMode="auto">
          <a:xfrm>
            <a:off x="1422400" y="5737225"/>
            <a:ext cx="5007598" cy="463846"/>
          </a:xfrm>
          <a:prstGeom prst="roundRect">
            <a:avLst>
              <a:gd name="adj" fmla="val 347"/>
            </a:avLst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solidFill>
                  <a:schemeClr val="tx1"/>
                </a:solidFill>
              </a:rPr>
              <a:t>Selected Feature subset</a:t>
            </a:r>
            <a:r>
              <a:rPr lang="en-GB" dirty="0">
                <a:solidFill>
                  <a:schemeClr val="tx1"/>
                </a:solidFill>
              </a:rPr>
              <a:t>:  {A1, A4, A6}</a:t>
            </a:r>
          </a:p>
        </p:txBody>
      </p:sp>
    </p:spTree>
    <p:extLst>
      <p:ext uri="{BB962C8B-B14F-4D97-AF65-F5344CB8AC3E}">
        <p14:creationId xmlns="" xmlns:p14="http://schemas.microsoft.com/office/powerpoint/2010/main" val="3509815670"/>
      </p:ext>
    </p:extLst>
  </p:cSld>
  <p:clrMapOvr>
    <a:masterClrMapping/>
  </p:clrMapOvr>
  <p:transition spd="med"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604822"/>
          </a:xfrm>
        </p:spPr>
        <p:txBody>
          <a:bodyPr/>
          <a:lstStyle/>
          <a:p>
            <a:r>
              <a:rPr lang="en-US" altLang="en-US" sz="4000" b="1" dirty="0" smtClean="0">
                <a:solidFill>
                  <a:schemeClr val="tx1"/>
                </a:solidFill>
              </a:rPr>
              <a:t>Filter </a:t>
            </a:r>
            <a:r>
              <a:rPr lang="en-US" altLang="en-US" sz="4000" b="1" dirty="0" err="1" smtClean="0">
                <a:solidFill>
                  <a:schemeClr val="tx1"/>
                </a:solidFill>
              </a:rPr>
              <a:t>vs</a:t>
            </a:r>
            <a:r>
              <a:rPr lang="en-US" altLang="en-US" sz="4000" b="1" dirty="0" smtClean="0">
                <a:solidFill>
                  <a:schemeClr val="tx1"/>
                </a:solidFill>
              </a:rPr>
              <a:t> Wrapper Methods</a:t>
            </a:r>
          </a:p>
        </p:txBody>
      </p:sp>
      <p:sp>
        <p:nvSpPr>
          <p:cNvPr id="36867" name="Text Placeholder 2"/>
          <p:cNvSpPr>
            <a:spLocks noGrp="1"/>
          </p:cNvSpPr>
          <p:nvPr>
            <p:ph type="body" sz="half" idx="1"/>
          </p:nvPr>
        </p:nvSpPr>
        <p:spPr>
          <a:xfrm>
            <a:off x="714348" y="1357298"/>
            <a:ext cx="8001000" cy="5357850"/>
          </a:xfrm>
        </p:spPr>
        <p:txBody>
          <a:bodyPr/>
          <a:lstStyle/>
          <a:p>
            <a:r>
              <a:rPr lang="en-US" altLang="en-US" sz="2400" dirty="0" smtClean="0">
                <a:latin typeface="Arial" charset="0"/>
              </a:rPr>
              <a:t>Filter Methods</a:t>
            </a:r>
          </a:p>
          <a:p>
            <a:pPr lvl="1"/>
            <a:r>
              <a:rPr lang="en-US" altLang="en-US" sz="2400" dirty="0" smtClean="0">
                <a:latin typeface="Arial" charset="0"/>
              </a:rPr>
              <a:t>Advantages</a:t>
            </a:r>
          </a:p>
          <a:p>
            <a:pPr lvl="2" algn="just"/>
            <a:r>
              <a:rPr lang="en-US" altLang="en-US" dirty="0" smtClean="0">
                <a:latin typeface="Arial" charset="0"/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  <a:latin typeface="Arial" charset="0"/>
              </a:rPr>
              <a:t>Much faster </a:t>
            </a:r>
            <a:r>
              <a:rPr lang="en-US" altLang="en-US" dirty="0" smtClean="0">
                <a:latin typeface="Arial" charset="0"/>
              </a:rPr>
              <a:t>than wrapper methods since the objective function has lower computational requirements.</a:t>
            </a:r>
          </a:p>
          <a:p>
            <a:pPr lvl="2" algn="just"/>
            <a:r>
              <a:rPr lang="en-US" altLang="en-US" dirty="0" smtClean="0">
                <a:latin typeface="Arial" charset="0"/>
              </a:rPr>
              <a:t>The optimum feature set might </a:t>
            </a:r>
            <a:r>
              <a:rPr lang="en-US" altLang="en-US" dirty="0" smtClean="0">
                <a:solidFill>
                  <a:srgbClr val="FF0000"/>
                </a:solidFill>
                <a:latin typeface="Arial" charset="0"/>
              </a:rPr>
              <a:t>work well with various classifiers</a:t>
            </a:r>
            <a:r>
              <a:rPr lang="en-US" altLang="en-US" dirty="0" smtClean="0">
                <a:latin typeface="Arial" charset="0"/>
              </a:rPr>
              <a:t> as it is not tied to a specific classifier.</a:t>
            </a:r>
          </a:p>
          <a:p>
            <a:pPr lvl="1"/>
            <a:r>
              <a:rPr lang="en-US" altLang="en-US" sz="2400" dirty="0" smtClean="0">
                <a:latin typeface="Arial" charset="0"/>
              </a:rPr>
              <a:t>Disadvantages</a:t>
            </a:r>
          </a:p>
          <a:p>
            <a:pPr lvl="2" algn="just"/>
            <a:r>
              <a:rPr lang="en-US" altLang="en-US" dirty="0">
                <a:latin typeface="Arial" charset="0"/>
                <a:cs typeface="Arial" charset="0"/>
              </a:rPr>
              <a:t>Have a tendency to </a:t>
            </a:r>
            <a:r>
              <a:rPr lang="en-US" alt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select more features</a:t>
            </a:r>
            <a:r>
              <a:rPr lang="en-US" altLang="en-US" dirty="0">
                <a:latin typeface="Arial" charset="0"/>
                <a:cs typeface="Arial" charset="0"/>
              </a:rPr>
              <a:t> compared to wrapper methods. </a:t>
            </a:r>
            <a:endParaRPr lang="en-US" altLang="en-US" dirty="0" smtClean="0">
              <a:latin typeface="Arial" charset="0"/>
            </a:endParaRPr>
          </a:p>
          <a:p>
            <a:pPr lvl="2"/>
            <a:r>
              <a:rPr lang="en-US" altLang="en-US" dirty="0" smtClean="0">
                <a:latin typeface="Arial" charset="0"/>
              </a:rPr>
              <a:t>Achieve </a:t>
            </a:r>
            <a:r>
              <a:rPr lang="en-US" altLang="en-US" dirty="0" smtClean="0">
                <a:solidFill>
                  <a:srgbClr val="FF0000"/>
                </a:solidFill>
                <a:latin typeface="Arial" charset="0"/>
              </a:rPr>
              <a:t>lower recognition accuracy </a:t>
            </a:r>
            <a:r>
              <a:rPr lang="en-US" altLang="en-US" dirty="0" smtClean="0">
                <a:latin typeface="Arial" charset="0"/>
              </a:rPr>
              <a:t>compared to wrapper methods.</a:t>
            </a:r>
          </a:p>
          <a:p>
            <a:pPr lvl="2"/>
            <a:endParaRPr lang="en-US" altLang="en-US" sz="1200" dirty="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587152"/>
          </a:xfrm>
        </p:spPr>
        <p:txBody>
          <a:bodyPr/>
          <a:lstStyle/>
          <a:p>
            <a:r>
              <a:rPr lang="en-US" altLang="en-US" sz="4000" b="1" dirty="0" smtClean="0">
                <a:solidFill>
                  <a:schemeClr val="tx1"/>
                </a:solidFill>
              </a:rPr>
              <a:t>Filter </a:t>
            </a:r>
            <a:r>
              <a:rPr lang="en-US" altLang="en-US" sz="4000" b="1" dirty="0" err="1" smtClean="0">
                <a:solidFill>
                  <a:schemeClr val="tx1"/>
                </a:solidFill>
              </a:rPr>
              <a:t>vs</a:t>
            </a:r>
            <a:r>
              <a:rPr lang="en-US" altLang="en-US" sz="4000" b="1" dirty="0" smtClean="0">
                <a:solidFill>
                  <a:schemeClr val="tx1"/>
                </a:solidFill>
              </a:rPr>
              <a:t> Wrapper Methods</a:t>
            </a:r>
          </a:p>
        </p:txBody>
      </p:sp>
      <p:sp>
        <p:nvSpPr>
          <p:cNvPr id="37891" name="Text Placeholder 2"/>
          <p:cNvSpPr>
            <a:spLocks noGrp="1"/>
          </p:cNvSpPr>
          <p:nvPr>
            <p:ph type="body" sz="half" idx="1"/>
          </p:nvPr>
        </p:nvSpPr>
        <p:spPr>
          <a:xfrm>
            <a:off x="611560" y="1412776"/>
            <a:ext cx="8001000" cy="482453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2400" dirty="0" smtClean="0">
                <a:latin typeface="Arial" panose="020B0604020202020204" pitchFamily="34" charset="0"/>
              </a:rPr>
              <a:t>Wrapper Methods</a:t>
            </a: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altLang="en-US" sz="2400" dirty="0" smtClean="0">
                <a:latin typeface="Arial" panose="020B0604020202020204" pitchFamily="34" charset="0"/>
              </a:rPr>
              <a:t>Advantages</a:t>
            </a:r>
          </a:p>
          <a:p>
            <a:pPr lvl="2" algn="just">
              <a:buFont typeface="Arial" panose="020B0604020202020204" pitchFamily="34" charset="0"/>
              <a:buChar char="•"/>
              <a:defRPr/>
            </a:pPr>
            <a:r>
              <a:rPr lang="en-US" altLang="en-US" dirty="0" smtClean="0">
                <a:latin typeface="Arial" panose="020B0604020202020204" pitchFamily="34" charset="0"/>
              </a:rPr>
              <a:t> Achieve </a:t>
            </a:r>
            <a:r>
              <a:rPr lang="en-US" altLang="en-US" dirty="0" smtClean="0">
                <a:solidFill>
                  <a:srgbClr val="FF0000"/>
                </a:solidFill>
                <a:latin typeface="Arial" panose="020B0604020202020204" pitchFamily="34" charset="0"/>
              </a:rPr>
              <a:t>higher recognition accuracy </a:t>
            </a:r>
            <a:r>
              <a:rPr lang="en-US" altLang="en-US" dirty="0" smtClean="0">
                <a:latin typeface="Arial" panose="020B0604020202020204" pitchFamily="34" charset="0"/>
              </a:rPr>
              <a:t>compared to filter methods since they use the classifier itself in choosing the optimum set of features. </a:t>
            </a: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altLang="en-US" sz="2400" dirty="0" smtClean="0">
                <a:latin typeface="Arial" panose="020B0604020202020204" pitchFamily="34" charset="0"/>
              </a:rPr>
              <a:t>Disadvantages</a:t>
            </a:r>
          </a:p>
          <a:p>
            <a:pPr lvl="2" algn="just">
              <a:buFont typeface="Arial" panose="020B0604020202020204" pitchFamily="34" charset="0"/>
              <a:buChar char="•"/>
              <a:defRPr/>
            </a:pPr>
            <a:r>
              <a:rPr lang="en-US" altLang="en-US" dirty="0" smtClean="0">
                <a:solidFill>
                  <a:srgbClr val="FF0000"/>
                </a:solidFill>
                <a:latin typeface="Arial" panose="020B0604020202020204" pitchFamily="34" charset="0"/>
              </a:rPr>
              <a:t>Much slower </a:t>
            </a:r>
            <a:r>
              <a:rPr lang="en-US" altLang="en-US" dirty="0" smtClean="0">
                <a:latin typeface="Arial" panose="020B0604020202020204" pitchFamily="34" charset="0"/>
              </a:rPr>
              <a:t>compared to filter methods since the classifier must be trained and tested for each candidate feature subset.</a:t>
            </a:r>
          </a:p>
          <a:p>
            <a:pPr lvl="2" algn="just">
              <a:buFont typeface="Arial" panose="020B0604020202020204" pitchFamily="34" charset="0"/>
              <a:buChar char="•"/>
              <a:defRPr/>
            </a:pPr>
            <a:r>
              <a:rPr lang="en-US" altLang="en-US" dirty="0" smtClean="0">
                <a:latin typeface="Arial" panose="020B0604020202020204" pitchFamily="34" charset="0"/>
              </a:rPr>
              <a:t>The optimum feature subset might </a:t>
            </a:r>
            <a:r>
              <a:rPr lang="en-US" altLang="en-US" dirty="0" smtClean="0">
                <a:solidFill>
                  <a:srgbClr val="FF0000"/>
                </a:solidFill>
                <a:latin typeface="Arial" panose="020B0604020202020204" pitchFamily="34" charset="0"/>
              </a:rPr>
              <a:t>not work well for other classifiers</a:t>
            </a:r>
            <a:r>
              <a:rPr lang="en-US" altLang="en-US" dirty="0" smtClean="0">
                <a:latin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en-US" sz="2000" dirty="0" smtClean="0">
              <a:latin typeface="Arial" panose="020B0604020202020204" pitchFamily="34" charset="0"/>
            </a:endParaRPr>
          </a:p>
          <a:p>
            <a:pPr marL="914400" lvl="2" indent="0">
              <a:buFont typeface="Arial" panose="020B0604020202020204" pitchFamily="34" charset="0"/>
              <a:buNone/>
              <a:defRPr/>
            </a:pPr>
            <a:endParaRPr lang="en-US" altLang="en-US" sz="1200" dirty="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587152"/>
          </a:xfrm>
        </p:spPr>
        <p:txBody>
          <a:bodyPr/>
          <a:lstStyle/>
          <a:p>
            <a:r>
              <a:rPr lang="en-US" altLang="en-US" sz="4000" b="1" dirty="0" smtClean="0"/>
              <a:t>Heuristic Search - Naïve Search</a:t>
            </a:r>
          </a:p>
        </p:txBody>
      </p:sp>
      <p:sp>
        <p:nvSpPr>
          <p:cNvPr id="37891" name="Text Placeholder 2"/>
          <p:cNvSpPr>
            <a:spLocks noGrp="1"/>
          </p:cNvSpPr>
          <p:nvPr>
            <p:ph type="body" sz="half" idx="1"/>
          </p:nvPr>
        </p:nvSpPr>
        <p:spPr>
          <a:xfrm>
            <a:off x="683568" y="1484784"/>
            <a:ext cx="8001000" cy="4114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Given n features:</a:t>
            </a:r>
          </a:p>
          <a:p>
            <a:pPr lvl="1">
              <a:buFontTx/>
              <a:buChar char="-"/>
              <a:defRPr/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Sort them in decreasing order of their “goodness”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based on some objective function.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Char char="-"/>
              <a:defRPr/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Choose the top d features from this sorted list.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Correlation among features is not considered.</a:t>
            </a: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best pair of features may not even contain the best individual feature.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521700" cy="70802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100" b="1" dirty="0"/>
              <a:t>Heuristic Search </a:t>
            </a:r>
            <a:r>
              <a:rPr lang="en-US" altLang="en-US" sz="3100" b="1" dirty="0" smtClean="0"/>
              <a:t>: </a:t>
            </a:r>
            <a:r>
              <a:rPr lang="en-US" sz="3100" b="1" dirty="0" smtClean="0"/>
              <a:t>Step-wise </a:t>
            </a:r>
            <a:r>
              <a:rPr lang="en-US" sz="3100" b="1" dirty="0"/>
              <a:t>F</a:t>
            </a:r>
            <a:r>
              <a:rPr lang="en-US" sz="3100" b="1" dirty="0" smtClean="0"/>
              <a:t>orward </a:t>
            </a:r>
            <a:r>
              <a:rPr lang="en-US" sz="3100" b="1" dirty="0"/>
              <a:t>S</a:t>
            </a:r>
            <a:r>
              <a:rPr lang="en-US" sz="3100" b="1" dirty="0" smtClean="0"/>
              <a:t>election (SFS)</a:t>
            </a:r>
            <a:endParaRPr lang="en-US" sz="3100" dirty="0" smtClean="0"/>
          </a:p>
        </p:txBody>
      </p:sp>
      <p:sp>
        <p:nvSpPr>
          <p:cNvPr id="38915" name="Content Placeholder 2"/>
          <p:cNvSpPr>
            <a:spLocks noGrp="1"/>
          </p:cNvSpPr>
          <p:nvPr>
            <p:ph sz="half" idx="1"/>
          </p:nvPr>
        </p:nvSpPr>
        <p:spPr>
          <a:xfrm>
            <a:off x="539552" y="1124744"/>
            <a:ext cx="6019800" cy="5184576"/>
          </a:xfrm>
        </p:spPr>
        <p:txBody>
          <a:bodyPr/>
          <a:lstStyle/>
          <a:p>
            <a:pPr algn="just" eaLnBrk="1" hangingPunct="1"/>
            <a:r>
              <a:rPr lang="en-US" altLang="en-US" sz="24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First, the best </a:t>
            </a:r>
            <a:r>
              <a:rPr lang="en-US" altLang="en-US" sz="2400" b="1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single</a:t>
            </a:r>
            <a:r>
              <a:rPr lang="en-US" altLang="en-US" sz="24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 feature is selected based on some objective function.</a:t>
            </a:r>
          </a:p>
          <a:p>
            <a:pPr algn="just" eaLnBrk="1" hangingPunct="1"/>
            <a:r>
              <a:rPr lang="en-US" altLang="en-US" sz="24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Then, </a:t>
            </a:r>
            <a:r>
              <a:rPr lang="en-US" altLang="en-US" sz="2400" b="1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pairs</a:t>
            </a:r>
            <a:r>
              <a:rPr lang="en-US" altLang="en-US" sz="24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 of features are formed using one of the remaining features and this best feature, and the best pair is selected.</a:t>
            </a:r>
          </a:p>
          <a:p>
            <a:pPr algn="just" eaLnBrk="1" hangingPunct="1"/>
            <a:r>
              <a:rPr lang="en-US" altLang="en-US" sz="24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Next, </a:t>
            </a:r>
            <a:r>
              <a:rPr lang="en-US" altLang="en-US" sz="2400" b="1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triplets</a:t>
            </a:r>
            <a:r>
              <a:rPr lang="en-US" altLang="en-US" sz="24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 of features are formed using one of the remaining features and these two best features, and the best triplet is selected.</a:t>
            </a:r>
          </a:p>
          <a:p>
            <a:pPr algn="just" eaLnBrk="1" hangingPunct="1"/>
            <a:r>
              <a:rPr lang="en-US" altLang="en-US" sz="24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This procedure continues until a predefined number of features are selected.</a:t>
            </a:r>
          </a:p>
        </p:txBody>
      </p:sp>
      <p:sp>
        <p:nvSpPr>
          <p:cNvPr id="38916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CDD6B78-2295-4683-8D20-2CAD51C89E03}" type="slidenum">
              <a:rPr lang="en-US" altLang="en-US"/>
              <a:pPr/>
              <a:t>35</a:t>
            </a:fld>
            <a:endParaRPr lang="en-US" altLang="en-US"/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81800" y="1600200"/>
            <a:ext cx="2057400" cy="31464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sp>
        <p:nvSpPr>
          <p:cNvPr id="38918" name="TextBox 1"/>
          <p:cNvSpPr txBox="1">
            <a:spLocks noChangeArrowheads="1"/>
          </p:cNvSpPr>
          <p:nvPr/>
        </p:nvSpPr>
        <p:spPr bwMode="auto">
          <a:xfrm>
            <a:off x="6764338" y="5089525"/>
            <a:ext cx="1908771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srgbClr val="000000"/>
                </a:solidFill>
              </a:rPr>
              <a:t>SFS performs</a:t>
            </a:r>
          </a:p>
          <a:p>
            <a:r>
              <a:rPr lang="en-US" altLang="en-US" sz="2000" dirty="0">
                <a:solidFill>
                  <a:srgbClr val="000000"/>
                </a:solidFill>
              </a:rPr>
              <a:t>best when the </a:t>
            </a:r>
          </a:p>
          <a:p>
            <a:r>
              <a:rPr lang="en-US" altLang="en-US" sz="2000" dirty="0">
                <a:solidFill>
                  <a:srgbClr val="000000"/>
                </a:solidFill>
              </a:rPr>
              <a:t>optimal subset is</a:t>
            </a:r>
          </a:p>
          <a:p>
            <a:r>
              <a:rPr lang="en-US" altLang="en-US" sz="2000" dirty="0">
                <a:solidFill>
                  <a:srgbClr val="000000"/>
                </a:solidFill>
              </a:rPr>
              <a:t>small.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8839200" y="1828800"/>
            <a:ext cx="17463" cy="2667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323528" y="476672"/>
            <a:ext cx="8521700" cy="936104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b="1" dirty="0"/>
              <a:t>Heuristic Search : </a:t>
            </a:r>
            <a:r>
              <a:rPr lang="en-US" sz="2800" b="1" dirty="0" smtClean="0"/>
              <a:t>Step-wise </a:t>
            </a:r>
            <a:r>
              <a:rPr lang="en-US" sz="2800" b="1" dirty="0"/>
              <a:t>B</a:t>
            </a:r>
            <a:r>
              <a:rPr lang="en-US" sz="2800" b="1" dirty="0" smtClean="0"/>
              <a:t>ackward Removal (SBR)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sz="half" idx="1"/>
          </p:nvPr>
        </p:nvSpPr>
        <p:spPr>
          <a:xfrm>
            <a:off x="323528" y="1412776"/>
            <a:ext cx="6172200" cy="4464496"/>
          </a:xfrm>
        </p:spPr>
        <p:txBody>
          <a:bodyPr/>
          <a:lstStyle/>
          <a:p>
            <a:pPr algn="just" eaLnBrk="1" hangingPunct="1"/>
            <a:r>
              <a:rPr lang="en-US" altLang="en-US" sz="20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One feature among n features is deleted: </a:t>
            </a:r>
          </a:p>
          <a:p>
            <a:pPr algn="just" eaLnBrk="1" hangingPunct="1">
              <a:buFontTx/>
              <a:buChar char="-"/>
            </a:pPr>
            <a:r>
              <a:rPr lang="en-US" altLang="en-US" sz="20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the objective function is computed for all</a:t>
            </a:r>
          </a:p>
          <a:p>
            <a:pPr marL="0" indent="0" algn="just" eaLnBrk="1" hangingPunct="1"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 </a:t>
            </a:r>
            <a:r>
              <a:rPr lang="en-US" altLang="en-US" sz="20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   subsets with </a:t>
            </a:r>
            <a:r>
              <a:rPr lang="en-US" altLang="en-US" sz="2000" b="1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n-1</a:t>
            </a:r>
            <a:r>
              <a:rPr lang="en-US" altLang="en-US" sz="20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 features, and the worst</a:t>
            </a:r>
          </a:p>
          <a:p>
            <a:pPr marL="0" indent="0" algn="just" eaLnBrk="1" hangingPunct="1"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 </a:t>
            </a:r>
            <a:r>
              <a:rPr lang="en-US" altLang="en-US" sz="20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   feature is discarded.</a:t>
            </a:r>
          </a:p>
          <a:p>
            <a:pPr algn="just" eaLnBrk="1" hangingPunct="1"/>
            <a:r>
              <a:rPr lang="en-US" altLang="en-US" sz="20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Next, one 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feature among </a:t>
            </a:r>
            <a:r>
              <a:rPr lang="en-US" altLang="en-US" sz="20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remaining n-1 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features is deleted</a:t>
            </a:r>
            <a:r>
              <a:rPr lang="en-US" altLang="en-US" sz="20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:</a:t>
            </a:r>
          </a:p>
          <a:p>
            <a:pPr algn="just" eaLnBrk="1" hangingPunct="1">
              <a:buFontTx/>
              <a:buChar char="-"/>
            </a:pPr>
            <a:r>
              <a:rPr lang="en-US" altLang="en-US" sz="20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the 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objective function is computed for all</a:t>
            </a:r>
          </a:p>
          <a:p>
            <a:pPr marL="0" indent="0" algn="just" eaLnBrk="1" hangingPunct="1"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    subsets with </a:t>
            </a:r>
            <a:r>
              <a:rPr lang="en-US" altLang="en-US" sz="2000" b="1" dirty="0">
                <a:solidFill>
                  <a:srgbClr val="000000"/>
                </a:solidFill>
                <a:latin typeface="Arial" charset="0"/>
                <a:cs typeface="Arial" charset="0"/>
              </a:rPr>
              <a:t>n</a:t>
            </a:r>
            <a:r>
              <a:rPr lang="en-US" altLang="en-US" sz="2000" b="1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-2</a:t>
            </a:r>
            <a:r>
              <a:rPr lang="en-US" altLang="en-US" sz="20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 </a:t>
            </a:r>
            <a:r>
              <a:rPr lang="en-US" alt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features, and the worst</a:t>
            </a:r>
          </a:p>
          <a:p>
            <a:pPr marL="0" indent="0" algn="just" eaLnBrk="1" hangingPunct="1"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    feature is </a:t>
            </a:r>
            <a:r>
              <a:rPr lang="en-US" altLang="en-US" sz="20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discarded.</a:t>
            </a:r>
          </a:p>
          <a:p>
            <a:pPr algn="just" eaLnBrk="1" hangingPunct="1"/>
            <a:r>
              <a:rPr lang="en-US" altLang="en-US" sz="20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This procedure continues until a predefined number of features are left.</a:t>
            </a:r>
          </a:p>
        </p:txBody>
      </p:sp>
      <p:sp>
        <p:nvSpPr>
          <p:cNvPr id="4096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6BDD413-3883-43BA-AF4B-08B3D8009A73}" type="slidenum">
              <a:rPr lang="en-US" altLang="en-US"/>
              <a:pPr/>
              <a:t>36</a:t>
            </a:fld>
            <a:endParaRPr lang="en-US" altLang="en-US"/>
          </a:p>
        </p:txBody>
      </p:sp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53200" y="1905000"/>
            <a:ext cx="2133600" cy="3195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sp>
        <p:nvSpPr>
          <p:cNvPr id="40966" name="TextBox 5"/>
          <p:cNvSpPr txBox="1">
            <a:spLocks noChangeArrowheads="1"/>
          </p:cNvSpPr>
          <p:nvPr/>
        </p:nvSpPr>
        <p:spPr bwMode="auto">
          <a:xfrm>
            <a:off x="6602413" y="5100638"/>
            <a:ext cx="1908771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dirty="0" smtClean="0"/>
              <a:t>SBR </a:t>
            </a:r>
            <a:r>
              <a:rPr lang="en-US" altLang="en-US" sz="2000" dirty="0"/>
              <a:t>performs</a:t>
            </a:r>
          </a:p>
          <a:p>
            <a:r>
              <a:rPr lang="en-US" altLang="en-US" sz="2000" dirty="0"/>
              <a:t>best when the </a:t>
            </a:r>
          </a:p>
          <a:p>
            <a:r>
              <a:rPr lang="en-US" altLang="en-US" sz="2000" dirty="0"/>
              <a:t>optimal subset is</a:t>
            </a:r>
          </a:p>
          <a:p>
            <a:r>
              <a:rPr lang="en-US" altLang="en-US" sz="2000" dirty="0">
                <a:solidFill>
                  <a:srgbClr val="FF0000"/>
                </a:solidFill>
              </a:rPr>
              <a:t>large</a:t>
            </a:r>
            <a:r>
              <a:rPr lang="en-US" altLang="en-US" sz="2000" dirty="0"/>
              <a:t>.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8826500" y="2209800"/>
            <a:ext cx="0" cy="2590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676260"/>
          </a:xfrm>
        </p:spPr>
        <p:txBody>
          <a:bodyPr/>
          <a:lstStyle/>
          <a:p>
            <a:r>
              <a:rPr lang="en-US" altLang="en-US" sz="3600" b="1" dirty="0" smtClean="0"/>
              <a:t>Bidirectional Search (BDS)</a:t>
            </a:r>
            <a:endParaRPr lang="en-US" altLang="en-US" sz="3600" dirty="0" smtClean="0"/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467544" y="1052736"/>
            <a:ext cx="5112568" cy="5256584"/>
          </a:xfrm>
        </p:spPr>
        <p:txBody>
          <a:bodyPr/>
          <a:lstStyle/>
          <a:p>
            <a:pPr algn="just"/>
            <a:r>
              <a:rPr lang="en-US" altLang="en-US" sz="2400" dirty="0" smtClean="0">
                <a:solidFill>
                  <a:srgbClr val="000000"/>
                </a:solidFill>
                <a:latin typeface="Arial"/>
                <a:cs typeface="Arial"/>
              </a:rPr>
              <a:t>BDS applies SFS and SBR simultaneously:</a:t>
            </a:r>
          </a:p>
          <a:p>
            <a:pPr algn="just">
              <a:buFontTx/>
              <a:buChar char="-"/>
            </a:pPr>
            <a:r>
              <a:rPr lang="en-US" altLang="en-US" sz="2400" dirty="0" smtClean="0">
                <a:solidFill>
                  <a:srgbClr val="000000"/>
                </a:solidFill>
                <a:latin typeface="Arial"/>
                <a:cs typeface="Arial"/>
              </a:rPr>
              <a:t>SFS is performed from the empty set.</a:t>
            </a:r>
          </a:p>
          <a:p>
            <a:pPr algn="just">
              <a:buFontTx/>
              <a:buChar char="-"/>
            </a:pPr>
            <a:r>
              <a:rPr lang="en-US" altLang="en-US" sz="2400" dirty="0" smtClean="0">
                <a:solidFill>
                  <a:srgbClr val="000000"/>
                </a:solidFill>
                <a:latin typeface="Arial"/>
                <a:cs typeface="Arial"/>
              </a:rPr>
              <a:t>SBR is performed from the full set.</a:t>
            </a:r>
          </a:p>
          <a:p>
            <a:pPr algn="just"/>
            <a:r>
              <a:rPr lang="en-US" altLang="en-US" sz="2400" dirty="0" smtClean="0">
                <a:solidFill>
                  <a:srgbClr val="000000"/>
                </a:solidFill>
                <a:latin typeface="Arial"/>
                <a:cs typeface="Arial"/>
              </a:rPr>
              <a:t>To guarantee that SFS and SBR converge to the same solution:</a:t>
            </a:r>
          </a:p>
          <a:p>
            <a:pPr algn="just">
              <a:buFontTx/>
              <a:buChar char="-"/>
            </a:pPr>
            <a:r>
              <a:rPr lang="en-US" altLang="en-US" sz="2400" dirty="0" smtClean="0">
                <a:solidFill>
                  <a:srgbClr val="000000"/>
                </a:solidFill>
                <a:latin typeface="Arial"/>
                <a:cs typeface="Arial"/>
              </a:rPr>
              <a:t>Features already selected by SFS cannot be removed by SBR.</a:t>
            </a:r>
            <a:endParaRPr lang="en-US" altLang="en-US" sz="240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just">
              <a:buFontTx/>
              <a:buChar char="-"/>
            </a:pPr>
            <a:r>
              <a:rPr lang="en-US" altLang="en-US" sz="2400" dirty="0" smtClean="0">
                <a:solidFill>
                  <a:srgbClr val="000000"/>
                </a:solidFill>
                <a:latin typeface="Arial"/>
                <a:cs typeface="Arial"/>
              </a:rPr>
              <a:t>Features already removed by SBR cannot be added by SFS.</a:t>
            </a:r>
          </a:p>
        </p:txBody>
      </p:sp>
      <p:pic>
        <p:nvPicPr>
          <p:cNvPr id="4301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68144" y="2276872"/>
            <a:ext cx="2114128" cy="279278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72400" cy="659160"/>
          </a:xfrm>
        </p:spPr>
        <p:txBody>
          <a:bodyPr/>
          <a:lstStyle/>
          <a:p>
            <a:r>
              <a:rPr lang="en-US" altLang="en-US" sz="3600" b="1" dirty="0" smtClean="0"/>
              <a:t>Limitations of SFS and SBR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890864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altLang="en-US" sz="2800" dirty="0" smtClean="0">
                <a:solidFill>
                  <a:srgbClr val="000000"/>
                </a:solidFill>
              </a:rPr>
              <a:t>The main limitation of SFS is that it is unable to remove features that become non useful after the addition of other features. 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altLang="en-US" sz="2800" dirty="0" smtClean="0">
                <a:solidFill>
                  <a:srgbClr val="000000"/>
                </a:solidFill>
              </a:rPr>
              <a:t>The main limitation of SBR is its inability to reevaluate the usefulness of a feature after it has been discarded. 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2800" dirty="0" smtClean="0"/>
              <a:t>Enhancements of SFS and SBR:</a:t>
            </a: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altLang="en-US" sz="2400" dirty="0" smtClean="0">
                <a:solidFill>
                  <a:srgbClr val="000000"/>
                </a:solidFill>
              </a:rPr>
              <a:t>“</a:t>
            </a:r>
            <a:r>
              <a:rPr lang="en-US" altLang="en-US" sz="2400" b="1" dirty="0" smtClean="0">
                <a:solidFill>
                  <a:srgbClr val="000000"/>
                </a:solidFill>
              </a:rPr>
              <a:t>Plus-L, minus-R</a:t>
            </a:r>
            <a:r>
              <a:rPr lang="en-US" altLang="en-US" sz="2400" dirty="0" smtClean="0">
                <a:solidFill>
                  <a:srgbClr val="000000"/>
                </a:solidFill>
              </a:rPr>
              <a:t>”  selection (LRS)</a:t>
            </a: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altLang="en-US" sz="2400" b="1" dirty="0" smtClean="0">
                <a:solidFill>
                  <a:srgbClr val="000000"/>
                </a:solidFill>
              </a:rPr>
              <a:t>Step-wise Floating </a:t>
            </a:r>
            <a:r>
              <a:rPr lang="en-US" altLang="en-US" sz="2400" b="1" dirty="0">
                <a:solidFill>
                  <a:srgbClr val="000000"/>
                </a:solidFill>
              </a:rPr>
              <a:t>F</a:t>
            </a:r>
            <a:r>
              <a:rPr lang="en-US" altLang="en-US" sz="2400" b="1" dirty="0" smtClean="0">
                <a:solidFill>
                  <a:srgbClr val="000000"/>
                </a:solidFill>
              </a:rPr>
              <a:t>orward Selection (SFFS)</a:t>
            </a: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altLang="en-US" sz="2400" b="1" dirty="0">
                <a:solidFill>
                  <a:srgbClr val="000000"/>
                </a:solidFill>
              </a:rPr>
              <a:t>Step-wise </a:t>
            </a:r>
            <a:r>
              <a:rPr lang="en-US" altLang="en-US" sz="2400" b="1" dirty="0" smtClean="0">
                <a:solidFill>
                  <a:srgbClr val="000000"/>
                </a:solidFill>
              </a:rPr>
              <a:t>Floating Backward Removal (SFBR)</a:t>
            </a:r>
            <a:endParaRPr lang="en-US" altLang="en-US" sz="2400" dirty="0" smtClean="0">
              <a:solidFill>
                <a:srgbClr val="000000"/>
              </a:solidFill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endParaRPr lang="en-US" altLang="en-US" sz="2400" dirty="0" smtClean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en-US" sz="2800" dirty="0" smtClean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936104"/>
          </a:xfrm>
        </p:spPr>
        <p:txBody>
          <a:bodyPr/>
          <a:lstStyle/>
          <a:p>
            <a:r>
              <a:rPr lang="en-US" altLang="en-US" sz="3600" b="1" dirty="0" smtClean="0"/>
              <a:t>“Plus-L, minus-R”  selection (LRS)</a:t>
            </a:r>
            <a:br>
              <a:rPr lang="en-US" altLang="en-US" sz="3600" b="1" dirty="0" smtClean="0"/>
            </a:br>
            <a:r>
              <a:rPr lang="en-US" altLang="en-US" sz="1800" dirty="0" smtClean="0"/>
              <a:t>(L, R are user-defined parameters)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465138" y="1417638"/>
            <a:ext cx="5979070" cy="4797444"/>
          </a:xfrm>
        </p:spPr>
        <p:txBody>
          <a:bodyPr/>
          <a:lstStyle/>
          <a:p>
            <a:r>
              <a:rPr lang="en-US" altLang="en-US" sz="2600" dirty="0" smtClean="0">
                <a:solidFill>
                  <a:srgbClr val="000000"/>
                </a:solidFill>
              </a:rPr>
              <a:t>Let A = Feature set, F = Feature subset</a:t>
            </a:r>
          </a:p>
          <a:p>
            <a:r>
              <a:rPr lang="en-US" altLang="en-US" sz="2600" dirty="0" smtClean="0">
                <a:solidFill>
                  <a:srgbClr val="000000"/>
                </a:solidFill>
              </a:rPr>
              <a:t>If L&gt;R, and F is empty set:</a:t>
            </a:r>
          </a:p>
          <a:p>
            <a:pPr lvl="1"/>
            <a:r>
              <a:rPr lang="en-US" altLang="en-US" sz="2200" dirty="0" smtClean="0">
                <a:solidFill>
                  <a:srgbClr val="000000"/>
                </a:solidFill>
              </a:rPr>
              <a:t>Repeatedly add L features in F (by SFS)</a:t>
            </a:r>
          </a:p>
          <a:p>
            <a:pPr lvl="1"/>
            <a:r>
              <a:rPr lang="en-US" altLang="en-US" sz="2200" dirty="0" smtClean="0">
                <a:solidFill>
                  <a:srgbClr val="000000"/>
                </a:solidFill>
              </a:rPr>
              <a:t>Repeatedly remove R features from F into A </a:t>
            </a:r>
          </a:p>
          <a:p>
            <a:pPr marL="457200" lvl="1" indent="0">
              <a:buNone/>
            </a:pP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smtClean="0">
                <a:solidFill>
                  <a:srgbClr val="000000"/>
                </a:solidFill>
              </a:rPr>
              <a:t>   (by SBR)</a:t>
            </a:r>
          </a:p>
          <a:p>
            <a:r>
              <a:rPr lang="en-US" altLang="en-US" sz="2600" dirty="0" smtClean="0">
                <a:solidFill>
                  <a:srgbClr val="000000"/>
                </a:solidFill>
              </a:rPr>
              <a:t>If L&lt;R, and F = A: (Is A = { }?)</a:t>
            </a:r>
          </a:p>
          <a:p>
            <a:pPr lvl="1"/>
            <a:r>
              <a:rPr lang="en-US" altLang="en-US" sz="2200" dirty="0" smtClean="0">
                <a:solidFill>
                  <a:srgbClr val="000000"/>
                </a:solidFill>
              </a:rPr>
              <a:t>Repeatedly removes R features from F (by SBR) and store them in A</a:t>
            </a:r>
          </a:p>
          <a:p>
            <a:pPr lvl="1"/>
            <a:r>
              <a:rPr lang="en-US" altLang="en-US" sz="2200" dirty="0" smtClean="0">
                <a:solidFill>
                  <a:srgbClr val="000000"/>
                </a:solidFill>
              </a:rPr>
              <a:t>Repeatedly add L features from A into F (by SFS)</a:t>
            </a:r>
          </a:p>
          <a:p>
            <a:endParaRPr lang="en-US" altLang="en-US" sz="2200" dirty="0" smtClean="0"/>
          </a:p>
          <a:p>
            <a:endParaRPr lang="en-US" altLang="en-US" sz="2200" dirty="0" smtClean="0"/>
          </a:p>
          <a:p>
            <a:pPr lvl="1"/>
            <a:endParaRPr lang="en-US" altLang="en-US" dirty="0" smtClean="0"/>
          </a:p>
        </p:txBody>
      </p:sp>
      <p:pic>
        <p:nvPicPr>
          <p:cNvPr id="4506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72200" y="1700808"/>
            <a:ext cx="2454424" cy="305668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sp>
        <p:nvSpPr>
          <p:cNvPr id="3" name="Rectangle 2"/>
          <p:cNvSpPr/>
          <p:nvPr/>
        </p:nvSpPr>
        <p:spPr>
          <a:xfrm>
            <a:off x="683568" y="5373216"/>
            <a:ext cx="60734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+mn-lt"/>
              </a:rPr>
              <a:t>Main limitation - how to choose the optimal values of L and R?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524006"/>
          </a:xfrm>
        </p:spPr>
        <p:txBody>
          <a:bodyPr/>
          <a:lstStyle/>
          <a:p>
            <a:r>
              <a:rPr lang="en-US" altLang="en-US" sz="2800" b="1" dirty="0" smtClean="0"/>
              <a:t>Example 1: LRS</a:t>
            </a:r>
            <a:endParaRPr lang="en-US" altLang="en-US" sz="2800" dirty="0" smtClean="0"/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500034" y="928670"/>
            <a:ext cx="7678762" cy="5715040"/>
          </a:xfrm>
        </p:spPr>
        <p:txBody>
          <a:bodyPr/>
          <a:lstStyle/>
          <a:p>
            <a:r>
              <a:rPr lang="en-US" altLang="en-US" sz="2400" dirty="0" smtClean="0">
                <a:solidFill>
                  <a:srgbClr val="000000"/>
                </a:solidFill>
              </a:rPr>
              <a:t>Let A = {A0, A1, A2, A3, A4, A5, A6, A7, A8, A9} </a:t>
            </a:r>
          </a:p>
          <a:p>
            <a:r>
              <a:rPr lang="en-US" altLang="en-US" sz="2400" dirty="0" smtClean="0">
                <a:solidFill>
                  <a:srgbClr val="000000"/>
                </a:solidFill>
              </a:rPr>
              <a:t>Let F = { }, L=3, and R=2</a:t>
            </a:r>
          </a:p>
          <a:p>
            <a:r>
              <a:rPr lang="en-US" altLang="en-US" sz="2400" dirty="0" smtClean="0">
                <a:solidFill>
                  <a:srgbClr val="000000"/>
                </a:solidFill>
              </a:rPr>
              <a:t>As L &gt; R, repeat following steps </a:t>
            </a:r>
            <a:r>
              <a:rPr lang="en-US" altLang="en-US" sz="2400" dirty="0" smtClean="0">
                <a:solidFill>
                  <a:srgbClr val="000000"/>
                </a:solidFill>
                <a:cs typeface="Arial" charset="0"/>
              </a:rPr>
              <a:t>until a predefined number of features are selected.</a:t>
            </a:r>
            <a:endParaRPr lang="en-US" altLang="en-US" sz="2400" dirty="0" smtClean="0">
              <a:solidFill>
                <a:srgbClr val="000000"/>
              </a:solidFill>
            </a:endParaRPr>
          </a:p>
          <a:p>
            <a:r>
              <a:rPr lang="en-IN" altLang="en-US" sz="2400" dirty="0" smtClean="0">
                <a:solidFill>
                  <a:srgbClr val="FF0000"/>
                </a:solidFill>
              </a:rPr>
              <a:t>Step 1:</a:t>
            </a:r>
            <a:r>
              <a:rPr lang="en-US" altLang="en-US" sz="2400" dirty="0" smtClean="0">
                <a:solidFill>
                  <a:srgbClr val="000000"/>
                </a:solidFill>
              </a:rPr>
              <a:t> (</a:t>
            </a:r>
            <a:r>
              <a:rPr lang="en-US" altLang="en-US" sz="2400" dirty="0" err="1" smtClean="0">
                <a:solidFill>
                  <a:srgbClr val="000000"/>
                </a:solidFill>
              </a:rPr>
              <a:t>i</a:t>
            </a:r>
            <a:r>
              <a:rPr lang="en-US" altLang="en-US" sz="2400" dirty="0" smtClean="0">
                <a:solidFill>
                  <a:srgbClr val="000000"/>
                </a:solidFill>
              </a:rPr>
              <a:t>) By SFS, F={A1, A4, A8}, say; and A={A0,</a:t>
            </a:r>
          </a:p>
          <a:p>
            <a:pPr>
              <a:buNone/>
            </a:pPr>
            <a:r>
              <a:rPr lang="en-US" altLang="en-US" sz="2400" dirty="0" smtClean="0">
                <a:solidFill>
                  <a:srgbClr val="000000"/>
                </a:solidFill>
              </a:rPr>
              <a:t>                     A2, A3, A5, A6, A7, A9} </a:t>
            </a:r>
          </a:p>
          <a:p>
            <a:pPr>
              <a:buNone/>
            </a:pPr>
            <a:r>
              <a:rPr lang="en-US" altLang="en-US" sz="2400" dirty="0" smtClean="0">
                <a:solidFill>
                  <a:srgbClr val="000000"/>
                </a:solidFill>
              </a:rPr>
              <a:t>		    (ii) By SBR, F={A1}, say ; and now A ={A0,</a:t>
            </a:r>
          </a:p>
          <a:p>
            <a:pPr>
              <a:buNone/>
            </a:pPr>
            <a:r>
              <a:rPr lang="en-US" altLang="en-US" sz="2400" dirty="0" smtClean="0">
                <a:solidFill>
                  <a:srgbClr val="000000"/>
                </a:solidFill>
              </a:rPr>
              <a:t>                     A2, A3, A4, A5, A6, A7, A8, A9} </a:t>
            </a:r>
          </a:p>
          <a:p>
            <a:r>
              <a:rPr lang="en-IN" altLang="en-US" sz="2400" dirty="0" smtClean="0">
                <a:solidFill>
                  <a:srgbClr val="FF0000"/>
                </a:solidFill>
              </a:rPr>
              <a:t>Step 2:</a:t>
            </a:r>
            <a:r>
              <a:rPr lang="en-IN" altLang="en-US" sz="2400" dirty="0" smtClean="0">
                <a:solidFill>
                  <a:srgbClr val="000000"/>
                </a:solidFill>
              </a:rPr>
              <a:t> </a:t>
            </a:r>
            <a:r>
              <a:rPr lang="en-US" altLang="en-US" sz="2400" dirty="0" smtClean="0">
                <a:solidFill>
                  <a:srgbClr val="000000"/>
                </a:solidFill>
              </a:rPr>
              <a:t>(</a:t>
            </a:r>
            <a:r>
              <a:rPr lang="en-US" altLang="en-US" sz="2400" dirty="0" err="1" smtClean="0">
                <a:solidFill>
                  <a:srgbClr val="000000"/>
                </a:solidFill>
              </a:rPr>
              <a:t>i</a:t>
            </a:r>
            <a:r>
              <a:rPr lang="en-US" altLang="en-US" sz="2400" dirty="0" smtClean="0">
                <a:solidFill>
                  <a:srgbClr val="000000"/>
                </a:solidFill>
              </a:rPr>
              <a:t>) By SFS, F={A1, </a:t>
            </a:r>
            <a:r>
              <a:rPr lang="en-US" altLang="en-US" sz="2400" dirty="0" smtClean="0">
                <a:solidFill>
                  <a:srgbClr val="FF0000"/>
                </a:solidFill>
              </a:rPr>
              <a:t>A0, A6, A9</a:t>
            </a:r>
            <a:r>
              <a:rPr lang="en-US" altLang="en-US" sz="2400" dirty="0" smtClean="0">
                <a:solidFill>
                  <a:srgbClr val="000000"/>
                </a:solidFill>
              </a:rPr>
              <a:t>}, say; and </a:t>
            </a:r>
          </a:p>
          <a:p>
            <a:pPr>
              <a:buNone/>
            </a:pPr>
            <a:r>
              <a:rPr lang="en-US" altLang="en-US" sz="2400" dirty="0" smtClean="0">
                <a:solidFill>
                  <a:srgbClr val="000000"/>
                </a:solidFill>
              </a:rPr>
              <a:t>                      A={A2, A3, A4, A5, A7, A8} </a:t>
            </a:r>
          </a:p>
          <a:p>
            <a:pPr>
              <a:buNone/>
            </a:pPr>
            <a:r>
              <a:rPr lang="en-US" altLang="en-US" sz="2400" dirty="0" smtClean="0">
                <a:solidFill>
                  <a:srgbClr val="000000"/>
                </a:solidFill>
              </a:rPr>
              <a:t>		     (ii) By SBR, F={A1, A6}, say ; and now A ={A0, A2, A3, A4, A5, A7, A8, A9} </a:t>
            </a:r>
          </a:p>
          <a:p>
            <a:pPr lvl="1">
              <a:buNone/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endParaRPr lang="en-US" altLang="en-US" sz="2200" dirty="0" smtClean="0"/>
          </a:p>
          <a:p>
            <a:pPr lvl="1"/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524006"/>
          </a:xfrm>
        </p:spPr>
        <p:txBody>
          <a:bodyPr/>
          <a:lstStyle/>
          <a:p>
            <a:r>
              <a:rPr lang="en-US" altLang="en-US" sz="2800" b="1" dirty="0" smtClean="0"/>
              <a:t>Is there any difference between Ex-2(</a:t>
            </a:r>
            <a:r>
              <a:rPr lang="en-US" altLang="en-US" sz="2800" b="1" dirty="0" err="1" smtClean="0"/>
              <a:t>i</a:t>
            </a:r>
            <a:r>
              <a:rPr lang="en-US" altLang="en-US" sz="2800" b="1" dirty="0" smtClean="0"/>
              <a:t>): LRS</a:t>
            </a:r>
            <a:endParaRPr lang="en-US" altLang="en-US" sz="2800" dirty="0" smtClean="0"/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500034" y="928670"/>
            <a:ext cx="7678762" cy="5715040"/>
          </a:xfrm>
        </p:spPr>
        <p:txBody>
          <a:bodyPr/>
          <a:lstStyle/>
          <a:p>
            <a:r>
              <a:rPr lang="en-US" altLang="en-US" sz="2400" dirty="0" smtClean="0">
                <a:solidFill>
                  <a:srgbClr val="000000"/>
                </a:solidFill>
              </a:rPr>
              <a:t>Let A = {A0, A1, A2, A3, A4, A5, A6, A7, A8, A9} </a:t>
            </a:r>
          </a:p>
          <a:p>
            <a:r>
              <a:rPr lang="en-US" altLang="en-US" sz="2400" dirty="0" smtClean="0">
                <a:solidFill>
                  <a:srgbClr val="000000"/>
                </a:solidFill>
              </a:rPr>
              <a:t>Let F = {A0, A1, A2, A3, A4, A5, A6, A7, A8, A9}, and A={}, L=2, and R=3</a:t>
            </a:r>
          </a:p>
          <a:p>
            <a:r>
              <a:rPr lang="en-US" altLang="en-US" sz="2400" dirty="0" smtClean="0">
                <a:solidFill>
                  <a:srgbClr val="000000"/>
                </a:solidFill>
              </a:rPr>
              <a:t>As R &gt; L, repeat following steps </a:t>
            </a:r>
            <a:r>
              <a:rPr lang="en-US" altLang="en-US" sz="2400" dirty="0" smtClean="0">
                <a:solidFill>
                  <a:srgbClr val="000000"/>
                </a:solidFill>
                <a:cs typeface="Arial" charset="0"/>
              </a:rPr>
              <a:t>until a predefined number of features are left.</a:t>
            </a:r>
            <a:endParaRPr lang="en-US" altLang="en-US" sz="2400" dirty="0" smtClean="0">
              <a:solidFill>
                <a:srgbClr val="000000"/>
              </a:solidFill>
            </a:endParaRPr>
          </a:p>
          <a:p>
            <a:r>
              <a:rPr lang="en-IN" altLang="en-US" sz="2400" dirty="0" smtClean="0">
                <a:solidFill>
                  <a:srgbClr val="FF0000"/>
                </a:solidFill>
              </a:rPr>
              <a:t>Step 1:</a:t>
            </a:r>
            <a:r>
              <a:rPr lang="en-US" altLang="en-US" sz="2400" dirty="0" smtClean="0">
                <a:solidFill>
                  <a:srgbClr val="000000"/>
                </a:solidFill>
              </a:rPr>
              <a:t> (</a:t>
            </a:r>
            <a:r>
              <a:rPr lang="en-US" altLang="en-US" sz="2400" dirty="0" err="1" smtClean="0">
                <a:solidFill>
                  <a:srgbClr val="000000"/>
                </a:solidFill>
              </a:rPr>
              <a:t>i</a:t>
            </a:r>
            <a:r>
              <a:rPr lang="en-US" altLang="en-US" sz="2400" dirty="0" smtClean="0">
                <a:solidFill>
                  <a:srgbClr val="000000"/>
                </a:solidFill>
              </a:rPr>
              <a:t>) By SBR, F={A0, A2, A3, A5, A6, A7, A9} and    </a:t>
            </a:r>
          </a:p>
          <a:p>
            <a:pPr>
              <a:buNone/>
            </a:pPr>
            <a:r>
              <a:rPr lang="en-US" altLang="en-US" sz="2400" dirty="0" smtClean="0">
                <a:solidFill>
                  <a:srgbClr val="000000"/>
                </a:solidFill>
              </a:rPr>
              <a:t>                   A={</a:t>
            </a:r>
            <a:r>
              <a:rPr lang="en-US" altLang="en-US" sz="2400" dirty="0" smtClean="0">
                <a:solidFill>
                  <a:srgbClr val="FF0000"/>
                </a:solidFill>
              </a:rPr>
              <a:t>A1</a:t>
            </a:r>
            <a:r>
              <a:rPr lang="en-US" altLang="en-US" sz="2400" dirty="0" smtClean="0">
                <a:solidFill>
                  <a:srgbClr val="000000"/>
                </a:solidFill>
              </a:rPr>
              <a:t>, </a:t>
            </a:r>
            <a:r>
              <a:rPr lang="en-US" altLang="en-US" sz="2400" dirty="0" smtClean="0">
                <a:solidFill>
                  <a:srgbClr val="FF0000"/>
                </a:solidFill>
              </a:rPr>
              <a:t>A4</a:t>
            </a:r>
            <a:r>
              <a:rPr lang="en-US" altLang="en-US" sz="2400" dirty="0" smtClean="0">
                <a:solidFill>
                  <a:srgbClr val="000000"/>
                </a:solidFill>
              </a:rPr>
              <a:t>, </a:t>
            </a:r>
            <a:r>
              <a:rPr lang="en-US" altLang="en-US" sz="2400" dirty="0" smtClean="0">
                <a:solidFill>
                  <a:srgbClr val="FF0000"/>
                </a:solidFill>
              </a:rPr>
              <a:t>A8</a:t>
            </a:r>
            <a:r>
              <a:rPr lang="en-US" altLang="en-US" sz="2400" dirty="0" smtClean="0">
                <a:solidFill>
                  <a:srgbClr val="000000"/>
                </a:solidFill>
              </a:rPr>
              <a:t>}</a:t>
            </a:r>
          </a:p>
          <a:p>
            <a:pPr lvl="1">
              <a:buNone/>
            </a:pPr>
            <a:r>
              <a:rPr lang="en-US" altLang="en-US" sz="2400" dirty="0" smtClean="0">
                <a:solidFill>
                  <a:srgbClr val="000000"/>
                </a:solidFill>
              </a:rPr>
              <a:t>  (ii) By SFS, F={A0, A2, </a:t>
            </a:r>
            <a:r>
              <a:rPr lang="en-US" altLang="en-US" sz="2400" dirty="0" smtClean="0">
                <a:solidFill>
                  <a:srgbClr val="FF0000"/>
                </a:solidFill>
              </a:rPr>
              <a:t>A1</a:t>
            </a:r>
            <a:r>
              <a:rPr lang="en-US" altLang="en-US" sz="2400" dirty="0" smtClean="0">
                <a:solidFill>
                  <a:srgbClr val="000000"/>
                </a:solidFill>
              </a:rPr>
              <a:t>, A3, A5, A6, A7, </a:t>
            </a:r>
            <a:r>
              <a:rPr lang="en-US" altLang="en-US" sz="2400" dirty="0" smtClean="0">
                <a:solidFill>
                  <a:srgbClr val="FF0000"/>
                </a:solidFill>
              </a:rPr>
              <a:t>A8</a:t>
            </a:r>
            <a:r>
              <a:rPr lang="en-US" altLang="en-US" sz="2400" dirty="0" smtClean="0">
                <a:solidFill>
                  <a:srgbClr val="000000"/>
                </a:solidFill>
              </a:rPr>
              <a:t>, A9}, say; and now A ={A4} </a:t>
            </a:r>
          </a:p>
          <a:p>
            <a:r>
              <a:rPr lang="en-IN" altLang="en-US" sz="2400" dirty="0" smtClean="0">
                <a:solidFill>
                  <a:srgbClr val="FF0000"/>
                </a:solidFill>
              </a:rPr>
              <a:t>Step 2: </a:t>
            </a:r>
            <a:r>
              <a:rPr lang="en-IN" altLang="en-US" sz="2400" dirty="0" smtClean="0">
                <a:solidFill>
                  <a:srgbClr val="000000"/>
                </a:solidFill>
              </a:rPr>
              <a:t>(</a:t>
            </a:r>
            <a:r>
              <a:rPr lang="en-IN" altLang="en-US" sz="2400" dirty="0" err="1" smtClean="0">
                <a:solidFill>
                  <a:srgbClr val="000000"/>
                </a:solidFill>
              </a:rPr>
              <a:t>i</a:t>
            </a:r>
            <a:r>
              <a:rPr lang="en-IN" altLang="en-US" sz="2400" dirty="0" smtClean="0">
                <a:solidFill>
                  <a:srgbClr val="000000"/>
                </a:solidFill>
              </a:rPr>
              <a:t>) </a:t>
            </a:r>
            <a:r>
              <a:rPr lang="en-US" altLang="en-US" sz="2400" dirty="0" smtClean="0">
                <a:solidFill>
                  <a:srgbClr val="000000"/>
                </a:solidFill>
              </a:rPr>
              <a:t>By SBR, F={A1, A2, A3, A6, A8, A9}, say; and   A={</a:t>
            </a:r>
            <a:r>
              <a:rPr lang="en-US" altLang="en-US" sz="2400" dirty="0" smtClean="0">
                <a:solidFill>
                  <a:srgbClr val="0070C0"/>
                </a:solidFill>
              </a:rPr>
              <a:t>A0</a:t>
            </a:r>
            <a:r>
              <a:rPr lang="en-US" altLang="en-US" sz="2400" dirty="0" smtClean="0">
                <a:solidFill>
                  <a:srgbClr val="000000"/>
                </a:solidFill>
              </a:rPr>
              <a:t>, A4, </a:t>
            </a:r>
            <a:r>
              <a:rPr lang="en-US" altLang="en-US" sz="2400" dirty="0" smtClean="0">
                <a:solidFill>
                  <a:srgbClr val="0070C0"/>
                </a:solidFill>
              </a:rPr>
              <a:t>A5</a:t>
            </a:r>
            <a:r>
              <a:rPr lang="en-US" altLang="en-US" sz="2400" dirty="0" smtClean="0">
                <a:solidFill>
                  <a:srgbClr val="000000"/>
                </a:solidFill>
              </a:rPr>
              <a:t>, </a:t>
            </a:r>
            <a:r>
              <a:rPr lang="en-US" altLang="en-US" sz="2400" dirty="0" smtClean="0">
                <a:solidFill>
                  <a:srgbClr val="0070C0"/>
                </a:solidFill>
              </a:rPr>
              <a:t>A7</a:t>
            </a:r>
            <a:r>
              <a:rPr lang="en-US" altLang="en-US" sz="2400" dirty="0" smtClean="0">
                <a:solidFill>
                  <a:srgbClr val="000000"/>
                </a:solidFill>
              </a:rPr>
              <a:t>} </a:t>
            </a:r>
          </a:p>
          <a:p>
            <a:pPr lvl="1">
              <a:buNone/>
            </a:pPr>
            <a:r>
              <a:rPr lang="en-US" altLang="en-US" sz="2400" dirty="0" smtClean="0">
                <a:solidFill>
                  <a:srgbClr val="000000"/>
                </a:solidFill>
              </a:rPr>
              <a:t>(ii) By SFS, F ={A1, A2, A3, </a:t>
            </a:r>
            <a:r>
              <a:rPr lang="en-US" altLang="en-US" sz="2400" dirty="0" smtClean="0">
                <a:solidFill>
                  <a:srgbClr val="0070C0"/>
                </a:solidFill>
              </a:rPr>
              <a:t>A5</a:t>
            </a:r>
            <a:r>
              <a:rPr lang="en-US" altLang="en-US" sz="2400" dirty="0" smtClean="0">
                <a:solidFill>
                  <a:srgbClr val="000000"/>
                </a:solidFill>
              </a:rPr>
              <a:t>, A6, A7, A8, A9}, say ; </a:t>
            </a:r>
          </a:p>
          <a:p>
            <a:pPr lvl="1">
              <a:buNone/>
            </a:pPr>
            <a:r>
              <a:rPr lang="en-US" altLang="en-US" sz="2400" dirty="0" smtClean="0">
                <a:solidFill>
                  <a:srgbClr val="000000"/>
                </a:solidFill>
              </a:rPr>
              <a:t>  and now A ={A0, A4} </a:t>
            </a:r>
          </a:p>
          <a:p>
            <a:pPr lvl="1">
              <a:buNone/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endParaRPr lang="en-US" altLang="en-US" sz="2200" dirty="0" smtClean="0"/>
          </a:p>
          <a:p>
            <a:pPr lvl="1"/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524006"/>
          </a:xfrm>
        </p:spPr>
        <p:txBody>
          <a:bodyPr/>
          <a:lstStyle/>
          <a:p>
            <a:r>
              <a:rPr lang="en-US" altLang="en-US" sz="2800" b="1" dirty="0" smtClean="0"/>
              <a:t>Is there any difference between Ex-2(ii): LRS</a:t>
            </a:r>
            <a:endParaRPr lang="en-US" altLang="en-US" sz="2800" dirty="0" smtClean="0"/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500034" y="928670"/>
            <a:ext cx="7678762" cy="5715040"/>
          </a:xfrm>
        </p:spPr>
        <p:txBody>
          <a:bodyPr/>
          <a:lstStyle/>
          <a:p>
            <a:r>
              <a:rPr lang="en-US" altLang="en-US" sz="2400" dirty="0" smtClean="0">
                <a:solidFill>
                  <a:srgbClr val="000000"/>
                </a:solidFill>
              </a:rPr>
              <a:t>Let A = {A0, A1, A2, A3, A4, A5, A6, A7, A8, A9} </a:t>
            </a:r>
          </a:p>
          <a:p>
            <a:r>
              <a:rPr lang="en-US" altLang="en-US" sz="2400" dirty="0" smtClean="0">
                <a:solidFill>
                  <a:srgbClr val="000000"/>
                </a:solidFill>
              </a:rPr>
              <a:t>Let F = {A0, A1, A2, A3, A4, A5, A6, A7, A8, A9}, L=2, and R=3</a:t>
            </a:r>
          </a:p>
          <a:p>
            <a:r>
              <a:rPr lang="en-US" altLang="en-US" sz="2400" dirty="0" smtClean="0">
                <a:solidFill>
                  <a:srgbClr val="000000"/>
                </a:solidFill>
              </a:rPr>
              <a:t>As R &gt; L, repeat following steps </a:t>
            </a:r>
            <a:r>
              <a:rPr lang="en-US" altLang="en-US" sz="2400" dirty="0" smtClean="0">
                <a:solidFill>
                  <a:srgbClr val="000000"/>
                </a:solidFill>
                <a:cs typeface="Arial" charset="0"/>
              </a:rPr>
              <a:t>until a predefined number of features are left.</a:t>
            </a:r>
            <a:endParaRPr lang="en-US" altLang="en-US" sz="2400" dirty="0" smtClean="0">
              <a:solidFill>
                <a:srgbClr val="000000"/>
              </a:solidFill>
            </a:endParaRPr>
          </a:p>
          <a:p>
            <a:r>
              <a:rPr lang="en-IN" altLang="en-US" sz="2400" dirty="0" smtClean="0">
                <a:solidFill>
                  <a:srgbClr val="FF0000"/>
                </a:solidFill>
              </a:rPr>
              <a:t>Step 1:</a:t>
            </a:r>
            <a:r>
              <a:rPr lang="en-US" altLang="en-US" sz="2400" dirty="0" smtClean="0">
                <a:solidFill>
                  <a:srgbClr val="000000"/>
                </a:solidFill>
              </a:rPr>
              <a:t> (</a:t>
            </a:r>
            <a:r>
              <a:rPr lang="en-US" altLang="en-US" sz="2400" dirty="0" err="1" smtClean="0">
                <a:solidFill>
                  <a:srgbClr val="000000"/>
                </a:solidFill>
              </a:rPr>
              <a:t>i</a:t>
            </a:r>
            <a:r>
              <a:rPr lang="en-US" altLang="en-US" sz="2400" dirty="0" smtClean="0">
                <a:solidFill>
                  <a:srgbClr val="000000"/>
                </a:solidFill>
              </a:rPr>
              <a:t>) By SBR, F={A0, A2, A3, A5, A6, A7, A9} and    </a:t>
            </a:r>
          </a:p>
          <a:p>
            <a:pPr>
              <a:buNone/>
            </a:pPr>
            <a:r>
              <a:rPr lang="en-US" altLang="en-US" sz="2400" dirty="0" smtClean="0">
                <a:solidFill>
                  <a:srgbClr val="000000"/>
                </a:solidFill>
              </a:rPr>
              <a:t>                   A={A0, </a:t>
            </a:r>
            <a:r>
              <a:rPr lang="en-US" altLang="en-US" sz="2400" dirty="0" smtClean="0">
                <a:solidFill>
                  <a:srgbClr val="FF0000"/>
                </a:solidFill>
              </a:rPr>
              <a:t>A1</a:t>
            </a:r>
            <a:r>
              <a:rPr lang="en-US" altLang="en-US" sz="2400" dirty="0" smtClean="0">
                <a:solidFill>
                  <a:srgbClr val="000000"/>
                </a:solidFill>
              </a:rPr>
              <a:t>, A2, A3, </a:t>
            </a:r>
            <a:r>
              <a:rPr lang="en-US" altLang="en-US" sz="2400" dirty="0" smtClean="0">
                <a:solidFill>
                  <a:srgbClr val="FF0000"/>
                </a:solidFill>
              </a:rPr>
              <a:t>A4</a:t>
            </a:r>
            <a:r>
              <a:rPr lang="en-US" altLang="en-US" sz="2400" dirty="0" smtClean="0">
                <a:solidFill>
                  <a:srgbClr val="000000"/>
                </a:solidFill>
              </a:rPr>
              <a:t>, A5, A6, A7, </a:t>
            </a:r>
            <a:r>
              <a:rPr lang="en-US" altLang="en-US" sz="2400" dirty="0" smtClean="0">
                <a:solidFill>
                  <a:srgbClr val="FF0000"/>
                </a:solidFill>
              </a:rPr>
              <a:t>A8</a:t>
            </a:r>
            <a:r>
              <a:rPr lang="en-US" altLang="en-US" sz="2400" dirty="0" smtClean="0">
                <a:solidFill>
                  <a:srgbClr val="000000"/>
                </a:solidFill>
              </a:rPr>
              <a:t>, A9}</a:t>
            </a:r>
          </a:p>
          <a:p>
            <a:pPr lvl="1">
              <a:buNone/>
            </a:pPr>
            <a:r>
              <a:rPr lang="en-US" altLang="en-US" sz="2400" dirty="0" smtClean="0">
                <a:solidFill>
                  <a:srgbClr val="000000"/>
                </a:solidFill>
              </a:rPr>
              <a:t>        (ii) By SFS, F={A0, A2, </a:t>
            </a:r>
            <a:r>
              <a:rPr lang="en-US" altLang="en-US" sz="2400" dirty="0" smtClean="0">
                <a:solidFill>
                  <a:srgbClr val="FF0000"/>
                </a:solidFill>
              </a:rPr>
              <a:t>A3</a:t>
            </a:r>
            <a:r>
              <a:rPr lang="en-US" altLang="en-US" sz="2400" dirty="0" smtClean="0">
                <a:solidFill>
                  <a:srgbClr val="000000"/>
                </a:solidFill>
              </a:rPr>
              <a:t>, A5, A6, </a:t>
            </a:r>
            <a:r>
              <a:rPr lang="en-US" altLang="en-US" sz="2400" dirty="0" smtClean="0">
                <a:solidFill>
                  <a:srgbClr val="FF0000"/>
                </a:solidFill>
              </a:rPr>
              <a:t>A7</a:t>
            </a:r>
            <a:r>
              <a:rPr lang="en-US" altLang="en-US" sz="2400" dirty="0" smtClean="0">
                <a:solidFill>
                  <a:srgbClr val="000000"/>
                </a:solidFill>
              </a:rPr>
              <a:t>, A9}, say; </a:t>
            </a:r>
          </a:p>
          <a:p>
            <a:pPr lvl="1">
              <a:buNone/>
            </a:pPr>
            <a:r>
              <a:rPr lang="en-US" altLang="en-US" sz="2400" dirty="0" smtClean="0">
                <a:solidFill>
                  <a:srgbClr val="000000"/>
                </a:solidFill>
              </a:rPr>
              <a:t>             and now A ={A0, A1, A2, A4, A5, A6, A8, A9} </a:t>
            </a:r>
          </a:p>
          <a:p>
            <a:r>
              <a:rPr lang="en-IN" altLang="en-US" sz="2400" dirty="0" smtClean="0">
                <a:solidFill>
                  <a:srgbClr val="FF0000"/>
                </a:solidFill>
              </a:rPr>
              <a:t>Step 2: </a:t>
            </a:r>
            <a:r>
              <a:rPr lang="en-IN" altLang="en-US" sz="2400" dirty="0" smtClean="0">
                <a:solidFill>
                  <a:srgbClr val="000000"/>
                </a:solidFill>
              </a:rPr>
              <a:t>(</a:t>
            </a:r>
            <a:r>
              <a:rPr lang="en-IN" altLang="en-US" sz="2400" dirty="0" err="1" smtClean="0">
                <a:solidFill>
                  <a:srgbClr val="000000"/>
                </a:solidFill>
              </a:rPr>
              <a:t>i</a:t>
            </a:r>
            <a:r>
              <a:rPr lang="en-IN" altLang="en-US" sz="2400" dirty="0" smtClean="0">
                <a:solidFill>
                  <a:srgbClr val="000000"/>
                </a:solidFill>
              </a:rPr>
              <a:t>) </a:t>
            </a:r>
            <a:r>
              <a:rPr lang="en-US" altLang="en-US" sz="2400" dirty="0" smtClean="0">
                <a:solidFill>
                  <a:srgbClr val="000000"/>
                </a:solidFill>
              </a:rPr>
              <a:t>By SBR, F={A2, A3, A6, A9}, say; and   </a:t>
            </a:r>
          </a:p>
          <a:p>
            <a:pPr>
              <a:buNone/>
            </a:pPr>
            <a:r>
              <a:rPr lang="en-US" altLang="en-US" sz="2400" dirty="0" smtClean="0">
                <a:solidFill>
                  <a:srgbClr val="000000"/>
                </a:solidFill>
              </a:rPr>
              <a:t>                     A={</a:t>
            </a:r>
            <a:r>
              <a:rPr lang="en-US" altLang="en-US" sz="2400" dirty="0" smtClean="0">
                <a:solidFill>
                  <a:srgbClr val="0070C0"/>
                </a:solidFill>
              </a:rPr>
              <a:t>A0</a:t>
            </a:r>
            <a:r>
              <a:rPr lang="en-US" altLang="en-US" sz="2400" dirty="0" smtClean="0">
                <a:solidFill>
                  <a:srgbClr val="000000"/>
                </a:solidFill>
              </a:rPr>
              <a:t>, A1, A2, A4, </a:t>
            </a:r>
            <a:r>
              <a:rPr lang="en-US" altLang="en-US" sz="2400" dirty="0" smtClean="0">
                <a:solidFill>
                  <a:srgbClr val="0070C0"/>
                </a:solidFill>
              </a:rPr>
              <a:t>A5</a:t>
            </a:r>
            <a:r>
              <a:rPr lang="en-US" altLang="en-US" sz="2400" dirty="0" smtClean="0">
                <a:solidFill>
                  <a:srgbClr val="000000"/>
                </a:solidFill>
              </a:rPr>
              <a:t>, A6, </a:t>
            </a:r>
            <a:r>
              <a:rPr lang="en-US" altLang="en-US" sz="2400" dirty="0" smtClean="0">
                <a:solidFill>
                  <a:srgbClr val="FF0000"/>
                </a:solidFill>
              </a:rPr>
              <a:t>A7</a:t>
            </a:r>
            <a:r>
              <a:rPr lang="en-US" altLang="en-US" sz="2400" dirty="0" smtClean="0">
                <a:solidFill>
                  <a:srgbClr val="000000"/>
                </a:solidFill>
              </a:rPr>
              <a:t>, A8, A9} </a:t>
            </a:r>
          </a:p>
          <a:p>
            <a:pPr lvl="1">
              <a:buNone/>
            </a:pPr>
            <a:r>
              <a:rPr lang="en-US" altLang="en-US" sz="2400" dirty="0" smtClean="0">
                <a:solidFill>
                  <a:srgbClr val="000000"/>
                </a:solidFill>
              </a:rPr>
              <a:t>	      (ii) By SFS, F ={</a:t>
            </a:r>
            <a:r>
              <a:rPr lang="en-US" altLang="en-US" sz="2400" dirty="0" smtClean="0">
                <a:solidFill>
                  <a:srgbClr val="FF0000"/>
                </a:solidFill>
              </a:rPr>
              <a:t>A1</a:t>
            </a:r>
            <a:r>
              <a:rPr lang="en-US" altLang="en-US" sz="2400" dirty="0" smtClean="0">
                <a:solidFill>
                  <a:srgbClr val="000000"/>
                </a:solidFill>
              </a:rPr>
              <a:t>, A2, A3, </a:t>
            </a:r>
            <a:r>
              <a:rPr lang="en-US" altLang="en-US" sz="2400" dirty="0" smtClean="0">
                <a:solidFill>
                  <a:srgbClr val="0070C0"/>
                </a:solidFill>
              </a:rPr>
              <a:t>A5</a:t>
            </a:r>
            <a:r>
              <a:rPr lang="en-US" altLang="en-US" sz="2400" dirty="0" smtClean="0">
                <a:solidFill>
                  <a:srgbClr val="000000"/>
                </a:solidFill>
              </a:rPr>
              <a:t>, A6, A9}, say ; </a:t>
            </a:r>
          </a:p>
          <a:p>
            <a:pPr lvl="1">
              <a:buNone/>
            </a:pPr>
            <a:r>
              <a:rPr lang="en-US" altLang="en-US" sz="2400" dirty="0" smtClean="0">
                <a:solidFill>
                  <a:srgbClr val="000000"/>
                </a:solidFill>
              </a:rPr>
              <a:t>              and now A ={A0, A2, A4, A6, </a:t>
            </a:r>
            <a:r>
              <a:rPr lang="en-US" altLang="en-US" sz="2400" dirty="0" smtClean="0"/>
              <a:t>A7</a:t>
            </a:r>
            <a:r>
              <a:rPr lang="en-US" altLang="en-US" sz="2400" dirty="0" smtClean="0">
                <a:solidFill>
                  <a:srgbClr val="000000"/>
                </a:solidFill>
              </a:rPr>
              <a:t>, A8, A9} </a:t>
            </a:r>
          </a:p>
          <a:p>
            <a:pPr lvl="1">
              <a:buNone/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endParaRPr lang="en-US" altLang="en-US" sz="2200" dirty="0" smtClean="0"/>
          </a:p>
          <a:p>
            <a:pPr lvl="1"/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1143000"/>
          </a:xfrm>
        </p:spPr>
        <p:txBody>
          <a:bodyPr/>
          <a:lstStyle/>
          <a:p>
            <a:r>
              <a:rPr lang="en-US" altLang="en-US" sz="2400" b="1" dirty="0" smtClean="0">
                <a:solidFill>
                  <a:srgbClr val="000000"/>
                </a:solidFill>
                <a:latin typeface="Arial"/>
                <a:cs typeface="Arial"/>
              </a:rPr>
              <a:t>Step-wise Floating Forward Selection (SFFS) </a:t>
            </a:r>
            <a:r>
              <a:rPr lang="en-US" altLang="en-US" sz="2400" b="1" dirty="0">
                <a:solidFill>
                  <a:srgbClr val="000000"/>
                </a:solidFill>
                <a:latin typeface="Arial"/>
                <a:cs typeface="Arial"/>
              </a:rPr>
              <a:t>and Step-wise Floating </a:t>
            </a:r>
            <a:r>
              <a:rPr lang="en-US" altLang="en-US" sz="2400" b="1" dirty="0" smtClean="0">
                <a:solidFill>
                  <a:srgbClr val="000000"/>
                </a:solidFill>
                <a:latin typeface="Arial"/>
                <a:cs typeface="Arial"/>
              </a:rPr>
              <a:t>backward Removal (SFBR)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683568" y="1556792"/>
            <a:ext cx="7772400" cy="4323184"/>
          </a:xfrm>
        </p:spPr>
        <p:txBody>
          <a:bodyPr/>
          <a:lstStyle/>
          <a:p>
            <a:r>
              <a:rPr lang="en-US" altLang="en-US" sz="2400" dirty="0" smtClean="0"/>
              <a:t>An extension to LRS:</a:t>
            </a:r>
          </a:p>
          <a:p>
            <a:pPr lvl="1" algn="just"/>
            <a:r>
              <a:rPr lang="en-US" altLang="en-US" sz="2200" dirty="0" smtClean="0">
                <a:solidFill>
                  <a:srgbClr val="000000"/>
                </a:solidFill>
                <a:latin typeface="Arial"/>
                <a:cs typeface="Arial"/>
              </a:rPr>
              <a:t>Rather than fixing the values of L and R, floating i.e., dynamic method of determine these values from the data.</a:t>
            </a:r>
          </a:p>
          <a:p>
            <a:pPr lvl="1" algn="just"/>
            <a:r>
              <a:rPr lang="en-US" altLang="en-US" sz="2200" dirty="0" smtClean="0">
                <a:solidFill>
                  <a:srgbClr val="000000"/>
                </a:solidFill>
                <a:latin typeface="Arial"/>
                <a:cs typeface="Arial"/>
              </a:rPr>
              <a:t>The size of the subset during the search can be thought to be “floating” up and down</a:t>
            </a:r>
          </a:p>
          <a:p>
            <a:pPr marL="0" indent="0" algn="just">
              <a:buNone/>
            </a:pPr>
            <a:endParaRPr lang="en-US" altLang="en-US" sz="2400" dirty="0" smtClean="0"/>
          </a:p>
          <a:p>
            <a:pPr marL="457200" lvl="1" indent="0">
              <a:buNone/>
            </a:pPr>
            <a:endParaRPr lang="en-US" altLang="en-US" sz="2000" dirty="0" smtClean="0"/>
          </a:p>
        </p:txBody>
      </p:sp>
      <p:sp>
        <p:nvSpPr>
          <p:cNvPr id="46084" name="Rectangle 3"/>
          <p:cNvSpPr>
            <a:spLocks noChangeArrowheads="1"/>
          </p:cNvSpPr>
          <p:nvPr/>
        </p:nvSpPr>
        <p:spPr bwMode="auto">
          <a:xfrm>
            <a:off x="683568" y="4365104"/>
            <a:ext cx="54006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Arial" charset="0"/>
              </a:rPr>
              <a:t>P. </a:t>
            </a:r>
            <a:r>
              <a:rPr lang="en-US" altLang="en-US" sz="1800" dirty="0" err="1">
                <a:solidFill>
                  <a:srgbClr val="000000"/>
                </a:solidFill>
                <a:latin typeface="Arial" charset="0"/>
              </a:rPr>
              <a:t>Pudil</a:t>
            </a:r>
            <a:r>
              <a:rPr lang="en-US" altLang="en-US" sz="1800" dirty="0">
                <a:solidFill>
                  <a:srgbClr val="000000"/>
                </a:solidFill>
                <a:latin typeface="Arial" charset="0"/>
              </a:rPr>
              <a:t>, J. </a:t>
            </a:r>
            <a:r>
              <a:rPr lang="en-US" altLang="en-US" sz="1800" dirty="0" err="1">
                <a:solidFill>
                  <a:srgbClr val="000000"/>
                </a:solidFill>
                <a:latin typeface="Arial" charset="0"/>
              </a:rPr>
              <a:t>Novovicova</a:t>
            </a:r>
            <a:r>
              <a:rPr lang="en-US" altLang="en-US" sz="1800" dirty="0">
                <a:solidFill>
                  <a:srgbClr val="000000"/>
                </a:solidFill>
                <a:latin typeface="Arial" charset="0"/>
              </a:rPr>
              <a:t>, J. Kittler, Floating search methods in feature selection, Pattern Recognition </a:t>
            </a:r>
            <a:r>
              <a:rPr lang="en-US" altLang="en-US" sz="1800" dirty="0" err="1">
                <a:solidFill>
                  <a:srgbClr val="000000"/>
                </a:solidFill>
                <a:latin typeface="Arial" charset="0"/>
              </a:rPr>
              <a:t>Lett</a:t>
            </a:r>
            <a:r>
              <a:rPr lang="en-US" altLang="en-US" sz="1800" dirty="0">
                <a:solidFill>
                  <a:srgbClr val="000000"/>
                </a:solidFill>
                <a:latin typeface="Arial" charset="0"/>
              </a:rPr>
              <a:t>. 15 (1994) 1119–1125.</a:t>
            </a:r>
          </a:p>
        </p:txBody>
      </p:sp>
      <p:pic>
        <p:nvPicPr>
          <p:cNvPr id="4608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72200" y="3573016"/>
            <a:ext cx="1872208" cy="233928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803176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0000"/>
                </a:solidFill>
                <a:latin typeface="Arial"/>
                <a:cs typeface="Arial"/>
              </a:rPr>
              <a:t>Step-wise Floating Forward Selection (SFFS</a:t>
            </a:r>
            <a:r>
              <a:rPr lang="en-US" altLang="en-US" sz="2400" b="1" dirty="0" smtClean="0">
                <a:solidFill>
                  <a:srgbClr val="000000"/>
                </a:solidFill>
                <a:latin typeface="Arial"/>
                <a:cs typeface="Arial"/>
              </a:rPr>
              <a:t>)</a:t>
            </a:r>
            <a:endParaRPr lang="en-US" altLang="en-US" sz="3600" b="1" dirty="0" smtClean="0"/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683568" y="1142984"/>
            <a:ext cx="7772400" cy="4600616"/>
          </a:xfrm>
        </p:spPr>
        <p:txBody>
          <a:bodyPr/>
          <a:lstStyle/>
          <a:p>
            <a:r>
              <a:rPr lang="en-US" altLang="en-US" sz="2600" dirty="0" smtClean="0">
                <a:solidFill>
                  <a:srgbClr val="000000"/>
                </a:solidFill>
                <a:latin typeface="Arial"/>
                <a:cs typeface="Arial"/>
              </a:rPr>
              <a:t>SFFS starts from the empty set.</a:t>
            </a:r>
          </a:p>
          <a:p>
            <a:r>
              <a:rPr lang="en-US" altLang="en-US" sz="2600" dirty="0" smtClean="0">
                <a:solidFill>
                  <a:srgbClr val="000000"/>
                </a:solidFill>
                <a:latin typeface="Arial"/>
                <a:cs typeface="Arial"/>
              </a:rPr>
              <a:t>After each forward step, SFFS performs multiple backward steps as long as the objective function increases.</a:t>
            </a:r>
          </a:p>
          <a:p>
            <a:pPr>
              <a:buNone/>
            </a:pPr>
            <a:r>
              <a:rPr lang="en-IN" altLang="en-US" sz="2600" dirty="0" smtClean="0">
                <a:solidFill>
                  <a:srgbClr val="000000"/>
                </a:solidFill>
                <a:latin typeface="Arial"/>
                <a:cs typeface="Arial"/>
              </a:rPr>
              <a:t>Example:</a:t>
            </a:r>
          </a:p>
          <a:p>
            <a:r>
              <a:rPr lang="en-US" altLang="en-US" sz="2800" dirty="0" smtClean="0">
                <a:solidFill>
                  <a:srgbClr val="000000"/>
                </a:solidFill>
              </a:rPr>
              <a:t>Let A = {A0, A1, A2, A3, A4, A5, A6, A7, A8, A9} and F = { }</a:t>
            </a:r>
          </a:p>
          <a:p>
            <a:r>
              <a:rPr lang="en-US" altLang="en-US" sz="2800" dirty="0" smtClean="0">
                <a:solidFill>
                  <a:srgbClr val="000000"/>
                </a:solidFill>
              </a:rPr>
              <a:t> </a:t>
            </a:r>
            <a:r>
              <a:rPr lang="en-IN" altLang="en-US" sz="2800" dirty="0" smtClean="0">
                <a:solidFill>
                  <a:srgbClr val="FF0000"/>
                </a:solidFill>
              </a:rPr>
              <a:t>Step 1:</a:t>
            </a:r>
            <a:r>
              <a:rPr lang="en-US" altLang="en-US" sz="2800" dirty="0" smtClean="0">
                <a:solidFill>
                  <a:srgbClr val="000000"/>
                </a:solidFill>
              </a:rPr>
              <a:t> By SFS (only once), F={A4}, say; and  by multiple SBR, F={A4}, and A={A0, A1, A2, A3, A5, A6, A7, A8, A9} </a:t>
            </a:r>
          </a:p>
          <a:p>
            <a:pPr>
              <a:buNone/>
            </a:pPr>
            <a:r>
              <a:rPr lang="en-US" altLang="en-US" sz="2800" dirty="0" smtClean="0">
                <a:solidFill>
                  <a:srgbClr val="000000"/>
                </a:solidFill>
              </a:rPr>
              <a:t>                     </a:t>
            </a:r>
          </a:p>
          <a:p>
            <a:endParaRPr lang="en-US" altLang="en-US" sz="2800" dirty="0" smtClean="0">
              <a:solidFill>
                <a:srgbClr val="000000"/>
              </a:solidFill>
            </a:endParaRPr>
          </a:p>
          <a:p>
            <a:pPr>
              <a:buNone/>
            </a:pPr>
            <a:endParaRPr lang="en-US" altLang="en-US" sz="26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altLang="en-US" sz="260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None/>
            </a:pPr>
            <a:endParaRPr lang="en-US" altLang="en-US" sz="26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altLang="en-US" sz="260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None/>
            </a:pPr>
            <a:endParaRPr lang="en-US" altLang="en-US" sz="2600" dirty="0" smtClean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803176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0000"/>
                </a:solidFill>
                <a:latin typeface="Arial"/>
                <a:cs typeface="Arial"/>
              </a:rPr>
              <a:t>Step-wise Floating Forward Selection (SFFS</a:t>
            </a:r>
            <a:r>
              <a:rPr lang="en-US" altLang="en-US" sz="2400" b="1" dirty="0" smtClean="0">
                <a:solidFill>
                  <a:srgbClr val="000000"/>
                </a:solidFill>
                <a:latin typeface="Arial"/>
                <a:cs typeface="Arial"/>
              </a:rPr>
              <a:t>)</a:t>
            </a:r>
            <a:endParaRPr lang="en-US" altLang="en-US" sz="3600" b="1" dirty="0" smtClean="0"/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683568" y="1142984"/>
            <a:ext cx="7772400" cy="4600616"/>
          </a:xfrm>
        </p:spPr>
        <p:txBody>
          <a:bodyPr/>
          <a:lstStyle/>
          <a:p>
            <a:endParaRPr lang="en-US" altLang="en-US" sz="26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en-IN" altLang="en-US" sz="2400" dirty="0" smtClean="0">
                <a:solidFill>
                  <a:srgbClr val="FF0000"/>
                </a:solidFill>
              </a:rPr>
              <a:t>Step 2:</a:t>
            </a:r>
            <a:r>
              <a:rPr lang="en-US" altLang="en-US" sz="2400" dirty="0" smtClean="0">
                <a:solidFill>
                  <a:srgbClr val="000000"/>
                </a:solidFill>
              </a:rPr>
              <a:t> By SFS (only once), F={A4, A7}, say; and  by multiple SBR, F={A4, A7}, say; and A={A0, A1, A2, A3, A5, A6, A8, A9} </a:t>
            </a:r>
          </a:p>
          <a:p>
            <a:r>
              <a:rPr lang="en-IN" altLang="en-US" sz="2400" dirty="0" smtClean="0">
                <a:solidFill>
                  <a:srgbClr val="FF0000"/>
                </a:solidFill>
              </a:rPr>
              <a:t>Step 3: </a:t>
            </a:r>
            <a:r>
              <a:rPr lang="en-US" altLang="en-US" sz="2400" dirty="0" smtClean="0">
                <a:solidFill>
                  <a:srgbClr val="000000"/>
                </a:solidFill>
              </a:rPr>
              <a:t>By SFS (only once), F={A4, A7, A9}, say; and  by multiple SBR, F={A4, A9}, say; and A={A0, A1, A2, A3, A5, A6, A7, A8} </a:t>
            </a:r>
          </a:p>
          <a:p>
            <a:endParaRPr lang="en-IN" altLang="en-US" sz="2400" dirty="0" smtClean="0">
              <a:solidFill>
                <a:srgbClr val="000000"/>
              </a:solidFill>
            </a:endParaRPr>
          </a:p>
          <a:p>
            <a:r>
              <a:rPr lang="en-IN" altLang="en-US" sz="2400" dirty="0" smtClean="0">
                <a:solidFill>
                  <a:srgbClr val="000000"/>
                </a:solidFill>
              </a:rPr>
              <a:t>Repeat until </a:t>
            </a:r>
            <a:r>
              <a:rPr lang="en-US" altLang="en-US" sz="2400" dirty="0" smtClean="0">
                <a:solidFill>
                  <a:srgbClr val="000000"/>
                </a:solidFill>
                <a:cs typeface="Arial" charset="0"/>
              </a:rPr>
              <a:t>a predefined number of features are selected</a:t>
            </a:r>
            <a:endParaRPr lang="en-US" altLang="en-US" sz="24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altLang="en-US" sz="2600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altLang="en-US" sz="2600" dirty="0" smtClean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803176"/>
          </a:xfrm>
        </p:spPr>
        <p:txBody>
          <a:bodyPr/>
          <a:lstStyle/>
          <a:p>
            <a:r>
              <a:rPr lang="en-US" altLang="en-US" sz="2400" b="1" dirty="0" smtClean="0">
                <a:solidFill>
                  <a:srgbClr val="000000"/>
                </a:solidFill>
                <a:latin typeface="Arial"/>
                <a:cs typeface="Arial"/>
              </a:rPr>
              <a:t>Step-wise </a:t>
            </a:r>
            <a:r>
              <a:rPr lang="en-US" altLang="en-US" sz="2400" b="1" dirty="0">
                <a:solidFill>
                  <a:srgbClr val="000000"/>
                </a:solidFill>
                <a:latin typeface="Arial"/>
                <a:cs typeface="Arial"/>
              </a:rPr>
              <a:t>Floating backward Removal (SFBR)</a:t>
            </a:r>
            <a:endParaRPr lang="en-US" altLang="en-US" sz="3600" b="1" dirty="0" smtClean="0"/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683568" y="1214422"/>
            <a:ext cx="7772400" cy="5072098"/>
          </a:xfrm>
        </p:spPr>
        <p:txBody>
          <a:bodyPr/>
          <a:lstStyle/>
          <a:p>
            <a:pPr marL="514350" indent="-457200"/>
            <a:r>
              <a:rPr lang="en-US" altLang="en-US" sz="2600" dirty="0" smtClean="0">
                <a:solidFill>
                  <a:srgbClr val="000000"/>
                </a:solidFill>
                <a:latin typeface="Arial"/>
                <a:cs typeface="Arial"/>
              </a:rPr>
              <a:t>SFBR starts </a:t>
            </a:r>
            <a:r>
              <a:rPr lang="en-US" altLang="en-US" sz="2600" dirty="0">
                <a:solidFill>
                  <a:srgbClr val="000000"/>
                </a:solidFill>
                <a:latin typeface="Arial"/>
                <a:cs typeface="Arial"/>
              </a:rPr>
              <a:t>from the full set</a:t>
            </a:r>
            <a:r>
              <a:rPr lang="en-US" altLang="en-US" sz="2600" dirty="0" smtClean="0">
                <a:solidFill>
                  <a:srgbClr val="000000"/>
                </a:solidFill>
                <a:latin typeface="Arial"/>
                <a:cs typeface="Arial"/>
              </a:rPr>
              <a:t>.</a:t>
            </a:r>
            <a:endParaRPr lang="en-US" altLang="en-US" sz="26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514350" indent="-457200" algn="just"/>
            <a:r>
              <a:rPr lang="en-US" altLang="en-US" sz="2600" dirty="0">
                <a:solidFill>
                  <a:srgbClr val="000000"/>
                </a:solidFill>
                <a:latin typeface="Arial"/>
                <a:cs typeface="Arial"/>
              </a:rPr>
              <a:t>After each backward step, </a:t>
            </a:r>
            <a:r>
              <a:rPr lang="en-US" altLang="en-US" sz="2600" dirty="0" smtClean="0">
                <a:solidFill>
                  <a:srgbClr val="000000"/>
                </a:solidFill>
                <a:latin typeface="Arial"/>
                <a:cs typeface="Arial"/>
              </a:rPr>
              <a:t>SFBR </a:t>
            </a:r>
            <a:r>
              <a:rPr lang="en-US" altLang="en-US" sz="2600" dirty="0">
                <a:solidFill>
                  <a:srgbClr val="000000"/>
                </a:solidFill>
                <a:latin typeface="Arial"/>
                <a:cs typeface="Arial"/>
              </a:rPr>
              <a:t>performs multiple forward steps as long as the objective function increases</a:t>
            </a:r>
            <a:r>
              <a:rPr lang="en-US" altLang="en-US" sz="2600" dirty="0" smtClean="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  <a:p>
            <a:pPr>
              <a:buNone/>
            </a:pPr>
            <a:r>
              <a:rPr lang="en-IN" altLang="en-US" sz="2400" dirty="0" smtClean="0">
                <a:solidFill>
                  <a:srgbClr val="000000"/>
                </a:solidFill>
                <a:latin typeface="Arial"/>
                <a:cs typeface="Arial"/>
              </a:rPr>
              <a:t>Example:</a:t>
            </a:r>
          </a:p>
          <a:p>
            <a:r>
              <a:rPr lang="en-US" altLang="en-US" sz="2400" dirty="0" smtClean="0">
                <a:solidFill>
                  <a:srgbClr val="000000"/>
                </a:solidFill>
              </a:rPr>
              <a:t>Let A = {A0, A1, A2, A3, A4, A5, A6, A7, A8, A9} and F = {A0, A1, A2, A3, A4, A5, A6, A7, A8, A9}</a:t>
            </a:r>
          </a:p>
          <a:p>
            <a:r>
              <a:rPr lang="en-US" altLang="en-US" sz="2400" dirty="0" smtClean="0">
                <a:solidFill>
                  <a:srgbClr val="000000"/>
                </a:solidFill>
              </a:rPr>
              <a:t> </a:t>
            </a:r>
            <a:r>
              <a:rPr lang="en-IN" altLang="en-US" sz="2400" dirty="0" smtClean="0">
                <a:solidFill>
                  <a:srgbClr val="FF0000"/>
                </a:solidFill>
              </a:rPr>
              <a:t>Step 1:</a:t>
            </a:r>
            <a:r>
              <a:rPr lang="en-US" altLang="en-US" sz="2400" dirty="0" smtClean="0">
                <a:solidFill>
                  <a:srgbClr val="000000"/>
                </a:solidFill>
              </a:rPr>
              <a:t> By SBR (only once) from F, F={A0, A1, A2, A3, A5, A6, A7, A8, A9}, and A = {</a:t>
            </a:r>
            <a:r>
              <a:rPr lang="en-US" altLang="en-US" sz="2400" dirty="0" smtClean="0">
                <a:solidFill>
                  <a:srgbClr val="FF0000"/>
                </a:solidFill>
              </a:rPr>
              <a:t>A4</a:t>
            </a:r>
            <a:r>
              <a:rPr lang="en-US" altLang="en-US" sz="2400" dirty="0" smtClean="0">
                <a:solidFill>
                  <a:srgbClr val="000000"/>
                </a:solidFill>
              </a:rPr>
              <a:t>} say; and  by multiple SFS from A, F={A0, A1, A2, A3, A5, A6, A7, A8, A9}, and A = {</a:t>
            </a:r>
            <a:r>
              <a:rPr lang="en-US" altLang="en-US" sz="2400" dirty="0" smtClean="0">
                <a:solidFill>
                  <a:srgbClr val="FF0000"/>
                </a:solidFill>
              </a:rPr>
              <a:t>A4</a:t>
            </a:r>
            <a:r>
              <a:rPr lang="en-US" altLang="en-US" sz="2400" dirty="0" smtClean="0">
                <a:solidFill>
                  <a:srgbClr val="000000"/>
                </a:solidFill>
              </a:rPr>
              <a:t>} </a:t>
            </a:r>
          </a:p>
          <a:p>
            <a:pPr marL="514350" indent="-457200" algn="just"/>
            <a:endParaRPr lang="en-US" altLang="en-US" sz="2600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altLang="en-US" sz="26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altLang="en-US" sz="2600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altLang="en-US" sz="2600" dirty="0" smtClean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604822"/>
          </a:xfrm>
        </p:spPr>
        <p:txBody>
          <a:bodyPr/>
          <a:lstStyle/>
          <a:p>
            <a:r>
              <a:rPr lang="en-US" altLang="en-US" sz="2400" b="1" dirty="0" smtClean="0">
                <a:solidFill>
                  <a:srgbClr val="000000"/>
                </a:solidFill>
                <a:latin typeface="Arial"/>
                <a:cs typeface="Arial"/>
              </a:rPr>
              <a:t>Step-wise Floating backward Removal (SFBR)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85860"/>
            <a:ext cx="7772400" cy="5429288"/>
          </a:xfrm>
        </p:spPr>
        <p:txBody>
          <a:bodyPr/>
          <a:lstStyle/>
          <a:p>
            <a:r>
              <a:rPr lang="en-IN" altLang="en-US" sz="2400" dirty="0" smtClean="0">
                <a:solidFill>
                  <a:srgbClr val="FF0000"/>
                </a:solidFill>
              </a:rPr>
              <a:t>Step 2:</a:t>
            </a:r>
            <a:r>
              <a:rPr lang="en-US" altLang="en-US" sz="2400" dirty="0" smtClean="0">
                <a:solidFill>
                  <a:srgbClr val="000000"/>
                </a:solidFill>
              </a:rPr>
              <a:t> By SBR (only once) from F, F={A0, A2, A3, A5, A6, A7, A8, A9}, and A = {</a:t>
            </a:r>
            <a:r>
              <a:rPr lang="en-US" altLang="en-US" sz="2400" dirty="0" smtClean="0">
                <a:solidFill>
                  <a:srgbClr val="FF0000"/>
                </a:solidFill>
              </a:rPr>
              <a:t>A1, A4</a:t>
            </a:r>
            <a:r>
              <a:rPr lang="en-US" altLang="en-US" sz="2400" dirty="0" smtClean="0">
                <a:solidFill>
                  <a:srgbClr val="000000"/>
                </a:solidFill>
              </a:rPr>
              <a:t>} say; and  by multiple SFS from A, F={A0, A2, A3, A5, A6, A7, A8, A9}, and A = {</a:t>
            </a:r>
            <a:r>
              <a:rPr lang="en-US" altLang="en-US" sz="2400" dirty="0" smtClean="0">
                <a:solidFill>
                  <a:srgbClr val="FF0000"/>
                </a:solidFill>
              </a:rPr>
              <a:t>A1, A4</a:t>
            </a:r>
            <a:r>
              <a:rPr lang="en-US" altLang="en-US" sz="2400" dirty="0" smtClean="0">
                <a:solidFill>
                  <a:srgbClr val="000000"/>
                </a:solidFill>
              </a:rPr>
              <a:t>}</a:t>
            </a:r>
          </a:p>
          <a:p>
            <a:r>
              <a:rPr lang="en-IN" altLang="en-US" sz="2400" dirty="0" smtClean="0">
                <a:solidFill>
                  <a:srgbClr val="FF0000"/>
                </a:solidFill>
              </a:rPr>
              <a:t>Step 3: </a:t>
            </a:r>
            <a:r>
              <a:rPr lang="en-US" altLang="en-US" sz="2400" dirty="0" smtClean="0">
                <a:solidFill>
                  <a:srgbClr val="000000"/>
                </a:solidFill>
              </a:rPr>
              <a:t>By SBR (only once) from F, F={A0, A2, A3, A5, A6, A8, A9}, and A = {</a:t>
            </a:r>
            <a:r>
              <a:rPr lang="en-US" altLang="en-US" sz="2400" dirty="0" smtClean="0">
                <a:solidFill>
                  <a:srgbClr val="FF0000"/>
                </a:solidFill>
              </a:rPr>
              <a:t>A1, A4, A7</a:t>
            </a:r>
            <a:r>
              <a:rPr lang="en-US" altLang="en-US" sz="2400" dirty="0" smtClean="0">
                <a:solidFill>
                  <a:srgbClr val="000000"/>
                </a:solidFill>
              </a:rPr>
              <a:t>}; and  by multiple SFS from A (say, no selection), F={A0, A2, A3, A5, A6, A8, A9}, and A = {</a:t>
            </a:r>
            <a:r>
              <a:rPr lang="en-US" altLang="en-US" sz="2400" dirty="0" smtClean="0">
                <a:solidFill>
                  <a:srgbClr val="FF0000"/>
                </a:solidFill>
              </a:rPr>
              <a:t>A1, A4, A7</a:t>
            </a:r>
            <a:r>
              <a:rPr lang="en-US" altLang="en-US" sz="2400" dirty="0" smtClean="0">
                <a:solidFill>
                  <a:srgbClr val="000000"/>
                </a:solidFill>
              </a:rPr>
              <a:t>}</a:t>
            </a:r>
          </a:p>
          <a:p>
            <a:r>
              <a:rPr lang="en-IN" altLang="en-US" sz="2400" dirty="0" smtClean="0">
                <a:solidFill>
                  <a:srgbClr val="FF0000"/>
                </a:solidFill>
              </a:rPr>
              <a:t>Step 4: </a:t>
            </a:r>
            <a:r>
              <a:rPr lang="en-US" altLang="en-US" sz="2400" dirty="0" smtClean="0">
                <a:solidFill>
                  <a:srgbClr val="000000"/>
                </a:solidFill>
              </a:rPr>
              <a:t>By SBR (only once) from F, F={A0, A2, A3, A5, A6, A8}, and A = {</a:t>
            </a:r>
            <a:r>
              <a:rPr lang="en-US" altLang="en-US" sz="2400" dirty="0" smtClean="0">
                <a:solidFill>
                  <a:srgbClr val="FF0000"/>
                </a:solidFill>
              </a:rPr>
              <a:t>A1, A4, A7, A9</a:t>
            </a:r>
            <a:r>
              <a:rPr lang="en-US" altLang="en-US" sz="2400" dirty="0" smtClean="0">
                <a:solidFill>
                  <a:srgbClr val="000000"/>
                </a:solidFill>
              </a:rPr>
              <a:t>}; and  by multiple SFS from A (say, A4 is selected), F={A0, A2, A3, A4, A5, A6, A8}, and A = {</a:t>
            </a:r>
            <a:r>
              <a:rPr lang="en-US" altLang="en-US" sz="2400" dirty="0" smtClean="0">
                <a:solidFill>
                  <a:srgbClr val="FF0000"/>
                </a:solidFill>
              </a:rPr>
              <a:t>A1, A7, A9</a:t>
            </a:r>
            <a:r>
              <a:rPr lang="en-US" altLang="en-US" sz="2400" dirty="0" smtClean="0">
                <a:solidFill>
                  <a:srgbClr val="000000"/>
                </a:solidFill>
              </a:rPr>
              <a:t>}</a:t>
            </a:r>
            <a:endParaRPr lang="en-IN" altLang="en-US" sz="2400" dirty="0" smtClean="0">
              <a:solidFill>
                <a:srgbClr val="000000"/>
              </a:solidFill>
            </a:endParaRPr>
          </a:p>
          <a:p>
            <a:r>
              <a:rPr lang="en-IN" altLang="en-US" sz="2400" dirty="0" smtClean="0">
                <a:solidFill>
                  <a:srgbClr val="000000"/>
                </a:solidFill>
              </a:rPr>
              <a:t>Repeat until </a:t>
            </a:r>
            <a:r>
              <a:rPr lang="en-US" altLang="en-US" sz="2400" dirty="0" smtClean="0">
                <a:solidFill>
                  <a:srgbClr val="000000"/>
                </a:solidFill>
                <a:cs typeface="Arial" charset="0"/>
              </a:rPr>
              <a:t>a predefined number of features are selected</a:t>
            </a:r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819136"/>
          </a:xfrm>
        </p:spPr>
        <p:txBody>
          <a:bodyPr/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Case Study on Feature Selection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500174"/>
            <a:ext cx="8201028" cy="4114800"/>
          </a:xfrm>
        </p:spPr>
        <p:txBody>
          <a:bodyPr/>
          <a:lstStyle/>
          <a:p>
            <a:r>
              <a:rPr lang="en-IN" dirty="0" smtClean="0"/>
              <a:t>Collect various data sets using</a:t>
            </a:r>
            <a:r>
              <a:rPr lang="en-US" dirty="0" smtClean="0"/>
              <a:t> - UCI Machine Learning Repository</a:t>
            </a:r>
          </a:p>
          <a:p>
            <a:r>
              <a:rPr lang="en-IN" sz="2400" dirty="0" smtClean="0"/>
              <a:t>Apply different data pre-processing techniques </a:t>
            </a:r>
            <a:r>
              <a:rPr lang="en-IN" sz="2400" smtClean="0"/>
              <a:t>and </a:t>
            </a:r>
            <a:r>
              <a:rPr lang="en-IN" sz="2400" smtClean="0"/>
              <a:t>measure </a:t>
            </a:r>
            <a:r>
              <a:rPr lang="en-IN" sz="2400" dirty="0" smtClean="0"/>
              <a:t>the similarity between a pair of objects using different similarity and dissimilarity measurement techniques.</a:t>
            </a:r>
          </a:p>
          <a:p>
            <a:r>
              <a:rPr lang="en-IN" sz="2400" dirty="0" smtClean="0"/>
              <a:t>Apply all Feature Selection methods discussed in the class on at least 5 data sets and compare their performance with respect to various classifiers in terms of Accuracy, Precision, Recall, and F-Score</a:t>
            </a:r>
            <a:r>
              <a:rPr lang="en-IN" dirty="0" smtClean="0"/>
              <a:t> </a:t>
            </a:r>
            <a:endParaRPr lang="en-US" dirty="0" smtClean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819136"/>
          </a:xfrm>
        </p:spPr>
        <p:txBody>
          <a:bodyPr/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Case Study on Feature Selection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24" y="1500174"/>
            <a:ext cx="7772400" cy="4114800"/>
          </a:xfrm>
        </p:spPr>
        <p:txBody>
          <a:bodyPr/>
          <a:lstStyle/>
          <a:p>
            <a:r>
              <a:rPr lang="en-IN" dirty="0" smtClean="0"/>
              <a:t>Collect various data sets using </a:t>
            </a:r>
            <a:r>
              <a:rPr lang="en-US" dirty="0" smtClean="0"/>
              <a:t>Datasets - UCI Machine Learning Repository</a:t>
            </a:r>
          </a:p>
          <a:p>
            <a:r>
              <a:rPr lang="en-IN" dirty="0" smtClean="0"/>
              <a:t>Apply all Feature Selection methods discussed in the class on at least 5 data sets and compare their performance with respect to various classifiers in terms of Accuracy, Precision, Recall, and F-Score </a:t>
            </a:r>
            <a:endParaRPr lang="en-US" dirty="0" smtClean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457200" y="1049338"/>
            <a:ext cx="8228013" cy="60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93186" name="Picture 15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04975" y="1535113"/>
            <a:ext cx="5702300" cy="375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odèle par défau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19068</TotalTime>
  <Words>3705</Words>
  <Application>Microsoft Macintosh PowerPoint</Application>
  <PresentationFormat>On-screen Show (4:3)</PresentationFormat>
  <Paragraphs>488</Paragraphs>
  <Slides>50</Slides>
  <Notes>22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Modèle par défaut</vt:lpstr>
      <vt:lpstr>Equation</vt:lpstr>
      <vt:lpstr>Document</vt:lpstr>
      <vt:lpstr>Worksheet</vt:lpstr>
      <vt:lpstr>SmartDraw</vt:lpstr>
      <vt:lpstr>Microsoft Equation 3.0</vt:lpstr>
      <vt:lpstr>Measuring Data Similarity and Dissimilarity </vt:lpstr>
      <vt:lpstr>Similarity and Dissimilarity</vt:lpstr>
      <vt:lpstr>Data Matrix and Dissimilarity Matrix</vt:lpstr>
      <vt:lpstr>Proximity Measure for Nominal Attributes</vt:lpstr>
      <vt:lpstr>Proximity Measure for Nominal Attributes</vt:lpstr>
      <vt:lpstr>Proximity Measure for Binary Attributes</vt:lpstr>
      <vt:lpstr>Jaccard Coefficient</vt:lpstr>
      <vt:lpstr>Jaccard Coefficient for Binary Attributes</vt:lpstr>
      <vt:lpstr>Dissimilarity using Asymmetric Binary Variables</vt:lpstr>
      <vt:lpstr>Dissimilarity using Interval-Scaled Variables</vt:lpstr>
      <vt:lpstr>Example:  Data Matrix and Dissimilarity Matrix</vt:lpstr>
      <vt:lpstr>Distance on Numeric Data: Minkowski Distance</vt:lpstr>
      <vt:lpstr>Special Cases of Minkowski Distance</vt:lpstr>
      <vt:lpstr>Example: Minkowski Distance</vt:lpstr>
      <vt:lpstr>Ordinal Variables</vt:lpstr>
      <vt:lpstr>Ratio-Scaled Variable</vt:lpstr>
      <vt:lpstr>Ratio-Scaled Variable</vt:lpstr>
      <vt:lpstr>Attributes of Mixed Type</vt:lpstr>
      <vt:lpstr>Attributes of Mixed Type</vt:lpstr>
      <vt:lpstr> Cosine Similarity</vt:lpstr>
      <vt:lpstr> Example: Cosine Similarity</vt:lpstr>
      <vt:lpstr>Slide 22</vt:lpstr>
      <vt:lpstr>Feature Selection</vt:lpstr>
      <vt:lpstr>Feature Selection</vt:lpstr>
      <vt:lpstr>Slide 25</vt:lpstr>
      <vt:lpstr>Feature Selection</vt:lpstr>
      <vt:lpstr>Feature Selection</vt:lpstr>
      <vt:lpstr>Search Methods</vt:lpstr>
      <vt:lpstr>Evaluation Methods</vt:lpstr>
      <vt:lpstr>Evaluation Methods</vt:lpstr>
      <vt:lpstr>Slide 31</vt:lpstr>
      <vt:lpstr>Filter vs Wrapper Methods</vt:lpstr>
      <vt:lpstr>Filter vs Wrapper Methods</vt:lpstr>
      <vt:lpstr>Heuristic Search - Naïve Search</vt:lpstr>
      <vt:lpstr>Heuristic Search : Step-wise Forward Selection (SFS)</vt:lpstr>
      <vt:lpstr>Heuristic Search : Step-wise Backward Removal (SBR)</vt:lpstr>
      <vt:lpstr>Bidirectional Search (BDS)</vt:lpstr>
      <vt:lpstr>Limitations of SFS and SBR</vt:lpstr>
      <vt:lpstr>“Plus-L, minus-R”  selection (LRS) (L, R are user-defined parameters)</vt:lpstr>
      <vt:lpstr>Example 1: LRS</vt:lpstr>
      <vt:lpstr>Is there any difference between Ex-2(i): LRS</vt:lpstr>
      <vt:lpstr>Is there any difference between Ex-2(ii): LRS</vt:lpstr>
      <vt:lpstr>Step-wise Floating Forward Selection (SFFS) and Step-wise Floating backward Removal (SFBR)</vt:lpstr>
      <vt:lpstr>Step-wise Floating Forward Selection (SFFS)</vt:lpstr>
      <vt:lpstr>Step-wise Floating Forward Selection (SFFS)</vt:lpstr>
      <vt:lpstr>Step-wise Floating backward Removal (SFBR)</vt:lpstr>
      <vt:lpstr>Step-wise Floating backward Removal (SFBR)</vt:lpstr>
      <vt:lpstr> Case Study on Feature Selection </vt:lpstr>
      <vt:lpstr> Case Study on Feature Selection </vt:lpstr>
      <vt:lpstr>Slide 50</vt:lpstr>
    </vt:vector>
  </TitlesOfParts>
  <Company>prism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Mining</dc:title>
  <dc:creator>prism</dc:creator>
  <cp:lastModifiedBy>Asit Kumar Das</cp:lastModifiedBy>
  <cp:revision>374</cp:revision>
  <cp:lastPrinted>2000-12-12T15:18:05Z</cp:lastPrinted>
  <dcterms:created xsi:type="dcterms:W3CDTF">2000-11-22T15:09:51Z</dcterms:created>
  <dcterms:modified xsi:type="dcterms:W3CDTF">2025-01-28T04:02:43Z</dcterms:modified>
</cp:coreProperties>
</file>