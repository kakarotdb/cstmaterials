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ls" ContentType="application/vnd.ms-exce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5F0C92-D063-49D5-AFE0-7289C471B8FB}" type="datetimeFigureOut">
              <a:rPr lang="en-US" smtClean="0"/>
              <a:pPr/>
              <a:t>1/30/2025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90E8C2-1577-475F-90B4-5B2A2E5D69D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36BE50-012B-4A15-9259-3130AB13210D}" type="slidenum">
              <a:rPr lang="en-US"/>
              <a:pPr/>
              <a:t>1</a:t>
            </a:fld>
            <a:endParaRPr lang="en-US"/>
          </a:p>
        </p:txBody>
      </p:sp>
      <p:sp>
        <p:nvSpPr>
          <p:cNvPr id="217090" name="Rectangle 2"/>
          <p:cNvSpPr>
            <a:spLocks noGrp="1" noRot="1" noChangeAspect="1" noChangeArrowheads="1" noTextEdit="1"/>
          </p:cNvSpPr>
          <p:nvPr>
            <p:ph type="sldImg"/>
          </p:nvPr>
        </p:nvSpPr>
        <p:spPr>
          <a:ln/>
        </p:spPr>
      </p:sp>
      <p:sp>
        <p:nvSpPr>
          <p:cNvPr id="217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2AA22E-9F98-41C9-A605-82F4B492EDE1}" type="slidenum">
              <a:rPr lang="en-US"/>
              <a:pPr/>
              <a:t>2</a:t>
            </a:fld>
            <a:endParaRPr lang="en-US"/>
          </a:p>
        </p:txBody>
      </p:sp>
      <p:sp>
        <p:nvSpPr>
          <p:cNvPr id="6400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400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3753EE-266A-4D96-A977-3C4CD2B83C5A}" type="slidenum">
              <a:rPr lang="en-US"/>
              <a:pPr/>
              <a:t>3</a:t>
            </a:fld>
            <a:endParaRPr lang="en-US"/>
          </a:p>
        </p:txBody>
      </p:sp>
      <p:sp>
        <p:nvSpPr>
          <p:cNvPr id="6420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420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0BE143-26E8-419C-99A9-A52CDE72E869}" type="slidenum">
              <a:rPr lang="en-US"/>
              <a:pPr/>
              <a:t>5</a:t>
            </a:fld>
            <a:endParaRPr lang="en-US"/>
          </a:p>
        </p:txBody>
      </p:sp>
      <p:sp>
        <p:nvSpPr>
          <p:cNvPr id="6318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318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639130-6DA4-48A6-839A-FB18BC5A890F}" type="slidenum">
              <a:rPr lang="en-US"/>
              <a:pPr/>
              <a:t>6</a:t>
            </a:fld>
            <a:endParaRPr lang="en-US"/>
          </a:p>
        </p:txBody>
      </p:sp>
      <p:sp>
        <p:nvSpPr>
          <p:cNvPr id="6113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113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A9F640-E000-47A8-985C-8253DF2BB9A0}" type="slidenum">
              <a:rPr lang="en-US"/>
              <a:pPr/>
              <a:t>46</a:t>
            </a:fld>
            <a:endParaRPr lang="en-US"/>
          </a:p>
        </p:txBody>
      </p:sp>
      <p:sp>
        <p:nvSpPr>
          <p:cNvPr id="6092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092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07A5EC-0434-4011-8746-25489A17DCA2}" type="slidenum">
              <a:rPr lang="en-US"/>
              <a:pPr/>
              <a:t>47</a:t>
            </a:fld>
            <a:endParaRPr lang="en-US"/>
          </a:p>
        </p:txBody>
      </p:sp>
      <p:sp>
        <p:nvSpPr>
          <p:cNvPr id="744450" name="Rectangle 2"/>
          <p:cNvSpPr>
            <a:spLocks noGrp="1" noRot="1" noChangeAspect="1" noChangeArrowheads="1" noTextEdit="1"/>
          </p:cNvSpPr>
          <p:nvPr>
            <p:ph type="sldImg"/>
          </p:nvPr>
        </p:nvSpPr>
        <p:spPr>
          <a:ln/>
        </p:spPr>
      </p:sp>
      <p:sp>
        <p:nvSpPr>
          <p:cNvPr id="744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F201DB-862C-4DC1-B8AF-087623C452E8}" type="slidenum">
              <a:rPr lang="en-US"/>
              <a:pPr/>
              <a:t>48</a:t>
            </a:fld>
            <a:endParaRPr lang="en-US"/>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E95BCB-C3C0-470D-A5F2-B76F5CBDC7D4}"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E95BCB-C3C0-470D-A5F2-B76F5CBDC7D4}"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E95BCB-C3C0-470D-A5F2-B76F5CBDC7D4}"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E95BCB-C3C0-470D-A5F2-B76F5CBDC7D4}"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E95BCB-C3C0-470D-A5F2-B76F5CBDC7D4}" type="datetimeFigureOut">
              <a:rPr lang="en-US" smtClean="0"/>
              <a:pPr/>
              <a:t>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E95BCB-C3C0-470D-A5F2-B76F5CBDC7D4}" type="datetimeFigureOut">
              <a:rPr lang="en-US" smtClean="0"/>
              <a:pPr/>
              <a:t>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E95BCB-C3C0-470D-A5F2-B76F5CBDC7D4}" type="datetimeFigureOut">
              <a:rPr lang="en-US" smtClean="0"/>
              <a:pPr/>
              <a:t>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E95BCB-C3C0-470D-A5F2-B76F5CBDC7D4}"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E95BCB-C3C0-470D-A5F2-B76F5CBDC7D4}"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E95BCB-C3C0-470D-A5F2-B76F5CBDC7D4}"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E95BCB-C3C0-470D-A5F2-B76F5CBDC7D4}"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46E22-D76E-4530-ACB1-CB0F37AA7A9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95BCB-C3C0-470D-A5F2-B76F5CBDC7D4}" type="datetimeFigureOut">
              <a:rPr lang="en-US" smtClean="0"/>
              <a:pPr/>
              <a:t>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846E22-D76E-4530-ACB1-CB0F37AA7A9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499013"/>
            <a:ext cx="7772400" cy="1859973"/>
          </a:xfrm>
        </p:spPr>
        <p:txBody>
          <a:bodyPr>
            <a:normAutofit fontScale="90000"/>
          </a:bodyPr>
          <a:lstStyle/>
          <a:p>
            <a:r>
              <a:rPr lang="en-US" dirty="0" smtClean="0"/>
              <a:t>Principal Component Analysis (PCA)</a:t>
            </a:r>
            <a:br>
              <a:rPr lang="en-US" dirty="0" smtClean="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ChangeArrowheads="1"/>
          </p:cNvSpPr>
          <p:nvPr/>
        </p:nvSpPr>
        <p:spPr bwMode="auto">
          <a:xfrm>
            <a:off x="685800" y="1371600"/>
            <a:ext cx="8305800" cy="4724400"/>
          </a:xfrm>
          <a:prstGeom prst="rect">
            <a:avLst/>
          </a:prstGeom>
          <a:noFill/>
          <a:ln w="9525">
            <a:noFill/>
            <a:miter lim="800000"/>
            <a:headEnd/>
            <a:tailEnd/>
          </a:ln>
          <a:effectLst/>
        </p:spPr>
        <p:txBody>
          <a:bodyPr/>
          <a:lstStyle/>
          <a:p>
            <a:pPr marL="342900" indent="-342900" eaLnBrk="1" hangingPunct="1">
              <a:spcBef>
                <a:spcPct val="20000"/>
              </a:spcBef>
              <a:buFontTx/>
              <a:buChar char="•"/>
            </a:pPr>
            <a:r>
              <a:rPr lang="en-US" sz="2800" dirty="0"/>
              <a:t>We have too </a:t>
            </a:r>
            <a:r>
              <a:rPr lang="en-US" sz="2800" dirty="0" smtClean="0"/>
              <a:t>many dimensions in the data sets which make difficulty to obtain insights, and visualize</a:t>
            </a:r>
          </a:p>
          <a:p>
            <a:pPr marL="342900" indent="-342900" eaLnBrk="1" hangingPunct="1">
              <a:spcBef>
                <a:spcPct val="20000"/>
              </a:spcBef>
              <a:buFontTx/>
              <a:buChar char="•"/>
            </a:pPr>
            <a:r>
              <a:rPr lang="en-US" sz="2800" dirty="0" smtClean="0"/>
              <a:t>We need to reduce </a:t>
            </a:r>
            <a:r>
              <a:rPr lang="en-US" sz="2800" dirty="0"/>
              <a:t>them to a smaller set of </a:t>
            </a:r>
            <a:r>
              <a:rPr lang="en-US" sz="2800" dirty="0" smtClean="0"/>
              <a:t>dimensions</a:t>
            </a:r>
            <a:r>
              <a:rPr lang="en-US" sz="2800" dirty="0"/>
              <a:t> </a:t>
            </a:r>
            <a:r>
              <a:rPr lang="en-US" sz="2800" dirty="0" smtClean="0"/>
              <a:t>to represent data in better way without </a:t>
            </a:r>
            <a:r>
              <a:rPr lang="en-US" sz="2800" dirty="0"/>
              <a:t>losing much </a:t>
            </a:r>
            <a:r>
              <a:rPr lang="en-US" sz="2800" dirty="0" smtClean="0"/>
              <a:t>information</a:t>
            </a:r>
          </a:p>
          <a:p>
            <a:pPr marL="342900" indent="-342900" eaLnBrk="1" hangingPunct="1">
              <a:spcBef>
                <a:spcPct val="20000"/>
              </a:spcBef>
              <a:buFontTx/>
              <a:buChar char="•"/>
            </a:pPr>
            <a:r>
              <a:rPr lang="en-US" sz="2800" dirty="0" smtClean="0"/>
              <a:t>The reduced data sets can </a:t>
            </a:r>
            <a:r>
              <a:rPr lang="en-US" sz="2800" dirty="0"/>
              <a:t>build more effective data </a:t>
            </a:r>
            <a:r>
              <a:rPr lang="en-US" sz="2800" dirty="0" smtClean="0"/>
              <a:t>analyses (such as, classification, clustering, pattern recognition) </a:t>
            </a:r>
            <a:r>
              <a:rPr lang="en-US" sz="2800" dirty="0"/>
              <a:t>on the reduced-dimensional </a:t>
            </a:r>
            <a:r>
              <a:rPr lang="en-US" sz="2800" dirty="0" smtClean="0"/>
              <a:t>space</a:t>
            </a:r>
            <a:endParaRPr lang="en-US" sz="2800" dirty="0"/>
          </a:p>
          <a:p>
            <a:pPr marL="742950" lvl="1" indent="-285750" eaLnBrk="1" hangingPunct="1">
              <a:spcBef>
                <a:spcPct val="20000"/>
              </a:spcBef>
            </a:pPr>
            <a:endParaRPr lang="en-US" sz="2800" dirty="0"/>
          </a:p>
        </p:txBody>
      </p:sp>
      <p:sp>
        <p:nvSpPr>
          <p:cNvPr id="638979" name="Text Box 3"/>
          <p:cNvSpPr txBox="1">
            <a:spLocks noChangeArrowheads="1"/>
          </p:cNvSpPr>
          <p:nvPr/>
        </p:nvSpPr>
        <p:spPr bwMode="auto">
          <a:xfrm>
            <a:off x="228600" y="304800"/>
            <a:ext cx="8610600" cy="701675"/>
          </a:xfrm>
          <a:prstGeom prst="rect">
            <a:avLst/>
          </a:prstGeom>
          <a:noFill/>
          <a:ln w="9525">
            <a:noFill/>
            <a:miter lim="800000"/>
            <a:headEnd/>
            <a:tailEnd/>
          </a:ln>
          <a:effectLst/>
        </p:spPr>
        <p:txBody>
          <a:bodyPr>
            <a:spAutoFit/>
          </a:bodyPr>
          <a:lstStyle/>
          <a:p>
            <a:pPr algn="ctr" eaLnBrk="1" hangingPunct="1"/>
            <a:r>
              <a:rPr lang="en-US" sz="4000" dirty="0">
                <a:solidFill>
                  <a:schemeClr val="tx2"/>
                </a:solidFill>
              </a:rPr>
              <a:t>Why </a:t>
            </a:r>
            <a:r>
              <a:rPr lang="en-US" sz="4000" dirty="0" smtClean="0">
                <a:solidFill>
                  <a:schemeClr val="tx2"/>
                </a:solidFill>
              </a:rPr>
              <a:t>Principal Component </a:t>
            </a:r>
            <a:r>
              <a:rPr lang="en-US" sz="4000" dirty="0">
                <a:solidFill>
                  <a:schemeClr val="tx2"/>
                </a:solidFill>
              </a:rPr>
              <a:t>Analysis?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ChangeArrowheads="1"/>
          </p:cNvSpPr>
          <p:nvPr/>
        </p:nvSpPr>
        <p:spPr bwMode="auto">
          <a:xfrm>
            <a:off x="685800" y="1143000"/>
            <a:ext cx="8305800" cy="4724400"/>
          </a:xfrm>
          <a:prstGeom prst="rect">
            <a:avLst/>
          </a:prstGeom>
          <a:noFill/>
          <a:ln w="9525">
            <a:noFill/>
            <a:miter lim="800000"/>
            <a:headEnd/>
            <a:tailEnd/>
          </a:ln>
          <a:effectLst/>
        </p:spPr>
        <p:txBody>
          <a:bodyPr/>
          <a:lstStyle/>
          <a:p>
            <a:pPr marL="342900" indent="-342900" eaLnBrk="1" hangingPunct="1">
              <a:spcBef>
                <a:spcPct val="20000"/>
              </a:spcBef>
              <a:buFontTx/>
              <a:buChar char="•"/>
            </a:pPr>
            <a:r>
              <a:rPr lang="en-US" sz="2800" dirty="0" smtClean="0"/>
              <a:t>PCA discovers </a:t>
            </a:r>
            <a:r>
              <a:rPr lang="en-US" sz="2800" dirty="0"/>
              <a:t>a new set of </a:t>
            </a:r>
            <a:r>
              <a:rPr lang="en-US" sz="2800" dirty="0" smtClean="0"/>
              <a:t>dimensions/axes </a:t>
            </a:r>
            <a:r>
              <a:rPr lang="en-US" sz="2800" dirty="0"/>
              <a:t>against which to represent, describe or evaluate the data</a:t>
            </a:r>
          </a:p>
          <a:p>
            <a:pPr marL="742950" lvl="1" indent="-285750" eaLnBrk="1" hangingPunct="1">
              <a:spcBef>
                <a:spcPct val="20000"/>
              </a:spcBef>
              <a:buFontTx/>
              <a:buChar char="–"/>
            </a:pPr>
            <a:r>
              <a:rPr lang="en-US" sz="2800" dirty="0"/>
              <a:t>For more effective reasoning, insights, or better visualization</a:t>
            </a:r>
          </a:p>
          <a:p>
            <a:pPr marL="742950" lvl="1" indent="-285750" eaLnBrk="1" hangingPunct="1">
              <a:spcBef>
                <a:spcPct val="20000"/>
              </a:spcBef>
              <a:buFontTx/>
              <a:buChar char="–"/>
            </a:pPr>
            <a:r>
              <a:rPr lang="en-US" sz="2800" dirty="0"/>
              <a:t>Reduce noise in the data</a:t>
            </a:r>
          </a:p>
          <a:p>
            <a:pPr marL="742950" lvl="1" indent="-285750" eaLnBrk="1" hangingPunct="1">
              <a:spcBef>
                <a:spcPct val="20000"/>
              </a:spcBef>
              <a:buFontTx/>
              <a:buChar char="–"/>
            </a:pPr>
            <a:r>
              <a:rPr lang="en-US" sz="2800" dirty="0" smtClean="0"/>
              <a:t>Better </a:t>
            </a:r>
            <a:r>
              <a:rPr lang="en-US" sz="2800" dirty="0"/>
              <a:t>representation of data without losing much information</a:t>
            </a:r>
          </a:p>
          <a:p>
            <a:pPr marL="742950" lvl="1" indent="-285750" eaLnBrk="1" hangingPunct="1">
              <a:spcBef>
                <a:spcPct val="20000"/>
              </a:spcBef>
              <a:buFontTx/>
              <a:buChar char="–"/>
            </a:pPr>
            <a:r>
              <a:rPr lang="en-US" sz="2800" dirty="0"/>
              <a:t>Can build more effective data analyses on the reduced-dimensional space: classification, clustering, pattern </a:t>
            </a:r>
            <a:r>
              <a:rPr lang="en-US" sz="2800" dirty="0" smtClean="0"/>
              <a:t>recognition</a:t>
            </a:r>
          </a:p>
        </p:txBody>
      </p:sp>
      <p:sp>
        <p:nvSpPr>
          <p:cNvPr id="641027" name="Text Box 3"/>
          <p:cNvSpPr txBox="1">
            <a:spLocks noChangeArrowheads="1"/>
          </p:cNvSpPr>
          <p:nvPr/>
        </p:nvSpPr>
        <p:spPr bwMode="auto">
          <a:xfrm>
            <a:off x="228600" y="304800"/>
            <a:ext cx="8610600" cy="701675"/>
          </a:xfrm>
          <a:prstGeom prst="rect">
            <a:avLst/>
          </a:prstGeom>
          <a:noFill/>
          <a:ln w="9525">
            <a:noFill/>
            <a:miter lim="800000"/>
            <a:headEnd/>
            <a:tailEnd/>
          </a:ln>
          <a:effectLst/>
        </p:spPr>
        <p:txBody>
          <a:bodyPr>
            <a:spAutoFit/>
          </a:bodyPr>
          <a:lstStyle/>
          <a:p>
            <a:pPr algn="ctr" eaLnBrk="1" hangingPunct="1"/>
            <a:r>
              <a:rPr lang="en-US" sz="4000" dirty="0" smtClean="0">
                <a:solidFill>
                  <a:schemeClr val="tx2"/>
                </a:solidFill>
              </a:rPr>
              <a:t>Principal </a:t>
            </a:r>
            <a:r>
              <a:rPr lang="en-US" sz="4000" dirty="0">
                <a:solidFill>
                  <a:schemeClr val="tx2"/>
                </a:solidFill>
              </a:rPr>
              <a:t>Component Analysis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37309"/>
          </a:xfrm>
        </p:spPr>
        <p:txBody>
          <a:bodyPr>
            <a:normAutofit fontScale="90000"/>
          </a:bodyPr>
          <a:lstStyle/>
          <a:p>
            <a:r>
              <a:rPr lang="en-US" dirty="0" smtClean="0"/>
              <a:t>Principal Component Analysis</a:t>
            </a:r>
            <a:endParaRPr lang="en-US" dirty="0"/>
          </a:p>
        </p:txBody>
      </p:sp>
      <p:sp>
        <p:nvSpPr>
          <p:cNvPr id="3" name="Content Placeholder 2"/>
          <p:cNvSpPr>
            <a:spLocks noGrp="1"/>
          </p:cNvSpPr>
          <p:nvPr>
            <p:ph idx="1"/>
          </p:nvPr>
        </p:nvSpPr>
        <p:spPr>
          <a:xfrm>
            <a:off x="685800" y="1444336"/>
            <a:ext cx="7772400" cy="4651664"/>
          </a:xfrm>
        </p:spPr>
        <p:txBody>
          <a:bodyPr/>
          <a:lstStyle/>
          <a:p>
            <a:pPr lvl="1">
              <a:buNone/>
            </a:pPr>
            <a:endParaRPr lang="en-US" sz="2000" dirty="0" smtClean="0"/>
          </a:p>
          <a:p>
            <a:r>
              <a:rPr lang="en-US" sz="2800" dirty="0" smtClean="0"/>
              <a:t>PCA discovers a new set of dimensions by the combinations of observed variables which may be more effective bases for insights, even if physical meaning is obscure</a:t>
            </a:r>
          </a:p>
          <a:p>
            <a:r>
              <a:rPr lang="en-US" sz="2800" dirty="0" smtClean="0"/>
              <a:t>Observed data are described in terms of these new dimensions rather than in terms of original variables/dimensions</a:t>
            </a:r>
          </a:p>
          <a:p>
            <a:pPr marL="342900" lvl="1" indent="-342900">
              <a:buNone/>
            </a:pPr>
            <a:endParaRPr lang="en-US" sz="2000"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a:xfrm>
            <a:off x="685800" y="426028"/>
            <a:ext cx="7772400" cy="498764"/>
          </a:xfrm>
        </p:spPr>
        <p:txBody>
          <a:bodyPr>
            <a:normAutofit fontScale="90000"/>
          </a:bodyPr>
          <a:lstStyle/>
          <a:p>
            <a:r>
              <a:rPr lang="en-US" dirty="0"/>
              <a:t>Basic </a:t>
            </a:r>
            <a:r>
              <a:rPr lang="en-US" dirty="0" smtClean="0"/>
              <a:t>Concept : PCA</a:t>
            </a:r>
            <a:endParaRPr lang="en-US" dirty="0"/>
          </a:p>
        </p:txBody>
      </p:sp>
      <p:sp>
        <p:nvSpPr>
          <p:cNvPr id="630787" name="Rectangle 3"/>
          <p:cNvSpPr>
            <a:spLocks noGrp="1" noChangeArrowheads="1"/>
          </p:cNvSpPr>
          <p:nvPr>
            <p:ph type="body" idx="1"/>
          </p:nvPr>
        </p:nvSpPr>
        <p:spPr>
          <a:xfrm>
            <a:off x="529936" y="1080655"/>
            <a:ext cx="8229600" cy="5538354"/>
          </a:xfrm>
        </p:spPr>
        <p:txBody>
          <a:bodyPr/>
          <a:lstStyle/>
          <a:p>
            <a:pPr>
              <a:lnSpc>
                <a:spcPct val="90000"/>
              </a:lnSpc>
              <a:spcBef>
                <a:spcPct val="60000"/>
              </a:spcBef>
            </a:pPr>
            <a:r>
              <a:rPr lang="en-US" sz="2800" dirty="0" smtClean="0"/>
              <a:t>If </a:t>
            </a:r>
            <a:r>
              <a:rPr lang="en-US" sz="2800" dirty="0"/>
              <a:t>two </a:t>
            </a:r>
            <a:r>
              <a:rPr lang="en-US" sz="2800" dirty="0" smtClean="0"/>
              <a:t>dimensions </a:t>
            </a:r>
            <a:r>
              <a:rPr lang="en-US" sz="2800" dirty="0"/>
              <a:t>are highly correlated or </a:t>
            </a:r>
            <a:r>
              <a:rPr lang="en-US" sz="2800" dirty="0" smtClean="0"/>
              <a:t>dependent, </a:t>
            </a:r>
            <a:r>
              <a:rPr lang="en-US" sz="2800" dirty="0"/>
              <a:t>combining them to form a single measure is </a:t>
            </a:r>
            <a:r>
              <a:rPr lang="en-US" sz="2800" dirty="0" smtClean="0"/>
              <a:t>reasonable</a:t>
            </a:r>
            <a:endParaRPr lang="en-US" sz="2800" dirty="0"/>
          </a:p>
          <a:p>
            <a:pPr>
              <a:lnSpc>
                <a:spcPct val="90000"/>
              </a:lnSpc>
              <a:spcBef>
                <a:spcPct val="60000"/>
              </a:spcBef>
            </a:pPr>
            <a:r>
              <a:rPr lang="en-US" sz="2800" dirty="0"/>
              <a:t>So we want to combine related variables, and focus on uncorrelated or independent </a:t>
            </a:r>
            <a:r>
              <a:rPr lang="en-US" sz="2800" dirty="0" smtClean="0"/>
              <a:t>variables, </a:t>
            </a:r>
            <a:r>
              <a:rPr lang="en-US" sz="2800" dirty="0"/>
              <a:t>especially those along which the observations have high variance</a:t>
            </a:r>
          </a:p>
          <a:p>
            <a:pPr>
              <a:lnSpc>
                <a:spcPct val="90000"/>
              </a:lnSpc>
              <a:spcBef>
                <a:spcPct val="60000"/>
              </a:spcBef>
            </a:pPr>
            <a:r>
              <a:rPr lang="da-DK" sz="2800" dirty="0"/>
              <a:t>We want a smaller set of variables that explain most of the variance in the original data, in more compact and insightful form</a:t>
            </a:r>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r>
              <a:rPr lang="da-DK" sz="3200" dirty="0"/>
              <a:t>Principal Component </a:t>
            </a:r>
            <a:r>
              <a:rPr lang="da-DK" sz="3200" dirty="0" smtClean="0"/>
              <a:t>Analysis (PCA)</a:t>
            </a:r>
            <a:endParaRPr lang="da-DK" sz="3200" dirty="0"/>
          </a:p>
        </p:txBody>
      </p:sp>
      <p:sp>
        <p:nvSpPr>
          <p:cNvPr id="610307" name="Rectangle 3"/>
          <p:cNvSpPr>
            <a:spLocks noGrp="1" noChangeArrowheads="1"/>
          </p:cNvSpPr>
          <p:nvPr>
            <p:ph type="body" idx="1"/>
          </p:nvPr>
        </p:nvSpPr>
        <p:spPr/>
        <p:txBody>
          <a:bodyPr/>
          <a:lstStyle/>
          <a:p>
            <a:r>
              <a:rPr lang="da-DK" dirty="0" smtClean="0"/>
              <a:t>The </a:t>
            </a:r>
            <a:r>
              <a:rPr lang="da-DK" dirty="0"/>
              <a:t>new variables/dimensions</a:t>
            </a:r>
          </a:p>
          <a:p>
            <a:pPr lvl="1"/>
            <a:r>
              <a:rPr lang="da-DK" dirty="0"/>
              <a:t>Are linear combinations of the original ones</a:t>
            </a:r>
          </a:p>
          <a:p>
            <a:pPr lvl="1"/>
            <a:r>
              <a:rPr lang="da-DK" dirty="0"/>
              <a:t>Are uncorrelated with one another</a:t>
            </a:r>
          </a:p>
          <a:p>
            <a:pPr lvl="2"/>
            <a:r>
              <a:rPr lang="da-DK" dirty="0"/>
              <a:t>Orthogonal in original dimension space</a:t>
            </a:r>
          </a:p>
          <a:p>
            <a:pPr lvl="1"/>
            <a:r>
              <a:rPr lang="da-DK" dirty="0"/>
              <a:t>Capture as much of the original variance in the data as possible</a:t>
            </a:r>
          </a:p>
          <a:p>
            <a:pPr lvl="1"/>
            <a:r>
              <a:rPr lang="da-DK" dirty="0"/>
              <a:t>Are called Principal Components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78873"/>
          </a:xfrm>
        </p:spPr>
        <p:txBody>
          <a:bodyPr/>
          <a:lstStyle/>
          <a:p>
            <a:r>
              <a:rPr lang="da-DK" sz="3200" dirty="0" smtClean="0">
                <a:solidFill>
                  <a:srgbClr val="000000"/>
                </a:solidFill>
              </a:rPr>
              <a:t>Principal Component Analysis (PCA)</a:t>
            </a:r>
            <a:endParaRPr lang="en-US" dirty="0"/>
          </a:p>
        </p:txBody>
      </p:sp>
      <p:sp>
        <p:nvSpPr>
          <p:cNvPr id="3" name="Content Placeholder 2"/>
          <p:cNvSpPr>
            <a:spLocks noGrp="1"/>
          </p:cNvSpPr>
          <p:nvPr>
            <p:ph idx="1"/>
          </p:nvPr>
        </p:nvSpPr>
        <p:spPr>
          <a:xfrm>
            <a:off x="685800" y="1288472"/>
            <a:ext cx="7772400" cy="2815937"/>
          </a:xfrm>
        </p:spPr>
        <p:txBody>
          <a:bodyPr>
            <a:normAutofit fontScale="92500" lnSpcReduction="20000"/>
          </a:bodyPr>
          <a:lstStyle/>
          <a:p>
            <a:r>
              <a:rPr lang="en-US" sz="2800" dirty="0" smtClean="0">
                <a:solidFill>
                  <a:schemeClr val="tx1"/>
                </a:solidFill>
                <a:latin typeface="+mn-lt"/>
                <a:ea typeface="+mn-ea"/>
                <a:cs typeface="+mn-cs"/>
              </a:rPr>
              <a:t>PCA </a:t>
            </a:r>
            <a:r>
              <a:rPr lang="en-US" sz="2800" dirty="0">
                <a:solidFill>
                  <a:schemeClr val="tx1"/>
                </a:solidFill>
                <a:latin typeface="+mn-lt"/>
                <a:ea typeface="+mn-ea"/>
                <a:cs typeface="+mn-cs"/>
              </a:rPr>
              <a:t>is one of the most commonly used </a:t>
            </a:r>
            <a:r>
              <a:rPr lang="en-US" sz="2800" dirty="0" smtClean="0">
                <a:solidFill>
                  <a:schemeClr val="tx1"/>
                </a:solidFill>
                <a:latin typeface="+mn-lt"/>
                <a:ea typeface="+mn-ea"/>
                <a:cs typeface="+mn-cs"/>
              </a:rPr>
              <a:t>unsupervised machine learning algorithms</a:t>
            </a:r>
            <a:r>
              <a:rPr lang="en-US" sz="2800" dirty="0">
                <a:solidFill>
                  <a:schemeClr val="tx1"/>
                </a:solidFill>
                <a:latin typeface="+mn-lt"/>
                <a:ea typeface="+mn-ea"/>
                <a:cs typeface="+mn-cs"/>
              </a:rPr>
              <a:t> </a:t>
            </a:r>
            <a:r>
              <a:rPr lang="en-US" sz="2800" dirty="0" smtClean="0">
                <a:solidFill>
                  <a:schemeClr val="tx1"/>
                </a:solidFill>
                <a:latin typeface="+mn-lt"/>
                <a:ea typeface="+mn-ea"/>
                <a:cs typeface="+mn-cs"/>
              </a:rPr>
              <a:t>used for dimensionality reduction </a:t>
            </a:r>
          </a:p>
          <a:p>
            <a:r>
              <a:rPr lang="en-US" sz="2800" dirty="0" smtClean="0"/>
              <a:t>Imagine we have a 2-dimensional dataset. Each dimension can be represented as a feature column:</a:t>
            </a:r>
          </a:p>
          <a:p>
            <a:endParaRPr lang="en-US" sz="2800" dirty="0" smtClean="0">
              <a:solidFill>
                <a:schemeClr val="tx1"/>
              </a:solidFill>
              <a:latin typeface="+mn-lt"/>
              <a:ea typeface="+mn-ea"/>
              <a:cs typeface="+mn-cs"/>
            </a:endParaRPr>
          </a:p>
          <a:p>
            <a:pPr>
              <a:buNone/>
            </a:pPr>
            <a:r>
              <a:rPr lang="en-US" sz="2800" dirty="0" smtClean="0"/>
              <a:t>  </a:t>
            </a:r>
            <a:endParaRPr lang="en-US" sz="2800" dirty="0"/>
          </a:p>
        </p:txBody>
      </p:sp>
      <p:pic>
        <p:nvPicPr>
          <p:cNvPr id="4" name="Content Placeholder 3" descr="tab1.png"/>
          <p:cNvPicPr>
            <a:picLocks noChangeAspect="1"/>
          </p:cNvPicPr>
          <p:nvPr/>
        </p:nvPicPr>
        <p:blipFill>
          <a:blip r:embed="rId2"/>
          <a:stretch>
            <a:fillRect/>
          </a:stretch>
        </p:blipFill>
        <p:spPr bwMode="auto">
          <a:xfrm>
            <a:off x="4125190" y="3690684"/>
            <a:ext cx="2502029" cy="231151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59427"/>
          </a:xfrm>
        </p:spPr>
        <p:txBody>
          <a:bodyPr/>
          <a:lstStyle/>
          <a:p>
            <a:r>
              <a:rPr lang="da-DK" sz="3200" dirty="0" smtClean="0">
                <a:solidFill>
                  <a:srgbClr val="000000"/>
                </a:solidFill>
              </a:rPr>
              <a:t>Principal Component Analysis (PCA)</a:t>
            </a:r>
            <a:endParaRPr lang="en-US" dirty="0"/>
          </a:p>
        </p:txBody>
      </p:sp>
      <p:pic>
        <p:nvPicPr>
          <p:cNvPr id="4" name="Content Placeholder 3" descr="sctr1.png"/>
          <p:cNvPicPr>
            <a:picLocks noGrp="1" noChangeAspect="1"/>
          </p:cNvPicPr>
          <p:nvPr>
            <p:ph idx="1"/>
          </p:nvPr>
        </p:nvPicPr>
        <p:blipFill>
          <a:blip r:embed="rId2"/>
          <a:stretch>
            <a:fillRect/>
          </a:stretch>
        </p:blipFill>
        <p:spPr>
          <a:xfrm>
            <a:off x="3769524" y="2396698"/>
            <a:ext cx="3516118" cy="3016966"/>
          </a:xfrm>
        </p:spPr>
      </p:pic>
      <p:sp>
        <p:nvSpPr>
          <p:cNvPr id="5" name="Rectangle 4"/>
          <p:cNvSpPr/>
          <p:nvPr/>
        </p:nvSpPr>
        <p:spPr>
          <a:xfrm>
            <a:off x="1153391" y="1565701"/>
            <a:ext cx="7169727" cy="830997"/>
          </a:xfrm>
          <a:prstGeom prst="rect">
            <a:avLst/>
          </a:prstGeom>
        </p:spPr>
        <p:txBody>
          <a:bodyPr wrap="square">
            <a:spAutoFit/>
          </a:bodyPr>
          <a:lstStyle/>
          <a:p>
            <a:r>
              <a:rPr lang="en-US" dirty="0"/>
              <a:t>We can represent the same dataset as a </a:t>
            </a:r>
            <a:r>
              <a:rPr lang="en-US" dirty="0" err="1"/>
              <a:t>scatterplot</a:t>
            </a:r>
            <a:r>
              <a:rPr lang="en-US" dirty="0"/>
              <a:t>:</a:t>
            </a:r>
          </a:p>
        </p:txBody>
      </p:sp>
      <p:pic>
        <p:nvPicPr>
          <p:cNvPr id="6" name="Content Placeholder 3" descr="tab1.png"/>
          <p:cNvPicPr>
            <a:picLocks noChangeAspect="1"/>
          </p:cNvPicPr>
          <p:nvPr/>
        </p:nvPicPr>
        <p:blipFill>
          <a:blip r:embed="rId3"/>
          <a:stretch>
            <a:fillRect/>
          </a:stretch>
        </p:blipFill>
        <p:spPr bwMode="auto">
          <a:xfrm>
            <a:off x="1153391" y="2776283"/>
            <a:ext cx="2502029" cy="231151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47700"/>
          </a:xfrm>
        </p:spPr>
        <p:txBody>
          <a:bodyPr/>
          <a:lstStyle/>
          <a:p>
            <a:r>
              <a:rPr lang="da-DK" sz="3200" dirty="0" smtClean="0">
                <a:solidFill>
                  <a:srgbClr val="000000"/>
                </a:solidFill>
              </a:rPr>
              <a:t>Principal Component Analysis (PCA)</a:t>
            </a:r>
            <a:endParaRPr lang="en-US" dirty="0"/>
          </a:p>
        </p:txBody>
      </p:sp>
      <p:sp>
        <p:nvSpPr>
          <p:cNvPr id="3" name="Content Placeholder 2"/>
          <p:cNvSpPr>
            <a:spLocks noGrp="1"/>
          </p:cNvSpPr>
          <p:nvPr>
            <p:ph idx="1"/>
          </p:nvPr>
        </p:nvSpPr>
        <p:spPr>
          <a:xfrm>
            <a:off x="685800" y="1569028"/>
            <a:ext cx="3707115" cy="3906982"/>
          </a:xfrm>
        </p:spPr>
        <p:txBody>
          <a:bodyPr/>
          <a:lstStyle/>
          <a:p>
            <a:r>
              <a:rPr lang="en-US" sz="2800" dirty="0">
                <a:solidFill>
                  <a:schemeClr val="tx1"/>
                </a:solidFill>
                <a:latin typeface="+mn-lt"/>
                <a:ea typeface="+mn-ea"/>
                <a:cs typeface="+mn-cs"/>
              </a:rPr>
              <a:t>The main aim of PCA is to find such principal components, which can describe the data points with </a:t>
            </a:r>
            <a:r>
              <a:rPr lang="en-US" sz="2800" dirty="0" smtClean="0">
                <a:solidFill>
                  <a:schemeClr val="tx1"/>
                </a:solidFill>
                <a:latin typeface="+mn-lt"/>
                <a:ea typeface="+mn-ea"/>
                <a:cs typeface="+mn-cs"/>
              </a:rPr>
              <a:t>these </a:t>
            </a:r>
            <a:r>
              <a:rPr lang="en-US" sz="2800" dirty="0">
                <a:solidFill>
                  <a:schemeClr val="tx1"/>
                </a:solidFill>
                <a:latin typeface="+mn-lt"/>
                <a:ea typeface="+mn-ea"/>
                <a:cs typeface="+mn-cs"/>
              </a:rPr>
              <a:t>set </a:t>
            </a:r>
            <a:r>
              <a:rPr lang="en-US" sz="2800" dirty="0" smtClean="0">
                <a:solidFill>
                  <a:schemeClr val="tx1"/>
                </a:solidFill>
                <a:latin typeface="+mn-lt"/>
                <a:ea typeface="+mn-ea"/>
                <a:cs typeface="+mn-cs"/>
              </a:rPr>
              <a:t>of principal </a:t>
            </a:r>
            <a:r>
              <a:rPr lang="en-US" sz="2800" dirty="0">
                <a:solidFill>
                  <a:schemeClr val="tx1"/>
                </a:solidFill>
                <a:latin typeface="+mn-lt"/>
                <a:ea typeface="+mn-ea"/>
                <a:cs typeface="+mn-cs"/>
              </a:rPr>
              <a:t>components.</a:t>
            </a:r>
            <a:endParaRPr lang="en-US" sz="2800" dirty="0"/>
          </a:p>
        </p:txBody>
      </p:sp>
      <p:pic>
        <p:nvPicPr>
          <p:cNvPr id="4" name="Picture 3" descr="pca1.png"/>
          <p:cNvPicPr>
            <a:picLocks noChangeAspect="1"/>
          </p:cNvPicPr>
          <p:nvPr/>
        </p:nvPicPr>
        <p:blipFill>
          <a:blip r:embed="rId2"/>
          <a:stretch>
            <a:fillRect/>
          </a:stretch>
        </p:blipFill>
        <p:spPr>
          <a:xfrm>
            <a:off x="4392915" y="1752600"/>
            <a:ext cx="4310576" cy="418060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da-DK" sz="3200" dirty="0" smtClean="0">
                <a:solidFill>
                  <a:srgbClr val="000000"/>
                </a:solidFill>
              </a:rPr>
              <a:t>Principal Component Analysis (PCA)</a:t>
            </a:r>
            <a:endParaRPr lang="en-US" dirty="0"/>
          </a:p>
        </p:txBody>
      </p:sp>
      <p:sp>
        <p:nvSpPr>
          <p:cNvPr id="3" name="Content Placeholder 2"/>
          <p:cNvSpPr>
            <a:spLocks noGrp="1"/>
          </p:cNvSpPr>
          <p:nvPr>
            <p:ph idx="1"/>
          </p:nvPr>
        </p:nvSpPr>
        <p:spPr>
          <a:xfrm>
            <a:off x="685800" y="1506682"/>
            <a:ext cx="7772400" cy="4589318"/>
          </a:xfrm>
        </p:spPr>
        <p:txBody>
          <a:bodyPr/>
          <a:lstStyle/>
          <a:p>
            <a:r>
              <a:rPr lang="en-US" sz="2800" dirty="0">
                <a:solidFill>
                  <a:schemeClr val="tx1"/>
                </a:solidFill>
                <a:latin typeface="+mn-lt"/>
                <a:ea typeface="+mn-ea"/>
                <a:cs typeface="+mn-cs"/>
              </a:rPr>
              <a:t>The principal components are vectors, but they are not chosen at </a:t>
            </a:r>
            <a:r>
              <a:rPr lang="en-US" sz="2800" dirty="0" smtClean="0">
                <a:solidFill>
                  <a:schemeClr val="tx1"/>
                </a:solidFill>
                <a:latin typeface="+mn-lt"/>
                <a:ea typeface="+mn-ea"/>
                <a:cs typeface="+mn-cs"/>
              </a:rPr>
              <a:t>random.</a:t>
            </a:r>
          </a:p>
          <a:p>
            <a:r>
              <a:rPr lang="en-US" sz="2800" dirty="0" smtClean="0">
                <a:solidFill>
                  <a:schemeClr val="tx1"/>
                </a:solidFill>
                <a:latin typeface="+mn-lt"/>
                <a:ea typeface="+mn-ea"/>
                <a:cs typeface="+mn-cs"/>
              </a:rPr>
              <a:t>The</a:t>
            </a:r>
            <a:r>
              <a:rPr lang="en-US" sz="2800" dirty="0">
                <a:solidFill>
                  <a:schemeClr val="tx1"/>
                </a:solidFill>
                <a:latin typeface="+mn-lt"/>
                <a:ea typeface="+mn-ea"/>
                <a:cs typeface="+mn-cs"/>
              </a:rPr>
              <a:t> first principal </a:t>
            </a:r>
            <a:r>
              <a:rPr lang="en-US" sz="2800" dirty="0" smtClean="0">
                <a:solidFill>
                  <a:schemeClr val="tx1"/>
                </a:solidFill>
                <a:latin typeface="+mn-lt"/>
                <a:ea typeface="+mn-ea"/>
                <a:cs typeface="+mn-cs"/>
              </a:rPr>
              <a:t>component (PCA1)</a:t>
            </a:r>
            <a:r>
              <a:rPr lang="en-US" sz="2800" dirty="0">
                <a:solidFill>
                  <a:schemeClr val="tx1"/>
                </a:solidFill>
                <a:latin typeface="+mn-lt"/>
                <a:ea typeface="+mn-ea"/>
                <a:cs typeface="+mn-cs"/>
              </a:rPr>
              <a:t> is computed so that it explains the greatest amount of variance in the original features. </a:t>
            </a:r>
            <a:endParaRPr lang="en-US" sz="2800" dirty="0" smtClean="0">
              <a:solidFill>
                <a:schemeClr val="tx1"/>
              </a:solidFill>
              <a:latin typeface="+mn-lt"/>
              <a:ea typeface="+mn-ea"/>
              <a:cs typeface="+mn-cs"/>
            </a:endParaRPr>
          </a:p>
          <a:p>
            <a:r>
              <a:rPr lang="en-US" sz="2800" dirty="0" smtClean="0">
                <a:solidFill>
                  <a:schemeClr val="tx1"/>
                </a:solidFill>
                <a:latin typeface="+mn-lt"/>
                <a:ea typeface="+mn-ea"/>
                <a:cs typeface="+mn-cs"/>
              </a:rPr>
              <a:t>The</a:t>
            </a:r>
            <a:r>
              <a:rPr lang="en-US" sz="2800" dirty="0">
                <a:solidFill>
                  <a:schemeClr val="tx1"/>
                </a:solidFill>
                <a:latin typeface="+mn-lt"/>
                <a:ea typeface="+mn-ea"/>
                <a:cs typeface="+mn-cs"/>
              </a:rPr>
              <a:t> second </a:t>
            </a:r>
            <a:r>
              <a:rPr lang="en-US" sz="2800" dirty="0" smtClean="0">
                <a:solidFill>
                  <a:schemeClr val="tx1"/>
                </a:solidFill>
                <a:latin typeface="+mn-lt"/>
                <a:ea typeface="+mn-ea"/>
                <a:cs typeface="+mn-cs"/>
              </a:rPr>
              <a:t>component (PCA2)</a:t>
            </a:r>
            <a:r>
              <a:rPr lang="en-US" sz="2800" dirty="0">
                <a:solidFill>
                  <a:schemeClr val="tx1"/>
                </a:solidFill>
                <a:latin typeface="+mn-lt"/>
                <a:ea typeface="+mn-ea"/>
                <a:cs typeface="+mn-cs"/>
              </a:rPr>
              <a:t> is orthogonal to the first, and it explains the greatest amount of variance left </a:t>
            </a:r>
            <a:r>
              <a:rPr lang="en-US" sz="2800" i="1" dirty="0">
                <a:solidFill>
                  <a:schemeClr val="tx1"/>
                </a:solidFill>
                <a:latin typeface="+mn-lt"/>
                <a:ea typeface="+mn-ea"/>
                <a:cs typeface="+mn-cs"/>
              </a:rPr>
              <a:t>after</a:t>
            </a:r>
            <a:r>
              <a:rPr lang="en-US" sz="2800" dirty="0">
                <a:solidFill>
                  <a:schemeClr val="tx1"/>
                </a:solidFill>
                <a:latin typeface="+mn-lt"/>
                <a:ea typeface="+mn-ea"/>
                <a:cs typeface="+mn-cs"/>
              </a:rPr>
              <a:t> the first principal component. </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82782"/>
          </a:xfrm>
        </p:spPr>
        <p:txBody>
          <a:bodyPr/>
          <a:lstStyle/>
          <a:p>
            <a:r>
              <a:rPr lang="da-DK" sz="3200" dirty="0" smtClean="0">
                <a:solidFill>
                  <a:srgbClr val="000000"/>
                </a:solidFill>
              </a:rPr>
              <a:t>Principal Component Analysis (PCA)</a:t>
            </a:r>
            <a:endParaRPr lang="en-US" dirty="0"/>
          </a:p>
        </p:txBody>
      </p:sp>
      <p:sp>
        <p:nvSpPr>
          <p:cNvPr id="3" name="Content Placeholder 2"/>
          <p:cNvSpPr>
            <a:spLocks noGrp="1"/>
          </p:cNvSpPr>
          <p:nvPr>
            <p:ph idx="1"/>
          </p:nvPr>
        </p:nvSpPr>
        <p:spPr>
          <a:xfrm>
            <a:off x="685800" y="1392382"/>
            <a:ext cx="7772400" cy="4703618"/>
          </a:xfrm>
        </p:spPr>
        <p:txBody>
          <a:bodyPr/>
          <a:lstStyle/>
          <a:p>
            <a:r>
              <a:rPr lang="en-US" dirty="0">
                <a:solidFill>
                  <a:schemeClr val="tx1"/>
                </a:solidFill>
                <a:latin typeface="+mn-lt"/>
                <a:ea typeface="+mn-ea"/>
                <a:cs typeface="+mn-cs"/>
              </a:rPr>
              <a:t>The original data can be represented as feature vectors. </a:t>
            </a:r>
            <a:endParaRPr lang="en-US" dirty="0" smtClean="0">
              <a:solidFill>
                <a:schemeClr val="tx1"/>
              </a:solidFill>
              <a:latin typeface="+mn-lt"/>
              <a:ea typeface="+mn-ea"/>
              <a:cs typeface="+mn-cs"/>
            </a:endParaRPr>
          </a:p>
          <a:p>
            <a:r>
              <a:rPr lang="en-US" dirty="0" smtClean="0">
                <a:solidFill>
                  <a:schemeClr val="tx1"/>
                </a:solidFill>
                <a:latin typeface="+mn-lt"/>
                <a:ea typeface="+mn-ea"/>
                <a:cs typeface="+mn-cs"/>
              </a:rPr>
              <a:t>Getting </a:t>
            </a:r>
            <a:r>
              <a:rPr lang="en-US" dirty="0">
                <a:solidFill>
                  <a:schemeClr val="tx1"/>
                </a:solidFill>
                <a:latin typeface="+mn-lt"/>
                <a:ea typeface="+mn-ea"/>
                <a:cs typeface="+mn-cs"/>
              </a:rPr>
              <a:t>principal components is equivalent to a linear transformation of data from the feature1 x feature2 axis to a PCA1 x PCA2 axis.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813955"/>
          </a:xfrm>
        </p:spPr>
        <p:txBody>
          <a:bodyPr/>
          <a:lstStyle/>
          <a:p>
            <a:r>
              <a:rPr lang="da-DK" sz="3200" dirty="0" smtClean="0">
                <a:solidFill>
                  <a:srgbClr val="000000"/>
                </a:solidFill>
              </a:rPr>
              <a:t>Principal Component Analysis (PCA)</a:t>
            </a:r>
            <a:endParaRPr lang="en-US" dirty="0"/>
          </a:p>
        </p:txBody>
      </p:sp>
      <p:sp>
        <p:nvSpPr>
          <p:cNvPr id="3" name="Content Placeholder 2"/>
          <p:cNvSpPr>
            <a:spLocks noGrp="1"/>
          </p:cNvSpPr>
          <p:nvPr>
            <p:ph idx="1"/>
          </p:nvPr>
        </p:nvSpPr>
        <p:spPr>
          <a:xfrm>
            <a:off x="685800" y="1423554"/>
            <a:ext cx="7772400" cy="5049981"/>
          </a:xfrm>
        </p:spPr>
        <p:txBody>
          <a:bodyPr/>
          <a:lstStyle/>
          <a:p>
            <a:r>
              <a:rPr lang="en-US" dirty="0">
                <a:solidFill>
                  <a:schemeClr val="tx1"/>
                </a:solidFill>
                <a:latin typeface="+mn-lt"/>
                <a:ea typeface="+mn-ea"/>
                <a:cs typeface="+mn-cs"/>
              </a:rPr>
              <a:t>Why is this useful?</a:t>
            </a:r>
          </a:p>
          <a:p>
            <a:r>
              <a:rPr lang="en-US" sz="2400" dirty="0">
                <a:solidFill>
                  <a:schemeClr val="tx1"/>
                </a:solidFill>
                <a:latin typeface="+mn-lt"/>
                <a:ea typeface="+mn-ea"/>
                <a:cs typeface="+mn-cs"/>
              </a:rPr>
              <a:t>In the small 2-dimensional example above, we do not gain much by using PCA, since a feature vector of the form (feature1, feature2) will be very similar to a vector of the form </a:t>
            </a:r>
            <a:r>
              <a:rPr lang="en-US" sz="2400" dirty="0" smtClean="0">
                <a:solidFill>
                  <a:schemeClr val="tx1"/>
                </a:solidFill>
                <a:latin typeface="+mn-lt"/>
                <a:ea typeface="+mn-ea"/>
                <a:cs typeface="+mn-cs"/>
              </a:rPr>
              <a:t>(PCA1, PCA2).</a:t>
            </a:r>
            <a:r>
              <a:rPr lang="en-US" sz="2400" dirty="0">
                <a:solidFill>
                  <a:schemeClr val="tx1"/>
                </a:solidFill>
                <a:latin typeface="+mn-lt"/>
                <a:ea typeface="+mn-ea"/>
                <a:cs typeface="+mn-cs"/>
              </a:rPr>
              <a:t>  </a:t>
            </a:r>
            <a:endParaRPr lang="en-US" sz="2400" dirty="0" smtClean="0">
              <a:solidFill>
                <a:schemeClr val="tx1"/>
              </a:solidFill>
              <a:latin typeface="+mn-lt"/>
              <a:ea typeface="+mn-ea"/>
              <a:cs typeface="+mn-cs"/>
            </a:endParaRPr>
          </a:p>
          <a:p>
            <a:r>
              <a:rPr lang="en-US" sz="2400" dirty="0" smtClean="0">
                <a:solidFill>
                  <a:schemeClr val="tx1"/>
                </a:solidFill>
                <a:latin typeface="+mn-lt"/>
                <a:ea typeface="+mn-ea"/>
                <a:cs typeface="+mn-cs"/>
              </a:rPr>
              <a:t>But </a:t>
            </a:r>
            <a:r>
              <a:rPr lang="en-US" sz="2400" dirty="0">
                <a:solidFill>
                  <a:schemeClr val="tx1"/>
                </a:solidFill>
                <a:latin typeface="+mn-lt"/>
                <a:ea typeface="+mn-ea"/>
                <a:cs typeface="+mn-cs"/>
              </a:rPr>
              <a:t>in very large datasets (where the number of dimensions can surpass 100 different variables), principal components remove noise by reducing a large number of features to just a couple of principal components. </a:t>
            </a:r>
            <a:endParaRPr lang="en-US" sz="2400" dirty="0" smtClean="0">
              <a:solidFill>
                <a:schemeClr val="tx1"/>
              </a:solidFill>
              <a:latin typeface="+mn-lt"/>
              <a:ea typeface="+mn-ea"/>
              <a:cs typeface="+mn-cs"/>
            </a:endParaRPr>
          </a:p>
          <a:p>
            <a:r>
              <a:rPr lang="en-US" sz="2400" dirty="0" smtClean="0">
                <a:solidFill>
                  <a:schemeClr val="tx1"/>
                </a:solidFill>
                <a:latin typeface="+mn-lt"/>
                <a:ea typeface="+mn-ea"/>
                <a:cs typeface="+mn-cs"/>
              </a:rPr>
              <a:t>Principal </a:t>
            </a:r>
            <a:r>
              <a:rPr lang="en-US" sz="2400" dirty="0">
                <a:solidFill>
                  <a:schemeClr val="tx1"/>
                </a:solidFill>
                <a:latin typeface="+mn-lt"/>
                <a:ea typeface="+mn-ea"/>
                <a:cs typeface="+mn-cs"/>
              </a:rPr>
              <a:t>components are orthogonal projections of data onto lower-dimensional space.</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1218"/>
          </a:xfrm>
        </p:spPr>
        <p:txBody>
          <a:bodyPr/>
          <a:lstStyle/>
          <a:p>
            <a:r>
              <a:rPr lang="da-DK" sz="3200" b="1" dirty="0" smtClean="0">
                <a:solidFill>
                  <a:srgbClr val="000000"/>
                </a:solidFill>
              </a:rPr>
              <a:t>Principal Component Analysis (PCA)</a:t>
            </a:r>
            <a:endParaRPr lang="en-US" b="1" dirty="0"/>
          </a:p>
        </p:txBody>
      </p:sp>
      <p:sp>
        <p:nvSpPr>
          <p:cNvPr id="3" name="Content Placeholder 2"/>
          <p:cNvSpPr>
            <a:spLocks noGrp="1"/>
          </p:cNvSpPr>
          <p:nvPr>
            <p:ph idx="1"/>
          </p:nvPr>
        </p:nvSpPr>
        <p:spPr>
          <a:xfrm>
            <a:off x="477982" y="1350818"/>
            <a:ext cx="8250382" cy="5143500"/>
          </a:xfrm>
        </p:spPr>
        <p:txBody>
          <a:bodyPr/>
          <a:lstStyle/>
          <a:p>
            <a:r>
              <a:rPr lang="en-US" sz="2400" dirty="0">
                <a:solidFill>
                  <a:schemeClr val="tx1"/>
                </a:solidFill>
                <a:latin typeface="+mn-lt"/>
                <a:ea typeface="+mn-ea"/>
                <a:cs typeface="+mn-cs"/>
              </a:rPr>
              <a:t>In theory, PCA produces the same number of principal components as there are features in the training dataset. </a:t>
            </a:r>
            <a:endParaRPr lang="en-US" sz="2400" dirty="0" smtClean="0">
              <a:solidFill>
                <a:schemeClr val="tx1"/>
              </a:solidFill>
              <a:latin typeface="+mn-lt"/>
              <a:ea typeface="+mn-ea"/>
              <a:cs typeface="+mn-cs"/>
            </a:endParaRPr>
          </a:p>
          <a:p>
            <a:r>
              <a:rPr lang="en-US" sz="2400" dirty="0" smtClean="0"/>
              <a:t>But, i</a:t>
            </a:r>
            <a:r>
              <a:rPr lang="en-US" sz="2400" dirty="0" smtClean="0">
                <a:solidFill>
                  <a:schemeClr val="tx1"/>
                </a:solidFill>
                <a:latin typeface="+mn-lt"/>
                <a:ea typeface="+mn-ea"/>
                <a:cs typeface="+mn-cs"/>
              </a:rPr>
              <a:t>n </a:t>
            </a:r>
            <a:r>
              <a:rPr lang="en-US" sz="2400" dirty="0">
                <a:solidFill>
                  <a:schemeClr val="tx1"/>
                </a:solidFill>
                <a:latin typeface="+mn-lt"/>
                <a:ea typeface="+mn-ea"/>
                <a:cs typeface="+mn-cs"/>
              </a:rPr>
              <a:t>practice, </a:t>
            </a:r>
            <a:r>
              <a:rPr lang="en-US" sz="2400" dirty="0" smtClean="0">
                <a:solidFill>
                  <a:schemeClr val="tx1"/>
                </a:solidFill>
                <a:latin typeface="+mn-lt"/>
                <a:ea typeface="+mn-ea"/>
                <a:cs typeface="+mn-cs"/>
              </a:rPr>
              <a:t>we </a:t>
            </a:r>
            <a:r>
              <a:rPr lang="en-US" sz="2400" dirty="0">
                <a:solidFill>
                  <a:schemeClr val="tx1"/>
                </a:solidFill>
                <a:latin typeface="+mn-lt"/>
                <a:ea typeface="+mn-ea"/>
                <a:cs typeface="+mn-cs"/>
              </a:rPr>
              <a:t>do not keep all of the principal components. </a:t>
            </a:r>
            <a:endParaRPr lang="en-US" sz="2400" dirty="0" smtClean="0">
              <a:solidFill>
                <a:schemeClr val="tx1"/>
              </a:solidFill>
              <a:latin typeface="+mn-lt"/>
              <a:ea typeface="+mn-ea"/>
              <a:cs typeface="+mn-cs"/>
            </a:endParaRPr>
          </a:p>
          <a:p>
            <a:r>
              <a:rPr lang="en-US" sz="2400" dirty="0" smtClean="0">
                <a:solidFill>
                  <a:schemeClr val="tx1"/>
                </a:solidFill>
                <a:latin typeface="+mn-lt"/>
                <a:ea typeface="+mn-ea"/>
                <a:cs typeface="+mn-cs"/>
              </a:rPr>
              <a:t>Each </a:t>
            </a:r>
            <a:r>
              <a:rPr lang="en-US" sz="2400" dirty="0">
                <a:solidFill>
                  <a:schemeClr val="tx1"/>
                </a:solidFill>
                <a:latin typeface="+mn-lt"/>
                <a:ea typeface="+mn-ea"/>
                <a:cs typeface="+mn-cs"/>
              </a:rPr>
              <a:t>successive principal component explains the variance that is left after its preceding </a:t>
            </a:r>
            <a:r>
              <a:rPr lang="en-US" sz="2400" dirty="0" smtClean="0">
                <a:solidFill>
                  <a:schemeClr val="tx1"/>
                </a:solidFill>
                <a:latin typeface="+mn-lt"/>
                <a:ea typeface="+mn-ea"/>
                <a:cs typeface="+mn-cs"/>
              </a:rPr>
              <a:t>component.</a:t>
            </a:r>
          </a:p>
          <a:p>
            <a:r>
              <a:rPr lang="en-US" sz="2400" dirty="0" smtClean="0"/>
              <a:t>S</a:t>
            </a:r>
            <a:r>
              <a:rPr lang="en-US" sz="2400" dirty="0" smtClean="0">
                <a:solidFill>
                  <a:schemeClr val="tx1"/>
                </a:solidFill>
                <a:latin typeface="+mn-lt"/>
                <a:ea typeface="+mn-ea"/>
                <a:cs typeface="+mn-cs"/>
              </a:rPr>
              <a:t>o </a:t>
            </a:r>
            <a:r>
              <a:rPr lang="en-US" sz="2400" dirty="0">
                <a:solidFill>
                  <a:schemeClr val="tx1"/>
                </a:solidFill>
                <a:latin typeface="+mn-lt"/>
                <a:ea typeface="+mn-ea"/>
                <a:cs typeface="+mn-cs"/>
              </a:rPr>
              <a:t>picking just a few of the first components sufficiently approximates the original dataset </a:t>
            </a:r>
            <a:r>
              <a:rPr lang="en-US" sz="2400" i="1" dirty="0">
                <a:solidFill>
                  <a:schemeClr val="tx1"/>
                </a:solidFill>
                <a:latin typeface="+mn-lt"/>
                <a:ea typeface="+mn-ea"/>
                <a:cs typeface="+mn-cs"/>
              </a:rPr>
              <a:t>without </a:t>
            </a:r>
            <a:r>
              <a:rPr lang="en-US" sz="2400" dirty="0">
                <a:solidFill>
                  <a:schemeClr val="tx1"/>
                </a:solidFill>
                <a:latin typeface="+mn-lt"/>
                <a:ea typeface="+mn-ea"/>
                <a:cs typeface="+mn-cs"/>
              </a:rPr>
              <a:t>the need for additional features</a:t>
            </a:r>
            <a:r>
              <a:rPr lang="en-US" sz="2400" dirty="0" smtClean="0">
                <a:solidFill>
                  <a:schemeClr val="tx1"/>
                </a:solidFill>
                <a:latin typeface="+mn-lt"/>
                <a:ea typeface="+mn-ea"/>
                <a:cs typeface="+mn-cs"/>
              </a:rPr>
              <a:t>.</a:t>
            </a:r>
            <a:endParaRPr lang="en-US" sz="2400" dirty="0">
              <a:solidFill>
                <a:schemeClr val="tx1"/>
              </a:solidFill>
              <a:latin typeface="+mn-lt"/>
              <a:ea typeface="+mn-ea"/>
              <a:cs typeface="+mn-cs"/>
            </a:endParaRPr>
          </a:p>
          <a:p>
            <a:r>
              <a:rPr lang="en-US" sz="2400" dirty="0">
                <a:solidFill>
                  <a:schemeClr val="tx1"/>
                </a:solidFill>
                <a:latin typeface="+mn-lt"/>
                <a:ea typeface="+mn-ea"/>
                <a:cs typeface="+mn-cs"/>
              </a:rPr>
              <a:t>The result is a new set of features in the form of principal components, which have multiple practical applications.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b="1" dirty="0" smtClean="0">
                <a:solidFill>
                  <a:srgbClr val="000000"/>
                </a:solidFill>
              </a:rPr>
              <a:t>Principal Component Analysis (PCA)</a:t>
            </a:r>
            <a:endParaRPr lang="en-US" dirty="0"/>
          </a:p>
        </p:txBody>
      </p:sp>
      <p:sp>
        <p:nvSpPr>
          <p:cNvPr id="3" name="Content Placeholder 2"/>
          <p:cNvSpPr>
            <a:spLocks noGrp="1"/>
          </p:cNvSpPr>
          <p:nvPr>
            <p:ph idx="1"/>
          </p:nvPr>
        </p:nvSpPr>
        <p:spPr/>
        <p:txBody>
          <a:bodyPr/>
          <a:lstStyle/>
          <a:p>
            <a:r>
              <a:rPr lang="en-US" sz="2400" dirty="0">
                <a:solidFill>
                  <a:schemeClr val="tx1"/>
                </a:solidFill>
                <a:latin typeface="+mn-lt"/>
                <a:ea typeface="+mn-ea"/>
                <a:cs typeface="+mn-cs"/>
              </a:rPr>
              <a:t>How is PCA calculated?</a:t>
            </a:r>
          </a:p>
          <a:p>
            <a:r>
              <a:rPr lang="en-US" sz="2400" dirty="0">
                <a:solidFill>
                  <a:schemeClr val="tx1"/>
                </a:solidFill>
                <a:latin typeface="+mn-lt"/>
                <a:ea typeface="+mn-ea"/>
                <a:cs typeface="+mn-cs"/>
              </a:rPr>
              <a:t>There are multiple ways to calculate PCA:</a:t>
            </a:r>
          </a:p>
          <a:p>
            <a:pPr>
              <a:buNone/>
            </a:pPr>
            <a:r>
              <a:rPr lang="en-US" sz="2400" dirty="0" smtClean="0">
                <a:solidFill>
                  <a:schemeClr val="tx1"/>
                </a:solidFill>
                <a:latin typeface="+mn-lt"/>
                <a:ea typeface="+mn-ea"/>
                <a:cs typeface="+mn-cs"/>
              </a:rPr>
              <a:t>	</a:t>
            </a:r>
            <a:r>
              <a:rPr lang="en-US" sz="2400" dirty="0" err="1" smtClean="0">
                <a:solidFill>
                  <a:schemeClr val="tx1"/>
                </a:solidFill>
                <a:latin typeface="+mn-lt"/>
                <a:ea typeface="+mn-ea"/>
                <a:cs typeface="+mn-cs"/>
              </a:rPr>
              <a:t>i</a:t>
            </a:r>
            <a:r>
              <a:rPr lang="en-US" sz="2400" dirty="0" smtClean="0">
                <a:solidFill>
                  <a:schemeClr val="tx1"/>
                </a:solidFill>
                <a:latin typeface="+mn-lt"/>
                <a:ea typeface="+mn-ea"/>
                <a:cs typeface="+mn-cs"/>
              </a:rPr>
              <a:t>) </a:t>
            </a:r>
            <a:r>
              <a:rPr lang="en-US" sz="2400" dirty="0" err="1" smtClean="0">
                <a:solidFill>
                  <a:schemeClr val="tx1"/>
                </a:solidFill>
                <a:latin typeface="+mn-lt"/>
                <a:ea typeface="+mn-ea"/>
                <a:cs typeface="+mn-cs"/>
              </a:rPr>
              <a:t>Eigendecomposition</a:t>
            </a:r>
            <a:r>
              <a:rPr lang="en-US" sz="2400" dirty="0" smtClean="0">
                <a:solidFill>
                  <a:schemeClr val="tx1"/>
                </a:solidFill>
                <a:latin typeface="+mn-lt"/>
                <a:ea typeface="+mn-ea"/>
                <a:cs typeface="+mn-cs"/>
              </a:rPr>
              <a:t> </a:t>
            </a:r>
            <a:r>
              <a:rPr lang="en-US" sz="2400" dirty="0">
                <a:solidFill>
                  <a:schemeClr val="tx1"/>
                </a:solidFill>
                <a:latin typeface="+mn-lt"/>
                <a:ea typeface="+mn-ea"/>
                <a:cs typeface="+mn-cs"/>
              </a:rPr>
              <a:t>of the covariance matrix</a:t>
            </a:r>
          </a:p>
          <a:p>
            <a:pPr>
              <a:buNone/>
            </a:pPr>
            <a:r>
              <a:rPr lang="en-US" sz="2400" dirty="0" smtClean="0">
                <a:solidFill>
                  <a:schemeClr val="tx1"/>
                </a:solidFill>
                <a:latin typeface="+mn-lt"/>
                <a:ea typeface="+mn-ea"/>
                <a:cs typeface="+mn-cs"/>
              </a:rPr>
              <a:t>	ii) Singular </a:t>
            </a:r>
            <a:r>
              <a:rPr lang="en-US" sz="2400" dirty="0">
                <a:solidFill>
                  <a:schemeClr val="tx1"/>
                </a:solidFill>
                <a:latin typeface="+mn-lt"/>
                <a:ea typeface="+mn-ea"/>
                <a:cs typeface="+mn-cs"/>
              </a:rPr>
              <a:t>value decomposition of the data matrix</a:t>
            </a:r>
          </a:p>
          <a:p>
            <a:pPr>
              <a:buNone/>
            </a:pPr>
            <a:r>
              <a:rPr lang="en-US" sz="2400" dirty="0" smtClean="0">
                <a:solidFill>
                  <a:schemeClr val="tx1"/>
                </a:solidFill>
                <a:latin typeface="+mn-lt"/>
                <a:ea typeface="+mn-ea"/>
                <a:cs typeface="+mn-cs"/>
              </a:rPr>
              <a:t>	iii) </a:t>
            </a:r>
            <a:r>
              <a:rPr lang="en-US" sz="2400" dirty="0" err="1" smtClean="0">
                <a:solidFill>
                  <a:schemeClr val="tx1"/>
                </a:solidFill>
                <a:latin typeface="+mn-lt"/>
                <a:ea typeface="+mn-ea"/>
                <a:cs typeface="+mn-cs"/>
              </a:rPr>
              <a:t>Eigenvalue</a:t>
            </a:r>
            <a:r>
              <a:rPr lang="en-US" sz="2400" dirty="0" smtClean="0">
                <a:solidFill>
                  <a:schemeClr val="tx1"/>
                </a:solidFill>
                <a:latin typeface="+mn-lt"/>
                <a:ea typeface="+mn-ea"/>
                <a:cs typeface="+mn-cs"/>
              </a:rPr>
              <a:t> </a:t>
            </a:r>
            <a:r>
              <a:rPr lang="en-US" sz="2400" dirty="0">
                <a:solidFill>
                  <a:schemeClr val="tx1"/>
                </a:solidFill>
                <a:latin typeface="+mn-lt"/>
                <a:ea typeface="+mn-ea"/>
                <a:cs typeface="+mn-cs"/>
              </a:rPr>
              <a:t>approximation via power iterative computation</a:t>
            </a:r>
          </a:p>
          <a:p>
            <a:pPr>
              <a:buNone/>
            </a:pPr>
            <a:r>
              <a:rPr lang="en-US" sz="2400" dirty="0" smtClean="0">
                <a:solidFill>
                  <a:schemeClr val="tx1"/>
                </a:solidFill>
                <a:latin typeface="+mn-lt"/>
                <a:ea typeface="+mn-ea"/>
                <a:cs typeface="+mn-cs"/>
              </a:rPr>
              <a:t>	iv) Non-linear </a:t>
            </a:r>
            <a:r>
              <a:rPr lang="en-US" sz="2400" dirty="0">
                <a:solidFill>
                  <a:schemeClr val="tx1"/>
                </a:solidFill>
                <a:latin typeface="+mn-lt"/>
                <a:ea typeface="+mn-ea"/>
                <a:cs typeface="+mn-cs"/>
              </a:rPr>
              <a:t>iterative partial least squares (NIPALS) </a:t>
            </a:r>
            <a:r>
              <a:rPr lang="en-US" sz="2400" dirty="0" smtClean="0">
                <a:solidFill>
                  <a:schemeClr val="tx1"/>
                </a:solidFill>
                <a:latin typeface="+mn-lt"/>
                <a:ea typeface="+mn-ea"/>
                <a:cs typeface="+mn-cs"/>
              </a:rPr>
              <a:t>computation</a:t>
            </a:r>
          </a:p>
          <a:p>
            <a:pPr>
              <a:buNone/>
            </a:pPr>
            <a:r>
              <a:rPr lang="en-US" sz="2400" dirty="0" smtClean="0"/>
              <a:t>	v) </a:t>
            </a:r>
            <a:r>
              <a:rPr lang="en-US" sz="2400" dirty="0" smtClean="0">
                <a:solidFill>
                  <a:schemeClr val="tx1"/>
                </a:solidFill>
                <a:latin typeface="+mn-lt"/>
                <a:ea typeface="+mn-ea"/>
                <a:cs typeface="+mn-cs"/>
              </a:rPr>
              <a:t>… </a:t>
            </a:r>
            <a:r>
              <a:rPr lang="en-US" sz="2400" dirty="0">
                <a:solidFill>
                  <a:schemeClr val="tx1"/>
                </a:solidFill>
                <a:latin typeface="+mn-lt"/>
                <a:ea typeface="+mn-ea"/>
                <a:cs typeface="+mn-cs"/>
              </a:rPr>
              <a:t>and more.</a:t>
            </a:r>
            <a:br>
              <a:rPr lang="en-US" sz="2400" dirty="0">
                <a:solidFill>
                  <a:schemeClr val="tx1"/>
                </a:solidFill>
                <a:latin typeface="+mn-lt"/>
                <a:ea typeface="+mn-ea"/>
                <a:cs typeface="+mn-cs"/>
              </a:rPr>
            </a:br>
            <a:endParaRPr lang="en-US" sz="2400" dirty="0">
              <a:solidFill>
                <a:schemeClr val="tx1"/>
              </a:solidFill>
              <a:latin typeface="+mn-lt"/>
              <a:ea typeface="+mn-ea"/>
              <a:cs typeface="+mn-cs"/>
            </a:endParaRP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5359"/>
            <a:ext cx="8073736" cy="668482"/>
          </a:xfrm>
        </p:spPr>
        <p:txBody>
          <a:bodyPr/>
          <a:lstStyle/>
          <a:p>
            <a:r>
              <a:rPr lang="da-DK" sz="3200" b="1" dirty="0" smtClean="0">
                <a:solidFill>
                  <a:srgbClr val="000000"/>
                </a:solidFill>
              </a:rPr>
              <a:t>PCA: </a:t>
            </a:r>
            <a:r>
              <a:rPr lang="en-US" sz="2400" b="1" dirty="0" err="1" smtClean="0">
                <a:solidFill>
                  <a:srgbClr val="000000"/>
                </a:solidFill>
                <a:cs typeface="+mn-cs"/>
              </a:rPr>
              <a:t>Eigendecomposition</a:t>
            </a:r>
            <a:r>
              <a:rPr lang="en-US" sz="2400" b="1" dirty="0" smtClean="0">
                <a:solidFill>
                  <a:srgbClr val="000000"/>
                </a:solidFill>
                <a:cs typeface="+mn-cs"/>
              </a:rPr>
              <a:t> of the covariance matrix</a:t>
            </a:r>
            <a:endParaRPr lang="en-US" b="1" dirty="0"/>
          </a:p>
        </p:txBody>
      </p:sp>
      <p:sp>
        <p:nvSpPr>
          <p:cNvPr id="3" name="Content Placeholder 2"/>
          <p:cNvSpPr>
            <a:spLocks noGrp="1"/>
          </p:cNvSpPr>
          <p:nvPr>
            <p:ph idx="1"/>
          </p:nvPr>
        </p:nvSpPr>
        <p:spPr>
          <a:xfrm>
            <a:off x="434566" y="1068309"/>
            <a:ext cx="8324970" cy="5332491"/>
          </a:xfrm>
        </p:spPr>
        <p:txBody>
          <a:bodyPr/>
          <a:lstStyle/>
          <a:p>
            <a:r>
              <a:rPr lang="en-US" dirty="0" smtClean="0">
                <a:solidFill>
                  <a:schemeClr val="tx1"/>
                </a:solidFill>
                <a:latin typeface="+mn-lt"/>
                <a:ea typeface="+mn-ea"/>
                <a:cs typeface="+mn-cs"/>
              </a:rPr>
              <a:t>There are several steps in computing PCA</a:t>
            </a:r>
          </a:p>
          <a:p>
            <a:pPr>
              <a:buNone/>
            </a:pPr>
            <a:r>
              <a:rPr lang="en-IN" dirty="0" smtClean="0"/>
              <a:t>	</a:t>
            </a:r>
            <a:r>
              <a:rPr lang="en-IN" sz="2800" dirty="0" err="1" smtClean="0"/>
              <a:t>i</a:t>
            </a:r>
            <a:r>
              <a:rPr lang="en-IN" sz="2800" dirty="0" smtClean="0"/>
              <a:t>) </a:t>
            </a:r>
            <a:r>
              <a:rPr lang="en-US" sz="2800" dirty="0" smtClean="0"/>
              <a:t>Feature standardization</a:t>
            </a:r>
          </a:p>
          <a:p>
            <a:pPr>
              <a:buNone/>
            </a:pPr>
            <a:r>
              <a:rPr lang="en-US" sz="2800" dirty="0" smtClean="0"/>
              <a:t>	ii) Covariance matrix computation</a:t>
            </a:r>
          </a:p>
          <a:p>
            <a:pPr>
              <a:buNone/>
            </a:pPr>
            <a:r>
              <a:rPr lang="en-US" sz="2800" dirty="0" smtClean="0"/>
              <a:t>	iii) Calculate the </a:t>
            </a:r>
            <a:r>
              <a:rPr lang="en-US" sz="2800" dirty="0" err="1" smtClean="0"/>
              <a:t>eigendecomposition</a:t>
            </a:r>
            <a:r>
              <a:rPr lang="en-US" sz="2800" dirty="0" smtClean="0"/>
              <a:t> of the covariance matrix</a:t>
            </a:r>
          </a:p>
          <a:p>
            <a:pPr>
              <a:buNone/>
            </a:pPr>
            <a:r>
              <a:rPr lang="en-US" sz="2800" dirty="0" smtClean="0"/>
              <a:t>	iv) Sort the eigenvectors from the highest </a:t>
            </a:r>
            <a:r>
              <a:rPr lang="en-US" sz="2800" dirty="0" err="1" smtClean="0"/>
              <a:t>eigenvalue</a:t>
            </a:r>
            <a:r>
              <a:rPr lang="en-US" sz="2800" dirty="0" smtClean="0"/>
              <a:t> to the lowest</a:t>
            </a:r>
          </a:p>
          <a:p>
            <a:pPr>
              <a:buNone/>
            </a:pPr>
            <a:r>
              <a:rPr lang="en-US" sz="2800" dirty="0" smtClean="0"/>
              <a:t>	v) Select the number of principal components</a:t>
            </a:r>
          </a:p>
          <a:p>
            <a:pPr>
              <a:buNone/>
            </a:pPr>
            <a:r>
              <a:rPr lang="en-US" sz="2800" dirty="0" smtClean="0"/>
              <a:t>	vi) </a:t>
            </a:r>
            <a:r>
              <a:rPr lang="en-US" sz="2800" dirty="0" smtClean="0">
                <a:solidFill>
                  <a:srgbClr val="212121"/>
                </a:solidFill>
                <a:latin typeface="__myFont_3ea10a"/>
              </a:rPr>
              <a:t>Recast the data along the principal components axes</a:t>
            </a:r>
            <a:endParaRPr lang="en-US"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073736" cy="668482"/>
          </a:xfrm>
        </p:spPr>
        <p:txBody>
          <a:bodyPr/>
          <a:lstStyle/>
          <a:p>
            <a:r>
              <a:rPr lang="da-DK" sz="3200" b="1" dirty="0" smtClean="0">
                <a:solidFill>
                  <a:srgbClr val="000000"/>
                </a:solidFill>
              </a:rPr>
              <a:t>PCA: </a:t>
            </a:r>
            <a:r>
              <a:rPr lang="en-US" sz="2400" b="1" dirty="0" err="1" smtClean="0">
                <a:solidFill>
                  <a:srgbClr val="000000"/>
                </a:solidFill>
                <a:cs typeface="+mn-cs"/>
              </a:rPr>
              <a:t>Eigendecomposition</a:t>
            </a:r>
            <a:r>
              <a:rPr lang="en-US" sz="2400" b="1" dirty="0" smtClean="0">
                <a:solidFill>
                  <a:srgbClr val="000000"/>
                </a:solidFill>
                <a:cs typeface="+mn-cs"/>
              </a:rPr>
              <a:t> of the covariance matrix</a:t>
            </a:r>
            <a:endParaRPr lang="en-US" b="1" dirty="0"/>
          </a:p>
        </p:txBody>
      </p:sp>
      <p:sp>
        <p:nvSpPr>
          <p:cNvPr id="3" name="Content Placeholder 2"/>
          <p:cNvSpPr>
            <a:spLocks noGrp="1"/>
          </p:cNvSpPr>
          <p:nvPr>
            <p:ph idx="1"/>
          </p:nvPr>
        </p:nvSpPr>
        <p:spPr>
          <a:xfrm>
            <a:off x="685800" y="1558636"/>
            <a:ext cx="7772400" cy="4842164"/>
          </a:xfrm>
        </p:spPr>
        <p:txBody>
          <a:bodyPr/>
          <a:lstStyle/>
          <a:p>
            <a:pPr>
              <a:buNone/>
            </a:pPr>
            <a:r>
              <a:rPr lang="en-IN" dirty="0" smtClean="0"/>
              <a:t>	</a:t>
            </a:r>
            <a:r>
              <a:rPr lang="en-IN" dirty="0" err="1" smtClean="0"/>
              <a:t>i</a:t>
            </a:r>
            <a:r>
              <a:rPr lang="en-IN" dirty="0" smtClean="0"/>
              <a:t>) </a:t>
            </a:r>
            <a:r>
              <a:rPr lang="en-US" b="1" dirty="0" smtClean="0"/>
              <a:t>Feature standardization: </a:t>
            </a:r>
          </a:p>
          <a:p>
            <a:pPr>
              <a:buNone/>
            </a:pPr>
            <a:r>
              <a:rPr lang="en-US" b="1" dirty="0" smtClean="0"/>
              <a:t>	- </a:t>
            </a:r>
            <a:r>
              <a:rPr lang="en-US" sz="2800" dirty="0" smtClean="0"/>
              <a:t>The range of variables is calculated and </a:t>
            </a:r>
            <a:r>
              <a:rPr lang="en-US" sz="2800" dirty="0" err="1" smtClean="0"/>
              <a:t>standarized</a:t>
            </a:r>
            <a:r>
              <a:rPr lang="en-US" sz="2800" dirty="0" smtClean="0"/>
              <a:t> in this process to analyze the contribution of each variable equally</a:t>
            </a:r>
          </a:p>
          <a:p>
            <a:pPr>
              <a:buNone/>
            </a:pPr>
            <a:r>
              <a:rPr lang="en-US" sz="2800" dirty="0" smtClean="0"/>
              <a:t>	- To transform the variables of the same standard, we may use the Z-score formula.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26918"/>
          </a:xfrm>
        </p:spPr>
        <p:txBody>
          <a:bodyPr>
            <a:normAutofit fontScale="90000"/>
          </a:bodyPr>
          <a:lstStyle/>
          <a:p>
            <a:r>
              <a:rPr lang="en-US" b="1" dirty="0" smtClean="0"/>
              <a:t>Feature standardization</a:t>
            </a:r>
            <a:endParaRPr lang="en-US" dirty="0"/>
          </a:p>
        </p:txBody>
      </p:sp>
      <p:sp>
        <p:nvSpPr>
          <p:cNvPr id="3" name="Content Placeholder 2"/>
          <p:cNvSpPr>
            <a:spLocks noGrp="1"/>
          </p:cNvSpPr>
          <p:nvPr>
            <p:ph idx="1"/>
          </p:nvPr>
        </p:nvSpPr>
        <p:spPr>
          <a:xfrm>
            <a:off x="685800" y="1402774"/>
            <a:ext cx="7772400" cy="3636818"/>
          </a:xfrm>
        </p:spPr>
        <p:txBody>
          <a:bodyPr/>
          <a:lstStyle/>
          <a:p>
            <a:r>
              <a:rPr lang="en-US" sz="2800" dirty="0" smtClean="0"/>
              <a:t>Let us consider the following dataset and apply Z-score </a:t>
            </a:r>
            <a:r>
              <a:rPr lang="en-US" sz="2800" dirty="0" err="1" smtClean="0"/>
              <a:t>standarization</a:t>
            </a:r>
            <a:r>
              <a:rPr lang="en-US" sz="2800" dirty="0" smtClean="0"/>
              <a:t> formula:</a:t>
            </a:r>
          </a:p>
          <a:p>
            <a:endParaRPr lang="en-US" sz="2800" dirty="0" smtClean="0"/>
          </a:p>
          <a:p>
            <a:endParaRPr lang="en-US" sz="2800" dirty="0" smtClean="0"/>
          </a:p>
          <a:p>
            <a:endParaRPr lang="en-US" sz="2800" dirty="0" smtClean="0"/>
          </a:p>
          <a:p>
            <a:r>
              <a:rPr lang="en-US" sz="2800" dirty="0" smtClean="0"/>
              <a:t>Calculate mean and </a:t>
            </a:r>
          </a:p>
          <a:p>
            <a:pPr>
              <a:buNone/>
            </a:pPr>
            <a:r>
              <a:rPr lang="en-US" sz="2800" dirty="0" smtClean="0"/>
              <a:t>   standard deviation for each feature:</a:t>
            </a:r>
          </a:p>
          <a:p>
            <a:endParaRPr lang="en-US" sz="2800" dirty="0" smtClean="0"/>
          </a:p>
          <a:p>
            <a:pPr>
              <a:buNone/>
            </a:pPr>
            <a:endParaRPr lang="en-US" sz="2800" dirty="0"/>
          </a:p>
        </p:txBody>
      </p:sp>
      <p:sp>
        <p:nvSpPr>
          <p:cNvPr id="838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83865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54726" y="2556164"/>
            <a:ext cx="1995055" cy="934620"/>
          </a:xfrm>
          <a:prstGeom prst="rect">
            <a:avLst/>
          </a:prstGeom>
          <a:noFill/>
        </p:spPr>
      </p:pic>
      <p:graphicFrame>
        <p:nvGraphicFramePr>
          <p:cNvPr id="6" name="Table 5"/>
          <p:cNvGraphicFramePr>
            <a:graphicFrameLocks noGrp="1"/>
          </p:cNvGraphicFramePr>
          <p:nvPr/>
        </p:nvGraphicFramePr>
        <p:xfrm>
          <a:off x="4436918" y="2421082"/>
          <a:ext cx="3169229" cy="1685490"/>
        </p:xfrm>
        <a:graphic>
          <a:graphicData uri="http://schemas.openxmlformats.org/drawingml/2006/table">
            <a:tbl>
              <a:tblPr/>
              <a:tblGrid>
                <a:gridCol w="731808"/>
                <a:gridCol w="377168"/>
                <a:gridCol w="720907"/>
                <a:gridCol w="618439"/>
                <a:gridCol w="720907"/>
              </a:tblGrid>
              <a:tr h="280915">
                <a:tc>
                  <a:txBody>
                    <a:bodyPr/>
                    <a:lstStyle/>
                    <a:p>
                      <a:pPr>
                        <a:lnSpc>
                          <a:spcPct val="107000"/>
                        </a:lnSpc>
                        <a:spcAft>
                          <a:spcPts val="0"/>
                        </a:spcAft>
                        <a:tabLst>
                          <a:tab pos="571500" algn="l"/>
                        </a:tabLst>
                      </a:pPr>
                      <a:r>
                        <a:rPr lang="en-IN" sz="1100" dirty="0">
                          <a:latin typeface="Calibri"/>
                          <a:ea typeface="Calibri"/>
                          <a:cs typeface="Times New Roman"/>
                        </a:rPr>
                        <a:t>Object</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915">
                <a:tc>
                  <a:txBody>
                    <a:bodyPr/>
                    <a:lstStyle/>
                    <a:p>
                      <a:pPr>
                        <a:lnSpc>
                          <a:spcPct val="107000"/>
                        </a:lnSpc>
                        <a:spcAft>
                          <a:spcPts val="0"/>
                        </a:spcAft>
                        <a:tabLst>
                          <a:tab pos="571500" algn="l"/>
                        </a:tabLst>
                      </a:pPr>
                      <a:r>
                        <a:rPr lang="en-IN" sz="1100">
                          <a:latin typeface="Calibri"/>
                          <a:ea typeface="Calibri"/>
                          <a:cs typeface="Times New Roman"/>
                        </a:rPr>
                        <a:t>O1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915">
                <a:tc>
                  <a:txBody>
                    <a:bodyPr/>
                    <a:lstStyle/>
                    <a:p>
                      <a:pPr>
                        <a:lnSpc>
                          <a:spcPct val="107000"/>
                        </a:lnSpc>
                        <a:spcAft>
                          <a:spcPts val="0"/>
                        </a:spcAft>
                        <a:tabLst>
                          <a:tab pos="571500" algn="l"/>
                        </a:tabLst>
                      </a:pPr>
                      <a:r>
                        <a:rPr lang="en-IN" sz="1100">
                          <a:latin typeface="Calibri"/>
                          <a:ea typeface="Calibri"/>
                          <a:cs typeface="Times New Roman"/>
                        </a:rPr>
                        <a:t>O2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dirty="0">
                          <a:latin typeface="Calibri"/>
                          <a:ea typeface="Calibri"/>
                          <a:cs typeface="Times New Roman"/>
                        </a:rPr>
                        <a:t>6</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915">
                <a:tc>
                  <a:txBody>
                    <a:bodyPr/>
                    <a:lstStyle/>
                    <a:p>
                      <a:pPr>
                        <a:lnSpc>
                          <a:spcPct val="107000"/>
                        </a:lnSpc>
                        <a:spcAft>
                          <a:spcPts val="0"/>
                        </a:spcAft>
                        <a:tabLst>
                          <a:tab pos="571500" algn="l"/>
                        </a:tabLst>
                      </a:pPr>
                      <a:r>
                        <a:rPr lang="en-IN" sz="1100">
                          <a:latin typeface="Calibri"/>
                          <a:ea typeface="Calibri"/>
                          <a:cs typeface="Times New Roman"/>
                        </a:rPr>
                        <a:t>O3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915">
                <a:tc>
                  <a:txBody>
                    <a:bodyPr/>
                    <a:lstStyle/>
                    <a:p>
                      <a:pPr>
                        <a:lnSpc>
                          <a:spcPct val="107000"/>
                        </a:lnSpc>
                        <a:spcAft>
                          <a:spcPts val="0"/>
                        </a:spcAft>
                        <a:tabLst>
                          <a:tab pos="571500" algn="l"/>
                        </a:tabLst>
                      </a:pPr>
                      <a:r>
                        <a:rPr lang="en-IN" sz="1100">
                          <a:latin typeface="Calibri"/>
                          <a:ea typeface="Calibri"/>
                          <a:cs typeface="Times New Roman"/>
                        </a:rPr>
                        <a:t>O4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915">
                <a:tc>
                  <a:txBody>
                    <a:bodyPr/>
                    <a:lstStyle/>
                    <a:p>
                      <a:pPr>
                        <a:lnSpc>
                          <a:spcPct val="107000"/>
                        </a:lnSpc>
                        <a:spcAft>
                          <a:spcPts val="0"/>
                        </a:spcAft>
                        <a:tabLst>
                          <a:tab pos="571500" algn="l"/>
                        </a:tabLst>
                      </a:pPr>
                      <a:r>
                        <a:rPr lang="en-IN" sz="1100">
                          <a:latin typeface="Calibri"/>
                          <a:ea typeface="Calibri"/>
                          <a:cs typeface="Times New Roman"/>
                        </a:rPr>
                        <a:t>O5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dirty="0">
                          <a:latin typeface="Calibri"/>
                          <a:ea typeface="Calibri"/>
                          <a:cs typeface="Times New Roman"/>
                        </a:rPr>
                        <a:t>2</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dirty="0">
                          <a:latin typeface="Calibri"/>
                          <a:ea typeface="Calibri"/>
                          <a:cs typeface="Times New Roman"/>
                        </a:rPr>
                        <a:t>3</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761490" y="5039592"/>
          <a:ext cx="4431492" cy="904007"/>
        </p:xfrm>
        <a:graphic>
          <a:graphicData uri="http://schemas.openxmlformats.org/drawingml/2006/table">
            <a:tbl>
              <a:tblPr/>
              <a:tblGrid>
                <a:gridCol w="1073330"/>
                <a:gridCol w="519644"/>
                <a:gridCol w="993231"/>
                <a:gridCol w="852056"/>
                <a:gridCol w="993231"/>
              </a:tblGrid>
              <a:tr h="226002">
                <a:tc>
                  <a:txBody>
                    <a:bodyPr/>
                    <a:lstStyle/>
                    <a:p>
                      <a:pPr>
                        <a:lnSpc>
                          <a:spcPct val="107000"/>
                        </a:lnSpc>
                        <a:spcAft>
                          <a:spcPts val="0"/>
                        </a:spcAft>
                        <a:tabLst>
                          <a:tab pos="571500" algn="l"/>
                        </a:tabLst>
                      </a:pPr>
                      <a:endParaRPr lang="en-IN"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002">
                <a:tc>
                  <a:txBody>
                    <a:bodyPr/>
                    <a:lstStyle/>
                    <a:p>
                      <a:pPr>
                        <a:lnSpc>
                          <a:spcPct val="107000"/>
                        </a:lnSpc>
                        <a:spcAft>
                          <a:spcPts val="0"/>
                        </a:spcAft>
                        <a:tabLst>
                          <a:tab pos="571500" algn="l"/>
                        </a:tabLst>
                      </a:pPr>
                      <a:r>
                        <a:rPr lang="en-IN" sz="1100">
                          <a:latin typeface="Calibri"/>
                          <a:ea typeface="Calibri"/>
                          <a:cs typeface="Times New Roman"/>
                        </a:rPr>
                        <a:t>Mean</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2003">
                <a:tc>
                  <a:txBody>
                    <a:bodyPr/>
                    <a:lstStyle/>
                    <a:p>
                      <a:pPr>
                        <a:lnSpc>
                          <a:spcPct val="107000"/>
                        </a:lnSpc>
                        <a:spcAft>
                          <a:spcPts val="0"/>
                        </a:spcAft>
                        <a:tabLst>
                          <a:tab pos="571500" algn="l"/>
                        </a:tabLst>
                      </a:pPr>
                      <a:r>
                        <a:rPr lang="en-IN" sz="1100">
                          <a:latin typeface="Calibri"/>
                          <a:ea typeface="Calibri"/>
                          <a:cs typeface="Times New Roman"/>
                        </a:rPr>
                        <a:t>Standard Deviation</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1.87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1.223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a:latin typeface="Calibri"/>
                          <a:ea typeface="Calibri"/>
                          <a:cs typeface="Times New Roman"/>
                        </a:rPr>
                        <a:t>1.87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tabLst>
                          <a:tab pos="571500" algn="l"/>
                        </a:tabLst>
                      </a:pPr>
                      <a:r>
                        <a:rPr lang="en-IN" sz="1100" dirty="0">
                          <a:latin typeface="Calibri"/>
                          <a:ea typeface="Calibri"/>
                          <a:cs typeface="Times New Roman"/>
                        </a:rPr>
                        <a:t>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95745"/>
          </a:xfrm>
        </p:spPr>
        <p:txBody>
          <a:bodyPr>
            <a:normAutofit fontScale="90000"/>
          </a:bodyPr>
          <a:lstStyle/>
          <a:p>
            <a:r>
              <a:rPr lang="en-US" b="1" dirty="0" smtClean="0"/>
              <a:t>Feature standardization</a:t>
            </a:r>
            <a:endParaRPr lang="en-US" dirty="0"/>
          </a:p>
        </p:txBody>
      </p:sp>
      <p:sp>
        <p:nvSpPr>
          <p:cNvPr id="3" name="Content Placeholder 2"/>
          <p:cNvSpPr>
            <a:spLocks noGrp="1"/>
          </p:cNvSpPr>
          <p:nvPr>
            <p:ph idx="1"/>
          </p:nvPr>
        </p:nvSpPr>
        <p:spPr>
          <a:xfrm>
            <a:off x="685800" y="1350818"/>
            <a:ext cx="7772400" cy="4745182"/>
          </a:xfrm>
        </p:spPr>
        <p:txBody>
          <a:bodyPr/>
          <a:lstStyle/>
          <a:p>
            <a:r>
              <a:rPr lang="en-US" dirty="0" smtClean="0"/>
              <a:t>After the </a:t>
            </a:r>
            <a:r>
              <a:rPr lang="en-US" dirty="0" err="1" smtClean="0"/>
              <a:t>standarization</a:t>
            </a:r>
            <a:r>
              <a:rPr lang="en-US" dirty="0" smtClean="0"/>
              <a:t> of each variable, the resultant data set is:</a:t>
            </a:r>
            <a:endParaRPr lang="en-US" dirty="0"/>
          </a:p>
        </p:txBody>
      </p:sp>
      <p:graphicFrame>
        <p:nvGraphicFramePr>
          <p:cNvPr id="4" name="Table 3"/>
          <p:cNvGraphicFramePr>
            <a:graphicFrameLocks noGrp="1"/>
          </p:cNvGraphicFramePr>
          <p:nvPr/>
        </p:nvGraphicFramePr>
        <p:xfrm>
          <a:off x="2071340" y="2930236"/>
          <a:ext cx="4235942" cy="1569030"/>
        </p:xfrm>
        <a:graphic>
          <a:graphicData uri="http://schemas.openxmlformats.org/drawingml/2006/table">
            <a:tbl>
              <a:tblPr/>
              <a:tblGrid>
                <a:gridCol w="777400"/>
                <a:gridCol w="1056863"/>
                <a:gridCol w="872355"/>
                <a:gridCol w="872355"/>
                <a:gridCol w="656969"/>
              </a:tblGrid>
              <a:tr h="261505">
                <a:tc>
                  <a:txBody>
                    <a:bodyPr/>
                    <a:lstStyle/>
                    <a:p>
                      <a:pPr algn="l">
                        <a:lnSpc>
                          <a:spcPct val="107000"/>
                        </a:lnSpc>
                        <a:spcAft>
                          <a:spcPts val="0"/>
                        </a:spcAft>
                        <a:tabLst>
                          <a:tab pos="571500" algn="l"/>
                        </a:tabLst>
                      </a:pPr>
                      <a:r>
                        <a:rPr lang="en-IN" sz="1100" dirty="0">
                          <a:latin typeface="Calibri"/>
                          <a:ea typeface="Calibri"/>
                          <a:cs typeface="Times New Roman"/>
                        </a:rPr>
                        <a:t>Object</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505">
                <a:tc>
                  <a:txBody>
                    <a:bodyPr/>
                    <a:lstStyle/>
                    <a:p>
                      <a:pPr algn="l">
                        <a:lnSpc>
                          <a:spcPct val="107000"/>
                        </a:lnSpc>
                        <a:spcAft>
                          <a:spcPts val="0"/>
                        </a:spcAft>
                        <a:tabLst>
                          <a:tab pos="571500" algn="l"/>
                        </a:tabLst>
                      </a:pPr>
                      <a:r>
                        <a:rPr lang="en-IN" sz="1100" dirty="0">
                          <a:latin typeface="Calibri"/>
                          <a:ea typeface="Calibri"/>
                          <a:cs typeface="Times New Roman"/>
                        </a:rPr>
                        <a:t>O1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0.8196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505">
                <a:tc>
                  <a:txBody>
                    <a:bodyPr/>
                    <a:lstStyle/>
                    <a:p>
                      <a:pPr algn="l">
                        <a:lnSpc>
                          <a:spcPct val="107000"/>
                        </a:lnSpc>
                        <a:spcAft>
                          <a:spcPts val="0"/>
                        </a:spcAft>
                        <a:tabLst>
                          <a:tab pos="571500" algn="l"/>
                        </a:tabLst>
                      </a:pPr>
                      <a:r>
                        <a:rPr lang="en-IN" sz="1100">
                          <a:latin typeface="Calibri"/>
                          <a:ea typeface="Calibri"/>
                          <a:cs typeface="Times New Roman"/>
                        </a:rPr>
                        <a:t>O2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-1.6393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1.6042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505">
                <a:tc>
                  <a:txBody>
                    <a:bodyPr/>
                    <a:lstStyle/>
                    <a:p>
                      <a:pPr algn="l">
                        <a:lnSpc>
                          <a:spcPct val="107000"/>
                        </a:lnSpc>
                        <a:spcAft>
                          <a:spcPts val="0"/>
                        </a:spcAft>
                        <a:tabLst>
                          <a:tab pos="571500" algn="l"/>
                        </a:tabLst>
                      </a:pPr>
                      <a:r>
                        <a:rPr lang="en-IN" sz="1100">
                          <a:latin typeface="Calibri"/>
                          <a:ea typeface="Calibri"/>
                          <a:cs typeface="Times New Roman"/>
                        </a:rPr>
                        <a:t>O3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505">
                <a:tc>
                  <a:txBody>
                    <a:bodyPr/>
                    <a:lstStyle/>
                    <a:p>
                      <a:pPr algn="l">
                        <a:lnSpc>
                          <a:spcPct val="107000"/>
                        </a:lnSpc>
                        <a:spcAft>
                          <a:spcPts val="0"/>
                        </a:spcAft>
                        <a:tabLst>
                          <a:tab pos="571500" algn="l"/>
                        </a:tabLst>
                      </a:pPr>
                      <a:r>
                        <a:rPr lang="en-IN" sz="1100">
                          <a:latin typeface="Calibri"/>
                          <a:ea typeface="Calibri"/>
                          <a:cs typeface="Times New Roman"/>
                        </a:rPr>
                        <a:t>O4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505">
                <a:tc>
                  <a:txBody>
                    <a:bodyPr/>
                    <a:lstStyle/>
                    <a:p>
                      <a:pPr algn="l">
                        <a:lnSpc>
                          <a:spcPct val="107000"/>
                        </a:lnSpc>
                        <a:spcAft>
                          <a:spcPts val="0"/>
                        </a:spcAft>
                        <a:tabLst>
                          <a:tab pos="571500" algn="l"/>
                        </a:tabLst>
                      </a:pPr>
                      <a:r>
                        <a:rPr lang="en-IN" sz="1100">
                          <a:latin typeface="Calibri"/>
                          <a:ea typeface="Calibri"/>
                          <a:cs typeface="Times New Roman"/>
                        </a:rPr>
                        <a:t>O5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0.8196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30827"/>
          </a:xfrm>
        </p:spPr>
        <p:txBody>
          <a:bodyPr/>
          <a:lstStyle/>
          <a:p>
            <a:r>
              <a:rPr lang="en-US" sz="2400" b="1" dirty="0" err="1" smtClean="0">
                <a:solidFill>
                  <a:srgbClr val="000000"/>
                </a:solidFill>
              </a:rPr>
              <a:t>Eigendecomposition</a:t>
            </a:r>
            <a:r>
              <a:rPr lang="en-US" sz="24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1340427"/>
            <a:ext cx="7907482" cy="4755573"/>
          </a:xfrm>
        </p:spPr>
        <p:txBody>
          <a:bodyPr/>
          <a:lstStyle/>
          <a:p>
            <a:pPr>
              <a:buNone/>
            </a:pPr>
            <a:r>
              <a:rPr lang="en-IN" dirty="0" smtClean="0">
                <a:solidFill>
                  <a:schemeClr val="tx1"/>
                </a:solidFill>
                <a:latin typeface="+mn-lt"/>
                <a:ea typeface="+mn-ea"/>
                <a:cs typeface="+mn-cs"/>
              </a:rPr>
              <a:t>	ii) </a:t>
            </a:r>
            <a:r>
              <a:rPr lang="en-US" b="1" dirty="0" smtClean="0"/>
              <a:t>C</a:t>
            </a:r>
            <a:r>
              <a:rPr lang="en-US" b="1" dirty="0" smtClean="0">
                <a:solidFill>
                  <a:schemeClr val="tx1"/>
                </a:solidFill>
                <a:latin typeface="+mn-lt"/>
                <a:ea typeface="+mn-ea"/>
                <a:cs typeface="+mn-cs"/>
              </a:rPr>
              <a:t>ovariance </a:t>
            </a:r>
            <a:r>
              <a:rPr lang="en-US" b="1" dirty="0">
                <a:solidFill>
                  <a:schemeClr val="tx1"/>
                </a:solidFill>
                <a:latin typeface="+mn-lt"/>
                <a:ea typeface="+mn-ea"/>
                <a:cs typeface="+mn-cs"/>
              </a:rPr>
              <a:t>matrix </a:t>
            </a:r>
            <a:r>
              <a:rPr lang="en-US" b="1" dirty="0" smtClean="0">
                <a:solidFill>
                  <a:schemeClr val="tx1"/>
                </a:solidFill>
                <a:latin typeface="+mn-lt"/>
                <a:ea typeface="+mn-ea"/>
                <a:cs typeface="+mn-cs"/>
              </a:rPr>
              <a:t>computation:</a:t>
            </a:r>
          </a:p>
          <a:p>
            <a:r>
              <a:rPr lang="en-US" sz="2000" dirty="0" smtClean="0"/>
              <a:t>Covariance is a statistical measure that quantifies the degree to which two variables change together. It indicates whether an increase in one variable corresponds to an increase or decrease in another variable</a:t>
            </a:r>
            <a:r>
              <a:rPr lang="en-US" sz="2400" dirty="0" smtClean="0"/>
              <a:t>.</a:t>
            </a:r>
          </a:p>
        </p:txBody>
      </p:sp>
      <p:pic>
        <p:nvPicPr>
          <p:cNvPr id="926721" name="Picture 1"/>
          <p:cNvPicPr>
            <a:picLocks noChangeAspect="1" noChangeArrowheads="1"/>
          </p:cNvPicPr>
          <p:nvPr/>
        </p:nvPicPr>
        <p:blipFill>
          <a:blip r:embed="rId2"/>
          <a:srcRect/>
          <a:stretch>
            <a:fillRect/>
          </a:stretch>
        </p:blipFill>
        <p:spPr bwMode="auto">
          <a:xfrm>
            <a:off x="1013989" y="3349782"/>
            <a:ext cx="7097916" cy="31725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25513"/>
            <a:ext cx="7772400" cy="597529"/>
          </a:xfrm>
        </p:spPr>
        <p:txBody>
          <a:bodyPr/>
          <a:lstStyle/>
          <a:p>
            <a:r>
              <a:rPr lang="en-US" sz="3200" b="1" dirty="0" smtClean="0">
                <a:solidFill>
                  <a:srgbClr val="000000"/>
                </a:solidFill>
                <a:cs typeface="+mn-cs"/>
              </a:rPr>
              <a:t>Covariance matrix computation</a:t>
            </a:r>
            <a:endParaRPr lang="en-US" dirty="0"/>
          </a:p>
        </p:txBody>
      </p:sp>
      <p:pic>
        <p:nvPicPr>
          <p:cNvPr id="964610" name="Picture 2"/>
          <p:cNvPicPr>
            <a:picLocks noChangeAspect="1" noChangeArrowheads="1"/>
          </p:cNvPicPr>
          <p:nvPr/>
        </p:nvPicPr>
        <p:blipFill>
          <a:blip r:embed="rId2"/>
          <a:srcRect/>
          <a:stretch>
            <a:fillRect/>
          </a:stretch>
        </p:blipFill>
        <p:spPr bwMode="auto">
          <a:xfrm>
            <a:off x="685800" y="1303700"/>
            <a:ext cx="7682667" cy="49522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6130"/>
            <a:ext cx="7772400" cy="407407"/>
          </a:xfrm>
        </p:spPr>
        <p:txBody>
          <a:bodyPr>
            <a:normAutofit fontScale="90000"/>
          </a:bodyPr>
          <a:lstStyle/>
          <a:p>
            <a:r>
              <a:rPr lang="en-US" sz="2400" b="1" dirty="0" smtClean="0">
                <a:solidFill>
                  <a:schemeClr val="tx1"/>
                </a:solidFill>
              </a:rPr>
              <a:t>C</a:t>
            </a:r>
            <a:r>
              <a:rPr lang="en-US" sz="3600" b="1" dirty="0" smtClean="0">
                <a:solidFill>
                  <a:schemeClr val="tx1"/>
                </a:solidFill>
              </a:rPr>
              <a:t>ovariance matrix computation</a:t>
            </a:r>
            <a:endParaRPr lang="en-US" dirty="0"/>
          </a:p>
        </p:txBody>
      </p:sp>
      <p:sp>
        <p:nvSpPr>
          <p:cNvPr id="3" name="Content Placeholder 2"/>
          <p:cNvSpPr>
            <a:spLocks noGrp="1"/>
          </p:cNvSpPr>
          <p:nvPr>
            <p:ph idx="1"/>
          </p:nvPr>
        </p:nvSpPr>
        <p:spPr>
          <a:xfrm>
            <a:off x="685800" y="887241"/>
            <a:ext cx="7907482" cy="5576933"/>
          </a:xfrm>
        </p:spPr>
        <p:txBody>
          <a:bodyPr/>
          <a:lstStyle/>
          <a:p>
            <a:r>
              <a:rPr lang="en-US" sz="2400" dirty="0" smtClean="0"/>
              <a:t>In this step, we shall get to know how the variables of the given data are varying with the mean value calculated.</a:t>
            </a:r>
          </a:p>
          <a:p>
            <a:r>
              <a:rPr lang="en-US" sz="2400" dirty="0" smtClean="0"/>
              <a:t>Any interrelated variables can also be sorted out at the end of this step.</a:t>
            </a:r>
          </a:p>
          <a:p>
            <a:r>
              <a:rPr lang="en-US" sz="2400" dirty="0" smtClean="0"/>
              <a:t>To segregate the highly interrelated variables, we calculate the covariance matrix with the help of the given formula.</a:t>
            </a:r>
          </a:p>
          <a:p>
            <a:r>
              <a:rPr lang="en-US" sz="2400" dirty="0" smtClean="0"/>
              <a:t>The covariance matrix is a square matrix, of </a:t>
            </a:r>
            <a:r>
              <a:rPr lang="en-US" sz="2400" i="1" dirty="0" smtClean="0"/>
              <a:t>d x d</a:t>
            </a:r>
            <a:r>
              <a:rPr lang="en-US" sz="2400" dirty="0" smtClean="0"/>
              <a:t> dimensions, where </a:t>
            </a:r>
            <a:r>
              <a:rPr lang="en-US" sz="2400" i="1" dirty="0" smtClean="0"/>
              <a:t>d</a:t>
            </a:r>
            <a:r>
              <a:rPr lang="en-US" sz="2400" dirty="0" smtClean="0"/>
              <a:t> stands for “dimension” or feature </a:t>
            </a:r>
          </a:p>
          <a:p>
            <a:r>
              <a:rPr lang="en-US" sz="2400" dirty="0" smtClean="0"/>
              <a:t>It contains the </a:t>
            </a:r>
            <a:r>
              <a:rPr lang="en-US" sz="2400" dirty="0" err="1" smtClean="0"/>
              <a:t>covariances</a:t>
            </a:r>
            <a:r>
              <a:rPr lang="en-US" sz="2400" dirty="0" smtClean="0"/>
              <a:t> of all possible data sets.</a:t>
            </a:r>
          </a:p>
          <a:p>
            <a:r>
              <a:rPr lang="en-US" sz="2400" dirty="0" smtClean="0"/>
              <a:t>It shows the pair wise feature correlation between each feature.</a:t>
            </a:r>
          </a:p>
          <a:p>
            <a:endParaRPr lang="en-US"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400"/>
          </a:xfrm>
        </p:spPr>
        <p:txBody>
          <a:bodyPr>
            <a:normAutofit fontScale="90000"/>
          </a:bodyPr>
          <a:lstStyle/>
          <a:p>
            <a:r>
              <a:rPr lang="en-US" sz="3200" b="1" dirty="0" smtClean="0">
                <a:solidFill>
                  <a:srgbClr val="000000"/>
                </a:solidFill>
              </a:rPr>
              <a:t>Covariance matrix computation</a:t>
            </a:r>
            <a:endParaRPr lang="en-US" dirty="0"/>
          </a:p>
        </p:txBody>
      </p:sp>
      <p:sp>
        <p:nvSpPr>
          <p:cNvPr id="3" name="Content Placeholder 2"/>
          <p:cNvSpPr>
            <a:spLocks noGrp="1"/>
          </p:cNvSpPr>
          <p:nvPr>
            <p:ph idx="1"/>
          </p:nvPr>
        </p:nvSpPr>
        <p:spPr>
          <a:xfrm>
            <a:off x="685800" y="1288473"/>
            <a:ext cx="7772400" cy="4807527"/>
          </a:xfrm>
        </p:spPr>
        <p:txBody>
          <a:bodyPr/>
          <a:lstStyle/>
          <a:p>
            <a:r>
              <a:rPr lang="en-US" dirty="0" smtClean="0"/>
              <a:t>The covariance matrix of two-dimensional data is, given as follows:</a:t>
            </a:r>
          </a:p>
          <a:p>
            <a:endParaRPr lang="en-US" dirty="0" smtClean="0"/>
          </a:p>
          <a:p>
            <a:pPr>
              <a:buNone/>
            </a:pPr>
            <a:r>
              <a:rPr lang="en-US" dirty="0" smtClean="0"/>
              <a:t>                                              </a:t>
            </a:r>
            <a:r>
              <a:rPr lang="en-US" dirty="0" smtClean="0"/>
              <a:t>           </a:t>
            </a:r>
            <a:r>
              <a:rPr lang="en-US" dirty="0" smtClean="0"/>
              <a:t>, where</a:t>
            </a:r>
          </a:p>
          <a:p>
            <a:pPr>
              <a:buNone/>
            </a:pPr>
            <a:r>
              <a:rPr lang="en-US" dirty="0" smtClean="0"/>
              <a:t>        </a:t>
            </a:r>
            <a:r>
              <a:rPr lang="en-US" dirty="0" smtClean="0"/>
              <a:t>                                              </a:t>
            </a:r>
            <a:r>
              <a:rPr lang="en-US" dirty="0" smtClean="0"/>
              <a:t>for n objects.</a:t>
            </a:r>
          </a:p>
          <a:p>
            <a:pPr>
              <a:buNone/>
            </a:pPr>
            <a:endParaRPr lang="en-US" dirty="0" smtClean="0"/>
          </a:p>
          <a:p>
            <a:r>
              <a:rPr lang="en-US" sz="2800" dirty="0" smtClean="0"/>
              <a:t>Note that, COV(X, X)=</a:t>
            </a:r>
            <a:r>
              <a:rPr lang="en-US" sz="2800" dirty="0" err="1" smtClean="0"/>
              <a:t>Var</a:t>
            </a:r>
            <a:r>
              <a:rPr lang="en-US" sz="2800" dirty="0" smtClean="0"/>
              <a:t>(X), so the values at the top left and bottom right will have the variances of the same initial number.</a:t>
            </a:r>
          </a:p>
          <a:p>
            <a:pPr>
              <a:buNone/>
            </a:pPr>
            <a:endParaRPr lang="en-US" dirty="0"/>
          </a:p>
        </p:txBody>
      </p:sp>
      <p:sp>
        <p:nvSpPr>
          <p:cNvPr id="89088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890883"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569027" y="2601191"/>
            <a:ext cx="4333071" cy="775854"/>
          </a:xfrm>
          <a:prstGeom prst="rect">
            <a:avLst/>
          </a:prstGeom>
          <a:noFill/>
        </p:spPr>
      </p:pic>
      <p:sp>
        <p:nvSpPr>
          <p:cNvPr id="8908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890885"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735281" y="3750590"/>
            <a:ext cx="3794955" cy="655155"/>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37309"/>
          </a:xfrm>
        </p:spPr>
        <p:txBody>
          <a:bodyPr/>
          <a:lstStyle/>
          <a:p>
            <a:r>
              <a:rPr lang="en-US" sz="3200" b="1" dirty="0" smtClean="0">
                <a:solidFill>
                  <a:srgbClr val="000000"/>
                </a:solidFill>
              </a:rPr>
              <a:t>Covariance matrix computation</a:t>
            </a:r>
            <a:endParaRPr lang="en-US" dirty="0"/>
          </a:p>
        </p:txBody>
      </p:sp>
      <p:sp>
        <p:nvSpPr>
          <p:cNvPr id="3" name="Content Placeholder 2"/>
          <p:cNvSpPr>
            <a:spLocks noGrp="1"/>
          </p:cNvSpPr>
          <p:nvPr>
            <p:ph idx="1"/>
          </p:nvPr>
        </p:nvSpPr>
        <p:spPr>
          <a:xfrm>
            <a:off x="685800" y="1246909"/>
            <a:ext cx="7772400" cy="4849091"/>
          </a:xfrm>
        </p:spPr>
        <p:txBody>
          <a:bodyPr/>
          <a:lstStyle/>
          <a:p>
            <a:r>
              <a:rPr lang="en-US" sz="2800" dirty="0" smtClean="0"/>
              <a:t>The Covariance Matrix (CM) is symmetric, as COV(X, Y)=COV(Y, X).</a:t>
            </a:r>
          </a:p>
          <a:p>
            <a:r>
              <a:rPr lang="en-US" sz="2800" dirty="0" smtClean="0"/>
              <a:t>If the value of the CM is positive, then it indicates that the variables are correlated (i.e., if X increases, Y also increases and vice versa)</a:t>
            </a:r>
          </a:p>
          <a:p>
            <a:r>
              <a:rPr lang="en-US" sz="2800" dirty="0" smtClean="0"/>
              <a:t>If the value of the CM is negative, then it indicates that the variables are inversely correlated (i.e., if X increases, Y decreases and vice versa).</a:t>
            </a:r>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12618"/>
          </a:xfrm>
        </p:spPr>
        <p:txBody>
          <a:bodyPr>
            <a:normAutofit fontScale="90000"/>
          </a:bodyPr>
          <a:lstStyle/>
          <a:p>
            <a:r>
              <a:rPr lang="en-US" sz="3200" b="1" dirty="0" smtClean="0">
                <a:solidFill>
                  <a:srgbClr val="000000"/>
                </a:solidFill>
              </a:rPr>
              <a:t>Covariance matrix computation</a:t>
            </a:r>
            <a:endParaRPr lang="en-US" dirty="0"/>
          </a:p>
        </p:txBody>
      </p:sp>
      <p:sp>
        <p:nvSpPr>
          <p:cNvPr id="3" name="Content Placeholder 2"/>
          <p:cNvSpPr>
            <a:spLocks noGrp="1"/>
          </p:cNvSpPr>
          <p:nvPr>
            <p:ph idx="1"/>
          </p:nvPr>
        </p:nvSpPr>
        <p:spPr>
          <a:xfrm>
            <a:off x="685800" y="1340427"/>
            <a:ext cx="7772400" cy="4755573"/>
          </a:xfrm>
        </p:spPr>
        <p:txBody>
          <a:bodyPr/>
          <a:lstStyle/>
          <a:p>
            <a:r>
              <a:rPr lang="en-US" sz="2800" dirty="0" smtClean="0"/>
              <a:t>As a result, at the end of this step, we may come to know which pair of variables are correlated with each other, so that we might categorize them much easier.</a:t>
            </a:r>
          </a:p>
          <a:p>
            <a:r>
              <a:rPr lang="en-US" sz="2800" dirty="0" smtClean="0"/>
              <a:t>Example: Continuing with the same example, we have to compute CM as:</a:t>
            </a:r>
          </a:p>
          <a:p>
            <a:pPr>
              <a:buNone/>
            </a:pPr>
            <a:endParaRPr lang="en-US" sz="2800" dirty="0"/>
          </a:p>
        </p:txBody>
      </p:sp>
      <p:graphicFrame>
        <p:nvGraphicFramePr>
          <p:cNvPr id="4" name="Table 3"/>
          <p:cNvGraphicFramePr>
            <a:graphicFrameLocks noGrp="1"/>
          </p:cNvGraphicFramePr>
          <p:nvPr/>
        </p:nvGraphicFramePr>
        <p:xfrm>
          <a:off x="1934614" y="4229100"/>
          <a:ext cx="5079251" cy="1866900"/>
        </p:xfrm>
        <a:graphic>
          <a:graphicData uri="http://schemas.openxmlformats.org/drawingml/2006/table">
            <a:tbl>
              <a:tblPr/>
              <a:tblGrid>
                <a:gridCol w="443624"/>
                <a:gridCol w="1177183"/>
                <a:gridCol w="1295151"/>
                <a:gridCol w="1060047"/>
                <a:gridCol w="1103246"/>
              </a:tblGrid>
              <a:tr h="373380">
                <a:tc>
                  <a:txBody>
                    <a:bodyPr/>
                    <a:lstStyle/>
                    <a:p>
                      <a:pPr algn="l">
                        <a:lnSpc>
                          <a:spcPct val="107000"/>
                        </a:lnSpc>
                        <a:spcAft>
                          <a:spcPts val="0"/>
                        </a:spcAft>
                        <a:tabLst>
                          <a:tab pos="571500" algn="l"/>
                        </a:tabLst>
                      </a:pPr>
                      <a:endParaRPr lang="en-IN"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380">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VAR(F1)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COV(F1, 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COV(F1, 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COV(F1, 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380">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COV(F2, 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VAR(F2)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COV(F2, 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COV(F2, 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380">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COV(F3, 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COV(F3, 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VAR(F3)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COV(F3, 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380">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COV(F4, 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COV(F4, 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COV(F4, 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VAR(F4)</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12618"/>
          </a:xfrm>
        </p:spPr>
        <p:txBody>
          <a:bodyPr>
            <a:normAutofit fontScale="90000"/>
          </a:bodyPr>
          <a:lstStyle/>
          <a:p>
            <a:r>
              <a:rPr lang="en-US" sz="3200" b="1" dirty="0" smtClean="0">
                <a:solidFill>
                  <a:srgbClr val="000000"/>
                </a:solidFill>
              </a:rPr>
              <a:t>Covariance matrix computation</a:t>
            </a:r>
            <a:endParaRPr lang="en-US" dirty="0"/>
          </a:p>
        </p:txBody>
      </p:sp>
      <p:sp>
        <p:nvSpPr>
          <p:cNvPr id="3" name="Content Placeholder 2"/>
          <p:cNvSpPr>
            <a:spLocks noGrp="1"/>
          </p:cNvSpPr>
          <p:nvPr>
            <p:ph idx="1"/>
          </p:nvPr>
        </p:nvSpPr>
        <p:spPr>
          <a:xfrm>
            <a:off x="685800" y="1298864"/>
            <a:ext cx="7772400" cy="4797136"/>
          </a:xfrm>
        </p:spPr>
        <p:txBody>
          <a:bodyPr/>
          <a:lstStyle/>
          <a:p>
            <a:r>
              <a:rPr lang="en-US" sz="2800" dirty="0" smtClean="0"/>
              <a:t>Since we have already standardized the features, we can consider Mean = 0 and Standard Deviation=1 for each feature.</a:t>
            </a:r>
          </a:p>
          <a:p>
            <a:r>
              <a:rPr lang="en-US" sz="2800" dirty="0" smtClean="0"/>
              <a:t>VAR(F1) = ((-1.0695-0)² + (0.5347-0)² + (-1.0695-0)² + (0.5347–0)² +(1.069–0)²)/5 = 0.78</a:t>
            </a:r>
          </a:p>
          <a:p>
            <a:r>
              <a:rPr lang="en-US" sz="2800" dirty="0" smtClean="0"/>
              <a:t>COV(F1,F2) = ((-1.0695–0)</a:t>
            </a:r>
            <a:r>
              <a:rPr lang="en-US" sz="2800" i="1" dirty="0" smtClean="0"/>
              <a:t>(0.8196-0) + (0.5347–0)</a:t>
            </a:r>
            <a:r>
              <a:rPr lang="en-US" sz="2800" dirty="0" smtClean="0"/>
              <a:t>(-1.6393-0) + (-1.0695–0)(0.0000-0) + (0.5347–0)</a:t>
            </a:r>
            <a:r>
              <a:rPr lang="en-US" sz="2800" i="1" dirty="0" smtClean="0"/>
              <a:t>(0.0000-0)+ (1.0695 –0) </a:t>
            </a:r>
            <a:r>
              <a:rPr lang="en-US" sz="2800" dirty="0" smtClean="0"/>
              <a:t>(0.8196–0))/5 = -0.8586</a:t>
            </a:r>
          </a:p>
          <a:p>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33400"/>
          </a:xfrm>
        </p:spPr>
        <p:txBody>
          <a:bodyPr>
            <a:normAutofit fontScale="90000"/>
          </a:bodyPr>
          <a:lstStyle/>
          <a:p>
            <a:r>
              <a:rPr lang="en-US" sz="3200" b="1" dirty="0" smtClean="0">
                <a:solidFill>
                  <a:srgbClr val="000000"/>
                </a:solidFill>
              </a:rPr>
              <a:t>Covariance matrix computation</a:t>
            </a:r>
            <a:endParaRPr lang="en-US" dirty="0"/>
          </a:p>
        </p:txBody>
      </p:sp>
      <p:sp>
        <p:nvSpPr>
          <p:cNvPr id="3" name="Content Placeholder 2"/>
          <p:cNvSpPr>
            <a:spLocks noGrp="1"/>
          </p:cNvSpPr>
          <p:nvPr>
            <p:ph idx="1"/>
          </p:nvPr>
        </p:nvSpPr>
        <p:spPr>
          <a:xfrm>
            <a:off x="685800" y="1278082"/>
            <a:ext cx="7772400" cy="4817918"/>
          </a:xfrm>
        </p:spPr>
        <p:txBody>
          <a:bodyPr/>
          <a:lstStyle/>
          <a:p>
            <a:r>
              <a:rPr lang="en-US" dirty="0" smtClean="0"/>
              <a:t>Similarly solving all the features, the covariance matrix will be: </a:t>
            </a:r>
            <a:br>
              <a:rPr lang="en-US" dirty="0" smtClean="0"/>
            </a:br>
            <a:endParaRPr lang="en-US" dirty="0"/>
          </a:p>
        </p:txBody>
      </p:sp>
      <p:graphicFrame>
        <p:nvGraphicFramePr>
          <p:cNvPr id="4" name="Table 3"/>
          <p:cNvGraphicFramePr>
            <a:graphicFrameLocks noGrp="1"/>
          </p:cNvGraphicFramePr>
          <p:nvPr/>
        </p:nvGraphicFramePr>
        <p:xfrm>
          <a:off x="1768359" y="2532060"/>
          <a:ext cx="5048076" cy="2091895"/>
        </p:xfrm>
        <a:graphic>
          <a:graphicData uri="http://schemas.openxmlformats.org/drawingml/2006/table">
            <a:tbl>
              <a:tblPr/>
              <a:tblGrid>
                <a:gridCol w="440902"/>
                <a:gridCol w="1169958"/>
                <a:gridCol w="1287201"/>
                <a:gridCol w="1053540"/>
                <a:gridCol w="1096475"/>
              </a:tblGrid>
              <a:tr h="418379">
                <a:tc>
                  <a:txBody>
                    <a:bodyPr/>
                    <a:lstStyle/>
                    <a:p>
                      <a:pPr algn="l">
                        <a:lnSpc>
                          <a:spcPct val="107000"/>
                        </a:lnSpc>
                        <a:spcAft>
                          <a:spcPts val="0"/>
                        </a:spcAft>
                        <a:tabLst>
                          <a:tab pos="571500" algn="l"/>
                        </a:tabLst>
                      </a:pPr>
                      <a:endParaRPr lang="en-IN"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8379">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-0.8586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-0.055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8379">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-0.8586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-0.607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8379">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-0.055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-0.607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8379">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0.78</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9772"/>
            <a:ext cx="7772400" cy="699655"/>
          </a:xfrm>
        </p:spPr>
        <p:txBody>
          <a:bodyPr/>
          <a:lstStyle/>
          <a:p>
            <a:r>
              <a:rPr lang="en-US" sz="2400" b="1" dirty="0" err="1" smtClean="0">
                <a:solidFill>
                  <a:srgbClr val="000000"/>
                </a:solidFill>
              </a:rPr>
              <a:t>Eigendecomposition</a:t>
            </a:r>
            <a:r>
              <a:rPr lang="en-US" sz="24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959427"/>
            <a:ext cx="7772400" cy="5534891"/>
          </a:xfrm>
        </p:spPr>
        <p:txBody>
          <a:bodyPr/>
          <a:lstStyle/>
          <a:p>
            <a:pPr>
              <a:buNone/>
            </a:pPr>
            <a:r>
              <a:rPr lang="en-IN" dirty="0" smtClean="0">
                <a:solidFill>
                  <a:schemeClr val="tx1"/>
                </a:solidFill>
                <a:latin typeface="+mn-lt"/>
                <a:ea typeface="+mn-ea"/>
                <a:cs typeface="+mn-cs"/>
              </a:rPr>
              <a:t>iii) </a:t>
            </a:r>
            <a:r>
              <a:rPr lang="en-US" sz="2800" b="1" dirty="0" smtClean="0">
                <a:solidFill>
                  <a:schemeClr val="tx1"/>
                </a:solidFill>
                <a:latin typeface="+mn-lt"/>
                <a:ea typeface="+mn-ea"/>
                <a:cs typeface="+mn-cs"/>
              </a:rPr>
              <a:t>Calculate </a:t>
            </a:r>
            <a:r>
              <a:rPr lang="en-US" sz="2800" b="1" dirty="0">
                <a:solidFill>
                  <a:schemeClr val="tx1"/>
                </a:solidFill>
                <a:latin typeface="+mn-lt"/>
                <a:ea typeface="+mn-ea"/>
                <a:cs typeface="+mn-cs"/>
              </a:rPr>
              <a:t>the </a:t>
            </a:r>
            <a:r>
              <a:rPr lang="en-US" sz="2800" b="1" dirty="0" err="1">
                <a:solidFill>
                  <a:schemeClr val="tx1"/>
                </a:solidFill>
                <a:latin typeface="+mn-lt"/>
                <a:ea typeface="+mn-ea"/>
                <a:cs typeface="+mn-cs"/>
              </a:rPr>
              <a:t>eigendecomposition</a:t>
            </a:r>
            <a:r>
              <a:rPr lang="en-US" sz="2800" b="1" dirty="0">
                <a:solidFill>
                  <a:schemeClr val="tx1"/>
                </a:solidFill>
                <a:latin typeface="+mn-lt"/>
                <a:ea typeface="+mn-ea"/>
                <a:cs typeface="+mn-cs"/>
              </a:rPr>
              <a:t> of the covariance </a:t>
            </a:r>
            <a:r>
              <a:rPr lang="en-US" sz="2800" b="1" dirty="0" smtClean="0">
                <a:solidFill>
                  <a:schemeClr val="tx1"/>
                </a:solidFill>
                <a:latin typeface="+mn-lt"/>
                <a:ea typeface="+mn-ea"/>
                <a:cs typeface="+mn-cs"/>
              </a:rPr>
              <a:t>matrix</a:t>
            </a:r>
          </a:p>
          <a:p>
            <a:r>
              <a:rPr lang="en-US" sz="2800" dirty="0" smtClean="0"/>
              <a:t>We calculate the eigenvectors (unit vectors) and their associated </a:t>
            </a:r>
            <a:r>
              <a:rPr lang="en-US" sz="2800" dirty="0" err="1" smtClean="0"/>
              <a:t>eigenvalues</a:t>
            </a:r>
            <a:r>
              <a:rPr lang="en-US" sz="2800" dirty="0" smtClean="0"/>
              <a:t> (scalars by which we multiply the eigenvector) of the covariance matrix. </a:t>
            </a:r>
            <a:endParaRPr lang="en-US" sz="2800" b="1" dirty="0" smtClean="0"/>
          </a:p>
          <a:p>
            <a:r>
              <a:rPr lang="en-US" sz="2400" dirty="0" smtClean="0"/>
              <a:t>The </a:t>
            </a:r>
            <a:r>
              <a:rPr lang="en-US" sz="2400" b="1" dirty="0" smtClean="0"/>
              <a:t>eigenvectors of the covariance matrix</a:t>
            </a:r>
            <a:r>
              <a:rPr lang="en-US" sz="2400" dirty="0" smtClean="0"/>
              <a:t> play a crucial role in understanding the structure and behavior of data in high-dimensional spaces. </a:t>
            </a:r>
          </a:p>
          <a:p>
            <a:r>
              <a:rPr lang="en-US" sz="2400" dirty="0" smtClean="0"/>
              <a:t>They provide insights into the underlying relationships, directions of variance, and dimensionality of the data. 	</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395335"/>
          </a:xfrm>
        </p:spPr>
        <p:txBody>
          <a:bodyPr>
            <a:normAutofit fontScale="90000"/>
          </a:bodyPr>
          <a:lstStyle/>
          <a:p>
            <a:r>
              <a:rPr lang="en-IN" sz="2800" dirty="0" smtClean="0">
                <a:solidFill>
                  <a:schemeClr val="tx1"/>
                </a:solidFill>
              </a:rPr>
              <a:t>iii) </a:t>
            </a:r>
            <a:r>
              <a:rPr lang="en-US" sz="2800" b="1" dirty="0" smtClean="0">
                <a:solidFill>
                  <a:schemeClr val="tx1"/>
                </a:solidFill>
              </a:rPr>
              <a:t>Calculate the </a:t>
            </a:r>
            <a:r>
              <a:rPr lang="en-US" sz="2800" b="1" dirty="0" err="1" smtClean="0">
                <a:solidFill>
                  <a:schemeClr val="tx1"/>
                </a:solidFill>
              </a:rPr>
              <a:t>eigendecomposition</a:t>
            </a:r>
            <a:endParaRPr lang="en-US" sz="2800" dirty="0"/>
          </a:p>
        </p:txBody>
      </p:sp>
      <p:sp>
        <p:nvSpPr>
          <p:cNvPr id="3" name="Content Placeholder 2"/>
          <p:cNvSpPr>
            <a:spLocks noGrp="1"/>
          </p:cNvSpPr>
          <p:nvPr>
            <p:ph idx="1"/>
          </p:nvPr>
        </p:nvSpPr>
        <p:spPr>
          <a:xfrm>
            <a:off x="685800" y="1149790"/>
            <a:ext cx="7772400" cy="4946210"/>
          </a:xfrm>
        </p:spPr>
        <p:txBody>
          <a:bodyPr/>
          <a:lstStyle/>
          <a:p>
            <a:r>
              <a:rPr lang="en-US" dirty="0" smtClean="0"/>
              <a:t>Some key significances are:</a:t>
            </a:r>
          </a:p>
          <a:p>
            <a:pPr>
              <a:buNone/>
            </a:pPr>
            <a:r>
              <a:rPr lang="en-US" sz="2800" b="1" dirty="0" smtClean="0"/>
              <a:t>1. Directions of Maximum Variance</a:t>
            </a:r>
          </a:p>
          <a:p>
            <a:pPr>
              <a:buNone/>
            </a:pPr>
            <a:r>
              <a:rPr lang="en-US" sz="2800" dirty="0" smtClean="0"/>
              <a:t>	- Each eigenvector represents a </a:t>
            </a:r>
            <a:r>
              <a:rPr lang="en-US" sz="2800" b="1" dirty="0" smtClean="0"/>
              <a:t>principal direction</a:t>
            </a:r>
            <a:r>
              <a:rPr lang="en-US" sz="2800" dirty="0" smtClean="0"/>
              <a:t> in which the data varies the most.</a:t>
            </a:r>
          </a:p>
          <a:p>
            <a:pPr>
              <a:buNone/>
            </a:pPr>
            <a:r>
              <a:rPr lang="en-US" sz="2800" dirty="0" smtClean="0"/>
              <a:t>	- The eigenvectors indicate the </a:t>
            </a:r>
            <a:r>
              <a:rPr lang="en-US" sz="2800" b="1" dirty="0" smtClean="0"/>
              <a:t>axes</a:t>
            </a:r>
            <a:r>
              <a:rPr lang="en-US" sz="2800" dirty="0" smtClean="0"/>
              <a:t> along which the data is spread in the feature space.</a:t>
            </a:r>
          </a:p>
          <a:p>
            <a:pPr>
              <a:buNone/>
            </a:pPr>
            <a:r>
              <a:rPr lang="en-US" sz="2800" dirty="0" smtClean="0"/>
              <a:t>	- For example, if a dataset has two strongly correlated features, the first eigenvector will point in the direction of the greatest variance.</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8352"/>
            <a:ext cx="7772400" cy="615636"/>
          </a:xfrm>
        </p:spPr>
        <p:txBody>
          <a:bodyPr/>
          <a:lstStyle/>
          <a:p>
            <a:r>
              <a:rPr lang="en-IN" sz="2800" dirty="0" smtClean="0">
                <a:solidFill>
                  <a:srgbClr val="000000"/>
                </a:solidFill>
              </a:rPr>
              <a:t>iii) </a:t>
            </a:r>
            <a:r>
              <a:rPr lang="en-US" sz="2800" b="1" dirty="0" smtClean="0">
                <a:solidFill>
                  <a:srgbClr val="000000"/>
                </a:solidFill>
              </a:rPr>
              <a:t>Calculate the </a:t>
            </a:r>
            <a:r>
              <a:rPr lang="en-US" sz="2800" b="1" dirty="0" err="1" smtClean="0">
                <a:solidFill>
                  <a:srgbClr val="000000"/>
                </a:solidFill>
              </a:rPr>
              <a:t>eigendecomposition</a:t>
            </a:r>
            <a:endParaRPr lang="en-US" dirty="0"/>
          </a:p>
        </p:txBody>
      </p:sp>
      <p:sp>
        <p:nvSpPr>
          <p:cNvPr id="3" name="Content Placeholder 2"/>
          <p:cNvSpPr>
            <a:spLocks noGrp="1"/>
          </p:cNvSpPr>
          <p:nvPr>
            <p:ph idx="1"/>
          </p:nvPr>
        </p:nvSpPr>
        <p:spPr>
          <a:xfrm>
            <a:off x="685800" y="1140737"/>
            <a:ext cx="7772400" cy="4955263"/>
          </a:xfrm>
        </p:spPr>
        <p:txBody>
          <a:bodyPr/>
          <a:lstStyle/>
          <a:p>
            <a:pPr>
              <a:buNone/>
            </a:pPr>
            <a:r>
              <a:rPr lang="en-US" sz="2400" b="1" dirty="0" smtClean="0"/>
              <a:t>2. Feature </a:t>
            </a:r>
            <a:r>
              <a:rPr lang="en-US" sz="2400" b="1" dirty="0" err="1" smtClean="0"/>
              <a:t>Decorrelation</a:t>
            </a:r>
            <a:endParaRPr lang="en-US" sz="2400" b="1" dirty="0" smtClean="0"/>
          </a:p>
          <a:p>
            <a:r>
              <a:rPr lang="en-US" sz="2000" dirty="0" smtClean="0"/>
              <a:t>The eigenvectors are </a:t>
            </a:r>
            <a:r>
              <a:rPr lang="en-US" sz="2000" b="1" dirty="0" smtClean="0"/>
              <a:t>orthogonal</a:t>
            </a:r>
            <a:r>
              <a:rPr lang="en-US" sz="2000" dirty="0" smtClean="0"/>
              <a:t> (perpendicular to each other), meaning they form a new set of uncorrelated axes.</a:t>
            </a:r>
          </a:p>
          <a:p>
            <a:r>
              <a:rPr lang="en-US" sz="2000" dirty="0" smtClean="0"/>
              <a:t>Transforming the data into the eigenvector basis (e.g., via PCA) removes redundancy caused by correlations among the original features.</a:t>
            </a:r>
          </a:p>
          <a:p>
            <a:pPr>
              <a:buNone/>
            </a:pPr>
            <a:r>
              <a:rPr lang="en-US" sz="2400" b="1" dirty="0" smtClean="0"/>
              <a:t>3. Dimensionality Reduction</a:t>
            </a:r>
          </a:p>
          <a:p>
            <a:r>
              <a:rPr lang="en-US" sz="2000" dirty="0" smtClean="0"/>
              <a:t>The eigenvectors corresponding to the </a:t>
            </a:r>
            <a:r>
              <a:rPr lang="en-US" sz="2000" b="1" dirty="0" smtClean="0"/>
              <a:t>largest </a:t>
            </a:r>
            <a:r>
              <a:rPr lang="en-US" sz="2000" b="1" dirty="0" err="1" smtClean="0"/>
              <a:t>eigenvalues</a:t>
            </a:r>
            <a:r>
              <a:rPr lang="en-US" sz="2000" dirty="0" smtClean="0"/>
              <a:t> capture the most significant variance in the data.</a:t>
            </a:r>
          </a:p>
          <a:p>
            <a:r>
              <a:rPr lang="en-US" sz="2000" dirty="0" smtClean="0"/>
              <a:t>In </a:t>
            </a:r>
            <a:r>
              <a:rPr lang="en-US" sz="2000" b="1" dirty="0" smtClean="0"/>
              <a:t>PCA</a:t>
            </a:r>
            <a:r>
              <a:rPr lang="en-US" sz="2000" dirty="0" smtClean="0"/>
              <a:t>, the data is projected onto these eigenvectors to reduce dimensionality while retaining as much variance as possible.</a:t>
            </a:r>
          </a:p>
          <a:p>
            <a:pPr lvl="1"/>
            <a:r>
              <a:rPr lang="en-US" sz="2000" dirty="0" smtClean="0"/>
              <a:t>For example, keeping the top k eigenvectors (principal components) retains most of the data’s variability while discarding less informative directions.</a:t>
            </a:r>
          </a:p>
          <a:p>
            <a:pPr>
              <a:buNone/>
            </a:pPr>
            <a:endParaRPr lang="en-US" sz="2400" dirty="0" smtClean="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5391"/>
            <a:ext cx="7772400" cy="470780"/>
          </a:xfrm>
        </p:spPr>
        <p:txBody>
          <a:bodyPr>
            <a:normAutofit fontScale="90000"/>
          </a:bodyPr>
          <a:lstStyle/>
          <a:p>
            <a:r>
              <a:rPr lang="en-IN" sz="2800" dirty="0" smtClean="0">
                <a:solidFill>
                  <a:srgbClr val="000000"/>
                </a:solidFill>
              </a:rPr>
              <a:t>iii) </a:t>
            </a:r>
            <a:r>
              <a:rPr lang="en-US" sz="2800" b="1" dirty="0" smtClean="0">
                <a:solidFill>
                  <a:srgbClr val="000000"/>
                </a:solidFill>
              </a:rPr>
              <a:t>Calculate the </a:t>
            </a:r>
            <a:r>
              <a:rPr lang="en-US" sz="2800" b="1" dirty="0" err="1" smtClean="0">
                <a:solidFill>
                  <a:srgbClr val="000000"/>
                </a:solidFill>
              </a:rPr>
              <a:t>eigendecomposition</a:t>
            </a:r>
            <a:endParaRPr lang="en-US" dirty="0"/>
          </a:p>
        </p:txBody>
      </p:sp>
      <p:sp>
        <p:nvSpPr>
          <p:cNvPr id="3" name="Content Placeholder 2"/>
          <p:cNvSpPr>
            <a:spLocks noGrp="1"/>
          </p:cNvSpPr>
          <p:nvPr>
            <p:ph idx="1"/>
          </p:nvPr>
        </p:nvSpPr>
        <p:spPr>
          <a:xfrm>
            <a:off x="685800" y="896293"/>
            <a:ext cx="7772400" cy="5794218"/>
          </a:xfrm>
        </p:spPr>
        <p:txBody>
          <a:bodyPr/>
          <a:lstStyle/>
          <a:p>
            <a:pPr>
              <a:buNone/>
            </a:pPr>
            <a:r>
              <a:rPr lang="en-US" sz="2400" b="1" dirty="0" smtClean="0"/>
              <a:t>4. Data Interpretation and Visualization</a:t>
            </a:r>
          </a:p>
          <a:p>
            <a:r>
              <a:rPr lang="en-US" sz="2000" dirty="0" smtClean="0"/>
              <a:t>Eigenvectors provide interpretable directions in the feature space. For instance:</a:t>
            </a:r>
          </a:p>
          <a:p>
            <a:pPr lvl="1"/>
            <a:r>
              <a:rPr lang="en-US" sz="2000" dirty="0" smtClean="0"/>
              <a:t>The first eigenvector (associated with the largest </a:t>
            </a:r>
            <a:r>
              <a:rPr lang="en-US" sz="2000" dirty="0" err="1" smtClean="0"/>
              <a:t>eigenvalue</a:t>
            </a:r>
            <a:r>
              <a:rPr lang="en-US" sz="2000" dirty="0" smtClean="0"/>
              <a:t>) identifies the </a:t>
            </a:r>
            <a:r>
              <a:rPr lang="en-US" sz="2000" b="1" dirty="0" smtClean="0"/>
              <a:t>direction of maximum spread</a:t>
            </a:r>
            <a:r>
              <a:rPr lang="en-US" sz="2000" dirty="0" smtClean="0"/>
              <a:t> in the data.</a:t>
            </a:r>
          </a:p>
          <a:p>
            <a:pPr lvl="1"/>
            <a:r>
              <a:rPr lang="en-US" sz="2000" dirty="0" smtClean="0"/>
              <a:t>Subsequent eigenvectors represent </a:t>
            </a:r>
            <a:r>
              <a:rPr lang="en-US" sz="2000" b="1" dirty="0" smtClean="0"/>
              <a:t>orthogonal directions</a:t>
            </a:r>
            <a:r>
              <a:rPr lang="en-US" sz="2000" dirty="0" smtClean="0"/>
              <a:t> capturing decreasing amounts of variance.</a:t>
            </a:r>
          </a:p>
          <a:p>
            <a:pPr>
              <a:buNone/>
            </a:pPr>
            <a:r>
              <a:rPr lang="en-US" sz="2400" b="1" dirty="0" smtClean="0"/>
              <a:t>5. Identifying Redundancy and Correlations</a:t>
            </a:r>
          </a:p>
          <a:p>
            <a:r>
              <a:rPr lang="en-US" sz="2000" dirty="0" smtClean="0"/>
              <a:t>Eigenvectors reveal linear relationships or redundancy between features. For example:</a:t>
            </a:r>
          </a:p>
          <a:p>
            <a:pPr lvl="1"/>
            <a:r>
              <a:rPr lang="en-US" sz="2000" dirty="0" smtClean="0"/>
              <a:t>If one </a:t>
            </a:r>
            <a:r>
              <a:rPr lang="en-US" sz="2000" dirty="0" err="1" smtClean="0"/>
              <a:t>eigenvalue</a:t>
            </a:r>
            <a:r>
              <a:rPr lang="en-US" sz="2000" dirty="0" smtClean="0"/>
              <a:t> is zero (or near-zero), it means the corresponding eigenvector points to a direction where the data has little or no spread, indicating possible redundancy or </a:t>
            </a:r>
            <a:r>
              <a:rPr lang="en-US" sz="2000" dirty="0" err="1" smtClean="0"/>
              <a:t>collinearity</a:t>
            </a:r>
            <a:r>
              <a:rPr lang="en-US" sz="2000" dirty="0" smtClean="0"/>
              <a:t>.</a:t>
            </a:r>
          </a:p>
          <a:p>
            <a:pPr lvl="1"/>
            <a:r>
              <a:rPr lang="en-US" sz="2000" dirty="0" smtClean="0"/>
              <a:t>A small set of eigenvectors with large </a:t>
            </a:r>
            <a:r>
              <a:rPr lang="en-US" sz="2000" dirty="0" err="1" smtClean="0"/>
              <a:t>eigenvalues</a:t>
            </a:r>
            <a:r>
              <a:rPr lang="en-US" sz="2000" dirty="0" smtClean="0"/>
              <a:t> may explain most of the dataset's variance, while others may be noise.</a:t>
            </a:r>
          </a:p>
          <a:p>
            <a:pPr lvl="1">
              <a:buNone/>
            </a:pPr>
            <a:endParaRPr lang="en-US" sz="2000" dirty="0" smtClean="0"/>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2673"/>
            <a:ext cx="7772400" cy="570369"/>
          </a:xfrm>
        </p:spPr>
        <p:txBody>
          <a:bodyPr/>
          <a:lstStyle/>
          <a:p>
            <a:r>
              <a:rPr lang="en-IN" sz="2800" dirty="0" smtClean="0">
                <a:solidFill>
                  <a:srgbClr val="000000"/>
                </a:solidFill>
              </a:rPr>
              <a:t>iii) </a:t>
            </a:r>
            <a:r>
              <a:rPr lang="en-US" sz="2800" b="1" dirty="0" smtClean="0">
                <a:solidFill>
                  <a:srgbClr val="000000"/>
                </a:solidFill>
              </a:rPr>
              <a:t>Calculate the </a:t>
            </a:r>
            <a:r>
              <a:rPr lang="en-US" sz="2800" b="1" dirty="0" err="1" smtClean="0">
                <a:solidFill>
                  <a:srgbClr val="000000"/>
                </a:solidFill>
              </a:rPr>
              <a:t>eigendecomposition</a:t>
            </a:r>
            <a:endParaRPr lang="en-US" dirty="0"/>
          </a:p>
        </p:txBody>
      </p:sp>
      <p:sp>
        <p:nvSpPr>
          <p:cNvPr id="3" name="Content Placeholder 2"/>
          <p:cNvSpPr>
            <a:spLocks noGrp="1"/>
          </p:cNvSpPr>
          <p:nvPr>
            <p:ph idx="1"/>
          </p:nvPr>
        </p:nvSpPr>
        <p:spPr>
          <a:xfrm>
            <a:off x="685800" y="1321806"/>
            <a:ext cx="7772400" cy="4774194"/>
          </a:xfrm>
        </p:spPr>
        <p:txBody>
          <a:bodyPr/>
          <a:lstStyle/>
          <a:p>
            <a:pPr>
              <a:buNone/>
            </a:pPr>
            <a:r>
              <a:rPr lang="en-US" sz="2400" b="1" dirty="0" smtClean="0"/>
              <a:t>6. Geometric and Statistical Significance</a:t>
            </a:r>
          </a:p>
          <a:p>
            <a:r>
              <a:rPr lang="en-US" sz="2000" dirty="0" smtClean="0"/>
              <a:t>In the geometric sense, eigenvectors represent the </a:t>
            </a:r>
            <a:r>
              <a:rPr lang="en-US" sz="2000" b="1" dirty="0" smtClean="0"/>
              <a:t>axes of the ellipsoid</a:t>
            </a:r>
            <a:r>
              <a:rPr lang="en-US" sz="2000" dirty="0" smtClean="0"/>
              <a:t> that describes the covariance structure of the data in multidimensional space.</a:t>
            </a:r>
          </a:p>
          <a:p>
            <a:r>
              <a:rPr lang="en-US" sz="2000" dirty="0" smtClean="0"/>
              <a:t>In statistics, eigenvectors indicate the </a:t>
            </a:r>
            <a:r>
              <a:rPr lang="en-US" sz="2000" b="1" dirty="0" smtClean="0"/>
              <a:t>principal modes of variation</a:t>
            </a:r>
            <a:r>
              <a:rPr lang="en-US" sz="2000" dirty="0" smtClean="0"/>
              <a:t> in the data, helping in understanding its overall distribution.</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20436"/>
          </a:xfrm>
        </p:spPr>
        <p:txBody>
          <a:bodyPr>
            <a:normAutofit fontScale="90000"/>
          </a:bodyPr>
          <a:lstStyle/>
          <a:p>
            <a:r>
              <a:rPr lang="en-US" sz="2800" b="1" dirty="0" smtClean="0">
                <a:solidFill>
                  <a:srgbClr val="000000"/>
                </a:solidFill>
                <a:cs typeface="+mn-cs"/>
              </a:rPr>
              <a:t>Calculate the </a:t>
            </a:r>
            <a:r>
              <a:rPr lang="en-US" sz="2800" b="1" dirty="0" err="1" smtClean="0">
                <a:solidFill>
                  <a:srgbClr val="000000"/>
                </a:solidFill>
                <a:cs typeface="+mn-cs"/>
              </a:rPr>
              <a:t>eigendecomposition</a:t>
            </a:r>
            <a:r>
              <a:rPr lang="en-US" sz="2800" b="1" dirty="0" smtClean="0">
                <a:solidFill>
                  <a:srgbClr val="000000"/>
                </a:solidFill>
                <a:cs typeface="+mn-cs"/>
              </a:rPr>
              <a:t> of the covariance matrix</a:t>
            </a:r>
            <a:endParaRPr lang="en-US" dirty="0"/>
          </a:p>
        </p:txBody>
      </p:sp>
      <p:sp>
        <p:nvSpPr>
          <p:cNvPr id="3" name="Content Placeholder 2"/>
          <p:cNvSpPr>
            <a:spLocks noGrp="1"/>
          </p:cNvSpPr>
          <p:nvPr>
            <p:ph idx="1"/>
          </p:nvPr>
        </p:nvSpPr>
        <p:spPr>
          <a:xfrm>
            <a:off x="685800" y="1330035"/>
            <a:ext cx="7772400" cy="5351319"/>
          </a:xfrm>
        </p:spPr>
        <p:txBody>
          <a:bodyPr>
            <a:normAutofit lnSpcReduction="10000"/>
          </a:bodyPr>
          <a:lstStyle/>
          <a:p>
            <a:r>
              <a:rPr lang="en-US" sz="2800" dirty="0" smtClean="0"/>
              <a:t>To determine the principal components of variables, we have to define </a:t>
            </a:r>
            <a:r>
              <a:rPr lang="en-US" sz="2800" dirty="0" err="1" smtClean="0"/>
              <a:t>eigenvalue</a:t>
            </a:r>
            <a:r>
              <a:rPr lang="en-US" sz="2800" dirty="0" smtClean="0"/>
              <a:t> and eigenvectors of CM.</a:t>
            </a:r>
          </a:p>
          <a:p>
            <a:r>
              <a:rPr lang="en-US" sz="2800" dirty="0" smtClean="0"/>
              <a:t>Let A (i.e., the covariance matrix CM) be any square matrix. A non-zero vector v having same direction as Av is an eigenvector of A if (A – </a:t>
            </a:r>
            <a:r>
              <a:rPr lang="en-US" sz="2800" dirty="0" err="1" smtClean="0"/>
              <a:t>λI</a:t>
            </a:r>
            <a:r>
              <a:rPr lang="en-US" sz="2800" dirty="0" smtClean="0"/>
              <a:t>)v = 0, i.e., Av = </a:t>
            </a:r>
            <a:r>
              <a:rPr lang="en-US" sz="2800" dirty="0" err="1" smtClean="0"/>
              <a:t>λv</a:t>
            </a:r>
            <a:r>
              <a:rPr lang="en-US" sz="2800" dirty="0" smtClean="0"/>
              <a:t> for some number λ, called the corresponding </a:t>
            </a:r>
            <a:r>
              <a:rPr lang="en-US" sz="2800" dirty="0" err="1" smtClean="0"/>
              <a:t>eigenvalue</a:t>
            </a:r>
            <a:r>
              <a:rPr lang="en-US" sz="2800" dirty="0" smtClean="0"/>
              <a:t>.</a:t>
            </a:r>
          </a:p>
          <a:p>
            <a:r>
              <a:rPr lang="en-US" sz="2800" dirty="0" smtClean="0"/>
              <a:t>Once we have computed the </a:t>
            </a:r>
            <a:r>
              <a:rPr lang="en-US" sz="2800" dirty="0" err="1" smtClean="0"/>
              <a:t>eigenvalues</a:t>
            </a:r>
            <a:r>
              <a:rPr lang="en-US" sz="2800" dirty="0" smtClean="0"/>
              <a:t>, </a:t>
            </a:r>
            <a:r>
              <a:rPr lang="en-US" sz="2800" dirty="0" smtClean="0"/>
              <a:t>define </a:t>
            </a:r>
            <a:r>
              <a:rPr lang="en-US" sz="2800" dirty="0" err="1" smtClean="0"/>
              <a:t>eigenvalues</a:t>
            </a:r>
            <a:r>
              <a:rPr lang="en-US" sz="2800" dirty="0" smtClean="0"/>
              <a:t> in descending order ( for all variables) and now we will get a list of principal components.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4A913C60-7BB0-440F-8BAF-A6B3339C190E}" type="slidenum">
              <a:rPr lang="en-US"/>
              <a:pPr/>
              <a:t>33</a:t>
            </a:fld>
            <a:endParaRPr lang="en-US"/>
          </a:p>
        </p:txBody>
      </p:sp>
      <p:sp>
        <p:nvSpPr>
          <p:cNvPr id="15363" name="Rectangle 2"/>
          <p:cNvSpPr>
            <a:spLocks noGrp="1" noChangeArrowheads="1"/>
          </p:cNvSpPr>
          <p:nvPr>
            <p:ph type="title"/>
          </p:nvPr>
        </p:nvSpPr>
        <p:spPr/>
        <p:txBody>
          <a:bodyPr/>
          <a:lstStyle/>
          <a:p>
            <a:pPr eaLnBrk="1" hangingPunct="1"/>
            <a:r>
              <a:rPr lang="sv-SE" sz="3600" dirty="0" smtClean="0"/>
              <a:t>Eigenvalues &amp; eigenvectors</a:t>
            </a:r>
            <a:endParaRPr lang="en-US" sz="3600" dirty="0" smtClean="0"/>
          </a:p>
        </p:txBody>
      </p:sp>
      <p:sp>
        <p:nvSpPr>
          <p:cNvPr id="15364" name="Rectangle 3"/>
          <p:cNvSpPr>
            <a:spLocks noGrp="1" noChangeArrowheads="1"/>
          </p:cNvSpPr>
          <p:nvPr>
            <p:ph type="body" idx="1"/>
          </p:nvPr>
        </p:nvSpPr>
        <p:spPr/>
        <p:txBody>
          <a:bodyPr/>
          <a:lstStyle/>
          <a:p>
            <a:pPr eaLnBrk="1" hangingPunct="1"/>
            <a:r>
              <a:rPr lang="sv-SE" i="1" dirty="0" smtClean="0"/>
              <a:t>A</a:t>
            </a:r>
            <a:r>
              <a:rPr lang="sv-SE" b="1" i="1" dirty="0" smtClean="0"/>
              <a:t>v</a:t>
            </a:r>
            <a:r>
              <a:rPr lang="sv-SE" dirty="0" smtClean="0"/>
              <a:t>=</a:t>
            </a:r>
            <a:r>
              <a:rPr lang="sv-SE" dirty="0" smtClean="0">
                <a:sym typeface="Symbol" pitchFamily="18" charset="2"/>
              </a:rPr>
              <a:t></a:t>
            </a:r>
            <a:r>
              <a:rPr lang="sv-SE" b="1" dirty="0" smtClean="0">
                <a:sym typeface="Symbol" pitchFamily="18" charset="2"/>
              </a:rPr>
              <a:t>v  </a:t>
            </a:r>
            <a:r>
              <a:rPr lang="sv-SE" dirty="0" smtClean="0">
                <a:sym typeface="Symbol" pitchFamily="18" charset="2"/>
              </a:rPr>
              <a:t>(</a:t>
            </a:r>
            <a:r>
              <a:rPr lang="sv-SE" i="1" dirty="0" smtClean="0">
                <a:sym typeface="Symbol" pitchFamily="18" charset="2"/>
              </a:rPr>
              <a:t>A</a:t>
            </a:r>
            <a:r>
              <a:rPr lang="sv-SE" dirty="0" smtClean="0">
                <a:sym typeface="Symbol" pitchFamily="18" charset="2"/>
              </a:rPr>
              <a:t>-I)</a:t>
            </a:r>
            <a:r>
              <a:rPr lang="sv-SE" b="1" dirty="0" smtClean="0">
                <a:sym typeface="Symbol" pitchFamily="18" charset="2"/>
              </a:rPr>
              <a:t>v</a:t>
            </a:r>
            <a:r>
              <a:rPr lang="sv-SE" dirty="0" smtClean="0">
                <a:sym typeface="Symbol" pitchFamily="18" charset="2"/>
              </a:rPr>
              <a:t>=0</a:t>
            </a:r>
          </a:p>
          <a:p>
            <a:pPr eaLnBrk="1" hangingPunct="1"/>
            <a:r>
              <a:rPr lang="sv-SE" dirty="0" smtClean="0">
                <a:sym typeface="Symbol" pitchFamily="18" charset="2"/>
              </a:rPr>
              <a:t>How to calculate </a:t>
            </a:r>
            <a:r>
              <a:rPr lang="sv-SE" b="1" dirty="0" smtClean="0">
                <a:sym typeface="Symbol" pitchFamily="18" charset="2"/>
              </a:rPr>
              <a:t>v</a:t>
            </a:r>
            <a:r>
              <a:rPr lang="sv-SE" dirty="0" smtClean="0">
                <a:sym typeface="Symbol" pitchFamily="18" charset="2"/>
              </a:rPr>
              <a:t> and :</a:t>
            </a:r>
          </a:p>
          <a:p>
            <a:pPr lvl="1" eaLnBrk="1" hangingPunct="1"/>
            <a:r>
              <a:rPr lang="sv-SE" dirty="0" smtClean="0"/>
              <a:t>Calculate </a:t>
            </a:r>
            <a:r>
              <a:rPr lang="sv-SE" i="1" dirty="0" smtClean="0"/>
              <a:t>det</a:t>
            </a:r>
            <a:r>
              <a:rPr lang="sv-SE" dirty="0" smtClean="0">
                <a:sym typeface="Symbol" pitchFamily="18" charset="2"/>
              </a:rPr>
              <a:t>(</a:t>
            </a:r>
            <a:r>
              <a:rPr lang="sv-SE" i="1" dirty="0" smtClean="0">
                <a:sym typeface="Symbol" pitchFamily="18" charset="2"/>
              </a:rPr>
              <a:t>A</a:t>
            </a:r>
            <a:r>
              <a:rPr lang="sv-SE" dirty="0" smtClean="0">
                <a:sym typeface="Symbol" pitchFamily="18" charset="2"/>
              </a:rPr>
              <a:t>-</a:t>
            </a:r>
            <a:r>
              <a:rPr lang="sv-SE" i="1" dirty="0" smtClean="0">
                <a:sym typeface="Symbol" pitchFamily="18" charset="2"/>
              </a:rPr>
              <a:t>I</a:t>
            </a:r>
            <a:r>
              <a:rPr lang="sv-SE" dirty="0" smtClean="0">
                <a:sym typeface="Symbol" pitchFamily="18" charset="2"/>
              </a:rPr>
              <a:t>), yields a polynomial (degree n)</a:t>
            </a:r>
          </a:p>
          <a:p>
            <a:pPr lvl="1" eaLnBrk="1" hangingPunct="1"/>
            <a:r>
              <a:rPr lang="sv-SE" dirty="0" smtClean="0"/>
              <a:t>Determine roots to </a:t>
            </a:r>
            <a:r>
              <a:rPr lang="sv-SE" i="1" dirty="0" smtClean="0"/>
              <a:t>det</a:t>
            </a:r>
            <a:r>
              <a:rPr lang="sv-SE" dirty="0" smtClean="0">
                <a:sym typeface="Symbol" pitchFamily="18" charset="2"/>
              </a:rPr>
              <a:t>(</a:t>
            </a:r>
            <a:r>
              <a:rPr lang="sv-SE" i="1" dirty="0" smtClean="0">
                <a:sym typeface="Symbol" pitchFamily="18" charset="2"/>
              </a:rPr>
              <a:t>A</a:t>
            </a:r>
            <a:r>
              <a:rPr lang="sv-SE" dirty="0" smtClean="0">
                <a:sym typeface="Symbol" pitchFamily="18" charset="2"/>
              </a:rPr>
              <a:t>-</a:t>
            </a:r>
            <a:r>
              <a:rPr lang="sv-SE" i="1" dirty="0" smtClean="0">
                <a:sym typeface="Symbol" pitchFamily="18" charset="2"/>
              </a:rPr>
              <a:t>I</a:t>
            </a:r>
            <a:r>
              <a:rPr lang="sv-SE" dirty="0" smtClean="0">
                <a:sym typeface="Symbol" pitchFamily="18" charset="2"/>
              </a:rPr>
              <a:t>)</a:t>
            </a:r>
            <a:r>
              <a:rPr lang="sv-SE" dirty="0" smtClean="0"/>
              <a:t>=0, roots are eigenvalues </a:t>
            </a:r>
            <a:r>
              <a:rPr lang="sv-SE" dirty="0" smtClean="0">
                <a:sym typeface="Symbol" pitchFamily="18" charset="2"/>
              </a:rPr>
              <a:t></a:t>
            </a:r>
          </a:p>
          <a:p>
            <a:pPr lvl="1" eaLnBrk="1" hangingPunct="1"/>
            <a:r>
              <a:rPr lang="sv-SE" dirty="0" smtClean="0">
                <a:sym typeface="Symbol" pitchFamily="18" charset="2"/>
              </a:rPr>
              <a:t>Solve (</a:t>
            </a:r>
            <a:r>
              <a:rPr lang="sv-SE" i="1" dirty="0" smtClean="0">
                <a:sym typeface="Symbol" pitchFamily="18" charset="2"/>
              </a:rPr>
              <a:t>A</a:t>
            </a:r>
            <a:r>
              <a:rPr lang="sv-SE" dirty="0" smtClean="0">
                <a:sym typeface="Symbol" pitchFamily="18" charset="2"/>
              </a:rPr>
              <a:t>- </a:t>
            </a:r>
            <a:r>
              <a:rPr lang="sv-SE" i="1" dirty="0" smtClean="0">
                <a:sym typeface="Symbol" pitchFamily="18" charset="2"/>
              </a:rPr>
              <a:t>I</a:t>
            </a:r>
            <a:r>
              <a:rPr lang="sv-SE" dirty="0" smtClean="0">
                <a:sym typeface="Symbol" pitchFamily="18" charset="2"/>
              </a:rPr>
              <a:t>)v=0 for each  to obtain eigenvectors </a:t>
            </a:r>
            <a:r>
              <a:rPr lang="sv-SE" b="1" dirty="0" smtClean="0">
                <a:sym typeface="Symbol" pitchFamily="18" charset="2"/>
              </a:rPr>
              <a:t>v</a:t>
            </a:r>
          </a:p>
          <a:p>
            <a:pPr eaLnBrk="1" hangingPunct="1"/>
            <a:endParaRPr lang="en-US"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44032"/>
            <a:ext cx="7772400" cy="642796"/>
          </a:xfrm>
        </p:spPr>
        <p:txBody>
          <a:bodyPr>
            <a:normAutofit fontScale="90000"/>
          </a:bodyPr>
          <a:lstStyle/>
          <a:p>
            <a:r>
              <a:rPr lang="sv-SE" dirty="0" smtClean="0"/>
              <a:t>Eigenvalues &amp; eigenvectors</a:t>
            </a:r>
            <a:endParaRPr lang="en-US" dirty="0"/>
          </a:p>
        </p:txBody>
      </p:sp>
      <p:sp>
        <p:nvSpPr>
          <p:cNvPr id="3" name="Content Placeholder 2"/>
          <p:cNvSpPr>
            <a:spLocks noGrp="1"/>
          </p:cNvSpPr>
          <p:nvPr>
            <p:ph idx="1"/>
          </p:nvPr>
        </p:nvSpPr>
        <p:spPr>
          <a:xfrm>
            <a:off x="685800" y="1140737"/>
            <a:ext cx="7772400" cy="4955263"/>
          </a:xfrm>
        </p:spPr>
        <p:txBody>
          <a:bodyPr>
            <a:normAutofit lnSpcReduction="10000"/>
          </a:bodyPr>
          <a:lstStyle/>
          <a:p>
            <a:r>
              <a:rPr lang="en-US" sz="2000" dirty="0" smtClean="0"/>
              <a:t>To find the </a:t>
            </a:r>
            <a:r>
              <a:rPr lang="en-US" sz="2000" b="1" dirty="0" err="1" smtClean="0"/>
              <a:t>eigenvalues</a:t>
            </a:r>
            <a:r>
              <a:rPr lang="en-US" sz="2000" dirty="0" smtClean="0"/>
              <a:t> of a matrix, we solve the </a:t>
            </a:r>
            <a:r>
              <a:rPr lang="en-US" sz="2000" b="1" dirty="0" smtClean="0"/>
              <a:t>eigenvector equation</a:t>
            </a:r>
            <a:r>
              <a:rPr lang="en-US" sz="2000" dirty="0" smtClean="0"/>
              <a:t>:</a:t>
            </a:r>
          </a:p>
          <a:p>
            <a:r>
              <a:rPr lang="en-US" sz="2000" dirty="0" smtClean="0"/>
              <a:t>Av=</a:t>
            </a:r>
            <a:r>
              <a:rPr lang="el-GR" sz="2000" dirty="0" smtClean="0"/>
              <a:t>λ</a:t>
            </a:r>
            <a:r>
              <a:rPr lang="en-US" sz="2000" dirty="0" smtClean="0"/>
              <a:t>v where: A is an </a:t>
            </a:r>
            <a:r>
              <a:rPr lang="en-US" sz="2000" dirty="0" err="1" smtClean="0"/>
              <a:t>n×n</a:t>
            </a:r>
            <a:r>
              <a:rPr lang="en-US" sz="2000" dirty="0" smtClean="0"/>
              <a:t> square matrix,</a:t>
            </a:r>
          </a:p>
          <a:p>
            <a:r>
              <a:rPr lang="en-US" sz="2000" dirty="0" smtClean="0"/>
              <a:t>v is the eigenvector, and </a:t>
            </a:r>
            <a:r>
              <a:rPr lang="el-GR" sz="2000" dirty="0" smtClean="0"/>
              <a:t>λ </a:t>
            </a:r>
            <a:r>
              <a:rPr lang="en-US" sz="2000" dirty="0" smtClean="0"/>
              <a:t>is the </a:t>
            </a:r>
            <a:r>
              <a:rPr lang="en-US" sz="2000" dirty="0" err="1" smtClean="0"/>
              <a:t>eigenvalue</a:t>
            </a:r>
            <a:r>
              <a:rPr lang="en-US" sz="2000" dirty="0" smtClean="0"/>
              <a:t>.</a:t>
            </a:r>
          </a:p>
          <a:p>
            <a:r>
              <a:rPr lang="en-US" sz="2000" b="1" dirty="0" smtClean="0"/>
              <a:t>Steps to Find </a:t>
            </a:r>
            <a:r>
              <a:rPr lang="en-US" sz="2000" b="1" dirty="0" err="1" smtClean="0"/>
              <a:t>Eigenvalues</a:t>
            </a:r>
            <a:r>
              <a:rPr lang="en-US" sz="2000" b="1" dirty="0" smtClean="0"/>
              <a:t>:</a:t>
            </a:r>
          </a:p>
          <a:p>
            <a:pPr>
              <a:buNone/>
            </a:pPr>
            <a:r>
              <a:rPr lang="en-US" sz="2000" b="1" dirty="0" smtClean="0"/>
              <a:t>Step 1: Rewrite the Eigenvector Equation</a:t>
            </a:r>
          </a:p>
          <a:p>
            <a:r>
              <a:rPr lang="en-US" sz="2000" dirty="0" smtClean="0"/>
              <a:t>Rearrange the equation: Av−</a:t>
            </a:r>
            <a:r>
              <a:rPr lang="el-GR" sz="2000" dirty="0" smtClean="0"/>
              <a:t>λ</a:t>
            </a:r>
            <a:r>
              <a:rPr lang="en-US" sz="2000" dirty="0" smtClean="0"/>
              <a:t>Iv=0</a:t>
            </a:r>
          </a:p>
          <a:p>
            <a:r>
              <a:rPr lang="en-US" sz="2000" dirty="0" smtClean="0"/>
              <a:t>Factor out v: (A−</a:t>
            </a:r>
            <a:r>
              <a:rPr lang="el-GR" sz="2000" dirty="0" smtClean="0"/>
              <a:t>λ</a:t>
            </a:r>
            <a:r>
              <a:rPr lang="en-US" sz="2000" dirty="0" smtClean="0"/>
              <a:t>I)v=0 where I is the identity matrix.</a:t>
            </a:r>
          </a:p>
          <a:p>
            <a:pPr>
              <a:buNone/>
            </a:pPr>
            <a:r>
              <a:rPr lang="en-US" sz="2000" b="1" dirty="0" smtClean="0"/>
              <a:t>Step 2: Solve the Characteristic Equation</a:t>
            </a:r>
          </a:p>
          <a:p>
            <a:r>
              <a:rPr lang="en-US" sz="2000" dirty="0" smtClean="0"/>
              <a:t>For a </a:t>
            </a:r>
            <a:r>
              <a:rPr lang="en-US" sz="2000" b="1" dirty="0" smtClean="0"/>
              <a:t>non-trivial</a:t>
            </a:r>
            <a:r>
              <a:rPr lang="en-US" sz="2000" dirty="0" smtClean="0"/>
              <a:t> solution (v≠0), the determinant must be </a:t>
            </a:r>
            <a:r>
              <a:rPr lang="en-US" sz="2000" b="1" dirty="0" smtClean="0"/>
              <a:t>zero</a:t>
            </a:r>
            <a:r>
              <a:rPr lang="en-US" sz="2000" dirty="0" smtClean="0"/>
              <a:t>:</a:t>
            </a:r>
          </a:p>
          <a:p>
            <a:pPr>
              <a:buNone/>
            </a:pPr>
            <a:r>
              <a:rPr lang="en-US" sz="2000" dirty="0" smtClean="0"/>
              <a:t>     </a:t>
            </a:r>
            <a:r>
              <a:rPr lang="en-US" sz="2000" dirty="0" err="1" smtClean="0"/>
              <a:t>det</a:t>
            </a:r>
            <a:r>
              <a:rPr lang="en-US" sz="2000" dirty="0" smtClean="0"/>
              <a:t>⁡(A−</a:t>
            </a:r>
            <a:r>
              <a:rPr lang="el-GR" sz="2000" dirty="0" smtClean="0"/>
              <a:t>λ</a:t>
            </a:r>
            <a:r>
              <a:rPr lang="en-US" sz="2000" dirty="0" smtClean="0"/>
              <a:t>I)=0. This is called the </a:t>
            </a:r>
            <a:r>
              <a:rPr lang="en-US" sz="2000" b="1" dirty="0" smtClean="0"/>
              <a:t>characteristic equation</a:t>
            </a:r>
            <a:r>
              <a:rPr lang="en-US" sz="2000" dirty="0" smtClean="0"/>
              <a:t>.</a:t>
            </a:r>
          </a:p>
          <a:p>
            <a:pPr>
              <a:buNone/>
            </a:pPr>
            <a:r>
              <a:rPr lang="en-US" sz="2000" b="1" dirty="0" smtClean="0"/>
              <a:t>Step 3: Find the </a:t>
            </a:r>
            <a:r>
              <a:rPr lang="en-US" sz="2000" b="1" dirty="0" err="1" smtClean="0"/>
              <a:t>Eigenvalues</a:t>
            </a:r>
            <a:r>
              <a:rPr lang="en-US" sz="2000" b="1" dirty="0" smtClean="0"/>
              <a:t> (</a:t>
            </a:r>
            <a:r>
              <a:rPr lang="el-GR" sz="2000" b="1" dirty="0" smtClean="0"/>
              <a:t>λ)</a:t>
            </a:r>
          </a:p>
          <a:p>
            <a:r>
              <a:rPr lang="en-US" sz="2000" dirty="0" smtClean="0"/>
              <a:t>Solve the determinant equation for </a:t>
            </a:r>
            <a:r>
              <a:rPr lang="el-GR" sz="2000" dirty="0" smtClean="0"/>
              <a:t>λ. </a:t>
            </a:r>
            <a:r>
              <a:rPr lang="en-US" sz="2000" dirty="0" smtClean="0"/>
              <a:t>The solutions are the </a:t>
            </a:r>
            <a:r>
              <a:rPr lang="en-US" sz="2000" b="1" dirty="0" err="1" smtClean="0"/>
              <a:t>eigenvalues</a:t>
            </a:r>
            <a:r>
              <a:rPr lang="en-US" sz="2000" dirty="0" smtClean="0"/>
              <a:t>.</a:t>
            </a:r>
          </a:p>
          <a:p>
            <a:pPr>
              <a:buNone/>
            </a:pPr>
            <a:endParaRPr lang="en-US" sz="2000" dirty="0" smtClean="0"/>
          </a:p>
          <a:p>
            <a:endParaRPr lang="en-US" sz="2000"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9711"/>
            <a:ext cx="7772400" cy="425513"/>
          </a:xfrm>
        </p:spPr>
        <p:txBody>
          <a:bodyPr>
            <a:normAutofit fontScale="90000"/>
          </a:bodyPr>
          <a:lstStyle/>
          <a:p>
            <a:r>
              <a:rPr lang="en-US" sz="2800" dirty="0" smtClean="0"/>
              <a:t>Example:</a:t>
            </a:r>
            <a:r>
              <a:rPr lang="sv-SE" sz="2800" dirty="0" smtClean="0"/>
              <a:t>Eigenvalues &amp; eigenvectors</a:t>
            </a:r>
            <a:endParaRPr lang="en-US" sz="2800" dirty="0"/>
          </a:p>
        </p:txBody>
      </p:sp>
      <p:pic>
        <p:nvPicPr>
          <p:cNvPr id="965634" name="Picture 2"/>
          <p:cNvPicPr>
            <a:picLocks noChangeAspect="1" noChangeArrowheads="1"/>
          </p:cNvPicPr>
          <p:nvPr/>
        </p:nvPicPr>
        <p:blipFill>
          <a:blip r:embed="rId2"/>
          <a:srcRect/>
          <a:stretch>
            <a:fillRect/>
          </a:stretch>
        </p:blipFill>
        <p:spPr bwMode="auto">
          <a:xfrm>
            <a:off x="1104523" y="940506"/>
            <a:ext cx="6427960" cy="5361459"/>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25513"/>
            <a:ext cx="7772400" cy="425513"/>
          </a:xfrm>
        </p:spPr>
        <p:txBody>
          <a:bodyPr>
            <a:normAutofit fontScale="90000"/>
          </a:bodyPr>
          <a:lstStyle/>
          <a:p>
            <a:r>
              <a:rPr lang="en-US" sz="2800" dirty="0" smtClean="0">
                <a:solidFill>
                  <a:srgbClr val="000000"/>
                </a:solidFill>
              </a:rPr>
              <a:t>Example:</a:t>
            </a:r>
            <a:r>
              <a:rPr lang="sv-SE" sz="2800" dirty="0" smtClean="0">
                <a:solidFill>
                  <a:srgbClr val="000000"/>
                </a:solidFill>
              </a:rPr>
              <a:t>Eigenvalues &amp; eigenvectors</a:t>
            </a:r>
            <a:endParaRPr lang="en-US" dirty="0"/>
          </a:p>
        </p:txBody>
      </p:sp>
      <p:sp>
        <p:nvSpPr>
          <p:cNvPr id="3" name="Content Placeholder 2"/>
          <p:cNvSpPr>
            <a:spLocks noGrp="1"/>
          </p:cNvSpPr>
          <p:nvPr>
            <p:ph idx="1"/>
          </p:nvPr>
        </p:nvSpPr>
        <p:spPr>
          <a:xfrm>
            <a:off x="805758" y="986828"/>
            <a:ext cx="7772400" cy="4982424"/>
          </a:xfrm>
        </p:spPr>
        <p:txBody>
          <a:bodyPr/>
          <a:lstStyle/>
          <a:p>
            <a:r>
              <a:rPr lang="en-US" dirty="0" smtClean="0"/>
              <a:t>Compute eigenvector:</a:t>
            </a:r>
            <a:endParaRPr lang="en-US" dirty="0"/>
          </a:p>
        </p:txBody>
      </p:sp>
      <p:pic>
        <p:nvPicPr>
          <p:cNvPr id="966658" name="Picture 2"/>
          <p:cNvPicPr>
            <a:picLocks noChangeAspect="1" noChangeArrowheads="1"/>
          </p:cNvPicPr>
          <p:nvPr/>
        </p:nvPicPr>
        <p:blipFill>
          <a:blip r:embed="rId2"/>
          <a:srcRect/>
          <a:stretch>
            <a:fillRect/>
          </a:stretch>
        </p:blipFill>
        <p:spPr bwMode="auto">
          <a:xfrm>
            <a:off x="805758" y="1584356"/>
            <a:ext cx="7652442" cy="4917949"/>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25513"/>
            <a:ext cx="7772400" cy="425513"/>
          </a:xfrm>
        </p:spPr>
        <p:txBody>
          <a:bodyPr>
            <a:normAutofit fontScale="90000"/>
          </a:bodyPr>
          <a:lstStyle/>
          <a:p>
            <a:r>
              <a:rPr lang="en-US" sz="2800" dirty="0" smtClean="0">
                <a:solidFill>
                  <a:srgbClr val="000000"/>
                </a:solidFill>
              </a:rPr>
              <a:t>Example:</a:t>
            </a:r>
            <a:r>
              <a:rPr lang="sv-SE" sz="2800" dirty="0" smtClean="0">
                <a:solidFill>
                  <a:srgbClr val="000000"/>
                </a:solidFill>
              </a:rPr>
              <a:t>Eigenvalues &amp; eigenvectors</a:t>
            </a:r>
            <a:endParaRPr lang="en-US" dirty="0"/>
          </a:p>
        </p:txBody>
      </p:sp>
      <p:sp>
        <p:nvSpPr>
          <p:cNvPr id="3" name="Content Placeholder 2"/>
          <p:cNvSpPr>
            <a:spLocks noGrp="1"/>
          </p:cNvSpPr>
          <p:nvPr>
            <p:ph idx="1"/>
          </p:nvPr>
        </p:nvSpPr>
        <p:spPr>
          <a:xfrm>
            <a:off x="805758" y="986827"/>
            <a:ext cx="7772400" cy="5513561"/>
          </a:xfrm>
        </p:spPr>
        <p:txBody>
          <a:bodyPr/>
          <a:lstStyle/>
          <a:p>
            <a:r>
              <a:rPr lang="en-US" dirty="0" smtClean="0"/>
              <a:t>Compute eigenvector:</a:t>
            </a:r>
            <a:endParaRPr lang="en-US" dirty="0"/>
          </a:p>
        </p:txBody>
      </p:sp>
      <p:pic>
        <p:nvPicPr>
          <p:cNvPr id="967682" name="Picture 2"/>
          <p:cNvPicPr>
            <a:picLocks noChangeAspect="1" noChangeArrowheads="1"/>
          </p:cNvPicPr>
          <p:nvPr/>
        </p:nvPicPr>
        <p:blipFill>
          <a:blip r:embed="rId2"/>
          <a:srcRect/>
          <a:stretch>
            <a:fillRect/>
          </a:stretch>
        </p:blipFill>
        <p:spPr bwMode="auto">
          <a:xfrm>
            <a:off x="1039594" y="1484769"/>
            <a:ext cx="6465730" cy="501562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16460"/>
            <a:ext cx="7772400" cy="425512"/>
          </a:xfrm>
        </p:spPr>
        <p:txBody>
          <a:bodyPr>
            <a:normAutofit fontScale="90000"/>
          </a:bodyPr>
          <a:lstStyle/>
          <a:p>
            <a:r>
              <a:rPr lang="en-US" sz="2800" dirty="0" smtClean="0">
                <a:solidFill>
                  <a:srgbClr val="000000"/>
                </a:solidFill>
              </a:rPr>
              <a:t>Example:</a:t>
            </a:r>
            <a:r>
              <a:rPr lang="sv-SE" sz="2800" dirty="0" smtClean="0">
                <a:solidFill>
                  <a:srgbClr val="000000"/>
                </a:solidFill>
              </a:rPr>
              <a:t>Eigenvalues &amp; eigenvectors</a:t>
            </a:r>
            <a:endParaRPr lang="en-US" dirty="0"/>
          </a:p>
        </p:txBody>
      </p:sp>
      <p:pic>
        <p:nvPicPr>
          <p:cNvPr id="968706" name="Picture 2"/>
          <p:cNvPicPr>
            <a:picLocks noChangeAspect="1" noChangeArrowheads="1"/>
          </p:cNvPicPr>
          <p:nvPr/>
        </p:nvPicPr>
        <p:blipFill>
          <a:blip r:embed="rId2"/>
          <a:srcRect/>
          <a:stretch>
            <a:fillRect/>
          </a:stretch>
        </p:blipFill>
        <p:spPr bwMode="auto">
          <a:xfrm>
            <a:off x="1297145" y="2102369"/>
            <a:ext cx="3743325" cy="1495425"/>
          </a:xfrm>
          <a:prstGeom prst="rect">
            <a:avLst/>
          </a:prstGeom>
          <a:noFill/>
          <a:ln w="9525">
            <a:noFill/>
            <a:miter lim="800000"/>
            <a:headEnd/>
            <a:tailEnd/>
          </a:ln>
          <a:effectLst/>
        </p:spPr>
      </p:pic>
      <p:pic>
        <p:nvPicPr>
          <p:cNvPr id="968707" name="Picture 3"/>
          <p:cNvPicPr>
            <a:picLocks noChangeAspect="1" noChangeArrowheads="1"/>
          </p:cNvPicPr>
          <p:nvPr/>
        </p:nvPicPr>
        <p:blipFill>
          <a:blip r:embed="rId3"/>
          <a:srcRect/>
          <a:stretch>
            <a:fillRect/>
          </a:stretch>
        </p:blipFill>
        <p:spPr bwMode="auto">
          <a:xfrm>
            <a:off x="1297145" y="1111769"/>
            <a:ext cx="4105275" cy="990600"/>
          </a:xfrm>
          <a:prstGeom prst="rect">
            <a:avLst/>
          </a:prstGeom>
          <a:noFill/>
          <a:ln w="9525">
            <a:noFill/>
            <a:miter lim="800000"/>
            <a:headEnd/>
            <a:tailEnd/>
          </a:ln>
          <a:effectLst/>
        </p:spPr>
      </p:pic>
      <p:sp>
        <p:nvSpPr>
          <p:cNvPr id="6" name="Rectangle 5"/>
          <p:cNvSpPr/>
          <p:nvPr/>
        </p:nvSpPr>
        <p:spPr>
          <a:xfrm>
            <a:off x="636005" y="3811509"/>
            <a:ext cx="8010053" cy="2246769"/>
          </a:xfrm>
          <a:prstGeom prst="rect">
            <a:avLst/>
          </a:prstGeom>
        </p:spPr>
        <p:txBody>
          <a:bodyPr wrap="square">
            <a:spAutoFit/>
          </a:bodyPr>
          <a:lstStyle/>
          <a:p>
            <a:pPr>
              <a:buFont typeface="Arial" pitchFamily="34" charset="0"/>
              <a:buChar char="•"/>
            </a:pPr>
            <a:r>
              <a:rPr lang="en-US" sz="2000" dirty="0" smtClean="0"/>
              <a:t> For very high-dimensional matrices, we use iterative numerical methods instead of solving the characteristic equation:</a:t>
            </a:r>
          </a:p>
          <a:p>
            <a:pPr marL="514350" indent="-514350">
              <a:buAutoNum type="romanLcParenR"/>
            </a:pPr>
            <a:r>
              <a:rPr lang="en-US" sz="2000" dirty="0" smtClean="0"/>
              <a:t>Power Iteration : For largest </a:t>
            </a:r>
            <a:r>
              <a:rPr lang="en-US" sz="2000" dirty="0" err="1" smtClean="0"/>
              <a:t>eigenvalue</a:t>
            </a:r>
            <a:endParaRPr lang="en-US" sz="2000" dirty="0" smtClean="0"/>
          </a:p>
          <a:p>
            <a:pPr marL="514350" indent="-514350">
              <a:buAutoNum type="romanLcParenR"/>
            </a:pPr>
            <a:r>
              <a:rPr lang="en-US" sz="2000" dirty="0" err="1" smtClean="0"/>
              <a:t>Lanczos</a:t>
            </a:r>
            <a:r>
              <a:rPr lang="en-US" sz="2000" dirty="0" smtClean="0"/>
              <a:t> &amp; </a:t>
            </a:r>
            <a:r>
              <a:rPr lang="en-US" sz="2000" dirty="0" err="1" smtClean="0"/>
              <a:t>Arnoldi</a:t>
            </a:r>
            <a:r>
              <a:rPr lang="en-US" sz="2000" dirty="0" smtClean="0"/>
              <a:t> Methods: For sparse matrices</a:t>
            </a:r>
          </a:p>
          <a:p>
            <a:pPr marL="514350" indent="-514350">
              <a:buAutoNum type="romanLcParenR"/>
            </a:pPr>
            <a:r>
              <a:rPr lang="en-US" sz="2000" dirty="0" smtClean="0"/>
              <a:t>QR Algorithm: For full </a:t>
            </a:r>
            <a:r>
              <a:rPr lang="en-US" sz="2000" dirty="0" err="1" smtClean="0"/>
              <a:t>eigenvalue</a:t>
            </a:r>
            <a:r>
              <a:rPr lang="en-US" sz="2000" dirty="0" smtClean="0"/>
              <a:t> decomposition, but expensive</a:t>
            </a:r>
          </a:p>
          <a:p>
            <a:pPr marL="514350" indent="-514350">
              <a:buAutoNum type="romanLcParenR"/>
            </a:pPr>
            <a:r>
              <a:rPr lang="en-US" sz="2000" dirty="0" smtClean="0"/>
              <a:t>Singular Value Decomposition(SVD): For more stable approximations</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16459"/>
            <a:ext cx="7772400" cy="934359"/>
          </a:xfrm>
        </p:spPr>
        <p:txBody>
          <a:bodyPr>
            <a:normAutofit fontScale="90000"/>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1527464"/>
            <a:ext cx="7772400" cy="4946072"/>
          </a:xfrm>
        </p:spPr>
        <p:txBody>
          <a:bodyPr>
            <a:normAutofit lnSpcReduction="10000"/>
          </a:bodyPr>
          <a:lstStyle/>
          <a:p>
            <a:r>
              <a:rPr lang="en-US" sz="2800" dirty="0" smtClean="0"/>
              <a:t>So, the eigenvectors represent the principal components and these components represent the direction of data.</a:t>
            </a:r>
          </a:p>
          <a:p>
            <a:r>
              <a:rPr lang="en-US" sz="2800" dirty="0" smtClean="0"/>
              <a:t>This indicates that if the line contains large observations of large variances, then there are many data points on the line. Thus, there is more information on the line too.</a:t>
            </a:r>
          </a:p>
          <a:p>
            <a:r>
              <a:rPr lang="en-US" sz="2800" dirty="0" smtClean="0"/>
              <a:t>Finally, these principal components form a line of new axes for easier evaluation of data and also the differences between the observations can also be easily monitored.</a:t>
            </a:r>
          </a:p>
          <a:p>
            <a:endParaRPr lang="en-US"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1218"/>
          </a:xfrm>
        </p:spPr>
        <p:txBody>
          <a:bodyPr>
            <a:normAutofit fontScale="90000"/>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1548246"/>
            <a:ext cx="7772400" cy="3013364"/>
          </a:xfrm>
        </p:spPr>
        <p:txBody>
          <a:bodyPr>
            <a:normAutofit fontScale="92500" lnSpcReduction="10000"/>
          </a:bodyPr>
          <a:lstStyle/>
          <a:p>
            <a:r>
              <a:rPr lang="en-US" sz="2800" dirty="0" smtClean="0"/>
              <a:t>Example: Let ν be a non-zero vector and λ a scalar.</a:t>
            </a:r>
          </a:p>
          <a:p>
            <a:r>
              <a:rPr lang="en-US" sz="2800" dirty="0" smtClean="0"/>
              <a:t>As per the rule, </a:t>
            </a:r>
            <a:r>
              <a:rPr lang="en-US" sz="2800" dirty="0" err="1" smtClean="0"/>
              <a:t>Aν</a:t>
            </a:r>
            <a:r>
              <a:rPr lang="en-US" sz="2800" dirty="0" smtClean="0"/>
              <a:t> = </a:t>
            </a:r>
            <a:r>
              <a:rPr lang="en-US" sz="2800" dirty="0" err="1" smtClean="0"/>
              <a:t>λν</a:t>
            </a:r>
            <a:r>
              <a:rPr lang="en-US" sz="2800" dirty="0" smtClean="0"/>
              <a:t>, then λ is called </a:t>
            </a:r>
            <a:r>
              <a:rPr lang="en-US" sz="2800" dirty="0" err="1" smtClean="0"/>
              <a:t>eigenvalue</a:t>
            </a:r>
            <a:r>
              <a:rPr lang="en-US" sz="2800" dirty="0" smtClean="0"/>
              <a:t> </a:t>
            </a:r>
            <a:r>
              <a:rPr lang="en-US" sz="2800" dirty="0" smtClean="0"/>
              <a:t>associated with eigenvector ν of A.</a:t>
            </a:r>
          </a:p>
          <a:p>
            <a:r>
              <a:rPr lang="en-US" sz="2800" dirty="0" smtClean="0"/>
              <a:t>Upon substituting the values in </a:t>
            </a:r>
            <a:r>
              <a:rPr lang="en-US" sz="2800" dirty="0" err="1" smtClean="0"/>
              <a:t>det</a:t>
            </a:r>
            <a:r>
              <a:rPr lang="en-US" sz="2800" dirty="0" smtClean="0"/>
              <a:t>(A- </a:t>
            </a:r>
            <a:r>
              <a:rPr lang="en-US" sz="2800" dirty="0" err="1" smtClean="0"/>
              <a:t>λI</a:t>
            </a:r>
            <a:r>
              <a:rPr lang="en-US" sz="2800" dirty="0" smtClean="0"/>
              <a:t>) = 0, we will get the following matrix.</a:t>
            </a:r>
          </a:p>
          <a:p>
            <a:pPr>
              <a:buNone/>
            </a:pPr>
            <a:r>
              <a:rPr lang="en-US" sz="2800" dirty="0" smtClean="0"/>
              <a:t/>
            </a:r>
            <a:br>
              <a:rPr lang="en-US" sz="2800" dirty="0" smtClean="0"/>
            </a:b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1218"/>
          </a:xfrm>
        </p:spPr>
        <p:txBody>
          <a:bodyPr>
            <a:normAutofit fontScale="90000"/>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graphicFrame>
        <p:nvGraphicFramePr>
          <p:cNvPr id="4" name="Content Placeholder 3"/>
          <p:cNvGraphicFramePr>
            <a:graphicFrameLocks noGrp="1"/>
          </p:cNvGraphicFramePr>
          <p:nvPr>
            <p:ph idx="1"/>
          </p:nvPr>
        </p:nvGraphicFramePr>
        <p:xfrm>
          <a:off x="2121649" y="1466661"/>
          <a:ext cx="5255895" cy="1735283"/>
        </p:xfrm>
        <a:graphic>
          <a:graphicData uri="http://schemas.openxmlformats.org/drawingml/2006/table">
            <a:tbl>
              <a:tblPr/>
              <a:tblGrid>
                <a:gridCol w="459053"/>
                <a:gridCol w="1218123"/>
                <a:gridCol w="1340193"/>
                <a:gridCol w="1096912"/>
                <a:gridCol w="1141614"/>
              </a:tblGrid>
              <a:tr h="384399">
                <a:tc>
                  <a:txBody>
                    <a:bodyPr/>
                    <a:lstStyle/>
                    <a:p>
                      <a:pPr algn="l">
                        <a:lnSpc>
                          <a:spcPct val="107000"/>
                        </a:lnSpc>
                        <a:spcAft>
                          <a:spcPts val="0"/>
                        </a:spcAft>
                        <a:tabLst>
                          <a:tab pos="571500" algn="l"/>
                        </a:tabLst>
                      </a:pP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F1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F2</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7687">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0.78 - </a:t>
                      </a:r>
                      <a:r>
                        <a:rPr lang="en-IN" sz="1100">
                          <a:latin typeface="Calibri"/>
                          <a:ea typeface="Calibri"/>
                          <a:cs typeface="Calibri"/>
                        </a:rPr>
                        <a:t>λ</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-0.8586</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-0.055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399">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-0.8586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0.78 - </a:t>
                      </a:r>
                      <a:r>
                        <a:rPr lang="en-IN" sz="1100">
                          <a:latin typeface="Calibri"/>
                          <a:ea typeface="Calibri"/>
                          <a:cs typeface="Calibri"/>
                        </a:rPr>
                        <a:t> λ</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-0.607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399">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-0.055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-0.607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0.78 - </a:t>
                      </a:r>
                      <a:r>
                        <a:rPr lang="en-IN" sz="1100">
                          <a:latin typeface="Calibri"/>
                          <a:ea typeface="Calibri"/>
                          <a:cs typeface="Calibri"/>
                        </a:rPr>
                        <a:t> λ</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399">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0.78 - </a:t>
                      </a:r>
                      <a:r>
                        <a:rPr lang="en-IN" sz="1100" dirty="0">
                          <a:latin typeface="Calibri"/>
                          <a:ea typeface="Calibri"/>
                          <a:cs typeface="Calibri"/>
                        </a:rPr>
                        <a:t> λ</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862445" y="3349782"/>
            <a:ext cx="7408719" cy="2677656"/>
          </a:xfrm>
          <a:prstGeom prst="rect">
            <a:avLst/>
          </a:prstGeom>
        </p:spPr>
        <p:txBody>
          <a:bodyPr wrap="square">
            <a:spAutoFit/>
          </a:bodyPr>
          <a:lstStyle/>
          <a:p>
            <a:pPr>
              <a:buFont typeface="Arial" pitchFamily="34" charset="0"/>
              <a:buChar char="•"/>
            </a:pPr>
            <a:r>
              <a:rPr lang="en-US" dirty="0" smtClean="0"/>
              <a:t> </a:t>
            </a:r>
            <a:r>
              <a:rPr lang="en-US" sz="2000" dirty="0" smtClean="0"/>
              <a:t>When we solve the following matrix by considering 0 on right-hand side, we can define </a:t>
            </a:r>
            <a:r>
              <a:rPr lang="en-US" sz="2000" dirty="0" err="1" smtClean="0"/>
              <a:t>eigenvalues</a:t>
            </a:r>
            <a:r>
              <a:rPr lang="en-US" sz="2000" dirty="0" smtClean="0"/>
              <a:t> as</a:t>
            </a:r>
          </a:p>
          <a:p>
            <a:r>
              <a:rPr lang="en-US" sz="2000" dirty="0" smtClean="0"/>
              <a:t>λ = 2.11691, 0.855413, 0.481689, and 0.334007</a:t>
            </a:r>
          </a:p>
          <a:p>
            <a:pPr>
              <a:buFont typeface="Arial" pitchFamily="34" charset="0"/>
              <a:buChar char="•"/>
            </a:pPr>
            <a:r>
              <a:rPr lang="en-US" sz="2000" dirty="0" smtClean="0"/>
              <a:t> We may use root finding algorithms like Bisection Method, </a:t>
            </a:r>
            <a:r>
              <a:rPr lang="en-US" sz="2000" dirty="0" err="1" smtClean="0"/>
              <a:t>Regula</a:t>
            </a:r>
            <a:r>
              <a:rPr lang="en-US" sz="2000" dirty="0" smtClean="0"/>
              <a:t> </a:t>
            </a:r>
            <a:r>
              <a:rPr lang="en-US" sz="2000" dirty="0" err="1" smtClean="0"/>
              <a:t>Falsi</a:t>
            </a:r>
            <a:r>
              <a:rPr lang="en-US" sz="2000" dirty="0" smtClean="0"/>
              <a:t>, Newton-</a:t>
            </a:r>
            <a:r>
              <a:rPr lang="en-US" sz="2000" dirty="0" err="1" smtClean="0"/>
              <a:t>Raphson</a:t>
            </a:r>
            <a:r>
              <a:rPr lang="en-US" sz="2000" dirty="0" smtClean="0"/>
              <a:t> Method, etc </a:t>
            </a:r>
          </a:p>
          <a:p>
            <a:endParaRPr lang="en-US" sz="2000" dirty="0" smtClean="0"/>
          </a:p>
          <a:p>
            <a:pPr>
              <a:buFont typeface="Arial" pitchFamily="34" charset="0"/>
              <a:buChar char="•"/>
            </a:pPr>
            <a:r>
              <a:rPr lang="en-US" sz="2000" dirty="0" smtClean="0"/>
              <a:t> Then, substitute each </a:t>
            </a:r>
            <a:r>
              <a:rPr lang="en-US" sz="2000" dirty="0" err="1" smtClean="0"/>
              <a:t>eigenvalue</a:t>
            </a:r>
            <a:r>
              <a:rPr lang="en-US" sz="2000" dirty="0" smtClean="0"/>
              <a:t> in (A-</a:t>
            </a:r>
            <a:r>
              <a:rPr lang="en-US" sz="2000" dirty="0" err="1" smtClean="0"/>
              <a:t>λI</a:t>
            </a:r>
            <a:r>
              <a:rPr lang="en-US" sz="2000" dirty="0" smtClean="0"/>
              <a:t>)ν=0 and solve the same for different eigenvectors v1, v2, v3 and v4.</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82782"/>
          </a:xfrm>
        </p:spPr>
        <p:txBody>
          <a:bodyPr>
            <a:normAutofit fontScale="90000"/>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1745673"/>
            <a:ext cx="7772400" cy="4114800"/>
          </a:xfrm>
        </p:spPr>
        <p:txBody>
          <a:bodyPr/>
          <a:lstStyle/>
          <a:p>
            <a:r>
              <a:rPr lang="en-US" dirty="0" smtClean="0"/>
              <a:t>For instance, for λ = 2.11691, solving the above equation using Cramer's rule, the eigenvector obtained are:</a:t>
            </a:r>
            <a:br>
              <a:rPr lang="en-US" dirty="0" smtClean="0"/>
            </a:br>
            <a:r>
              <a:rPr lang="en-US" dirty="0" smtClean="0"/>
              <a:t>v1 = 0.515514	</a:t>
            </a:r>
            <a:r>
              <a:rPr lang="en-US" dirty="0" smtClean="0"/>
              <a:t>	v2 </a:t>
            </a:r>
            <a:r>
              <a:rPr lang="en-US" dirty="0" smtClean="0"/>
              <a:t>= -0.616625</a:t>
            </a:r>
            <a:br>
              <a:rPr lang="en-US" dirty="0" smtClean="0"/>
            </a:br>
            <a:r>
              <a:rPr lang="en-US" dirty="0" smtClean="0"/>
              <a:t>v3 = 0.399314	</a:t>
            </a:r>
            <a:r>
              <a:rPr lang="en-US" dirty="0" smtClean="0"/>
              <a:t>	v4 </a:t>
            </a:r>
            <a:r>
              <a:rPr lang="en-US" dirty="0" smtClean="0"/>
              <a:t>= 0.441098</a:t>
            </a:r>
          </a:p>
          <a:p>
            <a:r>
              <a:rPr lang="en-US" dirty="0" smtClean="0"/>
              <a:t>Following  the same process, we will get the eigenvectors for all </a:t>
            </a:r>
            <a:r>
              <a:rPr lang="en-US" dirty="0" err="1" smtClean="0"/>
              <a:t>eigenvalues</a:t>
            </a:r>
            <a:r>
              <a:rPr lang="en-US" dirty="0" smtClean="0"/>
              <a:t>.</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855518"/>
          </a:xfrm>
        </p:spPr>
        <p:txBody>
          <a:bodyPr>
            <a:normAutofit fontScale="90000"/>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graphicFrame>
        <p:nvGraphicFramePr>
          <p:cNvPr id="5" name="Content Placeholder 4"/>
          <p:cNvGraphicFramePr>
            <a:graphicFrameLocks noGrp="1"/>
          </p:cNvGraphicFramePr>
          <p:nvPr>
            <p:ph idx="1"/>
          </p:nvPr>
        </p:nvGraphicFramePr>
        <p:xfrm>
          <a:off x="2353540" y="1620982"/>
          <a:ext cx="5034395" cy="2244435"/>
        </p:xfrm>
        <a:graphic>
          <a:graphicData uri="http://schemas.openxmlformats.org/drawingml/2006/table">
            <a:tbl>
              <a:tblPr/>
              <a:tblGrid>
                <a:gridCol w="1278448"/>
                <a:gridCol w="1406563"/>
                <a:gridCol w="1151234"/>
                <a:gridCol w="1198150"/>
              </a:tblGrid>
              <a:tr h="448887">
                <a:tc>
                  <a:txBody>
                    <a:bodyPr/>
                    <a:lstStyle/>
                    <a:p>
                      <a:pPr algn="l">
                        <a:lnSpc>
                          <a:spcPct val="107000"/>
                        </a:lnSpc>
                        <a:spcAft>
                          <a:spcPts val="0"/>
                        </a:spcAft>
                        <a:tabLst>
                          <a:tab pos="571500" algn="l"/>
                        </a:tabLst>
                      </a:pPr>
                      <a:r>
                        <a:rPr lang="en-IN" sz="1100">
                          <a:latin typeface="Calibri"/>
                          <a:ea typeface="Calibri"/>
                          <a:cs typeface="Times New Roman"/>
                        </a:rPr>
                        <a:t>E1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E2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E3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E4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887">
                <a:tc>
                  <a:txBody>
                    <a:bodyPr/>
                    <a:lstStyle/>
                    <a:p>
                      <a:pPr algn="l">
                        <a:lnSpc>
                          <a:spcPct val="107000"/>
                        </a:lnSpc>
                        <a:spcAft>
                          <a:spcPts val="0"/>
                        </a:spcAft>
                        <a:tabLst>
                          <a:tab pos="571500" algn="l"/>
                        </a:tabLst>
                      </a:pPr>
                      <a:r>
                        <a:rPr lang="en-IN" sz="1100">
                          <a:latin typeface="Calibri"/>
                          <a:ea typeface="Calibri"/>
                          <a:cs typeface="Times New Roman"/>
                        </a:rPr>
                        <a:t>0.515514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-0.623012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0.0349815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-0.587262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887">
                <a:tc>
                  <a:txBody>
                    <a:bodyPr/>
                    <a:lstStyle/>
                    <a:p>
                      <a:pPr algn="l">
                        <a:lnSpc>
                          <a:spcPct val="107000"/>
                        </a:lnSpc>
                        <a:spcAft>
                          <a:spcPts val="0"/>
                        </a:spcAft>
                        <a:tabLst>
                          <a:tab pos="571500" algn="l"/>
                        </a:tabLst>
                      </a:pPr>
                      <a:r>
                        <a:rPr lang="en-IN" sz="1100">
                          <a:latin typeface="Calibri"/>
                          <a:ea typeface="Calibri"/>
                          <a:cs typeface="Times New Roman"/>
                        </a:rPr>
                        <a:t>-0.616625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0.113105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0.452326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-0.634336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887">
                <a:tc>
                  <a:txBody>
                    <a:bodyPr/>
                    <a:lstStyle/>
                    <a:p>
                      <a:pPr algn="l">
                        <a:lnSpc>
                          <a:spcPct val="107000"/>
                        </a:lnSpc>
                        <a:spcAft>
                          <a:spcPts val="0"/>
                        </a:spcAft>
                        <a:tabLst>
                          <a:tab pos="571500" algn="l"/>
                        </a:tabLst>
                      </a:pPr>
                      <a:r>
                        <a:rPr lang="en-IN" sz="1100">
                          <a:latin typeface="Calibri"/>
                          <a:ea typeface="Calibri"/>
                          <a:cs typeface="Times New Roman"/>
                        </a:rPr>
                        <a:t>0.399314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0.744256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-0.280906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-0.455767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887">
                <a:tc>
                  <a:txBody>
                    <a:bodyPr/>
                    <a:lstStyle/>
                    <a:p>
                      <a:pPr algn="l">
                        <a:lnSpc>
                          <a:spcPct val="107000"/>
                        </a:lnSpc>
                        <a:spcAft>
                          <a:spcPts val="0"/>
                        </a:spcAft>
                        <a:tabLst>
                          <a:tab pos="571500" algn="l"/>
                        </a:tabLst>
                      </a:pPr>
                      <a:r>
                        <a:rPr lang="en-IN" sz="1100">
                          <a:latin typeface="Calibri"/>
                          <a:ea typeface="Calibri"/>
                          <a:cs typeface="Times New Roman"/>
                        </a:rPr>
                        <a:t>0.441098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0.212477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0.845736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0.212173</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9772"/>
            <a:ext cx="7772400" cy="699655"/>
          </a:xfrm>
        </p:spPr>
        <p:txBody>
          <a:bodyPr/>
          <a:lstStyle/>
          <a:p>
            <a:r>
              <a:rPr lang="en-US" sz="2400" b="1" dirty="0" err="1" smtClean="0">
                <a:solidFill>
                  <a:srgbClr val="000000"/>
                </a:solidFill>
              </a:rPr>
              <a:t>Eigendecomposition</a:t>
            </a:r>
            <a:r>
              <a:rPr lang="en-US" sz="24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959427"/>
            <a:ext cx="7772400" cy="5534891"/>
          </a:xfrm>
        </p:spPr>
        <p:txBody>
          <a:bodyPr/>
          <a:lstStyle/>
          <a:p>
            <a:pPr>
              <a:buNone/>
            </a:pPr>
            <a:r>
              <a:rPr lang="en-US" sz="2800" dirty="0" smtClean="0"/>
              <a:t>iv) Sort the eigenvectors from the highest </a:t>
            </a:r>
            <a:r>
              <a:rPr lang="en-US" sz="2800" dirty="0" err="1" smtClean="0"/>
              <a:t>eigenvalue</a:t>
            </a:r>
            <a:r>
              <a:rPr lang="en-US" sz="2800" dirty="0" smtClean="0"/>
              <a:t> to the lowest.  </a:t>
            </a:r>
          </a:p>
          <a:p>
            <a:pPr>
              <a:buNone/>
            </a:pPr>
            <a:r>
              <a:rPr lang="en-US" sz="2800" dirty="0" smtClean="0"/>
              <a:t>	The eigenvector with the highest </a:t>
            </a:r>
            <a:r>
              <a:rPr lang="en-US" sz="2800" dirty="0" err="1" smtClean="0"/>
              <a:t>eigenvalue</a:t>
            </a:r>
            <a:r>
              <a:rPr lang="en-US" sz="2800" dirty="0" smtClean="0"/>
              <a:t> is the first principal component. </a:t>
            </a:r>
          </a:p>
          <a:p>
            <a:pPr>
              <a:buNone/>
            </a:pPr>
            <a:r>
              <a:rPr lang="en-US" sz="2800" dirty="0" smtClean="0"/>
              <a:t>	Higher </a:t>
            </a:r>
            <a:r>
              <a:rPr lang="en-US" sz="2800" dirty="0" err="1" smtClean="0"/>
              <a:t>eigenvalues</a:t>
            </a:r>
            <a:r>
              <a:rPr lang="en-US" sz="2800" dirty="0" smtClean="0"/>
              <a:t> correspond to greater amounts of shared variance explained. </a:t>
            </a:r>
            <a:endParaRPr lang="en-US" sz="2800" dirty="0" smtClean="0">
              <a:solidFill>
                <a:schemeClr val="tx1"/>
              </a:solidFill>
              <a:latin typeface="+mn-lt"/>
              <a:ea typeface="+mn-ea"/>
              <a:cs typeface="+mn-cs"/>
            </a:endParaRPr>
          </a:p>
          <a:p>
            <a:pPr>
              <a:buNone/>
            </a:pPr>
            <a:r>
              <a:rPr lang="en-US" dirty="0" smtClean="0"/>
              <a:t>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71C9422E-748D-45DA-B446-B2719232C534}" type="slidenum">
              <a:rPr lang="en-US"/>
              <a:pPr/>
              <a:t>45</a:t>
            </a:fld>
            <a:endParaRPr lang="en-US"/>
          </a:p>
        </p:txBody>
      </p:sp>
      <p:sp>
        <p:nvSpPr>
          <p:cNvPr id="16387" name="Rectangle 2"/>
          <p:cNvSpPr>
            <a:spLocks noGrp="1" noChangeArrowheads="1"/>
          </p:cNvSpPr>
          <p:nvPr>
            <p:ph type="title"/>
          </p:nvPr>
        </p:nvSpPr>
        <p:spPr>
          <a:xfrm>
            <a:off x="685800" y="0"/>
            <a:ext cx="7772400" cy="1143000"/>
          </a:xfrm>
        </p:spPr>
        <p:txBody>
          <a:bodyPr/>
          <a:lstStyle/>
          <a:p>
            <a:pPr eaLnBrk="1" hangingPunct="1"/>
            <a:r>
              <a:rPr lang="da-DK" smtClean="0"/>
              <a:t>Principal components</a:t>
            </a:r>
          </a:p>
        </p:txBody>
      </p:sp>
      <p:sp>
        <p:nvSpPr>
          <p:cNvPr id="16388" name="Rectangle 3"/>
          <p:cNvSpPr>
            <a:spLocks noGrp="1" noChangeArrowheads="1"/>
          </p:cNvSpPr>
          <p:nvPr>
            <p:ph type="body" idx="1"/>
          </p:nvPr>
        </p:nvSpPr>
        <p:spPr>
          <a:xfrm>
            <a:off x="533400" y="1143000"/>
            <a:ext cx="8153400" cy="5105400"/>
          </a:xfrm>
        </p:spPr>
        <p:txBody>
          <a:bodyPr/>
          <a:lstStyle/>
          <a:p>
            <a:pPr eaLnBrk="1" hangingPunct="1">
              <a:buNone/>
            </a:pPr>
            <a:r>
              <a:rPr lang="da-DK" dirty="0" smtClean="0"/>
              <a:t>1. principal component (PC1)</a:t>
            </a:r>
          </a:p>
          <a:p>
            <a:pPr lvl="1" eaLnBrk="1" hangingPunct="1"/>
            <a:r>
              <a:rPr lang="da-DK" dirty="0" smtClean="0"/>
              <a:t>The eigenvalue with the largest absolute value will indicate that the data have the largest variance along its eigenvector, the direction along which there is greatest variation</a:t>
            </a:r>
          </a:p>
          <a:p>
            <a:pPr eaLnBrk="1" hangingPunct="1">
              <a:buNone/>
            </a:pPr>
            <a:r>
              <a:rPr lang="da-DK" dirty="0" smtClean="0"/>
              <a:t>2. principal component (PC2)</a:t>
            </a:r>
          </a:p>
          <a:p>
            <a:pPr lvl="1" eaLnBrk="1" hangingPunct="1"/>
            <a:r>
              <a:rPr lang="da-DK" dirty="0" smtClean="0"/>
              <a:t>The direction with maximum variation left in data,  orthogonal to the PC1 </a:t>
            </a:r>
          </a:p>
          <a:p>
            <a:pPr eaLnBrk="1" hangingPunct="1">
              <a:buNone/>
            </a:pPr>
            <a:r>
              <a:rPr lang="da-DK" dirty="0" smtClean="0"/>
              <a:t>In general, only few directions manage to capture most of the variability in the data.</a:t>
            </a:r>
          </a:p>
          <a:p>
            <a:pPr lvl="1" eaLnBrk="1" hangingPunct="1"/>
            <a:endParaRPr lang="da-DK" dirty="0" smtClean="0"/>
          </a:p>
          <a:p>
            <a:pPr eaLnBrk="1" hangingPunct="1"/>
            <a:endParaRPr lang="da-DK"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a:xfrm>
            <a:off x="128588" y="609600"/>
            <a:ext cx="8885237" cy="1143000"/>
          </a:xfrm>
        </p:spPr>
        <p:txBody>
          <a:bodyPr/>
          <a:lstStyle/>
          <a:p>
            <a:r>
              <a:rPr lang="da-DK" dirty="0" smtClean="0"/>
              <a:t>Principal components</a:t>
            </a:r>
            <a:endParaRPr lang="en-US" dirty="0"/>
          </a:p>
        </p:txBody>
      </p:sp>
      <p:sp>
        <p:nvSpPr>
          <p:cNvPr id="608259" name="Rectangle 3"/>
          <p:cNvSpPr>
            <a:spLocks noGrp="1" noChangeArrowheads="1"/>
          </p:cNvSpPr>
          <p:nvPr>
            <p:ph type="body" idx="1"/>
          </p:nvPr>
        </p:nvSpPr>
        <p:spPr>
          <a:xfrm>
            <a:off x="685800" y="1981200"/>
            <a:ext cx="8110538" cy="4114800"/>
          </a:xfrm>
        </p:spPr>
        <p:txBody>
          <a:bodyPr/>
          <a:lstStyle/>
          <a:p>
            <a:r>
              <a:rPr lang="en-US" sz="2800" dirty="0">
                <a:latin typeface="Times New Roman" pitchFamily="1" charset="0"/>
                <a:cs typeface="Arial" charset="0"/>
              </a:rPr>
              <a:t>The first PC retains the greatest amount of variation in the sample</a:t>
            </a:r>
          </a:p>
          <a:p>
            <a:pPr>
              <a:spcBef>
                <a:spcPct val="0"/>
              </a:spcBef>
              <a:buClr>
                <a:srgbClr val="FF0000"/>
              </a:buClr>
            </a:pPr>
            <a:r>
              <a:rPr lang="en-US" sz="2800" dirty="0">
                <a:latin typeface="Times New Roman" pitchFamily="1" charset="0"/>
                <a:cs typeface="Arial" charset="0"/>
              </a:rPr>
              <a:t>The </a:t>
            </a:r>
            <a:r>
              <a:rPr lang="en-US" sz="2800" i="1" dirty="0" err="1">
                <a:latin typeface="Times New Roman" pitchFamily="1" charset="0"/>
                <a:cs typeface="Arial" charset="0"/>
              </a:rPr>
              <a:t>k</a:t>
            </a:r>
            <a:r>
              <a:rPr lang="en-US" sz="2800" baseline="30000" dirty="0" err="1">
                <a:latin typeface="Times New Roman" pitchFamily="1" charset="0"/>
                <a:cs typeface="Arial" charset="0"/>
              </a:rPr>
              <a:t>th</a:t>
            </a:r>
            <a:r>
              <a:rPr lang="en-US" sz="2800" dirty="0">
                <a:latin typeface="Times New Roman" pitchFamily="1" charset="0"/>
                <a:cs typeface="Arial" charset="0"/>
              </a:rPr>
              <a:t> PC retains the </a:t>
            </a:r>
            <a:r>
              <a:rPr lang="en-US" sz="2800" i="1" dirty="0" err="1">
                <a:latin typeface="Times New Roman" pitchFamily="1" charset="0"/>
                <a:cs typeface="Arial" charset="0"/>
              </a:rPr>
              <a:t>k</a:t>
            </a:r>
            <a:r>
              <a:rPr lang="en-US" sz="2800" baseline="30000" dirty="0" err="1">
                <a:latin typeface="Times New Roman" pitchFamily="1" charset="0"/>
                <a:cs typeface="Arial" charset="0"/>
              </a:rPr>
              <a:t>th</a:t>
            </a:r>
            <a:r>
              <a:rPr lang="en-US" sz="2800" dirty="0">
                <a:latin typeface="Times New Roman" pitchFamily="1" charset="0"/>
                <a:cs typeface="Arial" charset="0"/>
              </a:rPr>
              <a:t> greatest fraction of the variation in the sample</a:t>
            </a:r>
          </a:p>
          <a:p>
            <a:pPr>
              <a:spcBef>
                <a:spcPct val="0"/>
              </a:spcBef>
              <a:buClr>
                <a:srgbClr val="FF0000"/>
              </a:buClr>
            </a:pPr>
            <a:r>
              <a:rPr lang="en-US" sz="2800" dirty="0">
                <a:latin typeface="Times New Roman" pitchFamily="1" charset="0"/>
                <a:cs typeface="Arial" charset="0"/>
              </a:rPr>
              <a:t>The </a:t>
            </a:r>
            <a:r>
              <a:rPr lang="en-US" sz="2800" i="1" dirty="0" err="1">
                <a:latin typeface="Times New Roman" pitchFamily="1" charset="0"/>
                <a:cs typeface="Arial" charset="0"/>
              </a:rPr>
              <a:t>k</a:t>
            </a:r>
            <a:r>
              <a:rPr lang="en-US" sz="2800" baseline="30000" dirty="0" err="1">
                <a:latin typeface="Times New Roman" pitchFamily="1" charset="0"/>
                <a:cs typeface="Arial" charset="0"/>
              </a:rPr>
              <a:t>th</a:t>
            </a:r>
            <a:r>
              <a:rPr lang="en-US" sz="2800" dirty="0">
                <a:latin typeface="Times New Roman" pitchFamily="1" charset="0"/>
                <a:cs typeface="Arial" charset="0"/>
              </a:rPr>
              <a:t> largest </a:t>
            </a:r>
            <a:r>
              <a:rPr lang="en-US" sz="2800" dirty="0" err="1">
                <a:latin typeface="Times New Roman" pitchFamily="1" charset="0"/>
                <a:cs typeface="Arial" charset="0"/>
              </a:rPr>
              <a:t>eigenvalue</a:t>
            </a:r>
            <a:r>
              <a:rPr lang="en-US" sz="2800" dirty="0">
                <a:latin typeface="Times New Roman" pitchFamily="1" charset="0"/>
                <a:cs typeface="Arial" charset="0"/>
              </a:rPr>
              <a:t> of the correlation matrix C is the variance in the sample along the </a:t>
            </a:r>
            <a:r>
              <a:rPr lang="en-US" sz="2800" i="1" dirty="0" err="1">
                <a:latin typeface="Times New Roman" pitchFamily="1" charset="0"/>
                <a:cs typeface="Arial" charset="0"/>
              </a:rPr>
              <a:t>k</a:t>
            </a:r>
            <a:r>
              <a:rPr lang="en-US" sz="2800" baseline="30000" dirty="0" err="1">
                <a:latin typeface="Times New Roman" pitchFamily="1" charset="0"/>
                <a:cs typeface="Arial" charset="0"/>
              </a:rPr>
              <a:t>th</a:t>
            </a:r>
            <a:r>
              <a:rPr lang="en-US" sz="2800" baseline="30000" dirty="0">
                <a:latin typeface="Times New Roman" pitchFamily="1" charset="0"/>
                <a:cs typeface="Arial" charset="0"/>
              </a:rPr>
              <a:t> </a:t>
            </a:r>
            <a:r>
              <a:rPr lang="en-US" sz="2800" dirty="0">
                <a:latin typeface="Times New Roman" pitchFamily="1" charset="0"/>
                <a:cs typeface="Arial" charset="0"/>
              </a:rPr>
              <a:t>PC</a:t>
            </a:r>
          </a:p>
          <a:p>
            <a:pPr>
              <a:spcBef>
                <a:spcPct val="0"/>
              </a:spcBef>
              <a:buClr>
                <a:srgbClr val="FF0000"/>
              </a:buClr>
            </a:pPr>
            <a:endParaRPr lang="en-US" sz="2400" dirty="0">
              <a:latin typeface="Times New Roman" pitchFamily="1" charset="0"/>
              <a:cs typeface="Arial" charset="0"/>
            </a:endParaRPr>
          </a:p>
        </p:txBody>
      </p:sp>
      <p:sp>
        <p:nvSpPr>
          <p:cNvPr id="608261" name="Text Box 5"/>
          <p:cNvSpPr txBox="1">
            <a:spLocks noChangeArrowheads="1"/>
          </p:cNvSpPr>
          <p:nvPr/>
        </p:nvSpPr>
        <p:spPr bwMode="auto">
          <a:xfrm>
            <a:off x="609600" y="5181600"/>
            <a:ext cx="7620000" cy="731838"/>
          </a:xfrm>
          <a:prstGeom prst="rect">
            <a:avLst/>
          </a:prstGeom>
          <a:noFill/>
          <a:ln w="9525">
            <a:noFill/>
            <a:miter lim="800000"/>
            <a:headEnd/>
            <a:tailEnd/>
          </a:ln>
          <a:effectLst/>
        </p:spPr>
        <p:txBody>
          <a:bodyPr>
            <a:spAutoFit/>
          </a:bodyPr>
          <a:lstStyle/>
          <a:p>
            <a:pPr eaLnBrk="1" hangingPunct="1">
              <a:buClr>
                <a:srgbClr val="FF0000"/>
              </a:buClr>
            </a:pPr>
            <a:endParaRPr lang="en-US" sz="1800">
              <a:solidFill>
                <a:srgbClr val="FF0000"/>
              </a:solidFill>
              <a:cs typeface="Arial" charset="0"/>
            </a:endParaRPr>
          </a:p>
          <a:p>
            <a:pPr eaLnBrk="1" hangingPunct="1"/>
            <a:endParaRPr lang="en-US">
              <a:latin typeface="Times New Roman" pitchFamily="1" charset="0"/>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p:txBody>
          <a:bodyPr/>
          <a:lstStyle/>
          <a:p>
            <a:r>
              <a:rPr lang="en-US"/>
              <a:t>How Many PCs?</a:t>
            </a:r>
          </a:p>
        </p:txBody>
      </p:sp>
      <p:sp>
        <p:nvSpPr>
          <p:cNvPr id="651267" name="Rectangle 3"/>
          <p:cNvSpPr>
            <a:spLocks noGrp="1" noChangeArrowheads="1"/>
          </p:cNvSpPr>
          <p:nvPr>
            <p:ph type="body" idx="1"/>
          </p:nvPr>
        </p:nvSpPr>
        <p:spPr/>
        <p:txBody>
          <a:bodyPr/>
          <a:lstStyle/>
          <a:p>
            <a:r>
              <a:rPr lang="en-US"/>
              <a:t>For n original dimensions, correlation matrix is nxn, and has up to n eigenvectors. So n PCs.</a:t>
            </a:r>
          </a:p>
          <a:p>
            <a:r>
              <a:rPr lang="en-US"/>
              <a:t>Where does dimensionality reduction come from?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2293" name="Object 5"/>
          <p:cNvGraphicFramePr>
            <a:graphicFrameLocks noChangeAspect="1"/>
          </p:cNvGraphicFramePr>
          <p:nvPr/>
        </p:nvGraphicFramePr>
        <p:xfrm>
          <a:off x="1357313" y="1531938"/>
          <a:ext cx="6615112" cy="3100387"/>
        </p:xfrm>
        <a:graphic>
          <a:graphicData uri="http://schemas.openxmlformats.org/presentationml/2006/ole">
            <p:oleObj spid="_x0000_s1026" name="Chart" r:id="rId4" imgW="4667278" imgH="2524285" progId="Excel.Sheet.8">
              <p:embed/>
            </p:oleObj>
          </a:graphicData>
        </a:graphic>
      </p:graphicFrame>
      <p:sp>
        <p:nvSpPr>
          <p:cNvPr id="652290" name="Rectangle 2"/>
          <p:cNvSpPr>
            <a:spLocks noGrp="1" noChangeArrowheads="1"/>
          </p:cNvSpPr>
          <p:nvPr>
            <p:ph type="title"/>
          </p:nvPr>
        </p:nvSpPr>
        <p:spPr>
          <a:xfrm>
            <a:off x="685800" y="153988"/>
            <a:ext cx="7772400" cy="1143000"/>
          </a:xfrm>
        </p:spPr>
        <p:txBody>
          <a:bodyPr/>
          <a:lstStyle/>
          <a:p>
            <a:r>
              <a:rPr lang="en-US"/>
              <a:t>Dimensionality Reduction</a:t>
            </a:r>
          </a:p>
        </p:txBody>
      </p:sp>
      <p:sp>
        <p:nvSpPr>
          <p:cNvPr id="652292" name="Rectangle 4"/>
          <p:cNvSpPr>
            <a:spLocks noChangeArrowheads="1"/>
          </p:cNvSpPr>
          <p:nvPr/>
        </p:nvSpPr>
        <p:spPr bwMode="auto">
          <a:xfrm>
            <a:off x="457200" y="1296988"/>
            <a:ext cx="8229600" cy="5027612"/>
          </a:xfrm>
          <a:prstGeom prst="rect">
            <a:avLst/>
          </a:prstGeom>
          <a:noFill/>
          <a:ln w="9525">
            <a:noFill/>
            <a:miter lim="800000"/>
            <a:headEnd/>
            <a:tailEnd/>
          </a:ln>
        </p:spPr>
        <p:txBody>
          <a:bodyPr/>
          <a:lstStyle/>
          <a:p>
            <a:pPr marL="342900" indent="-342900" eaLnBrk="1" hangingPunct="1">
              <a:lnSpc>
                <a:spcPct val="90000"/>
              </a:lnSpc>
              <a:spcBef>
                <a:spcPct val="20000"/>
              </a:spcBef>
            </a:pPr>
            <a:r>
              <a:rPr lang="en-US" dirty="0"/>
              <a:t>Can </a:t>
            </a:r>
            <a:r>
              <a:rPr lang="en-US" i="1" dirty="0">
                <a:solidFill>
                  <a:srgbClr val="0066FF"/>
                </a:solidFill>
              </a:rPr>
              <a:t>ignore </a:t>
            </a:r>
            <a:r>
              <a:rPr lang="en-US" dirty="0">
                <a:solidFill>
                  <a:srgbClr val="0066FF"/>
                </a:solidFill>
              </a:rPr>
              <a:t>the components of lesser significance</a:t>
            </a:r>
            <a:r>
              <a:rPr lang="en-US" dirty="0"/>
              <a:t>. </a:t>
            </a:r>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r>
              <a:rPr lang="en-US" dirty="0"/>
              <a:t>	</a:t>
            </a:r>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endParaRPr lang="en-US" dirty="0"/>
          </a:p>
          <a:p>
            <a:pPr marL="342900" indent="-342900" eaLnBrk="1" hangingPunct="1">
              <a:lnSpc>
                <a:spcPct val="90000"/>
              </a:lnSpc>
              <a:spcBef>
                <a:spcPct val="20000"/>
              </a:spcBef>
            </a:pPr>
            <a:endParaRPr lang="en-US" dirty="0" smtClean="0"/>
          </a:p>
          <a:p>
            <a:pPr marL="342900" indent="-342900" eaLnBrk="1" hangingPunct="1">
              <a:lnSpc>
                <a:spcPct val="90000"/>
              </a:lnSpc>
              <a:spcBef>
                <a:spcPct val="20000"/>
              </a:spcBef>
            </a:pPr>
            <a:endParaRPr lang="en-US" dirty="0" smtClean="0"/>
          </a:p>
          <a:p>
            <a:pPr marL="342900" indent="-342900" eaLnBrk="1" hangingPunct="1">
              <a:lnSpc>
                <a:spcPct val="90000"/>
              </a:lnSpc>
              <a:spcBef>
                <a:spcPct val="20000"/>
              </a:spcBef>
            </a:pPr>
            <a:endParaRPr lang="en-US" dirty="0" smtClean="0"/>
          </a:p>
          <a:p>
            <a:pPr marL="342900" indent="-342900" eaLnBrk="1" hangingPunct="1">
              <a:lnSpc>
                <a:spcPct val="90000"/>
              </a:lnSpc>
              <a:spcBef>
                <a:spcPct val="20000"/>
              </a:spcBef>
            </a:pPr>
            <a:r>
              <a:rPr lang="en-US" dirty="0" smtClean="0"/>
              <a:t>You </a:t>
            </a:r>
            <a:r>
              <a:rPr lang="en-US" dirty="0"/>
              <a:t>do </a:t>
            </a:r>
            <a:r>
              <a:rPr lang="en-US" dirty="0">
                <a:solidFill>
                  <a:srgbClr val="0066FF"/>
                </a:solidFill>
              </a:rPr>
              <a:t>lose some information</a:t>
            </a:r>
            <a:r>
              <a:rPr lang="en-US" dirty="0"/>
              <a:t>, but if the </a:t>
            </a:r>
            <a:r>
              <a:rPr lang="en-US" dirty="0" err="1"/>
              <a:t>eigenvalues</a:t>
            </a:r>
            <a:r>
              <a:rPr lang="en-US" dirty="0"/>
              <a:t> are small, you don’t lose much</a:t>
            </a:r>
          </a:p>
          <a:p>
            <a:pPr marL="742950" lvl="1" indent="-285750" eaLnBrk="1" hangingPunct="1">
              <a:lnSpc>
                <a:spcPct val="90000"/>
              </a:lnSpc>
              <a:spcBef>
                <a:spcPct val="20000"/>
              </a:spcBef>
              <a:buFontTx/>
              <a:buChar char="–"/>
            </a:pPr>
            <a:r>
              <a:rPr lang="en-US" sz="2000" dirty="0">
                <a:solidFill>
                  <a:srgbClr val="0066FF"/>
                </a:solidFill>
              </a:rPr>
              <a:t>n</a:t>
            </a:r>
            <a:r>
              <a:rPr lang="en-US" sz="2000" dirty="0"/>
              <a:t> dimensions in original data </a:t>
            </a:r>
          </a:p>
          <a:p>
            <a:pPr marL="742950" lvl="1" indent="-285750" eaLnBrk="1" hangingPunct="1">
              <a:lnSpc>
                <a:spcPct val="90000"/>
              </a:lnSpc>
              <a:spcBef>
                <a:spcPct val="20000"/>
              </a:spcBef>
              <a:buFontTx/>
              <a:buChar char="–"/>
            </a:pPr>
            <a:r>
              <a:rPr lang="en-US" sz="2000" dirty="0"/>
              <a:t>calculate</a:t>
            </a:r>
            <a:r>
              <a:rPr lang="en-US" sz="2000" dirty="0">
                <a:solidFill>
                  <a:srgbClr val="0066FF"/>
                </a:solidFill>
              </a:rPr>
              <a:t> n</a:t>
            </a:r>
            <a:r>
              <a:rPr lang="en-US" sz="2000" dirty="0"/>
              <a:t> eigenvectors and </a:t>
            </a:r>
            <a:r>
              <a:rPr lang="en-US" sz="2000" dirty="0" err="1"/>
              <a:t>eigenvalues</a:t>
            </a:r>
            <a:endParaRPr lang="en-US" sz="2000" dirty="0"/>
          </a:p>
          <a:p>
            <a:pPr marL="742950" lvl="1" indent="-285750" eaLnBrk="1" hangingPunct="1">
              <a:lnSpc>
                <a:spcPct val="90000"/>
              </a:lnSpc>
              <a:spcBef>
                <a:spcPct val="20000"/>
              </a:spcBef>
              <a:buFontTx/>
              <a:buChar char="–"/>
            </a:pPr>
            <a:r>
              <a:rPr lang="en-US" sz="2000" dirty="0"/>
              <a:t>choose only the first </a:t>
            </a:r>
            <a:r>
              <a:rPr lang="en-US" sz="2000" dirty="0">
                <a:solidFill>
                  <a:srgbClr val="0066FF"/>
                </a:solidFill>
              </a:rPr>
              <a:t>p</a:t>
            </a:r>
            <a:r>
              <a:rPr lang="en-US" sz="2000" dirty="0"/>
              <a:t> eigenvectors, based on their </a:t>
            </a:r>
            <a:r>
              <a:rPr lang="en-US" sz="2000" dirty="0" err="1"/>
              <a:t>eigenvalues</a:t>
            </a:r>
            <a:endParaRPr lang="en-US" sz="2000" dirty="0"/>
          </a:p>
          <a:p>
            <a:pPr marL="742950" lvl="1" indent="-285750" eaLnBrk="1" hangingPunct="1">
              <a:lnSpc>
                <a:spcPct val="90000"/>
              </a:lnSpc>
              <a:spcBef>
                <a:spcPct val="20000"/>
              </a:spcBef>
              <a:buFontTx/>
              <a:buChar char="–"/>
            </a:pPr>
            <a:r>
              <a:rPr lang="en-US" sz="2000" dirty="0"/>
              <a:t>final data set has only </a:t>
            </a:r>
            <a:r>
              <a:rPr lang="en-US" sz="2000" dirty="0">
                <a:solidFill>
                  <a:srgbClr val="0066FF"/>
                </a:solidFill>
              </a:rPr>
              <a:t>p</a:t>
            </a:r>
            <a:r>
              <a:rPr lang="en-US" sz="2000" dirty="0"/>
              <a:t> dimensions</a:t>
            </a:r>
            <a:endParaRPr lang="en-US" sz="1800" dirty="0">
              <a:solidFill>
                <a:srgbClr val="0066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89264"/>
          </a:xfrm>
        </p:spPr>
        <p:txBody>
          <a:bodyPr/>
          <a:lstStyle/>
          <a:p>
            <a:r>
              <a:rPr lang="en-US" sz="2400" b="1" dirty="0" err="1" smtClean="0">
                <a:solidFill>
                  <a:srgbClr val="000000"/>
                </a:solidFill>
              </a:rPr>
              <a:t>Eigendecomposition</a:t>
            </a:r>
            <a:r>
              <a:rPr lang="en-US" sz="2400" b="1" dirty="0" smtClean="0">
                <a:solidFill>
                  <a:srgbClr val="000000"/>
                </a:solidFill>
              </a:rPr>
              <a:t> of the covariance matrix</a:t>
            </a:r>
            <a:endParaRPr lang="en-US" dirty="0"/>
          </a:p>
        </p:txBody>
      </p:sp>
      <p:sp>
        <p:nvSpPr>
          <p:cNvPr id="3" name="Content Placeholder 2"/>
          <p:cNvSpPr>
            <a:spLocks noGrp="1"/>
          </p:cNvSpPr>
          <p:nvPr>
            <p:ph idx="1"/>
          </p:nvPr>
        </p:nvSpPr>
        <p:spPr>
          <a:xfrm>
            <a:off x="685800" y="1298864"/>
            <a:ext cx="7772400" cy="4935681"/>
          </a:xfrm>
        </p:spPr>
        <p:txBody>
          <a:bodyPr/>
          <a:lstStyle/>
          <a:p>
            <a:pPr>
              <a:buNone/>
            </a:pPr>
            <a:r>
              <a:rPr lang="en-IN" sz="2800" dirty="0" smtClean="0">
                <a:solidFill>
                  <a:schemeClr val="tx1"/>
                </a:solidFill>
                <a:latin typeface="+mn-lt"/>
                <a:ea typeface="+mn-ea"/>
                <a:cs typeface="+mn-cs"/>
              </a:rPr>
              <a:t>v) </a:t>
            </a:r>
            <a:r>
              <a:rPr lang="en-US" sz="2400" b="1" dirty="0" smtClean="0">
                <a:solidFill>
                  <a:schemeClr val="tx1"/>
                </a:solidFill>
                <a:latin typeface="+mn-lt"/>
                <a:ea typeface="+mn-ea"/>
                <a:cs typeface="+mn-cs"/>
              </a:rPr>
              <a:t>Select </a:t>
            </a:r>
            <a:r>
              <a:rPr lang="en-US" sz="2400" b="1" dirty="0">
                <a:solidFill>
                  <a:schemeClr val="tx1"/>
                </a:solidFill>
                <a:latin typeface="+mn-lt"/>
                <a:ea typeface="+mn-ea"/>
                <a:cs typeface="+mn-cs"/>
              </a:rPr>
              <a:t>the number of principal </a:t>
            </a:r>
            <a:r>
              <a:rPr lang="en-US" sz="2400" b="1" dirty="0" smtClean="0">
                <a:solidFill>
                  <a:schemeClr val="tx1"/>
                </a:solidFill>
                <a:latin typeface="+mn-lt"/>
                <a:ea typeface="+mn-ea"/>
                <a:cs typeface="+mn-cs"/>
              </a:rPr>
              <a:t>components:</a:t>
            </a:r>
            <a:r>
              <a:rPr lang="en-US" sz="2800" b="1" dirty="0" smtClean="0">
                <a:solidFill>
                  <a:schemeClr val="tx1"/>
                </a:solidFill>
                <a:latin typeface="+mn-lt"/>
                <a:ea typeface="+mn-ea"/>
                <a:cs typeface="+mn-cs"/>
              </a:rPr>
              <a:t> </a:t>
            </a:r>
          </a:p>
          <a:p>
            <a:pPr>
              <a:buNone/>
            </a:pPr>
            <a:r>
              <a:rPr lang="en-US" sz="2800" b="1" dirty="0" smtClean="0"/>
              <a:t>	</a:t>
            </a:r>
            <a:r>
              <a:rPr lang="en-US" sz="2400" b="1" dirty="0" smtClean="0">
                <a:solidFill>
                  <a:schemeClr val="tx1"/>
                </a:solidFill>
                <a:latin typeface="+mn-lt"/>
                <a:ea typeface="+mn-ea"/>
                <a:cs typeface="+mn-cs"/>
              </a:rPr>
              <a:t>- </a:t>
            </a:r>
            <a:r>
              <a:rPr lang="en-US" sz="2400" dirty="0" smtClean="0">
                <a:solidFill>
                  <a:schemeClr val="tx1"/>
                </a:solidFill>
                <a:latin typeface="+mn-lt"/>
                <a:ea typeface="+mn-ea"/>
                <a:cs typeface="+mn-cs"/>
              </a:rPr>
              <a:t>Select </a:t>
            </a:r>
            <a:r>
              <a:rPr lang="en-US" sz="2400" dirty="0">
                <a:solidFill>
                  <a:schemeClr val="tx1"/>
                </a:solidFill>
                <a:latin typeface="+mn-lt"/>
                <a:ea typeface="+mn-ea"/>
                <a:cs typeface="+mn-cs"/>
              </a:rPr>
              <a:t>the top N </a:t>
            </a:r>
            <a:r>
              <a:rPr lang="en-US" sz="2400" dirty="0" smtClean="0">
                <a:solidFill>
                  <a:schemeClr val="tx1"/>
                </a:solidFill>
                <a:latin typeface="+mn-lt"/>
                <a:ea typeface="+mn-ea"/>
                <a:cs typeface="+mn-cs"/>
              </a:rPr>
              <a:t>eigenvectors </a:t>
            </a:r>
            <a:r>
              <a:rPr lang="en-US" sz="2400" dirty="0">
                <a:solidFill>
                  <a:schemeClr val="tx1"/>
                </a:solidFill>
                <a:latin typeface="+mn-lt"/>
                <a:ea typeface="+mn-ea"/>
                <a:cs typeface="+mn-cs"/>
              </a:rPr>
              <a:t>(based on their </a:t>
            </a:r>
            <a:r>
              <a:rPr lang="en-US" sz="2400" dirty="0" err="1" smtClean="0">
                <a:solidFill>
                  <a:schemeClr val="tx1"/>
                </a:solidFill>
                <a:latin typeface="+mn-lt"/>
                <a:ea typeface="+mn-ea"/>
                <a:cs typeface="+mn-cs"/>
              </a:rPr>
              <a:t>eigenvalues</a:t>
            </a:r>
            <a:r>
              <a:rPr lang="en-US" sz="2400" dirty="0">
                <a:solidFill>
                  <a:schemeClr val="tx1"/>
                </a:solidFill>
                <a:latin typeface="+mn-lt"/>
                <a:ea typeface="+mn-ea"/>
                <a:cs typeface="+mn-cs"/>
              </a:rPr>
              <a:t>) to become the N principal components</a:t>
            </a:r>
            <a:r>
              <a:rPr lang="en-US" sz="2400" dirty="0" smtClean="0">
                <a:solidFill>
                  <a:schemeClr val="tx1"/>
                </a:solidFill>
                <a:latin typeface="+mn-lt"/>
                <a:ea typeface="+mn-ea"/>
                <a:cs typeface="+mn-cs"/>
              </a:rPr>
              <a:t>.</a:t>
            </a:r>
          </a:p>
          <a:p>
            <a:pPr>
              <a:buNone/>
            </a:pPr>
            <a:r>
              <a:rPr lang="en-US" sz="2400" dirty="0" smtClean="0">
                <a:solidFill>
                  <a:schemeClr val="tx1"/>
                </a:solidFill>
                <a:latin typeface="+mn-lt"/>
                <a:ea typeface="+mn-ea"/>
                <a:cs typeface="+mn-cs"/>
              </a:rPr>
              <a:t> </a:t>
            </a:r>
          </a:p>
          <a:p>
            <a:pPr>
              <a:buNone/>
            </a:pPr>
            <a:r>
              <a:rPr lang="en-US" sz="2400" dirty="0" smtClean="0">
                <a:solidFill>
                  <a:schemeClr val="tx1"/>
                </a:solidFill>
                <a:latin typeface="+mn-lt"/>
                <a:ea typeface="+mn-ea"/>
                <a:cs typeface="+mn-cs"/>
              </a:rPr>
              <a:t>	- The </a:t>
            </a:r>
            <a:r>
              <a:rPr lang="en-US" sz="2400" dirty="0">
                <a:solidFill>
                  <a:schemeClr val="tx1"/>
                </a:solidFill>
                <a:latin typeface="+mn-lt"/>
                <a:ea typeface="+mn-ea"/>
                <a:cs typeface="+mn-cs"/>
              </a:rPr>
              <a:t>optimal number of principal components is both subjective and problem-dependent. </a:t>
            </a:r>
            <a:endParaRPr lang="en-US" sz="2400" dirty="0" smtClean="0">
              <a:solidFill>
                <a:schemeClr val="tx1"/>
              </a:solidFill>
              <a:latin typeface="+mn-lt"/>
              <a:ea typeface="+mn-ea"/>
              <a:cs typeface="+mn-cs"/>
            </a:endParaRPr>
          </a:p>
          <a:p>
            <a:pPr>
              <a:buNone/>
            </a:pPr>
            <a:endParaRPr lang="en-US" sz="2400" dirty="0" smtClean="0">
              <a:solidFill>
                <a:schemeClr val="tx1"/>
              </a:solidFill>
              <a:latin typeface="+mn-lt"/>
              <a:ea typeface="+mn-ea"/>
              <a:cs typeface="+mn-cs"/>
            </a:endParaRPr>
          </a:p>
          <a:p>
            <a:pPr>
              <a:buNone/>
            </a:pPr>
            <a:r>
              <a:rPr lang="en-US" sz="2400" dirty="0" smtClean="0"/>
              <a:t>	- </a:t>
            </a:r>
            <a:r>
              <a:rPr lang="en-US" sz="2400" dirty="0" smtClean="0">
                <a:solidFill>
                  <a:schemeClr val="tx1"/>
                </a:solidFill>
                <a:latin typeface="+mn-lt"/>
                <a:ea typeface="+mn-ea"/>
                <a:cs typeface="+mn-cs"/>
              </a:rPr>
              <a:t>Usually</a:t>
            </a:r>
            <a:r>
              <a:rPr lang="en-US" sz="2400" dirty="0">
                <a:solidFill>
                  <a:schemeClr val="tx1"/>
                </a:solidFill>
                <a:latin typeface="+mn-lt"/>
                <a:ea typeface="+mn-ea"/>
                <a:cs typeface="+mn-cs"/>
              </a:rPr>
              <a:t>, we look at the cumulative amount of shared variance explained by the combination of principal components and pick that number of components, which still significantly explains the shared variance. </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000000"/>
                </a:solidFill>
              </a:rPr>
              <a:t>Calculate the </a:t>
            </a:r>
            <a:r>
              <a:rPr lang="en-US" sz="2800" b="1" dirty="0" err="1" smtClean="0">
                <a:solidFill>
                  <a:srgbClr val="000000"/>
                </a:solidFill>
              </a:rPr>
              <a:t>eigendecomposition</a:t>
            </a:r>
            <a:r>
              <a:rPr lang="en-US" sz="2800" b="1" dirty="0" smtClean="0">
                <a:solidFill>
                  <a:srgbClr val="000000"/>
                </a:solidFill>
              </a:rPr>
              <a:t> of the covariance matrix</a:t>
            </a:r>
            <a:endParaRPr lang="en-US" dirty="0"/>
          </a:p>
        </p:txBody>
      </p:sp>
      <p:graphicFrame>
        <p:nvGraphicFramePr>
          <p:cNvPr id="4" name="Content Placeholder 3"/>
          <p:cNvGraphicFramePr>
            <a:graphicFrameLocks noGrp="1"/>
          </p:cNvGraphicFramePr>
          <p:nvPr>
            <p:ph idx="1"/>
          </p:nvPr>
        </p:nvGraphicFramePr>
        <p:xfrm>
          <a:off x="2317174" y="2462645"/>
          <a:ext cx="3109854" cy="2024425"/>
        </p:xfrm>
        <a:graphic>
          <a:graphicData uri="http://schemas.openxmlformats.org/drawingml/2006/table">
            <a:tbl>
              <a:tblPr/>
              <a:tblGrid>
                <a:gridCol w="1636340"/>
                <a:gridCol w="1473514"/>
              </a:tblGrid>
              <a:tr h="404885">
                <a:tc>
                  <a:txBody>
                    <a:bodyPr/>
                    <a:lstStyle/>
                    <a:p>
                      <a:pPr algn="l">
                        <a:lnSpc>
                          <a:spcPct val="107000"/>
                        </a:lnSpc>
                        <a:spcAft>
                          <a:spcPts val="0"/>
                        </a:spcAft>
                        <a:tabLst>
                          <a:tab pos="571500" algn="l"/>
                        </a:tabLst>
                      </a:pPr>
                      <a:r>
                        <a:rPr lang="en-IN" sz="1100" dirty="0">
                          <a:latin typeface="Calibri"/>
                          <a:ea typeface="Calibri"/>
                          <a:cs typeface="Times New Roman"/>
                        </a:rPr>
                        <a:t>E1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E3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85">
                <a:tc>
                  <a:txBody>
                    <a:bodyPr/>
                    <a:lstStyle/>
                    <a:p>
                      <a:pPr algn="l">
                        <a:lnSpc>
                          <a:spcPct val="107000"/>
                        </a:lnSpc>
                        <a:spcAft>
                          <a:spcPts val="0"/>
                        </a:spcAft>
                        <a:tabLst>
                          <a:tab pos="571500" algn="l"/>
                        </a:tabLst>
                      </a:pPr>
                      <a:r>
                        <a:rPr lang="en-IN" sz="1100" dirty="0">
                          <a:latin typeface="Calibri"/>
                          <a:ea typeface="Calibri"/>
                          <a:cs typeface="Times New Roman"/>
                        </a:rPr>
                        <a:t>0.515514</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0.0349815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85">
                <a:tc>
                  <a:txBody>
                    <a:bodyPr/>
                    <a:lstStyle/>
                    <a:p>
                      <a:pPr algn="l">
                        <a:lnSpc>
                          <a:spcPct val="107000"/>
                        </a:lnSpc>
                        <a:spcAft>
                          <a:spcPts val="0"/>
                        </a:spcAft>
                        <a:tabLst>
                          <a:tab pos="571500" algn="l"/>
                        </a:tabLst>
                      </a:pPr>
                      <a:r>
                        <a:rPr lang="en-IN" sz="1100">
                          <a:latin typeface="Calibri"/>
                          <a:ea typeface="Calibri"/>
                          <a:cs typeface="Times New Roman"/>
                        </a:rPr>
                        <a:t>-0.616625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0.452326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85">
                <a:tc>
                  <a:txBody>
                    <a:bodyPr/>
                    <a:lstStyle/>
                    <a:p>
                      <a:pPr algn="l">
                        <a:lnSpc>
                          <a:spcPct val="107000"/>
                        </a:lnSpc>
                        <a:spcAft>
                          <a:spcPts val="0"/>
                        </a:spcAft>
                        <a:tabLst>
                          <a:tab pos="571500" algn="l"/>
                        </a:tabLst>
                      </a:pPr>
                      <a:r>
                        <a:rPr lang="en-IN" sz="1100">
                          <a:latin typeface="Calibri"/>
                          <a:ea typeface="Calibri"/>
                          <a:cs typeface="Times New Roman"/>
                        </a:rPr>
                        <a:t>0.399314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-0.280906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85">
                <a:tc>
                  <a:txBody>
                    <a:bodyPr/>
                    <a:lstStyle/>
                    <a:p>
                      <a:pPr algn="l">
                        <a:lnSpc>
                          <a:spcPct val="107000"/>
                        </a:lnSpc>
                        <a:spcAft>
                          <a:spcPts val="0"/>
                        </a:spcAft>
                        <a:tabLst>
                          <a:tab pos="571500" algn="l"/>
                        </a:tabLst>
                      </a:pPr>
                      <a:r>
                        <a:rPr lang="en-IN" sz="1100">
                          <a:latin typeface="Calibri"/>
                          <a:ea typeface="Calibri"/>
                          <a:cs typeface="Times New Roman"/>
                        </a:rPr>
                        <a:t>0.441098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0.845736</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1194953" y="1752600"/>
            <a:ext cx="4515210" cy="461665"/>
          </a:xfrm>
          <a:prstGeom prst="rect">
            <a:avLst/>
          </a:prstGeom>
          <a:noFill/>
        </p:spPr>
        <p:txBody>
          <a:bodyPr wrap="none" rtlCol="0">
            <a:spAutoFit/>
          </a:bodyPr>
          <a:lstStyle/>
          <a:p>
            <a:pPr>
              <a:buFont typeface="Arial" pitchFamily="34" charset="0"/>
              <a:buChar char="•"/>
            </a:pPr>
            <a:r>
              <a:rPr lang="en-IN" dirty="0" smtClean="0"/>
              <a:t> The principal components are: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72391"/>
          </a:xfrm>
        </p:spPr>
        <p:txBody>
          <a:bodyPr>
            <a:normAutofit fontScale="90000"/>
          </a:bodyPr>
          <a:lstStyle/>
          <a:p>
            <a:r>
              <a:rPr lang="en-US" sz="2800" dirty="0" smtClean="0">
                <a:solidFill>
                  <a:srgbClr val="212121"/>
                </a:solidFill>
                <a:latin typeface="__myFont_3ea10a"/>
              </a:rPr>
              <a:t>RECAST THE DATA ALONG THE PRINCIPAL COMPONENTS AXES</a:t>
            </a:r>
            <a:endParaRPr lang="en-US" dirty="0"/>
          </a:p>
        </p:txBody>
      </p:sp>
      <p:sp>
        <p:nvSpPr>
          <p:cNvPr id="3" name="Content Placeholder 2"/>
          <p:cNvSpPr>
            <a:spLocks noGrp="1"/>
          </p:cNvSpPr>
          <p:nvPr>
            <p:ph idx="1"/>
          </p:nvPr>
        </p:nvSpPr>
        <p:spPr>
          <a:xfrm>
            <a:off x="685800" y="1610591"/>
            <a:ext cx="7772400" cy="4485409"/>
          </a:xfrm>
        </p:spPr>
        <p:txBody>
          <a:bodyPr/>
          <a:lstStyle/>
          <a:p>
            <a:r>
              <a:rPr lang="en-US" sz="2800" dirty="0" smtClean="0"/>
              <a:t>Still now, apart from standardization, we haven’t made any changes to the original data. </a:t>
            </a:r>
          </a:p>
          <a:p>
            <a:r>
              <a:rPr lang="en-US" sz="2800" dirty="0" smtClean="0"/>
              <a:t>You have just selected the Principal components and formed a feature vector. </a:t>
            </a:r>
          </a:p>
          <a:p>
            <a:r>
              <a:rPr lang="en-US" sz="2800" dirty="0" smtClean="0"/>
              <a:t>Yet, the initial data remains the same on their original axes.</a:t>
            </a:r>
          </a:p>
          <a:p>
            <a:r>
              <a:rPr lang="en-US" sz="2800" dirty="0" smtClean="0"/>
              <a:t>This step aims at the reorientation of data from their original axes to the ones we have calculated from the Principal components.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428604"/>
            <a:ext cx="7772400" cy="803564"/>
          </a:xfrm>
        </p:spPr>
        <p:txBody>
          <a:bodyPr>
            <a:normAutofit fontScale="90000"/>
          </a:bodyPr>
          <a:lstStyle/>
          <a:p>
            <a:r>
              <a:rPr lang="en-US" sz="2800" dirty="0" smtClean="0">
                <a:solidFill>
                  <a:srgbClr val="212121"/>
                </a:solidFill>
                <a:latin typeface="__myFont_3ea10a"/>
              </a:rPr>
              <a:t>RECAST THE DATA ALONG THE PRINCIPAL COMPONENTS AXES</a:t>
            </a:r>
            <a:endParaRPr lang="en-US" dirty="0"/>
          </a:p>
        </p:txBody>
      </p:sp>
      <p:sp>
        <p:nvSpPr>
          <p:cNvPr id="3" name="Content Placeholder 2"/>
          <p:cNvSpPr>
            <a:spLocks noGrp="1"/>
          </p:cNvSpPr>
          <p:nvPr>
            <p:ph idx="1"/>
          </p:nvPr>
        </p:nvSpPr>
        <p:spPr>
          <a:xfrm>
            <a:off x="642910" y="1357298"/>
            <a:ext cx="7772400" cy="1319640"/>
          </a:xfrm>
        </p:spPr>
        <p:txBody>
          <a:bodyPr>
            <a:normAutofit fontScale="25000" lnSpcReduction="20000"/>
          </a:bodyPr>
          <a:lstStyle/>
          <a:p>
            <a:r>
              <a:rPr lang="en-US" sz="9600" dirty="0" smtClean="0"/>
              <a:t>This can be done by the formula:</a:t>
            </a:r>
          </a:p>
          <a:p>
            <a:pPr>
              <a:buNone/>
            </a:pPr>
            <a:r>
              <a:rPr lang="en-US" sz="9600" dirty="0" smtClean="0"/>
              <a:t>	Final Data Set= Standardized Original Data Set * </a:t>
            </a:r>
            <a:r>
              <a:rPr lang="en-US" sz="9600" dirty="0" err="1" smtClean="0"/>
              <a:t>FeatureVector</a:t>
            </a:r>
            <a:r>
              <a:rPr lang="en-IN" sz="9600" dirty="0" smtClean="0"/>
              <a:t>                               </a:t>
            </a:r>
            <a:endParaRPr lang="en-US" sz="9600" dirty="0" smtClean="0"/>
          </a:p>
          <a:p>
            <a:endParaRPr lang="en-IN" sz="9600" dirty="0" smtClean="0"/>
          </a:p>
          <a:p>
            <a:r>
              <a:rPr lang="en-US" sz="9600" dirty="0" smtClean="0"/>
              <a:t>By solving the above </a:t>
            </a:r>
            <a:r>
              <a:rPr lang="en-US" sz="9600" dirty="0" smtClean="0"/>
              <a:t>equations</a:t>
            </a:r>
            <a:r>
              <a:rPr lang="en-US" sz="9600" dirty="0" smtClean="0"/>
              <a:t>, we will get the </a:t>
            </a:r>
          </a:p>
          <a:p>
            <a:pPr>
              <a:buNone/>
            </a:pPr>
            <a:r>
              <a:rPr lang="en-US" sz="9600" dirty="0" smtClean="0"/>
              <a:t>transformed data</a:t>
            </a:r>
            <a:r>
              <a:rPr lang="en-IN" sz="9600" dirty="0" smtClean="0"/>
              <a:t>               </a:t>
            </a:r>
            <a:r>
              <a:rPr lang="en-IN" sz="9600" dirty="0" smtClean="0"/>
              <a:t>=</a:t>
            </a:r>
          </a:p>
          <a:p>
            <a:pPr>
              <a:buNone/>
            </a:pPr>
            <a:endParaRPr lang="en-IN" sz="5100" dirty="0" smtClean="0"/>
          </a:p>
          <a:p>
            <a:pPr>
              <a:buNone/>
            </a:pPr>
            <a:endParaRPr lang="en-IN" sz="5100" dirty="0" smtClean="0"/>
          </a:p>
          <a:p>
            <a:pPr>
              <a:buNone/>
            </a:pPr>
            <a:endParaRPr lang="en-IN" sz="5100" dirty="0" smtClean="0"/>
          </a:p>
          <a:p>
            <a:pPr>
              <a:buNone/>
            </a:pPr>
            <a:endParaRPr lang="en-IN" sz="5100" dirty="0" smtClean="0"/>
          </a:p>
          <a:p>
            <a:pPr>
              <a:buNone/>
            </a:pPr>
            <a:endParaRPr lang="en-IN" sz="5100" dirty="0" smtClean="0"/>
          </a:p>
          <a:p>
            <a:pPr>
              <a:buNone/>
            </a:pPr>
            <a:r>
              <a:rPr lang="en-IN" sz="5100" dirty="0" smtClean="0"/>
              <a:t>                                                                                                             * </a:t>
            </a:r>
            <a:endParaRPr lang="en-US" sz="5100" dirty="0" smtClean="0"/>
          </a:p>
          <a:p>
            <a:pPr>
              <a:buNone/>
            </a:pPr>
            <a:endParaRPr lang="en-US" dirty="0"/>
          </a:p>
        </p:txBody>
      </p:sp>
      <p:graphicFrame>
        <p:nvGraphicFramePr>
          <p:cNvPr id="4" name="Table 3"/>
          <p:cNvGraphicFramePr>
            <a:graphicFrameLocks noGrp="1"/>
          </p:cNvGraphicFramePr>
          <p:nvPr/>
        </p:nvGraphicFramePr>
        <p:xfrm>
          <a:off x="857224" y="3500438"/>
          <a:ext cx="3851478" cy="1361208"/>
        </p:xfrm>
        <a:graphic>
          <a:graphicData uri="http://schemas.openxmlformats.org/drawingml/2006/table">
            <a:tbl>
              <a:tblPr/>
              <a:tblGrid>
                <a:gridCol w="706841"/>
                <a:gridCol w="960940"/>
                <a:gridCol w="793178"/>
                <a:gridCol w="793178"/>
                <a:gridCol w="597341"/>
              </a:tblGrid>
              <a:tr h="226868">
                <a:tc>
                  <a:txBody>
                    <a:bodyPr/>
                    <a:lstStyle/>
                    <a:p>
                      <a:pPr algn="l">
                        <a:lnSpc>
                          <a:spcPct val="107000"/>
                        </a:lnSpc>
                        <a:spcAft>
                          <a:spcPts val="0"/>
                        </a:spcAft>
                        <a:tabLst>
                          <a:tab pos="571500" algn="l"/>
                        </a:tabLst>
                      </a:pPr>
                      <a:r>
                        <a:rPr lang="en-IN" sz="1100" dirty="0">
                          <a:latin typeface="Calibri"/>
                          <a:ea typeface="Calibri"/>
                          <a:cs typeface="Times New Roman"/>
                        </a:rPr>
                        <a:t>Object</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868">
                <a:tc>
                  <a:txBody>
                    <a:bodyPr/>
                    <a:lstStyle/>
                    <a:p>
                      <a:pPr algn="l">
                        <a:lnSpc>
                          <a:spcPct val="107000"/>
                        </a:lnSpc>
                        <a:spcAft>
                          <a:spcPts val="0"/>
                        </a:spcAft>
                        <a:tabLst>
                          <a:tab pos="571500" algn="l"/>
                        </a:tabLst>
                      </a:pPr>
                      <a:r>
                        <a:rPr lang="en-IN" sz="1100" dirty="0">
                          <a:latin typeface="Calibri"/>
                          <a:ea typeface="Calibri"/>
                          <a:cs typeface="Times New Roman"/>
                        </a:rPr>
                        <a:t>O1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0.8196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868">
                <a:tc>
                  <a:txBody>
                    <a:bodyPr/>
                    <a:lstStyle/>
                    <a:p>
                      <a:pPr algn="l">
                        <a:lnSpc>
                          <a:spcPct val="107000"/>
                        </a:lnSpc>
                        <a:spcAft>
                          <a:spcPts val="0"/>
                        </a:spcAft>
                        <a:tabLst>
                          <a:tab pos="571500" algn="l"/>
                        </a:tabLst>
                      </a:pPr>
                      <a:r>
                        <a:rPr lang="en-IN" sz="1100">
                          <a:latin typeface="Calibri"/>
                          <a:ea typeface="Calibri"/>
                          <a:cs typeface="Times New Roman"/>
                        </a:rPr>
                        <a:t>O2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-1.6393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1.6042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868">
                <a:tc>
                  <a:txBody>
                    <a:bodyPr/>
                    <a:lstStyle/>
                    <a:p>
                      <a:pPr algn="l">
                        <a:lnSpc>
                          <a:spcPct val="107000"/>
                        </a:lnSpc>
                        <a:spcAft>
                          <a:spcPts val="0"/>
                        </a:spcAft>
                        <a:tabLst>
                          <a:tab pos="571500" algn="l"/>
                        </a:tabLst>
                      </a:pPr>
                      <a:r>
                        <a:rPr lang="en-IN" sz="1100">
                          <a:latin typeface="Calibri"/>
                          <a:ea typeface="Calibri"/>
                          <a:cs typeface="Times New Roman"/>
                        </a:rPr>
                        <a:t>O3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868">
                <a:tc>
                  <a:txBody>
                    <a:bodyPr/>
                    <a:lstStyle/>
                    <a:p>
                      <a:pPr algn="l">
                        <a:lnSpc>
                          <a:spcPct val="107000"/>
                        </a:lnSpc>
                        <a:spcAft>
                          <a:spcPts val="0"/>
                        </a:spcAft>
                        <a:tabLst>
                          <a:tab pos="571500" algn="l"/>
                        </a:tabLst>
                      </a:pPr>
                      <a:r>
                        <a:rPr lang="en-IN" sz="1100">
                          <a:latin typeface="Calibri"/>
                          <a:ea typeface="Calibri"/>
                          <a:cs typeface="Times New Roman"/>
                        </a:rPr>
                        <a:t>O4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868">
                <a:tc>
                  <a:txBody>
                    <a:bodyPr/>
                    <a:lstStyle/>
                    <a:p>
                      <a:pPr algn="l">
                        <a:lnSpc>
                          <a:spcPct val="107000"/>
                        </a:lnSpc>
                        <a:spcAft>
                          <a:spcPts val="0"/>
                        </a:spcAft>
                        <a:tabLst>
                          <a:tab pos="571500" algn="l"/>
                        </a:tabLst>
                      </a:pPr>
                      <a:r>
                        <a:rPr lang="en-IN" sz="1100">
                          <a:latin typeface="Calibri"/>
                          <a:ea typeface="Calibri"/>
                          <a:cs typeface="Times New Roman"/>
                        </a:rPr>
                        <a:t>O5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1.0695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0.8196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-0.5347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Content Placeholder 3"/>
          <p:cNvGraphicFramePr>
            <a:graphicFrameLocks/>
          </p:cNvGraphicFramePr>
          <p:nvPr/>
        </p:nvGraphicFramePr>
        <p:xfrm>
          <a:off x="5286380" y="3500438"/>
          <a:ext cx="2732809" cy="1361205"/>
        </p:xfrm>
        <a:graphic>
          <a:graphicData uri="http://schemas.openxmlformats.org/drawingml/2006/table">
            <a:tbl>
              <a:tblPr/>
              <a:tblGrid>
                <a:gridCol w="1437947"/>
                <a:gridCol w="1294862"/>
              </a:tblGrid>
              <a:tr h="272241">
                <a:tc>
                  <a:txBody>
                    <a:bodyPr/>
                    <a:lstStyle/>
                    <a:p>
                      <a:pPr algn="l">
                        <a:lnSpc>
                          <a:spcPct val="107000"/>
                        </a:lnSpc>
                        <a:spcAft>
                          <a:spcPts val="0"/>
                        </a:spcAft>
                        <a:tabLst>
                          <a:tab pos="571500" algn="l"/>
                        </a:tabLst>
                      </a:pPr>
                      <a:r>
                        <a:rPr lang="en-IN" sz="1100" dirty="0">
                          <a:latin typeface="Calibri"/>
                          <a:ea typeface="Calibri"/>
                          <a:cs typeface="Times New Roman"/>
                        </a:rPr>
                        <a:t>E1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E3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241">
                <a:tc>
                  <a:txBody>
                    <a:bodyPr/>
                    <a:lstStyle/>
                    <a:p>
                      <a:pPr algn="l">
                        <a:lnSpc>
                          <a:spcPct val="107000"/>
                        </a:lnSpc>
                        <a:spcAft>
                          <a:spcPts val="0"/>
                        </a:spcAft>
                        <a:tabLst>
                          <a:tab pos="571500" algn="l"/>
                        </a:tabLst>
                      </a:pPr>
                      <a:r>
                        <a:rPr lang="en-IN" sz="1100" dirty="0">
                          <a:latin typeface="Calibri"/>
                          <a:ea typeface="Calibri"/>
                          <a:cs typeface="Times New Roman"/>
                        </a:rPr>
                        <a:t>0.515514</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0.0349815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241">
                <a:tc>
                  <a:txBody>
                    <a:bodyPr/>
                    <a:lstStyle/>
                    <a:p>
                      <a:pPr algn="l">
                        <a:lnSpc>
                          <a:spcPct val="107000"/>
                        </a:lnSpc>
                        <a:spcAft>
                          <a:spcPts val="0"/>
                        </a:spcAft>
                        <a:tabLst>
                          <a:tab pos="571500" algn="l"/>
                        </a:tabLst>
                      </a:pPr>
                      <a:r>
                        <a:rPr lang="en-IN" sz="1100" dirty="0">
                          <a:latin typeface="Calibri"/>
                          <a:ea typeface="Calibri"/>
                          <a:cs typeface="Times New Roman"/>
                        </a:rPr>
                        <a:t>-0.616625</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0.452326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241">
                <a:tc>
                  <a:txBody>
                    <a:bodyPr/>
                    <a:lstStyle/>
                    <a:p>
                      <a:pPr algn="l">
                        <a:lnSpc>
                          <a:spcPct val="107000"/>
                        </a:lnSpc>
                        <a:spcAft>
                          <a:spcPts val="0"/>
                        </a:spcAft>
                        <a:tabLst>
                          <a:tab pos="571500" algn="l"/>
                        </a:tabLst>
                      </a:pPr>
                      <a:r>
                        <a:rPr lang="en-IN" sz="1100">
                          <a:latin typeface="Calibri"/>
                          <a:ea typeface="Calibri"/>
                          <a:cs typeface="Times New Roman"/>
                        </a:rPr>
                        <a:t>0.399314</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-0.280906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241">
                <a:tc>
                  <a:txBody>
                    <a:bodyPr/>
                    <a:lstStyle/>
                    <a:p>
                      <a:pPr algn="l">
                        <a:lnSpc>
                          <a:spcPct val="107000"/>
                        </a:lnSpc>
                        <a:spcAft>
                          <a:spcPts val="0"/>
                        </a:spcAft>
                        <a:tabLst>
                          <a:tab pos="571500" algn="l"/>
                        </a:tabLst>
                      </a:pPr>
                      <a:r>
                        <a:rPr lang="en-IN" sz="1100">
                          <a:latin typeface="Calibri"/>
                          <a:ea typeface="Calibri"/>
                          <a:cs typeface="Times New Roman"/>
                        </a:rPr>
                        <a:t>0.441098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0.845736</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4572000" y="5072074"/>
          <a:ext cx="3299865" cy="1304928"/>
        </p:xfrm>
        <a:graphic>
          <a:graphicData uri="http://schemas.openxmlformats.org/drawingml/2006/table">
            <a:tbl>
              <a:tblPr/>
              <a:tblGrid>
                <a:gridCol w="1736320"/>
                <a:gridCol w="1563545"/>
              </a:tblGrid>
              <a:tr h="217488">
                <a:tc>
                  <a:txBody>
                    <a:bodyPr/>
                    <a:lstStyle/>
                    <a:p>
                      <a:pPr algn="l">
                        <a:lnSpc>
                          <a:spcPct val="107000"/>
                        </a:lnSpc>
                        <a:spcAft>
                          <a:spcPts val="0"/>
                        </a:spcAft>
                        <a:tabLst>
                          <a:tab pos="571500" algn="l"/>
                        </a:tabLst>
                      </a:pPr>
                      <a:r>
                        <a:rPr lang="en-IN" sz="1100">
                          <a:latin typeface="Calibri"/>
                          <a:ea typeface="Calibri"/>
                          <a:cs typeface="Times New Roman"/>
                        </a:rPr>
                        <a:t>F1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F3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88">
                <a:tc>
                  <a:txBody>
                    <a:bodyPr/>
                    <a:lstStyle/>
                    <a:p>
                      <a:pPr algn="l">
                        <a:lnSpc>
                          <a:spcPct val="107000"/>
                        </a:lnSpc>
                        <a:spcAft>
                          <a:spcPts val="0"/>
                        </a:spcAft>
                        <a:tabLst>
                          <a:tab pos="571500" algn="l"/>
                        </a:tabLst>
                      </a:pPr>
                      <a:r>
                        <a:rPr lang="en-IN" sz="1100">
                          <a:latin typeface="Calibri"/>
                          <a:ea typeface="Calibri"/>
                          <a:cs typeface="Times New Roman"/>
                        </a:rPr>
                        <a:t>0.4268</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0.00116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88">
                <a:tc>
                  <a:txBody>
                    <a:bodyPr/>
                    <a:lstStyle/>
                    <a:p>
                      <a:pPr algn="l">
                        <a:lnSpc>
                          <a:spcPct val="107000"/>
                        </a:lnSpc>
                        <a:spcAft>
                          <a:spcPts val="0"/>
                        </a:spcAft>
                        <a:tabLst>
                          <a:tab pos="571500" algn="l"/>
                        </a:tabLst>
                      </a:pPr>
                      <a:r>
                        <a:rPr lang="en-IN" sz="1100">
                          <a:latin typeface="Calibri"/>
                          <a:ea typeface="Calibri"/>
                          <a:cs typeface="Times New Roman"/>
                        </a:rPr>
                        <a:t>-0.4235</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-0.39182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88">
                <a:tc>
                  <a:txBody>
                    <a:bodyPr/>
                    <a:lstStyle/>
                    <a:p>
                      <a:pPr algn="l">
                        <a:lnSpc>
                          <a:spcPct val="107000"/>
                        </a:lnSpc>
                        <a:spcAft>
                          <a:spcPts val="0"/>
                        </a:spcAft>
                        <a:tabLst>
                          <a:tab pos="571500" algn="l"/>
                        </a:tabLst>
                      </a:pPr>
                      <a:r>
                        <a:rPr lang="en-IN" sz="1100">
                          <a:latin typeface="Calibri"/>
                          <a:ea typeface="Calibri"/>
                          <a:cs typeface="Times New Roman"/>
                        </a:rPr>
                        <a:t>-0.5513</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-0.79592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88">
                <a:tc>
                  <a:txBody>
                    <a:bodyPr/>
                    <a:lstStyle/>
                    <a:p>
                      <a:pPr algn="l">
                        <a:lnSpc>
                          <a:spcPct val="107000"/>
                        </a:lnSpc>
                        <a:spcAft>
                          <a:spcPts val="0"/>
                        </a:spcAft>
                        <a:tabLst>
                          <a:tab pos="571500" algn="l"/>
                        </a:tabLst>
                      </a:pPr>
                      <a:r>
                        <a:rPr lang="en-IN" sz="1100">
                          <a:latin typeface="Calibri"/>
                          <a:ea typeface="Calibri"/>
                          <a:cs typeface="Times New Roman"/>
                        </a:rPr>
                        <a:t>0.4652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a:latin typeface="Calibri"/>
                          <a:ea typeface="Calibri"/>
                          <a:cs typeface="Times New Roman"/>
                        </a:rPr>
                        <a:t>0.89996</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88">
                <a:tc>
                  <a:txBody>
                    <a:bodyPr/>
                    <a:lstStyle/>
                    <a:p>
                      <a:pPr algn="l">
                        <a:lnSpc>
                          <a:spcPct val="107000"/>
                        </a:lnSpc>
                        <a:spcAft>
                          <a:spcPts val="0"/>
                        </a:spcAft>
                        <a:tabLst>
                          <a:tab pos="571500" algn="l"/>
                        </a:tabLst>
                      </a:pPr>
                      <a:r>
                        <a:rPr lang="en-IN" sz="1100">
                          <a:latin typeface="Calibri"/>
                          <a:ea typeface="Calibri"/>
                          <a:cs typeface="Times New Roman"/>
                        </a:rPr>
                        <a:t>0.0827</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7000"/>
                        </a:lnSpc>
                        <a:spcAft>
                          <a:spcPts val="0"/>
                        </a:spcAft>
                        <a:tabLst>
                          <a:tab pos="571500" algn="l"/>
                        </a:tabLst>
                      </a:pPr>
                      <a:r>
                        <a:rPr lang="en-IN" sz="1100" dirty="0">
                          <a:latin typeface="Calibri"/>
                          <a:ea typeface="Calibri"/>
                          <a:cs typeface="Times New Roman"/>
                        </a:rPr>
                        <a:t>0.28653</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1218"/>
          </a:xfrm>
        </p:spPr>
        <p:txBody>
          <a:bodyPr/>
          <a:lstStyle/>
          <a:p>
            <a:r>
              <a:rPr lang="en-US" sz="3200" b="1" dirty="0" smtClean="0">
                <a:solidFill>
                  <a:schemeClr val="tx1"/>
                </a:solidFill>
              </a:rPr>
              <a:t>Advantages of PCA</a:t>
            </a:r>
            <a:endParaRPr lang="en-US" sz="3200" b="1" dirty="0"/>
          </a:p>
        </p:txBody>
      </p:sp>
      <p:sp>
        <p:nvSpPr>
          <p:cNvPr id="3" name="Content Placeholder 2"/>
          <p:cNvSpPr>
            <a:spLocks noGrp="1"/>
          </p:cNvSpPr>
          <p:nvPr>
            <p:ph idx="1"/>
          </p:nvPr>
        </p:nvSpPr>
        <p:spPr>
          <a:xfrm>
            <a:off x="685800" y="1350818"/>
            <a:ext cx="7772400" cy="4745182"/>
          </a:xfrm>
        </p:spPr>
        <p:txBody>
          <a:bodyPr/>
          <a:lstStyle/>
          <a:p>
            <a:pPr>
              <a:buNone/>
            </a:pPr>
            <a:r>
              <a:rPr lang="en-US" dirty="0" err="1" smtClean="0">
                <a:solidFill>
                  <a:schemeClr val="tx1"/>
                </a:solidFill>
                <a:latin typeface="+mn-lt"/>
                <a:ea typeface="+mn-ea"/>
                <a:cs typeface="+mn-cs"/>
              </a:rPr>
              <a:t>i</a:t>
            </a:r>
            <a:r>
              <a:rPr lang="en-US" dirty="0" smtClean="0">
                <a:solidFill>
                  <a:schemeClr val="tx1"/>
                </a:solidFill>
                <a:latin typeface="+mn-lt"/>
                <a:ea typeface="+mn-ea"/>
                <a:cs typeface="+mn-cs"/>
              </a:rPr>
              <a:t>) </a:t>
            </a:r>
            <a:r>
              <a:rPr lang="en-US" sz="2400" dirty="0" smtClean="0">
                <a:solidFill>
                  <a:schemeClr val="tx1"/>
                </a:solidFill>
                <a:latin typeface="+mn-lt"/>
                <a:ea typeface="+mn-ea"/>
                <a:cs typeface="+mn-cs"/>
              </a:rPr>
              <a:t>Easy to compute. PCA is based on linear algebra, which is computationally easy to solve by computers.</a:t>
            </a:r>
          </a:p>
          <a:p>
            <a:pPr>
              <a:buNone/>
            </a:pPr>
            <a:r>
              <a:rPr lang="en-US" sz="2400" dirty="0" smtClean="0">
                <a:solidFill>
                  <a:schemeClr val="tx1"/>
                </a:solidFill>
                <a:latin typeface="+mn-lt"/>
                <a:ea typeface="+mn-ea"/>
                <a:cs typeface="+mn-cs"/>
              </a:rPr>
              <a:t>ii) Speeds up other machine learning algorithms. Machine learning algorithms converge faster when trained on principal components instead of the original dataset.</a:t>
            </a:r>
          </a:p>
          <a:p>
            <a:pPr>
              <a:buNone/>
            </a:pPr>
            <a:r>
              <a:rPr lang="en-IN" sz="2400" dirty="0" smtClean="0"/>
              <a:t>iii) </a:t>
            </a:r>
            <a:r>
              <a:rPr lang="en-US" sz="2400" dirty="0" smtClean="0"/>
              <a:t>Counteracts the issues of high-dimensional data. High-dimensional data causes regression-based algorithms to </a:t>
            </a:r>
            <a:r>
              <a:rPr lang="en-US" sz="2400" dirty="0" err="1" smtClean="0"/>
              <a:t>overfit</a:t>
            </a:r>
            <a:r>
              <a:rPr lang="en-US" sz="2400" dirty="0" smtClean="0"/>
              <a:t> easily. By using PCA beforehand to lower the dimensions of the training dataset, we prevent the predictive algorithms from </a:t>
            </a:r>
            <a:r>
              <a:rPr lang="en-US" sz="2400" dirty="0" err="1" smtClean="0"/>
              <a:t>overfitting</a:t>
            </a:r>
            <a:r>
              <a:rPr lang="en-US" sz="2400" dirty="0" smtClean="0"/>
              <a:t>. </a:t>
            </a:r>
            <a:endParaRPr lang="en-US" sz="2400" dirty="0" smtClean="0">
              <a:solidFill>
                <a:schemeClr val="tx1"/>
              </a:solidFill>
              <a:latin typeface="+mn-lt"/>
              <a:ea typeface="+mn-ea"/>
              <a:cs typeface="+mn-cs"/>
            </a:endParaRP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85355"/>
          </a:xfrm>
        </p:spPr>
        <p:txBody>
          <a:bodyPr/>
          <a:lstStyle/>
          <a:p>
            <a:r>
              <a:rPr lang="en-US" sz="2800" b="1" dirty="0" smtClean="0">
                <a:solidFill>
                  <a:schemeClr val="tx1"/>
                </a:solidFill>
              </a:rPr>
              <a:t>Disadvantages of PCA</a:t>
            </a:r>
            <a:endParaRPr lang="en-US" sz="2800" b="1" dirty="0"/>
          </a:p>
        </p:txBody>
      </p:sp>
      <p:sp>
        <p:nvSpPr>
          <p:cNvPr id="3" name="Content Placeholder 2"/>
          <p:cNvSpPr>
            <a:spLocks noGrp="1"/>
          </p:cNvSpPr>
          <p:nvPr>
            <p:ph idx="1"/>
          </p:nvPr>
        </p:nvSpPr>
        <p:spPr>
          <a:xfrm>
            <a:off x="685800" y="1194955"/>
            <a:ext cx="7772400" cy="5288972"/>
          </a:xfrm>
        </p:spPr>
        <p:txBody>
          <a:bodyPr/>
          <a:lstStyle/>
          <a:p>
            <a:pPr marL="514350" indent="-514350">
              <a:buAutoNum type="romanLcParenR"/>
            </a:pPr>
            <a:r>
              <a:rPr lang="en-US" sz="2400" b="1" dirty="0" smtClean="0">
                <a:solidFill>
                  <a:schemeClr val="tx1"/>
                </a:solidFill>
                <a:latin typeface="+mn-lt"/>
                <a:ea typeface="+mn-ea"/>
                <a:cs typeface="+mn-cs"/>
              </a:rPr>
              <a:t>Low </a:t>
            </a:r>
            <a:r>
              <a:rPr lang="en-US" sz="2400" b="1" dirty="0">
                <a:solidFill>
                  <a:schemeClr val="tx1"/>
                </a:solidFill>
                <a:latin typeface="+mn-lt"/>
                <a:ea typeface="+mn-ea"/>
                <a:cs typeface="+mn-cs"/>
              </a:rPr>
              <a:t>interpretability of principal </a:t>
            </a:r>
            <a:r>
              <a:rPr lang="en-US" sz="2400" b="1" dirty="0" smtClean="0">
                <a:solidFill>
                  <a:schemeClr val="tx1"/>
                </a:solidFill>
                <a:latin typeface="+mn-lt"/>
                <a:ea typeface="+mn-ea"/>
                <a:cs typeface="+mn-cs"/>
              </a:rPr>
              <a:t>components</a:t>
            </a:r>
            <a:r>
              <a:rPr lang="en-US" sz="2400" b="1" dirty="0"/>
              <a:t>:</a:t>
            </a:r>
            <a:r>
              <a:rPr lang="en-US" sz="2400" dirty="0" smtClean="0">
                <a:solidFill>
                  <a:schemeClr val="tx1"/>
                </a:solidFill>
                <a:latin typeface="+mn-lt"/>
                <a:ea typeface="+mn-ea"/>
                <a:cs typeface="+mn-cs"/>
              </a:rPr>
              <a:t> </a:t>
            </a:r>
            <a:r>
              <a:rPr lang="en-US" sz="2400" dirty="0">
                <a:solidFill>
                  <a:schemeClr val="tx1"/>
                </a:solidFill>
                <a:latin typeface="+mn-lt"/>
                <a:ea typeface="+mn-ea"/>
                <a:cs typeface="+mn-cs"/>
              </a:rPr>
              <a:t>Principal components are linear combinations of the features from the original data, but they are not as easy to interpret. For example, it is difficult to tell which are the most important features in the dataset after computing principal components</a:t>
            </a:r>
            <a:r>
              <a:rPr lang="en-US" sz="2400" dirty="0" smtClean="0">
                <a:solidFill>
                  <a:schemeClr val="tx1"/>
                </a:solidFill>
                <a:latin typeface="+mn-lt"/>
                <a:ea typeface="+mn-ea"/>
                <a:cs typeface="+mn-cs"/>
              </a:rPr>
              <a:t>.</a:t>
            </a:r>
          </a:p>
          <a:p>
            <a:pPr marL="514350" indent="-514350">
              <a:buAutoNum type="romanLcParenR"/>
            </a:pPr>
            <a:r>
              <a:rPr lang="en-US" sz="2400" b="1" dirty="0" smtClean="0"/>
              <a:t>The trade-off between information loss and dimensionality reduction:</a:t>
            </a:r>
            <a:r>
              <a:rPr lang="en-US" sz="2400" dirty="0" smtClean="0"/>
              <a:t> Although dimensionality reduction is useful, it comes at a cost. Information loss is a necessary part of PCA. Balancing the trade-off between dimensionality reduction and information loss is unfortunately a necessary compromise that we have to make when using PCA. </a:t>
            </a:r>
            <a:r>
              <a:rPr lang="en-US" sz="2400" dirty="0">
                <a:solidFill>
                  <a:schemeClr val="tx1"/>
                </a:solidFill>
                <a:latin typeface="+mn-lt"/>
                <a:ea typeface="+mn-ea"/>
                <a:cs typeface="+mn-cs"/>
              </a:rPr>
              <a:t> </a:t>
            </a:r>
          </a:p>
          <a:p>
            <a:pPr>
              <a:buNone/>
            </a:pPr>
            <a:endParaRPr lang="en-US" dirty="0" smtClean="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221682" cy="803564"/>
          </a:xfrm>
        </p:spPr>
        <p:txBody>
          <a:bodyPr/>
          <a:lstStyle/>
          <a:p>
            <a:r>
              <a:rPr lang="en-US" sz="2800" b="1" dirty="0" smtClean="0">
                <a:solidFill>
                  <a:schemeClr val="tx1"/>
                </a:solidFill>
              </a:rPr>
              <a:t>Assumptions and limitations of PCA</a:t>
            </a:r>
            <a:endParaRPr lang="en-US" sz="2800" b="1" dirty="0"/>
          </a:p>
        </p:txBody>
      </p:sp>
      <p:sp>
        <p:nvSpPr>
          <p:cNvPr id="3" name="Content Placeholder 2"/>
          <p:cNvSpPr>
            <a:spLocks noGrp="1"/>
          </p:cNvSpPr>
          <p:nvPr>
            <p:ph idx="1"/>
          </p:nvPr>
        </p:nvSpPr>
        <p:spPr>
          <a:xfrm>
            <a:off x="498765" y="1413163"/>
            <a:ext cx="8156862" cy="5091545"/>
          </a:xfrm>
        </p:spPr>
        <p:txBody>
          <a:bodyPr/>
          <a:lstStyle/>
          <a:p>
            <a:r>
              <a:rPr lang="en-US" sz="2400" dirty="0" smtClean="0">
                <a:solidFill>
                  <a:schemeClr val="tx1"/>
                </a:solidFill>
                <a:latin typeface="+mn-lt"/>
                <a:ea typeface="+mn-ea"/>
                <a:cs typeface="+mn-cs"/>
              </a:rPr>
              <a:t>PCA </a:t>
            </a:r>
            <a:r>
              <a:rPr lang="en-US" sz="2400" dirty="0">
                <a:solidFill>
                  <a:schemeClr val="tx1"/>
                </a:solidFill>
                <a:latin typeface="+mn-lt"/>
                <a:ea typeface="+mn-ea"/>
                <a:cs typeface="+mn-cs"/>
              </a:rPr>
              <a:t>is related to the set of operations in the Pearson correlation, so it inherits similar assumptions and limitations:</a:t>
            </a:r>
          </a:p>
          <a:p>
            <a:pPr marL="571500" indent="-571500">
              <a:buAutoNum type="romanLcParenR"/>
            </a:pPr>
            <a:r>
              <a:rPr lang="en-US" sz="2400" dirty="0" smtClean="0">
                <a:solidFill>
                  <a:schemeClr val="tx1"/>
                </a:solidFill>
                <a:latin typeface="+mn-lt"/>
                <a:ea typeface="+mn-ea"/>
                <a:cs typeface="+mn-cs"/>
              </a:rPr>
              <a:t>PCA </a:t>
            </a:r>
            <a:r>
              <a:rPr lang="en-US" sz="2400" dirty="0">
                <a:solidFill>
                  <a:schemeClr val="tx1"/>
                </a:solidFill>
                <a:latin typeface="+mn-lt"/>
                <a:ea typeface="+mn-ea"/>
                <a:cs typeface="+mn-cs"/>
              </a:rPr>
              <a:t>assumes a correlation between features. If the </a:t>
            </a:r>
            <a:r>
              <a:rPr lang="en-US" sz="2400" dirty="0" smtClean="0">
                <a:solidFill>
                  <a:schemeClr val="tx1"/>
                </a:solidFill>
                <a:latin typeface="+mn-lt"/>
                <a:ea typeface="+mn-ea"/>
                <a:cs typeface="+mn-cs"/>
              </a:rPr>
              <a:t>features </a:t>
            </a:r>
            <a:r>
              <a:rPr lang="en-US" sz="2400" dirty="0">
                <a:solidFill>
                  <a:schemeClr val="tx1"/>
                </a:solidFill>
                <a:latin typeface="+mn-lt"/>
                <a:ea typeface="+mn-ea"/>
                <a:cs typeface="+mn-cs"/>
              </a:rPr>
              <a:t>are not correlated, PCA will be unable to determine principal components</a:t>
            </a:r>
            <a:r>
              <a:rPr lang="en-US" sz="2400" dirty="0" smtClean="0">
                <a:solidFill>
                  <a:schemeClr val="tx1"/>
                </a:solidFill>
                <a:latin typeface="+mn-lt"/>
                <a:ea typeface="+mn-ea"/>
                <a:cs typeface="+mn-cs"/>
              </a:rPr>
              <a:t>.</a:t>
            </a:r>
          </a:p>
          <a:p>
            <a:pPr marL="571500" indent="-571500">
              <a:buAutoNum type="romanLcParenR"/>
            </a:pPr>
            <a:r>
              <a:rPr lang="en-US" sz="2400" dirty="0" smtClean="0"/>
              <a:t>PCA is sensitive to the scale of the features. Imagine we have two features - one takes values between 0 and 1000, while the other takes values between 0 and 1. PCA will be extremely biased towards the first feature being the first principle component, regardless of the </a:t>
            </a:r>
            <a:r>
              <a:rPr lang="en-US" sz="2400" i="1" dirty="0" smtClean="0"/>
              <a:t>actual</a:t>
            </a:r>
            <a:r>
              <a:rPr lang="en-US" sz="2400" dirty="0" smtClean="0"/>
              <a:t> maximum variance within the data. This is why it’s so important to standardize the values first.</a:t>
            </a:r>
            <a:endParaRPr lang="en-US" sz="2400" dirty="0">
              <a:solidFill>
                <a:schemeClr val="tx1"/>
              </a:solidFill>
              <a:latin typeface="+mn-lt"/>
              <a:ea typeface="+mn-ea"/>
              <a:cs typeface="+mn-cs"/>
            </a:endParaRP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647700"/>
          </a:xfrm>
        </p:spPr>
        <p:txBody>
          <a:bodyPr/>
          <a:lstStyle/>
          <a:p>
            <a:r>
              <a:rPr lang="en-US" sz="2800" b="1" dirty="0" smtClean="0">
                <a:solidFill>
                  <a:srgbClr val="000000"/>
                </a:solidFill>
              </a:rPr>
              <a:t>Assumptions and limitations of PCA</a:t>
            </a:r>
            <a:endParaRPr lang="en-US" dirty="0"/>
          </a:p>
        </p:txBody>
      </p:sp>
      <p:sp>
        <p:nvSpPr>
          <p:cNvPr id="3" name="Content Placeholder 2"/>
          <p:cNvSpPr>
            <a:spLocks noGrp="1"/>
          </p:cNvSpPr>
          <p:nvPr>
            <p:ph idx="1"/>
          </p:nvPr>
        </p:nvSpPr>
        <p:spPr>
          <a:xfrm>
            <a:off x="685800" y="1257299"/>
            <a:ext cx="7772400" cy="5174673"/>
          </a:xfrm>
        </p:spPr>
        <p:txBody>
          <a:bodyPr/>
          <a:lstStyle/>
          <a:p>
            <a:pPr>
              <a:buNone/>
            </a:pPr>
            <a:r>
              <a:rPr lang="en-IN" sz="2400" dirty="0" smtClean="0">
                <a:solidFill>
                  <a:schemeClr val="tx1"/>
                </a:solidFill>
                <a:latin typeface="+mn-lt"/>
                <a:ea typeface="+mn-ea"/>
                <a:cs typeface="+mn-cs"/>
              </a:rPr>
              <a:t>iii) </a:t>
            </a:r>
            <a:r>
              <a:rPr lang="en-US" sz="2400" dirty="0" smtClean="0">
                <a:solidFill>
                  <a:schemeClr val="tx1"/>
                </a:solidFill>
                <a:latin typeface="+mn-lt"/>
                <a:ea typeface="+mn-ea"/>
                <a:cs typeface="+mn-cs"/>
              </a:rPr>
              <a:t>PCA </a:t>
            </a:r>
            <a:r>
              <a:rPr lang="en-US" sz="2400" dirty="0">
                <a:solidFill>
                  <a:schemeClr val="tx1"/>
                </a:solidFill>
                <a:latin typeface="+mn-lt"/>
                <a:ea typeface="+mn-ea"/>
                <a:cs typeface="+mn-cs"/>
              </a:rPr>
              <a:t>is not robust against outliers. Similar to the point above, the algorithm will be biased in datasets with strong outliers. This is why it is recommended to remove outliers before performing PCA</a:t>
            </a:r>
            <a:r>
              <a:rPr lang="en-US" sz="2400" dirty="0" smtClean="0">
                <a:solidFill>
                  <a:schemeClr val="tx1"/>
                </a:solidFill>
                <a:latin typeface="+mn-lt"/>
                <a:ea typeface="+mn-ea"/>
                <a:cs typeface="+mn-cs"/>
              </a:rPr>
              <a:t>.</a:t>
            </a:r>
          </a:p>
          <a:p>
            <a:pPr>
              <a:buNone/>
            </a:pPr>
            <a:r>
              <a:rPr lang="en-IN" sz="2400" dirty="0" smtClean="0"/>
              <a:t>iv) </a:t>
            </a:r>
            <a:r>
              <a:rPr lang="en-US" sz="2400" dirty="0" smtClean="0"/>
              <a:t>PCA assumes a linear relationship between features. The algorithm is not well suited to capturing non-linear relationships. That’s why it’s advised to turn non-linear features or relationships between features into linear, using the standard methods such as log transforms.</a:t>
            </a:r>
          </a:p>
          <a:p>
            <a:pPr>
              <a:buNone/>
            </a:pPr>
            <a:r>
              <a:rPr lang="en-IN" sz="2400" dirty="0" smtClean="0">
                <a:solidFill>
                  <a:schemeClr val="tx1"/>
                </a:solidFill>
                <a:latin typeface="+mn-lt"/>
                <a:ea typeface="+mn-ea"/>
                <a:cs typeface="+mn-cs"/>
              </a:rPr>
              <a:t>v) If the feature set has missing values, </a:t>
            </a:r>
            <a:r>
              <a:rPr lang="en-US" sz="2400" dirty="0" smtClean="0"/>
              <a:t>be sure to remove those rows and/or columns with missing values, or impute missing values.</a:t>
            </a:r>
            <a:endParaRPr lang="en-US" sz="2400" dirty="0">
              <a:solidFill>
                <a:schemeClr val="tx1"/>
              </a:solidFill>
              <a:latin typeface="+mn-lt"/>
              <a:ea typeface="+mn-ea"/>
              <a:cs typeface="+mn-cs"/>
            </a:endParaRPr>
          </a:p>
          <a:p>
            <a:pPr>
              <a:buNone/>
            </a:pP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677" y="2661719"/>
            <a:ext cx="7772400" cy="1143000"/>
          </a:xfrm>
        </p:spPr>
        <p:txBody>
          <a:bodyPr>
            <a:normAutofit fontScale="90000"/>
          </a:bodyPr>
          <a:lstStyle/>
          <a:p>
            <a:r>
              <a:rPr lang="en-US" sz="8000" dirty="0" smtClean="0"/>
              <a:t>Thank You</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3058</Words>
  <Application>Microsoft Office PowerPoint</Application>
  <PresentationFormat>On-screen Show (4:3)</PresentationFormat>
  <Paragraphs>514</Paragraphs>
  <Slides>57</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59" baseType="lpstr">
      <vt:lpstr>Office Theme</vt:lpstr>
      <vt:lpstr>Chart</vt:lpstr>
      <vt:lpstr>Principal Component Analysis (PCA) </vt:lpstr>
      <vt:lpstr>Slide 2</vt:lpstr>
      <vt:lpstr>Slide 3</vt:lpstr>
      <vt:lpstr>Principal Component Analysis</vt:lpstr>
      <vt:lpstr>Basic Concept :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PCA: Eigendecomposition of the covariance matrix</vt:lpstr>
      <vt:lpstr>PCA: Eigendecomposition of the covariance matrix</vt:lpstr>
      <vt:lpstr>Feature standardization</vt:lpstr>
      <vt:lpstr>Feature standardization</vt:lpstr>
      <vt:lpstr>Eigendecomposition of the covariance matrix</vt:lpstr>
      <vt:lpstr>Covariance matrix computation</vt:lpstr>
      <vt:lpstr>Covariance matrix computation</vt:lpstr>
      <vt:lpstr>Covariance matrix computation</vt:lpstr>
      <vt:lpstr>Covariance matrix computation</vt:lpstr>
      <vt:lpstr>Covariance matrix computation</vt:lpstr>
      <vt:lpstr>Covariance matrix computation</vt:lpstr>
      <vt:lpstr>Covariance matrix computation</vt:lpstr>
      <vt:lpstr>Eigendecomposition of the covariance matrix</vt:lpstr>
      <vt:lpstr>iii) Calculate the eigendecomposition</vt:lpstr>
      <vt:lpstr>iii) Calculate the eigendecomposition</vt:lpstr>
      <vt:lpstr>iii) Calculate the eigendecomposition</vt:lpstr>
      <vt:lpstr>iii) Calculate the eigendecomposition</vt:lpstr>
      <vt:lpstr>Calculate the eigendecomposition of the covariance matrix</vt:lpstr>
      <vt:lpstr>Eigenvalues &amp; eigenvectors</vt:lpstr>
      <vt:lpstr>Eigenvalues &amp; eigenvectors</vt:lpstr>
      <vt:lpstr>Example:Eigenvalues &amp; eigenvectors</vt:lpstr>
      <vt:lpstr>Example:Eigenvalues &amp; eigenvectors</vt:lpstr>
      <vt:lpstr>Example:Eigenvalues &amp; eigenvectors</vt:lpstr>
      <vt:lpstr>Example:Eigenvalues &amp; eigenvectors</vt:lpstr>
      <vt:lpstr>Calculate the eigendecomposition of the covariance matrix</vt:lpstr>
      <vt:lpstr>Calculate the eigendecomposition of the covariance matrix</vt:lpstr>
      <vt:lpstr>Calculate the eigendecomposition of the covariance matrix</vt:lpstr>
      <vt:lpstr>Calculate the eigendecomposition of the covariance matrix</vt:lpstr>
      <vt:lpstr>Calculate the eigendecomposition of the covariance matrix</vt:lpstr>
      <vt:lpstr>Eigendecomposition of the covariance matrix</vt:lpstr>
      <vt:lpstr>Principal components</vt:lpstr>
      <vt:lpstr>Principal components</vt:lpstr>
      <vt:lpstr>How Many PCs?</vt:lpstr>
      <vt:lpstr>Dimensionality Reduction</vt:lpstr>
      <vt:lpstr>Eigendecomposition of the covariance matrix</vt:lpstr>
      <vt:lpstr>Calculate the eigendecomposition of the covariance matrix</vt:lpstr>
      <vt:lpstr>RECAST THE DATA ALONG THE PRINCIPAL COMPONENTS AXES</vt:lpstr>
      <vt:lpstr>RECAST THE DATA ALONG THE PRINCIPAL COMPONENTS AXES</vt:lpstr>
      <vt:lpstr>Advantages of PCA</vt:lpstr>
      <vt:lpstr>Disadvantages of PCA</vt:lpstr>
      <vt:lpstr>Assumptions and limitations of PCA</vt:lpstr>
      <vt:lpstr>Assumptions and limitations of PCA</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Principal Component Analysis (PCA) </dc:title>
  <dc:creator>Asit Kumar Das</dc:creator>
  <cp:lastModifiedBy>Asit Kumar Das</cp:lastModifiedBy>
  <cp:revision>6</cp:revision>
  <dcterms:created xsi:type="dcterms:W3CDTF">2025-01-30T15:53:46Z</dcterms:created>
  <dcterms:modified xsi:type="dcterms:W3CDTF">2025-01-30T17:01:23Z</dcterms:modified>
</cp:coreProperties>
</file>